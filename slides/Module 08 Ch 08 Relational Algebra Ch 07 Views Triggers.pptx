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ink/ink1.xml" ContentType="application/inkml+xml"/>
  <Override PartName="/ppt/ink/ink2.xml" ContentType="application/inkml+xml"/>
  <Override PartName="/ppt/notesSlides/notesSlide30.xml" ContentType="application/vnd.openxmlformats-officedocument.presentationml.notesSlide+xml"/>
  <Override PartName="/ppt/ink/ink3.xml" ContentType="application/inkml+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86"/>
  </p:notesMasterIdLst>
  <p:handoutMasterIdLst>
    <p:handoutMasterId r:id="rId187"/>
  </p:handoutMasterIdLst>
  <p:sldIdLst>
    <p:sldId id="256" r:id="rId2"/>
    <p:sldId id="311" r:id="rId3"/>
    <p:sldId id="297" r:id="rId4"/>
    <p:sldId id="299" r:id="rId5"/>
    <p:sldId id="302" r:id="rId6"/>
    <p:sldId id="300" r:id="rId7"/>
    <p:sldId id="301" r:id="rId8"/>
    <p:sldId id="303" r:id="rId9"/>
    <p:sldId id="426" r:id="rId10"/>
    <p:sldId id="427" r:id="rId11"/>
    <p:sldId id="304" r:id="rId12"/>
    <p:sldId id="308" r:id="rId13"/>
    <p:sldId id="306" r:id="rId14"/>
    <p:sldId id="307" r:id="rId15"/>
    <p:sldId id="305" r:id="rId16"/>
    <p:sldId id="309" r:id="rId17"/>
    <p:sldId id="310" r:id="rId18"/>
    <p:sldId id="401" r:id="rId19"/>
    <p:sldId id="312" r:id="rId20"/>
    <p:sldId id="313" r:id="rId21"/>
    <p:sldId id="314" r:id="rId22"/>
    <p:sldId id="315" r:id="rId23"/>
    <p:sldId id="317" r:id="rId24"/>
    <p:sldId id="318" r:id="rId25"/>
    <p:sldId id="322" r:id="rId26"/>
    <p:sldId id="320" r:id="rId27"/>
    <p:sldId id="390" r:id="rId28"/>
    <p:sldId id="402" r:id="rId29"/>
    <p:sldId id="324" r:id="rId30"/>
    <p:sldId id="325" r:id="rId31"/>
    <p:sldId id="326" r:id="rId32"/>
    <p:sldId id="327" r:id="rId33"/>
    <p:sldId id="328" r:id="rId34"/>
    <p:sldId id="329" r:id="rId35"/>
    <p:sldId id="391" r:id="rId36"/>
    <p:sldId id="392" r:id="rId37"/>
    <p:sldId id="394" r:id="rId38"/>
    <p:sldId id="331" r:id="rId39"/>
    <p:sldId id="332" r:id="rId40"/>
    <p:sldId id="395" r:id="rId41"/>
    <p:sldId id="334" r:id="rId42"/>
    <p:sldId id="335" r:id="rId43"/>
    <p:sldId id="337" r:id="rId44"/>
    <p:sldId id="338" r:id="rId45"/>
    <p:sldId id="339" r:id="rId46"/>
    <p:sldId id="340" r:id="rId47"/>
    <p:sldId id="341" r:id="rId48"/>
    <p:sldId id="342" r:id="rId49"/>
    <p:sldId id="396" r:id="rId50"/>
    <p:sldId id="403" r:id="rId51"/>
    <p:sldId id="428" r:id="rId52"/>
    <p:sldId id="361" r:id="rId53"/>
    <p:sldId id="362" r:id="rId54"/>
    <p:sldId id="363" r:id="rId55"/>
    <p:sldId id="364" r:id="rId56"/>
    <p:sldId id="429" r:id="rId57"/>
    <p:sldId id="365" r:id="rId58"/>
    <p:sldId id="366" r:id="rId59"/>
    <p:sldId id="367" r:id="rId60"/>
    <p:sldId id="368" r:id="rId61"/>
    <p:sldId id="371" r:id="rId62"/>
    <p:sldId id="372" r:id="rId63"/>
    <p:sldId id="373" r:id="rId64"/>
    <p:sldId id="389" r:id="rId65"/>
    <p:sldId id="323" r:id="rId66"/>
    <p:sldId id="344" r:id="rId67"/>
    <p:sldId id="345" r:id="rId68"/>
    <p:sldId id="346" r:id="rId69"/>
    <p:sldId id="347" r:id="rId70"/>
    <p:sldId id="348" r:id="rId71"/>
    <p:sldId id="399" r:id="rId72"/>
    <p:sldId id="398" r:id="rId73"/>
    <p:sldId id="351" r:id="rId74"/>
    <p:sldId id="352" r:id="rId75"/>
    <p:sldId id="404" r:id="rId76"/>
    <p:sldId id="354" r:id="rId77"/>
    <p:sldId id="355" r:id="rId78"/>
    <p:sldId id="405" r:id="rId79"/>
    <p:sldId id="357" r:id="rId80"/>
    <p:sldId id="358" r:id="rId81"/>
    <p:sldId id="359" r:id="rId82"/>
    <p:sldId id="360" r:id="rId83"/>
    <p:sldId id="263" r:id="rId84"/>
    <p:sldId id="425" r:id="rId85"/>
    <p:sldId id="406" r:id="rId86"/>
    <p:sldId id="407" r:id="rId87"/>
    <p:sldId id="408" r:id="rId88"/>
    <p:sldId id="409" r:id="rId89"/>
    <p:sldId id="487" r:id="rId90"/>
    <p:sldId id="488" r:id="rId91"/>
    <p:sldId id="489" r:id="rId92"/>
    <p:sldId id="490" r:id="rId93"/>
    <p:sldId id="491" r:id="rId94"/>
    <p:sldId id="492" r:id="rId95"/>
    <p:sldId id="493" r:id="rId96"/>
    <p:sldId id="494" r:id="rId97"/>
    <p:sldId id="495" r:id="rId98"/>
    <p:sldId id="496" r:id="rId99"/>
    <p:sldId id="410" r:id="rId100"/>
    <p:sldId id="411" r:id="rId101"/>
    <p:sldId id="330" r:id="rId102"/>
    <p:sldId id="412" r:id="rId103"/>
    <p:sldId id="413" r:id="rId104"/>
    <p:sldId id="414" r:id="rId105"/>
    <p:sldId id="415" r:id="rId106"/>
    <p:sldId id="416" r:id="rId107"/>
    <p:sldId id="417" r:id="rId108"/>
    <p:sldId id="418" r:id="rId109"/>
    <p:sldId id="419" r:id="rId110"/>
    <p:sldId id="420" r:id="rId111"/>
    <p:sldId id="421" r:id="rId112"/>
    <p:sldId id="356" r:id="rId113"/>
    <p:sldId id="430" r:id="rId114"/>
    <p:sldId id="431" r:id="rId115"/>
    <p:sldId id="432" r:id="rId116"/>
    <p:sldId id="433" r:id="rId117"/>
    <p:sldId id="435" r:id="rId118"/>
    <p:sldId id="436" r:id="rId119"/>
    <p:sldId id="437" r:id="rId120"/>
    <p:sldId id="438" r:id="rId121"/>
    <p:sldId id="439" r:id="rId122"/>
    <p:sldId id="440" r:id="rId123"/>
    <p:sldId id="441" r:id="rId124"/>
    <p:sldId id="442" r:id="rId125"/>
    <p:sldId id="443" r:id="rId126"/>
    <p:sldId id="444" r:id="rId127"/>
    <p:sldId id="445" r:id="rId128"/>
    <p:sldId id="446" r:id="rId129"/>
    <p:sldId id="447" r:id="rId130"/>
    <p:sldId id="422" r:id="rId131"/>
    <p:sldId id="423" r:id="rId132"/>
    <p:sldId id="424" r:id="rId133"/>
    <p:sldId id="448" r:id="rId134"/>
    <p:sldId id="449" r:id="rId135"/>
    <p:sldId id="450" r:id="rId136"/>
    <p:sldId id="451" r:id="rId137"/>
    <p:sldId id="452" r:id="rId138"/>
    <p:sldId id="453" r:id="rId139"/>
    <p:sldId id="454" r:id="rId140"/>
    <p:sldId id="455" r:id="rId141"/>
    <p:sldId id="456" r:id="rId142"/>
    <p:sldId id="457" r:id="rId143"/>
    <p:sldId id="458" r:id="rId144"/>
    <p:sldId id="459" r:id="rId145"/>
    <p:sldId id="460" r:id="rId146"/>
    <p:sldId id="461" r:id="rId147"/>
    <p:sldId id="462" r:id="rId148"/>
    <p:sldId id="464" r:id="rId149"/>
    <p:sldId id="465" r:id="rId150"/>
    <p:sldId id="466" r:id="rId151"/>
    <p:sldId id="468" r:id="rId152"/>
    <p:sldId id="473" r:id="rId153"/>
    <p:sldId id="467" r:id="rId154"/>
    <p:sldId id="474" r:id="rId155"/>
    <p:sldId id="475" r:id="rId156"/>
    <p:sldId id="476" r:id="rId157"/>
    <p:sldId id="477" r:id="rId158"/>
    <p:sldId id="478" r:id="rId159"/>
    <p:sldId id="479" r:id="rId160"/>
    <p:sldId id="481" r:id="rId161"/>
    <p:sldId id="480" r:id="rId162"/>
    <p:sldId id="472" r:id="rId163"/>
    <p:sldId id="469" r:id="rId164"/>
    <p:sldId id="470" r:id="rId165"/>
    <p:sldId id="471" r:id="rId166"/>
    <p:sldId id="397" r:id="rId167"/>
    <p:sldId id="288" r:id="rId168"/>
    <p:sldId id="289" r:id="rId169"/>
    <p:sldId id="290" r:id="rId170"/>
    <p:sldId id="291" r:id="rId171"/>
    <p:sldId id="292" r:id="rId172"/>
    <p:sldId id="293" r:id="rId173"/>
    <p:sldId id="294" r:id="rId174"/>
    <p:sldId id="295" r:id="rId175"/>
    <p:sldId id="296" r:id="rId176"/>
    <p:sldId id="498" r:id="rId177"/>
    <p:sldId id="499" r:id="rId178"/>
    <p:sldId id="316" r:id="rId179"/>
    <p:sldId id="500" r:id="rId180"/>
    <p:sldId id="501" r:id="rId181"/>
    <p:sldId id="319" r:id="rId182"/>
    <p:sldId id="502" r:id="rId183"/>
    <p:sldId id="321" r:id="rId184"/>
    <p:sldId id="400" r:id="rId185"/>
  </p:sldIdLst>
  <p:sldSz cx="9144000" cy="6858000" type="letter"/>
  <p:notesSz cx="6858000" cy="9144000"/>
  <p:defaultTextStyle>
    <a:defPPr>
      <a:defRPr lang="en-CA"/>
    </a:defPPr>
    <a:lvl1pPr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9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7228"/>
    <a:srgbClr val="6E792B"/>
    <a:srgbClr val="76822E"/>
    <a:srgbClr val="4F571F"/>
    <a:srgbClr val="6F6A07"/>
    <a:srgbClr val="827C08"/>
    <a:srgbClr val="A29B0A"/>
    <a:srgbClr val="99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199" autoAdjust="0"/>
    <p:restoredTop sz="94660"/>
  </p:normalViewPr>
  <p:slideViewPr>
    <p:cSldViewPr snapToObjects="1" showGuides="1">
      <p:cViewPr varScale="1">
        <p:scale>
          <a:sx n="60" d="100"/>
          <a:sy n="60" d="100"/>
        </p:scale>
        <p:origin x="42" y="1062"/>
      </p:cViewPr>
      <p:guideLst>
        <p:guide orient="horz" pos="19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showGuides="1">
      <p:cViewPr>
        <p:scale>
          <a:sx n="100" d="100"/>
          <a:sy n="100" d="100"/>
        </p:scale>
        <p:origin x="-780" y="21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0"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notesMaster" Target="notesMasters/notesMaster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handoutMaster" Target="handoutMasters/handoutMaster1.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16A68092-CF13-DD04-3D17-07CE27B4E58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ahoma" pitchFamily="34" charset="0"/>
                <a:ea typeface="+mn-ea"/>
                <a:cs typeface="+mn-cs"/>
              </a:defRPr>
            </a:lvl1pPr>
          </a:lstStyle>
          <a:p>
            <a:pPr>
              <a:defRPr/>
            </a:pPr>
            <a:endParaRPr lang="en-CA"/>
          </a:p>
        </p:txBody>
      </p:sp>
      <p:sp>
        <p:nvSpPr>
          <p:cNvPr id="60419" name="Rectangle 3">
            <a:extLst>
              <a:ext uri="{FF2B5EF4-FFF2-40B4-BE49-F238E27FC236}">
                <a16:creationId xmlns:a16="http://schemas.microsoft.com/office/drawing/2014/main" id="{252E0C6D-31C3-E9E4-7D6D-61718A9E9A39}"/>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ahoma" pitchFamily="34" charset="0"/>
                <a:ea typeface="+mn-ea"/>
                <a:cs typeface="+mn-cs"/>
              </a:defRPr>
            </a:lvl1pPr>
          </a:lstStyle>
          <a:p>
            <a:pPr>
              <a:defRPr/>
            </a:pPr>
            <a:endParaRPr lang="en-CA"/>
          </a:p>
        </p:txBody>
      </p:sp>
      <p:sp>
        <p:nvSpPr>
          <p:cNvPr id="60420" name="Rectangle 4">
            <a:extLst>
              <a:ext uri="{FF2B5EF4-FFF2-40B4-BE49-F238E27FC236}">
                <a16:creationId xmlns:a16="http://schemas.microsoft.com/office/drawing/2014/main" id="{9AB2CCB2-2848-2DB9-5FDA-6442AAF5A218}"/>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ahoma" pitchFamily="34" charset="0"/>
                <a:ea typeface="+mn-ea"/>
                <a:cs typeface="+mn-cs"/>
              </a:defRPr>
            </a:lvl1pPr>
          </a:lstStyle>
          <a:p>
            <a:pPr>
              <a:defRPr/>
            </a:pPr>
            <a:endParaRPr lang="en-CA"/>
          </a:p>
        </p:txBody>
      </p:sp>
      <p:sp>
        <p:nvSpPr>
          <p:cNvPr id="60421" name="Rectangle 5">
            <a:extLst>
              <a:ext uri="{FF2B5EF4-FFF2-40B4-BE49-F238E27FC236}">
                <a16:creationId xmlns:a16="http://schemas.microsoft.com/office/drawing/2014/main" id="{889D01F6-AE10-FCD9-1839-A51B96CCACAE}"/>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fld id="{351AF058-EF06-4E86-B0CF-8E829C7372B9}" type="slidenum">
              <a:rPr lang="en-CA" altLang="en-US"/>
              <a:pPr/>
              <a:t>‹#›</a:t>
            </a:fld>
            <a:endParaRPr lang="en-CA"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0:21:41.736"/>
    </inkml:context>
    <inkml:brush xml:id="br0">
      <inkml:brushProperty name="width" value="0.035" units="cm"/>
      <inkml:brushProperty name="height" value="0.035" units="cm"/>
      <inkml:brushProperty name="color" value="#E71224"/>
    </inkml:brush>
  </inkml:definitions>
  <inkml:trace contextRef="#ctx0" brushRef="#br0">110 65 24575,'237'20'0,"-171"-12"0,40 6 0,-35-4 0,91 3 0,730-15 0,-861 0 0,0-1 0,41-9 0,-39 5 0,58-3 0,-28 5 0,105-22 0,-109 16 0,0 1 0,77-1 0,853 13 0,-945-4 0,70-12 0,-82 8 0,0 1 0,0 2 0,1 2 0,54 3 0,23 13 0,146 0 0,-186-17 0,-25 0 0,-1 2 0,1 1 0,76 14 0,71 16 0,-116-21 0,79 21 0,-149-29 0,0 0 0,-1 0 0,1 0 0,0 1 0,-1 0 0,1 0 0,-1 1 0,0 0 0,0-1 0,0 2 0,-1-1 0,1 0 0,-1 1 0,0 0 0,0 0 0,-1 0 0,1 1 0,-1-1 0,0 1 0,2 6 0,2 11 0,0 0 0,-2 1 0,0 0 0,1 25 0,9 44 0,-12-79 0,0-1 0,0 1 0,-2-1 0,1 1 0,-2 27 0,-1-36 0,1-1 0,-1 0 0,0 0 0,0 1 0,0-1 0,0 0 0,-1 0 0,0 0 0,0 0 0,0-1 0,0 1 0,-1 0 0,1-1 0,-1 0 0,0 1 0,0-1 0,0 0 0,0 0 0,-1-1 0,1 1 0,-1-1 0,-7 4 0,-15 4 0,0-2 0,-1 0 0,0-2 0,-1-1 0,1-1 0,-1-1 0,0-2 0,-35-2 0,-42 4 0,13 12 0,67-10 0,-47 5 0,-377-7 0,231-5 0,186 4 0,1 1 0,-41 9 0,37-5 0,-56 3 0,-608-8 0,341-5 0,-804 3 0,1140 1 0,0 2 0,0 0 0,-24 7 0,22-4 0,0-2 0,-40 3 0,11-9 0,-1-2 0,-60-13 0,65 9 0,-30-8 0,46 9 0,1 1 0,-38-1 0,-39 6 0,54 2 0,-81-9 0,118 5 0,0 0 0,1-1 0,-1-1 0,1 0 0,0-2 0,1 0 0,-1 0 0,-23-16 0,35 19 0,1 0 0,0 0 0,0 0 0,0-1 0,0 0 0,1 1 0,0-1 0,0 0 0,0-1 0,0 1 0,1 0 0,0-1 0,0 1 0,0-1 0,1 0 0,0 0 0,0 1 0,0-7 0,-1-17 0,2 0 0,4-44 0,0 19 0,-4 35 0,1 0 0,0 0 0,2 1 0,0-1 0,11-34 0,-12 48 0,0 0 0,0 0 0,1 0 0,0 0 0,-1 1 0,2-1 0,-1 1 0,0 0 0,1 0 0,0 0 0,0 0 0,0 1 0,1 0 0,-1-1 0,1 2 0,-1-1 0,1 0 0,0 1 0,0 0 0,0 0 0,1 1 0,-1-1 0,0 1 0,0 0 0,7 0 0,102 0-1365,-80 2-5461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0:21:43.32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7T00:21:58.675"/>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3F772D29-12EB-84F0-66DC-EA0075AC256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ahoma" pitchFamily="34" charset="0"/>
                <a:ea typeface="+mn-ea"/>
                <a:cs typeface="+mn-cs"/>
              </a:defRPr>
            </a:lvl1pPr>
          </a:lstStyle>
          <a:p>
            <a:pPr>
              <a:defRPr/>
            </a:pPr>
            <a:endParaRPr lang="en-CA"/>
          </a:p>
        </p:txBody>
      </p:sp>
      <p:sp>
        <p:nvSpPr>
          <p:cNvPr id="61443" name="Rectangle 3">
            <a:extLst>
              <a:ext uri="{FF2B5EF4-FFF2-40B4-BE49-F238E27FC236}">
                <a16:creationId xmlns:a16="http://schemas.microsoft.com/office/drawing/2014/main" id="{F496E7B8-7C22-3AA7-CAE5-EB1718AED591}"/>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ahoma" pitchFamily="34" charset="0"/>
                <a:ea typeface="+mn-ea"/>
                <a:cs typeface="+mn-cs"/>
              </a:defRPr>
            </a:lvl1pPr>
          </a:lstStyle>
          <a:p>
            <a:pPr>
              <a:defRPr/>
            </a:pPr>
            <a:endParaRPr lang="en-CA"/>
          </a:p>
        </p:txBody>
      </p:sp>
      <p:sp>
        <p:nvSpPr>
          <p:cNvPr id="14340" name="Rectangle 4">
            <a:extLst>
              <a:ext uri="{FF2B5EF4-FFF2-40B4-BE49-F238E27FC236}">
                <a16:creationId xmlns:a16="http://schemas.microsoft.com/office/drawing/2014/main" id="{42DB1747-909E-D3B6-5B2B-BE2FF9DA81C5}"/>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5" name="Rectangle 5">
            <a:extLst>
              <a:ext uri="{FF2B5EF4-FFF2-40B4-BE49-F238E27FC236}">
                <a16:creationId xmlns:a16="http://schemas.microsoft.com/office/drawing/2014/main" id="{7B87163E-F5A3-06A0-7001-289C110C585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CA" noProof="0"/>
              <a:t>Click to edit Master text styles</a:t>
            </a:r>
          </a:p>
          <a:p>
            <a:pPr lvl="1"/>
            <a:r>
              <a:rPr lang="en-CA" noProof="0"/>
              <a:t>Second level</a:t>
            </a:r>
          </a:p>
          <a:p>
            <a:pPr lvl="2"/>
            <a:r>
              <a:rPr lang="en-CA" noProof="0"/>
              <a:t>Third level</a:t>
            </a:r>
          </a:p>
          <a:p>
            <a:pPr lvl="3"/>
            <a:r>
              <a:rPr lang="en-CA" noProof="0"/>
              <a:t>Fourth level</a:t>
            </a:r>
          </a:p>
          <a:p>
            <a:pPr lvl="4"/>
            <a:r>
              <a:rPr lang="en-CA" noProof="0"/>
              <a:t>Fifth level</a:t>
            </a:r>
          </a:p>
        </p:txBody>
      </p:sp>
      <p:sp>
        <p:nvSpPr>
          <p:cNvPr id="61446" name="Rectangle 6">
            <a:extLst>
              <a:ext uri="{FF2B5EF4-FFF2-40B4-BE49-F238E27FC236}">
                <a16:creationId xmlns:a16="http://schemas.microsoft.com/office/drawing/2014/main" id="{6A292DB2-D47F-3C03-C5A9-0430AFABBD33}"/>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ahoma" pitchFamily="34" charset="0"/>
                <a:ea typeface="+mn-ea"/>
                <a:cs typeface="+mn-cs"/>
              </a:defRPr>
            </a:lvl1pPr>
          </a:lstStyle>
          <a:p>
            <a:pPr>
              <a:defRPr/>
            </a:pPr>
            <a:endParaRPr lang="en-CA"/>
          </a:p>
        </p:txBody>
      </p:sp>
      <p:sp>
        <p:nvSpPr>
          <p:cNvPr id="61447" name="Rectangle 7">
            <a:extLst>
              <a:ext uri="{FF2B5EF4-FFF2-40B4-BE49-F238E27FC236}">
                <a16:creationId xmlns:a16="http://schemas.microsoft.com/office/drawing/2014/main" id="{87DEEAA5-903C-BBC5-442B-0442D4E1E022}"/>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fld id="{DDED5556-99AE-43C9-B480-E20698757697}" type="slidenum">
              <a:rPr lang="en-CA" altLang="en-US"/>
              <a:pPr/>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ern="1200">
        <a:solidFill>
          <a:schemeClr val="tx1"/>
        </a:solidFill>
        <a:latin typeface="Arial"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600" kern="1200">
        <a:solidFill>
          <a:schemeClr val="tx1"/>
        </a:solidFill>
        <a:latin typeface="Arial"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a:extLst>
              <a:ext uri="{FF2B5EF4-FFF2-40B4-BE49-F238E27FC236}">
                <a16:creationId xmlns:a16="http://schemas.microsoft.com/office/drawing/2014/main" id="{15B83E74-BA76-7F66-C3AA-71B4B8E6F33D}"/>
              </a:ext>
            </a:extLst>
          </p:cNvPr>
          <p:cNvSpPr>
            <a:spLocks noGrp="1" noRot="1" noChangeAspect="1" noTextEdit="1"/>
          </p:cNvSpPr>
          <p:nvPr>
            <p:ph type="sldImg"/>
          </p:nvPr>
        </p:nvSpPr>
        <p:spPr>
          <a:ln/>
        </p:spPr>
      </p:sp>
      <p:sp>
        <p:nvSpPr>
          <p:cNvPr id="111619" name="Notes Placeholder 2">
            <a:extLst>
              <a:ext uri="{FF2B5EF4-FFF2-40B4-BE49-F238E27FC236}">
                <a16:creationId xmlns:a16="http://schemas.microsoft.com/office/drawing/2014/main" id="{EB985E82-97AF-6F60-A67D-68FE276234E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11620" name="Slide Number Placeholder 3">
            <a:extLst>
              <a:ext uri="{FF2B5EF4-FFF2-40B4-BE49-F238E27FC236}">
                <a16:creationId xmlns:a16="http://schemas.microsoft.com/office/drawing/2014/main" id="{D29D4D47-E2B0-B160-388F-ABAAA24C30A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C66C6215-CF23-4E26-BF10-2F7675B15DC6}" type="slidenum">
              <a:rPr lang="en-CA" altLang="en-US" sz="1200">
                <a:latin typeface="Tahoma" panose="020B0604030504040204" pitchFamily="34" charset="0"/>
              </a:rPr>
              <a:pPr/>
              <a:t>3</a:t>
            </a:fld>
            <a:endParaRPr lang="en-CA" altLang="en-US" sz="1200">
              <a:latin typeface="Tahoma" panose="020B060403050404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4BE55E82-E4C5-286E-6D30-C787621FDC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9CF4AEFE-616A-41EE-A643-EA3224B6DA69}" type="slidenum">
              <a:rPr lang="en-CA" altLang="en-US" sz="1200">
                <a:latin typeface="Tahoma" panose="020B0604030504040204" pitchFamily="34" charset="0"/>
              </a:rPr>
              <a:pPr/>
              <a:t>4</a:t>
            </a:fld>
            <a:endParaRPr lang="en-CA" altLang="en-US" sz="1200">
              <a:latin typeface="Tahoma" panose="020B0604030504040204" pitchFamily="34" charset="0"/>
            </a:endParaRPr>
          </a:p>
        </p:txBody>
      </p:sp>
      <p:sp>
        <p:nvSpPr>
          <p:cNvPr id="112643" name="Rectangle 2">
            <a:extLst>
              <a:ext uri="{FF2B5EF4-FFF2-40B4-BE49-F238E27FC236}">
                <a16:creationId xmlns:a16="http://schemas.microsoft.com/office/drawing/2014/main" id="{AB9890E3-34F6-1A90-AB3F-C3B7894D4919}"/>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62F4788C-C8EF-6AD9-0175-C8C505BC04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A2A3DE3B-9B80-0EA8-89F0-F841D287ED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8A6920A-9CD0-4CB8-BD04-2D1B709F6610}" type="slidenum">
              <a:rPr lang="en-CA" altLang="en-US" sz="1200">
                <a:latin typeface="Tahoma" panose="020B0604030504040204" pitchFamily="34" charset="0"/>
              </a:rPr>
              <a:pPr/>
              <a:t>5</a:t>
            </a:fld>
            <a:endParaRPr lang="en-CA" altLang="en-US" sz="1200">
              <a:latin typeface="Tahoma" panose="020B0604030504040204" pitchFamily="34" charset="0"/>
            </a:endParaRPr>
          </a:p>
        </p:txBody>
      </p:sp>
      <p:sp>
        <p:nvSpPr>
          <p:cNvPr id="115715" name="Rectangle 2">
            <a:extLst>
              <a:ext uri="{FF2B5EF4-FFF2-40B4-BE49-F238E27FC236}">
                <a16:creationId xmlns:a16="http://schemas.microsoft.com/office/drawing/2014/main" id="{FA5C9087-F3BA-8982-0194-87F16BCDC0EA}"/>
              </a:ext>
            </a:extLst>
          </p:cNvPr>
          <p:cNvSpPr>
            <a:spLocks noGrp="1" noRot="1" noChangeAspect="1" noChangeArrowheads="1" noTextEdit="1"/>
          </p:cNvSpPr>
          <p:nvPr>
            <p:ph type="sldImg"/>
          </p:nvPr>
        </p:nvSpPr>
        <p:spPr>
          <a:xfrm>
            <a:off x="1144588" y="685800"/>
            <a:ext cx="4572000" cy="3429000"/>
          </a:xfrm>
          <a:ln/>
        </p:spPr>
      </p:sp>
      <p:sp>
        <p:nvSpPr>
          <p:cNvPr id="115716" name="Rectangle 3">
            <a:extLst>
              <a:ext uri="{FF2B5EF4-FFF2-40B4-BE49-F238E27FC236}">
                <a16:creationId xmlns:a16="http://schemas.microsoft.com/office/drawing/2014/main" id="{2AC649D0-13FF-4964-2040-D4227013CF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58904C5F-0D73-F19A-23CD-83ED8BD602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FB5F0FF-62F1-4419-A205-773AD2EE1742}" type="slidenum">
              <a:rPr lang="en-CA" altLang="en-US" sz="1200">
                <a:latin typeface="Tahoma" panose="020B0604030504040204" pitchFamily="34" charset="0"/>
              </a:rPr>
              <a:pPr/>
              <a:t>6</a:t>
            </a:fld>
            <a:endParaRPr lang="en-CA" altLang="en-US" sz="1200">
              <a:latin typeface="Tahoma" panose="020B0604030504040204" pitchFamily="34" charset="0"/>
            </a:endParaRPr>
          </a:p>
        </p:txBody>
      </p:sp>
      <p:sp>
        <p:nvSpPr>
          <p:cNvPr id="113667" name="Rectangle 2">
            <a:extLst>
              <a:ext uri="{FF2B5EF4-FFF2-40B4-BE49-F238E27FC236}">
                <a16:creationId xmlns:a16="http://schemas.microsoft.com/office/drawing/2014/main" id="{CA292628-273D-38E4-4288-6552008BB2FD}"/>
              </a:ext>
            </a:extLst>
          </p:cNvPr>
          <p:cNvSpPr>
            <a:spLocks noGrp="1" noRot="1" noChangeAspect="1" noChangeArrowheads="1" noTextEdit="1"/>
          </p:cNvSpPr>
          <p:nvPr>
            <p:ph type="sldImg"/>
          </p:nvPr>
        </p:nvSpPr>
        <p:spPr>
          <a:ln/>
        </p:spPr>
      </p:sp>
      <p:sp>
        <p:nvSpPr>
          <p:cNvPr id="113668" name="Rectangle 3">
            <a:extLst>
              <a:ext uri="{FF2B5EF4-FFF2-40B4-BE49-F238E27FC236}">
                <a16:creationId xmlns:a16="http://schemas.microsoft.com/office/drawing/2014/main" id="{D2E38A04-647B-4C5C-ACFA-EE1F57BA28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91F6B34D-6CA1-5DEC-794D-65B7B4AE8C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537F62B0-3E9D-426F-AE26-6DDB188D283F}" type="slidenum">
              <a:rPr lang="en-CA" altLang="en-US" sz="1200">
                <a:latin typeface="Tahoma" panose="020B0604030504040204" pitchFamily="34" charset="0"/>
              </a:rPr>
              <a:pPr/>
              <a:t>7</a:t>
            </a:fld>
            <a:endParaRPr lang="en-CA" altLang="en-US" sz="1200">
              <a:latin typeface="Tahoma" panose="020B0604030504040204" pitchFamily="34" charset="0"/>
            </a:endParaRPr>
          </a:p>
        </p:txBody>
      </p:sp>
      <p:sp>
        <p:nvSpPr>
          <p:cNvPr id="114691" name="Rectangle 2">
            <a:extLst>
              <a:ext uri="{FF2B5EF4-FFF2-40B4-BE49-F238E27FC236}">
                <a16:creationId xmlns:a16="http://schemas.microsoft.com/office/drawing/2014/main" id="{DCCFC7F4-3528-8777-16CF-7A90FE5473CD}"/>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34D3FEEB-FB03-BADF-106E-7491695244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D0BC2CE5-EE17-3EDD-C0BB-D20B26CF35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F1E625C-FC8E-430D-B2A4-14E0F10E6318}" type="slidenum">
              <a:rPr lang="en-CA" altLang="en-US" sz="1200">
                <a:latin typeface="Tahoma" panose="020B0604030504040204" pitchFamily="34" charset="0"/>
              </a:rPr>
              <a:pPr/>
              <a:t>8</a:t>
            </a:fld>
            <a:endParaRPr lang="en-CA" altLang="en-US" sz="1200">
              <a:latin typeface="Tahoma" panose="020B0604030504040204" pitchFamily="34" charset="0"/>
            </a:endParaRPr>
          </a:p>
        </p:txBody>
      </p:sp>
      <p:sp>
        <p:nvSpPr>
          <p:cNvPr id="116739" name="Rectangle 2">
            <a:extLst>
              <a:ext uri="{FF2B5EF4-FFF2-40B4-BE49-F238E27FC236}">
                <a16:creationId xmlns:a16="http://schemas.microsoft.com/office/drawing/2014/main" id="{205ABF14-1E86-47FF-A02A-0AF9A580C1B0}"/>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8F0326EB-464C-1590-2AAC-5ECDD6C801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F636F561-E119-E0D2-5CAD-3FBE481109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D9B0FB3C-A3FF-4E05-AA07-F2B441D32C42}" type="slidenum">
              <a:rPr lang="en-CA" altLang="en-US" sz="1200">
                <a:latin typeface="Tahoma" panose="020B0604030504040204" pitchFamily="34" charset="0"/>
              </a:rPr>
              <a:pPr/>
              <a:t>11</a:t>
            </a:fld>
            <a:endParaRPr lang="en-CA" altLang="en-US" sz="1200">
              <a:latin typeface="Tahoma" panose="020B0604030504040204" pitchFamily="34" charset="0"/>
            </a:endParaRPr>
          </a:p>
        </p:txBody>
      </p:sp>
      <p:sp>
        <p:nvSpPr>
          <p:cNvPr id="117763" name="Rectangle 2">
            <a:extLst>
              <a:ext uri="{FF2B5EF4-FFF2-40B4-BE49-F238E27FC236}">
                <a16:creationId xmlns:a16="http://schemas.microsoft.com/office/drawing/2014/main" id="{982195D5-B644-712E-B2FB-C341D5397D21}"/>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C7793514-B6C7-6427-7AA9-DD993C8373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B77A3920-8EE5-CB52-818B-127FB425A8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DACB38C-9FAD-410E-A3B0-83ECD64E00A5}" type="slidenum">
              <a:rPr lang="en-CA" altLang="en-US" sz="1200">
                <a:latin typeface="Tahoma" panose="020B0604030504040204" pitchFamily="34" charset="0"/>
              </a:rPr>
              <a:pPr/>
              <a:t>12</a:t>
            </a:fld>
            <a:endParaRPr lang="en-CA" altLang="en-US" sz="1200">
              <a:latin typeface="Tahoma" panose="020B0604030504040204" pitchFamily="34" charset="0"/>
            </a:endParaRPr>
          </a:p>
        </p:txBody>
      </p:sp>
      <p:sp>
        <p:nvSpPr>
          <p:cNvPr id="121859" name="Rectangle 2">
            <a:extLst>
              <a:ext uri="{FF2B5EF4-FFF2-40B4-BE49-F238E27FC236}">
                <a16:creationId xmlns:a16="http://schemas.microsoft.com/office/drawing/2014/main" id="{4C621BE6-CC48-1B4D-C635-20E3FD1F3589}"/>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6C79A67C-1644-9D9D-A2A0-3165CAE66A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607A8777-DEC7-2B26-3512-89FE88777D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5DD9F6C7-5A0C-490C-831D-4EBEA5A74D42}" type="slidenum">
              <a:rPr lang="en-CA" altLang="en-US" sz="1200">
                <a:latin typeface="Tahoma" panose="020B0604030504040204" pitchFamily="34" charset="0"/>
              </a:rPr>
              <a:pPr/>
              <a:t>13</a:t>
            </a:fld>
            <a:endParaRPr lang="en-CA" altLang="en-US" sz="1200">
              <a:latin typeface="Tahoma" panose="020B0604030504040204" pitchFamily="34" charset="0"/>
            </a:endParaRPr>
          </a:p>
        </p:txBody>
      </p:sp>
      <p:sp>
        <p:nvSpPr>
          <p:cNvPr id="119811" name="Rectangle 2">
            <a:extLst>
              <a:ext uri="{FF2B5EF4-FFF2-40B4-BE49-F238E27FC236}">
                <a16:creationId xmlns:a16="http://schemas.microsoft.com/office/drawing/2014/main" id="{F6D2F9EB-6AFC-FC96-83BE-5BE7C99B7AA0}"/>
              </a:ext>
            </a:extLst>
          </p:cNvPr>
          <p:cNvSpPr>
            <a:spLocks noGrp="1" noRot="1" noChangeAspect="1" noChangeArrowheads="1" noTextEdit="1"/>
          </p:cNvSpPr>
          <p:nvPr>
            <p:ph type="sldImg"/>
          </p:nvPr>
        </p:nvSpPr>
        <p:spPr>
          <a:ln/>
        </p:spPr>
      </p:sp>
      <p:sp>
        <p:nvSpPr>
          <p:cNvPr id="119812" name="Rectangle 3">
            <a:extLst>
              <a:ext uri="{FF2B5EF4-FFF2-40B4-BE49-F238E27FC236}">
                <a16:creationId xmlns:a16="http://schemas.microsoft.com/office/drawing/2014/main" id="{909290D4-660C-0421-591F-9C751EB919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F91B0767-3D69-F255-E29F-6D2E1D7ADB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7109980-7BB4-496C-B7C6-D4045B6C1E8D}" type="slidenum">
              <a:rPr lang="en-CA" altLang="en-US" sz="1200">
                <a:latin typeface="Tahoma" panose="020B0604030504040204" pitchFamily="34" charset="0"/>
              </a:rPr>
              <a:pPr/>
              <a:t>14</a:t>
            </a:fld>
            <a:endParaRPr lang="en-CA" altLang="en-US" sz="1200">
              <a:latin typeface="Tahoma" panose="020B0604030504040204" pitchFamily="34" charset="0"/>
            </a:endParaRPr>
          </a:p>
        </p:txBody>
      </p:sp>
      <p:sp>
        <p:nvSpPr>
          <p:cNvPr id="120835" name="Rectangle 2">
            <a:extLst>
              <a:ext uri="{FF2B5EF4-FFF2-40B4-BE49-F238E27FC236}">
                <a16:creationId xmlns:a16="http://schemas.microsoft.com/office/drawing/2014/main" id="{35A09B5F-98CA-A657-E156-65A4C351A9BA}"/>
              </a:ext>
            </a:extLst>
          </p:cNvPr>
          <p:cNvSpPr>
            <a:spLocks noGrp="1" noRot="1" noChangeAspect="1" noChangeArrowheads="1" noTextEdit="1"/>
          </p:cNvSpPr>
          <p:nvPr>
            <p:ph type="sldImg"/>
          </p:nvPr>
        </p:nvSpPr>
        <p:spPr>
          <a:ln/>
        </p:spPr>
      </p:sp>
      <p:sp>
        <p:nvSpPr>
          <p:cNvPr id="120836" name="Rectangle 3">
            <a:extLst>
              <a:ext uri="{FF2B5EF4-FFF2-40B4-BE49-F238E27FC236}">
                <a16:creationId xmlns:a16="http://schemas.microsoft.com/office/drawing/2014/main" id="{54658835-74F6-8ED3-642B-39766606AA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3240AB20-8351-9A48-D7EE-4390160479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89B08159-AF89-4D27-A778-70B521B4E648}" type="slidenum">
              <a:rPr lang="en-CA" altLang="en-US" sz="1200">
                <a:latin typeface="Tahoma" panose="020B0604030504040204" pitchFamily="34" charset="0"/>
              </a:rPr>
              <a:pPr/>
              <a:t>15</a:t>
            </a:fld>
            <a:endParaRPr lang="en-CA" altLang="en-US" sz="1200">
              <a:latin typeface="Tahoma" panose="020B0604030504040204" pitchFamily="34" charset="0"/>
            </a:endParaRPr>
          </a:p>
        </p:txBody>
      </p:sp>
      <p:sp>
        <p:nvSpPr>
          <p:cNvPr id="118787" name="Rectangle 2">
            <a:extLst>
              <a:ext uri="{FF2B5EF4-FFF2-40B4-BE49-F238E27FC236}">
                <a16:creationId xmlns:a16="http://schemas.microsoft.com/office/drawing/2014/main" id="{34AA0870-7561-45A0-0D48-1C8C3F84F606}"/>
              </a:ext>
            </a:extLst>
          </p:cNvPr>
          <p:cNvSpPr>
            <a:spLocks noGrp="1" noRot="1" noChangeAspect="1" noChangeArrowheads="1" noTextEdit="1"/>
          </p:cNvSpPr>
          <p:nvPr>
            <p:ph type="sldImg"/>
          </p:nvPr>
        </p:nvSpPr>
        <p:spPr>
          <a:ln/>
        </p:spPr>
      </p:sp>
      <p:sp>
        <p:nvSpPr>
          <p:cNvPr id="118788" name="Rectangle 3">
            <a:extLst>
              <a:ext uri="{FF2B5EF4-FFF2-40B4-BE49-F238E27FC236}">
                <a16:creationId xmlns:a16="http://schemas.microsoft.com/office/drawing/2014/main" id="{AF839FA9-54BB-0AF0-90B7-C2F2666911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F281A4E6-5B62-ACF0-46F0-6A9C000368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C16CE43-64FC-4393-AB64-5FF47A90CDDB}" type="slidenum">
              <a:rPr lang="en-CA" altLang="en-US" sz="1200">
                <a:latin typeface="Tahoma" panose="020B0604030504040204" pitchFamily="34" charset="0"/>
              </a:rPr>
              <a:pPr/>
              <a:t>16</a:t>
            </a:fld>
            <a:endParaRPr lang="en-CA" altLang="en-US" sz="1200">
              <a:latin typeface="Tahoma" panose="020B0604030504040204" pitchFamily="34" charset="0"/>
            </a:endParaRPr>
          </a:p>
        </p:txBody>
      </p:sp>
      <p:sp>
        <p:nvSpPr>
          <p:cNvPr id="122883" name="Rectangle 2">
            <a:extLst>
              <a:ext uri="{FF2B5EF4-FFF2-40B4-BE49-F238E27FC236}">
                <a16:creationId xmlns:a16="http://schemas.microsoft.com/office/drawing/2014/main" id="{0E65439A-74D4-B172-1726-FCDAC66F67CC}"/>
              </a:ext>
            </a:extLst>
          </p:cNvPr>
          <p:cNvSpPr>
            <a:spLocks noGrp="1" noRot="1" noChangeAspect="1" noChangeArrowheads="1" noTextEdit="1"/>
          </p:cNvSpPr>
          <p:nvPr>
            <p:ph type="sldImg"/>
          </p:nvPr>
        </p:nvSpPr>
        <p:spPr>
          <a:ln/>
        </p:spPr>
      </p:sp>
      <p:sp>
        <p:nvSpPr>
          <p:cNvPr id="122884" name="Rectangle 3">
            <a:extLst>
              <a:ext uri="{FF2B5EF4-FFF2-40B4-BE49-F238E27FC236}">
                <a16:creationId xmlns:a16="http://schemas.microsoft.com/office/drawing/2014/main" id="{DAB1483F-2F6B-F642-0353-EBBAF4623D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EADB7F47-07D0-B74F-A109-082935DD88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813D92A-68F4-42B4-A0D4-A73A4E47005C}" type="slidenum">
              <a:rPr lang="en-CA" altLang="en-US" sz="1200">
                <a:latin typeface="Tahoma" panose="020B0604030504040204" pitchFamily="34" charset="0"/>
              </a:rPr>
              <a:pPr/>
              <a:t>17</a:t>
            </a:fld>
            <a:endParaRPr lang="en-CA" altLang="en-US" sz="1200">
              <a:latin typeface="Tahoma" panose="020B0604030504040204" pitchFamily="34" charset="0"/>
            </a:endParaRPr>
          </a:p>
        </p:txBody>
      </p:sp>
      <p:sp>
        <p:nvSpPr>
          <p:cNvPr id="123907" name="Rectangle 2">
            <a:extLst>
              <a:ext uri="{FF2B5EF4-FFF2-40B4-BE49-F238E27FC236}">
                <a16:creationId xmlns:a16="http://schemas.microsoft.com/office/drawing/2014/main" id="{6A552E6A-4EEB-458D-4F12-82163A16C935}"/>
              </a:ext>
            </a:extLst>
          </p:cNvPr>
          <p:cNvSpPr>
            <a:spLocks noGrp="1" noRot="1" noChangeAspect="1" noChangeArrowheads="1" noTextEdit="1"/>
          </p:cNvSpPr>
          <p:nvPr>
            <p:ph type="sldImg"/>
          </p:nvPr>
        </p:nvSpPr>
        <p:spPr>
          <a:ln/>
        </p:spPr>
      </p:sp>
      <p:sp>
        <p:nvSpPr>
          <p:cNvPr id="123908" name="Rectangle 3">
            <a:extLst>
              <a:ext uri="{FF2B5EF4-FFF2-40B4-BE49-F238E27FC236}">
                <a16:creationId xmlns:a16="http://schemas.microsoft.com/office/drawing/2014/main" id="{C606E7CA-655E-0630-A626-6464927D97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7C0F2F91-0DD0-C2D8-B23B-49CFC1FFF2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C2D756B-7893-46F3-B941-F24B8AC6F6E8}" type="slidenum">
              <a:rPr lang="en-CA" altLang="en-US" sz="1200">
                <a:latin typeface="Tahoma" panose="020B0604030504040204" pitchFamily="34" charset="0"/>
              </a:rPr>
              <a:pPr/>
              <a:t>18</a:t>
            </a:fld>
            <a:endParaRPr lang="en-CA" altLang="en-US" sz="1200">
              <a:latin typeface="Tahoma" panose="020B0604030504040204" pitchFamily="34" charset="0"/>
            </a:endParaRPr>
          </a:p>
        </p:txBody>
      </p:sp>
      <p:sp>
        <p:nvSpPr>
          <p:cNvPr id="124931" name="Rectangle 2">
            <a:extLst>
              <a:ext uri="{FF2B5EF4-FFF2-40B4-BE49-F238E27FC236}">
                <a16:creationId xmlns:a16="http://schemas.microsoft.com/office/drawing/2014/main" id="{9660739C-2DB0-937A-1C7F-2B0B0FBE05E1}"/>
              </a:ext>
            </a:extLst>
          </p:cNvPr>
          <p:cNvSpPr>
            <a:spLocks noGrp="1" noRot="1" noChangeAspect="1" noChangeArrowheads="1" noTextEdit="1"/>
          </p:cNvSpPr>
          <p:nvPr>
            <p:ph type="sldImg"/>
          </p:nvPr>
        </p:nvSpPr>
        <p:spPr>
          <a:ln/>
        </p:spPr>
      </p:sp>
      <p:sp>
        <p:nvSpPr>
          <p:cNvPr id="124932" name="Rectangle 3">
            <a:extLst>
              <a:ext uri="{FF2B5EF4-FFF2-40B4-BE49-F238E27FC236}">
                <a16:creationId xmlns:a16="http://schemas.microsoft.com/office/drawing/2014/main" id="{BA77E7A3-89BE-EB42-2BA5-5514ADE904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E273F1A4-0150-61C2-4EFA-9E837BB251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E7933AB-9253-4510-AD5D-F9210CC70383}" type="slidenum">
              <a:rPr lang="en-CA" altLang="en-US" sz="1200">
                <a:latin typeface="Tahoma" panose="020B0604030504040204" pitchFamily="34" charset="0"/>
              </a:rPr>
              <a:pPr/>
              <a:t>19</a:t>
            </a:fld>
            <a:endParaRPr lang="en-CA" altLang="en-US" sz="1200">
              <a:latin typeface="Tahoma" panose="020B0604030504040204" pitchFamily="34" charset="0"/>
            </a:endParaRPr>
          </a:p>
        </p:txBody>
      </p:sp>
      <p:sp>
        <p:nvSpPr>
          <p:cNvPr id="125955" name="Rectangle 2">
            <a:extLst>
              <a:ext uri="{FF2B5EF4-FFF2-40B4-BE49-F238E27FC236}">
                <a16:creationId xmlns:a16="http://schemas.microsoft.com/office/drawing/2014/main" id="{CF5F15D4-79F4-DF5E-DD0B-78F434211DEE}"/>
              </a:ext>
            </a:extLst>
          </p:cNvPr>
          <p:cNvSpPr>
            <a:spLocks noGrp="1" noRot="1" noChangeAspect="1" noChangeArrowheads="1" noTextEdit="1"/>
          </p:cNvSpPr>
          <p:nvPr>
            <p:ph type="sldImg"/>
          </p:nvPr>
        </p:nvSpPr>
        <p:spPr>
          <a:ln/>
        </p:spPr>
      </p:sp>
      <p:sp>
        <p:nvSpPr>
          <p:cNvPr id="125956" name="Rectangle 3">
            <a:extLst>
              <a:ext uri="{FF2B5EF4-FFF2-40B4-BE49-F238E27FC236}">
                <a16:creationId xmlns:a16="http://schemas.microsoft.com/office/drawing/2014/main" id="{F0A5B1C7-4072-64D0-CA3A-BC3D52CAA6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D047E3D3-31D3-6CA8-2DA3-24E50DFCB7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B4E58F10-9FC2-4D51-B4CE-22C27ED66B4C}" type="slidenum">
              <a:rPr lang="en-CA" altLang="en-US" sz="1200">
                <a:latin typeface="Tahoma" panose="020B0604030504040204" pitchFamily="34" charset="0"/>
              </a:rPr>
              <a:pPr/>
              <a:t>20</a:t>
            </a:fld>
            <a:endParaRPr lang="en-CA" altLang="en-US" sz="1200">
              <a:latin typeface="Tahoma" panose="020B0604030504040204" pitchFamily="34" charset="0"/>
            </a:endParaRPr>
          </a:p>
        </p:txBody>
      </p:sp>
      <p:sp>
        <p:nvSpPr>
          <p:cNvPr id="126979" name="Rectangle 2">
            <a:extLst>
              <a:ext uri="{FF2B5EF4-FFF2-40B4-BE49-F238E27FC236}">
                <a16:creationId xmlns:a16="http://schemas.microsoft.com/office/drawing/2014/main" id="{B4BA3FBE-0A36-03B6-49E5-A84FDEFA9A89}"/>
              </a:ext>
            </a:extLst>
          </p:cNvPr>
          <p:cNvSpPr>
            <a:spLocks noGrp="1" noRot="1" noChangeAspect="1" noChangeArrowheads="1" noTextEdit="1"/>
          </p:cNvSpPr>
          <p:nvPr>
            <p:ph type="sldImg"/>
          </p:nvPr>
        </p:nvSpPr>
        <p:spPr>
          <a:ln/>
        </p:spPr>
      </p:sp>
      <p:sp>
        <p:nvSpPr>
          <p:cNvPr id="126980" name="Rectangle 3">
            <a:extLst>
              <a:ext uri="{FF2B5EF4-FFF2-40B4-BE49-F238E27FC236}">
                <a16:creationId xmlns:a16="http://schemas.microsoft.com/office/drawing/2014/main" id="{D78D27CD-34DA-F057-EC4F-B401BDB682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EE36B27F-B781-FE4E-B051-6110BCAAB6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8E65BD1-2D5E-40C6-8C37-7D23B633E3B9}" type="slidenum">
              <a:rPr lang="en-CA" altLang="en-US" sz="1200">
                <a:latin typeface="Tahoma" panose="020B0604030504040204" pitchFamily="34" charset="0"/>
              </a:rPr>
              <a:pPr/>
              <a:t>21</a:t>
            </a:fld>
            <a:endParaRPr lang="en-CA" altLang="en-US" sz="1200">
              <a:latin typeface="Tahoma" panose="020B0604030504040204" pitchFamily="34" charset="0"/>
            </a:endParaRPr>
          </a:p>
        </p:txBody>
      </p:sp>
      <p:sp>
        <p:nvSpPr>
          <p:cNvPr id="128003" name="Rectangle 2">
            <a:extLst>
              <a:ext uri="{FF2B5EF4-FFF2-40B4-BE49-F238E27FC236}">
                <a16:creationId xmlns:a16="http://schemas.microsoft.com/office/drawing/2014/main" id="{DBF00884-8A88-AF24-FA18-B4F8EE100076}"/>
              </a:ext>
            </a:extLst>
          </p:cNvPr>
          <p:cNvSpPr>
            <a:spLocks noGrp="1" noRot="1" noChangeAspect="1" noChangeArrowheads="1" noTextEdit="1"/>
          </p:cNvSpPr>
          <p:nvPr>
            <p:ph type="sldImg"/>
          </p:nvPr>
        </p:nvSpPr>
        <p:spPr>
          <a:ln/>
        </p:spPr>
      </p:sp>
      <p:sp>
        <p:nvSpPr>
          <p:cNvPr id="128004" name="Rectangle 3">
            <a:extLst>
              <a:ext uri="{FF2B5EF4-FFF2-40B4-BE49-F238E27FC236}">
                <a16:creationId xmlns:a16="http://schemas.microsoft.com/office/drawing/2014/main" id="{CD4F5D00-7B70-A756-0566-9978B663C7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8BE2DE7A-AFBC-9109-66EF-B56AF22713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3107B54-A33A-469A-96AC-930498D91931}" type="slidenum">
              <a:rPr lang="en-CA" altLang="en-US" sz="1200">
                <a:latin typeface="Tahoma" panose="020B0604030504040204" pitchFamily="34" charset="0"/>
              </a:rPr>
              <a:pPr/>
              <a:t>22</a:t>
            </a:fld>
            <a:endParaRPr lang="en-CA" altLang="en-US" sz="1200">
              <a:latin typeface="Tahoma" panose="020B0604030504040204" pitchFamily="34" charset="0"/>
            </a:endParaRPr>
          </a:p>
        </p:txBody>
      </p:sp>
      <p:sp>
        <p:nvSpPr>
          <p:cNvPr id="129027" name="Rectangle 2">
            <a:extLst>
              <a:ext uri="{FF2B5EF4-FFF2-40B4-BE49-F238E27FC236}">
                <a16:creationId xmlns:a16="http://schemas.microsoft.com/office/drawing/2014/main" id="{9C1E6BDC-6161-FEF6-B88F-9673EEDF87DE}"/>
              </a:ext>
            </a:extLst>
          </p:cNvPr>
          <p:cNvSpPr>
            <a:spLocks noGrp="1" noRot="1" noChangeAspect="1" noChangeArrowheads="1" noTextEdit="1"/>
          </p:cNvSpPr>
          <p:nvPr>
            <p:ph type="sldImg"/>
          </p:nvPr>
        </p:nvSpPr>
        <p:spPr>
          <a:ln/>
        </p:spPr>
      </p:sp>
      <p:sp>
        <p:nvSpPr>
          <p:cNvPr id="129028" name="Rectangle 3">
            <a:extLst>
              <a:ext uri="{FF2B5EF4-FFF2-40B4-BE49-F238E27FC236}">
                <a16:creationId xmlns:a16="http://schemas.microsoft.com/office/drawing/2014/main" id="{F9EBE6C1-CFDB-F18A-E0BA-47EFBFD85A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5291F909-81C6-4D4A-6CF1-D8194A12B0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F16B547-C31F-4F17-9418-49B821B2733C}" type="slidenum">
              <a:rPr lang="en-CA" altLang="en-US" sz="1200">
                <a:latin typeface="Tahoma" panose="020B0604030504040204" pitchFamily="34" charset="0"/>
              </a:rPr>
              <a:pPr/>
              <a:t>23</a:t>
            </a:fld>
            <a:endParaRPr lang="en-CA" altLang="en-US" sz="1200">
              <a:latin typeface="Tahoma" panose="020B0604030504040204" pitchFamily="34" charset="0"/>
            </a:endParaRPr>
          </a:p>
        </p:txBody>
      </p:sp>
      <p:sp>
        <p:nvSpPr>
          <p:cNvPr id="131075" name="Rectangle 2">
            <a:extLst>
              <a:ext uri="{FF2B5EF4-FFF2-40B4-BE49-F238E27FC236}">
                <a16:creationId xmlns:a16="http://schemas.microsoft.com/office/drawing/2014/main" id="{7DB5EA66-23C6-324B-A2A2-6BDA15687F10}"/>
              </a:ext>
            </a:extLst>
          </p:cNvPr>
          <p:cNvSpPr>
            <a:spLocks noGrp="1" noRot="1" noChangeAspect="1" noChangeArrowheads="1" noTextEdit="1"/>
          </p:cNvSpPr>
          <p:nvPr>
            <p:ph type="sldImg"/>
          </p:nvPr>
        </p:nvSpPr>
        <p:spPr>
          <a:ln/>
        </p:spPr>
      </p:sp>
      <p:sp>
        <p:nvSpPr>
          <p:cNvPr id="131076" name="Rectangle 3">
            <a:extLst>
              <a:ext uri="{FF2B5EF4-FFF2-40B4-BE49-F238E27FC236}">
                <a16:creationId xmlns:a16="http://schemas.microsoft.com/office/drawing/2014/main" id="{E7725D9E-3786-02DE-F498-798957C816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82EF994F-A1BA-CEAA-D233-E2E7583B48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D7B56D49-F6D1-47B6-95C6-B4B13F187B52}" type="slidenum">
              <a:rPr lang="en-CA" altLang="en-US" sz="1200">
                <a:latin typeface="Tahoma" panose="020B0604030504040204" pitchFamily="34" charset="0"/>
              </a:rPr>
              <a:pPr/>
              <a:t>24</a:t>
            </a:fld>
            <a:endParaRPr lang="en-CA" altLang="en-US" sz="1200">
              <a:latin typeface="Tahoma" panose="020B0604030504040204" pitchFamily="34" charset="0"/>
            </a:endParaRPr>
          </a:p>
        </p:txBody>
      </p:sp>
      <p:sp>
        <p:nvSpPr>
          <p:cNvPr id="132099" name="Rectangle 2">
            <a:extLst>
              <a:ext uri="{FF2B5EF4-FFF2-40B4-BE49-F238E27FC236}">
                <a16:creationId xmlns:a16="http://schemas.microsoft.com/office/drawing/2014/main" id="{FF34B21F-153B-1422-375D-C973A7106591}"/>
              </a:ext>
            </a:extLst>
          </p:cNvPr>
          <p:cNvSpPr>
            <a:spLocks noGrp="1" noRot="1" noChangeAspect="1" noChangeArrowheads="1" noTextEdit="1"/>
          </p:cNvSpPr>
          <p:nvPr>
            <p:ph type="sldImg"/>
          </p:nvPr>
        </p:nvSpPr>
        <p:spPr>
          <a:ln/>
        </p:spPr>
      </p:sp>
      <p:sp>
        <p:nvSpPr>
          <p:cNvPr id="132100" name="Rectangle 3">
            <a:extLst>
              <a:ext uri="{FF2B5EF4-FFF2-40B4-BE49-F238E27FC236}">
                <a16:creationId xmlns:a16="http://schemas.microsoft.com/office/drawing/2014/main" id="{053D2460-C875-5A87-DEBD-67097CCA88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a:extLst>
              <a:ext uri="{FF2B5EF4-FFF2-40B4-BE49-F238E27FC236}">
                <a16:creationId xmlns:a16="http://schemas.microsoft.com/office/drawing/2014/main" id="{BD64834E-7D6F-9414-3122-021B565B71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BA15128E-4FF0-40EB-B506-1ACFF57E7B45}" type="slidenum">
              <a:rPr lang="en-CA" altLang="en-US" sz="1200">
                <a:latin typeface="Tahoma" panose="020B0604030504040204" pitchFamily="34" charset="0"/>
              </a:rPr>
              <a:pPr/>
              <a:t>25</a:t>
            </a:fld>
            <a:endParaRPr lang="en-CA" altLang="en-US" sz="1200">
              <a:latin typeface="Tahoma" panose="020B0604030504040204" pitchFamily="34" charset="0"/>
            </a:endParaRPr>
          </a:p>
        </p:txBody>
      </p:sp>
      <p:sp>
        <p:nvSpPr>
          <p:cNvPr id="135171" name="Rectangle 2">
            <a:extLst>
              <a:ext uri="{FF2B5EF4-FFF2-40B4-BE49-F238E27FC236}">
                <a16:creationId xmlns:a16="http://schemas.microsoft.com/office/drawing/2014/main" id="{EB5AB573-CF8F-32E0-7D58-F3BC8940B098}"/>
              </a:ext>
            </a:extLst>
          </p:cNvPr>
          <p:cNvSpPr>
            <a:spLocks noGrp="1" noRot="1" noChangeAspect="1" noChangeArrowheads="1" noTextEdit="1"/>
          </p:cNvSpPr>
          <p:nvPr>
            <p:ph type="sldImg"/>
          </p:nvPr>
        </p:nvSpPr>
        <p:spPr>
          <a:ln/>
        </p:spPr>
      </p:sp>
      <p:sp>
        <p:nvSpPr>
          <p:cNvPr id="135172" name="Rectangle 3">
            <a:extLst>
              <a:ext uri="{FF2B5EF4-FFF2-40B4-BE49-F238E27FC236}">
                <a16:creationId xmlns:a16="http://schemas.microsoft.com/office/drawing/2014/main" id="{F2262D2B-0BCA-0B7C-DD44-9915FC64BC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7DD129D8-FD83-C4AE-8D9C-3337596915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A79E39F-73EF-484A-ACB9-773402B709F0}" type="slidenum">
              <a:rPr lang="en-CA" altLang="en-US" sz="1200">
                <a:latin typeface="Tahoma" panose="020B0604030504040204" pitchFamily="34" charset="0"/>
              </a:rPr>
              <a:pPr/>
              <a:t>26</a:t>
            </a:fld>
            <a:endParaRPr lang="en-CA" altLang="en-US" sz="1200">
              <a:latin typeface="Tahoma" panose="020B0604030504040204" pitchFamily="34" charset="0"/>
            </a:endParaRPr>
          </a:p>
        </p:txBody>
      </p:sp>
      <p:sp>
        <p:nvSpPr>
          <p:cNvPr id="134147" name="Rectangle 2">
            <a:extLst>
              <a:ext uri="{FF2B5EF4-FFF2-40B4-BE49-F238E27FC236}">
                <a16:creationId xmlns:a16="http://schemas.microsoft.com/office/drawing/2014/main" id="{159D4D89-A7D8-667A-12A8-30AD340A17DC}"/>
              </a:ext>
            </a:extLst>
          </p:cNvPr>
          <p:cNvSpPr>
            <a:spLocks noGrp="1" noRot="1" noChangeAspect="1" noChangeArrowheads="1" noTextEdit="1"/>
          </p:cNvSpPr>
          <p:nvPr>
            <p:ph type="sldImg"/>
          </p:nvPr>
        </p:nvSpPr>
        <p:spPr>
          <a:ln/>
        </p:spPr>
      </p:sp>
      <p:sp>
        <p:nvSpPr>
          <p:cNvPr id="134148" name="Rectangle 3">
            <a:extLst>
              <a:ext uri="{FF2B5EF4-FFF2-40B4-BE49-F238E27FC236}">
                <a16:creationId xmlns:a16="http://schemas.microsoft.com/office/drawing/2014/main" id="{2E433071-2F90-4B40-02B7-414CB07F4E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a:extLst>
              <a:ext uri="{FF2B5EF4-FFF2-40B4-BE49-F238E27FC236}">
                <a16:creationId xmlns:a16="http://schemas.microsoft.com/office/drawing/2014/main" id="{4DDF0420-FC77-DB1D-7D84-FCF5377B68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45117DC-84C3-447A-941F-C2054783ACB0}" type="slidenum">
              <a:rPr lang="en-CA" altLang="en-US" sz="1200">
                <a:latin typeface="Tahoma" panose="020B0604030504040204" pitchFamily="34" charset="0"/>
              </a:rPr>
              <a:pPr/>
              <a:t>28</a:t>
            </a:fld>
            <a:endParaRPr lang="en-CA" altLang="en-US" sz="1200">
              <a:latin typeface="Tahoma" panose="020B0604030504040204" pitchFamily="34" charset="0"/>
            </a:endParaRPr>
          </a:p>
        </p:txBody>
      </p:sp>
      <p:sp>
        <p:nvSpPr>
          <p:cNvPr id="136195" name="Rectangle 2">
            <a:extLst>
              <a:ext uri="{FF2B5EF4-FFF2-40B4-BE49-F238E27FC236}">
                <a16:creationId xmlns:a16="http://schemas.microsoft.com/office/drawing/2014/main" id="{24660611-443A-EE98-353D-C720A1F335C0}"/>
              </a:ext>
            </a:extLst>
          </p:cNvPr>
          <p:cNvSpPr>
            <a:spLocks noGrp="1" noRot="1" noChangeAspect="1" noChangeArrowheads="1" noTextEdit="1"/>
          </p:cNvSpPr>
          <p:nvPr>
            <p:ph type="sldImg"/>
          </p:nvPr>
        </p:nvSpPr>
        <p:spPr>
          <a:ln/>
        </p:spPr>
      </p:sp>
      <p:sp>
        <p:nvSpPr>
          <p:cNvPr id="136196" name="Rectangle 3">
            <a:extLst>
              <a:ext uri="{FF2B5EF4-FFF2-40B4-BE49-F238E27FC236}">
                <a16:creationId xmlns:a16="http://schemas.microsoft.com/office/drawing/2014/main" id="{83205A5E-A40B-1002-C18B-D4F1D6991E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a:extLst>
              <a:ext uri="{FF2B5EF4-FFF2-40B4-BE49-F238E27FC236}">
                <a16:creationId xmlns:a16="http://schemas.microsoft.com/office/drawing/2014/main" id="{423099FB-4114-1FA4-4F0E-8770E21921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FCBB86DB-34A5-462E-AAF2-E528C194360E}" type="slidenum">
              <a:rPr lang="en-CA" altLang="en-US" sz="1200">
                <a:latin typeface="Tahoma" panose="020B0604030504040204" pitchFamily="34" charset="0"/>
              </a:rPr>
              <a:pPr/>
              <a:t>29</a:t>
            </a:fld>
            <a:endParaRPr lang="en-CA" altLang="en-US" sz="1200">
              <a:latin typeface="Tahoma" panose="020B0604030504040204" pitchFamily="34" charset="0"/>
            </a:endParaRPr>
          </a:p>
        </p:txBody>
      </p:sp>
      <p:sp>
        <p:nvSpPr>
          <p:cNvPr id="137219" name="Rectangle 2">
            <a:extLst>
              <a:ext uri="{FF2B5EF4-FFF2-40B4-BE49-F238E27FC236}">
                <a16:creationId xmlns:a16="http://schemas.microsoft.com/office/drawing/2014/main" id="{1A1F5963-EBF7-2BDF-8056-954DF8546698}"/>
              </a:ext>
            </a:extLst>
          </p:cNvPr>
          <p:cNvSpPr>
            <a:spLocks noGrp="1" noRot="1" noChangeAspect="1" noChangeArrowheads="1" noTextEdit="1"/>
          </p:cNvSpPr>
          <p:nvPr>
            <p:ph type="sldImg"/>
          </p:nvPr>
        </p:nvSpPr>
        <p:spPr>
          <a:ln/>
        </p:spPr>
      </p:sp>
      <p:sp>
        <p:nvSpPr>
          <p:cNvPr id="137220" name="Rectangle 3">
            <a:extLst>
              <a:ext uri="{FF2B5EF4-FFF2-40B4-BE49-F238E27FC236}">
                <a16:creationId xmlns:a16="http://schemas.microsoft.com/office/drawing/2014/main" id="{05C051CB-A301-6086-6243-9986AA6E74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a:extLst>
              <a:ext uri="{FF2B5EF4-FFF2-40B4-BE49-F238E27FC236}">
                <a16:creationId xmlns:a16="http://schemas.microsoft.com/office/drawing/2014/main" id="{66FEDFFD-F408-D026-B7C5-848A51FC2F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1DA7392A-0A88-409D-AD85-8D1FC9189933}" type="slidenum">
              <a:rPr lang="en-CA" altLang="en-US" sz="1200">
                <a:latin typeface="Tahoma" panose="020B0604030504040204" pitchFamily="34" charset="0"/>
              </a:rPr>
              <a:pPr/>
              <a:t>30</a:t>
            </a:fld>
            <a:endParaRPr lang="en-CA" altLang="en-US" sz="1200">
              <a:latin typeface="Tahoma" panose="020B0604030504040204" pitchFamily="34" charset="0"/>
            </a:endParaRPr>
          </a:p>
        </p:txBody>
      </p:sp>
      <p:sp>
        <p:nvSpPr>
          <p:cNvPr id="138243" name="Rectangle 2">
            <a:extLst>
              <a:ext uri="{FF2B5EF4-FFF2-40B4-BE49-F238E27FC236}">
                <a16:creationId xmlns:a16="http://schemas.microsoft.com/office/drawing/2014/main" id="{0F2E6D7A-4CDC-E565-40AA-4016A969A1FE}"/>
              </a:ext>
            </a:extLst>
          </p:cNvPr>
          <p:cNvSpPr>
            <a:spLocks noGrp="1" noRot="1" noChangeAspect="1" noChangeArrowheads="1" noTextEdit="1"/>
          </p:cNvSpPr>
          <p:nvPr>
            <p:ph type="sldImg"/>
          </p:nvPr>
        </p:nvSpPr>
        <p:spPr>
          <a:ln/>
        </p:spPr>
      </p:sp>
      <p:sp>
        <p:nvSpPr>
          <p:cNvPr id="138244" name="Rectangle 3">
            <a:extLst>
              <a:ext uri="{FF2B5EF4-FFF2-40B4-BE49-F238E27FC236}">
                <a16:creationId xmlns:a16="http://schemas.microsoft.com/office/drawing/2014/main" id="{A679B95C-BDC1-07A4-4660-2C28471051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a:extLst>
              <a:ext uri="{FF2B5EF4-FFF2-40B4-BE49-F238E27FC236}">
                <a16:creationId xmlns:a16="http://schemas.microsoft.com/office/drawing/2014/main" id="{CD180FCA-A51B-7AF2-890B-34D72C8152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3B959D4-D7DD-4F2F-95E5-D14DA0A016E8}" type="slidenum">
              <a:rPr lang="en-CA" altLang="en-US" sz="1200">
                <a:latin typeface="Tahoma" panose="020B0604030504040204" pitchFamily="34" charset="0"/>
              </a:rPr>
              <a:pPr/>
              <a:t>31</a:t>
            </a:fld>
            <a:endParaRPr lang="en-CA" altLang="en-US" sz="1200">
              <a:latin typeface="Tahoma" panose="020B0604030504040204" pitchFamily="34" charset="0"/>
            </a:endParaRPr>
          </a:p>
        </p:txBody>
      </p:sp>
      <p:sp>
        <p:nvSpPr>
          <p:cNvPr id="139267" name="Rectangle 2">
            <a:extLst>
              <a:ext uri="{FF2B5EF4-FFF2-40B4-BE49-F238E27FC236}">
                <a16:creationId xmlns:a16="http://schemas.microsoft.com/office/drawing/2014/main" id="{C13929DD-DBA6-A2B4-0B8F-FF681F5FE9EB}"/>
              </a:ext>
            </a:extLst>
          </p:cNvPr>
          <p:cNvSpPr>
            <a:spLocks noGrp="1" noRot="1" noChangeAspect="1" noChangeArrowheads="1" noTextEdit="1"/>
          </p:cNvSpPr>
          <p:nvPr>
            <p:ph type="sldImg"/>
          </p:nvPr>
        </p:nvSpPr>
        <p:spPr>
          <a:ln/>
        </p:spPr>
      </p:sp>
      <p:sp>
        <p:nvSpPr>
          <p:cNvPr id="139268" name="Rectangle 3">
            <a:extLst>
              <a:ext uri="{FF2B5EF4-FFF2-40B4-BE49-F238E27FC236}">
                <a16:creationId xmlns:a16="http://schemas.microsoft.com/office/drawing/2014/main" id="{8D6BE71A-5191-DCBD-6844-5B3790A0A5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a:extLst>
              <a:ext uri="{FF2B5EF4-FFF2-40B4-BE49-F238E27FC236}">
                <a16:creationId xmlns:a16="http://schemas.microsoft.com/office/drawing/2014/main" id="{9C1210CF-8A5D-98B8-847A-E3743BE9BD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D0597344-2D13-49CA-84EA-CFE9CB03C6D4}" type="slidenum">
              <a:rPr lang="en-CA" altLang="en-US" sz="1200">
                <a:latin typeface="Tahoma" panose="020B0604030504040204" pitchFamily="34" charset="0"/>
              </a:rPr>
              <a:pPr/>
              <a:t>32</a:t>
            </a:fld>
            <a:endParaRPr lang="en-CA" altLang="en-US" sz="1200">
              <a:latin typeface="Tahoma" panose="020B0604030504040204" pitchFamily="34" charset="0"/>
            </a:endParaRPr>
          </a:p>
        </p:txBody>
      </p:sp>
      <p:sp>
        <p:nvSpPr>
          <p:cNvPr id="140291" name="Rectangle 2">
            <a:extLst>
              <a:ext uri="{FF2B5EF4-FFF2-40B4-BE49-F238E27FC236}">
                <a16:creationId xmlns:a16="http://schemas.microsoft.com/office/drawing/2014/main" id="{9F2441C2-487F-BE15-B6E3-BD0D145F6664}"/>
              </a:ext>
            </a:extLst>
          </p:cNvPr>
          <p:cNvSpPr>
            <a:spLocks noGrp="1" noRot="1" noChangeAspect="1" noChangeArrowheads="1" noTextEdit="1"/>
          </p:cNvSpPr>
          <p:nvPr>
            <p:ph type="sldImg"/>
          </p:nvPr>
        </p:nvSpPr>
        <p:spPr>
          <a:ln/>
        </p:spPr>
      </p:sp>
      <p:sp>
        <p:nvSpPr>
          <p:cNvPr id="140292" name="Rectangle 3">
            <a:extLst>
              <a:ext uri="{FF2B5EF4-FFF2-40B4-BE49-F238E27FC236}">
                <a16:creationId xmlns:a16="http://schemas.microsoft.com/office/drawing/2014/main" id="{4D67CFFD-CB0C-CBC2-CAA8-2099B5123B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a:extLst>
              <a:ext uri="{FF2B5EF4-FFF2-40B4-BE49-F238E27FC236}">
                <a16:creationId xmlns:a16="http://schemas.microsoft.com/office/drawing/2014/main" id="{A20C7935-1853-242F-34BD-0611EAA048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1805A857-54BB-4145-B86D-8D6C042D303C}" type="slidenum">
              <a:rPr lang="en-CA" altLang="en-US" sz="1200">
                <a:latin typeface="Tahoma" panose="020B0604030504040204" pitchFamily="34" charset="0"/>
              </a:rPr>
              <a:pPr/>
              <a:t>33</a:t>
            </a:fld>
            <a:endParaRPr lang="en-CA" altLang="en-US" sz="1200">
              <a:latin typeface="Tahoma" panose="020B0604030504040204" pitchFamily="34" charset="0"/>
            </a:endParaRPr>
          </a:p>
        </p:txBody>
      </p:sp>
      <p:sp>
        <p:nvSpPr>
          <p:cNvPr id="141315" name="Rectangle 2">
            <a:extLst>
              <a:ext uri="{FF2B5EF4-FFF2-40B4-BE49-F238E27FC236}">
                <a16:creationId xmlns:a16="http://schemas.microsoft.com/office/drawing/2014/main" id="{DE9CA9A6-35B8-389D-2D68-76B8531DC71E}"/>
              </a:ext>
            </a:extLst>
          </p:cNvPr>
          <p:cNvSpPr>
            <a:spLocks noGrp="1" noRot="1" noChangeAspect="1" noChangeArrowheads="1" noTextEdit="1"/>
          </p:cNvSpPr>
          <p:nvPr>
            <p:ph type="sldImg"/>
          </p:nvPr>
        </p:nvSpPr>
        <p:spPr>
          <a:ln/>
        </p:spPr>
      </p:sp>
      <p:sp>
        <p:nvSpPr>
          <p:cNvPr id="141316" name="Rectangle 3">
            <a:extLst>
              <a:ext uri="{FF2B5EF4-FFF2-40B4-BE49-F238E27FC236}">
                <a16:creationId xmlns:a16="http://schemas.microsoft.com/office/drawing/2014/main" id="{5A1EF981-559D-4D34-B123-D091E3B0BE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a:extLst>
              <a:ext uri="{FF2B5EF4-FFF2-40B4-BE49-F238E27FC236}">
                <a16:creationId xmlns:a16="http://schemas.microsoft.com/office/drawing/2014/main" id="{B279ECBE-CBBC-BB64-598C-C94C296E49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DC3FAD65-3312-4802-A9A1-3B0DA57ECCC8}" type="slidenum">
              <a:rPr lang="en-CA" altLang="en-US" sz="1200">
                <a:latin typeface="Tahoma" panose="020B0604030504040204" pitchFamily="34" charset="0"/>
              </a:rPr>
              <a:pPr/>
              <a:t>34</a:t>
            </a:fld>
            <a:endParaRPr lang="en-CA" altLang="en-US" sz="1200">
              <a:latin typeface="Tahoma" panose="020B0604030504040204" pitchFamily="34" charset="0"/>
            </a:endParaRPr>
          </a:p>
        </p:txBody>
      </p:sp>
      <p:sp>
        <p:nvSpPr>
          <p:cNvPr id="142339" name="Rectangle 2">
            <a:extLst>
              <a:ext uri="{FF2B5EF4-FFF2-40B4-BE49-F238E27FC236}">
                <a16:creationId xmlns:a16="http://schemas.microsoft.com/office/drawing/2014/main" id="{406D43C2-4631-DC7E-06D8-DF8319B36C77}"/>
              </a:ext>
            </a:extLst>
          </p:cNvPr>
          <p:cNvSpPr>
            <a:spLocks noGrp="1" noRot="1" noChangeAspect="1" noChangeArrowheads="1" noTextEdit="1"/>
          </p:cNvSpPr>
          <p:nvPr>
            <p:ph type="sldImg"/>
          </p:nvPr>
        </p:nvSpPr>
        <p:spPr>
          <a:ln/>
        </p:spPr>
      </p:sp>
      <p:sp>
        <p:nvSpPr>
          <p:cNvPr id="142340" name="Rectangle 3">
            <a:extLst>
              <a:ext uri="{FF2B5EF4-FFF2-40B4-BE49-F238E27FC236}">
                <a16:creationId xmlns:a16="http://schemas.microsoft.com/office/drawing/2014/main" id="{2022216C-EC34-EB47-0F5B-289DC5D6A6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a:extLst>
              <a:ext uri="{FF2B5EF4-FFF2-40B4-BE49-F238E27FC236}">
                <a16:creationId xmlns:a16="http://schemas.microsoft.com/office/drawing/2014/main" id="{03E73CC7-CE46-21A1-1055-EEEB2945EA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BF4E2CEE-24A2-4446-8F28-0EC7C8836441}" type="slidenum">
              <a:rPr lang="en-CA" altLang="en-US" sz="1200">
                <a:latin typeface="Tahoma" panose="020B0604030504040204" pitchFamily="34" charset="0"/>
              </a:rPr>
              <a:pPr/>
              <a:t>38</a:t>
            </a:fld>
            <a:endParaRPr lang="en-CA" altLang="en-US" sz="1200">
              <a:latin typeface="Tahoma" panose="020B0604030504040204" pitchFamily="34" charset="0"/>
            </a:endParaRPr>
          </a:p>
        </p:txBody>
      </p:sp>
      <p:sp>
        <p:nvSpPr>
          <p:cNvPr id="143363" name="Rectangle 2">
            <a:extLst>
              <a:ext uri="{FF2B5EF4-FFF2-40B4-BE49-F238E27FC236}">
                <a16:creationId xmlns:a16="http://schemas.microsoft.com/office/drawing/2014/main" id="{1068BE5C-AC6F-B918-195D-E9B984082F36}"/>
              </a:ext>
            </a:extLst>
          </p:cNvPr>
          <p:cNvSpPr>
            <a:spLocks noGrp="1" noRot="1" noChangeAspect="1" noChangeArrowheads="1" noTextEdit="1"/>
          </p:cNvSpPr>
          <p:nvPr>
            <p:ph type="sldImg"/>
          </p:nvPr>
        </p:nvSpPr>
        <p:spPr>
          <a:ln/>
        </p:spPr>
      </p:sp>
      <p:sp>
        <p:nvSpPr>
          <p:cNvPr id="143364" name="Rectangle 3">
            <a:extLst>
              <a:ext uri="{FF2B5EF4-FFF2-40B4-BE49-F238E27FC236}">
                <a16:creationId xmlns:a16="http://schemas.microsoft.com/office/drawing/2014/main" id="{4D878317-05D6-3296-096D-15E69EA9CD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a:extLst>
              <a:ext uri="{FF2B5EF4-FFF2-40B4-BE49-F238E27FC236}">
                <a16:creationId xmlns:a16="http://schemas.microsoft.com/office/drawing/2014/main" id="{5745E09B-039C-D1EA-DA58-3D8D3817B7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4119BE2-C0A1-4E94-8D29-2824E8B42309}" type="slidenum">
              <a:rPr lang="en-CA" altLang="en-US" sz="1200">
                <a:latin typeface="Tahoma" panose="020B0604030504040204" pitchFamily="34" charset="0"/>
              </a:rPr>
              <a:pPr/>
              <a:t>39</a:t>
            </a:fld>
            <a:endParaRPr lang="en-CA" altLang="en-US" sz="1200">
              <a:latin typeface="Tahoma" panose="020B0604030504040204" pitchFamily="34" charset="0"/>
            </a:endParaRPr>
          </a:p>
        </p:txBody>
      </p:sp>
      <p:sp>
        <p:nvSpPr>
          <p:cNvPr id="144387" name="Rectangle 2">
            <a:extLst>
              <a:ext uri="{FF2B5EF4-FFF2-40B4-BE49-F238E27FC236}">
                <a16:creationId xmlns:a16="http://schemas.microsoft.com/office/drawing/2014/main" id="{3194D492-120C-60FF-525C-EFAE0A0905B6}"/>
              </a:ext>
            </a:extLst>
          </p:cNvPr>
          <p:cNvSpPr>
            <a:spLocks noGrp="1" noRot="1" noChangeAspect="1" noChangeArrowheads="1" noTextEdit="1"/>
          </p:cNvSpPr>
          <p:nvPr>
            <p:ph type="sldImg"/>
          </p:nvPr>
        </p:nvSpPr>
        <p:spPr>
          <a:ln/>
        </p:spPr>
      </p:sp>
      <p:sp>
        <p:nvSpPr>
          <p:cNvPr id="144388" name="Rectangle 3">
            <a:extLst>
              <a:ext uri="{FF2B5EF4-FFF2-40B4-BE49-F238E27FC236}">
                <a16:creationId xmlns:a16="http://schemas.microsoft.com/office/drawing/2014/main" id="{2FBBFB57-C08A-2AD7-EE74-B91EFBDFC6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a:extLst>
              <a:ext uri="{FF2B5EF4-FFF2-40B4-BE49-F238E27FC236}">
                <a16:creationId xmlns:a16="http://schemas.microsoft.com/office/drawing/2014/main" id="{98276ADE-C105-B6FA-4F64-F8127EE31E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119A7B5-A8F3-4807-9D2B-D9487B6C9221}" type="slidenum">
              <a:rPr lang="en-CA" altLang="en-US" sz="1200">
                <a:latin typeface="Tahoma" panose="020B0604030504040204" pitchFamily="34" charset="0"/>
              </a:rPr>
              <a:pPr/>
              <a:t>41</a:t>
            </a:fld>
            <a:endParaRPr lang="en-CA" altLang="en-US" sz="1200">
              <a:latin typeface="Tahoma" panose="020B0604030504040204" pitchFamily="34" charset="0"/>
            </a:endParaRPr>
          </a:p>
        </p:txBody>
      </p:sp>
      <p:sp>
        <p:nvSpPr>
          <p:cNvPr id="145411" name="Rectangle 2">
            <a:extLst>
              <a:ext uri="{FF2B5EF4-FFF2-40B4-BE49-F238E27FC236}">
                <a16:creationId xmlns:a16="http://schemas.microsoft.com/office/drawing/2014/main" id="{4BFC2351-4E37-79C8-276E-FBDEED963F23}"/>
              </a:ext>
            </a:extLst>
          </p:cNvPr>
          <p:cNvSpPr>
            <a:spLocks noGrp="1" noRot="1" noChangeAspect="1" noChangeArrowheads="1" noTextEdit="1"/>
          </p:cNvSpPr>
          <p:nvPr>
            <p:ph type="sldImg"/>
          </p:nvPr>
        </p:nvSpPr>
        <p:spPr>
          <a:ln/>
        </p:spPr>
      </p:sp>
      <p:sp>
        <p:nvSpPr>
          <p:cNvPr id="145412" name="Rectangle 3">
            <a:extLst>
              <a:ext uri="{FF2B5EF4-FFF2-40B4-BE49-F238E27FC236}">
                <a16:creationId xmlns:a16="http://schemas.microsoft.com/office/drawing/2014/main" id="{8732735C-7E8E-21A1-926E-0920E16C36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a:extLst>
              <a:ext uri="{FF2B5EF4-FFF2-40B4-BE49-F238E27FC236}">
                <a16:creationId xmlns:a16="http://schemas.microsoft.com/office/drawing/2014/main" id="{67C9B108-CEEF-75D5-5A33-DC14F3EBA4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1D5A3EB8-BB0B-4A57-9F1A-C1D25834B485}" type="slidenum">
              <a:rPr lang="en-CA" altLang="en-US" sz="1200">
                <a:latin typeface="Tahoma" panose="020B0604030504040204" pitchFamily="34" charset="0"/>
              </a:rPr>
              <a:pPr/>
              <a:t>42</a:t>
            </a:fld>
            <a:endParaRPr lang="en-CA" altLang="en-US" sz="1200">
              <a:latin typeface="Tahoma" panose="020B0604030504040204" pitchFamily="34" charset="0"/>
            </a:endParaRPr>
          </a:p>
        </p:txBody>
      </p:sp>
      <p:sp>
        <p:nvSpPr>
          <p:cNvPr id="146435" name="Rectangle 2">
            <a:extLst>
              <a:ext uri="{FF2B5EF4-FFF2-40B4-BE49-F238E27FC236}">
                <a16:creationId xmlns:a16="http://schemas.microsoft.com/office/drawing/2014/main" id="{11E8ECC3-9823-1DFC-EF0A-8CC5D6E8FF4E}"/>
              </a:ext>
            </a:extLst>
          </p:cNvPr>
          <p:cNvSpPr>
            <a:spLocks noGrp="1" noRot="1" noChangeAspect="1" noChangeArrowheads="1" noTextEdit="1"/>
          </p:cNvSpPr>
          <p:nvPr>
            <p:ph type="sldImg"/>
          </p:nvPr>
        </p:nvSpPr>
        <p:spPr>
          <a:ln/>
        </p:spPr>
      </p:sp>
      <p:sp>
        <p:nvSpPr>
          <p:cNvPr id="146436" name="Rectangle 3">
            <a:extLst>
              <a:ext uri="{FF2B5EF4-FFF2-40B4-BE49-F238E27FC236}">
                <a16:creationId xmlns:a16="http://schemas.microsoft.com/office/drawing/2014/main" id="{2AB53F05-A156-307A-A801-6701184B51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a:extLst>
              <a:ext uri="{FF2B5EF4-FFF2-40B4-BE49-F238E27FC236}">
                <a16:creationId xmlns:a16="http://schemas.microsoft.com/office/drawing/2014/main" id="{90119456-E1D6-10F9-4C86-B5BDD8F83C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E2DEBFF-D136-40D6-91F2-90775EA28691}" type="slidenum">
              <a:rPr lang="en-CA" altLang="en-US" sz="1200">
                <a:latin typeface="Tahoma" panose="020B0604030504040204" pitchFamily="34" charset="0"/>
              </a:rPr>
              <a:pPr/>
              <a:t>43</a:t>
            </a:fld>
            <a:endParaRPr lang="en-CA" altLang="en-US" sz="1200">
              <a:latin typeface="Tahoma" panose="020B0604030504040204" pitchFamily="34" charset="0"/>
            </a:endParaRPr>
          </a:p>
        </p:txBody>
      </p:sp>
      <p:sp>
        <p:nvSpPr>
          <p:cNvPr id="148483" name="Rectangle 2">
            <a:extLst>
              <a:ext uri="{FF2B5EF4-FFF2-40B4-BE49-F238E27FC236}">
                <a16:creationId xmlns:a16="http://schemas.microsoft.com/office/drawing/2014/main" id="{13620033-B1A5-B398-9724-BE2856CF5534}"/>
              </a:ext>
            </a:extLst>
          </p:cNvPr>
          <p:cNvSpPr>
            <a:spLocks noGrp="1" noRot="1" noChangeAspect="1" noChangeArrowheads="1" noTextEdit="1"/>
          </p:cNvSpPr>
          <p:nvPr>
            <p:ph type="sldImg"/>
          </p:nvPr>
        </p:nvSpPr>
        <p:spPr>
          <a:ln/>
        </p:spPr>
      </p:sp>
      <p:sp>
        <p:nvSpPr>
          <p:cNvPr id="148484" name="Rectangle 3">
            <a:extLst>
              <a:ext uri="{FF2B5EF4-FFF2-40B4-BE49-F238E27FC236}">
                <a16:creationId xmlns:a16="http://schemas.microsoft.com/office/drawing/2014/main" id="{98E4E00C-C5E1-1ABA-C098-765D502FFB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a:extLst>
              <a:ext uri="{FF2B5EF4-FFF2-40B4-BE49-F238E27FC236}">
                <a16:creationId xmlns:a16="http://schemas.microsoft.com/office/drawing/2014/main" id="{7A1EDCAC-DC37-CDEF-8939-9337E10EA7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703315B3-41B2-4BB0-87C8-28A0D1D16790}" type="slidenum">
              <a:rPr lang="en-CA" altLang="en-US" sz="1200">
                <a:latin typeface="Tahoma" panose="020B0604030504040204" pitchFamily="34" charset="0"/>
              </a:rPr>
              <a:pPr/>
              <a:t>44</a:t>
            </a:fld>
            <a:endParaRPr lang="en-CA" altLang="en-US" sz="1200">
              <a:latin typeface="Tahoma" panose="020B0604030504040204" pitchFamily="34" charset="0"/>
            </a:endParaRPr>
          </a:p>
        </p:txBody>
      </p:sp>
      <p:sp>
        <p:nvSpPr>
          <p:cNvPr id="149507" name="Rectangle 2">
            <a:extLst>
              <a:ext uri="{FF2B5EF4-FFF2-40B4-BE49-F238E27FC236}">
                <a16:creationId xmlns:a16="http://schemas.microsoft.com/office/drawing/2014/main" id="{9C40D855-0351-C89D-DE40-A24144E6EE8D}"/>
              </a:ext>
            </a:extLst>
          </p:cNvPr>
          <p:cNvSpPr>
            <a:spLocks noGrp="1" noRot="1" noChangeAspect="1" noChangeArrowheads="1" noTextEdit="1"/>
          </p:cNvSpPr>
          <p:nvPr>
            <p:ph type="sldImg"/>
          </p:nvPr>
        </p:nvSpPr>
        <p:spPr>
          <a:ln/>
        </p:spPr>
      </p:sp>
      <p:sp>
        <p:nvSpPr>
          <p:cNvPr id="149508" name="Rectangle 3">
            <a:extLst>
              <a:ext uri="{FF2B5EF4-FFF2-40B4-BE49-F238E27FC236}">
                <a16:creationId xmlns:a16="http://schemas.microsoft.com/office/drawing/2014/main" id="{2677E6A6-28B0-EA9D-8E8E-139252CC7C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a:extLst>
              <a:ext uri="{FF2B5EF4-FFF2-40B4-BE49-F238E27FC236}">
                <a16:creationId xmlns:a16="http://schemas.microsoft.com/office/drawing/2014/main" id="{B027C68C-D13C-DD90-992F-5071528133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5D1DF6D9-021E-4EE0-8379-6FDEDDFAD1CD}" type="slidenum">
              <a:rPr lang="en-CA" altLang="en-US" sz="1200">
                <a:latin typeface="Tahoma" panose="020B0604030504040204" pitchFamily="34" charset="0"/>
              </a:rPr>
              <a:pPr/>
              <a:t>45</a:t>
            </a:fld>
            <a:endParaRPr lang="en-CA" altLang="en-US" sz="1200">
              <a:latin typeface="Tahoma" panose="020B0604030504040204" pitchFamily="34" charset="0"/>
            </a:endParaRPr>
          </a:p>
        </p:txBody>
      </p:sp>
      <p:sp>
        <p:nvSpPr>
          <p:cNvPr id="150531" name="Rectangle 2">
            <a:extLst>
              <a:ext uri="{FF2B5EF4-FFF2-40B4-BE49-F238E27FC236}">
                <a16:creationId xmlns:a16="http://schemas.microsoft.com/office/drawing/2014/main" id="{0BDFE4AA-BCDE-9FD1-658A-0300E59B6C4A}"/>
              </a:ext>
            </a:extLst>
          </p:cNvPr>
          <p:cNvSpPr>
            <a:spLocks noGrp="1" noRot="1" noChangeAspect="1" noChangeArrowheads="1" noTextEdit="1"/>
          </p:cNvSpPr>
          <p:nvPr>
            <p:ph type="sldImg"/>
          </p:nvPr>
        </p:nvSpPr>
        <p:spPr>
          <a:ln/>
        </p:spPr>
      </p:sp>
      <p:sp>
        <p:nvSpPr>
          <p:cNvPr id="150532" name="Rectangle 3">
            <a:extLst>
              <a:ext uri="{FF2B5EF4-FFF2-40B4-BE49-F238E27FC236}">
                <a16:creationId xmlns:a16="http://schemas.microsoft.com/office/drawing/2014/main" id="{AA4C2B28-E1AB-D888-F3ED-BB27F641F4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a:extLst>
              <a:ext uri="{FF2B5EF4-FFF2-40B4-BE49-F238E27FC236}">
                <a16:creationId xmlns:a16="http://schemas.microsoft.com/office/drawing/2014/main" id="{D4AA47EE-932C-FF2B-E5FD-0074AB44DA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8085C1D5-7A09-4184-BF2C-ED272767C22B}" type="slidenum">
              <a:rPr lang="en-CA" altLang="en-US" sz="1200">
                <a:latin typeface="Tahoma" panose="020B0604030504040204" pitchFamily="34" charset="0"/>
              </a:rPr>
              <a:pPr/>
              <a:t>46</a:t>
            </a:fld>
            <a:endParaRPr lang="en-CA" altLang="en-US" sz="1200">
              <a:latin typeface="Tahoma" panose="020B0604030504040204" pitchFamily="34" charset="0"/>
            </a:endParaRPr>
          </a:p>
        </p:txBody>
      </p:sp>
      <p:sp>
        <p:nvSpPr>
          <p:cNvPr id="151555" name="Rectangle 2">
            <a:extLst>
              <a:ext uri="{FF2B5EF4-FFF2-40B4-BE49-F238E27FC236}">
                <a16:creationId xmlns:a16="http://schemas.microsoft.com/office/drawing/2014/main" id="{7AC88557-5302-19F5-95AF-66A36A584C73}"/>
              </a:ext>
            </a:extLst>
          </p:cNvPr>
          <p:cNvSpPr>
            <a:spLocks noGrp="1" noRot="1" noChangeAspect="1" noChangeArrowheads="1" noTextEdit="1"/>
          </p:cNvSpPr>
          <p:nvPr>
            <p:ph type="sldImg"/>
          </p:nvPr>
        </p:nvSpPr>
        <p:spPr>
          <a:ln/>
        </p:spPr>
      </p:sp>
      <p:sp>
        <p:nvSpPr>
          <p:cNvPr id="151556" name="Rectangle 3">
            <a:extLst>
              <a:ext uri="{FF2B5EF4-FFF2-40B4-BE49-F238E27FC236}">
                <a16:creationId xmlns:a16="http://schemas.microsoft.com/office/drawing/2014/main" id="{5729DD73-F241-8C2A-2E32-C98D377896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a:extLst>
              <a:ext uri="{FF2B5EF4-FFF2-40B4-BE49-F238E27FC236}">
                <a16:creationId xmlns:a16="http://schemas.microsoft.com/office/drawing/2014/main" id="{63ECBD42-831D-C3A9-5EAA-3ADE1C88DB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2BC723D-1F97-4721-8D69-81FE427362C0}" type="slidenum">
              <a:rPr lang="en-CA" altLang="en-US" sz="1200">
                <a:latin typeface="Tahoma" panose="020B0604030504040204" pitchFamily="34" charset="0"/>
              </a:rPr>
              <a:pPr/>
              <a:t>47</a:t>
            </a:fld>
            <a:endParaRPr lang="en-CA" altLang="en-US" sz="1200">
              <a:latin typeface="Tahoma" panose="020B0604030504040204" pitchFamily="34" charset="0"/>
            </a:endParaRPr>
          </a:p>
        </p:txBody>
      </p:sp>
      <p:sp>
        <p:nvSpPr>
          <p:cNvPr id="152579" name="Rectangle 2">
            <a:extLst>
              <a:ext uri="{FF2B5EF4-FFF2-40B4-BE49-F238E27FC236}">
                <a16:creationId xmlns:a16="http://schemas.microsoft.com/office/drawing/2014/main" id="{B4BBBC2F-B2B7-D17C-268D-40627BCBD874}"/>
              </a:ext>
            </a:extLst>
          </p:cNvPr>
          <p:cNvSpPr>
            <a:spLocks noGrp="1" noRot="1" noChangeAspect="1" noChangeArrowheads="1" noTextEdit="1"/>
          </p:cNvSpPr>
          <p:nvPr>
            <p:ph type="sldImg"/>
          </p:nvPr>
        </p:nvSpPr>
        <p:spPr>
          <a:ln/>
        </p:spPr>
      </p:sp>
      <p:sp>
        <p:nvSpPr>
          <p:cNvPr id="152580" name="Rectangle 3">
            <a:extLst>
              <a:ext uri="{FF2B5EF4-FFF2-40B4-BE49-F238E27FC236}">
                <a16:creationId xmlns:a16="http://schemas.microsoft.com/office/drawing/2014/main" id="{A0CC19FB-7989-D48D-22C5-BCECE1E7FF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a:extLst>
              <a:ext uri="{FF2B5EF4-FFF2-40B4-BE49-F238E27FC236}">
                <a16:creationId xmlns:a16="http://schemas.microsoft.com/office/drawing/2014/main" id="{8A69C6F0-91D9-3A18-6D56-6998A04C36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192B0593-3DCA-469A-B2A7-E6AA17E48771}" type="slidenum">
              <a:rPr lang="en-CA" altLang="en-US" sz="1200">
                <a:latin typeface="Tahoma" panose="020B0604030504040204" pitchFamily="34" charset="0"/>
              </a:rPr>
              <a:pPr/>
              <a:t>48</a:t>
            </a:fld>
            <a:endParaRPr lang="en-CA" altLang="en-US" sz="1200">
              <a:latin typeface="Tahoma" panose="020B0604030504040204" pitchFamily="34" charset="0"/>
            </a:endParaRPr>
          </a:p>
        </p:txBody>
      </p:sp>
      <p:sp>
        <p:nvSpPr>
          <p:cNvPr id="153603" name="Rectangle 2">
            <a:extLst>
              <a:ext uri="{FF2B5EF4-FFF2-40B4-BE49-F238E27FC236}">
                <a16:creationId xmlns:a16="http://schemas.microsoft.com/office/drawing/2014/main" id="{00BB69AE-F75F-3DD7-F7D7-39A69652F4B0}"/>
              </a:ext>
            </a:extLst>
          </p:cNvPr>
          <p:cNvSpPr>
            <a:spLocks noGrp="1" noRot="1" noChangeAspect="1" noChangeArrowheads="1" noTextEdit="1"/>
          </p:cNvSpPr>
          <p:nvPr>
            <p:ph type="sldImg"/>
          </p:nvPr>
        </p:nvSpPr>
        <p:spPr>
          <a:ln/>
        </p:spPr>
      </p:sp>
      <p:sp>
        <p:nvSpPr>
          <p:cNvPr id="153604" name="Rectangle 3">
            <a:extLst>
              <a:ext uri="{FF2B5EF4-FFF2-40B4-BE49-F238E27FC236}">
                <a16:creationId xmlns:a16="http://schemas.microsoft.com/office/drawing/2014/main" id="{9F1DE0DD-6779-0C10-CB91-E52FF874B3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a:extLst>
              <a:ext uri="{FF2B5EF4-FFF2-40B4-BE49-F238E27FC236}">
                <a16:creationId xmlns:a16="http://schemas.microsoft.com/office/drawing/2014/main" id="{798AC24B-FA76-CB21-293F-FDD052A4C4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B3DDA8A2-C108-4D7E-AF1E-D34151BB097A}" type="slidenum">
              <a:rPr lang="en-CA" altLang="en-US" sz="1200">
                <a:latin typeface="Tahoma" panose="020B0604030504040204" pitchFamily="34" charset="0"/>
              </a:rPr>
              <a:pPr/>
              <a:t>52</a:t>
            </a:fld>
            <a:endParaRPr lang="en-CA" altLang="en-US" sz="1200">
              <a:latin typeface="Tahoma" panose="020B0604030504040204" pitchFamily="34" charset="0"/>
            </a:endParaRPr>
          </a:p>
        </p:txBody>
      </p:sp>
      <p:sp>
        <p:nvSpPr>
          <p:cNvPr id="167939" name="Rectangle 2">
            <a:extLst>
              <a:ext uri="{FF2B5EF4-FFF2-40B4-BE49-F238E27FC236}">
                <a16:creationId xmlns:a16="http://schemas.microsoft.com/office/drawing/2014/main" id="{14A2EEC4-0EED-D858-BAF4-DBCDD0891F7B}"/>
              </a:ext>
            </a:extLst>
          </p:cNvPr>
          <p:cNvSpPr>
            <a:spLocks noGrp="1" noRot="1" noChangeAspect="1" noChangeArrowheads="1" noTextEdit="1"/>
          </p:cNvSpPr>
          <p:nvPr>
            <p:ph type="sldImg"/>
          </p:nvPr>
        </p:nvSpPr>
        <p:spPr>
          <a:ln/>
        </p:spPr>
      </p:sp>
      <p:sp>
        <p:nvSpPr>
          <p:cNvPr id="167940" name="Rectangle 3">
            <a:extLst>
              <a:ext uri="{FF2B5EF4-FFF2-40B4-BE49-F238E27FC236}">
                <a16:creationId xmlns:a16="http://schemas.microsoft.com/office/drawing/2014/main" id="{55AB897E-CD3C-4F85-C9DE-7229E1AEB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a:extLst>
              <a:ext uri="{FF2B5EF4-FFF2-40B4-BE49-F238E27FC236}">
                <a16:creationId xmlns:a16="http://schemas.microsoft.com/office/drawing/2014/main" id="{1E1425D5-9E8B-F7AD-A379-0A4396ADF5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F7F6EBB-3C4A-4836-9A35-B775D20DF652}" type="slidenum">
              <a:rPr lang="en-CA" altLang="en-US" sz="1200">
                <a:latin typeface="Tahoma" panose="020B0604030504040204" pitchFamily="34" charset="0"/>
              </a:rPr>
              <a:pPr/>
              <a:t>53</a:t>
            </a:fld>
            <a:endParaRPr lang="en-CA" altLang="en-US" sz="1200">
              <a:latin typeface="Tahoma" panose="020B0604030504040204" pitchFamily="34" charset="0"/>
            </a:endParaRPr>
          </a:p>
        </p:txBody>
      </p:sp>
      <p:sp>
        <p:nvSpPr>
          <p:cNvPr id="168963" name="Rectangle 2">
            <a:extLst>
              <a:ext uri="{FF2B5EF4-FFF2-40B4-BE49-F238E27FC236}">
                <a16:creationId xmlns:a16="http://schemas.microsoft.com/office/drawing/2014/main" id="{A31C2FB1-E010-2A97-A37F-1C5ABD5CFC6F}"/>
              </a:ext>
            </a:extLst>
          </p:cNvPr>
          <p:cNvSpPr>
            <a:spLocks noGrp="1" noRot="1" noChangeAspect="1" noChangeArrowheads="1" noTextEdit="1"/>
          </p:cNvSpPr>
          <p:nvPr>
            <p:ph type="sldImg"/>
          </p:nvPr>
        </p:nvSpPr>
        <p:spPr>
          <a:ln/>
        </p:spPr>
      </p:sp>
      <p:sp>
        <p:nvSpPr>
          <p:cNvPr id="168964" name="Rectangle 3">
            <a:extLst>
              <a:ext uri="{FF2B5EF4-FFF2-40B4-BE49-F238E27FC236}">
                <a16:creationId xmlns:a16="http://schemas.microsoft.com/office/drawing/2014/main" id="{A48CD1E6-22B4-6679-0DD8-5A1707E4D6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a:extLst>
              <a:ext uri="{FF2B5EF4-FFF2-40B4-BE49-F238E27FC236}">
                <a16:creationId xmlns:a16="http://schemas.microsoft.com/office/drawing/2014/main" id="{924FE1BD-C3A5-78BA-A0FE-383B5011CC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56EB00C1-BC5D-4FFD-83EF-DE882BE26A4E}" type="slidenum">
              <a:rPr lang="en-CA" altLang="en-US" sz="1200">
                <a:latin typeface="Tahoma" panose="020B0604030504040204" pitchFamily="34" charset="0"/>
              </a:rPr>
              <a:pPr/>
              <a:t>54</a:t>
            </a:fld>
            <a:endParaRPr lang="en-CA" altLang="en-US" sz="1200">
              <a:latin typeface="Tahoma" panose="020B0604030504040204" pitchFamily="34" charset="0"/>
            </a:endParaRPr>
          </a:p>
        </p:txBody>
      </p:sp>
      <p:sp>
        <p:nvSpPr>
          <p:cNvPr id="169987" name="Rectangle 2">
            <a:extLst>
              <a:ext uri="{FF2B5EF4-FFF2-40B4-BE49-F238E27FC236}">
                <a16:creationId xmlns:a16="http://schemas.microsoft.com/office/drawing/2014/main" id="{F22AF898-8305-2984-D9F2-765684DDB97E}"/>
              </a:ext>
            </a:extLst>
          </p:cNvPr>
          <p:cNvSpPr>
            <a:spLocks noGrp="1" noRot="1" noChangeAspect="1" noChangeArrowheads="1" noTextEdit="1"/>
          </p:cNvSpPr>
          <p:nvPr>
            <p:ph type="sldImg"/>
          </p:nvPr>
        </p:nvSpPr>
        <p:spPr>
          <a:ln/>
        </p:spPr>
      </p:sp>
      <p:sp>
        <p:nvSpPr>
          <p:cNvPr id="169988" name="Rectangle 3">
            <a:extLst>
              <a:ext uri="{FF2B5EF4-FFF2-40B4-BE49-F238E27FC236}">
                <a16:creationId xmlns:a16="http://schemas.microsoft.com/office/drawing/2014/main" id="{007EB2C8-3733-ECF5-3D1B-E5E5BA1D10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a:extLst>
              <a:ext uri="{FF2B5EF4-FFF2-40B4-BE49-F238E27FC236}">
                <a16:creationId xmlns:a16="http://schemas.microsoft.com/office/drawing/2014/main" id="{821F3ED1-FD9D-6EED-B756-AD62536E14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D569DF81-13CA-4794-9DE5-9398482DE8B4}" type="slidenum">
              <a:rPr lang="en-CA" altLang="en-US" sz="1200">
                <a:latin typeface="Tahoma" panose="020B0604030504040204" pitchFamily="34" charset="0"/>
              </a:rPr>
              <a:pPr/>
              <a:t>55</a:t>
            </a:fld>
            <a:endParaRPr lang="en-CA" altLang="en-US" sz="1200">
              <a:latin typeface="Tahoma" panose="020B0604030504040204" pitchFamily="34" charset="0"/>
            </a:endParaRPr>
          </a:p>
        </p:txBody>
      </p:sp>
      <p:sp>
        <p:nvSpPr>
          <p:cNvPr id="171011" name="Rectangle 2">
            <a:extLst>
              <a:ext uri="{FF2B5EF4-FFF2-40B4-BE49-F238E27FC236}">
                <a16:creationId xmlns:a16="http://schemas.microsoft.com/office/drawing/2014/main" id="{C02F0CAE-E1AA-B19D-FBDD-3B3CD0BB38FB}"/>
              </a:ext>
            </a:extLst>
          </p:cNvPr>
          <p:cNvSpPr>
            <a:spLocks noGrp="1" noRot="1" noChangeAspect="1" noChangeArrowheads="1" noTextEdit="1"/>
          </p:cNvSpPr>
          <p:nvPr>
            <p:ph type="sldImg"/>
          </p:nvPr>
        </p:nvSpPr>
        <p:spPr>
          <a:ln/>
        </p:spPr>
      </p:sp>
      <p:sp>
        <p:nvSpPr>
          <p:cNvPr id="171012" name="Rectangle 3">
            <a:extLst>
              <a:ext uri="{FF2B5EF4-FFF2-40B4-BE49-F238E27FC236}">
                <a16:creationId xmlns:a16="http://schemas.microsoft.com/office/drawing/2014/main" id="{644758AE-D9BD-0DC3-FE4F-56BE9355DF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a:extLst>
              <a:ext uri="{FF2B5EF4-FFF2-40B4-BE49-F238E27FC236}">
                <a16:creationId xmlns:a16="http://schemas.microsoft.com/office/drawing/2014/main" id="{0B0BFDB2-962E-0952-F68E-E075648219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51D5CE8-65E2-4E37-9BB0-1AD78746783D}" type="slidenum">
              <a:rPr lang="en-CA" altLang="en-US" sz="1200">
                <a:latin typeface="Tahoma" panose="020B0604030504040204" pitchFamily="34" charset="0"/>
              </a:rPr>
              <a:pPr/>
              <a:t>57</a:t>
            </a:fld>
            <a:endParaRPr lang="en-CA" altLang="en-US" sz="1200">
              <a:latin typeface="Tahoma" panose="020B0604030504040204" pitchFamily="34" charset="0"/>
            </a:endParaRPr>
          </a:p>
        </p:txBody>
      </p:sp>
      <p:sp>
        <p:nvSpPr>
          <p:cNvPr id="172035" name="Rectangle 2">
            <a:extLst>
              <a:ext uri="{FF2B5EF4-FFF2-40B4-BE49-F238E27FC236}">
                <a16:creationId xmlns:a16="http://schemas.microsoft.com/office/drawing/2014/main" id="{D8B85F68-6ACD-46AF-1597-39C4698E2AA0}"/>
              </a:ext>
            </a:extLst>
          </p:cNvPr>
          <p:cNvSpPr>
            <a:spLocks noGrp="1" noRot="1" noChangeAspect="1" noChangeArrowheads="1" noTextEdit="1"/>
          </p:cNvSpPr>
          <p:nvPr>
            <p:ph type="sldImg"/>
          </p:nvPr>
        </p:nvSpPr>
        <p:spPr>
          <a:ln/>
        </p:spPr>
      </p:sp>
      <p:sp>
        <p:nvSpPr>
          <p:cNvPr id="172036" name="Rectangle 3">
            <a:extLst>
              <a:ext uri="{FF2B5EF4-FFF2-40B4-BE49-F238E27FC236}">
                <a16:creationId xmlns:a16="http://schemas.microsoft.com/office/drawing/2014/main" id="{EA7E1921-01B5-0ACE-A350-714AB6076F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a:extLst>
              <a:ext uri="{FF2B5EF4-FFF2-40B4-BE49-F238E27FC236}">
                <a16:creationId xmlns:a16="http://schemas.microsoft.com/office/drawing/2014/main" id="{D854BFE6-A53B-B565-C1AC-B420D7027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ACE6B1A-93C3-4447-AEFA-1B5FE0E88958}" type="slidenum">
              <a:rPr lang="en-CA" altLang="en-US" sz="1200">
                <a:latin typeface="Tahoma" panose="020B0604030504040204" pitchFamily="34" charset="0"/>
              </a:rPr>
              <a:pPr/>
              <a:t>58</a:t>
            </a:fld>
            <a:endParaRPr lang="en-CA" altLang="en-US" sz="1200">
              <a:latin typeface="Tahoma" panose="020B0604030504040204" pitchFamily="34" charset="0"/>
            </a:endParaRPr>
          </a:p>
        </p:txBody>
      </p:sp>
      <p:sp>
        <p:nvSpPr>
          <p:cNvPr id="173059" name="Rectangle 2">
            <a:extLst>
              <a:ext uri="{FF2B5EF4-FFF2-40B4-BE49-F238E27FC236}">
                <a16:creationId xmlns:a16="http://schemas.microsoft.com/office/drawing/2014/main" id="{71EE63B0-CE66-2830-B027-2D65F5CF0E6D}"/>
              </a:ext>
            </a:extLst>
          </p:cNvPr>
          <p:cNvSpPr>
            <a:spLocks noGrp="1" noRot="1" noChangeAspect="1" noChangeArrowheads="1" noTextEdit="1"/>
          </p:cNvSpPr>
          <p:nvPr>
            <p:ph type="sldImg"/>
          </p:nvPr>
        </p:nvSpPr>
        <p:spPr>
          <a:ln/>
        </p:spPr>
      </p:sp>
      <p:sp>
        <p:nvSpPr>
          <p:cNvPr id="173060" name="Rectangle 3">
            <a:extLst>
              <a:ext uri="{FF2B5EF4-FFF2-40B4-BE49-F238E27FC236}">
                <a16:creationId xmlns:a16="http://schemas.microsoft.com/office/drawing/2014/main" id="{4F76C9C1-A347-25C3-15F8-6731D6A0C7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a:extLst>
              <a:ext uri="{FF2B5EF4-FFF2-40B4-BE49-F238E27FC236}">
                <a16:creationId xmlns:a16="http://schemas.microsoft.com/office/drawing/2014/main" id="{AD05E749-2D0F-6A1B-D3F5-30111A37B0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D82FC89D-4D15-4FBD-A6F1-FCCB4A13378F}" type="slidenum">
              <a:rPr lang="en-CA" altLang="en-US" sz="1200">
                <a:latin typeface="Tahoma" panose="020B0604030504040204" pitchFamily="34" charset="0"/>
              </a:rPr>
              <a:pPr/>
              <a:t>59</a:t>
            </a:fld>
            <a:endParaRPr lang="en-CA" altLang="en-US" sz="1200">
              <a:latin typeface="Tahoma" panose="020B0604030504040204" pitchFamily="34" charset="0"/>
            </a:endParaRPr>
          </a:p>
        </p:txBody>
      </p:sp>
      <p:sp>
        <p:nvSpPr>
          <p:cNvPr id="174083" name="Rectangle 2">
            <a:extLst>
              <a:ext uri="{FF2B5EF4-FFF2-40B4-BE49-F238E27FC236}">
                <a16:creationId xmlns:a16="http://schemas.microsoft.com/office/drawing/2014/main" id="{FEF3EA1B-8722-8187-149E-0D8B782FB70B}"/>
              </a:ext>
            </a:extLst>
          </p:cNvPr>
          <p:cNvSpPr>
            <a:spLocks noGrp="1" noRot="1" noChangeAspect="1" noChangeArrowheads="1" noTextEdit="1"/>
          </p:cNvSpPr>
          <p:nvPr>
            <p:ph type="sldImg"/>
          </p:nvPr>
        </p:nvSpPr>
        <p:spPr>
          <a:ln/>
        </p:spPr>
      </p:sp>
      <p:sp>
        <p:nvSpPr>
          <p:cNvPr id="174084" name="Rectangle 3">
            <a:extLst>
              <a:ext uri="{FF2B5EF4-FFF2-40B4-BE49-F238E27FC236}">
                <a16:creationId xmlns:a16="http://schemas.microsoft.com/office/drawing/2014/main" id="{93BC75DA-43EA-30A3-DFE2-4E7FFFA898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a:extLst>
              <a:ext uri="{FF2B5EF4-FFF2-40B4-BE49-F238E27FC236}">
                <a16:creationId xmlns:a16="http://schemas.microsoft.com/office/drawing/2014/main" id="{141D4699-F13E-18D9-82BF-C67985F74F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55514D9-8096-494E-B37F-195FBAABF4FC}" type="slidenum">
              <a:rPr lang="en-CA" altLang="en-US" sz="1200">
                <a:latin typeface="Tahoma" panose="020B0604030504040204" pitchFamily="34" charset="0"/>
              </a:rPr>
              <a:pPr/>
              <a:t>60</a:t>
            </a:fld>
            <a:endParaRPr lang="en-CA" altLang="en-US" sz="1200">
              <a:latin typeface="Tahoma" panose="020B0604030504040204" pitchFamily="34" charset="0"/>
            </a:endParaRPr>
          </a:p>
        </p:txBody>
      </p:sp>
      <p:sp>
        <p:nvSpPr>
          <p:cNvPr id="175107" name="Rectangle 2">
            <a:extLst>
              <a:ext uri="{FF2B5EF4-FFF2-40B4-BE49-F238E27FC236}">
                <a16:creationId xmlns:a16="http://schemas.microsoft.com/office/drawing/2014/main" id="{5F57F335-CDFF-8024-D049-6C795CBEDC1C}"/>
              </a:ext>
            </a:extLst>
          </p:cNvPr>
          <p:cNvSpPr>
            <a:spLocks noGrp="1" noRot="1" noChangeAspect="1" noChangeArrowheads="1" noTextEdit="1"/>
          </p:cNvSpPr>
          <p:nvPr>
            <p:ph type="sldImg"/>
          </p:nvPr>
        </p:nvSpPr>
        <p:spPr>
          <a:ln/>
        </p:spPr>
      </p:sp>
      <p:sp>
        <p:nvSpPr>
          <p:cNvPr id="175108" name="Rectangle 3">
            <a:extLst>
              <a:ext uri="{FF2B5EF4-FFF2-40B4-BE49-F238E27FC236}">
                <a16:creationId xmlns:a16="http://schemas.microsoft.com/office/drawing/2014/main" id="{B079338A-3B05-1DD2-FD89-EBC57B3E76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a:extLst>
              <a:ext uri="{FF2B5EF4-FFF2-40B4-BE49-F238E27FC236}">
                <a16:creationId xmlns:a16="http://schemas.microsoft.com/office/drawing/2014/main" id="{63F1503C-E232-4FFE-8240-C15C2890BD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926C1A9-0A33-4408-981B-D8E7AD2E7C5E}" type="slidenum">
              <a:rPr lang="en-CA" altLang="en-US" sz="1200">
                <a:latin typeface="Tahoma" panose="020B0604030504040204" pitchFamily="34" charset="0"/>
              </a:rPr>
              <a:pPr/>
              <a:t>61</a:t>
            </a:fld>
            <a:endParaRPr lang="en-CA" altLang="en-US" sz="1200">
              <a:latin typeface="Tahoma" panose="020B0604030504040204" pitchFamily="34" charset="0"/>
            </a:endParaRPr>
          </a:p>
        </p:txBody>
      </p:sp>
      <p:sp>
        <p:nvSpPr>
          <p:cNvPr id="178179" name="Rectangle 2">
            <a:extLst>
              <a:ext uri="{FF2B5EF4-FFF2-40B4-BE49-F238E27FC236}">
                <a16:creationId xmlns:a16="http://schemas.microsoft.com/office/drawing/2014/main" id="{C9686A97-4FA9-9E8E-D919-20F5D0185D8C}"/>
              </a:ext>
            </a:extLst>
          </p:cNvPr>
          <p:cNvSpPr>
            <a:spLocks noGrp="1" noRot="1" noChangeAspect="1" noChangeArrowheads="1" noTextEdit="1"/>
          </p:cNvSpPr>
          <p:nvPr>
            <p:ph type="sldImg"/>
          </p:nvPr>
        </p:nvSpPr>
        <p:spPr>
          <a:ln/>
        </p:spPr>
      </p:sp>
      <p:sp>
        <p:nvSpPr>
          <p:cNvPr id="178180" name="Rectangle 3">
            <a:extLst>
              <a:ext uri="{FF2B5EF4-FFF2-40B4-BE49-F238E27FC236}">
                <a16:creationId xmlns:a16="http://schemas.microsoft.com/office/drawing/2014/main" id="{802E9FF8-8C5C-1AE7-2584-9C20858398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a:extLst>
              <a:ext uri="{FF2B5EF4-FFF2-40B4-BE49-F238E27FC236}">
                <a16:creationId xmlns:a16="http://schemas.microsoft.com/office/drawing/2014/main" id="{1B1DDBBB-EEF3-9777-D89D-7E4720549C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16B8FD8A-BDB3-473A-834E-8EB48FFA167C}" type="slidenum">
              <a:rPr lang="en-CA" altLang="en-US" sz="1200">
                <a:latin typeface="Tahoma" panose="020B0604030504040204" pitchFamily="34" charset="0"/>
              </a:rPr>
              <a:pPr/>
              <a:t>62</a:t>
            </a:fld>
            <a:endParaRPr lang="en-CA" altLang="en-US" sz="1200">
              <a:latin typeface="Tahoma" panose="020B0604030504040204" pitchFamily="34" charset="0"/>
            </a:endParaRPr>
          </a:p>
        </p:txBody>
      </p:sp>
      <p:sp>
        <p:nvSpPr>
          <p:cNvPr id="179203" name="Rectangle 2">
            <a:extLst>
              <a:ext uri="{FF2B5EF4-FFF2-40B4-BE49-F238E27FC236}">
                <a16:creationId xmlns:a16="http://schemas.microsoft.com/office/drawing/2014/main" id="{A0C91F14-0E9E-0ED6-2653-0C1F6941A311}"/>
              </a:ext>
            </a:extLst>
          </p:cNvPr>
          <p:cNvSpPr>
            <a:spLocks noGrp="1" noRot="1" noChangeAspect="1" noChangeArrowheads="1" noTextEdit="1"/>
          </p:cNvSpPr>
          <p:nvPr>
            <p:ph type="sldImg"/>
          </p:nvPr>
        </p:nvSpPr>
        <p:spPr>
          <a:ln/>
        </p:spPr>
      </p:sp>
      <p:sp>
        <p:nvSpPr>
          <p:cNvPr id="179204" name="Rectangle 3">
            <a:extLst>
              <a:ext uri="{FF2B5EF4-FFF2-40B4-BE49-F238E27FC236}">
                <a16:creationId xmlns:a16="http://schemas.microsoft.com/office/drawing/2014/main" id="{6A31DED2-2B71-15ED-3F59-3DBD87C291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a:extLst>
              <a:ext uri="{FF2B5EF4-FFF2-40B4-BE49-F238E27FC236}">
                <a16:creationId xmlns:a16="http://schemas.microsoft.com/office/drawing/2014/main" id="{BD80DC84-7BF4-7544-B263-FDEB3A9A82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85EFAC9-09BC-4151-9A53-913DA1D658CB}" type="slidenum">
              <a:rPr lang="en-CA" altLang="en-US" sz="1200">
                <a:latin typeface="Tahoma" panose="020B0604030504040204" pitchFamily="34" charset="0"/>
              </a:rPr>
              <a:pPr/>
              <a:t>63</a:t>
            </a:fld>
            <a:endParaRPr lang="en-CA" altLang="en-US" sz="1200">
              <a:latin typeface="Tahoma" panose="020B0604030504040204" pitchFamily="34" charset="0"/>
            </a:endParaRPr>
          </a:p>
        </p:txBody>
      </p:sp>
      <p:sp>
        <p:nvSpPr>
          <p:cNvPr id="180227" name="Rectangle 2">
            <a:extLst>
              <a:ext uri="{FF2B5EF4-FFF2-40B4-BE49-F238E27FC236}">
                <a16:creationId xmlns:a16="http://schemas.microsoft.com/office/drawing/2014/main" id="{B05C5CF9-2808-7617-6603-BEF09B372A8E}"/>
              </a:ext>
            </a:extLst>
          </p:cNvPr>
          <p:cNvSpPr>
            <a:spLocks noGrp="1" noRot="1" noChangeAspect="1" noChangeArrowheads="1" noTextEdit="1"/>
          </p:cNvSpPr>
          <p:nvPr>
            <p:ph type="sldImg"/>
          </p:nvPr>
        </p:nvSpPr>
        <p:spPr>
          <a:ln/>
        </p:spPr>
      </p:sp>
      <p:sp>
        <p:nvSpPr>
          <p:cNvPr id="180228" name="Rectangle 3">
            <a:extLst>
              <a:ext uri="{FF2B5EF4-FFF2-40B4-BE49-F238E27FC236}">
                <a16:creationId xmlns:a16="http://schemas.microsoft.com/office/drawing/2014/main" id="{A9B79C70-5B33-1654-05DB-7D1C8653D3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a:extLst>
              <a:ext uri="{FF2B5EF4-FFF2-40B4-BE49-F238E27FC236}">
                <a16:creationId xmlns:a16="http://schemas.microsoft.com/office/drawing/2014/main" id="{903F2D0E-6D71-2A59-0807-2012504BAD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595ABB42-7CD7-42C3-9E3B-F109D1C1A27D}" type="slidenum">
              <a:rPr lang="en-CA" altLang="en-US" sz="1200">
                <a:latin typeface="Tahoma" panose="020B0604030504040204" pitchFamily="34" charset="0"/>
              </a:rPr>
              <a:pPr/>
              <a:t>64</a:t>
            </a:fld>
            <a:endParaRPr lang="en-CA" altLang="en-US" sz="1200">
              <a:latin typeface="Tahoma" panose="020B0604030504040204" pitchFamily="34" charset="0"/>
            </a:endParaRPr>
          </a:p>
        </p:txBody>
      </p:sp>
      <p:sp>
        <p:nvSpPr>
          <p:cNvPr id="188419" name="Rectangle 2">
            <a:extLst>
              <a:ext uri="{FF2B5EF4-FFF2-40B4-BE49-F238E27FC236}">
                <a16:creationId xmlns:a16="http://schemas.microsoft.com/office/drawing/2014/main" id="{495B7536-E418-17C4-B3B9-9C69BDD0A5BD}"/>
              </a:ext>
            </a:extLst>
          </p:cNvPr>
          <p:cNvSpPr>
            <a:spLocks noGrp="1" noRot="1" noChangeAspect="1" noChangeArrowheads="1" noTextEdit="1"/>
          </p:cNvSpPr>
          <p:nvPr>
            <p:ph type="sldImg"/>
          </p:nvPr>
        </p:nvSpPr>
        <p:spPr>
          <a:ln/>
        </p:spPr>
      </p:sp>
      <p:sp>
        <p:nvSpPr>
          <p:cNvPr id="188420" name="Rectangle 3">
            <a:extLst>
              <a:ext uri="{FF2B5EF4-FFF2-40B4-BE49-F238E27FC236}">
                <a16:creationId xmlns:a16="http://schemas.microsoft.com/office/drawing/2014/main" id="{DACB9486-1B47-C23E-8779-DF2B2EEAA1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a:extLst>
              <a:ext uri="{FF2B5EF4-FFF2-40B4-BE49-F238E27FC236}">
                <a16:creationId xmlns:a16="http://schemas.microsoft.com/office/drawing/2014/main" id="{4B72B13E-1493-41DA-B92E-C7C41F6F5A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BADE55F-3F83-40AB-A58A-6D5E850E35DE}" type="slidenum">
              <a:rPr lang="en-CA" altLang="en-US" sz="1200">
                <a:latin typeface="Tahoma" panose="020B0604030504040204" pitchFamily="34" charset="0"/>
              </a:rPr>
              <a:pPr/>
              <a:t>66</a:t>
            </a:fld>
            <a:endParaRPr lang="en-CA" altLang="en-US" sz="1200">
              <a:latin typeface="Tahoma" panose="020B0604030504040204" pitchFamily="34" charset="0"/>
            </a:endParaRPr>
          </a:p>
        </p:txBody>
      </p:sp>
      <p:sp>
        <p:nvSpPr>
          <p:cNvPr id="154627" name="Rectangle 2">
            <a:extLst>
              <a:ext uri="{FF2B5EF4-FFF2-40B4-BE49-F238E27FC236}">
                <a16:creationId xmlns:a16="http://schemas.microsoft.com/office/drawing/2014/main" id="{B19A3AFC-5796-4731-B6D3-A989D49C262B}"/>
              </a:ext>
            </a:extLst>
          </p:cNvPr>
          <p:cNvSpPr>
            <a:spLocks noGrp="1" noRot="1" noChangeAspect="1" noChangeArrowheads="1" noTextEdit="1"/>
          </p:cNvSpPr>
          <p:nvPr>
            <p:ph type="sldImg"/>
          </p:nvPr>
        </p:nvSpPr>
        <p:spPr>
          <a:ln/>
        </p:spPr>
      </p:sp>
      <p:sp>
        <p:nvSpPr>
          <p:cNvPr id="154628" name="Rectangle 3">
            <a:extLst>
              <a:ext uri="{FF2B5EF4-FFF2-40B4-BE49-F238E27FC236}">
                <a16:creationId xmlns:a16="http://schemas.microsoft.com/office/drawing/2014/main" id="{52FCC163-0E6D-D93D-A543-D1274A4265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17183895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a:extLst>
              <a:ext uri="{FF2B5EF4-FFF2-40B4-BE49-F238E27FC236}">
                <a16:creationId xmlns:a16="http://schemas.microsoft.com/office/drawing/2014/main" id="{B6CBA694-46AF-FBF9-9C8C-AE21BDA345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8825B1E9-9402-48CB-A2C9-3660DCC8C29C}" type="slidenum">
              <a:rPr lang="en-CA" altLang="en-US" sz="1200">
                <a:latin typeface="Tahoma" panose="020B0604030504040204" pitchFamily="34" charset="0"/>
              </a:rPr>
              <a:pPr/>
              <a:t>68</a:t>
            </a:fld>
            <a:endParaRPr lang="en-CA" altLang="en-US" sz="1200">
              <a:latin typeface="Tahoma" panose="020B0604030504040204" pitchFamily="34" charset="0"/>
            </a:endParaRPr>
          </a:p>
        </p:txBody>
      </p:sp>
      <p:sp>
        <p:nvSpPr>
          <p:cNvPr id="155651" name="Rectangle 2">
            <a:extLst>
              <a:ext uri="{FF2B5EF4-FFF2-40B4-BE49-F238E27FC236}">
                <a16:creationId xmlns:a16="http://schemas.microsoft.com/office/drawing/2014/main" id="{8BC3C397-7E1F-5F03-6FE9-C4FBBB1B68C2}"/>
              </a:ext>
            </a:extLst>
          </p:cNvPr>
          <p:cNvSpPr>
            <a:spLocks noGrp="1" noRot="1" noChangeAspect="1" noChangeArrowheads="1" noTextEdit="1"/>
          </p:cNvSpPr>
          <p:nvPr>
            <p:ph type="sldImg"/>
          </p:nvPr>
        </p:nvSpPr>
        <p:spPr>
          <a:ln/>
        </p:spPr>
      </p:sp>
      <p:sp>
        <p:nvSpPr>
          <p:cNvPr id="155652" name="Rectangle 3">
            <a:extLst>
              <a:ext uri="{FF2B5EF4-FFF2-40B4-BE49-F238E27FC236}">
                <a16:creationId xmlns:a16="http://schemas.microsoft.com/office/drawing/2014/main" id="{1DF4DA42-F8AE-8FEA-1B69-C9495F0E5D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51140452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a:extLst>
              <a:ext uri="{FF2B5EF4-FFF2-40B4-BE49-F238E27FC236}">
                <a16:creationId xmlns:a16="http://schemas.microsoft.com/office/drawing/2014/main" id="{7198D86C-CED9-FABF-A491-B7D4C3D9BF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B8D85BBB-DAB6-439F-BFAE-047E4F50CFBF}" type="slidenum">
              <a:rPr lang="en-CA" altLang="en-US" sz="1200">
                <a:latin typeface="Tahoma" panose="020B0604030504040204" pitchFamily="34" charset="0"/>
              </a:rPr>
              <a:pPr/>
              <a:t>69</a:t>
            </a:fld>
            <a:endParaRPr lang="en-CA" altLang="en-US" sz="1200">
              <a:latin typeface="Tahoma" panose="020B0604030504040204" pitchFamily="34" charset="0"/>
            </a:endParaRPr>
          </a:p>
        </p:txBody>
      </p:sp>
      <p:sp>
        <p:nvSpPr>
          <p:cNvPr id="156675" name="Rectangle 2">
            <a:extLst>
              <a:ext uri="{FF2B5EF4-FFF2-40B4-BE49-F238E27FC236}">
                <a16:creationId xmlns:a16="http://schemas.microsoft.com/office/drawing/2014/main" id="{3096552D-68EF-66A4-C525-27EFCD21D0A1}"/>
              </a:ext>
            </a:extLst>
          </p:cNvPr>
          <p:cNvSpPr>
            <a:spLocks noGrp="1" noRot="1" noChangeAspect="1" noChangeArrowheads="1" noTextEdit="1"/>
          </p:cNvSpPr>
          <p:nvPr>
            <p:ph type="sldImg"/>
          </p:nvPr>
        </p:nvSpPr>
        <p:spPr>
          <a:ln/>
        </p:spPr>
      </p:sp>
      <p:sp>
        <p:nvSpPr>
          <p:cNvPr id="156676" name="Rectangle 3">
            <a:extLst>
              <a:ext uri="{FF2B5EF4-FFF2-40B4-BE49-F238E27FC236}">
                <a16:creationId xmlns:a16="http://schemas.microsoft.com/office/drawing/2014/main" id="{1D3CC2F8-9639-6A22-AE02-884A1943F8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13535945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a:extLst>
              <a:ext uri="{FF2B5EF4-FFF2-40B4-BE49-F238E27FC236}">
                <a16:creationId xmlns:a16="http://schemas.microsoft.com/office/drawing/2014/main" id="{D091CFB3-1D39-17A2-ACC0-C189CDEF70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935FAE21-8F00-434A-9497-FB5F12CBD08A}" type="slidenum">
              <a:rPr lang="en-CA" altLang="en-US" sz="1200">
                <a:latin typeface="Tahoma" panose="020B0604030504040204" pitchFamily="34" charset="0"/>
              </a:rPr>
              <a:pPr/>
              <a:t>70</a:t>
            </a:fld>
            <a:endParaRPr lang="en-CA" altLang="en-US" sz="1200">
              <a:latin typeface="Tahoma" panose="020B0604030504040204" pitchFamily="34" charset="0"/>
            </a:endParaRPr>
          </a:p>
        </p:txBody>
      </p:sp>
      <p:sp>
        <p:nvSpPr>
          <p:cNvPr id="157699" name="Rectangle 2">
            <a:extLst>
              <a:ext uri="{FF2B5EF4-FFF2-40B4-BE49-F238E27FC236}">
                <a16:creationId xmlns:a16="http://schemas.microsoft.com/office/drawing/2014/main" id="{A2E91BDA-1138-6D91-9A07-5BC98650F9B1}"/>
              </a:ext>
            </a:extLst>
          </p:cNvPr>
          <p:cNvSpPr>
            <a:spLocks noGrp="1" noRot="1" noChangeAspect="1" noChangeArrowheads="1" noTextEdit="1"/>
          </p:cNvSpPr>
          <p:nvPr>
            <p:ph type="sldImg"/>
          </p:nvPr>
        </p:nvSpPr>
        <p:spPr>
          <a:ln/>
        </p:spPr>
      </p:sp>
      <p:sp>
        <p:nvSpPr>
          <p:cNvPr id="157700" name="Rectangle 3">
            <a:extLst>
              <a:ext uri="{FF2B5EF4-FFF2-40B4-BE49-F238E27FC236}">
                <a16:creationId xmlns:a16="http://schemas.microsoft.com/office/drawing/2014/main" id="{6ADF276E-F649-6AA6-7B5B-3A8A3210BD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33269511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761BC1F6-9846-9861-7724-CCA0F6838FF1}"/>
              </a:ext>
            </a:extLst>
          </p:cNvPr>
          <p:cNvSpPr>
            <a:spLocks noGrp="1" noRot="1" noChangeAspect="1" noChangeArrowheads="1" noTextEdit="1"/>
          </p:cNvSpPr>
          <p:nvPr>
            <p:ph type="sldImg"/>
          </p:nvPr>
        </p:nvSpPr>
        <p:spPr>
          <a:ln/>
        </p:spPr>
      </p:sp>
      <p:sp>
        <p:nvSpPr>
          <p:cNvPr id="158723" name="Rectangle 3">
            <a:extLst>
              <a:ext uri="{FF2B5EF4-FFF2-40B4-BE49-F238E27FC236}">
                <a16:creationId xmlns:a16="http://schemas.microsoft.com/office/drawing/2014/main" id="{028302DF-A7F6-DB01-85F1-0E9568E790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Tree>
    <p:extLst>
      <p:ext uri="{BB962C8B-B14F-4D97-AF65-F5344CB8AC3E}">
        <p14:creationId xmlns:p14="http://schemas.microsoft.com/office/powerpoint/2010/main" val="296485587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a:extLst>
              <a:ext uri="{FF2B5EF4-FFF2-40B4-BE49-F238E27FC236}">
                <a16:creationId xmlns:a16="http://schemas.microsoft.com/office/drawing/2014/main" id="{47F1E7AA-5142-9EC8-1324-1F70A069EA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BD8071E8-D226-4682-B1E6-99A5C4CE4D34}" type="slidenum">
              <a:rPr lang="en-CA" altLang="en-US" sz="1200">
                <a:latin typeface="Tahoma" panose="020B0604030504040204" pitchFamily="34" charset="0"/>
              </a:rPr>
              <a:pPr/>
              <a:t>73</a:t>
            </a:fld>
            <a:endParaRPr lang="en-CA" altLang="en-US" sz="1200">
              <a:latin typeface="Tahoma" panose="020B0604030504040204" pitchFamily="34" charset="0"/>
            </a:endParaRPr>
          </a:p>
        </p:txBody>
      </p:sp>
      <p:sp>
        <p:nvSpPr>
          <p:cNvPr id="159747" name="Rectangle 2">
            <a:extLst>
              <a:ext uri="{FF2B5EF4-FFF2-40B4-BE49-F238E27FC236}">
                <a16:creationId xmlns:a16="http://schemas.microsoft.com/office/drawing/2014/main" id="{31A3228B-1FCD-3ECA-B4EC-B8F82978B082}"/>
              </a:ext>
            </a:extLst>
          </p:cNvPr>
          <p:cNvSpPr>
            <a:spLocks noGrp="1" noRot="1" noChangeAspect="1" noChangeArrowheads="1" noTextEdit="1"/>
          </p:cNvSpPr>
          <p:nvPr>
            <p:ph type="sldImg"/>
          </p:nvPr>
        </p:nvSpPr>
        <p:spPr>
          <a:ln/>
        </p:spPr>
      </p:sp>
      <p:sp>
        <p:nvSpPr>
          <p:cNvPr id="159748" name="Rectangle 3">
            <a:extLst>
              <a:ext uri="{FF2B5EF4-FFF2-40B4-BE49-F238E27FC236}">
                <a16:creationId xmlns:a16="http://schemas.microsoft.com/office/drawing/2014/main" id="{A118A1AA-EC14-8574-E19D-3DD58ABA95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2885159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a:extLst>
              <a:ext uri="{FF2B5EF4-FFF2-40B4-BE49-F238E27FC236}">
                <a16:creationId xmlns:a16="http://schemas.microsoft.com/office/drawing/2014/main" id="{3A7BD233-7CE2-C5F9-1F52-6CDFF17F29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57BE1920-EACA-4FA1-A1F6-F96095108217}" type="slidenum">
              <a:rPr lang="en-CA" altLang="en-US" sz="1200">
                <a:latin typeface="Tahoma" panose="020B0604030504040204" pitchFamily="34" charset="0"/>
              </a:rPr>
              <a:pPr/>
              <a:t>74</a:t>
            </a:fld>
            <a:endParaRPr lang="en-CA" altLang="en-US" sz="1200">
              <a:latin typeface="Tahoma" panose="020B0604030504040204" pitchFamily="34" charset="0"/>
            </a:endParaRPr>
          </a:p>
        </p:txBody>
      </p:sp>
      <p:sp>
        <p:nvSpPr>
          <p:cNvPr id="160771" name="Rectangle 2">
            <a:extLst>
              <a:ext uri="{FF2B5EF4-FFF2-40B4-BE49-F238E27FC236}">
                <a16:creationId xmlns:a16="http://schemas.microsoft.com/office/drawing/2014/main" id="{5C399BAB-4C18-386B-1772-F3B10C38B8D9}"/>
              </a:ext>
            </a:extLst>
          </p:cNvPr>
          <p:cNvSpPr>
            <a:spLocks noGrp="1" noRot="1" noChangeAspect="1" noChangeArrowheads="1" noTextEdit="1"/>
          </p:cNvSpPr>
          <p:nvPr>
            <p:ph type="sldImg"/>
          </p:nvPr>
        </p:nvSpPr>
        <p:spPr>
          <a:ln/>
        </p:spPr>
      </p:sp>
      <p:sp>
        <p:nvSpPr>
          <p:cNvPr id="160772" name="Rectangle 3">
            <a:extLst>
              <a:ext uri="{FF2B5EF4-FFF2-40B4-BE49-F238E27FC236}">
                <a16:creationId xmlns:a16="http://schemas.microsoft.com/office/drawing/2014/main" id="{4EC0B3DE-CAFD-7E40-8E8B-E37BF2AA52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8042036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a:extLst>
              <a:ext uri="{FF2B5EF4-FFF2-40B4-BE49-F238E27FC236}">
                <a16:creationId xmlns:a16="http://schemas.microsoft.com/office/drawing/2014/main" id="{409D517B-B33B-A10C-F022-E2AF80DF03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6A74D2B-B7EA-476B-BF60-55A35BF50880}" type="slidenum">
              <a:rPr lang="en-CA" altLang="en-US" sz="1200">
                <a:latin typeface="Tahoma" panose="020B0604030504040204" pitchFamily="34" charset="0"/>
              </a:rPr>
              <a:pPr/>
              <a:t>76</a:t>
            </a:fld>
            <a:endParaRPr lang="en-CA" altLang="en-US" sz="1200">
              <a:latin typeface="Tahoma" panose="020B0604030504040204" pitchFamily="34" charset="0"/>
            </a:endParaRPr>
          </a:p>
        </p:txBody>
      </p:sp>
      <p:sp>
        <p:nvSpPr>
          <p:cNvPr id="161795" name="Rectangle 2">
            <a:extLst>
              <a:ext uri="{FF2B5EF4-FFF2-40B4-BE49-F238E27FC236}">
                <a16:creationId xmlns:a16="http://schemas.microsoft.com/office/drawing/2014/main" id="{F5D94F4A-4C1A-64EC-E945-F3FDC789FC1B}"/>
              </a:ext>
            </a:extLst>
          </p:cNvPr>
          <p:cNvSpPr>
            <a:spLocks noGrp="1" noRot="1" noChangeAspect="1" noChangeArrowheads="1" noTextEdit="1"/>
          </p:cNvSpPr>
          <p:nvPr>
            <p:ph type="sldImg"/>
          </p:nvPr>
        </p:nvSpPr>
        <p:spPr>
          <a:ln/>
        </p:spPr>
      </p:sp>
      <p:sp>
        <p:nvSpPr>
          <p:cNvPr id="161796" name="Rectangle 3">
            <a:extLst>
              <a:ext uri="{FF2B5EF4-FFF2-40B4-BE49-F238E27FC236}">
                <a16:creationId xmlns:a16="http://schemas.microsoft.com/office/drawing/2014/main" id="{385416CB-14E0-C5B6-5E3F-1F572CBB87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5719698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a:extLst>
              <a:ext uri="{FF2B5EF4-FFF2-40B4-BE49-F238E27FC236}">
                <a16:creationId xmlns:a16="http://schemas.microsoft.com/office/drawing/2014/main" id="{F3733924-2344-FC31-1B9C-23BDB1F485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7912E0F9-E0FE-4D1C-8076-EBA3F0D4B7B6}" type="slidenum">
              <a:rPr lang="en-CA" altLang="en-US" sz="1200">
                <a:latin typeface="Tahoma" panose="020B0604030504040204" pitchFamily="34" charset="0"/>
              </a:rPr>
              <a:pPr/>
              <a:t>77</a:t>
            </a:fld>
            <a:endParaRPr lang="en-CA" altLang="en-US" sz="1200">
              <a:latin typeface="Tahoma" panose="020B0604030504040204" pitchFamily="34" charset="0"/>
            </a:endParaRPr>
          </a:p>
        </p:txBody>
      </p:sp>
      <p:sp>
        <p:nvSpPr>
          <p:cNvPr id="162819" name="Rectangle 2">
            <a:extLst>
              <a:ext uri="{FF2B5EF4-FFF2-40B4-BE49-F238E27FC236}">
                <a16:creationId xmlns:a16="http://schemas.microsoft.com/office/drawing/2014/main" id="{CD50C037-5270-B786-1324-0324DEFAEFFB}"/>
              </a:ext>
            </a:extLst>
          </p:cNvPr>
          <p:cNvSpPr>
            <a:spLocks noGrp="1" noRot="1" noChangeAspect="1" noChangeArrowheads="1" noTextEdit="1"/>
          </p:cNvSpPr>
          <p:nvPr>
            <p:ph type="sldImg"/>
          </p:nvPr>
        </p:nvSpPr>
        <p:spPr>
          <a:ln/>
        </p:spPr>
      </p:sp>
      <p:sp>
        <p:nvSpPr>
          <p:cNvPr id="162820" name="Rectangle 3">
            <a:extLst>
              <a:ext uri="{FF2B5EF4-FFF2-40B4-BE49-F238E27FC236}">
                <a16:creationId xmlns:a16="http://schemas.microsoft.com/office/drawing/2014/main" id="{4876F1AD-0131-4B30-952E-9BEB4C159D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27095640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a:extLst>
              <a:ext uri="{FF2B5EF4-FFF2-40B4-BE49-F238E27FC236}">
                <a16:creationId xmlns:a16="http://schemas.microsoft.com/office/drawing/2014/main" id="{A88A068B-6882-C1C1-4E1D-DC9DC44B59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239E24E-1132-438A-BC3C-532FF007A8A4}" type="slidenum">
              <a:rPr lang="en-CA" altLang="en-US" sz="1200">
                <a:latin typeface="Tahoma" panose="020B0604030504040204" pitchFamily="34" charset="0"/>
              </a:rPr>
              <a:pPr/>
              <a:t>79</a:t>
            </a:fld>
            <a:endParaRPr lang="en-CA" altLang="en-US" sz="1200">
              <a:latin typeface="Tahoma" panose="020B0604030504040204" pitchFamily="34" charset="0"/>
            </a:endParaRPr>
          </a:p>
        </p:txBody>
      </p:sp>
      <p:sp>
        <p:nvSpPr>
          <p:cNvPr id="163843" name="Rectangle 2">
            <a:extLst>
              <a:ext uri="{FF2B5EF4-FFF2-40B4-BE49-F238E27FC236}">
                <a16:creationId xmlns:a16="http://schemas.microsoft.com/office/drawing/2014/main" id="{9F813C2A-51B1-82B6-2E7F-C1FA68942677}"/>
              </a:ext>
            </a:extLst>
          </p:cNvPr>
          <p:cNvSpPr>
            <a:spLocks noGrp="1" noRot="1" noChangeAspect="1" noChangeArrowheads="1" noTextEdit="1"/>
          </p:cNvSpPr>
          <p:nvPr>
            <p:ph type="sldImg"/>
          </p:nvPr>
        </p:nvSpPr>
        <p:spPr>
          <a:ln/>
        </p:spPr>
      </p:sp>
      <p:sp>
        <p:nvSpPr>
          <p:cNvPr id="163844" name="Rectangle 3">
            <a:extLst>
              <a:ext uri="{FF2B5EF4-FFF2-40B4-BE49-F238E27FC236}">
                <a16:creationId xmlns:a16="http://schemas.microsoft.com/office/drawing/2014/main" id="{6E009796-3AD3-5099-AB04-188AD1F7DE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36296371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a:extLst>
              <a:ext uri="{FF2B5EF4-FFF2-40B4-BE49-F238E27FC236}">
                <a16:creationId xmlns:a16="http://schemas.microsoft.com/office/drawing/2014/main" id="{A0490FF6-C478-E5BF-846A-B6DC0141B7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86E0575-58B5-46D5-BD99-CA9C9587CA47}" type="slidenum">
              <a:rPr lang="en-CA" altLang="en-US" sz="1200">
                <a:latin typeface="Tahoma" panose="020B0604030504040204" pitchFamily="34" charset="0"/>
              </a:rPr>
              <a:pPr/>
              <a:t>80</a:t>
            </a:fld>
            <a:endParaRPr lang="en-CA" altLang="en-US" sz="1200">
              <a:latin typeface="Tahoma" panose="020B0604030504040204" pitchFamily="34" charset="0"/>
            </a:endParaRPr>
          </a:p>
        </p:txBody>
      </p:sp>
      <p:sp>
        <p:nvSpPr>
          <p:cNvPr id="164867" name="Rectangle 2">
            <a:extLst>
              <a:ext uri="{FF2B5EF4-FFF2-40B4-BE49-F238E27FC236}">
                <a16:creationId xmlns:a16="http://schemas.microsoft.com/office/drawing/2014/main" id="{02342907-E30F-F71D-0EFB-177554E0AC0D}"/>
              </a:ext>
            </a:extLst>
          </p:cNvPr>
          <p:cNvSpPr>
            <a:spLocks noGrp="1" noRot="1" noChangeAspect="1" noChangeArrowheads="1" noTextEdit="1"/>
          </p:cNvSpPr>
          <p:nvPr>
            <p:ph type="sldImg"/>
          </p:nvPr>
        </p:nvSpPr>
        <p:spPr>
          <a:ln/>
        </p:spPr>
      </p:sp>
      <p:sp>
        <p:nvSpPr>
          <p:cNvPr id="164868" name="Rectangle 3">
            <a:extLst>
              <a:ext uri="{FF2B5EF4-FFF2-40B4-BE49-F238E27FC236}">
                <a16:creationId xmlns:a16="http://schemas.microsoft.com/office/drawing/2014/main" id="{BC5019C6-A02F-2F29-3419-ED388D8BE8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7332641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a:extLst>
              <a:ext uri="{FF2B5EF4-FFF2-40B4-BE49-F238E27FC236}">
                <a16:creationId xmlns:a16="http://schemas.microsoft.com/office/drawing/2014/main" id="{B3B08722-678E-6788-2672-DC3666BFF5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98885A7F-8463-49F2-BF29-A8AB83B17BB2}" type="slidenum">
              <a:rPr lang="en-CA" altLang="en-US" sz="1200">
                <a:latin typeface="Tahoma" panose="020B0604030504040204" pitchFamily="34" charset="0"/>
              </a:rPr>
              <a:pPr/>
              <a:t>81</a:t>
            </a:fld>
            <a:endParaRPr lang="en-CA" altLang="en-US" sz="1200">
              <a:latin typeface="Tahoma" panose="020B0604030504040204" pitchFamily="34" charset="0"/>
            </a:endParaRPr>
          </a:p>
        </p:txBody>
      </p:sp>
      <p:sp>
        <p:nvSpPr>
          <p:cNvPr id="165891" name="Rectangle 2">
            <a:extLst>
              <a:ext uri="{FF2B5EF4-FFF2-40B4-BE49-F238E27FC236}">
                <a16:creationId xmlns:a16="http://schemas.microsoft.com/office/drawing/2014/main" id="{4CEFEF62-31B1-5AF4-3D07-423C1853341B}"/>
              </a:ext>
            </a:extLst>
          </p:cNvPr>
          <p:cNvSpPr>
            <a:spLocks noGrp="1" noRot="1" noChangeAspect="1" noChangeArrowheads="1" noTextEdit="1"/>
          </p:cNvSpPr>
          <p:nvPr>
            <p:ph type="sldImg"/>
          </p:nvPr>
        </p:nvSpPr>
        <p:spPr>
          <a:ln/>
        </p:spPr>
      </p:sp>
      <p:sp>
        <p:nvSpPr>
          <p:cNvPr id="165892" name="Rectangle 3">
            <a:extLst>
              <a:ext uri="{FF2B5EF4-FFF2-40B4-BE49-F238E27FC236}">
                <a16:creationId xmlns:a16="http://schemas.microsoft.com/office/drawing/2014/main" id="{CCC4FAA3-8AFF-3436-EF83-3E8CB49C45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90255028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a:extLst>
              <a:ext uri="{FF2B5EF4-FFF2-40B4-BE49-F238E27FC236}">
                <a16:creationId xmlns:a16="http://schemas.microsoft.com/office/drawing/2014/main" id="{7B76EF54-7EFF-9C6F-A58B-8AECDD1ECD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6BBD284-DE2E-4899-BC81-ADAF19060BD3}" type="slidenum">
              <a:rPr lang="en-CA" altLang="en-US" sz="1200">
                <a:latin typeface="Tahoma" panose="020B0604030504040204" pitchFamily="34" charset="0"/>
              </a:rPr>
              <a:pPr/>
              <a:t>82</a:t>
            </a:fld>
            <a:endParaRPr lang="en-CA" altLang="en-US" sz="1200">
              <a:latin typeface="Tahoma" panose="020B0604030504040204" pitchFamily="34" charset="0"/>
            </a:endParaRPr>
          </a:p>
        </p:txBody>
      </p:sp>
      <p:sp>
        <p:nvSpPr>
          <p:cNvPr id="166915" name="Rectangle 2">
            <a:extLst>
              <a:ext uri="{FF2B5EF4-FFF2-40B4-BE49-F238E27FC236}">
                <a16:creationId xmlns:a16="http://schemas.microsoft.com/office/drawing/2014/main" id="{FB3969A5-797F-A3BF-B3F4-88437D7A76CD}"/>
              </a:ext>
            </a:extLst>
          </p:cNvPr>
          <p:cNvSpPr>
            <a:spLocks noGrp="1" noRot="1" noChangeAspect="1" noChangeArrowheads="1" noTextEdit="1"/>
          </p:cNvSpPr>
          <p:nvPr>
            <p:ph type="sldImg"/>
          </p:nvPr>
        </p:nvSpPr>
        <p:spPr>
          <a:ln/>
        </p:spPr>
      </p:sp>
      <p:sp>
        <p:nvSpPr>
          <p:cNvPr id="166916" name="Rectangle 3">
            <a:extLst>
              <a:ext uri="{FF2B5EF4-FFF2-40B4-BE49-F238E27FC236}">
                <a16:creationId xmlns:a16="http://schemas.microsoft.com/office/drawing/2014/main" id="{5BCB60C0-84BA-A43E-3792-4E6E9A06B3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4041498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71EE4B57-5679-2173-8F83-9C2BD75CC128}"/>
              </a:ext>
            </a:extLst>
          </p:cNvPr>
          <p:cNvSpPr>
            <a:spLocks noGrp="1" noRot="1" noChangeAspect="1" noTextEdit="1"/>
          </p:cNvSpPr>
          <p:nvPr>
            <p:ph type="sldImg"/>
          </p:nvPr>
        </p:nvSpPr>
        <p:spPr>
          <a:ln/>
        </p:spPr>
      </p:sp>
      <p:sp>
        <p:nvSpPr>
          <p:cNvPr id="9219" name="Notes Placeholder 2">
            <a:extLst>
              <a:ext uri="{FF2B5EF4-FFF2-40B4-BE49-F238E27FC236}">
                <a16:creationId xmlns:a16="http://schemas.microsoft.com/office/drawing/2014/main" id="{D876A5F1-8CDC-3C72-573C-53C40AA9BD9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9220" name="Slide Number Placeholder 3">
            <a:extLst>
              <a:ext uri="{FF2B5EF4-FFF2-40B4-BE49-F238E27FC236}">
                <a16:creationId xmlns:a16="http://schemas.microsoft.com/office/drawing/2014/main" id="{98998595-202E-741B-16BA-C9B764A440E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57960DD-F732-4087-B8F9-73A1146E9DB3}" type="slidenum">
              <a:rPr lang="en-CA" altLang="en-US" sz="1200">
                <a:latin typeface="Tahoma" panose="020B0604030504040204" pitchFamily="34" charset="0"/>
              </a:rPr>
              <a:pPr/>
              <a:t>84</a:t>
            </a:fld>
            <a:endParaRPr lang="en-CA" altLang="en-US" sz="1200">
              <a:latin typeface="Tahoma" panose="020B060403050404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Text Box 1">
            <a:extLst>
              <a:ext uri="{FF2B5EF4-FFF2-40B4-BE49-F238E27FC236}">
                <a16:creationId xmlns:a16="http://schemas.microsoft.com/office/drawing/2014/main" id="{2187BA43-CC43-8143-1EDB-75C5458EE6C4}"/>
              </a:ext>
            </a:extLst>
          </p:cNvPr>
          <p:cNvSpPr txBox="1">
            <a:spLocks noChangeArrowheads="1"/>
          </p:cNvSpPr>
          <p:nvPr/>
        </p:nvSpPr>
        <p:spPr bwMode="auto">
          <a:xfrm>
            <a:off x="1143000" y="685800"/>
            <a:ext cx="4572000" cy="3429000"/>
          </a:xfrm>
          <a:prstGeom prst="rect">
            <a:avLst/>
          </a:prstGeom>
          <a:solidFill>
            <a:srgbClr val="FFFFFF"/>
          </a:solidFill>
          <a:ln w="9360">
            <a:solidFill>
              <a:srgbClr val="000000"/>
            </a:solidFill>
            <a:miter lim="800000"/>
            <a:headEnd/>
            <a:tailEnd/>
          </a:ln>
        </p:spPr>
        <p:txBody>
          <a:bodyPr wrap="none" anchor="ctr"/>
          <a:lstStyle>
            <a:lvl1pPr>
              <a:spcBef>
                <a:spcPct val="30000"/>
              </a:spcBef>
              <a:defRPr>
                <a:solidFill>
                  <a:schemeClr val="tx1"/>
                </a:solidFill>
                <a:latin typeface="Arial" panose="020B0604020202020204" pitchFamily="34" charset="0"/>
                <a:ea typeface="MS PGothic" panose="020B0600070205080204" pitchFamily="34" charset="-128"/>
              </a:defRPr>
            </a:lvl1pPr>
            <a:lvl2pPr marL="742950" indent="-285750">
              <a:spcBef>
                <a:spcPct val="30000"/>
              </a:spcBef>
              <a:defRPr sz="1600">
                <a:solidFill>
                  <a:schemeClr val="tx1"/>
                </a:solidFill>
                <a:latin typeface="Arial" panose="020B0604020202020204" pitchFamily="34" charset="0"/>
                <a:ea typeface="MS PGothic" panose="020B0600070205080204" pitchFamily="34" charset="-128"/>
              </a:defRPr>
            </a:lvl2pPr>
            <a:lvl3pPr marL="1143000" indent="-22860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endParaRPr lang="en-US" altLang="en-US" sz="1800"/>
          </a:p>
        </p:txBody>
      </p:sp>
      <p:sp>
        <p:nvSpPr>
          <p:cNvPr id="16387" name="Rectangle 2">
            <a:extLst>
              <a:ext uri="{FF2B5EF4-FFF2-40B4-BE49-F238E27FC236}">
                <a16:creationId xmlns:a16="http://schemas.microsoft.com/office/drawing/2014/main" id="{02C3B5AA-0D1A-4A8D-8503-678C88F54D26}"/>
              </a:ext>
            </a:extLst>
          </p:cNvPr>
          <p:cNvSpPr>
            <a:spLocks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spcBef>
                <a:spcPct val="0"/>
              </a:spcBef>
            </a:pPr>
            <a:endParaRPr lang="en-US" altLang="en-US">
              <a:latin typeface="Arial" panose="020B0604020202020204"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CC7AA635-1AD0-6F0E-45BB-46002B97C9F5}"/>
              </a:ext>
            </a:extLst>
          </p:cNvPr>
          <p:cNvSpPr>
            <a:spLocks noChangeArrowheads="1" noTextEdit="1"/>
          </p:cNvSpPr>
          <p:nvPr>
            <p:ph type="sldImg"/>
          </p:nvPr>
        </p:nvSpPr>
        <p:spPr>
          <a:ln/>
        </p:spPr>
      </p:sp>
      <p:sp>
        <p:nvSpPr>
          <p:cNvPr id="26627" name="Rectangle 3">
            <a:extLst>
              <a:ext uri="{FF2B5EF4-FFF2-40B4-BE49-F238E27FC236}">
                <a16:creationId xmlns:a16="http://schemas.microsoft.com/office/drawing/2014/main" id="{824294E7-3AB1-CA57-51D5-B0DF3F1C4B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2" name="Rectangle 44">
            <a:extLst>
              <a:ext uri="{FF2B5EF4-FFF2-40B4-BE49-F238E27FC236}">
                <a16:creationId xmlns:a16="http://schemas.microsoft.com/office/drawing/2014/main" id="{4C16084C-5CC1-2B57-15F9-52AE0A91E4F2}"/>
              </a:ext>
            </a:extLst>
          </p:cNvPr>
          <p:cNvSpPr>
            <a:spLocks noChangeArrowheads="1"/>
          </p:cNvSpPr>
          <p:nvPr/>
        </p:nvSpPr>
        <p:spPr bwMode="auto">
          <a:xfrm>
            <a:off x="8305800" y="0"/>
            <a:ext cx="609600" cy="6858000"/>
          </a:xfrm>
          <a:prstGeom prst="rect">
            <a:avLst/>
          </a:prstGeom>
          <a:gradFill rotWithShape="1">
            <a:gsLst>
              <a:gs pos="0">
                <a:srgbClr val="677228">
                  <a:alpha val="43999"/>
                </a:srgbClr>
              </a:gs>
              <a:gs pos="100000">
                <a:srgbClr val="5A6423"/>
              </a:gs>
            </a:gsLst>
            <a:lin ang="5400000" scaled="1"/>
          </a:gra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a:ea typeface="+mn-ea"/>
            </a:endParaRPr>
          </a:p>
        </p:txBody>
      </p:sp>
      <p:sp>
        <p:nvSpPr>
          <p:cNvPr id="3" name="Rectangle 47">
            <a:extLst>
              <a:ext uri="{FF2B5EF4-FFF2-40B4-BE49-F238E27FC236}">
                <a16:creationId xmlns:a16="http://schemas.microsoft.com/office/drawing/2014/main" id="{9ECFA629-4CF7-BBED-A846-908F6C27A2DD}"/>
              </a:ext>
            </a:extLst>
          </p:cNvPr>
          <p:cNvSpPr>
            <a:spLocks noChangeArrowheads="1"/>
          </p:cNvSpPr>
          <p:nvPr userDrawn="1"/>
        </p:nvSpPr>
        <p:spPr bwMode="auto">
          <a:xfrm rot="16200000">
            <a:off x="3500437" y="-985837"/>
            <a:ext cx="2143125" cy="9144000"/>
          </a:xfrm>
          <a:prstGeom prst="rect">
            <a:avLst/>
          </a:prstGeom>
          <a:solidFill>
            <a:srgbClr val="677228">
              <a:alpha val="43921"/>
            </a:srgbClr>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a:ea typeface="+mn-ea"/>
            </a:endParaRPr>
          </a:p>
        </p:txBody>
      </p:sp>
      <p:sp>
        <p:nvSpPr>
          <p:cNvPr id="4" name="Rectangle 48">
            <a:extLst>
              <a:ext uri="{FF2B5EF4-FFF2-40B4-BE49-F238E27FC236}">
                <a16:creationId xmlns:a16="http://schemas.microsoft.com/office/drawing/2014/main" id="{D087B386-0FDB-CD27-A5D4-B1802875C0F5}"/>
              </a:ext>
            </a:extLst>
          </p:cNvPr>
          <p:cNvSpPr>
            <a:spLocks noChangeArrowheads="1"/>
          </p:cNvSpPr>
          <p:nvPr userDrawn="1"/>
        </p:nvSpPr>
        <p:spPr bwMode="auto">
          <a:xfrm>
            <a:off x="7315200" y="2438400"/>
            <a:ext cx="1828800" cy="229076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a:ea typeface="+mn-ea"/>
            </a:endParaRPr>
          </a:p>
        </p:txBody>
      </p:sp>
      <p:pic>
        <p:nvPicPr>
          <p:cNvPr id="5" name="Picture 35" descr="awtri_4c UPDATE_color">
            <a:extLst>
              <a:ext uri="{FF2B5EF4-FFF2-40B4-BE49-F238E27FC236}">
                <a16:creationId xmlns:a16="http://schemas.microsoft.com/office/drawing/2014/main" id="{157122AA-4BB9-DA9A-E105-B2FB68B848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5949950"/>
            <a:ext cx="684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6" descr="elmasri_thumb">
            <a:extLst>
              <a:ext uri="{FF2B5EF4-FFF2-40B4-BE49-F238E27FC236}">
                <a16:creationId xmlns:a16="http://schemas.microsoft.com/office/drawing/2014/main" id="{B30A908E-8BB1-DF30-8796-B4D497C8E20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19975" y="2514600"/>
            <a:ext cx="17240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26" name="Rectangle 30" descr="Pink tissue paper"/>
          <p:cNvSpPr>
            <a:spLocks noGrp="1" noChangeArrowheads="1"/>
          </p:cNvSpPr>
          <p:nvPr>
            <p:ph type="ctrTitle" sz="quarter"/>
          </p:nvPr>
        </p:nvSpPr>
        <p:spPr>
          <a:xfrm>
            <a:off x="228600" y="152400"/>
            <a:ext cx="7086600" cy="2286000"/>
          </a:xfrm>
        </p:spPr>
        <p:txBody>
          <a:bodyPr wrap="none" anchor="ctr"/>
          <a:lstStyle>
            <a:lvl1pPr>
              <a:defRPr sz="6600">
                <a:solidFill>
                  <a:srgbClr val="990033"/>
                </a:solidFill>
              </a:defRPr>
            </a:lvl1pPr>
          </a:lstStyle>
          <a:p>
            <a:r>
              <a:rPr lang="en-US"/>
              <a:t>Click to edit Master title style</a:t>
            </a:r>
          </a:p>
        </p:txBody>
      </p:sp>
      <p:sp>
        <p:nvSpPr>
          <p:cNvPr id="4134" name="Rectangle 38" descr="Pink tissue paper"/>
          <p:cNvSpPr>
            <a:spLocks noGrp="1" noChangeArrowheads="1"/>
          </p:cNvSpPr>
          <p:nvPr>
            <p:ph type="subTitle" sz="quarter" idx="1"/>
          </p:nvPr>
        </p:nvSpPr>
        <p:spPr>
          <a:xfrm>
            <a:off x="304800" y="2590800"/>
            <a:ext cx="6629400" cy="1905000"/>
          </a:xfrm>
        </p:spPr>
        <p:txBody>
          <a:bodyPr/>
          <a:lstStyle>
            <a:lvl1pPr marL="0" indent="0">
              <a:buFont typeface="Wingdings" pitchFamily="2" charset="2"/>
              <a:buNone/>
              <a:defRPr sz="3200"/>
            </a:lvl1pPr>
          </a:lstStyle>
          <a:p>
            <a:r>
              <a:rPr lang="en-US"/>
              <a:t>Click to edit Master subtitle style</a:t>
            </a:r>
          </a:p>
        </p:txBody>
      </p:sp>
      <p:sp>
        <p:nvSpPr>
          <p:cNvPr id="7" name="Rectangle 29">
            <a:extLst>
              <a:ext uri="{FF2B5EF4-FFF2-40B4-BE49-F238E27FC236}">
                <a16:creationId xmlns:a16="http://schemas.microsoft.com/office/drawing/2014/main" id="{412A5DBE-C1D9-7BC1-CA37-AA55ABB520D8}"/>
              </a:ext>
            </a:extLst>
          </p:cNvPr>
          <p:cNvSpPr>
            <a:spLocks noGrp="1" noChangeArrowheads="1"/>
          </p:cNvSpPr>
          <p:nvPr>
            <p:ph type="ftr" sz="quarter" idx="10"/>
          </p:nvPr>
        </p:nvSpPr>
        <p:spPr bwMode="auto">
          <a:xfrm>
            <a:off x="838200" y="6397625"/>
            <a:ext cx="44958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900"/>
            </a:lvl1pPr>
          </a:lstStyle>
          <a:p>
            <a:r>
              <a:rPr lang="en-US" altLang="en-US"/>
              <a:t>Northeastern University</a:t>
            </a:r>
          </a:p>
        </p:txBody>
      </p:sp>
    </p:spTree>
    <p:extLst>
      <p:ext uri="{BB962C8B-B14F-4D97-AF65-F5344CB8AC3E}">
        <p14:creationId xmlns:p14="http://schemas.microsoft.com/office/powerpoint/2010/main" val="2660467611"/>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E438DC50-8399-7D0E-7CC9-076F54D810A3}"/>
              </a:ext>
            </a:extLst>
          </p:cNvPr>
          <p:cNvSpPr>
            <a:spLocks noGrp="1" noChangeArrowheads="1"/>
          </p:cNvSpPr>
          <p:nvPr>
            <p:ph type="sldNum" sz="quarter" idx="10"/>
          </p:nvPr>
        </p:nvSpPr>
        <p:spPr>
          <a:ln/>
        </p:spPr>
        <p:txBody>
          <a:bodyPr/>
          <a:lstStyle>
            <a:lvl1pPr>
              <a:defRPr/>
            </a:lvl1pPr>
          </a:lstStyle>
          <a:p>
            <a:r>
              <a:rPr lang="en-US" altLang="en-US"/>
              <a:t>Slide 3- </a:t>
            </a:r>
            <a:fld id="{6D11F7FA-F962-4577-ADCF-9A3DA7313C6D}" type="slidenum">
              <a:rPr lang="en-US" altLang="en-US"/>
              <a:pPr/>
              <a:t>‹#›</a:t>
            </a:fld>
            <a:endParaRPr lang="en-CA" altLang="en-US"/>
          </a:p>
        </p:txBody>
      </p:sp>
      <p:sp>
        <p:nvSpPr>
          <p:cNvPr id="5" name="Title 4">
            <a:extLst>
              <a:ext uri="{FF2B5EF4-FFF2-40B4-BE49-F238E27FC236}">
                <a16:creationId xmlns:a16="http://schemas.microsoft.com/office/drawing/2014/main" id="{2E06DFDE-0D8C-2BAB-A47A-828B1FF5574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2793785"/>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3">
            <a:extLst>
              <a:ext uri="{FF2B5EF4-FFF2-40B4-BE49-F238E27FC236}">
                <a16:creationId xmlns:a16="http://schemas.microsoft.com/office/drawing/2014/main" id="{05E02B4C-60DF-2D4A-09A6-5FDC2FB18326}"/>
              </a:ext>
            </a:extLst>
          </p:cNvPr>
          <p:cNvSpPr>
            <a:spLocks noGrp="1" noChangeArrowheads="1"/>
          </p:cNvSpPr>
          <p:nvPr>
            <p:ph type="sldNum" sz="quarter" idx="10"/>
          </p:nvPr>
        </p:nvSpPr>
        <p:spPr>
          <a:ln/>
        </p:spPr>
        <p:txBody>
          <a:bodyPr/>
          <a:lstStyle>
            <a:lvl1pPr>
              <a:defRPr/>
            </a:lvl1pPr>
          </a:lstStyle>
          <a:p>
            <a:r>
              <a:rPr lang="en-US" altLang="en-US"/>
              <a:t>Slide 3- </a:t>
            </a:r>
            <a:fld id="{2DDCA2E4-E4E8-4707-8801-983347534CF6}" type="slidenum">
              <a:rPr lang="en-US" altLang="en-US"/>
              <a:pPr/>
              <a:t>‹#›</a:t>
            </a:fld>
            <a:endParaRPr lang="en-CA" altLang="en-US"/>
          </a:p>
        </p:txBody>
      </p:sp>
    </p:spTree>
    <p:extLst>
      <p:ext uri="{BB962C8B-B14F-4D97-AF65-F5344CB8AC3E}">
        <p14:creationId xmlns:p14="http://schemas.microsoft.com/office/powerpoint/2010/main" val="239958384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39713" y="1600200"/>
            <a:ext cx="407035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62463" y="1600200"/>
            <a:ext cx="4071937"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3">
            <a:extLst>
              <a:ext uri="{FF2B5EF4-FFF2-40B4-BE49-F238E27FC236}">
                <a16:creationId xmlns:a16="http://schemas.microsoft.com/office/drawing/2014/main" id="{92EFF6DF-CD1D-7B36-D415-E809929F957E}"/>
              </a:ext>
            </a:extLst>
          </p:cNvPr>
          <p:cNvSpPr>
            <a:spLocks noGrp="1" noChangeArrowheads="1"/>
          </p:cNvSpPr>
          <p:nvPr>
            <p:ph type="sldNum" sz="quarter" idx="10"/>
          </p:nvPr>
        </p:nvSpPr>
        <p:spPr>
          <a:ln/>
        </p:spPr>
        <p:txBody>
          <a:bodyPr/>
          <a:lstStyle>
            <a:lvl1pPr>
              <a:defRPr/>
            </a:lvl1pPr>
          </a:lstStyle>
          <a:p>
            <a:r>
              <a:rPr lang="en-US" altLang="en-US"/>
              <a:t>Slide 3- </a:t>
            </a:r>
            <a:fld id="{6BF6EE21-B1DB-4459-9D16-66B86D8A2CE5}" type="slidenum">
              <a:rPr lang="en-US" altLang="en-US"/>
              <a:pPr/>
              <a:t>‹#›</a:t>
            </a:fld>
            <a:endParaRPr lang="en-CA" altLang="en-US"/>
          </a:p>
        </p:txBody>
      </p:sp>
    </p:spTree>
    <p:extLst>
      <p:ext uri="{BB962C8B-B14F-4D97-AF65-F5344CB8AC3E}">
        <p14:creationId xmlns:p14="http://schemas.microsoft.com/office/powerpoint/2010/main" val="424346176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3">
            <a:extLst>
              <a:ext uri="{FF2B5EF4-FFF2-40B4-BE49-F238E27FC236}">
                <a16:creationId xmlns:a16="http://schemas.microsoft.com/office/drawing/2014/main" id="{C5E47F20-FE0F-8A99-7916-B7FFDB0D1B9F}"/>
              </a:ext>
            </a:extLst>
          </p:cNvPr>
          <p:cNvSpPr>
            <a:spLocks noGrp="1" noChangeArrowheads="1"/>
          </p:cNvSpPr>
          <p:nvPr>
            <p:ph type="sldNum" sz="quarter" idx="10"/>
          </p:nvPr>
        </p:nvSpPr>
        <p:spPr>
          <a:ln/>
        </p:spPr>
        <p:txBody>
          <a:bodyPr/>
          <a:lstStyle>
            <a:lvl1pPr>
              <a:defRPr/>
            </a:lvl1pPr>
          </a:lstStyle>
          <a:p>
            <a:r>
              <a:rPr lang="en-US" altLang="en-US"/>
              <a:t>Slide 3- </a:t>
            </a:r>
            <a:fld id="{5F0E453B-5D73-4993-99A9-0B2CC8584F7E}" type="slidenum">
              <a:rPr lang="en-US" altLang="en-US"/>
              <a:pPr/>
              <a:t>‹#›</a:t>
            </a:fld>
            <a:endParaRPr lang="en-CA" altLang="en-US"/>
          </a:p>
        </p:txBody>
      </p:sp>
    </p:spTree>
    <p:extLst>
      <p:ext uri="{BB962C8B-B14F-4D97-AF65-F5344CB8AC3E}">
        <p14:creationId xmlns:p14="http://schemas.microsoft.com/office/powerpoint/2010/main" val="313065095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3">
            <a:extLst>
              <a:ext uri="{FF2B5EF4-FFF2-40B4-BE49-F238E27FC236}">
                <a16:creationId xmlns:a16="http://schemas.microsoft.com/office/drawing/2014/main" id="{72099567-25E2-96B6-EDFE-7F8D534C2719}"/>
              </a:ext>
            </a:extLst>
          </p:cNvPr>
          <p:cNvSpPr>
            <a:spLocks noGrp="1" noChangeArrowheads="1"/>
          </p:cNvSpPr>
          <p:nvPr>
            <p:ph type="sldNum" sz="quarter" idx="10"/>
          </p:nvPr>
        </p:nvSpPr>
        <p:spPr>
          <a:ln/>
        </p:spPr>
        <p:txBody>
          <a:bodyPr/>
          <a:lstStyle>
            <a:lvl1pPr>
              <a:defRPr/>
            </a:lvl1pPr>
          </a:lstStyle>
          <a:p>
            <a:r>
              <a:rPr lang="en-US" altLang="en-US"/>
              <a:t>Slide 3- </a:t>
            </a:r>
            <a:fld id="{9228F43B-1751-4133-BFDC-FCBB34AB8CDD}" type="slidenum">
              <a:rPr lang="en-US" altLang="en-US"/>
              <a:pPr/>
              <a:t>‹#›</a:t>
            </a:fld>
            <a:endParaRPr lang="en-CA" altLang="en-US"/>
          </a:p>
        </p:txBody>
      </p:sp>
    </p:spTree>
    <p:extLst>
      <p:ext uri="{BB962C8B-B14F-4D97-AF65-F5344CB8AC3E}">
        <p14:creationId xmlns:p14="http://schemas.microsoft.com/office/powerpoint/2010/main" val="2829790404"/>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a:extLst>
              <a:ext uri="{FF2B5EF4-FFF2-40B4-BE49-F238E27FC236}">
                <a16:creationId xmlns:a16="http://schemas.microsoft.com/office/drawing/2014/main" id="{A9262FAE-CED8-1AE6-3940-72120743CAF6}"/>
              </a:ext>
            </a:extLst>
          </p:cNvPr>
          <p:cNvSpPr>
            <a:spLocks noGrp="1" noChangeArrowheads="1"/>
          </p:cNvSpPr>
          <p:nvPr>
            <p:ph type="sldNum" sz="quarter" idx="10"/>
          </p:nvPr>
        </p:nvSpPr>
        <p:spPr>
          <a:ln/>
        </p:spPr>
        <p:txBody>
          <a:bodyPr/>
          <a:lstStyle>
            <a:lvl1pPr>
              <a:defRPr/>
            </a:lvl1pPr>
          </a:lstStyle>
          <a:p>
            <a:r>
              <a:rPr lang="en-US" altLang="en-US"/>
              <a:t>Slide 3- </a:t>
            </a:r>
            <a:fld id="{1864B7D0-CEEA-40DC-BC32-EE9584BC8EF1}" type="slidenum">
              <a:rPr lang="en-US" altLang="en-US"/>
              <a:pPr/>
              <a:t>‹#›</a:t>
            </a:fld>
            <a:endParaRPr lang="en-CA" altLang="en-US"/>
          </a:p>
        </p:txBody>
      </p:sp>
    </p:spTree>
    <p:extLst>
      <p:ext uri="{BB962C8B-B14F-4D97-AF65-F5344CB8AC3E}">
        <p14:creationId xmlns:p14="http://schemas.microsoft.com/office/powerpoint/2010/main" val="202086537"/>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a:extLst>
              <a:ext uri="{FF2B5EF4-FFF2-40B4-BE49-F238E27FC236}">
                <a16:creationId xmlns:a16="http://schemas.microsoft.com/office/drawing/2014/main" id="{67C0F642-E8F4-6934-F2FE-167DD3273D1C}"/>
              </a:ext>
            </a:extLst>
          </p:cNvPr>
          <p:cNvSpPr>
            <a:spLocks noGrp="1" noChangeArrowheads="1"/>
          </p:cNvSpPr>
          <p:nvPr>
            <p:ph type="sldNum" sz="quarter" idx="10"/>
          </p:nvPr>
        </p:nvSpPr>
        <p:spPr>
          <a:ln/>
        </p:spPr>
        <p:txBody>
          <a:bodyPr/>
          <a:lstStyle>
            <a:lvl1pPr>
              <a:defRPr/>
            </a:lvl1pPr>
          </a:lstStyle>
          <a:p>
            <a:r>
              <a:rPr lang="en-US" altLang="en-US"/>
              <a:t>Slide 3- </a:t>
            </a:r>
            <a:fld id="{9291CF21-B795-44F6-8698-4D5963511A92}" type="slidenum">
              <a:rPr lang="en-US" altLang="en-US"/>
              <a:pPr/>
              <a:t>‹#›</a:t>
            </a:fld>
            <a:endParaRPr lang="en-CA" altLang="en-US"/>
          </a:p>
        </p:txBody>
      </p:sp>
    </p:spTree>
    <p:extLst>
      <p:ext uri="{BB962C8B-B14F-4D97-AF65-F5344CB8AC3E}">
        <p14:creationId xmlns:p14="http://schemas.microsoft.com/office/powerpoint/2010/main" val="943506359"/>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a:extLst>
              <a:ext uri="{FF2B5EF4-FFF2-40B4-BE49-F238E27FC236}">
                <a16:creationId xmlns:a16="http://schemas.microsoft.com/office/drawing/2014/main" id="{1EA5FE8D-DC64-2F97-5A4A-79F36DC9F943}"/>
              </a:ext>
            </a:extLst>
          </p:cNvPr>
          <p:cNvSpPr>
            <a:spLocks noGrp="1" noChangeArrowheads="1"/>
          </p:cNvSpPr>
          <p:nvPr>
            <p:ph type="sldNum" sz="quarter" idx="10"/>
          </p:nvPr>
        </p:nvSpPr>
        <p:spPr>
          <a:ln/>
        </p:spPr>
        <p:txBody>
          <a:bodyPr/>
          <a:lstStyle>
            <a:lvl1pPr>
              <a:defRPr/>
            </a:lvl1pPr>
          </a:lstStyle>
          <a:p>
            <a:r>
              <a:rPr lang="en-US" altLang="en-US"/>
              <a:t>Slide 3- </a:t>
            </a:r>
            <a:fld id="{EAB7105D-7781-4254-BB81-B8A68CFF1D86}" type="slidenum">
              <a:rPr lang="en-US" altLang="en-US"/>
              <a:pPr/>
              <a:t>‹#›</a:t>
            </a:fld>
            <a:endParaRPr lang="en-CA" altLang="en-US"/>
          </a:p>
        </p:txBody>
      </p:sp>
    </p:spTree>
    <p:extLst>
      <p:ext uri="{BB962C8B-B14F-4D97-AF65-F5344CB8AC3E}">
        <p14:creationId xmlns:p14="http://schemas.microsoft.com/office/powerpoint/2010/main" val="2589890415"/>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37407615-DA2F-2C81-05B8-A65A5FB8BCDC}"/>
              </a:ext>
            </a:extLst>
          </p:cNvPr>
          <p:cNvSpPr>
            <a:spLocks noGrp="1" noChangeArrowheads="1"/>
          </p:cNvSpPr>
          <p:nvPr>
            <p:ph type="sldNum" sz="quarter" idx="10"/>
          </p:nvPr>
        </p:nvSpPr>
        <p:spPr>
          <a:ln/>
        </p:spPr>
        <p:txBody>
          <a:bodyPr/>
          <a:lstStyle>
            <a:lvl1pPr>
              <a:defRPr/>
            </a:lvl1pPr>
          </a:lstStyle>
          <a:p>
            <a:r>
              <a:rPr lang="en-US" altLang="en-US"/>
              <a:t>Slide 3- </a:t>
            </a:r>
            <a:fld id="{EB3B84DC-0E49-4764-A83F-DD74C6522E76}" type="slidenum">
              <a:rPr lang="en-US" altLang="en-US"/>
              <a:pPr/>
              <a:t>‹#›</a:t>
            </a:fld>
            <a:endParaRPr lang="en-CA" altLang="en-US"/>
          </a:p>
        </p:txBody>
      </p:sp>
    </p:spTree>
    <p:extLst>
      <p:ext uri="{BB962C8B-B14F-4D97-AF65-F5344CB8AC3E}">
        <p14:creationId xmlns:p14="http://schemas.microsoft.com/office/powerpoint/2010/main" val="100345839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57950" y="303213"/>
            <a:ext cx="2076450" cy="58689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3213"/>
            <a:ext cx="6076950" cy="58689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85485054-0749-7B3A-5BBF-CF2047EA0529}"/>
              </a:ext>
            </a:extLst>
          </p:cNvPr>
          <p:cNvSpPr>
            <a:spLocks noGrp="1" noChangeArrowheads="1"/>
          </p:cNvSpPr>
          <p:nvPr>
            <p:ph type="sldNum" sz="quarter" idx="10"/>
          </p:nvPr>
        </p:nvSpPr>
        <p:spPr>
          <a:ln/>
        </p:spPr>
        <p:txBody>
          <a:bodyPr/>
          <a:lstStyle>
            <a:lvl1pPr>
              <a:defRPr/>
            </a:lvl1pPr>
          </a:lstStyle>
          <a:p>
            <a:r>
              <a:rPr lang="en-US" altLang="en-US"/>
              <a:t>Slide 3- </a:t>
            </a:r>
            <a:fld id="{A91B246A-188E-44DD-9E24-D255D121D829}" type="slidenum">
              <a:rPr lang="en-US" altLang="en-US"/>
              <a:pPr/>
              <a:t>‹#›</a:t>
            </a:fld>
            <a:endParaRPr lang="en-CA" altLang="en-US"/>
          </a:p>
        </p:txBody>
      </p:sp>
    </p:spTree>
    <p:extLst>
      <p:ext uri="{BB962C8B-B14F-4D97-AF65-F5344CB8AC3E}">
        <p14:creationId xmlns:p14="http://schemas.microsoft.com/office/powerpoint/2010/main" val="3081676413"/>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273921" y="2921931"/>
            <a:ext cx="6596158" cy="507831"/>
          </a:xfrm>
          <a:prstGeom prst="rect">
            <a:avLst/>
          </a:prstGeom>
        </p:spPr>
        <p:txBody>
          <a:bodyPr wrap="square" lIns="0" tIns="0" rIns="0" bIns="0">
            <a:spAutoFit/>
          </a:bodyPr>
          <a:lstStyle>
            <a:lvl1pPr>
              <a:defRPr sz="33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371600" y="3840480"/>
            <a:ext cx="6400800" cy="323165"/>
          </a:xfrm>
          <a:prstGeom prst="rect">
            <a:avLst/>
          </a:prstGeom>
        </p:spPr>
        <p:txBody>
          <a:bodyPr wrap="square" lIns="0" tIns="0" rIns="0" bIns="0">
            <a:spAutoFit/>
          </a:bodyPr>
          <a:lstStyle>
            <a:lvl1pPr>
              <a:defRPr sz="21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898989"/>
                </a:solidFill>
                <a:latin typeface="Calibri"/>
                <a:cs typeface="Calibri"/>
              </a:defRPr>
            </a:lvl1pPr>
          </a:lstStyle>
          <a:p>
            <a:pPr marL="9525">
              <a:spcBef>
                <a:spcPts val="30"/>
              </a:spcBef>
            </a:pPr>
            <a:r>
              <a:rPr lang="en-US" spc="-8"/>
              <a:t>Copyright</a:t>
            </a:r>
            <a:r>
              <a:rPr lang="en-US" spc="-11"/>
              <a:t> </a:t>
            </a:r>
            <a:r>
              <a:rPr lang="en-US"/>
              <a:t>©</a:t>
            </a:r>
            <a:r>
              <a:rPr lang="en-US" spc="-8"/>
              <a:t> </a:t>
            </a:r>
            <a:r>
              <a:rPr lang="en-US"/>
              <a:t>2016</a:t>
            </a:r>
            <a:r>
              <a:rPr lang="en-US" spc="-8"/>
              <a:t> </a:t>
            </a:r>
            <a:r>
              <a:rPr lang="en-US"/>
              <a:t>Ramez</a:t>
            </a:r>
            <a:r>
              <a:rPr lang="en-US" spc="-4"/>
              <a:t> </a:t>
            </a:r>
            <a:r>
              <a:rPr lang="en-US"/>
              <a:t>Elmasri</a:t>
            </a:r>
            <a:r>
              <a:rPr lang="en-US" spc="-11"/>
              <a:t> </a:t>
            </a:r>
            <a:r>
              <a:rPr lang="en-US"/>
              <a:t>and</a:t>
            </a:r>
            <a:r>
              <a:rPr lang="en-US" spc="-11"/>
              <a:t> </a:t>
            </a:r>
            <a:r>
              <a:rPr lang="en-US" spc="-8"/>
              <a:t>Shamkant</a:t>
            </a:r>
            <a:r>
              <a:rPr lang="en-US" spc="-11"/>
              <a:t> </a:t>
            </a:r>
            <a:r>
              <a:rPr lang="en-US"/>
              <a:t>B.</a:t>
            </a:r>
            <a:r>
              <a:rPr lang="en-US" spc="-8"/>
              <a:t> Navathe</a:t>
            </a:r>
            <a:endParaRPr lang="en-US" spc="-8"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26-Feb-26</a:t>
            </a:fld>
            <a:endParaRPr lang="en-US"/>
          </a:p>
        </p:txBody>
      </p:sp>
      <p:sp>
        <p:nvSpPr>
          <p:cNvPr id="6" name="Holder 6"/>
          <p:cNvSpPr>
            <a:spLocks noGrp="1"/>
          </p:cNvSpPr>
          <p:nvPr>
            <p:ph type="sldNum" sz="quarter" idx="7"/>
          </p:nvPr>
        </p:nvSpPr>
        <p:spPr/>
        <p:txBody>
          <a:bodyPr lIns="0" tIns="0" rIns="0" bIns="0"/>
          <a:lstStyle>
            <a:lvl1pPr>
              <a:defRPr sz="900" b="0" i="0">
                <a:solidFill>
                  <a:srgbClr val="898989"/>
                </a:solidFill>
                <a:latin typeface="Calibri"/>
                <a:cs typeface="Calibri"/>
              </a:defRPr>
            </a:lvl1pPr>
          </a:lstStyle>
          <a:p>
            <a:pPr marL="86678">
              <a:spcBef>
                <a:spcPts val="30"/>
              </a:spcBef>
            </a:pPr>
            <a:fld id="{81D60167-4931-47E6-BA6A-407CBD079E47}" type="slidenum">
              <a:rPr lang="en-US" spc="-38" smtClean="0"/>
              <a:pPr marL="86678">
                <a:spcBef>
                  <a:spcPts val="30"/>
                </a:spcBef>
              </a:pPr>
              <a:t>‹#›</a:t>
            </a:fld>
            <a:endParaRPr lang="en-US" spc="-38" dirty="0"/>
          </a:p>
        </p:txBody>
      </p:sp>
    </p:spTree>
    <p:extLst>
      <p:ext uri="{BB962C8B-B14F-4D97-AF65-F5344CB8AC3E}">
        <p14:creationId xmlns:p14="http://schemas.microsoft.com/office/powerpoint/2010/main" val="870108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45">
            <a:extLst>
              <a:ext uri="{FF2B5EF4-FFF2-40B4-BE49-F238E27FC236}">
                <a16:creationId xmlns:a16="http://schemas.microsoft.com/office/drawing/2014/main" id="{B0E38FEA-4118-EC14-B467-5DB6031259FE}"/>
              </a:ext>
            </a:extLst>
          </p:cNvPr>
          <p:cNvGrpSpPr>
            <a:grpSpLocks/>
          </p:cNvGrpSpPr>
          <p:nvPr userDrawn="1"/>
        </p:nvGrpSpPr>
        <p:grpSpPr bwMode="auto">
          <a:xfrm>
            <a:off x="8936038" y="1449388"/>
            <a:ext cx="207962" cy="5408612"/>
            <a:chOff x="5606" y="889"/>
            <a:chExt cx="154" cy="3431"/>
          </a:xfrm>
        </p:grpSpPr>
        <p:sp>
          <p:nvSpPr>
            <p:cNvPr id="1032" name="Rectangle 38">
              <a:extLst>
                <a:ext uri="{FF2B5EF4-FFF2-40B4-BE49-F238E27FC236}">
                  <a16:creationId xmlns:a16="http://schemas.microsoft.com/office/drawing/2014/main" id="{A2DE8DAD-1A83-F5B0-0EFD-08032DDD9FBE}"/>
                </a:ext>
              </a:extLst>
            </p:cNvPr>
            <p:cNvSpPr>
              <a:spLocks noChangeArrowheads="1"/>
            </p:cNvSpPr>
            <p:nvPr userDrawn="1"/>
          </p:nvSpPr>
          <p:spPr bwMode="gray">
            <a:xfrm flipH="1">
              <a:off x="5685" y="889"/>
              <a:ext cx="75" cy="3431"/>
            </a:xfrm>
            <a:prstGeom prst="rect">
              <a:avLst/>
            </a:prstGeom>
            <a:solidFill>
              <a:srgbClr val="67722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a:latin typeface="Tahoma" panose="020B0604030504040204" pitchFamily="34" charset="0"/>
                <a:ea typeface="+mn-ea"/>
              </a:endParaRPr>
            </a:p>
          </p:txBody>
        </p:sp>
        <p:grpSp>
          <p:nvGrpSpPr>
            <p:cNvPr id="1033" name="Group 44">
              <a:extLst>
                <a:ext uri="{FF2B5EF4-FFF2-40B4-BE49-F238E27FC236}">
                  <a16:creationId xmlns:a16="http://schemas.microsoft.com/office/drawing/2014/main" id="{582D6A6F-C337-774C-CE66-F9F191BB61CB}"/>
                </a:ext>
              </a:extLst>
            </p:cNvPr>
            <p:cNvGrpSpPr>
              <a:grpSpLocks/>
            </p:cNvGrpSpPr>
            <p:nvPr userDrawn="1"/>
          </p:nvGrpSpPr>
          <p:grpSpPr bwMode="auto">
            <a:xfrm>
              <a:off x="5606" y="889"/>
              <a:ext cx="106" cy="3431"/>
              <a:chOff x="5606" y="889"/>
              <a:chExt cx="106" cy="3431"/>
            </a:xfrm>
          </p:grpSpPr>
          <p:sp>
            <p:nvSpPr>
              <p:cNvPr id="1034" name="Rectangle 43">
                <a:extLst>
                  <a:ext uri="{FF2B5EF4-FFF2-40B4-BE49-F238E27FC236}">
                    <a16:creationId xmlns:a16="http://schemas.microsoft.com/office/drawing/2014/main" id="{E54AD457-CB98-EDB6-528F-E2AD1C9B33CF}"/>
                  </a:ext>
                </a:extLst>
              </p:cNvPr>
              <p:cNvSpPr>
                <a:spLocks noChangeArrowheads="1"/>
              </p:cNvSpPr>
              <p:nvPr userDrawn="1"/>
            </p:nvSpPr>
            <p:spPr bwMode="gray">
              <a:xfrm rot="10800000" flipH="1">
                <a:off x="5606" y="889"/>
                <a:ext cx="58" cy="3431"/>
              </a:xfrm>
              <a:prstGeom prst="rect">
                <a:avLst/>
              </a:prstGeom>
              <a:solidFill>
                <a:schemeClr val="tx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rot="10800000"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a:latin typeface="Tahoma" panose="020B0604030504040204" pitchFamily="34" charset="0"/>
                  <a:ea typeface="+mn-ea"/>
                </a:endParaRPr>
              </a:p>
            </p:txBody>
          </p:sp>
          <p:sp>
            <p:nvSpPr>
              <p:cNvPr id="1035" name="Rectangle 32">
                <a:extLst>
                  <a:ext uri="{FF2B5EF4-FFF2-40B4-BE49-F238E27FC236}">
                    <a16:creationId xmlns:a16="http://schemas.microsoft.com/office/drawing/2014/main" id="{E8D9ED74-C546-E203-D27A-E69872DEE72E}"/>
                  </a:ext>
                </a:extLst>
              </p:cNvPr>
              <p:cNvSpPr>
                <a:spLocks noChangeArrowheads="1"/>
              </p:cNvSpPr>
              <p:nvPr userDrawn="1"/>
            </p:nvSpPr>
            <p:spPr bwMode="gray">
              <a:xfrm rot="10800000" flipH="1">
                <a:off x="5654" y="889"/>
                <a:ext cx="58" cy="3431"/>
              </a:xfrm>
              <a:prstGeom prst="rect">
                <a:avLst/>
              </a:prstGeom>
              <a:solidFill>
                <a:srgbClr val="99003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rot="10800000"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a:latin typeface="Tahoma" panose="020B0604030504040204" pitchFamily="34" charset="0"/>
                  <a:ea typeface="+mn-ea"/>
                </a:endParaRPr>
              </a:p>
            </p:txBody>
          </p:sp>
        </p:grpSp>
      </p:grpSp>
      <p:sp>
        <p:nvSpPr>
          <p:cNvPr id="1027" name="Rectangle 37">
            <a:extLst>
              <a:ext uri="{FF2B5EF4-FFF2-40B4-BE49-F238E27FC236}">
                <a16:creationId xmlns:a16="http://schemas.microsoft.com/office/drawing/2014/main" id="{EFB73BAF-E6B6-A271-774A-3D604C4C0864}"/>
              </a:ext>
            </a:extLst>
          </p:cNvPr>
          <p:cNvSpPr>
            <a:spLocks noChangeArrowheads="1"/>
          </p:cNvSpPr>
          <p:nvPr userDrawn="1"/>
        </p:nvSpPr>
        <p:spPr bwMode="gray">
          <a:xfrm rot="-5400000">
            <a:off x="3845719" y="-3845719"/>
            <a:ext cx="1449388" cy="9140825"/>
          </a:xfrm>
          <a:prstGeom prst="rect">
            <a:avLst/>
          </a:prstGeom>
          <a:solidFill>
            <a:srgbClr val="677228">
              <a:alpha val="36078"/>
            </a:srgbClr>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eaVert"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a:latin typeface="Tahoma" panose="020B0604030504040204" pitchFamily="34" charset="0"/>
              <a:ea typeface="+mn-ea"/>
            </a:endParaRPr>
          </a:p>
        </p:txBody>
      </p:sp>
      <p:sp>
        <p:nvSpPr>
          <p:cNvPr id="1028" name="Rectangle 9">
            <a:extLst>
              <a:ext uri="{FF2B5EF4-FFF2-40B4-BE49-F238E27FC236}">
                <a16:creationId xmlns:a16="http://schemas.microsoft.com/office/drawing/2014/main" id="{3FBC104B-7B17-A998-62AA-7000AB9FE0BF}"/>
              </a:ext>
            </a:extLst>
          </p:cNvPr>
          <p:cNvSpPr>
            <a:spLocks noGrp="1" noChangeArrowheads="1"/>
          </p:cNvSpPr>
          <p:nvPr>
            <p:ph type="title"/>
          </p:nvPr>
        </p:nvSpPr>
        <p:spPr bwMode="auto">
          <a:xfrm>
            <a:off x="228600" y="303213"/>
            <a:ext cx="7796213"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3085" name="Rectangle 13">
            <a:extLst>
              <a:ext uri="{FF2B5EF4-FFF2-40B4-BE49-F238E27FC236}">
                <a16:creationId xmlns:a16="http://schemas.microsoft.com/office/drawing/2014/main" id="{C46E5562-8FB5-0F52-6E7A-449EF9497FCE}"/>
              </a:ext>
            </a:extLst>
          </p:cNvPr>
          <p:cNvSpPr>
            <a:spLocks noGrp="1" noChangeArrowheads="1"/>
          </p:cNvSpPr>
          <p:nvPr>
            <p:ph type="sldNum" sz="quarter" idx="4"/>
          </p:nvPr>
        </p:nvSpPr>
        <p:spPr bwMode="auto">
          <a:xfrm>
            <a:off x="693420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b="1">
                <a:solidFill>
                  <a:srgbClr val="990033"/>
                </a:solidFill>
              </a:defRPr>
            </a:lvl1pPr>
          </a:lstStyle>
          <a:p>
            <a:r>
              <a:rPr lang="en-US" altLang="en-US"/>
              <a:t>Slide 3- </a:t>
            </a:r>
            <a:fld id="{63556D4A-20FD-4670-83D8-56E03A0EB71B}" type="slidenum">
              <a:rPr lang="en-US" altLang="en-US"/>
              <a:pPr/>
              <a:t>‹#›</a:t>
            </a:fld>
            <a:endParaRPr lang="en-CA" altLang="en-US"/>
          </a:p>
        </p:txBody>
      </p:sp>
      <p:sp>
        <p:nvSpPr>
          <p:cNvPr id="1030" name="Rectangle 21">
            <a:extLst>
              <a:ext uri="{FF2B5EF4-FFF2-40B4-BE49-F238E27FC236}">
                <a16:creationId xmlns:a16="http://schemas.microsoft.com/office/drawing/2014/main" id="{4D4C38C0-AB0B-5EE1-DF6E-7A365721C1CA}"/>
              </a:ext>
            </a:extLst>
          </p:cNvPr>
          <p:cNvSpPr>
            <a:spLocks noGrp="1" noChangeArrowheads="1"/>
          </p:cNvSpPr>
          <p:nvPr>
            <p:ph type="body" idx="1"/>
          </p:nvPr>
        </p:nvSpPr>
        <p:spPr bwMode="auto">
          <a:xfrm>
            <a:off x="239713" y="1600200"/>
            <a:ext cx="8294687"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1" name="Rectangle 30">
            <a:extLst>
              <a:ext uri="{FF2B5EF4-FFF2-40B4-BE49-F238E27FC236}">
                <a16:creationId xmlns:a16="http://schemas.microsoft.com/office/drawing/2014/main" id="{0F559BED-7145-F311-A90C-9CE1CCA44A4D}"/>
              </a:ext>
            </a:extLst>
          </p:cNvPr>
          <p:cNvSpPr>
            <a:spLocks noChangeArrowheads="1"/>
          </p:cNvSpPr>
          <p:nvPr/>
        </p:nvSpPr>
        <p:spPr bwMode="auto">
          <a:xfrm>
            <a:off x="838200" y="6397625"/>
            <a:ext cx="449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900"/>
              <a:t>Copyright © 2016 Ramez Elmasr and Shamkant B. Navathei</a:t>
            </a:r>
          </a:p>
        </p:txBody>
      </p:sp>
    </p:spTree>
  </p:cSld>
  <p:clrMap bg1="lt1" tx1="dk1" bg2="lt2" tx2="dk2" accent1="accent1" accent2="accent2" accent3="accent3" accent4="accent4" accent5="accent5" accent6="accent6" hlink="hlink" folHlink="folHlink"/>
  <p:sldLayoutIdLst>
    <p:sldLayoutId id="2147483756"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7" r:id="rId12"/>
  </p:sldLayoutIdLst>
  <p:transition spd="med"/>
  <p:hf hdr="0"/>
  <p:txStyles>
    <p:titleStyle>
      <a:lvl1pPr algn="l" rtl="0" eaLnBrk="0" fontAlgn="base" hangingPunct="0">
        <a:spcBef>
          <a:spcPct val="0"/>
        </a:spcBef>
        <a:spcAft>
          <a:spcPct val="0"/>
        </a:spcAft>
        <a:defRPr sz="3600">
          <a:solidFill>
            <a:srgbClr val="800000"/>
          </a:solidFill>
          <a:latin typeface="+mj-lt"/>
          <a:ea typeface="MS PGothic" panose="020B0600070205080204" pitchFamily="34" charset="-128"/>
          <a:cs typeface="ＭＳ Ｐゴシック" charset="0"/>
        </a:defRPr>
      </a:lvl1pPr>
      <a:lvl2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ＭＳ Ｐゴシック" charset="0"/>
        </a:defRPr>
      </a:lvl2pPr>
      <a:lvl3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ＭＳ Ｐゴシック" charset="0"/>
        </a:defRPr>
      </a:lvl3pPr>
      <a:lvl4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ＭＳ Ｐゴシック" charset="0"/>
        </a:defRPr>
      </a:lvl4pPr>
      <a:lvl5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ＭＳ Ｐゴシック" charset="0"/>
        </a:defRPr>
      </a:lvl5pPr>
      <a:lvl6pPr marL="457200" algn="l" rtl="0" fontAlgn="base">
        <a:spcBef>
          <a:spcPct val="0"/>
        </a:spcBef>
        <a:spcAft>
          <a:spcPct val="0"/>
        </a:spcAft>
        <a:defRPr sz="3600">
          <a:solidFill>
            <a:srgbClr val="800000"/>
          </a:solidFill>
          <a:latin typeface="Arial" charset="0"/>
        </a:defRPr>
      </a:lvl6pPr>
      <a:lvl7pPr marL="914400" algn="l" rtl="0" fontAlgn="base">
        <a:spcBef>
          <a:spcPct val="0"/>
        </a:spcBef>
        <a:spcAft>
          <a:spcPct val="0"/>
        </a:spcAft>
        <a:defRPr sz="3600">
          <a:solidFill>
            <a:srgbClr val="800000"/>
          </a:solidFill>
          <a:latin typeface="Arial" charset="0"/>
        </a:defRPr>
      </a:lvl7pPr>
      <a:lvl8pPr marL="1371600" algn="l" rtl="0" fontAlgn="base">
        <a:spcBef>
          <a:spcPct val="0"/>
        </a:spcBef>
        <a:spcAft>
          <a:spcPct val="0"/>
        </a:spcAft>
        <a:defRPr sz="3600">
          <a:solidFill>
            <a:srgbClr val="800000"/>
          </a:solidFill>
          <a:latin typeface="Arial" charset="0"/>
        </a:defRPr>
      </a:lvl8pPr>
      <a:lvl9pPr marL="1828800" algn="l" rtl="0" fontAlgn="base">
        <a:spcBef>
          <a:spcPct val="0"/>
        </a:spcBef>
        <a:spcAft>
          <a:spcPct val="0"/>
        </a:spcAft>
        <a:defRPr sz="3600">
          <a:solidFill>
            <a:srgbClr val="800000"/>
          </a:solidFill>
          <a:latin typeface="Arial" charset="0"/>
        </a:defRPr>
      </a:lvl9pPr>
    </p:titleStyle>
    <p:bodyStyle>
      <a:lvl1pPr marL="342900" indent="-342900" algn="l" rtl="0" eaLnBrk="0" fontAlgn="base" hangingPunct="0">
        <a:spcBef>
          <a:spcPct val="20000"/>
        </a:spcBef>
        <a:spcAft>
          <a:spcPct val="0"/>
        </a:spcAft>
        <a:buClr>
          <a:srgbClr val="990033"/>
        </a:buClr>
        <a:buSzPct val="60000"/>
        <a:buFont typeface="Wingdings" panose="05000000000000000000" pitchFamily="2" charset="2"/>
        <a:buChar char="n"/>
        <a:defRPr sz="2800">
          <a:solidFill>
            <a:schemeClr val="tx2"/>
          </a:solidFill>
          <a:latin typeface="+mn-lt"/>
          <a:ea typeface="MS PGothic" panose="020B0600070205080204" pitchFamily="34" charset="-128"/>
          <a:cs typeface="ＭＳ Ｐゴシック" charset="0"/>
        </a:defRPr>
      </a:lvl1pPr>
      <a:lvl2pPr marL="742950" indent="-285750" algn="l" rtl="0" eaLnBrk="0" fontAlgn="base" hangingPunct="0">
        <a:spcBef>
          <a:spcPct val="20000"/>
        </a:spcBef>
        <a:spcAft>
          <a:spcPct val="0"/>
        </a:spcAft>
        <a:buClr>
          <a:schemeClr val="tx2"/>
        </a:buClr>
        <a:buSzPct val="55000"/>
        <a:buFont typeface="Wingdings" panose="05000000000000000000" pitchFamily="2" charset="2"/>
        <a:buChar char="n"/>
        <a:defRPr sz="2600">
          <a:solidFill>
            <a:srgbClr val="800000"/>
          </a:solidFill>
          <a:latin typeface="+mn-lt"/>
          <a:ea typeface="MS PGothic" panose="020B0600070205080204" pitchFamily="34" charset="-128"/>
        </a:defRPr>
      </a:lvl2pPr>
      <a:lvl3pPr marL="1143000" indent="-228600" algn="l" rtl="0" eaLnBrk="0" fontAlgn="base" hangingPunct="0">
        <a:spcBef>
          <a:spcPct val="20000"/>
        </a:spcBef>
        <a:spcAft>
          <a:spcPct val="0"/>
        </a:spcAft>
        <a:buClr>
          <a:srgbClr val="990033"/>
        </a:buClr>
        <a:buSzPct val="50000"/>
        <a:buFont typeface="Wingdings" panose="05000000000000000000" pitchFamily="2" charset="2"/>
        <a:buChar char="n"/>
        <a:defRPr sz="2400">
          <a:solidFill>
            <a:schemeClr val="tx2"/>
          </a:solidFill>
          <a:latin typeface="+mn-lt"/>
          <a:ea typeface="MS PGothic" panose="020B0600070205080204" pitchFamily="34" charset="-128"/>
        </a:defRPr>
      </a:lvl3pPr>
      <a:lvl4pPr marL="1600200" indent="-228600" algn="l" rtl="0" eaLnBrk="0" fontAlgn="base" hangingPunct="0">
        <a:spcBef>
          <a:spcPct val="20000"/>
        </a:spcBef>
        <a:spcAft>
          <a:spcPct val="0"/>
        </a:spcAft>
        <a:buClr>
          <a:schemeClr val="tx2"/>
        </a:buClr>
        <a:buSzPct val="55000"/>
        <a:buFont typeface="Wingdings" panose="05000000000000000000" pitchFamily="2" charset="2"/>
        <a:buChar char="n"/>
        <a:defRPr sz="2000">
          <a:solidFill>
            <a:srgbClr val="800000"/>
          </a:solidFill>
          <a:latin typeface="+mn-lt"/>
          <a:ea typeface="MS PGothic" panose="020B0600070205080204" pitchFamily="34" charset="-128"/>
        </a:defRPr>
      </a:lvl4pPr>
      <a:lvl5pPr marL="2057400" indent="-228600" algn="l" rtl="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mn-lt"/>
          <a:ea typeface="MS PGothic" panose="020B0600070205080204" pitchFamily="34" charset="-128"/>
        </a:defRPr>
      </a:lvl5pPr>
      <a:lvl6pPr marL="25146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6pPr>
      <a:lvl7pPr marL="29718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7pPr>
      <a:lvl8pPr marL="34290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8pPr>
      <a:lvl9pPr marL="38862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pbs.org/empires/islam/innoalgebra.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image" Target="../media/image10.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emf"/><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1.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18.emf"/><Relationship Id="rId4" Type="http://schemas.openxmlformats.org/officeDocument/2006/relationships/image" Target="../media/image17.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4.jpeg"/><Relationship Id="rId7" Type="http://schemas.openxmlformats.org/officeDocument/2006/relationships/image" Target="../media/image28.png"/><Relationship Id="rId2" Type="http://schemas.openxmlformats.org/officeDocument/2006/relationships/image" Target="../media/image26.jpeg"/><Relationship Id="rId1" Type="http://schemas.openxmlformats.org/officeDocument/2006/relationships/slideLayout" Target="../slideLayouts/slideLayout6.xml"/><Relationship Id="rId6" Type="http://schemas.openxmlformats.org/officeDocument/2006/relationships/customXml" Target="../ink/ink2.xml"/><Relationship Id="rId5" Type="http://schemas.openxmlformats.org/officeDocument/2006/relationships/image" Target="../media/image27.png"/><Relationship Id="rId4" Type="http://schemas.openxmlformats.org/officeDocument/2006/relationships/customXml" Target="../ink/ink1.xml"/></Relationships>
</file>

<file path=ppt/slides/_rels/slide3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39.emf"/><Relationship Id="rId3" Type="http://schemas.openxmlformats.org/officeDocument/2006/relationships/image" Target="../media/image34.png"/><Relationship Id="rId7" Type="http://schemas.openxmlformats.org/officeDocument/2006/relationships/image" Target="../media/image38.emf"/><Relationship Id="rId2" Type="http://schemas.openxmlformats.org/officeDocument/2006/relationships/notesSlide" Target="../notesSlides/notesSlide36.xml"/><Relationship Id="rId1" Type="http://schemas.openxmlformats.org/officeDocument/2006/relationships/slideLayout" Target="../slideLayouts/slideLayout6.xml"/><Relationship Id="rId6" Type="http://schemas.openxmlformats.org/officeDocument/2006/relationships/image" Target="../media/image37.emf"/><Relationship Id="rId5" Type="http://schemas.openxmlformats.org/officeDocument/2006/relationships/image" Target="../media/image36.emf"/><Relationship Id="rId4" Type="http://schemas.openxmlformats.org/officeDocument/2006/relationships/image" Target="../media/image35.emf"/></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6.xml"/></Relationships>
</file>

<file path=ppt/slides/_rels/slide142.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6.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6.xml"/></Relationships>
</file>

<file path=ppt/slides/_rels/slide15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microsoft.com/office/2007/relationships/hdphoto" Target="../media/hdphoto1.wdp"/></Relationships>
</file>

<file path=ppt/slides/_rels/slide154.xml.rels><?xml version="1.0" encoding="UTF-8" standalone="yes"?>
<Relationships xmlns="http://schemas.openxmlformats.org/package/2006/relationships"><Relationship Id="rId2" Type="http://schemas.openxmlformats.org/officeDocument/2006/relationships/image" Target="../media/image73.emf"/><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74.emf"/><Relationship Id="rId1" Type="http://schemas.openxmlformats.org/officeDocument/2006/relationships/slideLayout" Target="../slideLayouts/slideLayout6.xml"/></Relationships>
</file>

<file path=ppt/slides/_rels/slide156.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75.emf"/><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image" Target="../media/image77.emf"/><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3" Type="http://schemas.openxmlformats.org/officeDocument/2006/relationships/image" Target="../media/image81.emf"/><Relationship Id="rId2" Type="http://schemas.openxmlformats.org/officeDocument/2006/relationships/image" Target="../media/image80.emf"/><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82.emf"/><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0670" y="195789"/>
            <a:ext cx="6946690" cy="970298"/>
          </a:xfrm>
          <a:prstGeom prst="rect">
            <a:avLst/>
          </a:prstGeom>
        </p:spPr>
        <p:txBody>
          <a:bodyPr vert="horz" wrap="square" lIns="0" tIns="71914" rIns="0" bIns="0" numCol="1" rtlCol="0" anchor="b" anchorCtr="0" compatLnSpc="1">
            <a:prstTxWarp prst="textNoShape">
              <a:avLst/>
            </a:prstTxWarp>
            <a:spAutoFit/>
          </a:bodyPr>
          <a:lstStyle/>
          <a:p>
            <a:pPr marR="3810" indent="9525" algn="ctr">
              <a:lnSpc>
                <a:spcPts val="3510"/>
              </a:lnSpc>
              <a:spcBef>
                <a:spcPts val="566"/>
              </a:spcBef>
            </a:pPr>
            <a:r>
              <a:rPr lang="en-US" spc="-8" dirty="0"/>
              <a:t>Database</a:t>
            </a:r>
            <a:r>
              <a:rPr lang="en-US" spc="-135" dirty="0"/>
              <a:t> </a:t>
            </a:r>
            <a:r>
              <a:rPr lang="en-US" spc="-8" dirty="0"/>
              <a:t>Management</a:t>
            </a:r>
            <a:r>
              <a:rPr lang="en-US" spc="-131" dirty="0"/>
              <a:t> </a:t>
            </a:r>
            <a:r>
              <a:rPr lang="en-US" spc="-8" dirty="0"/>
              <a:t>Systems</a:t>
            </a:r>
            <a:br>
              <a:rPr lang="en-US" spc="-8" dirty="0"/>
            </a:br>
            <a:r>
              <a:rPr lang="en-US" dirty="0"/>
              <a:t>CS</a:t>
            </a:r>
            <a:r>
              <a:rPr lang="en-US" spc="-4" dirty="0"/>
              <a:t> </a:t>
            </a:r>
            <a:r>
              <a:rPr lang="en-US" spc="-15" dirty="0"/>
              <a:t>5200</a:t>
            </a:r>
          </a:p>
        </p:txBody>
      </p:sp>
      <p:sp>
        <p:nvSpPr>
          <p:cNvPr id="8" name="Content Placeholder 7">
            <a:extLst>
              <a:ext uri="{FF2B5EF4-FFF2-40B4-BE49-F238E27FC236}">
                <a16:creationId xmlns:a16="http://schemas.microsoft.com/office/drawing/2014/main" id="{0EEEC073-C300-0BA6-BF8F-5EADB71A0948}"/>
              </a:ext>
            </a:extLst>
          </p:cNvPr>
          <p:cNvSpPr>
            <a:spLocks noGrp="1"/>
          </p:cNvSpPr>
          <p:nvPr>
            <p:ph idx="1"/>
          </p:nvPr>
        </p:nvSpPr>
        <p:spPr>
          <a:xfrm>
            <a:off x="239713" y="1828800"/>
            <a:ext cx="8294687" cy="4660256"/>
          </a:xfrm>
        </p:spPr>
        <p:txBody>
          <a:bodyPr>
            <a:normAutofit/>
          </a:bodyPr>
          <a:lstStyle/>
          <a:p>
            <a:r>
              <a:rPr lang="en-US" dirty="0"/>
              <a:t>Announcements:</a:t>
            </a:r>
          </a:p>
        </p:txBody>
      </p:sp>
      <p:sp>
        <p:nvSpPr>
          <p:cNvPr id="3" name="object 3"/>
          <p:cNvSpPr txBox="1"/>
          <p:nvPr/>
        </p:nvSpPr>
        <p:spPr>
          <a:xfrm>
            <a:off x="216640" y="1039964"/>
            <a:ext cx="1764030" cy="375583"/>
          </a:xfrm>
          <a:prstGeom prst="rect">
            <a:avLst/>
          </a:prstGeom>
        </p:spPr>
        <p:txBody>
          <a:bodyPr vert="horz" wrap="square" lIns="0" tIns="97631" rIns="0" bIns="0" rtlCol="0">
            <a:spAutoFit/>
          </a:bodyPr>
          <a:lstStyle/>
          <a:p>
            <a:pPr marL="9525" algn="ctr">
              <a:spcBef>
                <a:spcPts val="769"/>
              </a:spcBef>
            </a:pPr>
            <a:r>
              <a:rPr lang="en-US" sz="1800" spc="-56" dirty="0">
                <a:latin typeface="Calibri"/>
                <a:cs typeface="Calibri"/>
              </a:rPr>
              <a:t>Rached Zantout</a:t>
            </a:r>
            <a:endParaRPr sz="1800" dirty="0">
              <a:latin typeface="Calibri"/>
              <a:cs typeface="Calibri"/>
            </a:endParaRPr>
          </a:p>
        </p:txBody>
      </p:sp>
      <p:pic>
        <p:nvPicPr>
          <p:cNvPr id="4" name="object 4"/>
          <p:cNvPicPr/>
          <p:nvPr/>
        </p:nvPicPr>
        <p:blipFill>
          <a:blip r:embed="rId2" cstate="print"/>
          <a:stretch>
            <a:fillRect/>
          </a:stretch>
        </p:blipFill>
        <p:spPr>
          <a:xfrm>
            <a:off x="60542" y="437481"/>
            <a:ext cx="2076226" cy="588263"/>
          </a:xfrm>
          <a:prstGeom prst="rect">
            <a:avLst/>
          </a:prstGeom>
        </p:spPr>
      </p:pic>
      <p:sp>
        <p:nvSpPr>
          <p:cNvPr id="9" name="Rectangle 8">
            <a:extLst>
              <a:ext uri="{FF2B5EF4-FFF2-40B4-BE49-F238E27FC236}">
                <a16:creationId xmlns:a16="http://schemas.microsoft.com/office/drawing/2014/main" id="{C3E3999D-FC03-C440-417E-02768230A0F2}"/>
              </a:ext>
            </a:extLst>
          </p:cNvPr>
          <p:cNvSpPr/>
          <p:nvPr/>
        </p:nvSpPr>
        <p:spPr bwMode="auto">
          <a:xfrm>
            <a:off x="838200" y="6629400"/>
            <a:ext cx="3200400" cy="2286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5" name="Slide Number Placeholder 4">
            <a:extLst>
              <a:ext uri="{FF2B5EF4-FFF2-40B4-BE49-F238E27FC236}">
                <a16:creationId xmlns:a16="http://schemas.microsoft.com/office/drawing/2014/main" id="{CE9A03E2-6228-9F18-8E03-E94DA40D9E62}"/>
              </a:ext>
            </a:extLst>
          </p:cNvPr>
          <p:cNvSpPr>
            <a:spLocks noGrp="1"/>
          </p:cNvSpPr>
          <p:nvPr>
            <p:ph type="sldNum" sz="quarter" idx="10"/>
          </p:nvPr>
        </p:nvSpPr>
        <p:spPr/>
        <p:txBody>
          <a:bodyPr/>
          <a:lstStyle/>
          <a:p>
            <a:r>
              <a:rPr lang="en-US" altLang="en-US"/>
              <a:t>Slide 3- </a:t>
            </a:r>
            <a:fld id="{6D11F7FA-F962-4577-ADCF-9A3DA7313C6D}" type="slidenum">
              <a:rPr lang="en-US" altLang="en-US" smtClean="0"/>
              <a:pPr/>
              <a:t>1</a:t>
            </a:fld>
            <a:endParaRPr lang="en-CA" altLang="en-US"/>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AD23E-E664-BCCC-E837-3E07001F972D}"/>
              </a:ext>
            </a:extLst>
          </p:cNvPr>
          <p:cNvSpPr>
            <a:spLocks noGrp="1"/>
          </p:cNvSpPr>
          <p:nvPr>
            <p:ph type="title"/>
          </p:nvPr>
        </p:nvSpPr>
        <p:spPr>
          <a:xfrm>
            <a:off x="721108" y="381000"/>
            <a:ext cx="7768590" cy="507831"/>
          </a:xfrm>
        </p:spPr>
        <p:txBody>
          <a:bodyPr/>
          <a:lstStyle/>
          <a:p>
            <a:pPr algn="ctr"/>
            <a:r>
              <a:rPr lang="en-US" dirty="0"/>
              <a:t>Plan for Today</a:t>
            </a:r>
          </a:p>
        </p:txBody>
      </p:sp>
      <p:sp>
        <p:nvSpPr>
          <p:cNvPr id="3" name="Text Placeholder 2">
            <a:extLst>
              <a:ext uri="{FF2B5EF4-FFF2-40B4-BE49-F238E27FC236}">
                <a16:creationId xmlns:a16="http://schemas.microsoft.com/office/drawing/2014/main" id="{00762D3C-C916-098A-F0BA-4594AC0AA438}"/>
              </a:ext>
            </a:extLst>
          </p:cNvPr>
          <p:cNvSpPr>
            <a:spLocks noGrp="1"/>
          </p:cNvSpPr>
          <p:nvPr>
            <p:ph type="body" idx="1"/>
          </p:nvPr>
        </p:nvSpPr>
        <p:spPr>
          <a:xfrm>
            <a:off x="457200" y="1756459"/>
            <a:ext cx="8153400" cy="4800600"/>
          </a:xfrm>
        </p:spPr>
        <p:txBody>
          <a:bodyPr>
            <a:normAutofit/>
          </a:bodyPr>
          <a:lstStyle/>
          <a:p>
            <a:pPr>
              <a:lnSpc>
                <a:spcPct val="150000"/>
              </a:lnSpc>
            </a:pPr>
            <a:r>
              <a:rPr lang="en-US" sz="1800" dirty="0"/>
              <a:t>Module 8: Relational Algebra Chapter 08 (75 minutes)</a:t>
            </a:r>
          </a:p>
          <a:p>
            <a:pPr>
              <a:lnSpc>
                <a:spcPct val="150000"/>
              </a:lnSpc>
            </a:pPr>
            <a:r>
              <a:rPr lang="en-US" sz="1800" dirty="0"/>
              <a:t>Discussion (15 minutes)</a:t>
            </a:r>
          </a:p>
          <a:p>
            <a:pPr lvl="1">
              <a:lnSpc>
                <a:spcPct val="150000"/>
              </a:lnSpc>
            </a:pPr>
            <a:r>
              <a:rPr lang="en-US" sz="1800" dirty="0"/>
              <a:t>Class Activity: </a:t>
            </a:r>
          </a:p>
          <a:p>
            <a:pPr>
              <a:lnSpc>
                <a:spcPct val="150000"/>
              </a:lnSpc>
            </a:pPr>
            <a:r>
              <a:rPr lang="en-US" sz="1800" dirty="0"/>
              <a:t>Break (20 minutes)</a:t>
            </a:r>
          </a:p>
          <a:p>
            <a:pPr>
              <a:lnSpc>
                <a:spcPct val="150000"/>
              </a:lnSpc>
            </a:pPr>
            <a:r>
              <a:rPr lang="en-US" sz="1800" dirty="0"/>
              <a:t>Module 8: Chapter 07 (75 minutes)</a:t>
            </a:r>
          </a:p>
          <a:p>
            <a:pPr lvl="1">
              <a:lnSpc>
                <a:spcPct val="150000"/>
              </a:lnSpc>
            </a:pPr>
            <a:r>
              <a:rPr lang="en-US" sz="1800" dirty="0"/>
              <a:t>Views, Triggers, Schema Change Statements</a:t>
            </a:r>
          </a:p>
          <a:p>
            <a:pPr>
              <a:lnSpc>
                <a:spcPct val="150000"/>
              </a:lnSpc>
            </a:pPr>
            <a:r>
              <a:rPr lang="en-US" sz="1800" dirty="0"/>
              <a:t>Discussion (10 minutes)</a:t>
            </a:r>
          </a:p>
          <a:p>
            <a:pPr lvl="1">
              <a:lnSpc>
                <a:spcPct val="150000"/>
              </a:lnSpc>
            </a:pPr>
            <a:r>
              <a:rPr lang="en-US" sz="1800" dirty="0"/>
              <a:t>Class Activity: </a:t>
            </a:r>
          </a:p>
          <a:p>
            <a:pPr lvl="1">
              <a:lnSpc>
                <a:spcPct val="150000"/>
              </a:lnSpc>
            </a:pPr>
            <a:r>
              <a:rPr lang="en-US" sz="1800" dirty="0"/>
              <a:t>Review Deliverables (5 minutes)</a:t>
            </a:r>
          </a:p>
        </p:txBody>
      </p:sp>
      <p:sp>
        <p:nvSpPr>
          <p:cNvPr id="6" name="Slide Number Placeholder 5">
            <a:extLst>
              <a:ext uri="{FF2B5EF4-FFF2-40B4-BE49-F238E27FC236}">
                <a16:creationId xmlns:a16="http://schemas.microsoft.com/office/drawing/2014/main" id="{2CF49940-2FEB-61DC-5559-F0EF75A94C53}"/>
              </a:ext>
            </a:extLst>
          </p:cNvPr>
          <p:cNvSpPr>
            <a:spLocks noGrp="1"/>
          </p:cNvSpPr>
          <p:nvPr>
            <p:ph type="sldNum" sz="quarter" idx="7"/>
          </p:nvPr>
        </p:nvSpPr>
        <p:spPr>
          <a:xfrm>
            <a:off x="11092815" y="6428920"/>
            <a:ext cx="219075" cy="211454"/>
          </a:xfrm>
          <a:prstGeom prst="rect">
            <a:avLst/>
          </a:prstGeom>
        </p:spPr>
        <p:txBody>
          <a:bodyPr wrap="square" lIns="0" tIns="0" rIns="0" bIns="0">
            <a:spAutoFit/>
          </a:bodyPr>
          <a:lstStyle>
            <a:defPPr>
              <a:defRPr kern="0"/>
            </a:defPPr>
            <a:lvl1pPr>
              <a:defRPr sz="1200" b="0" i="0">
                <a:solidFill>
                  <a:srgbClr val="898989"/>
                </a:solidFill>
                <a:latin typeface="Calibri"/>
                <a:cs typeface="Calibri"/>
              </a:defRPr>
            </a:lvl1pPr>
          </a:lstStyle>
          <a:p>
            <a:pPr marL="12700">
              <a:spcBef>
                <a:spcPts val="40"/>
              </a:spcBef>
            </a:pPr>
            <a:fld id="{81D60167-4931-47E6-BA6A-407CBD079E47}" type="slidenum">
              <a:rPr lang="en-US" spc="-25" smtClean="0"/>
              <a:pPr marL="12700">
                <a:spcBef>
                  <a:spcPts val="40"/>
                </a:spcBef>
              </a:pPr>
              <a:t>2</a:t>
            </a:fld>
            <a:endParaRPr lang="en-US" spc="-19" dirty="0"/>
          </a:p>
        </p:txBody>
      </p:sp>
      <p:sp>
        <p:nvSpPr>
          <p:cNvPr id="7" name="Rectangle 6">
            <a:extLst>
              <a:ext uri="{FF2B5EF4-FFF2-40B4-BE49-F238E27FC236}">
                <a16:creationId xmlns:a16="http://schemas.microsoft.com/office/drawing/2014/main" id="{EA6A7182-3D9C-7185-025D-A602FB67F5EA}"/>
              </a:ext>
            </a:extLst>
          </p:cNvPr>
          <p:cNvSpPr/>
          <p:nvPr/>
        </p:nvSpPr>
        <p:spPr bwMode="auto">
          <a:xfrm>
            <a:off x="838200" y="6629400"/>
            <a:ext cx="3200400" cy="2286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40709819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8DA846E3-3CF4-3722-EB22-70A4B99A2512}"/>
              </a:ext>
            </a:extLst>
          </p:cNvPr>
          <p:cNvSpPr>
            <a:spLocks noGrp="1"/>
          </p:cNvSpPr>
          <p:nvPr>
            <p:ph type="title"/>
          </p:nvPr>
        </p:nvSpPr>
        <p:spPr/>
        <p:txBody>
          <a:bodyPr/>
          <a:lstStyle/>
          <a:p>
            <a:r>
              <a:rPr lang="en-US" altLang="en-US"/>
              <a:t> </a:t>
            </a:r>
          </a:p>
        </p:txBody>
      </p:sp>
      <p:sp>
        <p:nvSpPr>
          <p:cNvPr id="3" name="Content Placeholder 2">
            <a:extLst>
              <a:ext uri="{FF2B5EF4-FFF2-40B4-BE49-F238E27FC236}">
                <a16:creationId xmlns:a16="http://schemas.microsoft.com/office/drawing/2014/main" id="{A98AB4C9-30CE-726F-4812-CD1951C0251B}"/>
              </a:ext>
            </a:extLst>
          </p:cNvPr>
          <p:cNvSpPr>
            <a:spLocks noGrp="1"/>
          </p:cNvSpPr>
          <p:nvPr>
            <p:ph idx="1"/>
          </p:nvPr>
        </p:nvSpPr>
        <p:spPr>
          <a:xfrm>
            <a:off x="205154" y="762000"/>
            <a:ext cx="8294688" cy="4572000"/>
          </a:xfrm>
        </p:spPr>
        <p:txBody>
          <a:bodyPr/>
          <a:lstStyle/>
          <a:p>
            <a:pPr>
              <a:defRPr/>
            </a:pPr>
            <a:endParaRPr lang="en-US" dirty="0">
              <a:ea typeface="+mn-ea"/>
              <a:cs typeface="+mn-cs"/>
            </a:endParaRPr>
          </a:p>
          <a:p>
            <a:pPr>
              <a:defRPr/>
            </a:pPr>
            <a:endParaRPr lang="en-US" dirty="0">
              <a:ea typeface="+mn-ea"/>
              <a:cs typeface="+mn-cs"/>
            </a:endParaRPr>
          </a:p>
          <a:p>
            <a:pPr>
              <a:defRPr/>
            </a:pPr>
            <a:endParaRPr lang="en-US" dirty="0">
              <a:ea typeface="+mn-ea"/>
              <a:cs typeface="+mn-cs"/>
            </a:endParaRPr>
          </a:p>
          <a:p>
            <a:pPr marL="0" indent="0" algn="ctr">
              <a:buFont typeface="Wingdings" panose="05000000000000000000" pitchFamily="2" charset="2"/>
              <a:buNone/>
              <a:defRPr/>
            </a:pPr>
            <a:r>
              <a:rPr lang="en-US" sz="3200" b="1" dirty="0">
                <a:ea typeface="+mn-ea"/>
                <a:cs typeface="+mn-cs"/>
              </a:rPr>
              <a:t>CHAPTER 8</a:t>
            </a:r>
          </a:p>
          <a:p>
            <a:pPr marL="0" indent="0" algn="ctr">
              <a:buFont typeface="Wingdings" panose="05000000000000000000" pitchFamily="2" charset="2"/>
              <a:buNone/>
              <a:defRPr/>
            </a:pPr>
            <a:endParaRPr lang="en-US" sz="3200" b="1" dirty="0">
              <a:ea typeface="+mn-ea"/>
              <a:cs typeface="+mn-cs"/>
            </a:endParaRPr>
          </a:p>
          <a:p>
            <a:pPr marL="0" indent="0" algn="ctr">
              <a:buFont typeface="Wingdings" panose="05000000000000000000" pitchFamily="2" charset="2"/>
              <a:buNone/>
              <a:defRPr/>
            </a:pPr>
            <a:r>
              <a:rPr lang="en-US" sz="3600" b="1" dirty="0">
                <a:ea typeface="+mn-ea"/>
                <a:cs typeface="+mn-cs"/>
              </a:rPr>
              <a:t>The Relational Algebra and </a:t>
            </a:r>
          </a:p>
          <a:p>
            <a:pPr marL="0" indent="0" algn="ctr">
              <a:buFont typeface="Wingdings" panose="05000000000000000000" pitchFamily="2" charset="2"/>
              <a:buNone/>
              <a:defRPr/>
            </a:pPr>
            <a:r>
              <a:rPr lang="en-US" sz="3600" b="1" dirty="0">
                <a:ea typeface="+mn-ea"/>
                <a:cs typeface="+mn-cs"/>
              </a:rPr>
              <a:t>The Relational Calculus</a:t>
            </a:r>
          </a:p>
        </p:txBody>
      </p:sp>
      <p:sp>
        <p:nvSpPr>
          <p:cNvPr id="12292" name="Slide Number Placeholder 3">
            <a:extLst>
              <a:ext uri="{FF2B5EF4-FFF2-40B4-BE49-F238E27FC236}">
                <a16:creationId xmlns:a16="http://schemas.microsoft.com/office/drawing/2014/main" id="{15C4A563-502D-63DB-8B1B-9EE5CFBDE28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8- 2</a:t>
            </a:r>
            <a:endParaRPr lang="en-CA" altLang="en-US" sz="1400">
              <a:solidFill>
                <a:srgbClr val="990033"/>
              </a:solidFill>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a:extLst>
              <a:ext uri="{FF2B5EF4-FFF2-40B4-BE49-F238E27FC236}">
                <a16:creationId xmlns:a16="http://schemas.microsoft.com/office/drawing/2014/main" id="{BD02CFB5-B3D4-D836-DDD4-654E77D4A87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416A2E15-2464-40B8-BC6C-29467A449A4B}" type="slidenum">
              <a:rPr lang="en-US" altLang="en-US" sz="1400">
                <a:solidFill>
                  <a:srgbClr val="990033"/>
                </a:solidFill>
              </a:rPr>
              <a:pPr>
                <a:spcBef>
                  <a:spcPct val="0"/>
                </a:spcBef>
                <a:buClrTx/>
                <a:buSzTx/>
                <a:buFontTx/>
                <a:buNone/>
              </a:pPr>
              <a:t>4</a:t>
            </a:fld>
            <a:endParaRPr lang="en-CA" altLang="en-US" sz="1400">
              <a:solidFill>
                <a:srgbClr val="990033"/>
              </a:solidFill>
            </a:endParaRPr>
          </a:p>
        </p:txBody>
      </p:sp>
      <p:sp>
        <p:nvSpPr>
          <p:cNvPr id="13315" name="Rectangle 4">
            <a:extLst>
              <a:ext uri="{FF2B5EF4-FFF2-40B4-BE49-F238E27FC236}">
                <a16:creationId xmlns:a16="http://schemas.microsoft.com/office/drawing/2014/main" id="{F6EB6377-5122-6E09-C9E2-B0E73A97487A}"/>
              </a:ext>
            </a:extLst>
          </p:cNvPr>
          <p:cNvSpPr>
            <a:spLocks noGrp="1" noChangeArrowheads="1"/>
          </p:cNvSpPr>
          <p:nvPr>
            <p:ph type="title"/>
          </p:nvPr>
        </p:nvSpPr>
        <p:spPr>
          <a:noFill/>
        </p:spPr>
        <p:txBody>
          <a:bodyPr/>
          <a:lstStyle/>
          <a:p>
            <a:pPr eaLnBrk="1" hangingPunct="1"/>
            <a:r>
              <a:rPr lang="en-US" altLang="en-US" sz="3200"/>
              <a:t>Chapter Outline</a:t>
            </a:r>
          </a:p>
        </p:txBody>
      </p:sp>
      <p:sp>
        <p:nvSpPr>
          <p:cNvPr id="13316" name="Rectangle 5">
            <a:extLst>
              <a:ext uri="{FF2B5EF4-FFF2-40B4-BE49-F238E27FC236}">
                <a16:creationId xmlns:a16="http://schemas.microsoft.com/office/drawing/2014/main" id="{23DB74B3-4EBE-B4E2-E540-A7975EE8912B}"/>
              </a:ext>
            </a:extLst>
          </p:cNvPr>
          <p:cNvSpPr>
            <a:spLocks noGrp="1" noChangeArrowheads="1"/>
          </p:cNvSpPr>
          <p:nvPr>
            <p:ph type="body" idx="1"/>
          </p:nvPr>
        </p:nvSpPr>
        <p:spPr/>
        <p:txBody>
          <a:bodyPr/>
          <a:lstStyle/>
          <a:p>
            <a:pPr eaLnBrk="1" hangingPunct="1">
              <a:lnSpc>
                <a:spcPct val="90000"/>
              </a:lnSpc>
            </a:pPr>
            <a:r>
              <a:rPr lang="en-US" altLang="en-US" sz="2400" dirty="0"/>
              <a:t>Relational Algebra</a:t>
            </a:r>
          </a:p>
          <a:p>
            <a:pPr lvl="1" eaLnBrk="1" hangingPunct="1">
              <a:lnSpc>
                <a:spcPct val="90000"/>
              </a:lnSpc>
            </a:pPr>
            <a:r>
              <a:rPr lang="en-US" altLang="en-US" sz="2200" dirty="0"/>
              <a:t>Unary Relational Operations </a:t>
            </a:r>
          </a:p>
          <a:p>
            <a:pPr lvl="1" eaLnBrk="1" hangingPunct="1">
              <a:lnSpc>
                <a:spcPct val="90000"/>
              </a:lnSpc>
            </a:pPr>
            <a:r>
              <a:rPr lang="en-US" altLang="en-US" sz="2200" dirty="0"/>
              <a:t>Relational Algebra Operations From Set Theory</a:t>
            </a:r>
          </a:p>
          <a:p>
            <a:pPr lvl="1" eaLnBrk="1" hangingPunct="1">
              <a:lnSpc>
                <a:spcPct val="90000"/>
              </a:lnSpc>
            </a:pPr>
            <a:r>
              <a:rPr lang="en-US" altLang="en-US" sz="2200" dirty="0"/>
              <a:t>Binary Relational Operations</a:t>
            </a:r>
          </a:p>
          <a:p>
            <a:pPr lvl="1" eaLnBrk="1" hangingPunct="1">
              <a:lnSpc>
                <a:spcPct val="90000"/>
              </a:lnSpc>
            </a:pPr>
            <a:r>
              <a:rPr lang="en-US" altLang="en-US" sz="2200" dirty="0"/>
              <a:t>Additional Relational Operations</a:t>
            </a:r>
          </a:p>
          <a:p>
            <a:pPr lvl="1" eaLnBrk="1" hangingPunct="1">
              <a:lnSpc>
                <a:spcPct val="90000"/>
              </a:lnSpc>
            </a:pPr>
            <a:r>
              <a:rPr lang="en-US" altLang="en-US" sz="2200" dirty="0"/>
              <a:t>Examples of Queries in Relational Algebra</a:t>
            </a:r>
          </a:p>
          <a:p>
            <a:pPr eaLnBrk="1" hangingPunct="1">
              <a:lnSpc>
                <a:spcPct val="90000"/>
              </a:lnSpc>
            </a:pPr>
            <a:r>
              <a:rPr lang="en-US" altLang="en-US" sz="2400" dirty="0"/>
              <a:t>Relational Calculus</a:t>
            </a:r>
          </a:p>
          <a:p>
            <a:pPr lvl="1" eaLnBrk="1" hangingPunct="1">
              <a:lnSpc>
                <a:spcPct val="90000"/>
              </a:lnSpc>
            </a:pPr>
            <a:r>
              <a:rPr lang="en-US" altLang="en-US" sz="2200" dirty="0"/>
              <a:t>Tuple Relational Calculus</a:t>
            </a:r>
          </a:p>
          <a:p>
            <a:pPr lvl="1" eaLnBrk="1" hangingPunct="1">
              <a:lnSpc>
                <a:spcPct val="90000"/>
              </a:lnSpc>
            </a:pPr>
            <a:r>
              <a:rPr lang="en-US" altLang="en-US" sz="2200" dirty="0"/>
              <a:t>Domain Relational Calculus</a:t>
            </a:r>
          </a:p>
          <a:p>
            <a:pPr eaLnBrk="1" hangingPunct="1">
              <a:lnSpc>
                <a:spcPct val="90000"/>
              </a:lnSpc>
            </a:pPr>
            <a:r>
              <a:rPr lang="en-US" altLang="en-US" sz="2400" dirty="0"/>
              <a:t>Example Database Application (COMPANY)</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a:extLst>
              <a:ext uri="{FF2B5EF4-FFF2-40B4-BE49-F238E27FC236}">
                <a16:creationId xmlns:a16="http://schemas.microsoft.com/office/drawing/2014/main" id="{6C0016B3-9F39-ACF3-1E7B-4D6A4011D4E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C6C1C221-9DD4-4769-B9F8-05605D77894C}" type="slidenum">
              <a:rPr lang="en-US" altLang="en-US" sz="1400">
                <a:solidFill>
                  <a:srgbClr val="990033"/>
                </a:solidFill>
              </a:rPr>
              <a:pPr>
                <a:spcBef>
                  <a:spcPct val="0"/>
                </a:spcBef>
                <a:buClrTx/>
                <a:buSzTx/>
                <a:buFontTx/>
                <a:buNone/>
              </a:pPr>
              <a:t>5</a:t>
            </a:fld>
            <a:endParaRPr lang="en-CA" altLang="en-US" sz="1400">
              <a:solidFill>
                <a:srgbClr val="990033"/>
              </a:solidFill>
            </a:endParaRPr>
          </a:p>
        </p:txBody>
      </p:sp>
      <p:sp>
        <p:nvSpPr>
          <p:cNvPr id="16387" name="Rectangle 4">
            <a:extLst>
              <a:ext uri="{FF2B5EF4-FFF2-40B4-BE49-F238E27FC236}">
                <a16:creationId xmlns:a16="http://schemas.microsoft.com/office/drawing/2014/main" id="{D12E446D-2C63-B487-0EC8-A827D1A7D163}"/>
              </a:ext>
            </a:extLst>
          </p:cNvPr>
          <p:cNvSpPr>
            <a:spLocks noGrp="1" noChangeArrowheads="1"/>
          </p:cNvSpPr>
          <p:nvPr>
            <p:ph type="title"/>
          </p:nvPr>
        </p:nvSpPr>
        <p:spPr>
          <a:noFill/>
        </p:spPr>
        <p:txBody>
          <a:bodyPr/>
          <a:lstStyle/>
          <a:p>
            <a:pPr eaLnBrk="1" hangingPunct="1"/>
            <a:r>
              <a:rPr lang="en-US" altLang="en-US" sz="3200"/>
              <a:t>Brief History of Origins of Algebra</a:t>
            </a:r>
          </a:p>
        </p:txBody>
      </p:sp>
      <p:sp>
        <p:nvSpPr>
          <p:cNvPr id="16388" name="Rectangle 5">
            <a:extLst>
              <a:ext uri="{FF2B5EF4-FFF2-40B4-BE49-F238E27FC236}">
                <a16:creationId xmlns:a16="http://schemas.microsoft.com/office/drawing/2014/main" id="{BE68EDC3-074F-757B-32FF-8EF7D66890D9}"/>
              </a:ext>
            </a:extLst>
          </p:cNvPr>
          <p:cNvSpPr>
            <a:spLocks noGrp="1" noChangeArrowheads="1"/>
          </p:cNvSpPr>
          <p:nvPr>
            <p:ph type="body" idx="1"/>
          </p:nvPr>
        </p:nvSpPr>
        <p:spPr/>
        <p:txBody>
          <a:bodyPr/>
          <a:lstStyle/>
          <a:p>
            <a:pPr eaLnBrk="1" hangingPunct="1">
              <a:lnSpc>
                <a:spcPct val="80000"/>
              </a:lnSpc>
            </a:pPr>
            <a:r>
              <a:rPr lang="en-US" altLang="en-US" sz="2400"/>
              <a:t>Muhammad ibn Musa al-Khwarizmi (800-847 CE) – from Morocco wrote a book titled al-jabr about arithmetic of variables</a:t>
            </a:r>
          </a:p>
          <a:p>
            <a:pPr lvl="1" eaLnBrk="1" hangingPunct="1">
              <a:lnSpc>
                <a:spcPct val="80000"/>
              </a:lnSpc>
            </a:pPr>
            <a:r>
              <a:rPr lang="en-US" altLang="en-US" sz="2100"/>
              <a:t>Book was translated into Latin.</a:t>
            </a:r>
          </a:p>
          <a:p>
            <a:pPr lvl="1" eaLnBrk="1" hangingPunct="1">
              <a:lnSpc>
                <a:spcPct val="80000"/>
              </a:lnSpc>
            </a:pPr>
            <a:r>
              <a:rPr lang="en-US" altLang="en-US" sz="2100"/>
              <a:t>Its title (al-jabr) gave Algebra its name.</a:t>
            </a:r>
          </a:p>
          <a:p>
            <a:pPr lvl="1" eaLnBrk="1" hangingPunct="1">
              <a:lnSpc>
                <a:spcPct val="80000"/>
              </a:lnSpc>
              <a:buFont typeface="Wingdings" panose="05000000000000000000" pitchFamily="2" charset="2"/>
              <a:buNone/>
            </a:pPr>
            <a:endParaRPr lang="en-US" altLang="en-US" sz="2100"/>
          </a:p>
          <a:p>
            <a:pPr eaLnBrk="1" hangingPunct="1">
              <a:lnSpc>
                <a:spcPct val="80000"/>
              </a:lnSpc>
            </a:pPr>
            <a:r>
              <a:rPr lang="en-US" altLang="en-US" sz="2400"/>
              <a:t>Al-Khwarizmi called variables “shay”</a:t>
            </a:r>
          </a:p>
          <a:p>
            <a:pPr lvl="1" eaLnBrk="1" hangingPunct="1">
              <a:lnSpc>
                <a:spcPct val="80000"/>
              </a:lnSpc>
            </a:pPr>
            <a:r>
              <a:rPr lang="en-US" altLang="en-US" sz="2100"/>
              <a:t>“Shay” is Arabic for “thing”.</a:t>
            </a:r>
          </a:p>
          <a:p>
            <a:pPr lvl="1" eaLnBrk="1" hangingPunct="1">
              <a:lnSpc>
                <a:spcPct val="80000"/>
              </a:lnSpc>
            </a:pPr>
            <a:r>
              <a:rPr lang="en-US" altLang="en-US" sz="2100"/>
              <a:t>Spanish transliterated “shay” as “xay” (“x” was “sh” in Spain).</a:t>
            </a:r>
          </a:p>
          <a:p>
            <a:pPr lvl="1" eaLnBrk="1" hangingPunct="1">
              <a:lnSpc>
                <a:spcPct val="80000"/>
              </a:lnSpc>
            </a:pPr>
            <a:r>
              <a:rPr lang="en-US" altLang="en-US" sz="2100"/>
              <a:t>In time this word was abbreviated as x.</a:t>
            </a:r>
          </a:p>
          <a:p>
            <a:pPr lvl="1" eaLnBrk="1" hangingPunct="1">
              <a:lnSpc>
                <a:spcPct val="80000"/>
              </a:lnSpc>
              <a:buFont typeface="Wingdings" panose="05000000000000000000" pitchFamily="2" charset="2"/>
              <a:buNone/>
            </a:pPr>
            <a:endParaRPr lang="en-US" altLang="en-US" sz="2100"/>
          </a:p>
          <a:p>
            <a:pPr eaLnBrk="1" hangingPunct="1">
              <a:lnSpc>
                <a:spcPct val="80000"/>
              </a:lnSpc>
            </a:pPr>
            <a:r>
              <a:rPr lang="en-US" altLang="en-US" sz="2400"/>
              <a:t>Where does the word Algorithm come from?</a:t>
            </a:r>
          </a:p>
          <a:p>
            <a:pPr lvl="1" eaLnBrk="1" hangingPunct="1">
              <a:lnSpc>
                <a:spcPct val="80000"/>
              </a:lnSpc>
            </a:pPr>
            <a:r>
              <a:rPr lang="en-US" altLang="en-US" sz="2100"/>
              <a:t>Algorithm originates from “al-Khwarizmi"</a:t>
            </a:r>
          </a:p>
          <a:p>
            <a:pPr lvl="1" eaLnBrk="1" hangingPunct="1">
              <a:lnSpc>
                <a:spcPct val="80000"/>
              </a:lnSpc>
            </a:pPr>
            <a:r>
              <a:rPr lang="en-US" altLang="en-US" sz="2100"/>
              <a:t>Reference: PBS (</a:t>
            </a:r>
            <a:r>
              <a:rPr lang="en-US" altLang="en-US" sz="1700">
                <a:hlinkClick r:id="rId3"/>
              </a:rPr>
              <a:t>http://www.pbs.org/empires/islam/innoalgebra.html</a:t>
            </a:r>
            <a:r>
              <a:rPr lang="en-US" altLang="en-US" sz="2100"/>
              <a:t>)</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3">
            <a:extLst>
              <a:ext uri="{FF2B5EF4-FFF2-40B4-BE49-F238E27FC236}">
                <a16:creationId xmlns:a16="http://schemas.microsoft.com/office/drawing/2014/main" id="{3EEE1163-9741-5218-FF36-B01E4BD1DC5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A77B593C-E71B-4006-A4F8-1309D6CE0674}" type="slidenum">
              <a:rPr lang="en-US" altLang="en-US" sz="1400">
                <a:solidFill>
                  <a:srgbClr val="990033"/>
                </a:solidFill>
              </a:rPr>
              <a:pPr>
                <a:spcBef>
                  <a:spcPct val="0"/>
                </a:spcBef>
                <a:buClrTx/>
                <a:buSzTx/>
                <a:buFontTx/>
                <a:buNone/>
              </a:pPr>
              <a:t>6</a:t>
            </a:fld>
            <a:endParaRPr lang="en-CA" altLang="en-US" sz="1400">
              <a:solidFill>
                <a:srgbClr val="990033"/>
              </a:solidFill>
            </a:endParaRPr>
          </a:p>
        </p:txBody>
      </p:sp>
      <p:sp>
        <p:nvSpPr>
          <p:cNvPr id="14339" name="Rectangle 4">
            <a:extLst>
              <a:ext uri="{FF2B5EF4-FFF2-40B4-BE49-F238E27FC236}">
                <a16:creationId xmlns:a16="http://schemas.microsoft.com/office/drawing/2014/main" id="{90A487CA-6A74-7DC4-6B32-F345469D2E25}"/>
              </a:ext>
            </a:extLst>
          </p:cNvPr>
          <p:cNvSpPr>
            <a:spLocks noGrp="1" noChangeArrowheads="1"/>
          </p:cNvSpPr>
          <p:nvPr>
            <p:ph type="title"/>
          </p:nvPr>
        </p:nvSpPr>
        <p:spPr>
          <a:noFill/>
        </p:spPr>
        <p:txBody>
          <a:bodyPr/>
          <a:lstStyle/>
          <a:p>
            <a:pPr eaLnBrk="1" hangingPunct="1"/>
            <a:r>
              <a:rPr lang="en-US" altLang="en-US" sz="3200"/>
              <a:t>Relational Algebra Overview</a:t>
            </a:r>
          </a:p>
        </p:txBody>
      </p:sp>
      <p:sp>
        <p:nvSpPr>
          <p:cNvPr id="14340" name="Rectangle 5">
            <a:extLst>
              <a:ext uri="{FF2B5EF4-FFF2-40B4-BE49-F238E27FC236}">
                <a16:creationId xmlns:a16="http://schemas.microsoft.com/office/drawing/2014/main" id="{B9458FC9-9211-67FC-1C32-3FBF3A3B3C51}"/>
              </a:ext>
            </a:extLst>
          </p:cNvPr>
          <p:cNvSpPr>
            <a:spLocks noGrp="1" noChangeArrowheads="1"/>
          </p:cNvSpPr>
          <p:nvPr>
            <p:ph type="body" idx="1"/>
          </p:nvPr>
        </p:nvSpPr>
        <p:spPr/>
        <p:txBody>
          <a:bodyPr/>
          <a:lstStyle/>
          <a:p>
            <a:pPr eaLnBrk="1" hangingPunct="1"/>
            <a:r>
              <a:rPr lang="en-US" altLang="en-US" dirty="0"/>
              <a:t>Relational algebra is the basic set of operations for the relational model</a:t>
            </a:r>
          </a:p>
          <a:p>
            <a:pPr eaLnBrk="1" hangingPunct="1"/>
            <a:r>
              <a:rPr lang="en-US" altLang="en-US" sz="2700" dirty="0"/>
              <a:t>These operations enable a user to specify </a:t>
            </a:r>
            <a:r>
              <a:rPr lang="en-US" altLang="en-US" sz="2700" b="1" dirty="0"/>
              <a:t>basic retrieval requests</a:t>
            </a:r>
            <a:r>
              <a:rPr lang="en-US" altLang="en-US" sz="2700" dirty="0"/>
              <a:t> (or </a:t>
            </a:r>
            <a:r>
              <a:rPr lang="en-US" altLang="en-US" sz="2700" b="1" dirty="0"/>
              <a:t>queries</a:t>
            </a:r>
            <a:r>
              <a:rPr lang="en-US" altLang="en-US" sz="2700" dirty="0"/>
              <a:t>) </a:t>
            </a:r>
          </a:p>
          <a:p>
            <a:pPr eaLnBrk="1" hangingPunct="1"/>
            <a:r>
              <a:rPr lang="en-US" altLang="en-US" dirty="0"/>
              <a:t>The result of an operation is a </a:t>
            </a:r>
            <a:r>
              <a:rPr lang="en-US" altLang="en-US" i="1" dirty="0"/>
              <a:t>new relation</a:t>
            </a:r>
            <a:r>
              <a:rPr lang="en-US" altLang="en-US" dirty="0"/>
              <a:t>, which may have been formed from one or more </a:t>
            </a:r>
            <a:r>
              <a:rPr lang="en-US" altLang="en-US" i="1" dirty="0"/>
              <a:t>input</a:t>
            </a:r>
            <a:r>
              <a:rPr lang="en-US" altLang="en-US" dirty="0"/>
              <a:t> relations</a:t>
            </a:r>
          </a:p>
          <a:p>
            <a:pPr lvl="1" eaLnBrk="1" hangingPunct="1"/>
            <a:r>
              <a:rPr lang="en-US" altLang="en-US" dirty="0"/>
              <a:t>This property makes the algebra “closed” </a:t>
            </a:r>
          </a:p>
          <a:p>
            <a:pPr lvl="2" eaLnBrk="1" hangingPunct="1"/>
            <a:r>
              <a:rPr lang="en-US" altLang="en-US" dirty="0"/>
              <a:t>all objects in relational algebra are relations</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a:extLst>
              <a:ext uri="{FF2B5EF4-FFF2-40B4-BE49-F238E27FC236}">
                <a16:creationId xmlns:a16="http://schemas.microsoft.com/office/drawing/2014/main" id="{2C3A1BAC-D0BA-0D50-84F8-46418510644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EAE6DA75-4D6A-49A7-AAC9-77548EE4157E}" type="slidenum">
              <a:rPr lang="en-US" altLang="en-US" sz="1400">
                <a:solidFill>
                  <a:srgbClr val="990033"/>
                </a:solidFill>
              </a:rPr>
              <a:pPr>
                <a:spcBef>
                  <a:spcPct val="0"/>
                </a:spcBef>
                <a:buClrTx/>
                <a:buSzTx/>
                <a:buFontTx/>
                <a:buNone/>
              </a:pPr>
              <a:t>7</a:t>
            </a:fld>
            <a:endParaRPr lang="en-CA" altLang="en-US" sz="1400">
              <a:solidFill>
                <a:srgbClr val="990033"/>
              </a:solidFill>
            </a:endParaRPr>
          </a:p>
        </p:txBody>
      </p:sp>
      <p:sp>
        <p:nvSpPr>
          <p:cNvPr id="15363" name="Rectangle 2">
            <a:extLst>
              <a:ext uri="{FF2B5EF4-FFF2-40B4-BE49-F238E27FC236}">
                <a16:creationId xmlns:a16="http://schemas.microsoft.com/office/drawing/2014/main" id="{6704DE01-DCF9-5593-C960-34E58F6F050D}"/>
              </a:ext>
            </a:extLst>
          </p:cNvPr>
          <p:cNvSpPr>
            <a:spLocks noGrp="1" noChangeArrowheads="1"/>
          </p:cNvSpPr>
          <p:nvPr>
            <p:ph type="title"/>
          </p:nvPr>
        </p:nvSpPr>
        <p:spPr>
          <a:noFill/>
        </p:spPr>
        <p:txBody>
          <a:bodyPr/>
          <a:lstStyle/>
          <a:p>
            <a:pPr eaLnBrk="1" hangingPunct="1"/>
            <a:r>
              <a:rPr lang="en-US" altLang="en-US" sz="3200"/>
              <a:t>Relational Algebra Overview (continued)</a:t>
            </a:r>
          </a:p>
        </p:txBody>
      </p:sp>
      <p:sp>
        <p:nvSpPr>
          <p:cNvPr id="15364" name="Rectangle 3">
            <a:extLst>
              <a:ext uri="{FF2B5EF4-FFF2-40B4-BE49-F238E27FC236}">
                <a16:creationId xmlns:a16="http://schemas.microsoft.com/office/drawing/2014/main" id="{263AAE6D-5F2D-B353-8463-19078E0939A0}"/>
              </a:ext>
            </a:extLst>
          </p:cNvPr>
          <p:cNvSpPr>
            <a:spLocks noGrp="1" noChangeArrowheads="1"/>
          </p:cNvSpPr>
          <p:nvPr>
            <p:ph type="body" idx="1"/>
          </p:nvPr>
        </p:nvSpPr>
        <p:spPr/>
        <p:txBody>
          <a:bodyPr/>
          <a:lstStyle/>
          <a:p>
            <a:pPr eaLnBrk="1" hangingPunct="1"/>
            <a:r>
              <a:rPr lang="en-US" altLang="en-US"/>
              <a:t>The </a:t>
            </a:r>
            <a:r>
              <a:rPr lang="en-US" altLang="en-US" b="1"/>
              <a:t>algebra operations</a:t>
            </a:r>
            <a:r>
              <a:rPr lang="en-US" altLang="en-US"/>
              <a:t> thus produce new relations</a:t>
            </a:r>
          </a:p>
          <a:p>
            <a:pPr lvl="1" eaLnBrk="1" hangingPunct="1"/>
            <a:r>
              <a:rPr lang="en-US" altLang="en-US"/>
              <a:t>These can be further manipulated using operations of the same algebra</a:t>
            </a:r>
          </a:p>
          <a:p>
            <a:pPr eaLnBrk="1" hangingPunct="1"/>
            <a:r>
              <a:rPr lang="en-US" altLang="en-US"/>
              <a:t>A sequence of relational algebra operations forms a </a:t>
            </a:r>
            <a:r>
              <a:rPr lang="en-US" altLang="en-US" b="1"/>
              <a:t>relational algebra expression</a:t>
            </a:r>
          </a:p>
          <a:p>
            <a:pPr lvl="1" eaLnBrk="1" hangingPunct="1"/>
            <a:r>
              <a:rPr lang="en-US" altLang="en-US" sz="2500"/>
              <a:t>The result of a relational algebra expression is also a relation that represents the result of a database query (or retrieval request)</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a:extLst>
              <a:ext uri="{FF2B5EF4-FFF2-40B4-BE49-F238E27FC236}">
                <a16:creationId xmlns:a16="http://schemas.microsoft.com/office/drawing/2014/main" id="{C7546D60-E617-AA34-C370-2368595C103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B3B2B3B9-1F7C-47E3-AD15-0FDE3B11D014}" type="slidenum">
              <a:rPr lang="en-US" altLang="en-US" sz="1400">
                <a:solidFill>
                  <a:srgbClr val="990033"/>
                </a:solidFill>
              </a:rPr>
              <a:pPr>
                <a:spcBef>
                  <a:spcPct val="0"/>
                </a:spcBef>
                <a:buClrTx/>
                <a:buSzTx/>
                <a:buFontTx/>
                <a:buNone/>
              </a:pPr>
              <a:t>8</a:t>
            </a:fld>
            <a:endParaRPr lang="en-CA" altLang="en-US" sz="1400">
              <a:solidFill>
                <a:srgbClr val="990033"/>
              </a:solidFill>
            </a:endParaRPr>
          </a:p>
        </p:txBody>
      </p:sp>
      <p:sp>
        <p:nvSpPr>
          <p:cNvPr id="17411" name="Rectangle 2">
            <a:extLst>
              <a:ext uri="{FF2B5EF4-FFF2-40B4-BE49-F238E27FC236}">
                <a16:creationId xmlns:a16="http://schemas.microsoft.com/office/drawing/2014/main" id="{E51935E8-451E-B5A4-7AAD-F62173BAF810}"/>
              </a:ext>
            </a:extLst>
          </p:cNvPr>
          <p:cNvSpPr>
            <a:spLocks noGrp="1" noChangeArrowheads="1"/>
          </p:cNvSpPr>
          <p:nvPr>
            <p:ph type="title"/>
          </p:nvPr>
        </p:nvSpPr>
        <p:spPr>
          <a:noFill/>
        </p:spPr>
        <p:txBody>
          <a:bodyPr/>
          <a:lstStyle/>
          <a:p>
            <a:pPr eaLnBrk="1" hangingPunct="1"/>
            <a:r>
              <a:rPr lang="en-US" altLang="en-US" sz="3200"/>
              <a:t>Relational Algebra Overview</a:t>
            </a:r>
          </a:p>
        </p:txBody>
      </p:sp>
      <p:sp>
        <p:nvSpPr>
          <p:cNvPr id="17412" name="Rectangle 3">
            <a:extLst>
              <a:ext uri="{FF2B5EF4-FFF2-40B4-BE49-F238E27FC236}">
                <a16:creationId xmlns:a16="http://schemas.microsoft.com/office/drawing/2014/main" id="{4749564F-6DD5-56BB-539B-395D217EA34F}"/>
              </a:ext>
            </a:extLst>
          </p:cNvPr>
          <p:cNvSpPr>
            <a:spLocks noGrp="1" noChangeArrowheads="1"/>
          </p:cNvSpPr>
          <p:nvPr>
            <p:ph type="body" idx="1"/>
          </p:nvPr>
        </p:nvSpPr>
        <p:spPr/>
        <p:txBody>
          <a:bodyPr/>
          <a:lstStyle/>
          <a:p>
            <a:pPr eaLnBrk="1" hangingPunct="1">
              <a:lnSpc>
                <a:spcPct val="80000"/>
              </a:lnSpc>
            </a:pPr>
            <a:r>
              <a:rPr lang="en-US" altLang="en-US" sz="2000" dirty="0"/>
              <a:t>Relational Algebra consists of several groups of operations</a:t>
            </a:r>
          </a:p>
          <a:p>
            <a:pPr lvl="1" eaLnBrk="1" hangingPunct="1">
              <a:lnSpc>
                <a:spcPct val="80000"/>
              </a:lnSpc>
            </a:pPr>
            <a:r>
              <a:rPr lang="en-US" altLang="en-US" sz="2000" dirty="0"/>
              <a:t>Unary Relational Operations</a:t>
            </a:r>
          </a:p>
          <a:p>
            <a:pPr lvl="2" eaLnBrk="1" hangingPunct="1">
              <a:lnSpc>
                <a:spcPct val="80000"/>
              </a:lnSpc>
            </a:pPr>
            <a:r>
              <a:rPr lang="en-US" altLang="en-US" sz="1800" dirty="0"/>
              <a:t>SELECT (symbol: </a:t>
            </a:r>
            <a:r>
              <a:rPr lang="en-US" altLang="en-US" b="1" dirty="0">
                <a:latin typeface="Symbol" panose="05050102010706020507" pitchFamily="18" charset="2"/>
              </a:rPr>
              <a:t></a:t>
            </a:r>
            <a:r>
              <a:rPr lang="en-US" altLang="en-US" sz="1800" dirty="0"/>
              <a:t> (sigma))</a:t>
            </a:r>
          </a:p>
          <a:p>
            <a:pPr lvl="2" eaLnBrk="1" hangingPunct="1">
              <a:lnSpc>
                <a:spcPct val="80000"/>
              </a:lnSpc>
            </a:pPr>
            <a:r>
              <a:rPr lang="en-US" altLang="en-US" sz="1800" dirty="0"/>
              <a:t>PROJECT (symbol: </a:t>
            </a:r>
            <a:r>
              <a:rPr lang="en-US" altLang="en-US" sz="1800" b="1" dirty="0">
                <a:latin typeface="Symbol" panose="05050102010706020507" pitchFamily="18" charset="2"/>
              </a:rPr>
              <a:t> </a:t>
            </a:r>
            <a:r>
              <a:rPr lang="en-US" altLang="en-US" sz="1800" dirty="0"/>
              <a:t>(pi))</a:t>
            </a:r>
          </a:p>
          <a:p>
            <a:pPr lvl="2" eaLnBrk="1" hangingPunct="1">
              <a:lnSpc>
                <a:spcPct val="80000"/>
              </a:lnSpc>
            </a:pPr>
            <a:r>
              <a:rPr lang="en-US" altLang="en-US" sz="1800" dirty="0"/>
              <a:t>RENAME (symbol: </a:t>
            </a:r>
            <a:r>
              <a:rPr lang="en-US" altLang="en-US" sz="1800" b="1" dirty="0">
                <a:sym typeface="Symbol" panose="05050102010706020507" pitchFamily="18" charset="2"/>
              </a:rPr>
              <a:t></a:t>
            </a:r>
            <a:r>
              <a:rPr lang="en-US" altLang="en-US" sz="1800" dirty="0">
                <a:sym typeface="Symbol" panose="05050102010706020507" pitchFamily="18" charset="2"/>
              </a:rPr>
              <a:t> </a:t>
            </a:r>
            <a:r>
              <a:rPr lang="en-US" altLang="en-US" sz="1800" dirty="0"/>
              <a:t>(rho))</a:t>
            </a:r>
          </a:p>
          <a:p>
            <a:pPr lvl="1" eaLnBrk="1" hangingPunct="1">
              <a:lnSpc>
                <a:spcPct val="80000"/>
              </a:lnSpc>
            </a:pPr>
            <a:r>
              <a:rPr lang="en-US" altLang="en-US" sz="2000" dirty="0"/>
              <a:t>Operations From Set Theory</a:t>
            </a:r>
          </a:p>
          <a:p>
            <a:pPr lvl="2" eaLnBrk="1" hangingPunct="1">
              <a:lnSpc>
                <a:spcPct val="80000"/>
              </a:lnSpc>
            </a:pPr>
            <a:r>
              <a:rPr lang="en-US" altLang="en-US" sz="1800" dirty="0"/>
              <a:t>UNION ( </a:t>
            </a:r>
            <a:r>
              <a:rPr lang="en-US" altLang="en-US" sz="1800" b="1" dirty="0">
                <a:latin typeface="Symbol" panose="05050102010706020507" pitchFamily="18" charset="2"/>
              </a:rPr>
              <a:t></a:t>
            </a:r>
            <a:r>
              <a:rPr lang="en-US" altLang="en-US" sz="1800" dirty="0"/>
              <a:t> ), INTERSECTION ( </a:t>
            </a:r>
            <a:r>
              <a:rPr lang="en-US" altLang="en-US" sz="1800" b="1" dirty="0">
                <a:latin typeface="Symbol" panose="05050102010706020507" pitchFamily="18" charset="2"/>
              </a:rPr>
              <a:t></a:t>
            </a:r>
            <a:r>
              <a:rPr lang="en-US" altLang="en-US" sz="1800" dirty="0">
                <a:latin typeface="Symbol" panose="05050102010706020507" pitchFamily="18" charset="2"/>
              </a:rPr>
              <a:t> </a:t>
            </a:r>
            <a:r>
              <a:rPr lang="en-US" altLang="en-US" sz="1800" dirty="0"/>
              <a:t>), DIFFERENCE (or MINUS, </a:t>
            </a:r>
            <a:r>
              <a:rPr lang="en-US" altLang="en-US" sz="1800" b="1" dirty="0"/>
              <a:t>–</a:t>
            </a:r>
            <a:r>
              <a:rPr lang="en-US" altLang="en-US" sz="1800" dirty="0"/>
              <a:t> )</a:t>
            </a:r>
          </a:p>
          <a:p>
            <a:pPr lvl="2" eaLnBrk="1" hangingPunct="1">
              <a:lnSpc>
                <a:spcPct val="80000"/>
              </a:lnSpc>
            </a:pPr>
            <a:r>
              <a:rPr lang="en-US" altLang="en-US" sz="1800" dirty="0"/>
              <a:t>CARTESIAN PRODUCT ( </a:t>
            </a:r>
            <a:r>
              <a:rPr lang="en-US" altLang="en-US" sz="1800" b="1" dirty="0"/>
              <a:t>x</a:t>
            </a:r>
            <a:r>
              <a:rPr lang="en-US" altLang="en-US" sz="1800" dirty="0"/>
              <a:t> )</a:t>
            </a:r>
          </a:p>
          <a:p>
            <a:pPr lvl="1" eaLnBrk="1" hangingPunct="1">
              <a:lnSpc>
                <a:spcPct val="80000"/>
              </a:lnSpc>
            </a:pPr>
            <a:r>
              <a:rPr lang="en-US" altLang="en-US" sz="2000" dirty="0"/>
              <a:t>Binary Relational Operations</a:t>
            </a:r>
          </a:p>
          <a:p>
            <a:pPr lvl="2" eaLnBrk="1" hangingPunct="1">
              <a:lnSpc>
                <a:spcPct val="80000"/>
              </a:lnSpc>
            </a:pPr>
            <a:r>
              <a:rPr lang="en-US" altLang="en-US" sz="1800" dirty="0"/>
              <a:t>JOIN (several variations of JOIN exist)</a:t>
            </a:r>
          </a:p>
          <a:p>
            <a:pPr lvl="2" eaLnBrk="1" hangingPunct="1">
              <a:lnSpc>
                <a:spcPct val="80000"/>
              </a:lnSpc>
            </a:pPr>
            <a:r>
              <a:rPr lang="en-US" altLang="en-US" sz="1800" dirty="0"/>
              <a:t>DIVISION</a:t>
            </a:r>
          </a:p>
          <a:p>
            <a:pPr lvl="1" eaLnBrk="1" hangingPunct="1">
              <a:lnSpc>
                <a:spcPct val="80000"/>
              </a:lnSpc>
            </a:pPr>
            <a:r>
              <a:rPr lang="en-US" altLang="en-US" sz="2000" dirty="0"/>
              <a:t>Additional Relational Operations</a:t>
            </a:r>
          </a:p>
          <a:p>
            <a:pPr lvl="2" eaLnBrk="1" hangingPunct="1">
              <a:lnSpc>
                <a:spcPct val="80000"/>
              </a:lnSpc>
            </a:pPr>
            <a:r>
              <a:rPr lang="en-US" altLang="en-US" sz="1800" dirty="0"/>
              <a:t>OUTER JOINS, OUTER UNION</a:t>
            </a:r>
          </a:p>
          <a:p>
            <a:pPr lvl="2" eaLnBrk="1" hangingPunct="1">
              <a:lnSpc>
                <a:spcPct val="80000"/>
              </a:lnSpc>
            </a:pPr>
            <a:r>
              <a:rPr lang="en-US" altLang="en-US" sz="1800" dirty="0"/>
              <a:t>AGGREGATE FUNCTIONS</a:t>
            </a:r>
          </a:p>
          <a:p>
            <a:pPr lvl="3" eaLnBrk="1" hangingPunct="1">
              <a:lnSpc>
                <a:spcPct val="80000"/>
              </a:lnSpc>
            </a:pPr>
            <a:r>
              <a:rPr lang="en-US" altLang="en-US" sz="1400" dirty="0"/>
              <a:t>compute summary of information SUM, COUNT, AVG, MIN, MAX</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2D42725-BF71-B8B9-528A-2ADCC6DFE91B}"/>
              </a:ext>
            </a:extLst>
          </p:cNvPr>
          <p:cNvSpPr>
            <a:spLocks noGrp="1"/>
          </p:cNvSpPr>
          <p:nvPr>
            <p:ph type="sldNum" sz="quarter" idx="10"/>
          </p:nvPr>
        </p:nvSpPr>
        <p:spPr/>
        <p:txBody>
          <a:bodyPr/>
          <a:lstStyle/>
          <a:p>
            <a:r>
              <a:rPr lang="en-US" altLang="en-US"/>
              <a:t>Slide 3- </a:t>
            </a:r>
            <a:fld id="{6D11F7FA-F962-4577-ADCF-9A3DA7313C6D}" type="slidenum">
              <a:rPr lang="en-US" altLang="en-US" smtClean="0"/>
              <a:pPr/>
              <a:t>9</a:t>
            </a:fld>
            <a:endParaRPr lang="en-CA" altLang="en-US"/>
          </a:p>
        </p:txBody>
      </p:sp>
      <p:sp>
        <p:nvSpPr>
          <p:cNvPr id="4" name="Title 3">
            <a:extLst>
              <a:ext uri="{FF2B5EF4-FFF2-40B4-BE49-F238E27FC236}">
                <a16:creationId xmlns:a16="http://schemas.microsoft.com/office/drawing/2014/main" id="{D39CF34A-AD8C-4053-BB3F-708CC064CCD4}"/>
              </a:ext>
            </a:extLst>
          </p:cNvPr>
          <p:cNvSpPr>
            <a:spLocks noGrp="1"/>
          </p:cNvSpPr>
          <p:nvPr>
            <p:ph type="title"/>
          </p:nvPr>
        </p:nvSpPr>
        <p:spPr/>
        <p:txBody>
          <a:bodyPr/>
          <a:lstStyle/>
          <a:p>
            <a:r>
              <a:rPr lang="en-US" dirty="0"/>
              <a:t>Relational Algebra Operations</a:t>
            </a:r>
          </a:p>
        </p:txBody>
      </p:sp>
      <p:pic>
        <p:nvPicPr>
          <p:cNvPr id="6" name="Picture 5">
            <a:extLst>
              <a:ext uri="{FF2B5EF4-FFF2-40B4-BE49-F238E27FC236}">
                <a16:creationId xmlns:a16="http://schemas.microsoft.com/office/drawing/2014/main" id="{2A9FBF6F-10D7-3C58-4D2A-6D0DBDB9A657}"/>
              </a:ext>
            </a:extLst>
          </p:cNvPr>
          <p:cNvPicPr>
            <a:picLocks noChangeAspect="1"/>
          </p:cNvPicPr>
          <p:nvPr/>
        </p:nvPicPr>
        <p:blipFill>
          <a:blip r:embed="rId2"/>
          <a:stretch>
            <a:fillRect/>
          </a:stretch>
        </p:blipFill>
        <p:spPr>
          <a:xfrm>
            <a:off x="1269206" y="1600200"/>
            <a:ext cx="5715000" cy="4952997"/>
          </a:xfrm>
          <a:prstGeom prst="rect">
            <a:avLst/>
          </a:prstGeom>
        </p:spPr>
      </p:pic>
    </p:spTree>
    <p:extLst>
      <p:ext uri="{BB962C8B-B14F-4D97-AF65-F5344CB8AC3E}">
        <p14:creationId xmlns:p14="http://schemas.microsoft.com/office/powerpoint/2010/main" val="25972805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287A318-8727-96A4-8286-021A5A4F95EC}"/>
              </a:ext>
            </a:extLst>
          </p:cNvPr>
          <p:cNvPicPr>
            <a:picLocks noChangeAspect="1"/>
          </p:cNvPicPr>
          <p:nvPr/>
        </p:nvPicPr>
        <p:blipFill>
          <a:blip r:embed="rId2"/>
          <a:stretch>
            <a:fillRect/>
          </a:stretch>
        </p:blipFill>
        <p:spPr>
          <a:xfrm>
            <a:off x="1667005" y="1600200"/>
            <a:ext cx="5440102" cy="4572000"/>
          </a:xfrm>
          <a:prstGeom prst="rect">
            <a:avLst/>
          </a:prstGeom>
          <a:noFill/>
        </p:spPr>
      </p:pic>
      <p:sp>
        <p:nvSpPr>
          <p:cNvPr id="3" name="Slide Number Placeholder 2">
            <a:extLst>
              <a:ext uri="{FF2B5EF4-FFF2-40B4-BE49-F238E27FC236}">
                <a16:creationId xmlns:a16="http://schemas.microsoft.com/office/drawing/2014/main" id="{C2D42725-BF71-B8B9-528A-2ADCC6DFE91B}"/>
              </a:ext>
            </a:extLst>
          </p:cNvPr>
          <p:cNvSpPr>
            <a:spLocks noGrp="1"/>
          </p:cNvSpPr>
          <p:nvPr>
            <p:ph type="sldNum" sz="quarter" idx="10"/>
          </p:nvPr>
        </p:nvSpPr>
        <p:spPr>
          <a:xfrm>
            <a:off x="6934200" y="6400800"/>
            <a:ext cx="1905000" cy="457200"/>
          </a:xfrm>
        </p:spPr>
        <p:txBody>
          <a:bodyPr wrap="square" anchor="b">
            <a:normAutofit/>
          </a:bodyPr>
          <a:lstStyle/>
          <a:p>
            <a:pPr>
              <a:spcAft>
                <a:spcPts val="600"/>
              </a:spcAft>
            </a:pPr>
            <a:r>
              <a:rPr lang="en-US" altLang="en-US"/>
              <a:t>Slide 3- </a:t>
            </a:r>
            <a:fld id="{6D11F7FA-F962-4577-ADCF-9A3DA7313C6D}" type="slidenum">
              <a:rPr lang="en-US" altLang="en-US" smtClean="0"/>
              <a:pPr>
                <a:spcAft>
                  <a:spcPts val="600"/>
                </a:spcAft>
              </a:pPr>
              <a:t>10</a:t>
            </a:fld>
            <a:endParaRPr lang="en-CA" altLang="en-US"/>
          </a:p>
        </p:txBody>
      </p:sp>
      <p:sp>
        <p:nvSpPr>
          <p:cNvPr id="4" name="Title 3">
            <a:extLst>
              <a:ext uri="{FF2B5EF4-FFF2-40B4-BE49-F238E27FC236}">
                <a16:creationId xmlns:a16="http://schemas.microsoft.com/office/drawing/2014/main" id="{D39CF34A-AD8C-4053-BB3F-708CC064CCD4}"/>
              </a:ext>
            </a:extLst>
          </p:cNvPr>
          <p:cNvSpPr>
            <a:spLocks noGrp="1"/>
          </p:cNvSpPr>
          <p:nvPr>
            <p:ph type="title"/>
          </p:nvPr>
        </p:nvSpPr>
        <p:spPr>
          <a:xfrm>
            <a:off x="228600" y="303213"/>
            <a:ext cx="7796213" cy="992187"/>
          </a:xfrm>
        </p:spPr>
        <p:txBody>
          <a:bodyPr wrap="square" anchor="b">
            <a:normAutofit/>
          </a:bodyPr>
          <a:lstStyle/>
          <a:p>
            <a:r>
              <a:rPr lang="en-US" dirty="0"/>
              <a:t>Relational Algebra Operations</a:t>
            </a:r>
          </a:p>
        </p:txBody>
      </p:sp>
    </p:spTree>
    <p:extLst>
      <p:ext uri="{BB962C8B-B14F-4D97-AF65-F5344CB8AC3E}">
        <p14:creationId xmlns:p14="http://schemas.microsoft.com/office/powerpoint/2010/main" val="392553109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7" name="Picture 6" descr="fig05_07">
            <a:extLst>
              <a:ext uri="{FF2B5EF4-FFF2-40B4-BE49-F238E27FC236}">
                <a16:creationId xmlns:a16="http://schemas.microsoft.com/office/drawing/2014/main" id="{F32F63B7-9584-FC83-9699-A4C187CE1C5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978" t="8333"/>
          <a:stretch/>
        </p:blipFill>
        <p:spPr bwMode="auto">
          <a:xfrm>
            <a:off x="914400" y="1523999"/>
            <a:ext cx="6934200" cy="5019693"/>
          </a:xfrm>
          <a:prstGeom prst="rect">
            <a:avLst/>
          </a:prstGeom>
          <a:solidFill>
            <a:srgbClr val="FFFFFF"/>
          </a:solid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4" name="Slide Number Placeholder 3">
            <a:extLst>
              <a:ext uri="{FF2B5EF4-FFF2-40B4-BE49-F238E27FC236}">
                <a16:creationId xmlns:a16="http://schemas.microsoft.com/office/drawing/2014/main" id="{06A73C3B-572B-8C82-3C84-7A3D438FBE9B}"/>
              </a:ext>
            </a:extLst>
          </p:cNvPr>
          <p:cNvSpPr>
            <a:spLocks noGrp="1"/>
          </p:cNvSpPr>
          <p:nvPr>
            <p:ph type="sldNum" sz="quarter" idx="10"/>
          </p:nvPr>
        </p:nvSpPr>
        <p:spPr>
          <a:xfrm>
            <a:off x="6934200" y="6400800"/>
            <a:ext cx="1905000" cy="457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norm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spcAft>
                <a:spcPts val="600"/>
              </a:spcAft>
              <a:buClrTx/>
              <a:buSzTx/>
              <a:buFontTx/>
              <a:buNone/>
            </a:pPr>
            <a:r>
              <a:rPr lang="en-US" altLang="en-US" sz="1400">
                <a:solidFill>
                  <a:srgbClr val="990033"/>
                </a:solidFill>
              </a:rPr>
              <a:t>Slide 8- </a:t>
            </a:r>
            <a:fld id="{5DC32FC4-4EB4-45BA-B348-68FB582B0BB4}" type="slidenum">
              <a:rPr lang="en-US" altLang="en-US" sz="1400" smtClean="0">
                <a:solidFill>
                  <a:srgbClr val="990033"/>
                </a:solidFill>
              </a:rPr>
              <a:pPr>
                <a:spcBef>
                  <a:spcPct val="0"/>
                </a:spcBef>
                <a:spcAft>
                  <a:spcPts val="600"/>
                </a:spcAft>
                <a:buClrTx/>
                <a:buSzTx/>
                <a:buFontTx/>
                <a:buNone/>
              </a:pPr>
              <a:t>11</a:t>
            </a:fld>
            <a:endParaRPr lang="en-CA" altLang="en-US" sz="1400">
              <a:solidFill>
                <a:srgbClr val="990033"/>
              </a:solidFill>
            </a:endParaRPr>
          </a:p>
        </p:txBody>
      </p:sp>
      <p:sp>
        <p:nvSpPr>
          <p:cNvPr id="18435" name="Rectangle 2">
            <a:extLst>
              <a:ext uri="{FF2B5EF4-FFF2-40B4-BE49-F238E27FC236}">
                <a16:creationId xmlns:a16="http://schemas.microsoft.com/office/drawing/2014/main" id="{E3810DDA-ABFF-DCDC-668F-D7CF53F22086}"/>
              </a:ext>
            </a:extLst>
          </p:cNvPr>
          <p:cNvSpPr>
            <a:spLocks noGrp="1" noChangeArrowheads="1"/>
          </p:cNvSpPr>
          <p:nvPr>
            <p:ph type="title"/>
          </p:nvPr>
        </p:nvSpPr>
        <p:spPr>
          <a:xfrm>
            <a:off x="228600" y="303213"/>
            <a:ext cx="7796213" cy="992187"/>
          </a:xfrm>
        </p:spPr>
        <p:txBody>
          <a:bodyPr wrap="square" anchor="b">
            <a:normAutofit/>
          </a:bodyPr>
          <a:lstStyle/>
          <a:p>
            <a:pPr eaLnBrk="1" hangingPunct="1"/>
            <a:r>
              <a:rPr lang="en-US" altLang="en-US" dirty="0"/>
              <a:t>Database State for COMPANY</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467D21FA-8854-DAAF-6C2A-F20C2645563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A125A027-26F6-4F70-87F1-4FB2EA47F36C}" type="slidenum">
              <a:rPr lang="en-US" altLang="en-US" sz="1400">
                <a:solidFill>
                  <a:srgbClr val="990033"/>
                </a:solidFill>
              </a:rPr>
              <a:pPr>
                <a:spcBef>
                  <a:spcPct val="0"/>
                </a:spcBef>
                <a:buClrTx/>
                <a:buSzTx/>
                <a:buFontTx/>
                <a:buNone/>
              </a:pPr>
              <a:t>12</a:t>
            </a:fld>
            <a:endParaRPr lang="en-CA" altLang="en-US" sz="1400">
              <a:solidFill>
                <a:srgbClr val="990033"/>
              </a:solidFill>
            </a:endParaRPr>
          </a:p>
        </p:txBody>
      </p:sp>
      <p:sp>
        <p:nvSpPr>
          <p:cNvPr id="22531" name="Rectangle 5">
            <a:extLst>
              <a:ext uri="{FF2B5EF4-FFF2-40B4-BE49-F238E27FC236}">
                <a16:creationId xmlns:a16="http://schemas.microsoft.com/office/drawing/2014/main" id="{E01C2DA1-F680-F4BA-13E8-959BE6BFCB7A}"/>
              </a:ext>
            </a:extLst>
          </p:cNvPr>
          <p:cNvSpPr>
            <a:spLocks noGrp="1" noChangeArrowheads="1"/>
          </p:cNvSpPr>
          <p:nvPr>
            <p:ph type="title"/>
          </p:nvPr>
        </p:nvSpPr>
        <p:spPr>
          <a:xfrm>
            <a:off x="228601" y="303213"/>
            <a:ext cx="1981199" cy="6097587"/>
          </a:xfrm>
          <a:noFill/>
        </p:spPr>
        <p:txBody>
          <a:bodyPr vert="vert270"/>
          <a:lstStyle/>
          <a:p>
            <a:pPr algn="ctr" eaLnBrk="1" hangingPunct="1"/>
            <a:r>
              <a:rPr lang="en-US" altLang="en-US" sz="3200" dirty="0"/>
              <a:t>Database State for COMPANY</a:t>
            </a:r>
          </a:p>
        </p:txBody>
      </p:sp>
      <p:sp>
        <p:nvSpPr>
          <p:cNvPr id="22532" name="Rectangle 3">
            <a:extLst>
              <a:ext uri="{FF2B5EF4-FFF2-40B4-BE49-F238E27FC236}">
                <a16:creationId xmlns:a16="http://schemas.microsoft.com/office/drawing/2014/main" id="{45165EFE-1B0F-ADA9-E43D-199938493C51}"/>
              </a:ext>
            </a:extLst>
          </p:cNvPr>
          <p:cNvSpPr>
            <a:spLocks noChangeArrowheads="1"/>
          </p:cNvSpPr>
          <p:nvPr/>
        </p:nvSpPr>
        <p:spPr bwMode="auto">
          <a:xfrm>
            <a:off x="1833563" y="1309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endParaRPr>
          </a:p>
        </p:txBody>
      </p:sp>
      <p:pic>
        <p:nvPicPr>
          <p:cNvPr id="22534" name="Picture 9" descr="fig05_06">
            <a:extLst>
              <a:ext uri="{FF2B5EF4-FFF2-40B4-BE49-F238E27FC236}">
                <a16:creationId xmlns:a16="http://schemas.microsoft.com/office/drawing/2014/main" id="{D8C1E4EB-2B44-3751-3847-F209548627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125"/>
          <a:stretch/>
        </p:blipFill>
        <p:spPr bwMode="auto">
          <a:xfrm>
            <a:off x="3810001" y="-23446"/>
            <a:ext cx="5334000" cy="6583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a:extLst>
              <a:ext uri="{FF2B5EF4-FFF2-40B4-BE49-F238E27FC236}">
                <a16:creationId xmlns:a16="http://schemas.microsoft.com/office/drawing/2014/main" id="{04AAF558-F046-6CC2-C86B-3D5285E0D2A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50CA5767-0B18-4E35-9F48-5E527E8E2783}" type="slidenum">
              <a:rPr lang="en-US" altLang="en-US" sz="1400">
                <a:solidFill>
                  <a:srgbClr val="990033"/>
                </a:solidFill>
              </a:rPr>
              <a:pPr>
                <a:spcBef>
                  <a:spcPct val="0"/>
                </a:spcBef>
                <a:buClrTx/>
                <a:buSzTx/>
                <a:buFontTx/>
                <a:buNone/>
              </a:pPr>
              <a:t>13</a:t>
            </a:fld>
            <a:endParaRPr lang="en-CA" altLang="en-US" sz="1400">
              <a:solidFill>
                <a:srgbClr val="990033"/>
              </a:solidFill>
            </a:endParaRPr>
          </a:p>
        </p:txBody>
      </p:sp>
      <p:sp>
        <p:nvSpPr>
          <p:cNvPr id="20483" name="Rectangle 2">
            <a:extLst>
              <a:ext uri="{FF2B5EF4-FFF2-40B4-BE49-F238E27FC236}">
                <a16:creationId xmlns:a16="http://schemas.microsoft.com/office/drawing/2014/main" id="{36C498E7-8E0A-9827-4153-6DE0A6C77E5D}"/>
              </a:ext>
            </a:extLst>
          </p:cNvPr>
          <p:cNvSpPr>
            <a:spLocks noGrp="1" noChangeArrowheads="1"/>
          </p:cNvSpPr>
          <p:nvPr>
            <p:ph type="title"/>
          </p:nvPr>
        </p:nvSpPr>
        <p:spPr>
          <a:noFill/>
        </p:spPr>
        <p:txBody>
          <a:bodyPr/>
          <a:lstStyle/>
          <a:p>
            <a:pPr eaLnBrk="1" hangingPunct="1"/>
            <a:r>
              <a:rPr lang="en-US" altLang="en-US" sz="3200"/>
              <a:t>Unary Relational Operations: SELECT</a:t>
            </a:r>
          </a:p>
        </p:txBody>
      </p:sp>
      <p:sp>
        <p:nvSpPr>
          <p:cNvPr id="20484" name="Rectangle 3">
            <a:extLst>
              <a:ext uri="{FF2B5EF4-FFF2-40B4-BE49-F238E27FC236}">
                <a16:creationId xmlns:a16="http://schemas.microsoft.com/office/drawing/2014/main" id="{1286FA6C-A207-1FEC-62AA-A67D68A4E12C}"/>
              </a:ext>
            </a:extLst>
          </p:cNvPr>
          <p:cNvSpPr>
            <a:spLocks noGrp="1" noChangeArrowheads="1"/>
          </p:cNvSpPr>
          <p:nvPr>
            <p:ph type="body" idx="1"/>
          </p:nvPr>
        </p:nvSpPr>
        <p:spPr/>
        <p:txBody>
          <a:bodyPr/>
          <a:lstStyle/>
          <a:p>
            <a:pPr lvl="1" eaLnBrk="1" hangingPunct="1"/>
            <a:r>
              <a:rPr lang="en-US" altLang="en-US" sz="2800" dirty="0"/>
              <a:t>In general, the </a:t>
            </a:r>
            <a:r>
              <a:rPr lang="en-US" altLang="en-US" sz="2800" i="1" dirty="0"/>
              <a:t>select</a:t>
            </a:r>
            <a:r>
              <a:rPr lang="en-US" altLang="en-US" sz="2800" dirty="0"/>
              <a:t> operation is denoted by </a:t>
            </a:r>
            <a:r>
              <a:rPr lang="en-US" altLang="en-US" sz="3600" b="1" dirty="0">
                <a:latin typeface="Symbol" panose="05050102010706020507" pitchFamily="18" charset="2"/>
              </a:rPr>
              <a:t></a:t>
            </a:r>
            <a:r>
              <a:rPr lang="en-US" altLang="en-US" sz="2800" dirty="0"/>
              <a:t> </a:t>
            </a:r>
            <a:r>
              <a:rPr lang="en-US" altLang="en-US" sz="2800" baseline="-25000" dirty="0"/>
              <a:t>&lt;selection condition&gt;</a:t>
            </a:r>
            <a:r>
              <a:rPr lang="en-US" altLang="en-US" sz="2800" dirty="0"/>
              <a:t>(R) where</a:t>
            </a:r>
          </a:p>
          <a:p>
            <a:pPr lvl="2" eaLnBrk="1" hangingPunct="1"/>
            <a:r>
              <a:rPr lang="en-US" altLang="en-US" dirty="0"/>
              <a:t>the symbol </a:t>
            </a:r>
            <a:r>
              <a:rPr lang="en-US" altLang="en-US" sz="3200" b="1" dirty="0">
                <a:latin typeface="Symbol" panose="05050102010706020507" pitchFamily="18" charset="2"/>
              </a:rPr>
              <a:t></a:t>
            </a:r>
            <a:r>
              <a:rPr lang="en-US" altLang="en-US" dirty="0"/>
              <a:t> is used to denote the </a:t>
            </a:r>
            <a:r>
              <a:rPr lang="en-US" altLang="en-US" i="1" dirty="0"/>
              <a:t>select</a:t>
            </a:r>
            <a:r>
              <a:rPr lang="en-US" altLang="en-US" dirty="0"/>
              <a:t> operator</a:t>
            </a:r>
          </a:p>
          <a:p>
            <a:pPr lvl="2" eaLnBrk="1" hangingPunct="1"/>
            <a:r>
              <a:rPr lang="en-US" altLang="en-US" dirty="0"/>
              <a:t>the selection condition is a Boolean (conditional) expression specified on the attributes of relation R</a:t>
            </a:r>
          </a:p>
          <a:p>
            <a:pPr lvl="2" eaLnBrk="1" hangingPunct="1"/>
            <a:r>
              <a:rPr lang="en-US" altLang="en-US" dirty="0"/>
              <a:t>tuples that make the condition </a:t>
            </a:r>
            <a:r>
              <a:rPr lang="en-US" altLang="en-US" b="1" dirty="0"/>
              <a:t>true </a:t>
            </a:r>
            <a:r>
              <a:rPr lang="en-US" altLang="en-US" dirty="0"/>
              <a:t>are selected</a:t>
            </a:r>
          </a:p>
          <a:p>
            <a:pPr lvl="3" eaLnBrk="1" hangingPunct="1"/>
            <a:r>
              <a:rPr lang="en-US" altLang="en-US" dirty="0"/>
              <a:t>appear in the result of the operation</a:t>
            </a:r>
          </a:p>
          <a:p>
            <a:pPr lvl="2" eaLnBrk="1" hangingPunct="1"/>
            <a:r>
              <a:rPr lang="en-US" altLang="en-US" dirty="0"/>
              <a:t>tuples that make the condition </a:t>
            </a:r>
            <a:r>
              <a:rPr lang="en-US" altLang="en-US" b="1" dirty="0"/>
              <a:t>false </a:t>
            </a:r>
            <a:r>
              <a:rPr lang="en-US" altLang="en-US" dirty="0"/>
              <a:t>are filtered out</a:t>
            </a:r>
          </a:p>
          <a:p>
            <a:pPr lvl="3" eaLnBrk="1" hangingPunct="1"/>
            <a:r>
              <a:rPr lang="en-US" altLang="en-US" dirty="0"/>
              <a:t>discarded from the result of the operation</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a:extLst>
              <a:ext uri="{FF2B5EF4-FFF2-40B4-BE49-F238E27FC236}">
                <a16:creationId xmlns:a16="http://schemas.microsoft.com/office/drawing/2014/main" id="{F26482C3-6619-E7C2-6318-014C04DCD62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870DF466-BDE9-4EE7-969E-76AE116EF7FE}" type="slidenum">
              <a:rPr lang="en-US" altLang="en-US" sz="1400">
                <a:solidFill>
                  <a:srgbClr val="990033"/>
                </a:solidFill>
              </a:rPr>
              <a:pPr>
                <a:spcBef>
                  <a:spcPct val="0"/>
                </a:spcBef>
                <a:buClrTx/>
                <a:buSzTx/>
                <a:buFontTx/>
                <a:buNone/>
              </a:pPr>
              <a:t>14</a:t>
            </a:fld>
            <a:endParaRPr lang="en-CA" altLang="en-US" sz="1400">
              <a:solidFill>
                <a:srgbClr val="990033"/>
              </a:solidFill>
            </a:endParaRPr>
          </a:p>
        </p:txBody>
      </p:sp>
      <p:sp>
        <p:nvSpPr>
          <p:cNvPr id="21507" name="Rectangle 4">
            <a:extLst>
              <a:ext uri="{FF2B5EF4-FFF2-40B4-BE49-F238E27FC236}">
                <a16:creationId xmlns:a16="http://schemas.microsoft.com/office/drawing/2014/main" id="{B6EE25D2-E15D-CDD0-0499-75B2FEA3113C}"/>
              </a:ext>
            </a:extLst>
          </p:cNvPr>
          <p:cNvSpPr>
            <a:spLocks noGrp="1" noChangeArrowheads="1"/>
          </p:cNvSpPr>
          <p:nvPr>
            <p:ph type="title"/>
          </p:nvPr>
        </p:nvSpPr>
        <p:spPr>
          <a:noFill/>
        </p:spPr>
        <p:txBody>
          <a:bodyPr/>
          <a:lstStyle/>
          <a:p>
            <a:pPr eaLnBrk="1" hangingPunct="1"/>
            <a:r>
              <a:rPr lang="en-US" altLang="en-US" sz="3200"/>
              <a:t>Unary Relational Operations: SELECT (continued)</a:t>
            </a:r>
          </a:p>
        </p:txBody>
      </p:sp>
      <p:sp>
        <p:nvSpPr>
          <p:cNvPr id="21508" name="Rectangle 5">
            <a:extLst>
              <a:ext uri="{FF2B5EF4-FFF2-40B4-BE49-F238E27FC236}">
                <a16:creationId xmlns:a16="http://schemas.microsoft.com/office/drawing/2014/main" id="{4524608D-F6C6-5588-D086-A70BC50852AB}"/>
              </a:ext>
            </a:extLst>
          </p:cNvPr>
          <p:cNvSpPr>
            <a:spLocks noGrp="1" noChangeArrowheads="1"/>
          </p:cNvSpPr>
          <p:nvPr>
            <p:ph type="body" idx="1"/>
          </p:nvPr>
        </p:nvSpPr>
        <p:spPr>
          <a:xfrm>
            <a:off x="0" y="1905000"/>
            <a:ext cx="8839199" cy="4267200"/>
          </a:xfrm>
        </p:spPr>
        <p:txBody>
          <a:bodyPr/>
          <a:lstStyle/>
          <a:p>
            <a:pPr eaLnBrk="1" hangingPunct="1">
              <a:lnSpc>
                <a:spcPct val="80000"/>
              </a:lnSpc>
            </a:pPr>
            <a:r>
              <a:rPr lang="en-US" altLang="en-US" sz="2400" dirty="0"/>
              <a:t>SELECT Operation Properties</a:t>
            </a:r>
          </a:p>
          <a:p>
            <a:pPr lvl="1" eaLnBrk="1" hangingPunct="1">
              <a:lnSpc>
                <a:spcPct val="80000"/>
              </a:lnSpc>
            </a:pPr>
            <a:r>
              <a:rPr lang="en-US" altLang="en-US" sz="2100" dirty="0"/>
              <a:t>The SELECT operation </a:t>
            </a:r>
            <a:r>
              <a:rPr lang="en-US" altLang="en-US" sz="2100" dirty="0">
                <a:latin typeface="Symbol" panose="05050102010706020507" pitchFamily="18" charset="2"/>
              </a:rPr>
              <a:t></a:t>
            </a:r>
            <a:r>
              <a:rPr lang="en-US" altLang="en-US" sz="2100" dirty="0"/>
              <a:t> </a:t>
            </a:r>
            <a:r>
              <a:rPr lang="en-US" altLang="en-US" sz="2100" baseline="-25000" dirty="0"/>
              <a:t>&lt;selection condition&gt;</a:t>
            </a:r>
            <a:r>
              <a:rPr lang="en-US" altLang="en-US" sz="2100" dirty="0"/>
              <a:t>(R) produces a relation S that has the same schema (same attributes) as R</a:t>
            </a:r>
          </a:p>
          <a:p>
            <a:pPr lvl="1" eaLnBrk="1" hangingPunct="1">
              <a:lnSpc>
                <a:spcPct val="80000"/>
              </a:lnSpc>
            </a:pPr>
            <a:r>
              <a:rPr lang="en-US" altLang="en-US" sz="2100" dirty="0"/>
              <a:t>SELECT </a:t>
            </a:r>
            <a:r>
              <a:rPr lang="en-US" altLang="en-US" sz="2100" dirty="0">
                <a:latin typeface="Symbol" panose="05050102010706020507" pitchFamily="18" charset="2"/>
              </a:rPr>
              <a:t></a:t>
            </a:r>
            <a:r>
              <a:rPr lang="en-US" altLang="en-US" sz="2100" dirty="0"/>
              <a:t> is commutative:</a:t>
            </a:r>
          </a:p>
          <a:p>
            <a:pPr lvl="2" eaLnBrk="1" hangingPunct="1">
              <a:lnSpc>
                <a:spcPct val="80000"/>
              </a:lnSpc>
            </a:pPr>
            <a:r>
              <a:rPr lang="en-US" altLang="en-US" sz="2000" dirty="0">
                <a:latin typeface="Symbol" panose="05050102010706020507" pitchFamily="18" charset="2"/>
              </a:rPr>
              <a:t></a:t>
            </a:r>
            <a:r>
              <a:rPr lang="en-US" altLang="en-US" sz="2000" dirty="0"/>
              <a:t> </a:t>
            </a:r>
            <a:r>
              <a:rPr lang="en-US" altLang="en-US" sz="2100" baseline="-25000" dirty="0"/>
              <a:t>&lt;condition1&gt;</a:t>
            </a:r>
            <a:r>
              <a:rPr lang="en-US" altLang="en-US" sz="2000" dirty="0"/>
              <a:t>(</a:t>
            </a:r>
            <a:r>
              <a:rPr lang="en-US" altLang="en-US" sz="2000" dirty="0">
                <a:latin typeface="Symbol" panose="05050102010706020507" pitchFamily="18" charset="2"/>
              </a:rPr>
              <a:t></a:t>
            </a:r>
            <a:r>
              <a:rPr lang="en-US" altLang="en-US" sz="2000" dirty="0"/>
              <a:t> </a:t>
            </a:r>
            <a:r>
              <a:rPr lang="en-US" altLang="en-US" sz="2100" baseline="-25000" dirty="0"/>
              <a:t>&lt; condition2&gt;</a:t>
            </a:r>
            <a:r>
              <a:rPr lang="en-US" altLang="en-US" sz="2000" dirty="0"/>
              <a:t> (R)) = </a:t>
            </a:r>
            <a:r>
              <a:rPr lang="en-US" altLang="en-US" sz="2000" dirty="0">
                <a:latin typeface="Symbol" panose="05050102010706020507" pitchFamily="18" charset="2"/>
              </a:rPr>
              <a:t></a:t>
            </a:r>
            <a:r>
              <a:rPr lang="en-US" altLang="en-US" sz="2000" dirty="0"/>
              <a:t> </a:t>
            </a:r>
            <a:r>
              <a:rPr lang="en-US" altLang="en-US" sz="2100" baseline="-25000" dirty="0"/>
              <a:t>&lt;condition2&gt;</a:t>
            </a:r>
            <a:r>
              <a:rPr lang="en-US" altLang="en-US" sz="2000" dirty="0"/>
              <a:t> (</a:t>
            </a:r>
            <a:r>
              <a:rPr lang="en-US" altLang="en-US" sz="2000" dirty="0">
                <a:latin typeface="Symbol" panose="05050102010706020507" pitchFamily="18" charset="2"/>
              </a:rPr>
              <a:t></a:t>
            </a:r>
            <a:r>
              <a:rPr lang="en-US" altLang="en-US" sz="2000" dirty="0"/>
              <a:t> </a:t>
            </a:r>
            <a:r>
              <a:rPr lang="en-US" altLang="en-US" sz="2100" baseline="-25000" dirty="0"/>
              <a:t>&lt; condition1&gt;</a:t>
            </a:r>
            <a:r>
              <a:rPr lang="en-US" altLang="en-US" sz="2000" dirty="0"/>
              <a:t> (R))</a:t>
            </a:r>
          </a:p>
          <a:p>
            <a:pPr lvl="1" eaLnBrk="1" hangingPunct="1">
              <a:lnSpc>
                <a:spcPct val="80000"/>
              </a:lnSpc>
            </a:pPr>
            <a:r>
              <a:rPr lang="en-US" altLang="en-US" sz="2100" dirty="0"/>
              <a:t>Because of commutativity property, a cascade (sequence) of SELECT operations may be applied in any order:</a:t>
            </a:r>
          </a:p>
          <a:p>
            <a:pPr lvl="2" eaLnBrk="1" hangingPunct="1">
              <a:lnSpc>
                <a:spcPct val="80000"/>
              </a:lnSpc>
            </a:pPr>
            <a:r>
              <a:rPr lang="en-US" altLang="en-US" sz="2000" dirty="0">
                <a:latin typeface="Symbol" panose="05050102010706020507" pitchFamily="18" charset="2"/>
              </a:rPr>
              <a:t></a:t>
            </a:r>
            <a:r>
              <a:rPr lang="en-US" altLang="en-US" sz="2000" baseline="-25000" dirty="0"/>
              <a:t>&lt;cond1&gt;</a:t>
            </a:r>
            <a:r>
              <a:rPr lang="en-US" altLang="en-US" sz="2000" dirty="0"/>
              <a:t>(</a:t>
            </a:r>
            <a:r>
              <a:rPr lang="en-US" altLang="en-US" sz="2000" dirty="0">
                <a:latin typeface="Symbol" panose="05050102010706020507" pitchFamily="18" charset="2"/>
              </a:rPr>
              <a:t></a:t>
            </a:r>
            <a:r>
              <a:rPr lang="en-US" altLang="en-US" sz="2000" baseline="-25000" dirty="0"/>
              <a:t>&lt;cond2&gt;</a:t>
            </a:r>
            <a:r>
              <a:rPr lang="en-US" altLang="en-US" sz="2000" dirty="0"/>
              <a:t> (</a:t>
            </a:r>
            <a:r>
              <a:rPr lang="en-US" altLang="en-US" sz="2000" dirty="0">
                <a:latin typeface="Symbol" panose="05050102010706020507" pitchFamily="18" charset="2"/>
              </a:rPr>
              <a:t></a:t>
            </a:r>
            <a:r>
              <a:rPr lang="en-US" altLang="en-US" sz="2000" baseline="-25000" dirty="0"/>
              <a:t>&lt;cond3&gt;</a:t>
            </a:r>
            <a:r>
              <a:rPr lang="en-US" altLang="en-US" sz="2000" dirty="0"/>
              <a:t> (R)) = </a:t>
            </a:r>
            <a:r>
              <a:rPr lang="en-US" altLang="en-US" sz="2000" dirty="0">
                <a:latin typeface="Symbol" panose="05050102010706020507" pitchFamily="18" charset="2"/>
              </a:rPr>
              <a:t></a:t>
            </a:r>
            <a:r>
              <a:rPr lang="en-US" altLang="en-US" sz="2000" baseline="-25000" dirty="0"/>
              <a:t>&lt;cond2&gt;</a:t>
            </a:r>
            <a:r>
              <a:rPr lang="en-US" altLang="en-US" sz="2000" dirty="0"/>
              <a:t> (</a:t>
            </a:r>
            <a:r>
              <a:rPr lang="en-US" altLang="en-US" sz="2000" dirty="0">
                <a:latin typeface="Symbol" panose="05050102010706020507" pitchFamily="18" charset="2"/>
              </a:rPr>
              <a:t></a:t>
            </a:r>
            <a:r>
              <a:rPr lang="en-US" altLang="en-US" sz="2000" baseline="-25000" dirty="0"/>
              <a:t>&lt;cond3&gt;</a:t>
            </a:r>
            <a:r>
              <a:rPr lang="en-US" altLang="en-US" sz="2000" dirty="0"/>
              <a:t> (</a:t>
            </a:r>
            <a:r>
              <a:rPr lang="en-US" altLang="en-US" sz="2000" dirty="0">
                <a:latin typeface="Symbol" panose="05050102010706020507" pitchFamily="18" charset="2"/>
              </a:rPr>
              <a:t></a:t>
            </a:r>
            <a:r>
              <a:rPr lang="en-US" altLang="en-US" sz="2000" baseline="-25000" dirty="0"/>
              <a:t>&lt;cond1&gt;</a:t>
            </a:r>
            <a:r>
              <a:rPr lang="en-US" altLang="en-US" sz="2000" dirty="0"/>
              <a:t> ( R)))</a:t>
            </a:r>
          </a:p>
          <a:p>
            <a:pPr lvl="1" eaLnBrk="1" hangingPunct="1">
              <a:lnSpc>
                <a:spcPct val="80000"/>
              </a:lnSpc>
            </a:pPr>
            <a:r>
              <a:rPr lang="en-US" altLang="en-US" sz="2100" dirty="0"/>
              <a:t>A cascade of SELECT operations may be replaced by a single selection with a conjunction of all the conditions:</a:t>
            </a:r>
          </a:p>
          <a:p>
            <a:pPr lvl="2" eaLnBrk="1" hangingPunct="1">
              <a:lnSpc>
                <a:spcPct val="80000"/>
              </a:lnSpc>
            </a:pPr>
            <a:r>
              <a:rPr lang="en-US" altLang="en-US" sz="2000" dirty="0">
                <a:latin typeface="Symbol" panose="05050102010706020507" pitchFamily="18" charset="2"/>
              </a:rPr>
              <a:t></a:t>
            </a:r>
            <a:r>
              <a:rPr lang="en-US" altLang="en-US" sz="2000" baseline="-25000" dirty="0"/>
              <a:t>&lt;cond1&gt;</a:t>
            </a:r>
            <a:r>
              <a:rPr lang="en-US" altLang="en-US" sz="2000" dirty="0"/>
              <a:t>(</a:t>
            </a:r>
            <a:r>
              <a:rPr lang="en-US" altLang="en-US" sz="2000" dirty="0">
                <a:latin typeface="Symbol" panose="05050102010706020507" pitchFamily="18" charset="2"/>
              </a:rPr>
              <a:t></a:t>
            </a:r>
            <a:r>
              <a:rPr lang="en-US" altLang="en-US" sz="2000" baseline="-25000" dirty="0"/>
              <a:t>&lt; cond2&gt;</a:t>
            </a:r>
            <a:r>
              <a:rPr lang="en-US" altLang="en-US" sz="2000" dirty="0"/>
              <a:t> (</a:t>
            </a:r>
            <a:r>
              <a:rPr lang="en-US" altLang="en-US" sz="2000" dirty="0">
                <a:latin typeface="Symbol" panose="05050102010706020507" pitchFamily="18" charset="2"/>
              </a:rPr>
              <a:t></a:t>
            </a:r>
            <a:r>
              <a:rPr lang="en-US" altLang="en-US" sz="2000" baseline="-25000" dirty="0"/>
              <a:t>&lt;cond3&gt;</a:t>
            </a:r>
            <a:r>
              <a:rPr lang="en-US" altLang="en-US" sz="2000" dirty="0"/>
              <a:t>(R)) = </a:t>
            </a:r>
            <a:r>
              <a:rPr lang="en-US" altLang="en-US" sz="2000" dirty="0">
                <a:latin typeface="Symbol" panose="05050102010706020507" pitchFamily="18" charset="2"/>
              </a:rPr>
              <a:t></a:t>
            </a:r>
            <a:r>
              <a:rPr lang="en-US" altLang="en-US" sz="2000" baseline="-25000" dirty="0"/>
              <a:t> &lt;cond1&gt; AND &lt; cond2&gt; AND &lt; cond3&gt;</a:t>
            </a:r>
            <a:r>
              <a:rPr lang="en-US" altLang="en-US" sz="2000" dirty="0"/>
              <a:t>(R)))</a:t>
            </a:r>
          </a:p>
          <a:p>
            <a:pPr lvl="1" eaLnBrk="1" hangingPunct="1">
              <a:lnSpc>
                <a:spcPct val="80000"/>
              </a:lnSpc>
            </a:pPr>
            <a:r>
              <a:rPr lang="en-US" altLang="en-US" sz="2200" dirty="0"/>
              <a:t>The number of tuples in the result of a SELECT is less than (or equal to) the number of tuples in the input relation R</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CC335AC-422F-94CD-C8AF-6665D494E6AE}"/>
              </a:ext>
            </a:extLst>
          </p:cNvPr>
          <p:cNvPicPr>
            <a:picLocks noChangeAspect="1"/>
          </p:cNvPicPr>
          <p:nvPr/>
        </p:nvPicPr>
        <p:blipFill>
          <a:blip r:embed="rId3"/>
          <a:stretch>
            <a:fillRect/>
          </a:stretch>
        </p:blipFill>
        <p:spPr>
          <a:xfrm>
            <a:off x="42179" y="2853247"/>
            <a:ext cx="6587221" cy="1718753"/>
          </a:xfrm>
          <a:prstGeom prst="rect">
            <a:avLst/>
          </a:prstGeom>
        </p:spPr>
      </p:pic>
      <p:pic>
        <p:nvPicPr>
          <p:cNvPr id="11" name="Picture 10">
            <a:extLst>
              <a:ext uri="{FF2B5EF4-FFF2-40B4-BE49-F238E27FC236}">
                <a16:creationId xmlns:a16="http://schemas.microsoft.com/office/drawing/2014/main" id="{BAB3BF7E-F19C-4EF9-98E3-C30D9179240F}"/>
              </a:ext>
            </a:extLst>
          </p:cNvPr>
          <p:cNvPicPr>
            <a:picLocks noChangeAspect="1"/>
          </p:cNvPicPr>
          <p:nvPr/>
        </p:nvPicPr>
        <p:blipFill>
          <a:blip r:embed="rId4"/>
          <a:stretch>
            <a:fillRect/>
          </a:stretch>
        </p:blipFill>
        <p:spPr>
          <a:xfrm>
            <a:off x="5943600" y="2353806"/>
            <a:ext cx="3086208" cy="1151394"/>
          </a:xfrm>
          <a:prstGeom prst="rect">
            <a:avLst/>
          </a:prstGeom>
        </p:spPr>
      </p:pic>
      <p:sp>
        <p:nvSpPr>
          <p:cNvPr id="19458" name="Slide Number Placeholder 3">
            <a:extLst>
              <a:ext uri="{FF2B5EF4-FFF2-40B4-BE49-F238E27FC236}">
                <a16:creationId xmlns:a16="http://schemas.microsoft.com/office/drawing/2014/main" id="{BFFB770E-345C-5969-7EFD-C0529B76D6F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2C25E3B6-C4FB-4E9A-AA5E-C15040F48072}" type="slidenum">
              <a:rPr lang="en-US" altLang="en-US" sz="1400">
                <a:solidFill>
                  <a:srgbClr val="990033"/>
                </a:solidFill>
              </a:rPr>
              <a:pPr>
                <a:spcBef>
                  <a:spcPct val="0"/>
                </a:spcBef>
                <a:buClrTx/>
                <a:buSzTx/>
                <a:buFontTx/>
                <a:buNone/>
              </a:pPr>
              <a:t>15</a:t>
            </a:fld>
            <a:endParaRPr lang="en-CA" altLang="en-US" sz="1400">
              <a:solidFill>
                <a:srgbClr val="990033"/>
              </a:solidFill>
            </a:endParaRPr>
          </a:p>
        </p:txBody>
      </p:sp>
      <p:sp>
        <p:nvSpPr>
          <p:cNvPr id="19459" name="Rectangle 4">
            <a:extLst>
              <a:ext uri="{FF2B5EF4-FFF2-40B4-BE49-F238E27FC236}">
                <a16:creationId xmlns:a16="http://schemas.microsoft.com/office/drawing/2014/main" id="{5A586644-3DC8-844A-A0E7-A32009361766}"/>
              </a:ext>
            </a:extLst>
          </p:cNvPr>
          <p:cNvSpPr>
            <a:spLocks noGrp="1" noChangeArrowheads="1"/>
          </p:cNvSpPr>
          <p:nvPr>
            <p:ph type="title"/>
          </p:nvPr>
        </p:nvSpPr>
        <p:spPr>
          <a:xfrm>
            <a:off x="228600" y="111919"/>
            <a:ext cx="7796213" cy="382587"/>
          </a:xfrm>
          <a:noFill/>
        </p:spPr>
        <p:txBody>
          <a:bodyPr/>
          <a:lstStyle/>
          <a:p>
            <a:pPr eaLnBrk="1" hangingPunct="1"/>
            <a:r>
              <a:rPr lang="en-US" altLang="en-US" sz="3200" dirty="0"/>
              <a:t>Unary Relational Operations: SELECT</a:t>
            </a:r>
          </a:p>
        </p:txBody>
      </p:sp>
      <p:sp>
        <p:nvSpPr>
          <p:cNvPr id="19460" name="Rectangle 5">
            <a:extLst>
              <a:ext uri="{FF2B5EF4-FFF2-40B4-BE49-F238E27FC236}">
                <a16:creationId xmlns:a16="http://schemas.microsoft.com/office/drawing/2014/main" id="{CAF8B1A4-09D2-53B6-6E7D-5AACC6476617}"/>
              </a:ext>
            </a:extLst>
          </p:cNvPr>
          <p:cNvSpPr>
            <a:spLocks noGrp="1" noChangeArrowheads="1"/>
          </p:cNvSpPr>
          <p:nvPr>
            <p:ph type="body" idx="1"/>
          </p:nvPr>
        </p:nvSpPr>
        <p:spPr>
          <a:xfrm>
            <a:off x="239713" y="1447800"/>
            <a:ext cx="8650341" cy="1447800"/>
          </a:xfrm>
        </p:spPr>
        <p:txBody>
          <a:bodyPr/>
          <a:lstStyle/>
          <a:p>
            <a:pPr eaLnBrk="1" hangingPunct="1">
              <a:lnSpc>
                <a:spcPct val="90000"/>
              </a:lnSpc>
            </a:pPr>
            <a:r>
              <a:rPr lang="en-US" altLang="en-US" sz="1800" dirty="0"/>
              <a:t>Select the EMPLOYEE tuples whose department number is 4:</a:t>
            </a:r>
          </a:p>
          <a:p>
            <a:pPr algn="ctr" eaLnBrk="1" hangingPunct="1">
              <a:lnSpc>
                <a:spcPct val="90000"/>
              </a:lnSpc>
              <a:buFont typeface="Wingdings" panose="05000000000000000000" pitchFamily="2" charset="2"/>
              <a:buNone/>
            </a:pPr>
            <a:r>
              <a:rPr lang="en-US" altLang="en-US" sz="2000" b="1" dirty="0">
                <a:latin typeface="Symbol" panose="05050102010706020507" pitchFamily="18" charset="2"/>
              </a:rPr>
              <a:t></a:t>
            </a:r>
            <a:r>
              <a:rPr lang="en-US" altLang="en-US" sz="1600" dirty="0"/>
              <a:t> </a:t>
            </a:r>
            <a:r>
              <a:rPr lang="en-US" altLang="en-US" sz="1600" baseline="-25000" dirty="0"/>
              <a:t>DNO = 4</a:t>
            </a:r>
            <a:r>
              <a:rPr lang="en-US" altLang="en-US" sz="1600" dirty="0"/>
              <a:t> (EMPLOYEE)</a:t>
            </a:r>
          </a:p>
          <a:p>
            <a:pPr eaLnBrk="1" hangingPunct="1">
              <a:lnSpc>
                <a:spcPct val="90000"/>
              </a:lnSpc>
            </a:pPr>
            <a:r>
              <a:rPr lang="en-US" altLang="en-US" sz="1800" dirty="0"/>
              <a:t>Select the employee tuples whose salary is greater than $30,000:</a:t>
            </a:r>
          </a:p>
          <a:p>
            <a:pPr algn="ctr" eaLnBrk="1" hangingPunct="1">
              <a:lnSpc>
                <a:spcPct val="90000"/>
              </a:lnSpc>
              <a:buFont typeface="Wingdings" panose="05000000000000000000" pitchFamily="2" charset="2"/>
              <a:buNone/>
            </a:pPr>
            <a:r>
              <a:rPr lang="en-US" altLang="en-US" sz="2000" b="1" dirty="0">
                <a:latin typeface="Symbol" panose="05050102010706020507" pitchFamily="18" charset="2"/>
              </a:rPr>
              <a:t></a:t>
            </a:r>
            <a:r>
              <a:rPr lang="en-US" altLang="en-US" sz="1600" dirty="0"/>
              <a:t> </a:t>
            </a:r>
            <a:r>
              <a:rPr lang="en-US" altLang="en-US" sz="1600" baseline="-25000" dirty="0"/>
              <a:t>SALARY &gt; 30,000</a:t>
            </a:r>
            <a:r>
              <a:rPr lang="en-US" altLang="en-US" sz="1600" dirty="0"/>
              <a:t> (EMPLOYEE) </a:t>
            </a:r>
          </a:p>
          <a:p>
            <a:pPr algn="ctr" eaLnBrk="1" hangingPunct="1">
              <a:lnSpc>
                <a:spcPct val="90000"/>
              </a:lnSpc>
              <a:buFont typeface="Wingdings" panose="05000000000000000000" pitchFamily="2" charset="2"/>
              <a:buNone/>
            </a:pPr>
            <a:endParaRPr lang="en-US" altLang="en-US" sz="2000" dirty="0"/>
          </a:p>
        </p:txBody>
      </p:sp>
      <p:pic>
        <p:nvPicPr>
          <p:cNvPr id="7" name="Picture 6">
            <a:extLst>
              <a:ext uri="{FF2B5EF4-FFF2-40B4-BE49-F238E27FC236}">
                <a16:creationId xmlns:a16="http://schemas.microsoft.com/office/drawing/2014/main" id="{0605E9EA-C7BB-889B-4A48-0ADB43808476}"/>
              </a:ext>
            </a:extLst>
          </p:cNvPr>
          <p:cNvPicPr>
            <a:picLocks noChangeAspect="1"/>
          </p:cNvPicPr>
          <p:nvPr/>
        </p:nvPicPr>
        <p:blipFill>
          <a:blip r:embed="rId5"/>
          <a:stretch>
            <a:fillRect/>
          </a:stretch>
        </p:blipFill>
        <p:spPr>
          <a:xfrm>
            <a:off x="2722755" y="4504194"/>
            <a:ext cx="6116445" cy="2125206"/>
          </a:xfrm>
          <a:prstGeom prst="rect">
            <a:avLst/>
          </a:prstGeom>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a:extLst>
              <a:ext uri="{FF2B5EF4-FFF2-40B4-BE49-F238E27FC236}">
                <a16:creationId xmlns:a16="http://schemas.microsoft.com/office/drawing/2014/main" id="{7DA217F7-5F8E-7B3C-E5E6-C57C2DB35FD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325C85FD-6CE9-4D2D-83C8-31DD9484AF0D}" type="slidenum">
              <a:rPr lang="en-US" altLang="en-US" sz="1400">
                <a:solidFill>
                  <a:srgbClr val="990033"/>
                </a:solidFill>
              </a:rPr>
              <a:pPr>
                <a:spcBef>
                  <a:spcPct val="0"/>
                </a:spcBef>
                <a:buClrTx/>
                <a:buSzTx/>
                <a:buFontTx/>
                <a:buNone/>
              </a:pPr>
              <a:t>16</a:t>
            </a:fld>
            <a:endParaRPr lang="en-CA" altLang="en-US" sz="1400">
              <a:solidFill>
                <a:srgbClr val="990033"/>
              </a:solidFill>
            </a:endParaRPr>
          </a:p>
        </p:txBody>
      </p:sp>
      <p:sp>
        <p:nvSpPr>
          <p:cNvPr id="23555" name="Rectangle 4">
            <a:extLst>
              <a:ext uri="{FF2B5EF4-FFF2-40B4-BE49-F238E27FC236}">
                <a16:creationId xmlns:a16="http://schemas.microsoft.com/office/drawing/2014/main" id="{1A3C61A9-D52F-D88F-3473-AFD2544F8A04}"/>
              </a:ext>
            </a:extLst>
          </p:cNvPr>
          <p:cNvSpPr>
            <a:spLocks noGrp="1" noChangeArrowheads="1"/>
          </p:cNvSpPr>
          <p:nvPr>
            <p:ph type="title"/>
          </p:nvPr>
        </p:nvSpPr>
        <p:spPr>
          <a:noFill/>
        </p:spPr>
        <p:txBody>
          <a:bodyPr/>
          <a:lstStyle/>
          <a:p>
            <a:pPr eaLnBrk="1" hangingPunct="1"/>
            <a:r>
              <a:rPr lang="en-US" altLang="en-US" sz="3200"/>
              <a:t>Unary Relational Operations: PROJECT</a:t>
            </a:r>
          </a:p>
        </p:txBody>
      </p:sp>
      <p:sp>
        <p:nvSpPr>
          <p:cNvPr id="23556" name="Rectangle 5">
            <a:extLst>
              <a:ext uri="{FF2B5EF4-FFF2-40B4-BE49-F238E27FC236}">
                <a16:creationId xmlns:a16="http://schemas.microsoft.com/office/drawing/2014/main" id="{924DBE21-3E2A-4209-3846-6B9266861941}"/>
              </a:ext>
            </a:extLst>
          </p:cNvPr>
          <p:cNvSpPr>
            <a:spLocks noGrp="1" noChangeArrowheads="1"/>
          </p:cNvSpPr>
          <p:nvPr>
            <p:ph type="body" idx="1"/>
          </p:nvPr>
        </p:nvSpPr>
        <p:spPr/>
        <p:txBody>
          <a:bodyPr/>
          <a:lstStyle/>
          <a:p>
            <a:pPr eaLnBrk="1" hangingPunct="1">
              <a:lnSpc>
                <a:spcPct val="90000"/>
              </a:lnSpc>
            </a:pPr>
            <a:r>
              <a:rPr lang="en-US" altLang="en-US"/>
              <a:t>PROJECT Operation is denoted by </a:t>
            </a:r>
            <a:r>
              <a:rPr lang="en-US" altLang="en-US" b="1">
                <a:latin typeface="Symbol" panose="05050102010706020507" pitchFamily="18" charset="2"/>
              </a:rPr>
              <a:t></a:t>
            </a:r>
            <a:r>
              <a:rPr lang="en-US" altLang="en-US">
                <a:latin typeface="Symbol" panose="05050102010706020507" pitchFamily="18" charset="2"/>
              </a:rPr>
              <a:t> </a:t>
            </a:r>
            <a:r>
              <a:rPr lang="en-US" altLang="en-US"/>
              <a:t>(pi) </a:t>
            </a:r>
          </a:p>
          <a:p>
            <a:pPr eaLnBrk="1" hangingPunct="1">
              <a:lnSpc>
                <a:spcPct val="90000"/>
              </a:lnSpc>
            </a:pPr>
            <a:r>
              <a:rPr lang="en-US" altLang="en-US"/>
              <a:t>This operation keeps certain </a:t>
            </a:r>
            <a:r>
              <a:rPr lang="en-US" altLang="en-US" i="1"/>
              <a:t>columns</a:t>
            </a:r>
            <a:r>
              <a:rPr lang="en-US" altLang="en-US"/>
              <a:t> (attributes) from a relation and discards the other columns.</a:t>
            </a:r>
          </a:p>
          <a:p>
            <a:pPr lvl="1" eaLnBrk="1" hangingPunct="1">
              <a:lnSpc>
                <a:spcPct val="90000"/>
              </a:lnSpc>
            </a:pPr>
            <a:r>
              <a:rPr lang="en-US" altLang="en-US"/>
              <a:t>PROJECT creates a vertical partitioning</a:t>
            </a:r>
          </a:p>
          <a:p>
            <a:pPr lvl="2" eaLnBrk="1" hangingPunct="1">
              <a:lnSpc>
                <a:spcPct val="90000"/>
              </a:lnSpc>
            </a:pPr>
            <a:r>
              <a:rPr lang="en-US" altLang="en-US"/>
              <a:t>The list of specified columns (attributes) is kept in each tuple</a:t>
            </a:r>
          </a:p>
          <a:p>
            <a:pPr lvl="2" eaLnBrk="1" hangingPunct="1">
              <a:lnSpc>
                <a:spcPct val="90000"/>
              </a:lnSpc>
            </a:pPr>
            <a:r>
              <a:rPr lang="en-US" altLang="en-US"/>
              <a:t>The other attributes in each tuple are discarded</a:t>
            </a:r>
          </a:p>
          <a:p>
            <a:pPr eaLnBrk="1" hangingPunct="1">
              <a:lnSpc>
                <a:spcPct val="90000"/>
              </a:lnSpc>
            </a:pPr>
            <a:r>
              <a:rPr lang="en-US" altLang="en-US"/>
              <a:t>Example: To list each employee’s first and last name and salary, the following is used:</a:t>
            </a:r>
          </a:p>
          <a:p>
            <a:pPr lvl="1" algn="ctr" eaLnBrk="1" hangingPunct="1">
              <a:lnSpc>
                <a:spcPct val="90000"/>
              </a:lnSpc>
              <a:buFont typeface="Wingdings" panose="05000000000000000000" pitchFamily="2" charset="2"/>
              <a:buNone/>
            </a:pPr>
            <a:r>
              <a:rPr lang="en-US" altLang="en-US">
                <a:latin typeface="Symbol" panose="05050102010706020507" pitchFamily="18" charset="2"/>
              </a:rPr>
              <a:t></a:t>
            </a:r>
            <a:r>
              <a:rPr lang="en-US" altLang="en-US" baseline="-25000"/>
              <a:t>LNAME, FNAME,SALARY</a:t>
            </a:r>
            <a:r>
              <a:rPr lang="en-US" altLang="en-US"/>
              <a:t>(EMPLOYEE)</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a:extLst>
              <a:ext uri="{FF2B5EF4-FFF2-40B4-BE49-F238E27FC236}">
                <a16:creationId xmlns:a16="http://schemas.microsoft.com/office/drawing/2014/main" id="{9C45316D-ECBA-D5C3-BFB2-4A33EDA5B98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67DE6398-C1BA-4142-A511-A1AD316655A4}" type="slidenum">
              <a:rPr lang="en-US" altLang="en-US" sz="1400">
                <a:solidFill>
                  <a:srgbClr val="990033"/>
                </a:solidFill>
              </a:rPr>
              <a:pPr>
                <a:spcBef>
                  <a:spcPct val="0"/>
                </a:spcBef>
                <a:buClrTx/>
                <a:buSzTx/>
                <a:buFontTx/>
                <a:buNone/>
              </a:pPr>
              <a:t>17</a:t>
            </a:fld>
            <a:endParaRPr lang="en-CA" altLang="en-US" sz="1400">
              <a:solidFill>
                <a:srgbClr val="990033"/>
              </a:solidFill>
            </a:endParaRPr>
          </a:p>
        </p:txBody>
      </p:sp>
      <p:sp>
        <p:nvSpPr>
          <p:cNvPr id="24579" name="Rectangle 2">
            <a:extLst>
              <a:ext uri="{FF2B5EF4-FFF2-40B4-BE49-F238E27FC236}">
                <a16:creationId xmlns:a16="http://schemas.microsoft.com/office/drawing/2014/main" id="{DFF635FD-605B-D3D4-92B2-6DAAFBF06E9B}"/>
              </a:ext>
            </a:extLst>
          </p:cNvPr>
          <p:cNvSpPr>
            <a:spLocks noGrp="1" noChangeArrowheads="1"/>
          </p:cNvSpPr>
          <p:nvPr>
            <p:ph type="title"/>
          </p:nvPr>
        </p:nvSpPr>
        <p:spPr>
          <a:noFill/>
        </p:spPr>
        <p:txBody>
          <a:bodyPr/>
          <a:lstStyle/>
          <a:p>
            <a:pPr eaLnBrk="1" hangingPunct="1"/>
            <a:r>
              <a:rPr lang="en-US" altLang="en-US" sz="3200"/>
              <a:t>Unary Relational Operations: PROJECT (cont.)</a:t>
            </a:r>
          </a:p>
        </p:txBody>
      </p:sp>
      <p:sp>
        <p:nvSpPr>
          <p:cNvPr id="24580" name="Rectangle 3">
            <a:extLst>
              <a:ext uri="{FF2B5EF4-FFF2-40B4-BE49-F238E27FC236}">
                <a16:creationId xmlns:a16="http://schemas.microsoft.com/office/drawing/2014/main" id="{FA98792A-C4EE-A936-B1F3-4182193BA943}"/>
              </a:ext>
            </a:extLst>
          </p:cNvPr>
          <p:cNvSpPr>
            <a:spLocks noGrp="1" noChangeArrowheads="1"/>
          </p:cNvSpPr>
          <p:nvPr>
            <p:ph type="body" idx="1"/>
          </p:nvPr>
        </p:nvSpPr>
        <p:spPr/>
        <p:txBody>
          <a:bodyPr/>
          <a:lstStyle/>
          <a:p>
            <a:pPr eaLnBrk="1" hangingPunct="1">
              <a:lnSpc>
                <a:spcPct val="80000"/>
              </a:lnSpc>
            </a:pPr>
            <a:endParaRPr lang="en-US" altLang="en-US"/>
          </a:p>
          <a:p>
            <a:pPr eaLnBrk="1" hangingPunct="1">
              <a:lnSpc>
                <a:spcPct val="80000"/>
              </a:lnSpc>
            </a:pPr>
            <a:r>
              <a:rPr lang="en-US" altLang="en-US"/>
              <a:t>The general form of the </a:t>
            </a:r>
            <a:r>
              <a:rPr lang="en-US" altLang="en-US" i="1"/>
              <a:t>project</a:t>
            </a:r>
            <a:r>
              <a:rPr lang="en-US" altLang="en-US"/>
              <a:t> operation is:</a:t>
            </a:r>
          </a:p>
          <a:p>
            <a:pPr algn="ctr" eaLnBrk="1" hangingPunct="1">
              <a:lnSpc>
                <a:spcPct val="80000"/>
              </a:lnSpc>
              <a:buFont typeface="Wingdings" panose="05000000000000000000" pitchFamily="2" charset="2"/>
              <a:buNone/>
            </a:pPr>
            <a:r>
              <a:rPr lang="en-US" altLang="en-US">
                <a:latin typeface="Symbol" panose="05050102010706020507" pitchFamily="18" charset="2"/>
              </a:rPr>
              <a:t></a:t>
            </a:r>
            <a:r>
              <a:rPr lang="en-US" altLang="en-US" baseline="-25000"/>
              <a:t>&lt;attribute list&gt;</a:t>
            </a:r>
            <a:r>
              <a:rPr lang="en-US" altLang="en-US"/>
              <a:t>(R)</a:t>
            </a:r>
          </a:p>
          <a:p>
            <a:pPr lvl="1" eaLnBrk="1" hangingPunct="1">
              <a:lnSpc>
                <a:spcPct val="80000"/>
              </a:lnSpc>
            </a:pPr>
            <a:r>
              <a:rPr lang="en-US" altLang="en-US">
                <a:latin typeface="Symbol" panose="05050102010706020507" pitchFamily="18" charset="2"/>
              </a:rPr>
              <a:t></a:t>
            </a:r>
            <a:r>
              <a:rPr lang="en-US" altLang="en-US"/>
              <a:t> (pi) is the symbol used to represent the </a:t>
            </a:r>
            <a:r>
              <a:rPr lang="en-US" altLang="en-US" i="1"/>
              <a:t>project</a:t>
            </a:r>
            <a:r>
              <a:rPr lang="en-US" altLang="en-US"/>
              <a:t> operation</a:t>
            </a:r>
          </a:p>
          <a:p>
            <a:pPr lvl="1" eaLnBrk="1" hangingPunct="1">
              <a:lnSpc>
                <a:spcPct val="80000"/>
              </a:lnSpc>
            </a:pPr>
            <a:r>
              <a:rPr lang="en-US" altLang="en-US"/>
              <a:t>&lt;attribute list&gt; is the desired list of attributes from relation R. </a:t>
            </a:r>
          </a:p>
          <a:p>
            <a:pPr eaLnBrk="1" hangingPunct="1">
              <a:lnSpc>
                <a:spcPct val="80000"/>
              </a:lnSpc>
            </a:pPr>
            <a:r>
              <a:rPr lang="en-US" altLang="en-US"/>
              <a:t>The project operation </a:t>
            </a:r>
            <a:r>
              <a:rPr lang="en-US" altLang="en-US" i="1"/>
              <a:t>removes any duplicate tuples</a:t>
            </a:r>
            <a:endParaRPr lang="en-US" altLang="en-US"/>
          </a:p>
          <a:p>
            <a:pPr lvl="1" eaLnBrk="1" hangingPunct="1">
              <a:lnSpc>
                <a:spcPct val="80000"/>
              </a:lnSpc>
            </a:pPr>
            <a:r>
              <a:rPr lang="en-US" altLang="en-US"/>
              <a:t>This is because the result of the </a:t>
            </a:r>
            <a:r>
              <a:rPr lang="en-US" altLang="en-US" i="1"/>
              <a:t>project</a:t>
            </a:r>
            <a:r>
              <a:rPr lang="en-US" altLang="en-US"/>
              <a:t> operation must be a </a:t>
            </a:r>
            <a:r>
              <a:rPr lang="en-US" altLang="en-US" i="1"/>
              <a:t>set of tuples</a:t>
            </a:r>
          </a:p>
          <a:p>
            <a:pPr lvl="2" eaLnBrk="1" hangingPunct="1">
              <a:lnSpc>
                <a:spcPct val="80000"/>
              </a:lnSpc>
            </a:pPr>
            <a:r>
              <a:rPr lang="en-US" altLang="en-US"/>
              <a:t>Mathematical sets </a:t>
            </a:r>
            <a:r>
              <a:rPr lang="en-US" altLang="en-US" i="1"/>
              <a:t>do not allow</a:t>
            </a:r>
            <a:r>
              <a:rPr lang="en-US" altLang="en-US"/>
              <a:t> duplicate elements.</a:t>
            </a:r>
          </a:p>
          <a:p>
            <a:pPr eaLnBrk="1" hangingPunct="1">
              <a:lnSpc>
                <a:spcPct val="80000"/>
              </a:lnSpc>
            </a:pPr>
            <a:endParaRPr lang="en-US" altLang="en-US"/>
          </a:p>
          <a:p>
            <a:pPr eaLnBrk="1" hangingPunct="1">
              <a:lnSpc>
                <a:spcPct val="80000"/>
              </a:lnSpc>
            </a:pPr>
            <a:endParaRPr lang="en-US" altLang="en-US"/>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a:extLst>
              <a:ext uri="{FF2B5EF4-FFF2-40B4-BE49-F238E27FC236}">
                <a16:creationId xmlns:a16="http://schemas.microsoft.com/office/drawing/2014/main" id="{72953F33-C422-5913-86DE-390092F9690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73D4027E-3DA6-469F-AE5F-8481F3588D66}" type="slidenum">
              <a:rPr lang="en-US" altLang="en-US" sz="1400">
                <a:solidFill>
                  <a:srgbClr val="990033"/>
                </a:solidFill>
              </a:rPr>
              <a:pPr>
                <a:spcBef>
                  <a:spcPct val="0"/>
                </a:spcBef>
                <a:buClrTx/>
                <a:buSzTx/>
                <a:buFontTx/>
                <a:buNone/>
              </a:pPr>
              <a:t>18</a:t>
            </a:fld>
            <a:endParaRPr lang="en-CA" altLang="en-US" sz="1400">
              <a:solidFill>
                <a:srgbClr val="990033"/>
              </a:solidFill>
            </a:endParaRPr>
          </a:p>
        </p:txBody>
      </p:sp>
      <p:sp>
        <p:nvSpPr>
          <p:cNvPr id="25603" name="Rectangle 4">
            <a:extLst>
              <a:ext uri="{FF2B5EF4-FFF2-40B4-BE49-F238E27FC236}">
                <a16:creationId xmlns:a16="http://schemas.microsoft.com/office/drawing/2014/main" id="{BC06C2F1-6496-3049-60F4-A1EF4DADF863}"/>
              </a:ext>
            </a:extLst>
          </p:cNvPr>
          <p:cNvSpPr>
            <a:spLocks noGrp="1" noChangeArrowheads="1"/>
          </p:cNvSpPr>
          <p:nvPr>
            <p:ph type="title"/>
          </p:nvPr>
        </p:nvSpPr>
        <p:spPr>
          <a:noFill/>
        </p:spPr>
        <p:txBody>
          <a:bodyPr/>
          <a:lstStyle/>
          <a:p>
            <a:pPr eaLnBrk="1" hangingPunct="1"/>
            <a:r>
              <a:rPr lang="en-US" altLang="en-US" sz="3200"/>
              <a:t>Unary Relational Operations: PROJECT (contd.)</a:t>
            </a:r>
          </a:p>
        </p:txBody>
      </p:sp>
      <p:sp>
        <p:nvSpPr>
          <p:cNvPr id="25604" name="Rectangle 5">
            <a:extLst>
              <a:ext uri="{FF2B5EF4-FFF2-40B4-BE49-F238E27FC236}">
                <a16:creationId xmlns:a16="http://schemas.microsoft.com/office/drawing/2014/main" id="{24925C8D-2073-11EF-28B0-A0AE346FE94D}"/>
              </a:ext>
            </a:extLst>
          </p:cNvPr>
          <p:cNvSpPr>
            <a:spLocks noGrp="1" noChangeArrowheads="1"/>
          </p:cNvSpPr>
          <p:nvPr>
            <p:ph type="body" idx="1"/>
          </p:nvPr>
        </p:nvSpPr>
        <p:spPr/>
        <p:txBody>
          <a:bodyPr/>
          <a:lstStyle/>
          <a:p>
            <a:pPr eaLnBrk="1" hangingPunct="1"/>
            <a:r>
              <a:rPr lang="en-US" altLang="en-US" dirty="0"/>
              <a:t>PROJECT Operation Properties</a:t>
            </a:r>
          </a:p>
          <a:p>
            <a:pPr lvl="1" eaLnBrk="1" hangingPunct="1"/>
            <a:r>
              <a:rPr lang="en-US" altLang="en-US" dirty="0"/>
              <a:t>The number of tuples in the result of projection </a:t>
            </a:r>
            <a:r>
              <a:rPr lang="en-US" altLang="en-US" dirty="0">
                <a:latin typeface="Symbol" panose="05050102010706020507" pitchFamily="18" charset="2"/>
              </a:rPr>
              <a:t></a:t>
            </a:r>
            <a:r>
              <a:rPr lang="en-US" altLang="en-US" baseline="-25000" dirty="0"/>
              <a:t>&lt;list&gt;</a:t>
            </a:r>
            <a:r>
              <a:rPr lang="en-US" altLang="en-US" dirty="0"/>
              <a:t>(R) is always less or equal to the number of tuples in R</a:t>
            </a:r>
          </a:p>
          <a:p>
            <a:pPr lvl="2" eaLnBrk="1" hangingPunct="1"/>
            <a:r>
              <a:rPr lang="en-US" altLang="en-US" dirty="0"/>
              <a:t>If the list of attributes includes a </a:t>
            </a:r>
            <a:r>
              <a:rPr lang="en-US" altLang="en-US" i="1" dirty="0"/>
              <a:t>key</a:t>
            </a:r>
            <a:r>
              <a:rPr lang="en-US" altLang="en-US" dirty="0"/>
              <a:t> of R, then the number of tuples in the result of PROJECT is </a:t>
            </a:r>
            <a:r>
              <a:rPr lang="en-US" altLang="en-US" i="1" dirty="0"/>
              <a:t>equal</a:t>
            </a:r>
            <a:r>
              <a:rPr lang="en-US" altLang="en-US" dirty="0"/>
              <a:t> to the number of tuples in R</a:t>
            </a:r>
          </a:p>
          <a:p>
            <a:pPr lvl="1" eaLnBrk="1" hangingPunct="1"/>
            <a:r>
              <a:rPr lang="en-US" altLang="en-US" dirty="0"/>
              <a:t>PROJECT is </a:t>
            </a:r>
            <a:r>
              <a:rPr lang="en-US" altLang="en-US" i="1" dirty="0"/>
              <a:t>not</a:t>
            </a:r>
            <a:r>
              <a:rPr lang="en-US" altLang="en-US" dirty="0"/>
              <a:t> commutative</a:t>
            </a:r>
          </a:p>
          <a:p>
            <a:pPr lvl="2" eaLnBrk="1" hangingPunct="1"/>
            <a:r>
              <a:rPr lang="en-US" altLang="en-US" dirty="0">
                <a:latin typeface="Symbol" panose="05050102010706020507" pitchFamily="18" charset="2"/>
              </a:rPr>
              <a:t></a:t>
            </a:r>
            <a:r>
              <a:rPr lang="en-US" altLang="en-US" dirty="0"/>
              <a:t> </a:t>
            </a:r>
            <a:r>
              <a:rPr lang="en-US" altLang="en-US" baseline="-25000" dirty="0"/>
              <a:t>&lt;list1&gt;</a:t>
            </a:r>
            <a:r>
              <a:rPr lang="en-US" altLang="en-US" dirty="0"/>
              <a:t> (</a:t>
            </a:r>
            <a:r>
              <a:rPr lang="en-US" altLang="en-US" dirty="0">
                <a:latin typeface="Symbol" panose="05050102010706020507" pitchFamily="18" charset="2"/>
              </a:rPr>
              <a:t></a:t>
            </a:r>
            <a:r>
              <a:rPr lang="en-US" altLang="en-US" dirty="0"/>
              <a:t> </a:t>
            </a:r>
            <a:r>
              <a:rPr lang="en-US" altLang="en-US" baseline="-25000" dirty="0"/>
              <a:t>&lt;list2&gt;</a:t>
            </a:r>
            <a:r>
              <a:rPr lang="en-US" altLang="en-US" dirty="0"/>
              <a:t> (R) ) = </a:t>
            </a:r>
            <a:r>
              <a:rPr lang="en-US" altLang="en-US" dirty="0">
                <a:latin typeface="Symbol" panose="05050102010706020507" pitchFamily="18" charset="2"/>
              </a:rPr>
              <a:t></a:t>
            </a:r>
            <a:r>
              <a:rPr lang="en-US" altLang="en-US" dirty="0"/>
              <a:t> </a:t>
            </a:r>
            <a:r>
              <a:rPr lang="en-US" altLang="en-US" baseline="-25000" dirty="0"/>
              <a:t>&lt;list1&gt;</a:t>
            </a:r>
            <a:r>
              <a:rPr lang="en-US" altLang="en-US" dirty="0"/>
              <a:t> (R) </a:t>
            </a:r>
          </a:p>
          <a:p>
            <a:pPr lvl="3" eaLnBrk="1" hangingPunct="1"/>
            <a:r>
              <a:rPr lang="en-US" altLang="en-US" dirty="0"/>
              <a:t>Only if &lt;list2&gt; contains the attributes in &lt;list1&gt; </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2">
            <a:extLst>
              <a:ext uri="{FF2B5EF4-FFF2-40B4-BE49-F238E27FC236}">
                <a16:creationId xmlns:a16="http://schemas.microsoft.com/office/drawing/2014/main" id="{3FB92AC0-6E94-D213-D228-0BA6F501595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B25A2BF7-98DC-4926-B979-133573BA2544}" type="slidenum">
              <a:rPr lang="en-US" altLang="en-US" sz="1400">
                <a:solidFill>
                  <a:srgbClr val="990033"/>
                </a:solidFill>
              </a:rPr>
              <a:pPr>
                <a:spcBef>
                  <a:spcPct val="0"/>
                </a:spcBef>
                <a:buClrTx/>
                <a:buSzTx/>
                <a:buFontTx/>
                <a:buNone/>
              </a:pPr>
              <a:t>19</a:t>
            </a:fld>
            <a:endParaRPr lang="en-CA" altLang="en-US" sz="1400">
              <a:solidFill>
                <a:srgbClr val="990033"/>
              </a:solidFill>
            </a:endParaRPr>
          </a:p>
        </p:txBody>
      </p:sp>
      <p:sp>
        <p:nvSpPr>
          <p:cNvPr id="26627" name="Rectangle 4">
            <a:extLst>
              <a:ext uri="{FF2B5EF4-FFF2-40B4-BE49-F238E27FC236}">
                <a16:creationId xmlns:a16="http://schemas.microsoft.com/office/drawing/2014/main" id="{CDF67E1A-AC73-A930-F738-828450376365}"/>
              </a:ext>
            </a:extLst>
          </p:cNvPr>
          <p:cNvSpPr>
            <a:spLocks noGrp="1" noChangeArrowheads="1"/>
          </p:cNvSpPr>
          <p:nvPr>
            <p:ph type="title"/>
          </p:nvPr>
        </p:nvSpPr>
        <p:spPr>
          <a:noFill/>
        </p:spPr>
        <p:txBody>
          <a:bodyPr/>
          <a:lstStyle/>
          <a:p>
            <a:pPr eaLnBrk="1" hangingPunct="1"/>
            <a:r>
              <a:rPr lang="en-US" altLang="en-US" sz="3200"/>
              <a:t>Examples of applying SELECT and PROJECT operations</a:t>
            </a:r>
          </a:p>
        </p:txBody>
      </p:sp>
      <p:pic>
        <p:nvPicPr>
          <p:cNvPr id="26628" name="Picture 1">
            <a:extLst>
              <a:ext uri="{FF2B5EF4-FFF2-40B4-BE49-F238E27FC236}">
                <a16:creationId xmlns:a16="http://schemas.microsoft.com/office/drawing/2014/main" id="{734ED988-72F6-39AC-8441-52546A7C1829}"/>
              </a:ext>
            </a:extLst>
          </p:cNvPr>
          <p:cNvPicPr>
            <a:picLocks noChangeAspect="1"/>
          </p:cNvPicPr>
          <p:nvPr/>
        </p:nvPicPr>
        <p:blipFill rotWithShape="1">
          <a:blip r:embed="rId3">
            <a:extLst>
              <a:ext uri="{28A0092B-C50C-407E-A947-70E740481C1C}">
                <a14:useLocalDpi xmlns:a14="http://schemas.microsoft.com/office/drawing/2010/main" val="0"/>
              </a:ext>
            </a:extLst>
          </a:blip>
          <a:srcRect l="4669" t="47672" r="69531" b="18678"/>
          <a:stretch/>
        </p:blipFill>
        <p:spPr bwMode="auto">
          <a:xfrm>
            <a:off x="1627737" y="4220308"/>
            <a:ext cx="2362200" cy="2310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C194BE47-CDCC-A2EF-A30F-5801138ADBE5}"/>
              </a:ext>
            </a:extLst>
          </p:cNvPr>
          <p:cNvPicPr>
            <a:picLocks noChangeAspect="1"/>
          </p:cNvPicPr>
          <p:nvPr/>
        </p:nvPicPr>
        <p:blipFill>
          <a:blip r:embed="rId4"/>
          <a:stretch>
            <a:fillRect/>
          </a:stretch>
        </p:blipFill>
        <p:spPr>
          <a:xfrm>
            <a:off x="1592751" y="1551484"/>
            <a:ext cx="6116445" cy="2125206"/>
          </a:xfrm>
          <a:prstGeom prst="rect">
            <a:avLst/>
          </a:prstGeom>
        </p:spPr>
      </p:pic>
      <p:pic>
        <p:nvPicPr>
          <p:cNvPr id="4" name="Picture 3">
            <a:extLst>
              <a:ext uri="{FF2B5EF4-FFF2-40B4-BE49-F238E27FC236}">
                <a16:creationId xmlns:a16="http://schemas.microsoft.com/office/drawing/2014/main" id="{5E50BA42-0C49-A9E2-0797-784CE3EABFB0}"/>
              </a:ext>
            </a:extLst>
          </p:cNvPr>
          <p:cNvPicPr>
            <a:picLocks noChangeAspect="1"/>
          </p:cNvPicPr>
          <p:nvPr/>
        </p:nvPicPr>
        <p:blipFill>
          <a:blip r:embed="rId5"/>
          <a:stretch>
            <a:fillRect/>
          </a:stretch>
        </p:blipFill>
        <p:spPr>
          <a:xfrm>
            <a:off x="685799" y="3674208"/>
            <a:ext cx="4246077" cy="516792"/>
          </a:xfrm>
          <a:prstGeom prst="rect">
            <a:avLst/>
          </a:prstGeom>
        </p:spPr>
      </p:pic>
      <p:pic>
        <p:nvPicPr>
          <p:cNvPr id="5" name="Picture 1">
            <a:extLst>
              <a:ext uri="{FF2B5EF4-FFF2-40B4-BE49-F238E27FC236}">
                <a16:creationId xmlns:a16="http://schemas.microsoft.com/office/drawing/2014/main" id="{11549DE6-8988-66BC-AFCB-903313345FCC}"/>
              </a:ext>
            </a:extLst>
          </p:cNvPr>
          <p:cNvPicPr>
            <a:picLocks noChangeAspect="1"/>
          </p:cNvPicPr>
          <p:nvPr/>
        </p:nvPicPr>
        <p:blipFill rotWithShape="1">
          <a:blip r:embed="rId3">
            <a:extLst>
              <a:ext uri="{28A0092B-C50C-407E-A947-70E740481C1C}">
                <a14:useLocalDpi xmlns:a14="http://schemas.microsoft.com/office/drawing/2010/main" val="0"/>
              </a:ext>
            </a:extLst>
          </a:blip>
          <a:srcRect l="36295" t="47672" r="50389" b="23117"/>
          <a:stretch/>
        </p:blipFill>
        <p:spPr bwMode="auto">
          <a:xfrm>
            <a:off x="6324600" y="4248321"/>
            <a:ext cx="1219200" cy="200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E9F03B44-573E-6865-7A6B-A00EBE1F96A8}"/>
              </a:ext>
            </a:extLst>
          </p:cNvPr>
          <p:cNvPicPr>
            <a:picLocks noChangeAspect="1"/>
          </p:cNvPicPr>
          <p:nvPr/>
        </p:nvPicPr>
        <p:blipFill>
          <a:blip r:embed="rId6"/>
          <a:stretch>
            <a:fillRect/>
          </a:stretch>
        </p:blipFill>
        <p:spPr>
          <a:xfrm>
            <a:off x="5486400" y="3716703"/>
            <a:ext cx="3340098" cy="525756"/>
          </a:xfrm>
          <a:prstGeom prst="rect">
            <a:avLst/>
          </a:prstGeom>
        </p:spPr>
      </p:pic>
      <p:pic>
        <p:nvPicPr>
          <p:cNvPr id="9" name="Picture 8">
            <a:extLst>
              <a:ext uri="{FF2B5EF4-FFF2-40B4-BE49-F238E27FC236}">
                <a16:creationId xmlns:a16="http://schemas.microsoft.com/office/drawing/2014/main" id="{EF55F37D-4A81-6566-08D4-3550A8802101}"/>
              </a:ext>
            </a:extLst>
          </p:cNvPr>
          <p:cNvPicPr>
            <a:picLocks noChangeAspect="1"/>
          </p:cNvPicPr>
          <p:nvPr/>
        </p:nvPicPr>
        <p:blipFill>
          <a:blip r:embed="rId7"/>
          <a:srcRect l="12474" t="55106" r="21851" b="766"/>
          <a:stretch/>
        </p:blipFill>
        <p:spPr>
          <a:xfrm>
            <a:off x="5029199" y="6272652"/>
            <a:ext cx="2590801" cy="516792"/>
          </a:xfrm>
          <a:prstGeom prst="rect">
            <a:avLst/>
          </a:prstGeom>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3">
            <a:extLst>
              <a:ext uri="{FF2B5EF4-FFF2-40B4-BE49-F238E27FC236}">
                <a16:creationId xmlns:a16="http://schemas.microsoft.com/office/drawing/2014/main" id="{A9A847DC-5609-684A-734A-9D9989FADB5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285BC56C-4511-42F2-B249-16D30036A0A7}" type="slidenum">
              <a:rPr lang="en-US" altLang="en-US" sz="1400">
                <a:solidFill>
                  <a:srgbClr val="990033"/>
                </a:solidFill>
              </a:rPr>
              <a:pPr>
                <a:spcBef>
                  <a:spcPct val="0"/>
                </a:spcBef>
                <a:buClrTx/>
                <a:buSzTx/>
                <a:buFontTx/>
                <a:buNone/>
              </a:pPr>
              <a:t>20</a:t>
            </a:fld>
            <a:endParaRPr lang="en-CA" altLang="en-US" sz="1400">
              <a:solidFill>
                <a:srgbClr val="990033"/>
              </a:solidFill>
            </a:endParaRPr>
          </a:p>
        </p:txBody>
      </p:sp>
      <p:sp>
        <p:nvSpPr>
          <p:cNvPr id="27651" name="Rectangle 2">
            <a:extLst>
              <a:ext uri="{FF2B5EF4-FFF2-40B4-BE49-F238E27FC236}">
                <a16:creationId xmlns:a16="http://schemas.microsoft.com/office/drawing/2014/main" id="{7876B424-9B59-051D-5243-8A47987BF95F}"/>
              </a:ext>
            </a:extLst>
          </p:cNvPr>
          <p:cNvSpPr>
            <a:spLocks noGrp="1" noChangeArrowheads="1"/>
          </p:cNvSpPr>
          <p:nvPr>
            <p:ph type="title"/>
          </p:nvPr>
        </p:nvSpPr>
        <p:spPr>
          <a:noFill/>
        </p:spPr>
        <p:txBody>
          <a:bodyPr/>
          <a:lstStyle/>
          <a:p>
            <a:pPr eaLnBrk="1" hangingPunct="1"/>
            <a:r>
              <a:rPr lang="en-US" altLang="en-US"/>
              <a:t>Relational Algebra Expressions</a:t>
            </a:r>
          </a:p>
        </p:txBody>
      </p:sp>
      <p:sp>
        <p:nvSpPr>
          <p:cNvPr id="27652" name="Rectangle 3">
            <a:extLst>
              <a:ext uri="{FF2B5EF4-FFF2-40B4-BE49-F238E27FC236}">
                <a16:creationId xmlns:a16="http://schemas.microsoft.com/office/drawing/2014/main" id="{9828DE9D-AC25-8801-50F7-582422AA4835}"/>
              </a:ext>
            </a:extLst>
          </p:cNvPr>
          <p:cNvSpPr>
            <a:spLocks noGrp="1" noChangeArrowheads="1"/>
          </p:cNvSpPr>
          <p:nvPr>
            <p:ph type="body" idx="1"/>
          </p:nvPr>
        </p:nvSpPr>
        <p:spPr/>
        <p:txBody>
          <a:bodyPr/>
          <a:lstStyle/>
          <a:p>
            <a:pPr eaLnBrk="1" hangingPunct="1"/>
            <a:r>
              <a:rPr lang="en-US" altLang="en-US"/>
              <a:t>We may want to apply several relational algebra operations one after the other</a:t>
            </a:r>
          </a:p>
          <a:p>
            <a:pPr lvl="1" eaLnBrk="1" hangingPunct="1"/>
            <a:r>
              <a:rPr lang="en-US" altLang="en-US"/>
              <a:t>Either we can write the operations as a single </a:t>
            </a:r>
            <a:r>
              <a:rPr lang="en-US" altLang="en-US" b="1"/>
              <a:t>relational algebra expression</a:t>
            </a:r>
            <a:r>
              <a:rPr lang="en-US" altLang="en-US"/>
              <a:t> by nesting the operations, or</a:t>
            </a:r>
          </a:p>
          <a:p>
            <a:pPr lvl="1" eaLnBrk="1" hangingPunct="1"/>
            <a:r>
              <a:rPr lang="en-US" altLang="en-US"/>
              <a:t>We can apply one operation at a time and create </a:t>
            </a:r>
            <a:r>
              <a:rPr lang="en-US" altLang="en-US" b="1"/>
              <a:t>intermediate result relations</a:t>
            </a:r>
            <a:r>
              <a:rPr lang="en-US" altLang="en-US"/>
              <a:t>.</a:t>
            </a:r>
          </a:p>
          <a:p>
            <a:pPr eaLnBrk="1" hangingPunct="1"/>
            <a:r>
              <a:rPr lang="en-US" altLang="en-US" sz="3000"/>
              <a:t>In the latter case, we must give names to the relations that hold the intermediate results. </a:t>
            </a:r>
            <a:r>
              <a:rPr lang="en-US" altLang="en-US" sz="3100"/>
              <a:t>	</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3">
            <a:extLst>
              <a:ext uri="{FF2B5EF4-FFF2-40B4-BE49-F238E27FC236}">
                <a16:creationId xmlns:a16="http://schemas.microsoft.com/office/drawing/2014/main" id="{16C04104-940C-E9EE-42FB-EBF1D0ED546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6977A00C-D6F9-4D7C-9355-CACD73C9F0E5}" type="slidenum">
              <a:rPr lang="en-US" altLang="en-US" sz="1400">
                <a:solidFill>
                  <a:srgbClr val="990033"/>
                </a:solidFill>
              </a:rPr>
              <a:pPr>
                <a:spcBef>
                  <a:spcPct val="0"/>
                </a:spcBef>
                <a:buClrTx/>
                <a:buSzTx/>
                <a:buFontTx/>
                <a:buNone/>
              </a:pPr>
              <a:t>21</a:t>
            </a:fld>
            <a:endParaRPr lang="en-CA" altLang="en-US" sz="1400">
              <a:solidFill>
                <a:srgbClr val="990033"/>
              </a:solidFill>
            </a:endParaRPr>
          </a:p>
        </p:txBody>
      </p:sp>
      <p:sp>
        <p:nvSpPr>
          <p:cNvPr id="28675" name="Rectangle 2">
            <a:extLst>
              <a:ext uri="{FF2B5EF4-FFF2-40B4-BE49-F238E27FC236}">
                <a16:creationId xmlns:a16="http://schemas.microsoft.com/office/drawing/2014/main" id="{E3AF035D-29C9-D11B-0B25-FBA8835AE35C}"/>
              </a:ext>
            </a:extLst>
          </p:cNvPr>
          <p:cNvSpPr>
            <a:spLocks noGrp="1" noChangeArrowheads="1"/>
          </p:cNvSpPr>
          <p:nvPr>
            <p:ph type="title"/>
          </p:nvPr>
        </p:nvSpPr>
        <p:spPr>
          <a:noFill/>
        </p:spPr>
        <p:txBody>
          <a:bodyPr/>
          <a:lstStyle/>
          <a:p>
            <a:pPr eaLnBrk="1" hangingPunct="1"/>
            <a:r>
              <a:rPr lang="en-US" altLang="en-US" sz="3200"/>
              <a:t>Single expression versus sequence of relational operations (Example)</a:t>
            </a:r>
          </a:p>
        </p:txBody>
      </p:sp>
      <p:sp>
        <p:nvSpPr>
          <p:cNvPr id="28676" name="Rectangle 3">
            <a:extLst>
              <a:ext uri="{FF2B5EF4-FFF2-40B4-BE49-F238E27FC236}">
                <a16:creationId xmlns:a16="http://schemas.microsoft.com/office/drawing/2014/main" id="{CC53EAFE-EABC-21FE-01B0-EC1509874039}"/>
              </a:ext>
            </a:extLst>
          </p:cNvPr>
          <p:cNvSpPr>
            <a:spLocks noGrp="1" noChangeArrowheads="1"/>
          </p:cNvSpPr>
          <p:nvPr>
            <p:ph type="body" idx="1"/>
          </p:nvPr>
        </p:nvSpPr>
        <p:spPr/>
        <p:txBody>
          <a:bodyPr/>
          <a:lstStyle/>
          <a:p>
            <a:pPr eaLnBrk="1" hangingPunct="1"/>
            <a:r>
              <a:rPr lang="en-US" altLang="en-US" sz="2400" dirty="0"/>
              <a:t>To retrieve the first name, last name, and salary of all employees who work in department number 5, we must apply a select and a project operation</a:t>
            </a:r>
          </a:p>
          <a:p>
            <a:pPr eaLnBrk="1" hangingPunct="1"/>
            <a:r>
              <a:rPr lang="en-US" altLang="en-US" sz="2400" dirty="0"/>
              <a:t>We can write a </a:t>
            </a:r>
            <a:r>
              <a:rPr lang="en-US" altLang="en-US" sz="2400" i="1" dirty="0"/>
              <a:t>single relational algebra expression</a:t>
            </a:r>
            <a:r>
              <a:rPr lang="en-US" altLang="en-US" sz="2400" dirty="0"/>
              <a:t> as follows: </a:t>
            </a:r>
          </a:p>
          <a:p>
            <a:pPr lvl="1" eaLnBrk="1" hangingPunct="1"/>
            <a:r>
              <a:rPr lang="en-US" altLang="en-US" sz="2400" dirty="0"/>
              <a:t>RESULT </a:t>
            </a:r>
            <a:r>
              <a:rPr lang="en-US" altLang="en-US" sz="2400" dirty="0">
                <a:sym typeface="Symbol" panose="05050102010706020507" pitchFamily="18" charset="2"/>
              </a:rPr>
              <a:t> </a:t>
            </a:r>
            <a:r>
              <a:rPr lang="en-US" altLang="en-US" sz="2400" b="1" dirty="0">
                <a:latin typeface="Symbol" panose="05050102010706020507" pitchFamily="18" charset="2"/>
              </a:rPr>
              <a:t></a:t>
            </a:r>
            <a:r>
              <a:rPr lang="en-US" altLang="en-US" sz="2400" baseline="-25000" dirty="0"/>
              <a:t>FNAME, LNAME, SALARY</a:t>
            </a:r>
            <a:r>
              <a:rPr lang="en-US" altLang="en-US" sz="2400" dirty="0"/>
              <a:t>(</a:t>
            </a:r>
            <a:r>
              <a:rPr lang="en-US" altLang="en-US" sz="2400" b="1" dirty="0">
                <a:latin typeface="Symbol" panose="05050102010706020507" pitchFamily="18" charset="2"/>
              </a:rPr>
              <a:t></a:t>
            </a:r>
            <a:r>
              <a:rPr lang="en-US" altLang="en-US" sz="2400" dirty="0"/>
              <a:t> </a:t>
            </a:r>
            <a:r>
              <a:rPr lang="en-US" altLang="en-US" sz="2400" baseline="-25000" dirty="0"/>
              <a:t>DNO=5</a:t>
            </a:r>
            <a:r>
              <a:rPr lang="en-US" altLang="en-US" sz="2400" dirty="0"/>
              <a:t>(EMPLOYEE))</a:t>
            </a:r>
          </a:p>
          <a:p>
            <a:pPr eaLnBrk="1" hangingPunct="1"/>
            <a:r>
              <a:rPr lang="en-US" altLang="en-US" sz="2400" dirty="0"/>
              <a:t>OR We can explicitly show the </a:t>
            </a:r>
            <a:r>
              <a:rPr lang="en-US" altLang="en-US" sz="2400" i="1" dirty="0"/>
              <a:t>sequence of operations</a:t>
            </a:r>
            <a:r>
              <a:rPr lang="en-US" altLang="en-US" sz="2400" dirty="0"/>
              <a:t>, giving a name to each intermediate relation:</a:t>
            </a:r>
          </a:p>
          <a:p>
            <a:pPr lvl="1" eaLnBrk="1" hangingPunct="1"/>
            <a:r>
              <a:rPr lang="en-US" altLang="en-US" sz="2400" dirty="0"/>
              <a:t>DEP5_EMPS </a:t>
            </a:r>
            <a:r>
              <a:rPr lang="en-US" altLang="en-US" sz="2400" dirty="0">
                <a:sym typeface="Symbol" panose="05050102010706020507" pitchFamily="18" charset="2"/>
              </a:rPr>
              <a:t> </a:t>
            </a:r>
            <a:r>
              <a:rPr lang="en-US" altLang="en-US" sz="2400" b="1" dirty="0">
                <a:latin typeface="Symbol" panose="05050102010706020507" pitchFamily="18" charset="2"/>
              </a:rPr>
              <a:t></a:t>
            </a:r>
            <a:r>
              <a:rPr lang="en-US" altLang="en-US" sz="2400" dirty="0"/>
              <a:t> </a:t>
            </a:r>
            <a:r>
              <a:rPr lang="en-US" altLang="en-US" sz="2400" baseline="-25000" dirty="0"/>
              <a:t>DNO=5</a:t>
            </a:r>
            <a:r>
              <a:rPr lang="en-US" altLang="en-US" sz="2400" dirty="0"/>
              <a:t>(EMPLOYEE)</a:t>
            </a:r>
          </a:p>
          <a:p>
            <a:pPr lvl="1" eaLnBrk="1" hangingPunct="1"/>
            <a:r>
              <a:rPr lang="en-US" altLang="en-US" sz="2400" dirty="0"/>
              <a:t>RESULT </a:t>
            </a:r>
            <a:r>
              <a:rPr lang="en-US" altLang="en-US" sz="2400" dirty="0">
                <a:sym typeface="Symbol" panose="05050102010706020507" pitchFamily="18" charset="2"/>
              </a:rPr>
              <a:t> </a:t>
            </a:r>
            <a:r>
              <a:rPr lang="en-US" altLang="en-US" sz="2400" b="1" dirty="0">
                <a:latin typeface="Symbol" panose="05050102010706020507" pitchFamily="18" charset="2"/>
              </a:rPr>
              <a:t></a:t>
            </a:r>
            <a:r>
              <a:rPr lang="en-US" altLang="en-US" sz="2400" dirty="0"/>
              <a:t> </a:t>
            </a:r>
            <a:r>
              <a:rPr lang="en-US" altLang="en-US" sz="2400" baseline="-25000" dirty="0"/>
              <a:t>FNAME, LNAME, SALARY</a:t>
            </a:r>
            <a:r>
              <a:rPr lang="en-US" altLang="en-US" sz="2400" dirty="0"/>
              <a:t> (DEP5_EMPS)	</a:t>
            </a:r>
          </a:p>
        </p:txBody>
      </p:sp>
      <p:sp>
        <p:nvSpPr>
          <p:cNvPr id="28677" name="Rectangle 4">
            <a:extLst>
              <a:ext uri="{FF2B5EF4-FFF2-40B4-BE49-F238E27FC236}">
                <a16:creationId xmlns:a16="http://schemas.microsoft.com/office/drawing/2014/main" id="{1E1519CA-4F1E-AB5B-60F0-36E2EC2F8B0A}"/>
              </a:ext>
            </a:extLst>
          </p:cNvPr>
          <p:cNvSpPr>
            <a:spLocks noChangeArrowheads="1"/>
          </p:cNvSpPr>
          <p:nvPr/>
        </p:nvSpPr>
        <p:spPr bwMode="auto">
          <a:xfrm>
            <a:off x="990600" y="4914900"/>
            <a:ext cx="2057400" cy="381000"/>
          </a:xfrm>
          <a:prstGeom prst="rect">
            <a:avLst/>
          </a:prstGeom>
          <a:solidFill>
            <a:srgbClr val="FFFF00">
              <a:alpha val="25098"/>
            </a:srgbClr>
          </a:solidFill>
          <a:ln w="9525">
            <a:solidFill>
              <a:srgbClr val="008000"/>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endParaRPr>
          </a:p>
        </p:txBody>
      </p:sp>
      <p:sp>
        <p:nvSpPr>
          <p:cNvPr id="28678" name="Rectangle 5">
            <a:extLst>
              <a:ext uri="{FF2B5EF4-FFF2-40B4-BE49-F238E27FC236}">
                <a16:creationId xmlns:a16="http://schemas.microsoft.com/office/drawing/2014/main" id="{A7902B3E-295A-8286-DCCD-2742D697AA09}"/>
              </a:ext>
            </a:extLst>
          </p:cNvPr>
          <p:cNvSpPr>
            <a:spLocks noChangeArrowheads="1"/>
          </p:cNvSpPr>
          <p:nvPr/>
        </p:nvSpPr>
        <p:spPr bwMode="auto">
          <a:xfrm>
            <a:off x="5592763" y="5295900"/>
            <a:ext cx="1951037" cy="419100"/>
          </a:xfrm>
          <a:prstGeom prst="rect">
            <a:avLst/>
          </a:prstGeom>
          <a:solidFill>
            <a:srgbClr val="FFFF00">
              <a:alpha val="25098"/>
            </a:srgbClr>
          </a:solidFill>
          <a:ln w="9525">
            <a:solidFill>
              <a:srgbClr val="008000"/>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a:extLst>
              <a:ext uri="{FF2B5EF4-FFF2-40B4-BE49-F238E27FC236}">
                <a16:creationId xmlns:a16="http://schemas.microsoft.com/office/drawing/2014/main" id="{C8B3E44F-8B13-4654-BEDF-1B7BE63F908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3B0D16CE-46D0-4377-84C2-3FEC5DECF44A}" type="slidenum">
              <a:rPr lang="en-US" altLang="en-US" sz="1400">
                <a:solidFill>
                  <a:srgbClr val="990033"/>
                </a:solidFill>
              </a:rPr>
              <a:pPr>
                <a:spcBef>
                  <a:spcPct val="0"/>
                </a:spcBef>
                <a:buClrTx/>
                <a:buSzTx/>
                <a:buFontTx/>
                <a:buNone/>
              </a:pPr>
              <a:t>22</a:t>
            </a:fld>
            <a:endParaRPr lang="en-CA" altLang="en-US" sz="1400">
              <a:solidFill>
                <a:srgbClr val="990033"/>
              </a:solidFill>
            </a:endParaRPr>
          </a:p>
        </p:txBody>
      </p:sp>
      <p:sp>
        <p:nvSpPr>
          <p:cNvPr id="29699" name="Rectangle 2">
            <a:extLst>
              <a:ext uri="{FF2B5EF4-FFF2-40B4-BE49-F238E27FC236}">
                <a16:creationId xmlns:a16="http://schemas.microsoft.com/office/drawing/2014/main" id="{049142C3-841E-969F-E38D-78B4C9DCC309}"/>
              </a:ext>
            </a:extLst>
          </p:cNvPr>
          <p:cNvSpPr>
            <a:spLocks noGrp="1" noChangeArrowheads="1"/>
          </p:cNvSpPr>
          <p:nvPr>
            <p:ph type="title"/>
          </p:nvPr>
        </p:nvSpPr>
        <p:spPr>
          <a:noFill/>
        </p:spPr>
        <p:txBody>
          <a:bodyPr/>
          <a:lstStyle/>
          <a:p>
            <a:pPr eaLnBrk="1" hangingPunct="1"/>
            <a:r>
              <a:rPr lang="en-US" altLang="en-US" sz="3200" dirty="0"/>
              <a:t>Unary Relational Operations: RENAME</a:t>
            </a:r>
          </a:p>
        </p:txBody>
      </p:sp>
      <p:sp>
        <p:nvSpPr>
          <p:cNvPr id="29700" name="Rectangle 3">
            <a:extLst>
              <a:ext uri="{FF2B5EF4-FFF2-40B4-BE49-F238E27FC236}">
                <a16:creationId xmlns:a16="http://schemas.microsoft.com/office/drawing/2014/main" id="{4B1B1BBB-6AE0-96B4-F9A6-AD8B257DA90C}"/>
              </a:ext>
            </a:extLst>
          </p:cNvPr>
          <p:cNvSpPr>
            <a:spLocks noGrp="1" noChangeArrowheads="1"/>
          </p:cNvSpPr>
          <p:nvPr>
            <p:ph type="body" idx="1"/>
          </p:nvPr>
        </p:nvSpPr>
        <p:spPr>
          <a:xfrm>
            <a:off x="17586" y="1600200"/>
            <a:ext cx="8839200" cy="5105400"/>
          </a:xfrm>
        </p:spPr>
        <p:txBody>
          <a:bodyPr>
            <a:normAutofit fontScale="92500" lnSpcReduction="20000"/>
          </a:bodyPr>
          <a:lstStyle/>
          <a:p>
            <a:pPr eaLnBrk="1" hangingPunct="1"/>
            <a:r>
              <a:rPr lang="en-US" altLang="en-US" dirty="0"/>
              <a:t>The RENAME operator is denoted by </a:t>
            </a:r>
            <a:r>
              <a:rPr lang="en-US" altLang="en-US" dirty="0">
                <a:sym typeface="Symbol" panose="05050102010706020507" pitchFamily="18" charset="2"/>
              </a:rPr>
              <a:t> (rho)</a:t>
            </a:r>
          </a:p>
          <a:p>
            <a:pPr eaLnBrk="1" hangingPunct="1"/>
            <a:r>
              <a:rPr lang="en-US" altLang="en-US" dirty="0"/>
              <a:t>In some cases, we may want to </a:t>
            </a:r>
            <a:r>
              <a:rPr lang="en-US" altLang="en-US" i="1" dirty="0"/>
              <a:t>rename </a:t>
            </a:r>
            <a:r>
              <a:rPr lang="en-US" altLang="en-US" dirty="0"/>
              <a:t>the attributes of a relation or the relation's name or both</a:t>
            </a:r>
          </a:p>
          <a:p>
            <a:pPr lvl="1" eaLnBrk="1" hangingPunct="1"/>
            <a:r>
              <a:rPr lang="en-US" altLang="en-US" sz="2800" dirty="0"/>
              <a:t>Useful when a query requires multiple operations</a:t>
            </a:r>
          </a:p>
          <a:p>
            <a:pPr lvl="1" eaLnBrk="1" hangingPunct="1"/>
            <a:r>
              <a:rPr lang="en-US" altLang="en-US" sz="2800" dirty="0"/>
              <a:t>Necessary in some cases (see JOIN operation later)</a:t>
            </a:r>
            <a:endParaRPr lang="en-US" altLang="en-US" sz="2800" i="1" dirty="0"/>
          </a:p>
          <a:p>
            <a:pPr eaLnBrk="1" hangingPunct="1"/>
            <a:r>
              <a:rPr lang="en-US" altLang="en-US" dirty="0"/>
              <a:t>The general RENAME operation </a:t>
            </a:r>
            <a:r>
              <a:rPr lang="en-US" altLang="en-US" dirty="0">
                <a:sym typeface="Symbol" panose="05050102010706020507" pitchFamily="18" charset="2"/>
              </a:rPr>
              <a:t> </a:t>
            </a:r>
            <a:r>
              <a:rPr lang="en-US" altLang="en-US" dirty="0"/>
              <a:t>can be expressed by any of the following forms:</a:t>
            </a:r>
          </a:p>
          <a:p>
            <a:pPr lvl="1" eaLnBrk="1" hangingPunct="1"/>
            <a:r>
              <a:rPr lang="en-US" altLang="en-US" dirty="0">
                <a:sym typeface="Symbol" panose="05050102010706020507" pitchFamily="18" charset="2"/>
              </a:rPr>
              <a:t></a:t>
            </a:r>
            <a:r>
              <a:rPr lang="en-US" altLang="en-US" baseline="-25000" dirty="0">
                <a:sym typeface="Symbol" panose="05050102010706020507" pitchFamily="18" charset="2"/>
              </a:rPr>
              <a:t>S (B1, B2, …, Bn )</a:t>
            </a:r>
            <a:r>
              <a:rPr lang="en-US" altLang="en-US" dirty="0">
                <a:sym typeface="Symbol" panose="05050102010706020507" pitchFamily="18" charset="2"/>
              </a:rPr>
              <a:t>(R) changes both:</a:t>
            </a:r>
          </a:p>
          <a:p>
            <a:pPr lvl="2" eaLnBrk="1" hangingPunct="1"/>
            <a:r>
              <a:rPr lang="en-US" altLang="en-US" dirty="0">
                <a:sym typeface="Symbol" panose="05050102010706020507" pitchFamily="18" charset="2"/>
              </a:rPr>
              <a:t>the relation name to S, </a:t>
            </a:r>
            <a:r>
              <a:rPr lang="en-US" altLang="en-US" i="1" dirty="0">
                <a:sym typeface="Symbol" panose="05050102010706020507" pitchFamily="18" charset="2"/>
              </a:rPr>
              <a:t>and </a:t>
            </a:r>
          </a:p>
          <a:p>
            <a:pPr lvl="2" eaLnBrk="1" hangingPunct="1"/>
            <a:r>
              <a:rPr lang="en-US" altLang="en-US" dirty="0">
                <a:sym typeface="Symbol" panose="05050102010706020507" pitchFamily="18" charset="2"/>
              </a:rPr>
              <a:t>the column (attribute) names to B1, B2, …..Bn</a:t>
            </a:r>
          </a:p>
          <a:p>
            <a:pPr lvl="1" eaLnBrk="1" hangingPunct="1"/>
            <a:r>
              <a:rPr lang="en-US" altLang="en-US" dirty="0">
                <a:sym typeface="Symbol" panose="05050102010706020507" pitchFamily="18" charset="2"/>
              </a:rPr>
              <a:t></a:t>
            </a:r>
            <a:r>
              <a:rPr lang="en-US" altLang="en-US" baseline="-25000" dirty="0">
                <a:sym typeface="Symbol" panose="05050102010706020507" pitchFamily="18" charset="2"/>
              </a:rPr>
              <a:t>S</a:t>
            </a:r>
            <a:r>
              <a:rPr lang="en-US" altLang="en-US" dirty="0">
                <a:sym typeface="Symbol" panose="05050102010706020507" pitchFamily="18" charset="2"/>
              </a:rPr>
              <a:t>(R) changes:</a:t>
            </a:r>
          </a:p>
          <a:p>
            <a:pPr lvl="2" eaLnBrk="1" hangingPunct="1"/>
            <a:r>
              <a:rPr lang="en-US" altLang="en-US" dirty="0">
                <a:sym typeface="Symbol" panose="05050102010706020507" pitchFamily="18" charset="2"/>
              </a:rPr>
              <a:t>the </a:t>
            </a:r>
            <a:r>
              <a:rPr lang="en-US" altLang="en-US" i="1" dirty="0">
                <a:sym typeface="Symbol" panose="05050102010706020507" pitchFamily="18" charset="2"/>
              </a:rPr>
              <a:t>relation name</a:t>
            </a:r>
            <a:r>
              <a:rPr lang="en-US" altLang="en-US" dirty="0">
                <a:sym typeface="Symbol" panose="05050102010706020507" pitchFamily="18" charset="2"/>
              </a:rPr>
              <a:t> only to S</a:t>
            </a:r>
            <a:endParaRPr lang="en-US" altLang="en-US" dirty="0"/>
          </a:p>
          <a:p>
            <a:pPr lvl="1" eaLnBrk="1" hangingPunct="1"/>
            <a:r>
              <a:rPr lang="en-US" altLang="en-US" dirty="0">
                <a:sym typeface="Symbol" panose="05050102010706020507" pitchFamily="18" charset="2"/>
              </a:rPr>
              <a:t></a:t>
            </a:r>
            <a:r>
              <a:rPr lang="en-US" altLang="en-US" baseline="-25000" dirty="0">
                <a:sym typeface="Symbol" panose="05050102010706020507" pitchFamily="18" charset="2"/>
              </a:rPr>
              <a:t>(B1, B2, …, Bn )</a:t>
            </a:r>
            <a:r>
              <a:rPr lang="en-US" altLang="en-US" dirty="0">
                <a:sym typeface="Symbol" panose="05050102010706020507" pitchFamily="18" charset="2"/>
              </a:rPr>
              <a:t>(R) changes:</a:t>
            </a:r>
          </a:p>
          <a:p>
            <a:pPr lvl="2" eaLnBrk="1" hangingPunct="1"/>
            <a:r>
              <a:rPr lang="en-US" altLang="en-US" dirty="0">
                <a:sym typeface="Symbol" panose="05050102010706020507" pitchFamily="18" charset="2"/>
              </a:rPr>
              <a:t>the </a:t>
            </a:r>
            <a:r>
              <a:rPr lang="en-US" altLang="en-US" i="1" dirty="0">
                <a:sym typeface="Symbol" panose="05050102010706020507" pitchFamily="18" charset="2"/>
              </a:rPr>
              <a:t>column (attribute) names</a:t>
            </a:r>
            <a:r>
              <a:rPr lang="en-US" altLang="en-US" dirty="0">
                <a:sym typeface="Symbol" panose="05050102010706020507" pitchFamily="18" charset="2"/>
              </a:rPr>
              <a:t> only to B1, B2, …..Bn</a:t>
            </a:r>
          </a:p>
          <a:p>
            <a:pPr eaLnBrk="1" hangingPunct="1"/>
            <a:endParaRPr lang="en-US" altLang="en-US" sz="2900" dirty="0"/>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a:extLst>
              <a:ext uri="{FF2B5EF4-FFF2-40B4-BE49-F238E27FC236}">
                <a16:creationId xmlns:a16="http://schemas.microsoft.com/office/drawing/2014/main" id="{317147EA-94C9-7968-9737-DAB018193D9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832849CA-7038-45D5-9510-36AE00C32400}" type="slidenum">
              <a:rPr lang="en-US" altLang="en-US" sz="1400">
                <a:solidFill>
                  <a:srgbClr val="990033"/>
                </a:solidFill>
              </a:rPr>
              <a:pPr>
                <a:spcBef>
                  <a:spcPct val="0"/>
                </a:spcBef>
                <a:buClrTx/>
                <a:buSzTx/>
                <a:buFontTx/>
                <a:buNone/>
              </a:pPr>
              <a:t>23</a:t>
            </a:fld>
            <a:endParaRPr lang="en-CA" altLang="en-US" sz="1400">
              <a:solidFill>
                <a:srgbClr val="990033"/>
              </a:solidFill>
            </a:endParaRPr>
          </a:p>
        </p:txBody>
      </p:sp>
      <p:sp>
        <p:nvSpPr>
          <p:cNvPr id="31747" name="Rectangle 2">
            <a:extLst>
              <a:ext uri="{FF2B5EF4-FFF2-40B4-BE49-F238E27FC236}">
                <a16:creationId xmlns:a16="http://schemas.microsoft.com/office/drawing/2014/main" id="{47D28DF4-18EE-8F90-01AF-855244E73406}"/>
              </a:ext>
            </a:extLst>
          </p:cNvPr>
          <p:cNvSpPr>
            <a:spLocks noGrp="1" noChangeArrowheads="1"/>
          </p:cNvSpPr>
          <p:nvPr>
            <p:ph type="title"/>
          </p:nvPr>
        </p:nvSpPr>
        <p:spPr>
          <a:noFill/>
        </p:spPr>
        <p:txBody>
          <a:bodyPr/>
          <a:lstStyle/>
          <a:p>
            <a:pPr eaLnBrk="1" hangingPunct="1"/>
            <a:r>
              <a:rPr lang="en-US" altLang="en-US" sz="3200"/>
              <a:t>Unary Relational Operations: RENAME (continued)</a:t>
            </a:r>
          </a:p>
        </p:txBody>
      </p:sp>
      <p:sp>
        <p:nvSpPr>
          <p:cNvPr id="53252" name="Rectangle 3">
            <a:extLst>
              <a:ext uri="{FF2B5EF4-FFF2-40B4-BE49-F238E27FC236}">
                <a16:creationId xmlns:a16="http://schemas.microsoft.com/office/drawing/2014/main" id="{7E88EBB5-588E-8324-D454-9B84A3B3847E}"/>
              </a:ext>
            </a:extLst>
          </p:cNvPr>
          <p:cNvSpPr>
            <a:spLocks noGrp="1" noChangeArrowheads="1"/>
          </p:cNvSpPr>
          <p:nvPr>
            <p:ph type="body" idx="1"/>
          </p:nvPr>
        </p:nvSpPr>
        <p:spPr>
          <a:xfrm>
            <a:off x="0" y="1600199"/>
            <a:ext cx="8915399" cy="4954587"/>
          </a:xfrm>
        </p:spPr>
        <p:txBody>
          <a:bodyPr/>
          <a:lstStyle/>
          <a:p>
            <a:pPr eaLnBrk="1" hangingPunct="1">
              <a:defRPr/>
            </a:pPr>
            <a:r>
              <a:rPr lang="en-US" altLang="en-US" dirty="0">
                <a:cs typeface="+mn-cs"/>
              </a:rPr>
              <a:t>For convenience, we also use a </a:t>
            </a:r>
            <a:r>
              <a:rPr lang="en-US" altLang="en-US" i="1" dirty="0">
                <a:cs typeface="+mn-cs"/>
              </a:rPr>
              <a:t>shorthand</a:t>
            </a:r>
            <a:r>
              <a:rPr lang="en-US" altLang="en-US" dirty="0">
                <a:cs typeface="+mn-cs"/>
              </a:rPr>
              <a:t> for renaming attributes in an intermediate relation:</a:t>
            </a:r>
          </a:p>
          <a:p>
            <a:pPr lvl="1" eaLnBrk="1" hangingPunct="1">
              <a:defRPr/>
            </a:pPr>
            <a:r>
              <a:rPr lang="en-US" altLang="en-US" dirty="0"/>
              <a:t>If we write:</a:t>
            </a:r>
          </a:p>
          <a:p>
            <a:pPr lvl="2" eaLnBrk="1" hangingPunct="1">
              <a:spcBef>
                <a:spcPct val="0"/>
              </a:spcBef>
              <a:buClrTx/>
              <a:buSzTx/>
              <a:buFontTx/>
              <a:buChar char="•"/>
              <a:defRPr/>
            </a:pPr>
            <a:r>
              <a:rPr lang="en-US" altLang="en-US" sz="2500" dirty="0"/>
              <a:t>RESULT </a:t>
            </a:r>
            <a:r>
              <a:rPr lang="en-US" altLang="en-US" sz="2500" dirty="0">
                <a:sym typeface="Symbol" panose="05050102010706020507" pitchFamily="18" charset="2"/>
              </a:rPr>
              <a:t> </a:t>
            </a:r>
            <a:r>
              <a:rPr lang="en-US" altLang="en-US" sz="2500" b="1" dirty="0">
                <a:latin typeface="Symbol" panose="05050102010706020507" pitchFamily="18" charset="2"/>
              </a:rPr>
              <a:t></a:t>
            </a:r>
            <a:r>
              <a:rPr lang="en-US" altLang="en-US" sz="2500" dirty="0"/>
              <a:t> </a:t>
            </a:r>
            <a:r>
              <a:rPr lang="en-US" altLang="en-US" sz="2500" baseline="-25000" dirty="0"/>
              <a:t>FNAME, LNAME, SALARY</a:t>
            </a:r>
            <a:r>
              <a:rPr lang="en-US" altLang="en-US" sz="2500" dirty="0"/>
              <a:t> (DEP5_EMPS)</a:t>
            </a:r>
          </a:p>
          <a:p>
            <a:pPr lvl="2" eaLnBrk="1" hangingPunct="1">
              <a:spcBef>
                <a:spcPct val="0"/>
              </a:spcBef>
              <a:buClrTx/>
              <a:buSzTx/>
              <a:buFontTx/>
              <a:buChar char="•"/>
              <a:defRPr/>
            </a:pPr>
            <a:r>
              <a:rPr lang="en-US" altLang="en-US" sz="2500" dirty="0"/>
              <a:t>RESULT will have the </a:t>
            </a:r>
            <a:r>
              <a:rPr lang="en-US" altLang="en-US" sz="2500" i="1" dirty="0"/>
              <a:t>same attribute names</a:t>
            </a:r>
            <a:r>
              <a:rPr lang="en-US" altLang="en-US" sz="2500" dirty="0"/>
              <a:t> as DEP5_EMPS (same attributes as EMPLOYEE)</a:t>
            </a:r>
          </a:p>
          <a:p>
            <a:pPr lvl="1" eaLnBrk="1" hangingPunct="1">
              <a:spcBef>
                <a:spcPct val="0"/>
              </a:spcBef>
              <a:buClrTx/>
              <a:buSzTx/>
              <a:buFontTx/>
              <a:buChar char="•"/>
              <a:defRPr/>
            </a:pPr>
            <a:r>
              <a:rPr lang="en-US" altLang="en-US" sz="2800" dirty="0"/>
              <a:t>If we write:</a:t>
            </a:r>
          </a:p>
          <a:p>
            <a:pPr marL="57150" indent="0" eaLnBrk="1" hangingPunct="1">
              <a:spcBef>
                <a:spcPct val="0"/>
              </a:spcBef>
              <a:buClrTx/>
              <a:buSzTx/>
              <a:buNone/>
              <a:defRPr/>
            </a:pPr>
            <a:r>
              <a:rPr lang="en-US" altLang="en-US" sz="1600" dirty="0"/>
              <a:t>RESULT(F,M,L,S,B,A,SX,SAL,SU,DNO)</a:t>
            </a:r>
            <a:r>
              <a:rPr lang="en-US" altLang="en-US" sz="2000" dirty="0">
                <a:sym typeface="Symbol" panose="05050102010706020507" pitchFamily="18" charset="2"/>
              </a:rPr>
              <a:t></a:t>
            </a:r>
            <a:r>
              <a:rPr lang="en-US" altLang="en-US" sz="1800" dirty="0">
                <a:sym typeface="Symbol" panose="05050102010706020507" pitchFamily="18" charset="2"/>
              </a:rPr>
              <a:t> </a:t>
            </a:r>
            <a:r>
              <a:rPr lang="en-US" altLang="en-US" sz="1800" baseline="-25000" dirty="0">
                <a:sym typeface="Symbol" panose="05050102010706020507" pitchFamily="18" charset="2"/>
              </a:rPr>
              <a:t>RESULT (F.M.L.S.B,A,SX,SAL,SU,DNO)</a:t>
            </a:r>
            <a:r>
              <a:rPr lang="en-US" altLang="en-US" sz="1600" dirty="0"/>
              <a:t>(DEP5_EMPS)</a:t>
            </a:r>
            <a:endParaRPr lang="en-US" altLang="en-US" sz="2000" dirty="0"/>
          </a:p>
          <a:p>
            <a:pPr lvl="2" eaLnBrk="1" hangingPunct="1">
              <a:spcBef>
                <a:spcPct val="0"/>
              </a:spcBef>
              <a:buClrTx/>
              <a:buSzTx/>
              <a:buFontTx/>
              <a:buChar char="•"/>
              <a:defRPr/>
            </a:pPr>
            <a:r>
              <a:rPr lang="en-US" altLang="en-US" sz="2500" dirty="0"/>
              <a:t>The 10 attributes of DEP5_EMPS are </a:t>
            </a:r>
            <a:r>
              <a:rPr lang="en-US" altLang="en-US" sz="2500" i="1" dirty="0"/>
              <a:t>renamed</a:t>
            </a:r>
            <a:r>
              <a:rPr lang="en-US" altLang="en-US" sz="2500" dirty="0"/>
              <a:t> to </a:t>
            </a:r>
          </a:p>
          <a:p>
            <a:pPr lvl="3" eaLnBrk="1" hangingPunct="1">
              <a:spcBef>
                <a:spcPct val="0"/>
              </a:spcBef>
              <a:buClrTx/>
              <a:buSzTx/>
              <a:buFontTx/>
              <a:buChar char="•"/>
              <a:defRPr/>
            </a:pPr>
            <a:r>
              <a:rPr lang="en-US" altLang="en-US" sz="2100" dirty="0"/>
              <a:t>F, M, L, S, B, A, SX, SAL, SU, DNO, respectively</a:t>
            </a:r>
          </a:p>
          <a:p>
            <a:pPr marL="514350" lvl="1" indent="0" eaLnBrk="1" hangingPunct="1">
              <a:spcBef>
                <a:spcPct val="0"/>
              </a:spcBef>
              <a:buClrTx/>
              <a:buSzTx/>
              <a:buFont typeface="Wingdings" panose="05000000000000000000" pitchFamily="2" charset="2"/>
              <a:buNone/>
              <a:defRPr/>
            </a:pPr>
            <a:r>
              <a:rPr lang="en-US" altLang="en-US" sz="3000" dirty="0"/>
              <a:t>Note: </a:t>
            </a:r>
            <a:r>
              <a:rPr lang="en-US" altLang="en-US" sz="2500" dirty="0">
                <a:solidFill>
                  <a:schemeClr val="tx2"/>
                </a:solidFill>
              </a:rPr>
              <a:t>the </a:t>
            </a:r>
            <a:r>
              <a:rPr lang="en-US" altLang="en-US" sz="2500" dirty="0">
                <a:solidFill>
                  <a:schemeClr val="tx2"/>
                </a:solidFill>
                <a:sym typeface="Symbol" panose="05050102010706020507" pitchFamily="18" charset="2"/>
              </a:rPr>
              <a:t> symbol is an assignment operator</a:t>
            </a:r>
            <a:endParaRPr lang="en-US" altLang="en-US" sz="2500" dirty="0">
              <a:solidFill>
                <a:schemeClr val="tx2"/>
              </a:solidFill>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2">
            <a:extLst>
              <a:ext uri="{FF2B5EF4-FFF2-40B4-BE49-F238E27FC236}">
                <a16:creationId xmlns:a16="http://schemas.microsoft.com/office/drawing/2014/main" id="{4341D812-5032-2B71-3211-AA7C8077E33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09569011-33DB-4EF8-BD95-C1791378B883}" type="slidenum">
              <a:rPr lang="en-US" altLang="en-US" sz="1400">
                <a:solidFill>
                  <a:srgbClr val="990033"/>
                </a:solidFill>
              </a:rPr>
              <a:pPr>
                <a:spcBef>
                  <a:spcPct val="0"/>
                </a:spcBef>
                <a:buClrTx/>
                <a:buSzTx/>
                <a:buFontTx/>
                <a:buNone/>
              </a:pPr>
              <a:t>24</a:t>
            </a:fld>
            <a:endParaRPr lang="en-CA" altLang="en-US" sz="1400">
              <a:solidFill>
                <a:srgbClr val="990033"/>
              </a:solidFill>
            </a:endParaRPr>
          </a:p>
        </p:txBody>
      </p:sp>
      <p:sp>
        <p:nvSpPr>
          <p:cNvPr id="32771" name="Rectangle 5">
            <a:extLst>
              <a:ext uri="{FF2B5EF4-FFF2-40B4-BE49-F238E27FC236}">
                <a16:creationId xmlns:a16="http://schemas.microsoft.com/office/drawing/2014/main" id="{AA3DCAF6-7E6D-C4F2-5D19-2F9199E91B16}"/>
              </a:ext>
            </a:extLst>
          </p:cNvPr>
          <p:cNvSpPr>
            <a:spLocks noGrp="1" noChangeArrowheads="1"/>
          </p:cNvSpPr>
          <p:nvPr>
            <p:ph type="title"/>
          </p:nvPr>
        </p:nvSpPr>
        <p:spPr>
          <a:noFill/>
        </p:spPr>
        <p:txBody>
          <a:bodyPr/>
          <a:lstStyle/>
          <a:p>
            <a:pPr eaLnBrk="1" hangingPunct="1"/>
            <a:r>
              <a:rPr lang="en-US" altLang="en-US" sz="3200"/>
              <a:t>Example of applying multiple operations and RENAME</a:t>
            </a:r>
          </a:p>
        </p:txBody>
      </p:sp>
      <p:sp>
        <p:nvSpPr>
          <p:cNvPr id="32772" name="Rectangle 3">
            <a:extLst>
              <a:ext uri="{FF2B5EF4-FFF2-40B4-BE49-F238E27FC236}">
                <a16:creationId xmlns:a16="http://schemas.microsoft.com/office/drawing/2014/main" id="{2B808FE3-2409-D8B7-1FC2-65B1E38FFFD3}"/>
              </a:ext>
            </a:extLst>
          </p:cNvPr>
          <p:cNvSpPr>
            <a:spLocks noChangeArrowheads="1"/>
          </p:cNvSpPr>
          <p:nvPr/>
        </p:nvSpPr>
        <p:spPr bwMode="auto">
          <a:xfrm>
            <a:off x="1833563" y="1309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endParaRPr>
          </a:p>
        </p:txBody>
      </p:sp>
      <p:pic>
        <p:nvPicPr>
          <p:cNvPr id="32773" name="Picture 1">
            <a:extLst>
              <a:ext uri="{FF2B5EF4-FFF2-40B4-BE49-F238E27FC236}">
                <a16:creationId xmlns:a16="http://schemas.microsoft.com/office/drawing/2014/main" id="{D517F2A9-0A2B-04E1-4671-9CAA32389953}"/>
              </a:ext>
            </a:extLst>
          </p:cNvPr>
          <p:cNvPicPr>
            <a:picLocks noChangeAspect="1"/>
          </p:cNvPicPr>
          <p:nvPr/>
        </p:nvPicPr>
        <p:blipFill rotWithShape="1">
          <a:blip r:embed="rId3">
            <a:extLst>
              <a:ext uri="{28A0092B-C50C-407E-A947-70E740481C1C}">
                <a14:useLocalDpi xmlns:a14="http://schemas.microsoft.com/office/drawing/2010/main" val="0"/>
              </a:ext>
            </a:extLst>
          </a:blip>
          <a:srcRect l="5275" t="17063" r="3656" b="11848"/>
          <a:stretch/>
        </p:blipFill>
        <p:spPr bwMode="auto">
          <a:xfrm>
            <a:off x="263769" y="1600203"/>
            <a:ext cx="8270631" cy="4841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2A46B729-0CFA-F8BA-7E5F-5C4F478A93C4}"/>
              </a:ext>
            </a:extLst>
          </p:cNvPr>
          <p:cNvPicPr>
            <a:picLocks noChangeAspect="1"/>
          </p:cNvPicPr>
          <p:nvPr/>
        </p:nvPicPr>
        <p:blipFill>
          <a:blip r:embed="rId4"/>
          <a:stretch>
            <a:fillRect/>
          </a:stretch>
        </p:blipFill>
        <p:spPr>
          <a:xfrm>
            <a:off x="2419336" y="2378421"/>
            <a:ext cx="4514864" cy="457200"/>
          </a:xfrm>
          <a:prstGeom prst="rect">
            <a:avLst/>
          </a:prstGeom>
        </p:spPr>
      </p:pic>
      <p:pic>
        <p:nvPicPr>
          <p:cNvPr id="5" name="Picture 4">
            <a:extLst>
              <a:ext uri="{FF2B5EF4-FFF2-40B4-BE49-F238E27FC236}">
                <a16:creationId xmlns:a16="http://schemas.microsoft.com/office/drawing/2014/main" id="{7EDCE10A-EC7D-2507-E793-70F9713A70E2}"/>
              </a:ext>
            </a:extLst>
          </p:cNvPr>
          <p:cNvPicPr>
            <a:picLocks noChangeAspect="1"/>
          </p:cNvPicPr>
          <p:nvPr/>
        </p:nvPicPr>
        <p:blipFill>
          <a:blip r:embed="rId5"/>
          <a:stretch>
            <a:fillRect/>
          </a:stretch>
        </p:blipFill>
        <p:spPr>
          <a:xfrm>
            <a:off x="2922731" y="4969688"/>
            <a:ext cx="5629254" cy="604795"/>
          </a:xfrm>
          <a:prstGeom prst="rect">
            <a:avLst/>
          </a:prstGeom>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3">
            <a:extLst>
              <a:ext uri="{FF2B5EF4-FFF2-40B4-BE49-F238E27FC236}">
                <a16:creationId xmlns:a16="http://schemas.microsoft.com/office/drawing/2014/main" id="{545B86DD-FE92-B379-9230-01E845FD370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0459D647-8518-4B74-B46E-7EE7CBF6D930}" type="slidenum">
              <a:rPr lang="en-US" altLang="en-US" sz="1400">
                <a:solidFill>
                  <a:srgbClr val="990033"/>
                </a:solidFill>
              </a:rPr>
              <a:pPr>
                <a:spcBef>
                  <a:spcPct val="0"/>
                </a:spcBef>
                <a:buClrTx/>
                <a:buSzTx/>
                <a:buFontTx/>
                <a:buNone/>
              </a:pPr>
              <a:t>25</a:t>
            </a:fld>
            <a:endParaRPr lang="en-CA" altLang="en-US" sz="1400">
              <a:solidFill>
                <a:srgbClr val="990033"/>
              </a:solidFill>
            </a:endParaRPr>
          </a:p>
        </p:txBody>
      </p:sp>
      <p:sp>
        <p:nvSpPr>
          <p:cNvPr id="36867" name="Rectangle 4">
            <a:extLst>
              <a:ext uri="{FF2B5EF4-FFF2-40B4-BE49-F238E27FC236}">
                <a16:creationId xmlns:a16="http://schemas.microsoft.com/office/drawing/2014/main" id="{7D007E9A-7452-B2DC-F2AE-3DBDAD439F34}"/>
              </a:ext>
            </a:extLst>
          </p:cNvPr>
          <p:cNvSpPr>
            <a:spLocks noGrp="1" noChangeArrowheads="1"/>
          </p:cNvSpPr>
          <p:nvPr>
            <p:ph type="title"/>
          </p:nvPr>
        </p:nvSpPr>
        <p:spPr>
          <a:noFill/>
        </p:spPr>
        <p:txBody>
          <a:bodyPr/>
          <a:lstStyle/>
          <a:p>
            <a:pPr eaLnBrk="1" hangingPunct="1"/>
            <a:r>
              <a:rPr lang="en-US" altLang="en-US" sz="3200"/>
              <a:t>Relational Algebra Operations from</a:t>
            </a:r>
            <a:br>
              <a:rPr lang="en-US" altLang="en-US" sz="3200"/>
            </a:br>
            <a:r>
              <a:rPr lang="en-US" altLang="en-US" sz="3200"/>
              <a:t>Set Theory </a:t>
            </a:r>
          </a:p>
        </p:txBody>
      </p:sp>
      <p:sp>
        <p:nvSpPr>
          <p:cNvPr id="36868" name="Rectangle 5">
            <a:extLst>
              <a:ext uri="{FF2B5EF4-FFF2-40B4-BE49-F238E27FC236}">
                <a16:creationId xmlns:a16="http://schemas.microsoft.com/office/drawing/2014/main" id="{18D527CE-3C4A-067D-06AB-397995ABD496}"/>
              </a:ext>
            </a:extLst>
          </p:cNvPr>
          <p:cNvSpPr>
            <a:spLocks noGrp="1" noChangeArrowheads="1"/>
          </p:cNvSpPr>
          <p:nvPr>
            <p:ph type="body" idx="1"/>
          </p:nvPr>
        </p:nvSpPr>
        <p:spPr/>
        <p:txBody>
          <a:bodyPr/>
          <a:lstStyle/>
          <a:p>
            <a:pPr eaLnBrk="1" hangingPunct="1"/>
            <a:r>
              <a:rPr lang="en-US" altLang="en-US" sz="2400" dirty="0"/>
              <a:t>Type Compatibility of operands is required for the binary set operation UNION </a:t>
            </a:r>
            <a:r>
              <a:rPr lang="en-US" altLang="en-US" sz="2400" dirty="0">
                <a:latin typeface="Symbol" panose="05050102010706020507" pitchFamily="18" charset="2"/>
              </a:rPr>
              <a:t></a:t>
            </a:r>
            <a:r>
              <a:rPr lang="en-US" altLang="en-US" sz="2400" dirty="0"/>
              <a:t>, (also for INTERSECTION </a:t>
            </a:r>
            <a:r>
              <a:rPr lang="en-US" altLang="en-US" sz="2400" dirty="0">
                <a:latin typeface="Symbol" panose="05050102010706020507" pitchFamily="18" charset="2"/>
              </a:rPr>
              <a:t></a:t>
            </a:r>
            <a:r>
              <a:rPr lang="en-US" altLang="en-US" sz="2400" dirty="0"/>
              <a:t>, and SET DIFFERENCE –)</a:t>
            </a:r>
          </a:p>
          <a:p>
            <a:pPr eaLnBrk="1" hangingPunct="1"/>
            <a:r>
              <a:rPr lang="en-US" altLang="en-US" sz="2400" dirty="0"/>
              <a:t>R1(A1, A2, ..., An) and R2(B1, B2, ..., Bn) are type compatible if:</a:t>
            </a:r>
          </a:p>
          <a:p>
            <a:pPr lvl="1" eaLnBrk="1" hangingPunct="1"/>
            <a:r>
              <a:rPr lang="en-US" altLang="en-US" sz="2200" dirty="0"/>
              <a:t>they have the same number of attributes, and</a:t>
            </a:r>
          </a:p>
          <a:p>
            <a:pPr lvl="1" eaLnBrk="1" hangingPunct="1"/>
            <a:r>
              <a:rPr lang="en-US" altLang="en-US" sz="2200" dirty="0"/>
              <a:t>the domains of corresponding attributes are type compatible (i.e. </a:t>
            </a:r>
            <a:r>
              <a:rPr lang="en-US" altLang="en-US" sz="2200" dirty="0" err="1"/>
              <a:t>dom</a:t>
            </a:r>
            <a:r>
              <a:rPr lang="en-US" altLang="en-US" sz="2200" dirty="0"/>
              <a:t>(Ai)=</a:t>
            </a:r>
            <a:r>
              <a:rPr lang="en-US" altLang="en-US" sz="2200" dirty="0" err="1"/>
              <a:t>dom</a:t>
            </a:r>
            <a:r>
              <a:rPr lang="en-US" altLang="en-US" sz="2200" dirty="0"/>
              <a:t>(Bi) for i=1, 2, ..., n). </a:t>
            </a:r>
          </a:p>
          <a:p>
            <a:pPr eaLnBrk="1" hangingPunct="1"/>
            <a:r>
              <a:rPr lang="en-US" altLang="en-US" sz="2400" dirty="0"/>
              <a:t>The resulting relation for R1</a:t>
            </a:r>
            <a:r>
              <a:rPr lang="en-US" altLang="en-US" sz="2400" dirty="0">
                <a:latin typeface="Symbol" panose="05050102010706020507" pitchFamily="18" charset="2"/>
              </a:rPr>
              <a:t></a:t>
            </a:r>
            <a:r>
              <a:rPr lang="en-US" altLang="en-US" sz="2400" dirty="0"/>
              <a:t>R2 (also for R1</a:t>
            </a:r>
            <a:r>
              <a:rPr lang="en-US" altLang="en-US" sz="2400" dirty="0">
                <a:latin typeface="Symbol" panose="05050102010706020507" pitchFamily="18" charset="2"/>
              </a:rPr>
              <a:t></a:t>
            </a:r>
            <a:r>
              <a:rPr lang="en-US" altLang="en-US" sz="2400" dirty="0"/>
              <a:t>R2, or R1–R2, see next slides) has the same attribute names as the </a:t>
            </a:r>
            <a:r>
              <a:rPr lang="en-US" altLang="en-US" sz="2400" i="1" dirty="0"/>
              <a:t>first</a:t>
            </a:r>
            <a:r>
              <a:rPr lang="en-US" altLang="en-US" sz="2400" dirty="0"/>
              <a:t> operand relation R1 (by convention)</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a:extLst>
              <a:ext uri="{FF2B5EF4-FFF2-40B4-BE49-F238E27FC236}">
                <a16:creationId xmlns:a16="http://schemas.microsoft.com/office/drawing/2014/main" id="{28F17D4D-462A-2314-8DBE-C4692A66693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C4804BA7-2E69-4500-9975-0AD9E029F0DC}" type="slidenum">
              <a:rPr lang="en-US" altLang="en-US" sz="1400">
                <a:solidFill>
                  <a:srgbClr val="990033"/>
                </a:solidFill>
              </a:rPr>
              <a:pPr>
                <a:spcBef>
                  <a:spcPct val="0"/>
                </a:spcBef>
                <a:buClrTx/>
                <a:buSzTx/>
                <a:buFontTx/>
                <a:buNone/>
              </a:pPr>
              <a:t>26</a:t>
            </a:fld>
            <a:endParaRPr lang="en-CA" altLang="en-US" sz="1400">
              <a:solidFill>
                <a:srgbClr val="990033"/>
              </a:solidFill>
            </a:endParaRPr>
          </a:p>
        </p:txBody>
      </p:sp>
      <p:sp>
        <p:nvSpPr>
          <p:cNvPr id="34819" name="Rectangle 2">
            <a:extLst>
              <a:ext uri="{FF2B5EF4-FFF2-40B4-BE49-F238E27FC236}">
                <a16:creationId xmlns:a16="http://schemas.microsoft.com/office/drawing/2014/main" id="{131C924C-8A3E-599C-AF27-418D6F8F0DA4}"/>
              </a:ext>
            </a:extLst>
          </p:cNvPr>
          <p:cNvSpPr>
            <a:spLocks noGrp="1" noChangeArrowheads="1"/>
          </p:cNvSpPr>
          <p:nvPr>
            <p:ph type="title"/>
          </p:nvPr>
        </p:nvSpPr>
        <p:spPr>
          <a:noFill/>
        </p:spPr>
        <p:txBody>
          <a:bodyPr/>
          <a:lstStyle/>
          <a:p>
            <a:pPr eaLnBrk="1" hangingPunct="1"/>
            <a:r>
              <a:rPr lang="en-US" altLang="en-US" sz="3200"/>
              <a:t>Relational Algebra Operations from</a:t>
            </a:r>
            <a:br>
              <a:rPr lang="en-US" altLang="en-US" sz="3200"/>
            </a:br>
            <a:r>
              <a:rPr lang="en-US" altLang="en-US" sz="3200"/>
              <a:t>Set Theory: UNION </a:t>
            </a:r>
          </a:p>
        </p:txBody>
      </p:sp>
      <p:sp>
        <p:nvSpPr>
          <p:cNvPr id="34820" name="Rectangle 3">
            <a:extLst>
              <a:ext uri="{FF2B5EF4-FFF2-40B4-BE49-F238E27FC236}">
                <a16:creationId xmlns:a16="http://schemas.microsoft.com/office/drawing/2014/main" id="{66682BFC-50EB-3F52-5B9B-87056EE50F66}"/>
              </a:ext>
            </a:extLst>
          </p:cNvPr>
          <p:cNvSpPr>
            <a:spLocks noGrp="1" noChangeArrowheads="1"/>
          </p:cNvSpPr>
          <p:nvPr>
            <p:ph type="body" idx="1"/>
          </p:nvPr>
        </p:nvSpPr>
        <p:spPr>
          <a:xfrm>
            <a:off x="239713" y="1447800"/>
            <a:ext cx="8294687" cy="5334000"/>
          </a:xfrm>
        </p:spPr>
        <p:txBody>
          <a:bodyPr>
            <a:normAutofit fontScale="92500"/>
          </a:bodyPr>
          <a:lstStyle/>
          <a:p>
            <a:pPr eaLnBrk="1" hangingPunct="1">
              <a:lnSpc>
                <a:spcPct val="90000"/>
              </a:lnSpc>
            </a:pPr>
            <a:r>
              <a:rPr lang="en-US" altLang="en-US" kern="0" dirty="0"/>
              <a:t>UNION Operation</a:t>
            </a:r>
          </a:p>
          <a:p>
            <a:pPr lvl="1" eaLnBrk="1" hangingPunct="1">
              <a:lnSpc>
                <a:spcPct val="90000"/>
              </a:lnSpc>
            </a:pPr>
            <a:r>
              <a:rPr lang="en-US" altLang="en-US" kern="0" dirty="0"/>
              <a:t>Binary operation, denoted by </a:t>
            </a:r>
            <a:r>
              <a:rPr lang="en-US" altLang="en-US" kern="0" dirty="0">
                <a:latin typeface="Symbol" panose="05050102010706020507" pitchFamily="18" charset="2"/>
              </a:rPr>
              <a:t></a:t>
            </a:r>
            <a:r>
              <a:rPr lang="en-US" altLang="en-US" kern="0" dirty="0"/>
              <a:t> </a:t>
            </a:r>
          </a:p>
          <a:p>
            <a:pPr lvl="1" eaLnBrk="1" hangingPunct="1">
              <a:lnSpc>
                <a:spcPct val="90000"/>
              </a:lnSpc>
            </a:pPr>
            <a:r>
              <a:rPr lang="en-US" altLang="en-US" kern="0" dirty="0"/>
              <a:t>The result of R </a:t>
            </a:r>
            <a:r>
              <a:rPr lang="en-US" altLang="en-US" kern="0" dirty="0">
                <a:latin typeface="Symbol" panose="05050102010706020507" pitchFamily="18" charset="2"/>
              </a:rPr>
              <a:t></a:t>
            </a:r>
            <a:r>
              <a:rPr lang="en-US" altLang="en-US" kern="0" dirty="0"/>
              <a:t> S, is a relation that includes all tuples that are either in R or in S or in both R and S</a:t>
            </a:r>
          </a:p>
          <a:p>
            <a:pPr lvl="1" eaLnBrk="1" hangingPunct="1">
              <a:lnSpc>
                <a:spcPct val="90000"/>
              </a:lnSpc>
            </a:pPr>
            <a:r>
              <a:rPr lang="en-US" altLang="en-US" kern="0" dirty="0"/>
              <a:t>Duplicate tuples are eliminated</a:t>
            </a:r>
          </a:p>
          <a:p>
            <a:pPr eaLnBrk="1" hangingPunct="1">
              <a:lnSpc>
                <a:spcPct val="80000"/>
              </a:lnSpc>
            </a:pPr>
            <a:r>
              <a:rPr lang="en-US" altLang="en-US" sz="2400" dirty="0"/>
              <a:t>Example: </a:t>
            </a:r>
          </a:p>
          <a:p>
            <a:pPr lvl="1" eaLnBrk="1" hangingPunct="1">
              <a:lnSpc>
                <a:spcPct val="80000"/>
              </a:lnSpc>
            </a:pPr>
            <a:r>
              <a:rPr lang="en-US" altLang="en-US" sz="2100" dirty="0"/>
              <a:t>To retrieve the social security numbers of all employees who either </a:t>
            </a:r>
            <a:r>
              <a:rPr lang="en-US" altLang="en-US" sz="2100" i="1" dirty="0"/>
              <a:t>work in department 5</a:t>
            </a:r>
            <a:r>
              <a:rPr lang="en-US" altLang="en-US" sz="2100" dirty="0"/>
              <a:t> (RESULT1 below) or </a:t>
            </a:r>
            <a:r>
              <a:rPr lang="en-US" altLang="en-US" sz="2100" i="1" dirty="0"/>
              <a:t>directly supervise an employee who works in department 5</a:t>
            </a:r>
            <a:r>
              <a:rPr lang="en-US" altLang="en-US" sz="2100" dirty="0"/>
              <a:t> (RESULT2 below)</a:t>
            </a:r>
          </a:p>
          <a:p>
            <a:pPr lvl="1" eaLnBrk="1" hangingPunct="1">
              <a:lnSpc>
                <a:spcPct val="80000"/>
              </a:lnSpc>
            </a:pPr>
            <a:r>
              <a:rPr lang="en-US" altLang="en-US" sz="2100" dirty="0"/>
              <a:t>We can use the UNION operation as follows:</a:t>
            </a:r>
          </a:p>
          <a:p>
            <a:pPr algn="ctr" eaLnBrk="1" hangingPunct="1">
              <a:lnSpc>
                <a:spcPct val="80000"/>
              </a:lnSpc>
              <a:buFont typeface="Wingdings" panose="05000000000000000000" pitchFamily="2" charset="2"/>
              <a:buNone/>
            </a:pPr>
            <a:r>
              <a:rPr lang="en-US" altLang="en-US" sz="2400" dirty="0"/>
              <a:t>DEP5_EMPS </a:t>
            </a:r>
            <a:r>
              <a:rPr lang="en-US" altLang="en-US" sz="2400" dirty="0">
                <a:sym typeface="Symbol" panose="05050102010706020507" pitchFamily="18" charset="2"/>
              </a:rPr>
              <a:t> </a:t>
            </a:r>
            <a:r>
              <a:rPr lang="en-US" altLang="en-US" sz="2400" dirty="0">
                <a:latin typeface="Symbol" panose="05050102010706020507" pitchFamily="18" charset="2"/>
              </a:rPr>
              <a:t></a:t>
            </a:r>
            <a:r>
              <a:rPr lang="en-US" altLang="en-US" sz="2400" baseline="-25000" dirty="0"/>
              <a:t>DNO=5</a:t>
            </a:r>
            <a:r>
              <a:rPr lang="en-US" altLang="en-US" sz="2400" dirty="0"/>
              <a:t> (EMPLOYEE)</a:t>
            </a:r>
          </a:p>
          <a:p>
            <a:pPr algn="ctr" eaLnBrk="1" hangingPunct="1">
              <a:lnSpc>
                <a:spcPct val="80000"/>
              </a:lnSpc>
              <a:buFont typeface="Wingdings" panose="05000000000000000000" pitchFamily="2" charset="2"/>
              <a:buNone/>
            </a:pPr>
            <a:r>
              <a:rPr lang="en-US" altLang="en-US" sz="2400" dirty="0"/>
              <a:t>RESULT1 </a:t>
            </a:r>
            <a:r>
              <a:rPr lang="en-US" altLang="en-US" sz="2400" dirty="0">
                <a:sym typeface="Symbol" panose="05050102010706020507" pitchFamily="18" charset="2"/>
              </a:rPr>
              <a:t> </a:t>
            </a:r>
            <a:r>
              <a:rPr lang="en-US" altLang="en-US" sz="2400" dirty="0">
                <a:latin typeface="Symbol" panose="05050102010706020507" pitchFamily="18" charset="2"/>
              </a:rPr>
              <a:t></a:t>
            </a:r>
            <a:r>
              <a:rPr lang="en-US" altLang="en-US" sz="2400" dirty="0"/>
              <a:t> </a:t>
            </a:r>
            <a:r>
              <a:rPr lang="en-US" altLang="en-US" sz="2400" baseline="-25000" dirty="0"/>
              <a:t>SSN</a:t>
            </a:r>
            <a:r>
              <a:rPr lang="en-US" altLang="en-US" sz="2400" dirty="0"/>
              <a:t>(DEP5_EMPS)</a:t>
            </a:r>
          </a:p>
          <a:p>
            <a:pPr algn="ctr" eaLnBrk="1" hangingPunct="1">
              <a:lnSpc>
                <a:spcPct val="80000"/>
              </a:lnSpc>
              <a:buFont typeface="Wingdings" panose="05000000000000000000" pitchFamily="2" charset="2"/>
              <a:buNone/>
            </a:pPr>
            <a:r>
              <a:rPr lang="en-US" altLang="en-US" sz="2400" dirty="0"/>
              <a:t>RESULT2(SSN) </a:t>
            </a:r>
            <a:r>
              <a:rPr lang="en-US" altLang="en-US" sz="2400" dirty="0">
                <a:sym typeface="Symbol" panose="05050102010706020507" pitchFamily="18" charset="2"/>
              </a:rPr>
              <a:t> </a:t>
            </a:r>
            <a:r>
              <a:rPr lang="en-US" altLang="en-US" sz="2400" dirty="0">
                <a:latin typeface="Symbol" panose="05050102010706020507" pitchFamily="18" charset="2"/>
              </a:rPr>
              <a:t></a:t>
            </a:r>
            <a:r>
              <a:rPr lang="en-US" altLang="en-US" sz="2400" baseline="-25000" dirty="0"/>
              <a:t>SUPERSSN</a:t>
            </a:r>
            <a:r>
              <a:rPr lang="en-US" altLang="en-US" sz="2400" dirty="0"/>
              <a:t>(DEP5_EMPS)</a:t>
            </a:r>
          </a:p>
          <a:p>
            <a:pPr algn="ctr" eaLnBrk="1" hangingPunct="1">
              <a:lnSpc>
                <a:spcPct val="80000"/>
              </a:lnSpc>
              <a:buFont typeface="Wingdings" panose="05000000000000000000" pitchFamily="2" charset="2"/>
              <a:buNone/>
            </a:pPr>
            <a:r>
              <a:rPr lang="en-US" altLang="en-US" sz="2400" dirty="0"/>
              <a:t>RESULT </a:t>
            </a:r>
            <a:r>
              <a:rPr lang="en-US" altLang="en-US" sz="2400" dirty="0">
                <a:sym typeface="Symbol" panose="05050102010706020507" pitchFamily="18" charset="2"/>
              </a:rPr>
              <a:t> RESULT</a:t>
            </a:r>
            <a:r>
              <a:rPr lang="en-US" altLang="en-US" sz="2400" dirty="0"/>
              <a:t>1 </a:t>
            </a:r>
            <a:r>
              <a:rPr lang="en-US" altLang="en-US" sz="2400" dirty="0">
                <a:latin typeface="Symbol" panose="05050102010706020507" pitchFamily="18" charset="2"/>
              </a:rPr>
              <a:t></a:t>
            </a:r>
            <a:r>
              <a:rPr lang="en-US" altLang="en-US" sz="2400" dirty="0"/>
              <a:t> RESULT2</a:t>
            </a:r>
          </a:p>
          <a:p>
            <a:pPr lvl="1" eaLnBrk="1" hangingPunct="1">
              <a:lnSpc>
                <a:spcPct val="80000"/>
              </a:lnSpc>
            </a:pPr>
            <a:r>
              <a:rPr lang="en-US" altLang="en-US" sz="2100" dirty="0"/>
              <a:t>The union operation produces the tuples that are in either RESULT1 or RESULT2 or both</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05FDD80B-2978-9D24-F0DB-732D00B2A2D1}"/>
              </a:ext>
            </a:extLst>
          </p:cNvPr>
          <p:cNvSpPr>
            <a:spLocks noGrp="1"/>
          </p:cNvSpPr>
          <p:nvPr>
            <p:ph type="title"/>
          </p:nvPr>
        </p:nvSpPr>
        <p:spPr>
          <a:xfrm>
            <a:off x="381000" y="152400"/>
            <a:ext cx="8458200" cy="1144587"/>
          </a:xfrm>
        </p:spPr>
        <p:txBody>
          <a:bodyPr/>
          <a:lstStyle/>
          <a:p>
            <a:r>
              <a:rPr lang="en-US" altLang="en-US" sz="2800" b="1" dirty="0">
                <a:latin typeface="Verdana" panose="020B0604030504040204" pitchFamily="34" charset="0"/>
              </a:rPr>
              <a:t>Figure 8.3</a:t>
            </a:r>
            <a:r>
              <a:rPr lang="en-US" altLang="en-US" sz="2800" dirty="0">
                <a:latin typeface="Verdana" panose="020B0604030504040204" pitchFamily="34" charset="0"/>
              </a:rPr>
              <a:t>   Result of the UNION operation RESULT ← RESULT1 ∪ RESULT2.</a:t>
            </a:r>
          </a:p>
        </p:txBody>
      </p:sp>
      <p:pic>
        <p:nvPicPr>
          <p:cNvPr id="35843" name="Picture 2" descr="fig08_03.jpg">
            <a:extLst>
              <a:ext uri="{FF2B5EF4-FFF2-40B4-BE49-F238E27FC236}">
                <a16:creationId xmlns:a16="http://schemas.microsoft.com/office/drawing/2014/main" id="{AF7D1A03-808B-3C02-3DFD-9907CC069F8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760130"/>
            <a:ext cx="5808785" cy="2388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4" name="Slide Number Placeholder 3">
            <a:extLst>
              <a:ext uri="{FF2B5EF4-FFF2-40B4-BE49-F238E27FC236}">
                <a16:creationId xmlns:a16="http://schemas.microsoft.com/office/drawing/2014/main" id="{4881585F-2F3E-7AA0-EB36-1AEE25924A8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8- 25</a:t>
            </a:r>
            <a:endParaRPr lang="en-CA" altLang="en-US" sz="1400">
              <a:solidFill>
                <a:srgbClr val="990033"/>
              </a:solidFill>
            </a:endParaRPr>
          </a:p>
        </p:txBody>
      </p:sp>
      <p:pic>
        <p:nvPicPr>
          <p:cNvPr id="3" name="Picture 2">
            <a:extLst>
              <a:ext uri="{FF2B5EF4-FFF2-40B4-BE49-F238E27FC236}">
                <a16:creationId xmlns:a16="http://schemas.microsoft.com/office/drawing/2014/main" id="{4CC9D34F-B176-296A-24E1-63F02772D15C}"/>
              </a:ext>
            </a:extLst>
          </p:cNvPr>
          <p:cNvPicPr>
            <a:picLocks noChangeAspect="1"/>
          </p:cNvPicPr>
          <p:nvPr/>
        </p:nvPicPr>
        <p:blipFill>
          <a:blip r:embed="rId3"/>
          <a:stretch>
            <a:fillRect/>
          </a:stretch>
        </p:blipFill>
        <p:spPr>
          <a:xfrm>
            <a:off x="685799" y="1271221"/>
            <a:ext cx="7866185" cy="2488909"/>
          </a:xfrm>
          <a:prstGeom prst="rect">
            <a:avLst/>
          </a:prstGeom>
        </p:spPr>
      </p:pic>
      <p:sp>
        <p:nvSpPr>
          <p:cNvPr id="5" name="TextBox 4">
            <a:extLst>
              <a:ext uri="{FF2B5EF4-FFF2-40B4-BE49-F238E27FC236}">
                <a16:creationId xmlns:a16="http://schemas.microsoft.com/office/drawing/2014/main" id="{EB643742-0FA9-3477-FC92-C8C55A0042B1}"/>
              </a:ext>
            </a:extLst>
          </p:cNvPr>
          <p:cNvSpPr txBox="1"/>
          <p:nvPr/>
        </p:nvSpPr>
        <p:spPr>
          <a:xfrm>
            <a:off x="762000" y="5834821"/>
            <a:ext cx="6265985" cy="880241"/>
          </a:xfrm>
          <a:prstGeom prst="rect">
            <a:avLst/>
          </a:prstGeom>
          <a:noFill/>
        </p:spPr>
        <p:txBody>
          <a:bodyPr wrap="square">
            <a:spAutoFit/>
          </a:bodyPr>
          <a:lstStyle/>
          <a:p>
            <a:pPr algn="ctr" eaLnBrk="1" hangingPunct="1">
              <a:lnSpc>
                <a:spcPct val="80000"/>
              </a:lnSpc>
              <a:buFont typeface="Wingdings" panose="05000000000000000000" pitchFamily="2" charset="2"/>
              <a:buNone/>
            </a:pPr>
            <a:r>
              <a:rPr lang="en-US" altLang="en-US" sz="1600" dirty="0"/>
              <a:t>DEP5_EMPS </a:t>
            </a:r>
            <a:r>
              <a:rPr lang="en-US" altLang="en-US" sz="1600" dirty="0">
                <a:sym typeface="Symbol" panose="05050102010706020507" pitchFamily="18" charset="2"/>
              </a:rPr>
              <a:t> </a:t>
            </a:r>
            <a:r>
              <a:rPr lang="en-US" altLang="en-US" sz="1600" dirty="0">
                <a:latin typeface="Symbol" panose="05050102010706020507" pitchFamily="18" charset="2"/>
              </a:rPr>
              <a:t></a:t>
            </a:r>
            <a:r>
              <a:rPr lang="en-US" altLang="en-US" sz="1600" baseline="-25000" dirty="0"/>
              <a:t>DNO=5</a:t>
            </a:r>
            <a:r>
              <a:rPr lang="en-US" altLang="en-US" sz="1600" dirty="0"/>
              <a:t> (EMPLOYEE)</a:t>
            </a:r>
          </a:p>
          <a:p>
            <a:pPr algn="ctr" eaLnBrk="1" hangingPunct="1">
              <a:lnSpc>
                <a:spcPct val="80000"/>
              </a:lnSpc>
              <a:buFont typeface="Wingdings" panose="05000000000000000000" pitchFamily="2" charset="2"/>
              <a:buNone/>
            </a:pPr>
            <a:r>
              <a:rPr lang="en-US" altLang="en-US" sz="1600" dirty="0"/>
              <a:t>RESULT1 </a:t>
            </a:r>
            <a:r>
              <a:rPr lang="en-US" altLang="en-US" sz="1600" dirty="0">
                <a:sym typeface="Symbol" panose="05050102010706020507" pitchFamily="18" charset="2"/>
              </a:rPr>
              <a:t> </a:t>
            </a:r>
            <a:r>
              <a:rPr lang="en-US" altLang="en-US" sz="1600" dirty="0">
                <a:latin typeface="Symbol" panose="05050102010706020507" pitchFamily="18" charset="2"/>
              </a:rPr>
              <a:t></a:t>
            </a:r>
            <a:r>
              <a:rPr lang="en-US" altLang="en-US" sz="1600" dirty="0"/>
              <a:t> </a:t>
            </a:r>
            <a:r>
              <a:rPr lang="en-US" altLang="en-US" sz="1600" baseline="-25000" dirty="0"/>
              <a:t>SSN</a:t>
            </a:r>
            <a:r>
              <a:rPr lang="en-US" altLang="en-US" sz="1600" dirty="0"/>
              <a:t>(DEP5_EMPS)</a:t>
            </a:r>
          </a:p>
          <a:p>
            <a:pPr algn="ctr" eaLnBrk="1" hangingPunct="1">
              <a:lnSpc>
                <a:spcPct val="80000"/>
              </a:lnSpc>
              <a:buFont typeface="Wingdings" panose="05000000000000000000" pitchFamily="2" charset="2"/>
              <a:buNone/>
            </a:pPr>
            <a:r>
              <a:rPr lang="en-US" altLang="en-US" sz="1600" dirty="0"/>
              <a:t>RESULT2(SSN) </a:t>
            </a:r>
            <a:r>
              <a:rPr lang="en-US" altLang="en-US" sz="1600" dirty="0">
                <a:sym typeface="Symbol" panose="05050102010706020507" pitchFamily="18" charset="2"/>
              </a:rPr>
              <a:t> </a:t>
            </a:r>
            <a:r>
              <a:rPr lang="en-US" altLang="en-US" sz="1600" dirty="0">
                <a:latin typeface="Symbol" panose="05050102010706020507" pitchFamily="18" charset="2"/>
              </a:rPr>
              <a:t></a:t>
            </a:r>
            <a:r>
              <a:rPr lang="en-US" altLang="en-US" sz="1600" baseline="-25000" dirty="0"/>
              <a:t>SUPERSSN</a:t>
            </a:r>
            <a:r>
              <a:rPr lang="en-US" altLang="en-US" sz="1600" dirty="0"/>
              <a:t>(DEP5_EMPS)</a:t>
            </a:r>
          </a:p>
          <a:p>
            <a:pPr algn="ctr" eaLnBrk="1" hangingPunct="1">
              <a:lnSpc>
                <a:spcPct val="80000"/>
              </a:lnSpc>
              <a:buFont typeface="Wingdings" panose="05000000000000000000" pitchFamily="2" charset="2"/>
              <a:buNone/>
            </a:pPr>
            <a:r>
              <a:rPr lang="en-US" altLang="en-US" sz="1600" dirty="0"/>
              <a:t>RESULT </a:t>
            </a:r>
            <a:r>
              <a:rPr lang="en-US" altLang="en-US" sz="1600" dirty="0">
                <a:sym typeface="Symbol" panose="05050102010706020507" pitchFamily="18" charset="2"/>
              </a:rPr>
              <a:t> RESULT</a:t>
            </a:r>
            <a:r>
              <a:rPr lang="en-US" altLang="en-US" sz="1600" dirty="0"/>
              <a:t>1 </a:t>
            </a:r>
            <a:r>
              <a:rPr lang="en-US" altLang="en-US" sz="1600" dirty="0">
                <a:latin typeface="Symbol" panose="05050102010706020507" pitchFamily="18" charset="2"/>
              </a:rPr>
              <a:t></a:t>
            </a:r>
            <a:r>
              <a:rPr lang="en-US" altLang="en-US" sz="1600" dirty="0"/>
              <a:t> RESULT2</a:t>
            </a:r>
            <a:endParaRPr lang="en-US" sz="1600" dirty="0"/>
          </a:p>
        </p:txBody>
      </p:sp>
    </p:spTree>
  </p:cSld>
  <p:clrMapOvr>
    <a:masterClrMapping/>
  </p:clrMapOvr>
  <p:transition spd="med" advTm="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a:extLst>
              <a:ext uri="{FF2B5EF4-FFF2-40B4-BE49-F238E27FC236}">
                <a16:creationId xmlns:a16="http://schemas.microsoft.com/office/drawing/2014/main" id="{62FE83E1-29EB-1E8E-EA1C-D5596FAAEC9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72126A2E-1B4E-440C-876F-E51C487EE238}" type="slidenum">
              <a:rPr lang="en-US" altLang="en-US" sz="1400">
                <a:solidFill>
                  <a:srgbClr val="990033"/>
                </a:solidFill>
              </a:rPr>
              <a:pPr>
                <a:spcBef>
                  <a:spcPct val="0"/>
                </a:spcBef>
                <a:buClrTx/>
                <a:buSzTx/>
                <a:buFontTx/>
                <a:buNone/>
              </a:pPr>
              <a:t>28</a:t>
            </a:fld>
            <a:endParaRPr lang="en-CA" altLang="en-US" sz="1400">
              <a:solidFill>
                <a:srgbClr val="990033"/>
              </a:solidFill>
            </a:endParaRPr>
          </a:p>
        </p:txBody>
      </p:sp>
      <p:sp>
        <p:nvSpPr>
          <p:cNvPr id="37891" name="Rectangle 7">
            <a:extLst>
              <a:ext uri="{FF2B5EF4-FFF2-40B4-BE49-F238E27FC236}">
                <a16:creationId xmlns:a16="http://schemas.microsoft.com/office/drawing/2014/main" id="{7D2B0B0F-FD43-75D1-DF6F-2EF6825EF901}"/>
              </a:ext>
            </a:extLst>
          </p:cNvPr>
          <p:cNvSpPr>
            <a:spLocks noGrp="1" noChangeArrowheads="1"/>
          </p:cNvSpPr>
          <p:nvPr>
            <p:ph type="title"/>
          </p:nvPr>
        </p:nvSpPr>
        <p:spPr>
          <a:noFill/>
        </p:spPr>
        <p:txBody>
          <a:bodyPr/>
          <a:lstStyle/>
          <a:p>
            <a:pPr eaLnBrk="1" hangingPunct="1"/>
            <a:r>
              <a:rPr lang="en-US" altLang="en-US" sz="3200"/>
              <a:t>Relational Algebra Operations from Set Theory: INTERSECTION</a:t>
            </a:r>
          </a:p>
        </p:txBody>
      </p:sp>
      <p:sp>
        <p:nvSpPr>
          <p:cNvPr id="37892" name="Rectangle 8">
            <a:extLst>
              <a:ext uri="{FF2B5EF4-FFF2-40B4-BE49-F238E27FC236}">
                <a16:creationId xmlns:a16="http://schemas.microsoft.com/office/drawing/2014/main" id="{2882680B-EAB0-2C63-B258-62DD8F6B50E6}"/>
              </a:ext>
            </a:extLst>
          </p:cNvPr>
          <p:cNvSpPr>
            <a:spLocks noGrp="1" noChangeArrowheads="1"/>
          </p:cNvSpPr>
          <p:nvPr>
            <p:ph type="body" idx="1"/>
          </p:nvPr>
        </p:nvSpPr>
        <p:spPr>
          <a:xfrm>
            <a:off x="239713" y="1485900"/>
            <a:ext cx="8294687" cy="3124200"/>
          </a:xfrm>
        </p:spPr>
        <p:txBody>
          <a:bodyPr/>
          <a:lstStyle/>
          <a:p>
            <a:pPr eaLnBrk="1" hangingPunct="1"/>
            <a:r>
              <a:rPr lang="en-US" altLang="en-US" sz="3200" dirty="0"/>
              <a:t>INTERSECTION is denoted by </a:t>
            </a:r>
            <a:r>
              <a:rPr lang="en-US" altLang="en-US" sz="3200" dirty="0">
                <a:latin typeface="Symbol" panose="05050102010706020507" pitchFamily="18" charset="2"/>
              </a:rPr>
              <a:t></a:t>
            </a:r>
            <a:endParaRPr lang="en-US" altLang="en-US" sz="3200" dirty="0"/>
          </a:p>
          <a:p>
            <a:pPr eaLnBrk="1" hangingPunct="1"/>
            <a:r>
              <a:rPr lang="en-US" altLang="en-US" sz="3200" dirty="0"/>
              <a:t>The result of the operation R </a:t>
            </a:r>
            <a:r>
              <a:rPr lang="en-US" altLang="en-US" sz="3200" dirty="0">
                <a:latin typeface="Symbol" panose="05050102010706020507" pitchFamily="18" charset="2"/>
              </a:rPr>
              <a:t></a:t>
            </a:r>
            <a:r>
              <a:rPr lang="en-US" altLang="en-US" sz="3200" dirty="0"/>
              <a:t> S, is a relation that includes all tuples that are in both R and S</a:t>
            </a:r>
          </a:p>
          <a:p>
            <a:pPr lvl="1" eaLnBrk="1" hangingPunct="1"/>
            <a:r>
              <a:rPr lang="en-US" altLang="en-US" sz="3000" dirty="0"/>
              <a:t>The attribute names in the result will be the same as the attribute names in R</a:t>
            </a:r>
          </a:p>
        </p:txBody>
      </p:sp>
      <p:pic>
        <p:nvPicPr>
          <p:cNvPr id="5" name="Picture 4">
            <a:extLst>
              <a:ext uri="{FF2B5EF4-FFF2-40B4-BE49-F238E27FC236}">
                <a16:creationId xmlns:a16="http://schemas.microsoft.com/office/drawing/2014/main" id="{D234621A-C8D6-1EE0-75D6-F392878383E1}"/>
              </a:ext>
            </a:extLst>
          </p:cNvPr>
          <p:cNvPicPr>
            <a:picLocks noChangeAspect="1"/>
          </p:cNvPicPr>
          <p:nvPr/>
        </p:nvPicPr>
        <p:blipFill>
          <a:blip r:embed="rId3"/>
          <a:stretch>
            <a:fillRect/>
          </a:stretch>
        </p:blipFill>
        <p:spPr>
          <a:xfrm>
            <a:off x="110833" y="4762500"/>
            <a:ext cx="8728367" cy="1714500"/>
          </a:xfrm>
          <a:prstGeom prst="rect">
            <a:avLst/>
          </a:prstGeom>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a:extLst>
              <a:ext uri="{FF2B5EF4-FFF2-40B4-BE49-F238E27FC236}">
                <a16:creationId xmlns:a16="http://schemas.microsoft.com/office/drawing/2014/main" id="{0E02B5A2-2E99-CC2E-D01E-7AE6451A201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AEA3E97C-8911-4435-B5A8-6930570C7DE2}" type="slidenum">
              <a:rPr lang="en-US" altLang="en-US" sz="1400">
                <a:solidFill>
                  <a:srgbClr val="990033"/>
                </a:solidFill>
              </a:rPr>
              <a:pPr>
                <a:spcBef>
                  <a:spcPct val="0"/>
                </a:spcBef>
                <a:buClrTx/>
                <a:buSzTx/>
                <a:buFontTx/>
                <a:buNone/>
              </a:pPr>
              <a:t>29</a:t>
            </a:fld>
            <a:endParaRPr lang="en-CA" altLang="en-US" sz="1400">
              <a:solidFill>
                <a:srgbClr val="990033"/>
              </a:solidFill>
            </a:endParaRPr>
          </a:p>
        </p:txBody>
      </p:sp>
      <p:sp>
        <p:nvSpPr>
          <p:cNvPr id="38915" name="Rectangle 11">
            <a:extLst>
              <a:ext uri="{FF2B5EF4-FFF2-40B4-BE49-F238E27FC236}">
                <a16:creationId xmlns:a16="http://schemas.microsoft.com/office/drawing/2014/main" id="{5D164127-F51B-7011-3184-CFA990F87D66}"/>
              </a:ext>
            </a:extLst>
          </p:cNvPr>
          <p:cNvSpPr>
            <a:spLocks noGrp="1" noChangeArrowheads="1"/>
          </p:cNvSpPr>
          <p:nvPr>
            <p:ph type="title"/>
          </p:nvPr>
        </p:nvSpPr>
        <p:spPr/>
        <p:txBody>
          <a:bodyPr/>
          <a:lstStyle/>
          <a:p>
            <a:pPr eaLnBrk="1" hangingPunct="1"/>
            <a:r>
              <a:rPr lang="en-US" altLang="en-US" sz="3200"/>
              <a:t>Relational Algebra Operations from Set Theory: SET DIFFERENCE (cont.) </a:t>
            </a:r>
          </a:p>
        </p:txBody>
      </p:sp>
      <p:sp>
        <p:nvSpPr>
          <p:cNvPr id="38916" name="Rectangle 12">
            <a:extLst>
              <a:ext uri="{FF2B5EF4-FFF2-40B4-BE49-F238E27FC236}">
                <a16:creationId xmlns:a16="http://schemas.microsoft.com/office/drawing/2014/main" id="{0E6D6354-7EF7-D12B-FC8B-187CA7C36F1D}"/>
              </a:ext>
            </a:extLst>
          </p:cNvPr>
          <p:cNvSpPr>
            <a:spLocks noGrp="1" noChangeArrowheads="1"/>
          </p:cNvSpPr>
          <p:nvPr>
            <p:ph type="body" idx="1"/>
          </p:nvPr>
        </p:nvSpPr>
        <p:spPr>
          <a:xfrm>
            <a:off x="239713" y="1447800"/>
            <a:ext cx="8294687" cy="3429000"/>
          </a:xfrm>
        </p:spPr>
        <p:txBody>
          <a:bodyPr/>
          <a:lstStyle/>
          <a:p>
            <a:pPr eaLnBrk="1" hangingPunct="1"/>
            <a:r>
              <a:rPr lang="en-US" altLang="en-US" dirty="0"/>
              <a:t>SET DIFFERENCE </a:t>
            </a:r>
          </a:p>
          <a:p>
            <a:pPr lvl="1" eaLnBrk="1" hangingPunct="1"/>
            <a:r>
              <a:rPr lang="en-US" altLang="en-US" dirty="0"/>
              <a:t>also called MINUS or EXCEPT</a:t>
            </a:r>
          </a:p>
          <a:p>
            <a:pPr lvl="1" eaLnBrk="1" hangingPunct="1"/>
            <a:r>
              <a:rPr lang="en-US" altLang="en-US" dirty="0"/>
              <a:t>denoted by – </a:t>
            </a:r>
          </a:p>
          <a:p>
            <a:pPr eaLnBrk="1" hangingPunct="1"/>
            <a:r>
              <a:rPr lang="en-US" altLang="en-US" dirty="0"/>
              <a:t>The result of R – S, is a relation that includes all tuples that are in R but not in S</a:t>
            </a:r>
          </a:p>
          <a:p>
            <a:pPr lvl="1" eaLnBrk="1" hangingPunct="1"/>
            <a:r>
              <a:rPr lang="en-US" altLang="en-US" sz="3000" dirty="0"/>
              <a:t>The attribute names in the result will be the same as the attribute names in R</a:t>
            </a:r>
            <a:endParaRPr lang="en-US" altLang="en-US" dirty="0"/>
          </a:p>
        </p:txBody>
      </p:sp>
      <p:pic>
        <p:nvPicPr>
          <p:cNvPr id="3" name="Picture 2">
            <a:extLst>
              <a:ext uri="{FF2B5EF4-FFF2-40B4-BE49-F238E27FC236}">
                <a16:creationId xmlns:a16="http://schemas.microsoft.com/office/drawing/2014/main" id="{71CF90DB-630A-46DB-D940-93472F863532}"/>
              </a:ext>
            </a:extLst>
          </p:cNvPr>
          <p:cNvPicPr>
            <a:picLocks noChangeAspect="1"/>
          </p:cNvPicPr>
          <p:nvPr/>
        </p:nvPicPr>
        <p:blipFill>
          <a:blip r:embed="rId3"/>
          <a:stretch>
            <a:fillRect/>
          </a:stretch>
        </p:blipFill>
        <p:spPr>
          <a:xfrm>
            <a:off x="95795" y="4841102"/>
            <a:ext cx="8743405" cy="1559698"/>
          </a:xfrm>
          <a:prstGeom prst="rect">
            <a:avLst/>
          </a:prstGeom>
        </p:spPr>
      </p:pic>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41" name="Picture 1">
            <a:extLst>
              <a:ext uri="{FF2B5EF4-FFF2-40B4-BE49-F238E27FC236}">
                <a16:creationId xmlns:a16="http://schemas.microsoft.com/office/drawing/2014/main" id="{11135501-2B3D-DB8D-87FE-D0DC40212010}"/>
              </a:ext>
            </a:extLst>
          </p:cNvPr>
          <p:cNvPicPr>
            <a:picLocks noChangeAspect="1"/>
          </p:cNvPicPr>
          <p:nvPr/>
        </p:nvPicPr>
        <p:blipFill rotWithShape="1">
          <a:blip r:embed="rId3">
            <a:extLst>
              <a:ext uri="{28A0092B-C50C-407E-A947-70E740481C1C}">
                <a14:useLocalDpi xmlns:a14="http://schemas.microsoft.com/office/drawing/2010/main" val="0"/>
              </a:ext>
            </a:extLst>
          </a:blip>
          <a:srcRect l="4894" t="6779" r="9167" b="10726"/>
          <a:stretch/>
        </p:blipFill>
        <p:spPr bwMode="auto">
          <a:xfrm>
            <a:off x="472221" y="1266091"/>
            <a:ext cx="7558454" cy="5442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8" name="Slide Number Placeholder 2">
            <a:extLst>
              <a:ext uri="{FF2B5EF4-FFF2-40B4-BE49-F238E27FC236}">
                <a16:creationId xmlns:a16="http://schemas.microsoft.com/office/drawing/2014/main" id="{B9507D99-0F93-E7BB-25D3-2EEA2A7D7D8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7EFC843F-35C1-4F25-970F-C57901D3A1C1}" type="slidenum">
              <a:rPr lang="en-US" altLang="en-US" sz="1400">
                <a:solidFill>
                  <a:srgbClr val="990033"/>
                </a:solidFill>
              </a:rPr>
              <a:pPr>
                <a:spcBef>
                  <a:spcPct val="0"/>
                </a:spcBef>
                <a:buClrTx/>
                <a:buSzTx/>
                <a:buFontTx/>
                <a:buNone/>
              </a:pPr>
              <a:t>30</a:t>
            </a:fld>
            <a:endParaRPr lang="en-CA" altLang="en-US" sz="1400">
              <a:solidFill>
                <a:srgbClr val="990033"/>
              </a:solidFill>
            </a:endParaRPr>
          </a:p>
        </p:txBody>
      </p:sp>
      <p:sp>
        <p:nvSpPr>
          <p:cNvPr id="39939" name="Rectangle 2">
            <a:extLst>
              <a:ext uri="{FF2B5EF4-FFF2-40B4-BE49-F238E27FC236}">
                <a16:creationId xmlns:a16="http://schemas.microsoft.com/office/drawing/2014/main" id="{2843E037-0684-68ED-0D70-4BB82F25604E}"/>
              </a:ext>
            </a:extLst>
          </p:cNvPr>
          <p:cNvSpPr>
            <a:spLocks noGrp="1" noChangeArrowheads="1"/>
          </p:cNvSpPr>
          <p:nvPr>
            <p:ph type="title"/>
          </p:nvPr>
        </p:nvSpPr>
        <p:spPr>
          <a:xfrm>
            <a:off x="0" y="10136"/>
            <a:ext cx="9144000" cy="992187"/>
          </a:xfrm>
          <a:noFill/>
        </p:spPr>
        <p:txBody>
          <a:bodyPr/>
          <a:lstStyle/>
          <a:p>
            <a:pPr algn="ctr" eaLnBrk="1" hangingPunct="1"/>
            <a:r>
              <a:rPr lang="en-US" altLang="en-US" sz="3200" dirty="0"/>
              <a:t>Example </a:t>
            </a:r>
            <a:br>
              <a:rPr lang="en-US" altLang="en-US" sz="3200" dirty="0"/>
            </a:br>
            <a:r>
              <a:rPr lang="en-US" altLang="en-US" sz="3200" dirty="0"/>
              <a:t>UNION, INTERSECT, and DIFFERENCE</a:t>
            </a:r>
          </a:p>
        </p:txBody>
      </p:sp>
      <p:sp>
        <p:nvSpPr>
          <p:cNvPr id="39940" name="Rectangle 3">
            <a:extLst>
              <a:ext uri="{FF2B5EF4-FFF2-40B4-BE49-F238E27FC236}">
                <a16:creationId xmlns:a16="http://schemas.microsoft.com/office/drawing/2014/main" id="{AE6DE8FB-A880-8446-BFE5-EF50F31A089A}"/>
              </a:ext>
            </a:extLst>
          </p:cNvPr>
          <p:cNvSpPr>
            <a:spLocks noChangeArrowheads="1"/>
          </p:cNvSpPr>
          <p:nvPr/>
        </p:nvSpPr>
        <p:spPr bwMode="auto">
          <a:xfrm>
            <a:off x="1833563" y="1309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endParaRP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a:extLst>
              <a:ext uri="{FF2B5EF4-FFF2-40B4-BE49-F238E27FC236}">
                <a16:creationId xmlns:a16="http://schemas.microsoft.com/office/drawing/2014/main" id="{5369159D-0C8C-44F6-8ED1-28258288182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F0E6C850-2788-4DD6-9D67-458882B2A42A}" type="slidenum">
              <a:rPr lang="en-US" altLang="en-US" sz="1400">
                <a:solidFill>
                  <a:srgbClr val="990033"/>
                </a:solidFill>
              </a:rPr>
              <a:pPr>
                <a:spcBef>
                  <a:spcPct val="0"/>
                </a:spcBef>
                <a:buClrTx/>
                <a:buSzTx/>
                <a:buFontTx/>
                <a:buNone/>
              </a:pPr>
              <a:t>31</a:t>
            </a:fld>
            <a:endParaRPr lang="en-CA" altLang="en-US" sz="1400">
              <a:solidFill>
                <a:srgbClr val="990033"/>
              </a:solidFill>
            </a:endParaRPr>
          </a:p>
        </p:txBody>
      </p:sp>
      <p:sp>
        <p:nvSpPr>
          <p:cNvPr id="40963" name="Rectangle 6">
            <a:extLst>
              <a:ext uri="{FF2B5EF4-FFF2-40B4-BE49-F238E27FC236}">
                <a16:creationId xmlns:a16="http://schemas.microsoft.com/office/drawing/2014/main" id="{DFFBA637-2C72-1CBA-E8F7-5212243344AC}"/>
              </a:ext>
            </a:extLst>
          </p:cNvPr>
          <p:cNvSpPr>
            <a:spLocks noGrp="1" noChangeArrowheads="1"/>
          </p:cNvSpPr>
          <p:nvPr>
            <p:ph type="title"/>
          </p:nvPr>
        </p:nvSpPr>
        <p:spPr/>
        <p:txBody>
          <a:bodyPr/>
          <a:lstStyle/>
          <a:p>
            <a:pPr eaLnBrk="1" hangingPunct="1"/>
            <a:r>
              <a:rPr lang="en-US" altLang="en-US" sz="3200"/>
              <a:t>Some properties of UNION, INTERSECT, and DIFFERENCE</a:t>
            </a:r>
          </a:p>
        </p:txBody>
      </p:sp>
      <p:sp>
        <p:nvSpPr>
          <p:cNvPr id="40964" name="Rectangle 7">
            <a:extLst>
              <a:ext uri="{FF2B5EF4-FFF2-40B4-BE49-F238E27FC236}">
                <a16:creationId xmlns:a16="http://schemas.microsoft.com/office/drawing/2014/main" id="{221BD7BC-7337-7AAF-647B-E4E9E93BE124}"/>
              </a:ext>
            </a:extLst>
          </p:cNvPr>
          <p:cNvSpPr>
            <a:spLocks noGrp="1" noChangeArrowheads="1"/>
          </p:cNvSpPr>
          <p:nvPr>
            <p:ph type="body" idx="1"/>
          </p:nvPr>
        </p:nvSpPr>
        <p:spPr/>
        <p:txBody>
          <a:bodyPr/>
          <a:lstStyle/>
          <a:p>
            <a:pPr eaLnBrk="1" hangingPunct="1"/>
            <a:r>
              <a:rPr lang="en-US" altLang="en-US" sz="2400"/>
              <a:t>Notice that both union and intersection are </a:t>
            </a:r>
            <a:r>
              <a:rPr lang="en-US" altLang="en-US" sz="2400" i="1"/>
              <a:t>commutative</a:t>
            </a:r>
            <a:r>
              <a:rPr lang="en-US" altLang="en-US" sz="2400"/>
              <a:t> operations; that is</a:t>
            </a:r>
          </a:p>
          <a:p>
            <a:pPr lvl="1" eaLnBrk="1" hangingPunct="1"/>
            <a:r>
              <a:rPr lang="en-US" altLang="en-US" sz="2200"/>
              <a:t>R </a:t>
            </a:r>
            <a:r>
              <a:rPr lang="en-US" altLang="en-US" sz="2200">
                <a:latin typeface="Symbol" panose="05050102010706020507" pitchFamily="18" charset="2"/>
              </a:rPr>
              <a:t></a:t>
            </a:r>
            <a:r>
              <a:rPr lang="en-US" altLang="en-US" sz="2200"/>
              <a:t> S = S </a:t>
            </a:r>
            <a:r>
              <a:rPr lang="en-US" altLang="en-US" sz="2200">
                <a:latin typeface="Symbol" panose="05050102010706020507" pitchFamily="18" charset="2"/>
              </a:rPr>
              <a:t></a:t>
            </a:r>
            <a:r>
              <a:rPr lang="en-US" altLang="en-US" sz="2200"/>
              <a:t> R, and R </a:t>
            </a:r>
            <a:r>
              <a:rPr lang="en-US" altLang="en-US" sz="2200">
                <a:latin typeface="Symbol" panose="05050102010706020507" pitchFamily="18" charset="2"/>
              </a:rPr>
              <a:t></a:t>
            </a:r>
            <a:r>
              <a:rPr lang="en-US" altLang="en-US" sz="2200"/>
              <a:t> S = S </a:t>
            </a:r>
            <a:r>
              <a:rPr lang="en-US" altLang="en-US" sz="2200">
                <a:latin typeface="Symbol" panose="05050102010706020507" pitchFamily="18" charset="2"/>
              </a:rPr>
              <a:t></a:t>
            </a:r>
            <a:r>
              <a:rPr lang="en-US" altLang="en-US" sz="2200"/>
              <a:t> R</a:t>
            </a:r>
          </a:p>
          <a:p>
            <a:pPr eaLnBrk="1" hangingPunct="1"/>
            <a:r>
              <a:rPr lang="en-US" altLang="en-US" sz="2400"/>
              <a:t>Both union and intersection can be treated as n-ary operations applicable to any number of relations as both are </a:t>
            </a:r>
            <a:r>
              <a:rPr lang="en-US" altLang="en-US" sz="2400" i="1"/>
              <a:t>associative</a:t>
            </a:r>
            <a:r>
              <a:rPr lang="en-US" altLang="en-US" sz="2400"/>
              <a:t> operations; that is</a:t>
            </a:r>
          </a:p>
          <a:p>
            <a:pPr lvl="1" eaLnBrk="1" hangingPunct="1"/>
            <a:r>
              <a:rPr lang="en-US" altLang="en-US" sz="2200"/>
              <a:t>R </a:t>
            </a:r>
            <a:r>
              <a:rPr lang="en-US" altLang="en-US" sz="2200">
                <a:latin typeface="Symbol" panose="05050102010706020507" pitchFamily="18" charset="2"/>
              </a:rPr>
              <a:t></a:t>
            </a:r>
            <a:r>
              <a:rPr lang="en-US" altLang="en-US" sz="2200"/>
              <a:t> (S </a:t>
            </a:r>
            <a:r>
              <a:rPr lang="en-US" altLang="en-US" sz="2200">
                <a:latin typeface="Symbol" panose="05050102010706020507" pitchFamily="18" charset="2"/>
              </a:rPr>
              <a:t></a:t>
            </a:r>
            <a:r>
              <a:rPr lang="en-US" altLang="en-US" sz="2200"/>
              <a:t> T) = (R </a:t>
            </a:r>
            <a:r>
              <a:rPr lang="en-US" altLang="en-US" sz="2200">
                <a:latin typeface="Symbol" panose="05050102010706020507" pitchFamily="18" charset="2"/>
              </a:rPr>
              <a:t></a:t>
            </a:r>
            <a:r>
              <a:rPr lang="en-US" altLang="en-US" sz="2200"/>
              <a:t> S) </a:t>
            </a:r>
            <a:r>
              <a:rPr lang="en-US" altLang="en-US" sz="2200">
                <a:latin typeface="Symbol" panose="05050102010706020507" pitchFamily="18" charset="2"/>
              </a:rPr>
              <a:t></a:t>
            </a:r>
            <a:r>
              <a:rPr lang="en-US" altLang="en-US" sz="2200"/>
              <a:t> T</a:t>
            </a:r>
          </a:p>
          <a:p>
            <a:pPr lvl="1" eaLnBrk="1" hangingPunct="1"/>
            <a:r>
              <a:rPr lang="en-US" altLang="en-US" sz="2200"/>
              <a:t>(R </a:t>
            </a:r>
            <a:r>
              <a:rPr lang="en-US" altLang="en-US" sz="2200">
                <a:latin typeface="Symbol" panose="05050102010706020507" pitchFamily="18" charset="2"/>
              </a:rPr>
              <a:t></a:t>
            </a:r>
            <a:r>
              <a:rPr lang="en-US" altLang="en-US" sz="2200"/>
              <a:t> S) </a:t>
            </a:r>
            <a:r>
              <a:rPr lang="en-US" altLang="en-US" sz="2200">
                <a:latin typeface="Symbol" panose="05050102010706020507" pitchFamily="18" charset="2"/>
              </a:rPr>
              <a:t></a:t>
            </a:r>
            <a:r>
              <a:rPr lang="en-US" altLang="en-US" sz="2200"/>
              <a:t> T = R </a:t>
            </a:r>
            <a:r>
              <a:rPr lang="en-US" altLang="en-US" sz="2200">
                <a:latin typeface="Symbol" panose="05050102010706020507" pitchFamily="18" charset="2"/>
              </a:rPr>
              <a:t></a:t>
            </a:r>
            <a:r>
              <a:rPr lang="en-US" altLang="en-US" sz="2200"/>
              <a:t> (S </a:t>
            </a:r>
            <a:r>
              <a:rPr lang="en-US" altLang="en-US" sz="2200">
                <a:latin typeface="Symbol" panose="05050102010706020507" pitchFamily="18" charset="2"/>
              </a:rPr>
              <a:t></a:t>
            </a:r>
            <a:r>
              <a:rPr lang="en-US" altLang="en-US" sz="2200"/>
              <a:t> T)</a:t>
            </a:r>
          </a:p>
          <a:p>
            <a:pPr eaLnBrk="1" hangingPunct="1"/>
            <a:r>
              <a:rPr lang="en-US" altLang="en-US" sz="2400"/>
              <a:t>The minus operation is not commutative; that is, in general</a:t>
            </a:r>
          </a:p>
          <a:p>
            <a:pPr lvl="1" eaLnBrk="1" hangingPunct="1"/>
            <a:r>
              <a:rPr lang="en-US" altLang="en-US" sz="2200"/>
              <a:t>R – S ≠ S – R</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3">
            <a:extLst>
              <a:ext uri="{FF2B5EF4-FFF2-40B4-BE49-F238E27FC236}">
                <a16:creationId xmlns:a16="http://schemas.microsoft.com/office/drawing/2014/main" id="{932610B5-5A7C-BCB4-8C03-2F3C5F3DEEF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CEC1BB1A-499F-4AC9-BAAD-618B643918E9}" type="slidenum">
              <a:rPr lang="en-US" altLang="en-US" sz="1400">
                <a:solidFill>
                  <a:srgbClr val="990033"/>
                </a:solidFill>
              </a:rPr>
              <a:pPr>
                <a:spcBef>
                  <a:spcPct val="0"/>
                </a:spcBef>
                <a:buClrTx/>
                <a:buSzTx/>
                <a:buFontTx/>
                <a:buNone/>
              </a:pPr>
              <a:t>32</a:t>
            </a:fld>
            <a:endParaRPr lang="en-CA" altLang="en-US" sz="1400">
              <a:solidFill>
                <a:srgbClr val="990033"/>
              </a:solidFill>
            </a:endParaRPr>
          </a:p>
        </p:txBody>
      </p:sp>
      <p:sp>
        <p:nvSpPr>
          <p:cNvPr id="41987" name="Rectangle 6">
            <a:extLst>
              <a:ext uri="{FF2B5EF4-FFF2-40B4-BE49-F238E27FC236}">
                <a16:creationId xmlns:a16="http://schemas.microsoft.com/office/drawing/2014/main" id="{DEFCFA0C-A117-D562-7AB0-C46D3B3DBA62}"/>
              </a:ext>
            </a:extLst>
          </p:cNvPr>
          <p:cNvSpPr>
            <a:spLocks noGrp="1" noChangeArrowheads="1"/>
          </p:cNvSpPr>
          <p:nvPr>
            <p:ph type="title"/>
          </p:nvPr>
        </p:nvSpPr>
        <p:spPr>
          <a:xfrm>
            <a:off x="190500" y="303213"/>
            <a:ext cx="8763000" cy="992187"/>
          </a:xfrm>
        </p:spPr>
        <p:txBody>
          <a:bodyPr/>
          <a:lstStyle/>
          <a:p>
            <a:pPr algn="ctr" eaLnBrk="1" hangingPunct="1"/>
            <a:r>
              <a:rPr lang="en-US" altLang="en-US" sz="3200" dirty="0"/>
              <a:t>Relational Algebra Operations from Set Theory: CARTESIAN PRODUCT</a:t>
            </a:r>
          </a:p>
        </p:txBody>
      </p:sp>
      <p:sp>
        <p:nvSpPr>
          <p:cNvPr id="41988" name="Rectangle 7">
            <a:extLst>
              <a:ext uri="{FF2B5EF4-FFF2-40B4-BE49-F238E27FC236}">
                <a16:creationId xmlns:a16="http://schemas.microsoft.com/office/drawing/2014/main" id="{1DED3384-7DE5-2229-E765-8BE962C3987D}"/>
              </a:ext>
            </a:extLst>
          </p:cNvPr>
          <p:cNvSpPr>
            <a:spLocks noGrp="1" noChangeArrowheads="1"/>
          </p:cNvSpPr>
          <p:nvPr>
            <p:ph type="body" idx="1"/>
          </p:nvPr>
        </p:nvSpPr>
        <p:spPr/>
        <p:txBody>
          <a:bodyPr/>
          <a:lstStyle/>
          <a:p>
            <a:pPr eaLnBrk="1" hangingPunct="1"/>
            <a:r>
              <a:rPr lang="en-US" altLang="en-US" sz="2400"/>
              <a:t>CARTESIAN (or CROSS) PRODUCT Operation</a:t>
            </a:r>
          </a:p>
          <a:p>
            <a:pPr lvl="1" eaLnBrk="1" hangingPunct="1"/>
            <a:r>
              <a:rPr lang="en-US" altLang="en-US" sz="2200"/>
              <a:t>This operation is used to combine tuples from two relations in a combinatorial fashion.</a:t>
            </a:r>
          </a:p>
          <a:p>
            <a:pPr lvl="1" eaLnBrk="1" hangingPunct="1"/>
            <a:r>
              <a:rPr lang="en-US" altLang="en-US" sz="2200"/>
              <a:t>Denoted by R(A1, A2, . . ., An) x S(B1, B2, . . ., Bm)</a:t>
            </a:r>
          </a:p>
          <a:p>
            <a:pPr lvl="1" eaLnBrk="1" hangingPunct="1"/>
            <a:r>
              <a:rPr lang="en-US" altLang="en-US" sz="2200"/>
              <a:t>Result is a relation Q with degree n + m attributes:</a:t>
            </a:r>
          </a:p>
          <a:p>
            <a:pPr lvl="2" eaLnBrk="1" hangingPunct="1"/>
            <a:r>
              <a:rPr lang="en-US" altLang="en-US" sz="2000"/>
              <a:t>Q(A1, A2, . . ., An, B1, B2, . . ., Bm), in that order.</a:t>
            </a:r>
          </a:p>
          <a:p>
            <a:pPr lvl="1" eaLnBrk="1" hangingPunct="1"/>
            <a:r>
              <a:rPr lang="en-US" altLang="en-US" sz="2200"/>
              <a:t>The resulting relation state has one tuple for each combination of tuples—one from R and one from S. </a:t>
            </a:r>
          </a:p>
          <a:p>
            <a:pPr lvl="1" eaLnBrk="1" hangingPunct="1"/>
            <a:r>
              <a:rPr lang="en-US" altLang="en-US" sz="2200"/>
              <a:t>Hence, if R has n</a:t>
            </a:r>
            <a:r>
              <a:rPr lang="en-US" altLang="en-US" sz="2200" baseline="-25000"/>
              <a:t>R</a:t>
            </a:r>
            <a:r>
              <a:rPr lang="en-US" altLang="en-US" sz="2200"/>
              <a:t> tuples (denoted as |R| = n</a:t>
            </a:r>
            <a:r>
              <a:rPr lang="en-US" altLang="en-US" sz="2200" baseline="-25000"/>
              <a:t>R</a:t>
            </a:r>
            <a:r>
              <a:rPr lang="en-US" altLang="en-US" sz="2200"/>
              <a:t> ), and S has n</a:t>
            </a:r>
            <a:r>
              <a:rPr lang="en-US" altLang="en-US" sz="2200" baseline="-25000"/>
              <a:t>S</a:t>
            </a:r>
            <a:r>
              <a:rPr lang="en-US" altLang="en-US" sz="2200"/>
              <a:t> tuples, then R x S will have n</a:t>
            </a:r>
            <a:r>
              <a:rPr lang="en-US" altLang="en-US" sz="2200" baseline="-25000"/>
              <a:t>R</a:t>
            </a:r>
            <a:r>
              <a:rPr lang="en-US" altLang="en-US" sz="2200"/>
              <a:t> * n</a:t>
            </a:r>
            <a:r>
              <a:rPr lang="en-US" altLang="en-US" sz="2200" baseline="-25000"/>
              <a:t>S</a:t>
            </a:r>
            <a:r>
              <a:rPr lang="en-US" altLang="en-US" sz="2200"/>
              <a:t> tuples.</a:t>
            </a:r>
          </a:p>
          <a:p>
            <a:pPr lvl="1" eaLnBrk="1" hangingPunct="1"/>
            <a:r>
              <a:rPr lang="en-US" altLang="en-US" sz="2200"/>
              <a:t>The two operands do NOT have to be "type compatible”</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a:extLst>
              <a:ext uri="{FF2B5EF4-FFF2-40B4-BE49-F238E27FC236}">
                <a16:creationId xmlns:a16="http://schemas.microsoft.com/office/drawing/2014/main" id="{61EB8E60-ACF8-9AB5-8945-A686F54BDEA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1658CB43-E4C5-43E9-B9D4-4E4A17E734DB}" type="slidenum">
              <a:rPr lang="en-US" altLang="en-US" sz="1400">
                <a:solidFill>
                  <a:srgbClr val="990033"/>
                </a:solidFill>
              </a:rPr>
              <a:pPr>
                <a:spcBef>
                  <a:spcPct val="0"/>
                </a:spcBef>
                <a:buClrTx/>
                <a:buSzTx/>
                <a:buFontTx/>
                <a:buNone/>
              </a:pPr>
              <a:t>33</a:t>
            </a:fld>
            <a:endParaRPr lang="en-CA" altLang="en-US" sz="1400">
              <a:solidFill>
                <a:srgbClr val="990033"/>
              </a:solidFill>
            </a:endParaRPr>
          </a:p>
        </p:txBody>
      </p:sp>
      <p:sp>
        <p:nvSpPr>
          <p:cNvPr id="43011" name="Rectangle 2">
            <a:extLst>
              <a:ext uri="{FF2B5EF4-FFF2-40B4-BE49-F238E27FC236}">
                <a16:creationId xmlns:a16="http://schemas.microsoft.com/office/drawing/2014/main" id="{F0A55C07-E9E9-0F55-7486-42DBCAD72CFB}"/>
              </a:ext>
            </a:extLst>
          </p:cNvPr>
          <p:cNvSpPr>
            <a:spLocks noGrp="1" noChangeArrowheads="1"/>
          </p:cNvSpPr>
          <p:nvPr>
            <p:ph type="title"/>
          </p:nvPr>
        </p:nvSpPr>
        <p:spPr/>
        <p:txBody>
          <a:bodyPr/>
          <a:lstStyle/>
          <a:p>
            <a:pPr eaLnBrk="1" hangingPunct="1"/>
            <a:r>
              <a:rPr lang="en-US" altLang="en-US" sz="3200"/>
              <a:t>Relational Algebra Operations from Set Theory: CARTESIAN PRODUCT (cont.)</a:t>
            </a:r>
          </a:p>
        </p:txBody>
      </p:sp>
      <p:sp>
        <p:nvSpPr>
          <p:cNvPr id="43012" name="Rectangle 3">
            <a:extLst>
              <a:ext uri="{FF2B5EF4-FFF2-40B4-BE49-F238E27FC236}">
                <a16:creationId xmlns:a16="http://schemas.microsoft.com/office/drawing/2014/main" id="{FECC26DF-292B-B225-EAF4-3BF50BDE2BA9}"/>
              </a:ext>
            </a:extLst>
          </p:cNvPr>
          <p:cNvSpPr>
            <a:spLocks noGrp="1" noChangeArrowheads="1"/>
          </p:cNvSpPr>
          <p:nvPr>
            <p:ph type="body" idx="1"/>
          </p:nvPr>
        </p:nvSpPr>
        <p:spPr/>
        <p:txBody>
          <a:bodyPr/>
          <a:lstStyle/>
          <a:p>
            <a:pPr eaLnBrk="1" hangingPunct="1">
              <a:lnSpc>
                <a:spcPct val="90000"/>
              </a:lnSpc>
            </a:pPr>
            <a:r>
              <a:rPr lang="en-US" altLang="en-US"/>
              <a:t>Generally, CROSS PRODUCT is not a meaningful operation</a:t>
            </a:r>
          </a:p>
          <a:p>
            <a:pPr lvl="1" eaLnBrk="1" hangingPunct="1">
              <a:lnSpc>
                <a:spcPct val="90000"/>
              </a:lnSpc>
            </a:pPr>
            <a:r>
              <a:rPr lang="en-US" altLang="en-US"/>
              <a:t>Can become meaningful when followed by other operations</a:t>
            </a:r>
          </a:p>
          <a:p>
            <a:pPr eaLnBrk="1" hangingPunct="1">
              <a:lnSpc>
                <a:spcPct val="90000"/>
              </a:lnSpc>
            </a:pPr>
            <a:r>
              <a:rPr lang="en-US" altLang="en-US"/>
              <a:t>Example (not meaningful):</a:t>
            </a:r>
          </a:p>
          <a:p>
            <a:pPr lvl="1" eaLnBrk="1" hangingPunct="1">
              <a:lnSpc>
                <a:spcPct val="90000"/>
              </a:lnSpc>
            </a:pPr>
            <a:r>
              <a:rPr lang="en-US" altLang="en-US" sz="2200"/>
              <a:t>FEMALE_EMPS </a:t>
            </a:r>
            <a:r>
              <a:rPr lang="en-US" altLang="en-US" sz="2200">
                <a:sym typeface="Symbol" panose="05050102010706020507" pitchFamily="18" charset="2"/>
              </a:rPr>
              <a:t> </a:t>
            </a:r>
            <a:r>
              <a:rPr lang="en-US" altLang="en-US" sz="2200" b="1">
                <a:latin typeface="Symbol" panose="05050102010706020507" pitchFamily="18" charset="2"/>
              </a:rPr>
              <a:t></a:t>
            </a:r>
            <a:r>
              <a:rPr lang="en-US" altLang="en-US" sz="2200"/>
              <a:t> </a:t>
            </a:r>
            <a:r>
              <a:rPr lang="en-US" altLang="en-US" sz="2200" baseline="-25000"/>
              <a:t>SEX=’F’</a:t>
            </a:r>
            <a:r>
              <a:rPr lang="en-US" altLang="ja-JP" sz="2200"/>
              <a:t>(EMPLOYEE)</a:t>
            </a:r>
          </a:p>
          <a:p>
            <a:pPr lvl="1" eaLnBrk="1" hangingPunct="1">
              <a:lnSpc>
                <a:spcPct val="90000"/>
              </a:lnSpc>
            </a:pPr>
            <a:r>
              <a:rPr lang="en-US" altLang="en-US" sz="2200"/>
              <a:t>EMPNAMES </a:t>
            </a:r>
            <a:r>
              <a:rPr lang="en-US" altLang="en-US" sz="2200">
                <a:sym typeface="Symbol" panose="05050102010706020507" pitchFamily="18" charset="2"/>
              </a:rPr>
              <a:t> </a:t>
            </a:r>
            <a:r>
              <a:rPr lang="en-US" altLang="en-US" sz="2200" b="1">
                <a:latin typeface="Symbol" panose="05050102010706020507" pitchFamily="18" charset="2"/>
              </a:rPr>
              <a:t></a:t>
            </a:r>
            <a:r>
              <a:rPr lang="en-US" altLang="en-US" sz="2200"/>
              <a:t> </a:t>
            </a:r>
            <a:r>
              <a:rPr lang="en-US" altLang="en-US" sz="2200" baseline="-25000"/>
              <a:t>FNAME, LNAME, SSN </a:t>
            </a:r>
            <a:r>
              <a:rPr lang="en-US" altLang="en-US" sz="2200"/>
              <a:t>(FEMALE_EMPS)</a:t>
            </a:r>
          </a:p>
          <a:p>
            <a:pPr lvl="1" eaLnBrk="1" hangingPunct="1">
              <a:lnSpc>
                <a:spcPct val="90000"/>
              </a:lnSpc>
            </a:pPr>
            <a:r>
              <a:rPr lang="en-US" altLang="en-US" sz="2200"/>
              <a:t>EMP_DEPENDENTS </a:t>
            </a:r>
            <a:r>
              <a:rPr lang="en-US" altLang="en-US" sz="2200">
                <a:sym typeface="Symbol" panose="05050102010706020507" pitchFamily="18" charset="2"/>
              </a:rPr>
              <a:t> </a:t>
            </a:r>
            <a:r>
              <a:rPr lang="en-US" altLang="en-US" sz="2200"/>
              <a:t>EMPNAMES x DEPENDENT</a:t>
            </a:r>
          </a:p>
          <a:p>
            <a:pPr eaLnBrk="1" hangingPunct="1">
              <a:lnSpc>
                <a:spcPct val="90000"/>
              </a:lnSpc>
            </a:pPr>
            <a:r>
              <a:rPr lang="en-US" altLang="en-US" sz="2400"/>
              <a:t>EMP_DEPENDENTS will contain every combination of EMPNAMES and DEPENDENT</a:t>
            </a:r>
          </a:p>
          <a:p>
            <a:pPr lvl="1" eaLnBrk="1" hangingPunct="1">
              <a:lnSpc>
                <a:spcPct val="90000"/>
              </a:lnSpc>
            </a:pPr>
            <a:r>
              <a:rPr lang="en-US" altLang="en-US" sz="2200"/>
              <a:t>whether or not they are actually related</a:t>
            </a:r>
          </a:p>
          <a:p>
            <a:pPr eaLnBrk="1" hangingPunct="1">
              <a:lnSpc>
                <a:spcPct val="90000"/>
              </a:lnSpc>
            </a:pPr>
            <a:endParaRPr lang="en-US" altLang="en-US" sz="2400"/>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a:extLst>
              <a:ext uri="{FF2B5EF4-FFF2-40B4-BE49-F238E27FC236}">
                <a16:creationId xmlns:a16="http://schemas.microsoft.com/office/drawing/2014/main" id="{82CA939F-648B-CBDF-680E-76D69A6FDC9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043B3886-ADAB-400F-A523-01159D1562F0}" type="slidenum">
              <a:rPr lang="en-US" altLang="en-US" sz="1400">
                <a:solidFill>
                  <a:srgbClr val="990033"/>
                </a:solidFill>
              </a:rPr>
              <a:pPr>
                <a:spcBef>
                  <a:spcPct val="0"/>
                </a:spcBef>
                <a:buClrTx/>
                <a:buSzTx/>
                <a:buFontTx/>
                <a:buNone/>
              </a:pPr>
              <a:t>34</a:t>
            </a:fld>
            <a:endParaRPr lang="en-CA" altLang="en-US" sz="1400">
              <a:solidFill>
                <a:srgbClr val="990033"/>
              </a:solidFill>
            </a:endParaRPr>
          </a:p>
        </p:txBody>
      </p:sp>
      <p:sp>
        <p:nvSpPr>
          <p:cNvPr id="44035" name="Rectangle 2">
            <a:extLst>
              <a:ext uri="{FF2B5EF4-FFF2-40B4-BE49-F238E27FC236}">
                <a16:creationId xmlns:a16="http://schemas.microsoft.com/office/drawing/2014/main" id="{A78143F5-ED8D-FF28-ADDF-011A065167E0}"/>
              </a:ext>
            </a:extLst>
          </p:cNvPr>
          <p:cNvSpPr>
            <a:spLocks noGrp="1" noChangeArrowheads="1"/>
          </p:cNvSpPr>
          <p:nvPr>
            <p:ph type="title"/>
          </p:nvPr>
        </p:nvSpPr>
        <p:spPr/>
        <p:txBody>
          <a:bodyPr/>
          <a:lstStyle/>
          <a:p>
            <a:pPr eaLnBrk="1" hangingPunct="1"/>
            <a:r>
              <a:rPr lang="en-US" altLang="en-US" sz="3200"/>
              <a:t>Relational Algebra Operations from Set Theory: CARTESIAN PRODUCT (cont.)</a:t>
            </a:r>
          </a:p>
        </p:txBody>
      </p:sp>
      <p:sp>
        <p:nvSpPr>
          <p:cNvPr id="44036" name="Rectangle 3">
            <a:extLst>
              <a:ext uri="{FF2B5EF4-FFF2-40B4-BE49-F238E27FC236}">
                <a16:creationId xmlns:a16="http://schemas.microsoft.com/office/drawing/2014/main" id="{154B1A6B-655C-0D47-9E4F-4421A1FBDAF7}"/>
              </a:ext>
            </a:extLst>
          </p:cNvPr>
          <p:cNvSpPr>
            <a:spLocks noGrp="1" noChangeArrowheads="1"/>
          </p:cNvSpPr>
          <p:nvPr>
            <p:ph type="body" idx="1"/>
          </p:nvPr>
        </p:nvSpPr>
        <p:spPr/>
        <p:txBody>
          <a:bodyPr/>
          <a:lstStyle/>
          <a:p>
            <a:pPr eaLnBrk="1" hangingPunct="1">
              <a:lnSpc>
                <a:spcPct val="90000"/>
              </a:lnSpc>
            </a:pPr>
            <a:r>
              <a:rPr lang="en-US" altLang="en-US" dirty="0"/>
              <a:t>To keep only combinations where the DEPENDENT is related to the EMPLOYEE, we add a SELECT operation as follows</a:t>
            </a:r>
          </a:p>
          <a:p>
            <a:pPr eaLnBrk="1" hangingPunct="1">
              <a:lnSpc>
                <a:spcPct val="90000"/>
              </a:lnSpc>
            </a:pPr>
            <a:r>
              <a:rPr lang="en-US" altLang="en-US" dirty="0"/>
              <a:t>Example (meaningful):</a:t>
            </a:r>
          </a:p>
          <a:p>
            <a:pPr lvl="1" eaLnBrk="1" hangingPunct="1">
              <a:lnSpc>
                <a:spcPct val="90000"/>
              </a:lnSpc>
            </a:pPr>
            <a:r>
              <a:rPr lang="en-US" altLang="en-US" sz="2200" dirty="0"/>
              <a:t>FEMALE_EMPS </a:t>
            </a:r>
            <a:r>
              <a:rPr lang="en-US" altLang="en-US" sz="2200" dirty="0">
                <a:sym typeface="Symbol" panose="05050102010706020507" pitchFamily="18" charset="2"/>
              </a:rPr>
              <a:t> </a:t>
            </a:r>
            <a:r>
              <a:rPr lang="en-US" altLang="en-US" sz="2200" b="1" dirty="0">
                <a:latin typeface="Symbol" panose="05050102010706020507" pitchFamily="18" charset="2"/>
              </a:rPr>
              <a:t></a:t>
            </a:r>
            <a:r>
              <a:rPr lang="en-US" altLang="en-US" sz="2200" dirty="0"/>
              <a:t> </a:t>
            </a:r>
            <a:r>
              <a:rPr lang="en-US" altLang="en-US" sz="2200" baseline="-25000" dirty="0"/>
              <a:t>SEX=’F’</a:t>
            </a:r>
            <a:r>
              <a:rPr lang="en-US" altLang="ja-JP" sz="2200" dirty="0"/>
              <a:t>(EMPLOYEE)</a:t>
            </a:r>
          </a:p>
          <a:p>
            <a:pPr lvl="1" eaLnBrk="1" hangingPunct="1">
              <a:lnSpc>
                <a:spcPct val="90000"/>
              </a:lnSpc>
            </a:pPr>
            <a:r>
              <a:rPr lang="en-US" altLang="en-US" sz="2200" dirty="0"/>
              <a:t>EMPNAMES </a:t>
            </a:r>
            <a:r>
              <a:rPr lang="en-US" altLang="en-US" sz="2200" dirty="0">
                <a:sym typeface="Symbol" panose="05050102010706020507" pitchFamily="18" charset="2"/>
              </a:rPr>
              <a:t> </a:t>
            </a:r>
            <a:r>
              <a:rPr lang="en-US" altLang="en-US" sz="2200" b="1" dirty="0">
                <a:latin typeface="Symbol" panose="05050102010706020507" pitchFamily="18" charset="2"/>
              </a:rPr>
              <a:t></a:t>
            </a:r>
            <a:r>
              <a:rPr lang="en-US" altLang="en-US" sz="2200" dirty="0"/>
              <a:t> </a:t>
            </a:r>
            <a:r>
              <a:rPr lang="en-US" altLang="en-US" sz="2200" baseline="-25000" dirty="0"/>
              <a:t>FNAME, LNAME, SSN </a:t>
            </a:r>
            <a:r>
              <a:rPr lang="en-US" altLang="en-US" sz="2200" dirty="0"/>
              <a:t>(FEMALE_EMPS)</a:t>
            </a:r>
          </a:p>
          <a:p>
            <a:pPr lvl="1" eaLnBrk="1" hangingPunct="1">
              <a:lnSpc>
                <a:spcPct val="90000"/>
              </a:lnSpc>
            </a:pPr>
            <a:r>
              <a:rPr lang="en-US" altLang="en-US" sz="2200" dirty="0"/>
              <a:t>EMP_DEPENDENTS </a:t>
            </a:r>
            <a:r>
              <a:rPr lang="en-US" altLang="en-US" sz="2200" dirty="0">
                <a:sym typeface="Symbol" panose="05050102010706020507" pitchFamily="18" charset="2"/>
              </a:rPr>
              <a:t> </a:t>
            </a:r>
            <a:r>
              <a:rPr lang="en-US" altLang="en-US" sz="2200" dirty="0"/>
              <a:t>EMPNAMES x DEPENDENT</a:t>
            </a:r>
          </a:p>
          <a:p>
            <a:pPr lvl="1" eaLnBrk="1" hangingPunct="1">
              <a:lnSpc>
                <a:spcPct val="90000"/>
              </a:lnSpc>
            </a:pPr>
            <a:r>
              <a:rPr lang="en-US" altLang="en-US" sz="2200" dirty="0"/>
              <a:t>ACTUAL_DEPS </a:t>
            </a:r>
            <a:r>
              <a:rPr lang="en-US" altLang="en-US" sz="2200" dirty="0">
                <a:sym typeface="Symbol" panose="05050102010706020507" pitchFamily="18" charset="2"/>
              </a:rPr>
              <a:t> </a:t>
            </a:r>
            <a:r>
              <a:rPr lang="en-US" altLang="en-US" sz="2200" b="1" dirty="0">
                <a:latin typeface="Symbol" panose="05050102010706020507" pitchFamily="18" charset="2"/>
              </a:rPr>
              <a:t></a:t>
            </a:r>
            <a:r>
              <a:rPr lang="en-US" altLang="en-US" sz="2200" dirty="0"/>
              <a:t> </a:t>
            </a:r>
            <a:r>
              <a:rPr lang="en-US" altLang="en-US" sz="2200" baseline="-25000" dirty="0"/>
              <a:t>SSN=ESSN</a:t>
            </a:r>
            <a:r>
              <a:rPr lang="en-US" altLang="en-US" sz="2200" dirty="0"/>
              <a:t>(EMP_DEPENDENTS)</a:t>
            </a:r>
          </a:p>
          <a:p>
            <a:pPr lvl="1" eaLnBrk="1" hangingPunct="1">
              <a:lnSpc>
                <a:spcPct val="90000"/>
              </a:lnSpc>
            </a:pPr>
            <a:r>
              <a:rPr lang="en-US" altLang="en-US" sz="2200" dirty="0"/>
              <a:t>RESULT </a:t>
            </a:r>
            <a:r>
              <a:rPr lang="en-US" altLang="en-US" sz="2200" dirty="0">
                <a:sym typeface="Symbol" panose="05050102010706020507" pitchFamily="18" charset="2"/>
              </a:rPr>
              <a:t> </a:t>
            </a:r>
            <a:r>
              <a:rPr lang="en-US" altLang="en-US" sz="2200" b="1" dirty="0">
                <a:latin typeface="Symbol" panose="05050102010706020507" pitchFamily="18" charset="2"/>
              </a:rPr>
              <a:t></a:t>
            </a:r>
            <a:r>
              <a:rPr lang="en-US" altLang="en-US" sz="2200" dirty="0"/>
              <a:t> </a:t>
            </a:r>
            <a:r>
              <a:rPr lang="en-US" altLang="en-US" sz="2200" baseline="-25000" dirty="0"/>
              <a:t>FNAME, LNAME, DEPENDENT_NAME </a:t>
            </a:r>
            <a:r>
              <a:rPr lang="en-US" altLang="en-US" sz="2200" dirty="0"/>
              <a:t>(ACTUAL_DEPS)</a:t>
            </a:r>
          </a:p>
          <a:p>
            <a:pPr eaLnBrk="1" hangingPunct="1">
              <a:lnSpc>
                <a:spcPct val="90000"/>
              </a:lnSpc>
            </a:pPr>
            <a:r>
              <a:rPr lang="en-US" altLang="en-US" sz="2400" dirty="0"/>
              <a:t>RESULT will now contain the name of female employees and their dependents</a:t>
            </a:r>
          </a:p>
          <a:p>
            <a:pPr lvl="1" eaLnBrk="1" hangingPunct="1">
              <a:lnSpc>
                <a:spcPct val="90000"/>
              </a:lnSpc>
            </a:pPr>
            <a:endParaRPr lang="en-US" altLang="en-US" sz="2200" dirty="0"/>
          </a:p>
          <a:p>
            <a:pPr eaLnBrk="1" hangingPunct="1">
              <a:lnSpc>
                <a:spcPct val="90000"/>
              </a:lnSpc>
            </a:pPr>
            <a:endParaRPr lang="en-US" altLang="en-US" sz="2400" dirty="0"/>
          </a:p>
          <a:p>
            <a:pPr eaLnBrk="1" hangingPunct="1">
              <a:lnSpc>
                <a:spcPct val="90000"/>
              </a:lnSpc>
            </a:pPr>
            <a:endParaRPr lang="en-US" altLang="en-US" sz="2400" dirty="0"/>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0F3377DF-326F-D262-2A17-A2ABE81ECC7A}"/>
              </a:ext>
            </a:extLst>
          </p:cNvPr>
          <p:cNvSpPr>
            <a:spLocks noGrp="1"/>
          </p:cNvSpPr>
          <p:nvPr>
            <p:ph type="title"/>
          </p:nvPr>
        </p:nvSpPr>
        <p:spPr>
          <a:xfrm>
            <a:off x="114300" y="134170"/>
            <a:ext cx="8915400" cy="992187"/>
          </a:xfrm>
        </p:spPr>
        <p:txBody>
          <a:bodyPr/>
          <a:lstStyle/>
          <a:p>
            <a:pPr lvl="1" eaLnBrk="1" hangingPunct="1">
              <a:lnSpc>
                <a:spcPct val="90000"/>
              </a:lnSpc>
            </a:pPr>
            <a:r>
              <a:rPr lang="en-US" altLang="en-US" sz="2800" dirty="0"/>
              <a:t>FEMALE_EMPS </a:t>
            </a:r>
            <a:r>
              <a:rPr lang="en-US" altLang="en-US" sz="2800" dirty="0">
                <a:sym typeface="Symbol" panose="05050102010706020507" pitchFamily="18" charset="2"/>
              </a:rPr>
              <a:t> </a:t>
            </a:r>
            <a:r>
              <a:rPr lang="en-US" altLang="en-US" sz="2800" b="1" dirty="0">
                <a:latin typeface="Symbol" panose="05050102010706020507" pitchFamily="18" charset="2"/>
              </a:rPr>
              <a:t></a:t>
            </a:r>
            <a:r>
              <a:rPr lang="en-US" altLang="en-US" sz="2800" dirty="0"/>
              <a:t> </a:t>
            </a:r>
            <a:r>
              <a:rPr lang="en-US" altLang="en-US" sz="2800" baseline="-25000" dirty="0"/>
              <a:t>SEX=’F’</a:t>
            </a:r>
            <a:r>
              <a:rPr lang="en-US" altLang="ja-JP" sz="2800" dirty="0"/>
              <a:t>(EMPLOYEE)</a:t>
            </a:r>
            <a:br>
              <a:rPr lang="en-US" altLang="ja-JP" sz="2800" dirty="0"/>
            </a:br>
            <a:r>
              <a:rPr lang="en-US" altLang="en-US" sz="2800" dirty="0"/>
              <a:t>EMPNAMES </a:t>
            </a:r>
            <a:r>
              <a:rPr lang="en-US" altLang="en-US" sz="2800" dirty="0">
                <a:sym typeface="Symbol" panose="05050102010706020507" pitchFamily="18" charset="2"/>
              </a:rPr>
              <a:t> </a:t>
            </a:r>
            <a:r>
              <a:rPr lang="en-US" altLang="en-US" sz="2800" b="1" dirty="0">
                <a:latin typeface="Symbol" panose="05050102010706020507" pitchFamily="18" charset="2"/>
              </a:rPr>
              <a:t></a:t>
            </a:r>
            <a:r>
              <a:rPr lang="en-US" altLang="en-US" sz="2800" dirty="0"/>
              <a:t> </a:t>
            </a:r>
            <a:r>
              <a:rPr lang="en-US" altLang="en-US" sz="2800" baseline="-25000" dirty="0"/>
              <a:t>FNAME, LNAME, SSN </a:t>
            </a:r>
            <a:r>
              <a:rPr lang="en-US" altLang="en-US" sz="2800" dirty="0"/>
              <a:t>(FEMALE_EMPS)</a:t>
            </a:r>
            <a:endParaRPr lang="en-US" altLang="en-US" sz="2800" dirty="0">
              <a:latin typeface="Verdana" panose="020B0604030504040204" pitchFamily="34" charset="0"/>
            </a:endParaRPr>
          </a:p>
        </p:txBody>
      </p:sp>
      <p:pic>
        <p:nvPicPr>
          <p:cNvPr id="45059" name="Picture 3" descr="fig08_05continueda.jpg">
            <a:extLst>
              <a:ext uri="{FF2B5EF4-FFF2-40B4-BE49-F238E27FC236}">
                <a16:creationId xmlns:a16="http://schemas.microsoft.com/office/drawing/2014/main" id="{73EBA5B3-3949-224B-B5CF-F52F71CF296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805088"/>
            <a:ext cx="8229600"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Slide Number Placeholder 3">
            <a:extLst>
              <a:ext uri="{FF2B5EF4-FFF2-40B4-BE49-F238E27FC236}">
                <a16:creationId xmlns:a16="http://schemas.microsoft.com/office/drawing/2014/main" id="{FD3AF59F-3A5E-B00C-A65E-F240AE129F0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C8AC4DA7-0256-45C2-BADD-3419540D6D2A}" type="slidenum">
              <a:rPr lang="en-US" altLang="en-US" sz="1400">
                <a:solidFill>
                  <a:srgbClr val="990033"/>
                </a:solidFill>
              </a:rPr>
              <a:pPr>
                <a:spcBef>
                  <a:spcPct val="0"/>
                </a:spcBef>
                <a:buClrTx/>
                <a:buSzTx/>
                <a:buFontTx/>
                <a:buNone/>
              </a:pPr>
              <a:t>35</a:t>
            </a:fld>
            <a:endParaRPr lang="en-CA" altLang="en-US" sz="1400">
              <a:solidFill>
                <a:srgbClr val="990033"/>
              </a:solidFill>
            </a:endParaRPr>
          </a:p>
        </p:txBody>
      </p:sp>
      <p:pic>
        <p:nvPicPr>
          <p:cNvPr id="5" name="Picture 4">
            <a:extLst>
              <a:ext uri="{FF2B5EF4-FFF2-40B4-BE49-F238E27FC236}">
                <a16:creationId xmlns:a16="http://schemas.microsoft.com/office/drawing/2014/main" id="{773C4671-7C96-9CCE-9EAF-F3523D109ACF}"/>
              </a:ext>
            </a:extLst>
          </p:cNvPr>
          <p:cNvPicPr>
            <a:picLocks noChangeAspect="1"/>
          </p:cNvPicPr>
          <p:nvPr/>
        </p:nvPicPr>
        <p:blipFill>
          <a:blip r:embed="rId3"/>
          <a:stretch>
            <a:fillRect/>
          </a:stretch>
        </p:blipFill>
        <p:spPr>
          <a:xfrm>
            <a:off x="304800" y="1452619"/>
            <a:ext cx="7391400" cy="2352469"/>
          </a:xfrm>
          <a:prstGeom prst="rect">
            <a:avLst/>
          </a:prstGeom>
        </p:spPr>
      </p:pic>
    </p:spTree>
  </p:cSld>
  <p:clrMapOvr>
    <a:masterClrMapping/>
  </p:clrMapOvr>
  <p:transition spd="med" advTm="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C1826301-0D48-C31D-89D3-012337B04D37}"/>
              </a:ext>
            </a:extLst>
          </p:cNvPr>
          <p:cNvSpPr>
            <a:spLocks noGrp="1"/>
          </p:cNvSpPr>
          <p:nvPr>
            <p:ph type="title"/>
          </p:nvPr>
        </p:nvSpPr>
        <p:spPr>
          <a:xfrm>
            <a:off x="73025" y="152400"/>
            <a:ext cx="4267200" cy="992187"/>
          </a:xfrm>
        </p:spPr>
        <p:txBody>
          <a:bodyPr/>
          <a:lstStyle/>
          <a:p>
            <a:r>
              <a:rPr lang="en-US" altLang="en-US" sz="2400" dirty="0"/>
              <a:t>EMP_DEPENDENTS </a:t>
            </a:r>
            <a:r>
              <a:rPr lang="en-US" altLang="en-US" sz="2400" dirty="0">
                <a:sym typeface="Symbol" panose="05050102010706020507" pitchFamily="18" charset="2"/>
              </a:rPr>
              <a:t> </a:t>
            </a:r>
            <a:br>
              <a:rPr lang="en-US" altLang="en-US" sz="2400" dirty="0">
                <a:sym typeface="Symbol" panose="05050102010706020507" pitchFamily="18" charset="2"/>
              </a:rPr>
            </a:br>
            <a:r>
              <a:rPr lang="en-US" altLang="en-US" sz="2400" dirty="0"/>
              <a:t>EMPNAMES x DEPENDENT</a:t>
            </a:r>
            <a:endParaRPr lang="en-US" altLang="en-US" sz="2400" dirty="0">
              <a:latin typeface="Verdana" panose="020B0604030504040204" pitchFamily="34" charset="0"/>
            </a:endParaRPr>
          </a:p>
        </p:txBody>
      </p:sp>
      <p:pic>
        <p:nvPicPr>
          <p:cNvPr id="46083" name="Picture 3" descr="fig08_05continuedb.jpg">
            <a:extLst>
              <a:ext uri="{FF2B5EF4-FFF2-40B4-BE49-F238E27FC236}">
                <a16:creationId xmlns:a16="http://schemas.microsoft.com/office/drawing/2014/main" id="{C1A8055D-F01F-7F1F-11A9-35A64F7B87B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2333" y="1600200"/>
            <a:ext cx="666115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5" name="Slide Number Placeholder 3">
            <a:extLst>
              <a:ext uri="{FF2B5EF4-FFF2-40B4-BE49-F238E27FC236}">
                <a16:creationId xmlns:a16="http://schemas.microsoft.com/office/drawing/2014/main" id="{6DFE199E-74EB-4ADC-6E70-9C5E6CEBF53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429184E7-BDF9-4695-8405-8C1610C3BA41}" type="slidenum">
              <a:rPr lang="en-US" altLang="en-US" sz="1400">
                <a:solidFill>
                  <a:srgbClr val="990033"/>
                </a:solidFill>
              </a:rPr>
              <a:pPr>
                <a:spcBef>
                  <a:spcPct val="0"/>
                </a:spcBef>
                <a:buClrTx/>
                <a:buSzTx/>
                <a:buFontTx/>
                <a:buNone/>
              </a:pPr>
              <a:t>36</a:t>
            </a:fld>
            <a:endParaRPr lang="en-CA" altLang="en-US" sz="1400">
              <a:solidFill>
                <a:srgbClr val="990033"/>
              </a:solidFill>
            </a:endParaRPr>
          </a:p>
        </p:txBody>
      </p:sp>
      <p:pic>
        <p:nvPicPr>
          <p:cNvPr id="2" name="Picture 3" descr="fig08_05continueda.jpg">
            <a:extLst>
              <a:ext uri="{FF2B5EF4-FFF2-40B4-BE49-F238E27FC236}">
                <a16:creationId xmlns:a16="http://schemas.microsoft.com/office/drawing/2014/main" id="{870B35D9-A97D-6B63-F10D-D7625C35300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37923" y="17918"/>
            <a:ext cx="4771127" cy="1658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58F285EA-62D8-7A11-EEE4-FD9AEF9AA792}"/>
                  </a:ext>
                </a:extLst>
              </p14:cNvPr>
              <p14:cNvContentPartPr/>
              <p14:nvPr/>
            </p14:nvContentPartPr>
            <p14:xfrm>
              <a:off x="1250585" y="4185591"/>
              <a:ext cx="1807200" cy="281880"/>
            </p14:xfrm>
          </p:contentPart>
        </mc:Choice>
        <mc:Fallback>
          <p:pic>
            <p:nvPicPr>
              <p:cNvPr id="3" name="Ink 2">
                <a:extLst>
                  <a:ext uri="{FF2B5EF4-FFF2-40B4-BE49-F238E27FC236}">
                    <a16:creationId xmlns:a16="http://schemas.microsoft.com/office/drawing/2014/main" id="{58F285EA-62D8-7A11-EEE4-FD9AEF9AA792}"/>
                  </a:ext>
                </a:extLst>
              </p:cNvPr>
              <p:cNvPicPr/>
              <p:nvPr/>
            </p:nvPicPr>
            <p:blipFill>
              <a:blip r:embed="rId5"/>
              <a:stretch>
                <a:fillRect/>
              </a:stretch>
            </p:blipFill>
            <p:spPr>
              <a:xfrm>
                <a:off x="1244465" y="4179471"/>
                <a:ext cx="1819440" cy="2941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9538A8C3-F873-70DB-0B52-03F26ABA6532}"/>
                  </a:ext>
                </a:extLst>
              </p14:cNvPr>
              <p14:cNvContentPartPr/>
              <p14:nvPr/>
            </p14:nvContentPartPr>
            <p14:xfrm>
              <a:off x="8123345" y="4138431"/>
              <a:ext cx="360" cy="360"/>
            </p14:xfrm>
          </p:contentPart>
        </mc:Choice>
        <mc:Fallback>
          <p:pic>
            <p:nvPicPr>
              <p:cNvPr id="4" name="Ink 3">
                <a:extLst>
                  <a:ext uri="{FF2B5EF4-FFF2-40B4-BE49-F238E27FC236}">
                    <a16:creationId xmlns:a16="http://schemas.microsoft.com/office/drawing/2014/main" id="{9538A8C3-F873-70DB-0B52-03F26ABA6532}"/>
                  </a:ext>
                </a:extLst>
              </p:cNvPr>
              <p:cNvPicPr/>
              <p:nvPr/>
            </p:nvPicPr>
            <p:blipFill>
              <a:blip r:embed="rId7"/>
              <a:stretch>
                <a:fillRect/>
              </a:stretch>
            </p:blipFill>
            <p:spPr>
              <a:xfrm>
                <a:off x="8117225" y="4132311"/>
                <a:ext cx="12600" cy="12600"/>
              </a:xfrm>
              <a:prstGeom prst="rect">
                <a:avLst/>
              </a:prstGeom>
            </p:spPr>
          </p:pic>
        </mc:Fallback>
      </mc:AlternateContent>
    </p:spTree>
  </p:cSld>
  <p:clrMapOvr>
    <a:masterClrMapping/>
  </p:clrMapOvr>
  <p:transition spd="med" advTm="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0DF8ED01-1BEB-76C0-4AE0-F798763E1C1A}"/>
              </a:ext>
            </a:extLst>
          </p:cNvPr>
          <p:cNvSpPr>
            <a:spLocks noGrp="1"/>
          </p:cNvSpPr>
          <p:nvPr>
            <p:ph type="title"/>
          </p:nvPr>
        </p:nvSpPr>
        <p:spPr>
          <a:xfrm>
            <a:off x="228600" y="152400"/>
            <a:ext cx="8839200" cy="992187"/>
          </a:xfrm>
        </p:spPr>
        <p:txBody>
          <a:bodyPr/>
          <a:lstStyle/>
          <a:p>
            <a:pPr lvl="1" eaLnBrk="1" hangingPunct="1">
              <a:lnSpc>
                <a:spcPct val="90000"/>
              </a:lnSpc>
            </a:pPr>
            <a:r>
              <a:rPr lang="en-US" altLang="en-US" sz="2400" dirty="0"/>
              <a:t>ACTUAL_DEPS </a:t>
            </a:r>
            <a:r>
              <a:rPr lang="en-US" altLang="en-US" sz="2400" dirty="0">
                <a:sym typeface="Symbol" panose="05050102010706020507" pitchFamily="18" charset="2"/>
              </a:rPr>
              <a:t> </a:t>
            </a:r>
            <a:r>
              <a:rPr lang="en-US" altLang="en-US" sz="2400" b="1" dirty="0">
                <a:latin typeface="Symbol" panose="05050102010706020507" pitchFamily="18" charset="2"/>
              </a:rPr>
              <a:t></a:t>
            </a:r>
            <a:r>
              <a:rPr lang="en-US" altLang="en-US" sz="2400" dirty="0"/>
              <a:t> </a:t>
            </a:r>
            <a:r>
              <a:rPr lang="en-US" altLang="en-US" sz="2400" baseline="-25000" dirty="0"/>
              <a:t>SSN=ESSN</a:t>
            </a:r>
            <a:r>
              <a:rPr lang="en-US" altLang="en-US" sz="2400" dirty="0"/>
              <a:t>(EMP_DEPENDENTS)</a:t>
            </a:r>
            <a:br>
              <a:rPr lang="en-US" altLang="en-US" sz="2400" dirty="0"/>
            </a:br>
            <a:r>
              <a:rPr lang="en-US" altLang="en-US" sz="2400" dirty="0"/>
              <a:t>RESULT </a:t>
            </a:r>
            <a:r>
              <a:rPr lang="en-US" altLang="en-US" sz="2400" dirty="0">
                <a:sym typeface="Symbol" panose="05050102010706020507" pitchFamily="18" charset="2"/>
              </a:rPr>
              <a:t> </a:t>
            </a:r>
            <a:r>
              <a:rPr lang="en-US" altLang="en-US" sz="2400" b="1" dirty="0">
                <a:latin typeface="Symbol" panose="05050102010706020507" pitchFamily="18" charset="2"/>
              </a:rPr>
              <a:t></a:t>
            </a:r>
            <a:r>
              <a:rPr lang="en-US" altLang="en-US" sz="2400" dirty="0"/>
              <a:t> </a:t>
            </a:r>
            <a:r>
              <a:rPr lang="en-US" altLang="en-US" sz="2400" baseline="-25000" dirty="0"/>
              <a:t>FNAME, LNAME, DEPENDENT_NAME </a:t>
            </a:r>
            <a:r>
              <a:rPr lang="en-US" altLang="en-US" sz="2400" dirty="0"/>
              <a:t>(ACTUAL_DEPS)</a:t>
            </a:r>
            <a:endParaRPr lang="en-US" altLang="en-US" sz="2400" dirty="0">
              <a:latin typeface="Verdana" panose="020B0604030504040204" pitchFamily="34" charset="0"/>
            </a:endParaRPr>
          </a:p>
        </p:txBody>
      </p:sp>
      <p:pic>
        <p:nvPicPr>
          <p:cNvPr id="47107" name="Picture 2" descr="fig08_05continuedc.jpg">
            <a:extLst>
              <a:ext uri="{FF2B5EF4-FFF2-40B4-BE49-F238E27FC236}">
                <a16:creationId xmlns:a16="http://schemas.microsoft.com/office/drawing/2014/main" id="{595C9AF2-B2FA-F706-C9F2-FC3B2B88CCC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738438"/>
            <a:ext cx="8229600"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Slide Number Placeholder 3">
            <a:extLst>
              <a:ext uri="{FF2B5EF4-FFF2-40B4-BE49-F238E27FC236}">
                <a16:creationId xmlns:a16="http://schemas.microsoft.com/office/drawing/2014/main" id="{B007BDF7-F4F6-E916-5635-6F01DD10602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342D675B-9DE8-48D2-B874-730D94C56271}" type="slidenum">
              <a:rPr lang="en-US" altLang="en-US" sz="1400">
                <a:solidFill>
                  <a:srgbClr val="990033"/>
                </a:solidFill>
              </a:rPr>
              <a:pPr>
                <a:spcBef>
                  <a:spcPct val="0"/>
                </a:spcBef>
                <a:buClrTx/>
                <a:buSzTx/>
                <a:buFontTx/>
                <a:buNone/>
              </a:pPr>
              <a:t>37</a:t>
            </a:fld>
            <a:endParaRPr lang="en-CA" altLang="en-US" sz="1400">
              <a:solidFill>
                <a:srgbClr val="990033"/>
              </a:solidFill>
            </a:endParaRPr>
          </a:p>
        </p:txBody>
      </p:sp>
    </p:spTree>
  </p:cSld>
  <p:clrMapOvr>
    <a:masterClrMapping/>
  </p:clrMapOvr>
  <p:transition spd="med" advTm="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3">
            <a:extLst>
              <a:ext uri="{FF2B5EF4-FFF2-40B4-BE49-F238E27FC236}">
                <a16:creationId xmlns:a16="http://schemas.microsoft.com/office/drawing/2014/main" id="{FA398DE0-15A1-2E37-3DC4-55F8328B3AA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8859D30B-91EA-4211-B8C2-390AA61733E9}" type="slidenum">
              <a:rPr lang="en-US" altLang="en-US" sz="1400">
                <a:solidFill>
                  <a:srgbClr val="990033"/>
                </a:solidFill>
              </a:rPr>
              <a:pPr>
                <a:spcBef>
                  <a:spcPct val="0"/>
                </a:spcBef>
                <a:buClrTx/>
                <a:buSzTx/>
                <a:buFontTx/>
                <a:buNone/>
              </a:pPr>
              <a:t>38</a:t>
            </a:fld>
            <a:endParaRPr lang="en-CA" altLang="en-US" sz="1400">
              <a:solidFill>
                <a:srgbClr val="990033"/>
              </a:solidFill>
            </a:endParaRPr>
          </a:p>
        </p:txBody>
      </p:sp>
      <p:sp>
        <p:nvSpPr>
          <p:cNvPr id="48131" name="Rectangle 23">
            <a:extLst>
              <a:ext uri="{FF2B5EF4-FFF2-40B4-BE49-F238E27FC236}">
                <a16:creationId xmlns:a16="http://schemas.microsoft.com/office/drawing/2014/main" id="{DF43C8CA-4713-4F8A-3B4F-936392A316DB}"/>
              </a:ext>
            </a:extLst>
          </p:cNvPr>
          <p:cNvSpPr>
            <a:spLocks noGrp="1" noChangeArrowheads="1"/>
          </p:cNvSpPr>
          <p:nvPr>
            <p:ph type="title"/>
          </p:nvPr>
        </p:nvSpPr>
        <p:spPr/>
        <p:txBody>
          <a:bodyPr/>
          <a:lstStyle/>
          <a:p>
            <a:pPr eaLnBrk="1" hangingPunct="1"/>
            <a:r>
              <a:rPr lang="en-US" altLang="en-US"/>
              <a:t>Binary Relational Operations: JOIN</a:t>
            </a:r>
          </a:p>
        </p:txBody>
      </p:sp>
      <p:sp>
        <p:nvSpPr>
          <p:cNvPr id="48132" name="Rectangle 24">
            <a:extLst>
              <a:ext uri="{FF2B5EF4-FFF2-40B4-BE49-F238E27FC236}">
                <a16:creationId xmlns:a16="http://schemas.microsoft.com/office/drawing/2014/main" id="{952399D9-30C0-D2BE-969F-C358222B524B}"/>
              </a:ext>
            </a:extLst>
          </p:cNvPr>
          <p:cNvSpPr>
            <a:spLocks noGrp="1" noChangeArrowheads="1"/>
          </p:cNvSpPr>
          <p:nvPr>
            <p:ph type="body" idx="1"/>
          </p:nvPr>
        </p:nvSpPr>
        <p:spPr>
          <a:xfrm>
            <a:off x="0" y="1740267"/>
            <a:ext cx="8915397" cy="4572000"/>
          </a:xfrm>
        </p:spPr>
        <p:txBody>
          <a:bodyPr/>
          <a:lstStyle/>
          <a:p>
            <a:pPr eaLnBrk="1" hangingPunct="1">
              <a:lnSpc>
                <a:spcPct val="80000"/>
              </a:lnSpc>
            </a:pPr>
            <a:r>
              <a:rPr lang="en-US" altLang="en-US" sz="2400" dirty="0"/>
              <a:t>JOIN Operation (denoted by     )</a:t>
            </a:r>
          </a:p>
          <a:p>
            <a:pPr lvl="1" eaLnBrk="1" hangingPunct="1">
              <a:lnSpc>
                <a:spcPct val="80000"/>
              </a:lnSpc>
            </a:pPr>
            <a:r>
              <a:rPr lang="en-US" altLang="en-US" sz="2200" dirty="0"/>
              <a:t>The sequence of CARTESIAN PRODUCT followed by SELECT is used quite commonly to identify and select related tuples from two relations</a:t>
            </a:r>
          </a:p>
          <a:p>
            <a:pPr lvl="1" eaLnBrk="1" hangingPunct="1">
              <a:lnSpc>
                <a:spcPct val="80000"/>
              </a:lnSpc>
            </a:pPr>
            <a:r>
              <a:rPr lang="en-US" altLang="en-US" sz="2200" dirty="0"/>
              <a:t>A special operation, called JOIN combines this sequence into a single operation</a:t>
            </a:r>
          </a:p>
          <a:p>
            <a:pPr lvl="1" eaLnBrk="1" hangingPunct="1">
              <a:lnSpc>
                <a:spcPct val="80000"/>
              </a:lnSpc>
            </a:pPr>
            <a:r>
              <a:rPr lang="en-US" altLang="en-US" sz="2200" dirty="0"/>
              <a:t>This operation is very important for any relational database with more than a single relation, because it allows to </a:t>
            </a:r>
            <a:r>
              <a:rPr lang="en-US" altLang="en-US" sz="2200" i="1" dirty="0"/>
              <a:t>combine related tuples</a:t>
            </a:r>
            <a:r>
              <a:rPr lang="en-US" altLang="en-US" sz="2200" dirty="0"/>
              <a:t> from various relations </a:t>
            </a:r>
          </a:p>
          <a:p>
            <a:pPr lvl="1" eaLnBrk="1" hangingPunct="1">
              <a:lnSpc>
                <a:spcPct val="80000"/>
              </a:lnSpc>
            </a:pPr>
            <a:r>
              <a:rPr lang="en-US" altLang="en-US" sz="2200" dirty="0"/>
              <a:t>The general form of a join operation on two relations R(A1, A2, . . ., An) and S(B1, B2, . . ., Bm) is:</a:t>
            </a:r>
          </a:p>
          <a:p>
            <a:pPr lvl="1" algn="ctr" eaLnBrk="1" hangingPunct="1">
              <a:lnSpc>
                <a:spcPct val="80000"/>
              </a:lnSpc>
              <a:buFont typeface="Wingdings" panose="05000000000000000000" pitchFamily="2" charset="2"/>
              <a:buNone/>
            </a:pPr>
            <a:r>
              <a:rPr lang="en-US" altLang="en-US" sz="2200" dirty="0"/>
              <a:t>R     </a:t>
            </a:r>
            <a:r>
              <a:rPr lang="en-US" altLang="en-US" sz="2200" baseline="-25000" dirty="0"/>
              <a:t>&lt;join condition&gt;</a:t>
            </a:r>
            <a:r>
              <a:rPr lang="en-US" altLang="en-US" sz="2200" dirty="0"/>
              <a:t>S</a:t>
            </a:r>
          </a:p>
          <a:p>
            <a:pPr lvl="1" eaLnBrk="1" hangingPunct="1">
              <a:lnSpc>
                <a:spcPct val="80000"/>
              </a:lnSpc>
            </a:pPr>
            <a:r>
              <a:rPr lang="en-US" altLang="en-US" sz="2200" dirty="0"/>
              <a:t>where R and S can be any relations that result from general </a:t>
            </a:r>
            <a:r>
              <a:rPr lang="en-US" altLang="en-US" sz="2200" i="1" dirty="0"/>
              <a:t>relational algebra expressions</a:t>
            </a:r>
            <a:r>
              <a:rPr lang="en-US" altLang="en-US" sz="2200" dirty="0"/>
              <a:t>.</a:t>
            </a:r>
          </a:p>
          <a:p>
            <a:pPr eaLnBrk="1" hangingPunct="1">
              <a:lnSpc>
                <a:spcPct val="80000"/>
              </a:lnSpc>
            </a:pPr>
            <a:endParaRPr lang="en-US" altLang="en-US" sz="2400" dirty="0"/>
          </a:p>
        </p:txBody>
      </p:sp>
      <p:grpSp>
        <p:nvGrpSpPr>
          <p:cNvPr id="48133" name="Group 25">
            <a:extLst>
              <a:ext uri="{FF2B5EF4-FFF2-40B4-BE49-F238E27FC236}">
                <a16:creationId xmlns:a16="http://schemas.microsoft.com/office/drawing/2014/main" id="{079AB055-4EF2-E8C2-4A7F-66914FACCFAF}"/>
              </a:ext>
            </a:extLst>
          </p:cNvPr>
          <p:cNvGrpSpPr>
            <a:grpSpLocks/>
          </p:cNvGrpSpPr>
          <p:nvPr/>
        </p:nvGrpSpPr>
        <p:grpSpPr bwMode="auto">
          <a:xfrm>
            <a:off x="4648200" y="1687513"/>
            <a:ext cx="219075" cy="174625"/>
            <a:chOff x="377" y="2904"/>
            <a:chExt cx="154" cy="110"/>
          </a:xfrm>
        </p:grpSpPr>
        <p:sp>
          <p:nvSpPr>
            <p:cNvPr id="48139" name="Line 26">
              <a:extLst>
                <a:ext uri="{FF2B5EF4-FFF2-40B4-BE49-F238E27FC236}">
                  <a16:creationId xmlns:a16="http://schemas.microsoft.com/office/drawing/2014/main" id="{70485B55-4CB1-DFAE-2324-6E1277DCF061}"/>
                </a:ext>
              </a:extLst>
            </p:cNvPr>
            <p:cNvSpPr>
              <a:spLocks noChangeShapeType="1"/>
            </p:cNvSpPr>
            <p:nvPr/>
          </p:nvSpPr>
          <p:spPr bwMode="auto">
            <a:xfrm>
              <a:off x="381" y="2904"/>
              <a:ext cx="0"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40" name="Line 27">
              <a:extLst>
                <a:ext uri="{FF2B5EF4-FFF2-40B4-BE49-F238E27FC236}">
                  <a16:creationId xmlns:a16="http://schemas.microsoft.com/office/drawing/2014/main" id="{5E2473F1-BAEA-45A6-A82F-210724F8E6F2}"/>
                </a:ext>
              </a:extLst>
            </p:cNvPr>
            <p:cNvSpPr>
              <a:spLocks noChangeShapeType="1"/>
            </p:cNvSpPr>
            <p:nvPr/>
          </p:nvSpPr>
          <p:spPr bwMode="auto">
            <a:xfrm>
              <a:off x="527" y="2904"/>
              <a:ext cx="0"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41" name="Line 28">
              <a:extLst>
                <a:ext uri="{FF2B5EF4-FFF2-40B4-BE49-F238E27FC236}">
                  <a16:creationId xmlns:a16="http://schemas.microsoft.com/office/drawing/2014/main" id="{2035F5DA-A438-47F6-37D8-FE59A32B133B}"/>
                </a:ext>
              </a:extLst>
            </p:cNvPr>
            <p:cNvSpPr>
              <a:spLocks noChangeShapeType="1"/>
            </p:cNvSpPr>
            <p:nvPr/>
          </p:nvSpPr>
          <p:spPr bwMode="auto">
            <a:xfrm>
              <a:off x="385" y="2904"/>
              <a:ext cx="138"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42" name="Line 29">
              <a:extLst>
                <a:ext uri="{FF2B5EF4-FFF2-40B4-BE49-F238E27FC236}">
                  <a16:creationId xmlns:a16="http://schemas.microsoft.com/office/drawing/2014/main" id="{F005C5B6-074B-A53F-A512-D0D4389CC57F}"/>
                </a:ext>
              </a:extLst>
            </p:cNvPr>
            <p:cNvSpPr>
              <a:spLocks noChangeShapeType="1"/>
            </p:cNvSpPr>
            <p:nvPr/>
          </p:nvSpPr>
          <p:spPr bwMode="auto">
            <a:xfrm flipH="1">
              <a:off x="377" y="2904"/>
              <a:ext cx="154"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8134" name="Group 35">
            <a:extLst>
              <a:ext uri="{FF2B5EF4-FFF2-40B4-BE49-F238E27FC236}">
                <a16:creationId xmlns:a16="http://schemas.microsoft.com/office/drawing/2014/main" id="{141A894B-2428-3999-1942-4FE864A799AA}"/>
              </a:ext>
            </a:extLst>
          </p:cNvPr>
          <p:cNvGrpSpPr>
            <a:grpSpLocks/>
          </p:cNvGrpSpPr>
          <p:nvPr/>
        </p:nvGrpSpPr>
        <p:grpSpPr bwMode="auto">
          <a:xfrm>
            <a:off x="3886200" y="5035550"/>
            <a:ext cx="244475" cy="174625"/>
            <a:chOff x="377" y="2904"/>
            <a:chExt cx="154" cy="110"/>
          </a:xfrm>
        </p:grpSpPr>
        <p:sp>
          <p:nvSpPr>
            <p:cNvPr id="48135" name="Line 36">
              <a:extLst>
                <a:ext uri="{FF2B5EF4-FFF2-40B4-BE49-F238E27FC236}">
                  <a16:creationId xmlns:a16="http://schemas.microsoft.com/office/drawing/2014/main" id="{F9100A9C-D5D5-539E-07D6-6C8943D9C90F}"/>
                </a:ext>
              </a:extLst>
            </p:cNvPr>
            <p:cNvSpPr>
              <a:spLocks noChangeShapeType="1"/>
            </p:cNvSpPr>
            <p:nvPr/>
          </p:nvSpPr>
          <p:spPr bwMode="auto">
            <a:xfrm>
              <a:off x="381" y="2904"/>
              <a:ext cx="0" cy="1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36" name="Line 37">
              <a:extLst>
                <a:ext uri="{FF2B5EF4-FFF2-40B4-BE49-F238E27FC236}">
                  <a16:creationId xmlns:a16="http://schemas.microsoft.com/office/drawing/2014/main" id="{86375A70-0A87-6ADB-8084-D17BBCBDFB79}"/>
                </a:ext>
              </a:extLst>
            </p:cNvPr>
            <p:cNvSpPr>
              <a:spLocks noChangeShapeType="1"/>
            </p:cNvSpPr>
            <p:nvPr/>
          </p:nvSpPr>
          <p:spPr bwMode="auto">
            <a:xfrm>
              <a:off x="527" y="2904"/>
              <a:ext cx="0" cy="1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37" name="Line 38">
              <a:extLst>
                <a:ext uri="{FF2B5EF4-FFF2-40B4-BE49-F238E27FC236}">
                  <a16:creationId xmlns:a16="http://schemas.microsoft.com/office/drawing/2014/main" id="{08CB3A99-05BD-26C1-7CCC-179DED73C958}"/>
                </a:ext>
              </a:extLst>
            </p:cNvPr>
            <p:cNvSpPr>
              <a:spLocks noChangeShapeType="1"/>
            </p:cNvSpPr>
            <p:nvPr/>
          </p:nvSpPr>
          <p:spPr bwMode="auto">
            <a:xfrm>
              <a:off x="385" y="2904"/>
              <a:ext cx="138" cy="1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38" name="Line 39">
              <a:extLst>
                <a:ext uri="{FF2B5EF4-FFF2-40B4-BE49-F238E27FC236}">
                  <a16:creationId xmlns:a16="http://schemas.microsoft.com/office/drawing/2014/main" id="{27D2B655-8D7A-5ED9-A731-E135FD58A815}"/>
                </a:ext>
              </a:extLst>
            </p:cNvPr>
            <p:cNvSpPr>
              <a:spLocks noChangeShapeType="1"/>
            </p:cNvSpPr>
            <p:nvPr/>
          </p:nvSpPr>
          <p:spPr bwMode="auto">
            <a:xfrm flipH="1">
              <a:off x="377" y="2904"/>
              <a:ext cx="154" cy="1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50FDF8A-2770-8EE4-ABE0-A892011B9482}"/>
                  </a:ext>
                </a:extLst>
              </p14:cNvPr>
              <p14:cNvContentPartPr/>
              <p14:nvPr/>
            </p14:nvContentPartPr>
            <p14:xfrm>
              <a:off x="5931665" y="1946391"/>
              <a:ext cx="360" cy="360"/>
            </p14:xfrm>
          </p:contentPart>
        </mc:Choice>
        <mc:Fallback>
          <p:pic>
            <p:nvPicPr>
              <p:cNvPr id="2" name="Ink 1">
                <a:extLst>
                  <a:ext uri="{FF2B5EF4-FFF2-40B4-BE49-F238E27FC236}">
                    <a16:creationId xmlns:a16="http://schemas.microsoft.com/office/drawing/2014/main" id="{450FDF8A-2770-8EE4-ABE0-A892011B9482}"/>
                  </a:ext>
                </a:extLst>
              </p:cNvPr>
              <p:cNvPicPr/>
              <p:nvPr/>
            </p:nvPicPr>
            <p:blipFill>
              <a:blip r:embed="rId4"/>
              <a:stretch>
                <a:fillRect/>
              </a:stretch>
            </p:blipFill>
            <p:spPr>
              <a:xfrm>
                <a:off x="5925545" y="1940271"/>
                <a:ext cx="12600" cy="12600"/>
              </a:xfrm>
              <a:prstGeom prst="rect">
                <a:avLst/>
              </a:prstGeom>
            </p:spPr>
          </p:pic>
        </mc:Fallback>
      </mc:AlternateContent>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3">
            <a:extLst>
              <a:ext uri="{FF2B5EF4-FFF2-40B4-BE49-F238E27FC236}">
                <a16:creationId xmlns:a16="http://schemas.microsoft.com/office/drawing/2014/main" id="{7C22FA7A-9DE3-9B27-B7A5-57AEBE53EF7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BDA8B3CA-BDCC-4758-B146-1C4CC3462D0D}" type="slidenum">
              <a:rPr lang="en-US" altLang="en-US" sz="1400">
                <a:solidFill>
                  <a:srgbClr val="990033"/>
                </a:solidFill>
              </a:rPr>
              <a:pPr>
                <a:spcBef>
                  <a:spcPct val="0"/>
                </a:spcBef>
                <a:buClrTx/>
                <a:buSzTx/>
                <a:buFontTx/>
                <a:buNone/>
              </a:pPr>
              <a:t>39</a:t>
            </a:fld>
            <a:endParaRPr lang="en-CA" altLang="en-US" sz="1400">
              <a:solidFill>
                <a:srgbClr val="990033"/>
              </a:solidFill>
            </a:endParaRPr>
          </a:p>
        </p:txBody>
      </p:sp>
      <p:sp>
        <p:nvSpPr>
          <p:cNvPr id="49155" name="Rectangle 19">
            <a:extLst>
              <a:ext uri="{FF2B5EF4-FFF2-40B4-BE49-F238E27FC236}">
                <a16:creationId xmlns:a16="http://schemas.microsoft.com/office/drawing/2014/main" id="{5DFAD7FA-F690-B7B5-7131-8109FF1E7DA3}"/>
              </a:ext>
            </a:extLst>
          </p:cNvPr>
          <p:cNvSpPr>
            <a:spLocks noGrp="1" noChangeArrowheads="1"/>
          </p:cNvSpPr>
          <p:nvPr>
            <p:ph type="title"/>
          </p:nvPr>
        </p:nvSpPr>
        <p:spPr/>
        <p:txBody>
          <a:bodyPr/>
          <a:lstStyle/>
          <a:p>
            <a:pPr eaLnBrk="1" hangingPunct="1"/>
            <a:r>
              <a:rPr lang="en-US" altLang="en-US" sz="3200"/>
              <a:t>Binary Relational Operations: JOIN (cont.)</a:t>
            </a:r>
          </a:p>
        </p:txBody>
      </p:sp>
      <p:sp>
        <p:nvSpPr>
          <p:cNvPr id="49156" name="Rectangle 20">
            <a:extLst>
              <a:ext uri="{FF2B5EF4-FFF2-40B4-BE49-F238E27FC236}">
                <a16:creationId xmlns:a16="http://schemas.microsoft.com/office/drawing/2014/main" id="{10697A66-739D-C4FF-FBD3-B45FC7BD4F33}"/>
              </a:ext>
            </a:extLst>
          </p:cNvPr>
          <p:cNvSpPr>
            <a:spLocks noGrp="1" noChangeArrowheads="1"/>
          </p:cNvSpPr>
          <p:nvPr>
            <p:ph type="body" idx="1"/>
          </p:nvPr>
        </p:nvSpPr>
        <p:spPr>
          <a:xfrm>
            <a:off x="239713" y="1600200"/>
            <a:ext cx="8447087" cy="4267200"/>
          </a:xfrm>
        </p:spPr>
        <p:txBody>
          <a:bodyPr/>
          <a:lstStyle/>
          <a:p>
            <a:pPr eaLnBrk="1" hangingPunct="1">
              <a:lnSpc>
                <a:spcPct val="80000"/>
              </a:lnSpc>
            </a:pPr>
            <a:r>
              <a:rPr lang="en-US" altLang="en-US" sz="2400"/>
              <a:t>Example: Suppose that we want to retrieve the name of the manager of each department.</a:t>
            </a:r>
          </a:p>
          <a:p>
            <a:pPr lvl="1" eaLnBrk="1" hangingPunct="1">
              <a:lnSpc>
                <a:spcPct val="80000"/>
              </a:lnSpc>
            </a:pPr>
            <a:r>
              <a:rPr lang="en-US" altLang="en-US" sz="2200"/>
              <a:t>To get the manager’s name, we need to combine each DEPARTMENT tuple with the EMPLOYEE tuple whose SSN value matches the MGRSSN value in the department tuple. </a:t>
            </a:r>
          </a:p>
          <a:p>
            <a:pPr lvl="1" eaLnBrk="1" hangingPunct="1">
              <a:lnSpc>
                <a:spcPct val="80000"/>
              </a:lnSpc>
            </a:pPr>
            <a:r>
              <a:rPr lang="en-US" altLang="en-US" sz="2200"/>
              <a:t>We do this by using the join           operation.</a:t>
            </a:r>
          </a:p>
          <a:p>
            <a:pPr lvl="1" eaLnBrk="1" hangingPunct="1">
              <a:lnSpc>
                <a:spcPct val="80000"/>
              </a:lnSpc>
            </a:pPr>
            <a:endParaRPr lang="en-US" altLang="en-US" sz="2200"/>
          </a:p>
          <a:p>
            <a:pPr lvl="1" eaLnBrk="1" hangingPunct="1">
              <a:lnSpc>
                <a:spcPct val="80000"/>
              </a:lnSpc>
            </a:pPr>
            <a:r>
              <a:rPr lang="en-US" altLang="en-US" sz="2200"/>
              <a:t>DEPT_MGR </a:t>
            </a:r>
            <a:r>
              <a:rPr lang="en-US" altLang="en-US" sz="2200">
                <a:sym typeface="Symbol" panose="05050102010706020507" pitchFamily="18" charset="2"/>
              </a:rPr>
              <a:t></a:t>
            </a:r>
            <a:r>
              <a:rPr lang="en-US" altLang="en-US" sz="2200"/>
              <a:t> DEPARTMENT   </a:t>
            </a:r>
            <a:r>
              <a:rPr lang="en-US" altLang="en-US" sz="2200" baseline="-25000"/>
              <a:t>MGRSSN=SSN </a:t>
            </a:r>
            <a:r>
              <a:rPr lang="en-US" altLang="en-US" sz="2200"/>
              <a:t>EMPLOYEE</a:t>
            </a:r>
          </a:p>
          <a:p>
            <a:pPr eaLnBrk="1" hangingPunct="1">
              <a:lnSpc>
                <a:spcPct val="80000"/>
              </a:lnSpc>
            </a:pPr>
            <a:r>
              <a:rPr lang="en-US" altLang="en-US" sz="2400"/>
              <a:t>MGRSSN=SSN is the join condition</a:t>
            </a:r>
          </a:p>
          <a:p>
            <a:pPr lvl="1" eaLnBrk="1" hangingPunct="1">
              <a:lnSpc>
                <a:spcPct val="80000"/>
              </a:lnSpc>
            </a:pPr>
            <a:r>
              <a:rPr lang="en-US" altLang="en-US" sz="2200"/>
              <a:t>Combines each department record with the employee who manages the department</a:t>
            </a:r>
          </a:p>
          <a:p>
            <a:pPr lvl="1" eaLnBrk="1" hangingPunct="1">
              <a:lnSpc>
                <a:spcPct val="80000"/>
              </a:lnSpc>
            </a:pPr>
            <a:r>
              <a:rPr lang="en-US" altLang="en-US" sz="2200"/>
              <a:t>The join condition can also be specified as DEPARTMENT.MGRSSN= EMPLOYEE.SSN</a:t>
            </a:r>
          </a:p>
          <a:p>
            <a:pPr eaLnBrk="1" hangingPunct="1">
              <a:lnSpc>
                <a:spcPct val="80000"/>
              </a:lnSpc>
              <a:buFont typeface="Wingdings" panose="05000000000000000000" pitchFamily="2" charset="2"/>
              <a:buNone/>
            </a:pPr>
            <a:endParaRPr lang="en-US" altLang="en-US" sz="2400"/>
          </a:p>
          <a:p>
            <a:pPr eaLnBrk="1" hangingPunct="1">
              <a:lnSpc>
                <a:spcPct val="80000"/>
              </a:lnSpc>
            </a:pPr>
            <a:endParaRPr lang="en-US" altLang="en-US" sz="2400"/>
          </a:p>
        </p:txBody>
      </p:sp>
      <p:grpSp>
        <p:nvGrpSpPr>
          <p:cNvPr id="49157" name="Group 4">
            <a:extLst>
              <a:ext uri="{FF2B5EF4-FFF2-40B4-BE49-F238E27FC236}">
                <a16:creationId xmlns:a16="http://schemas.microsoft.com/office/drawing/2014/main" id="{CF3F45A0-6A05-7BD2-CDFD-E2E87AFCC9F0}"/>
              </a:ext>
            </a:extLst>
          </p:cNvPr>
          <p:cNvGrpSpPr>
            <a:grpSpLocks/>
          </p:cNvGrpSpPr>
          <p:nvPr/>
        </p:nvGrpSpPr>
        <p:grpSpPr bwMode="auto">
          <a:xfrm>
            <a:off x="4660900" y="3200400"/>
            <a:ext cx="487363" cy="174625"/>
            <a:chOff x="377" y="2904"/>
            <a:chExt cx="154" cy="110"/>
          </a:xfrm>
        </p:grpSpPr>
        <p:sp>
          <p:nvSpPr>
            <p:cNvPr id="49163" name="Line 5">
              <a:extLst>
                <a:ext uri="{FF2B5EF4-FFF2-40B4-BE49-F238E27FC236}">
                  <a16:creationId xmlns:a16="http://schemas.microsoft.com/office/drawing/2014/main" id="{4318773C-A4A9-66F6-F51B-CA8FE28C15B0}"/>
                </a:ext>
              </a:extLst>
            </p:cNvPr>
            <p:cNvSpPr>
              <a:spLocks noChangeShapeType="1"/>
            </p:cNvSpPr>
            <p:nvPr/>
          </p:nvSpPr>
          <p:spPr bwMode="auto">
            <a:xfrm>
              <a:off x="381" y="2904"/>
              <a:ext cx="0" cy="110"/>
            </a:xfrm>
            <a:prstGeom prst="line">
              <a:avLst/>
            </a:prstGeom>
            <a:noFill/>
            <a:ln w="2222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64" name="Line 6">
              <a:extLst>
                <a:ext uri="{FF2B5EF4-FFF2-40B4-BE49-F238E27FC236}">
                  <a16:creationId xmlns:a16="http://schemas.microsoft.com/office/drawing/2014/main" id="{B61AAFAE-1F02-0277-37D3-AE2A6C9983A3}"/>
                </a:ext>
              </a:extLst>
            </p:cNvPr>
            <p:cNvSpPr>
              <a:spLocks noChangeShapeType="1"/>
            </p:cNvSpPr>
            <p:nvPr/>
          </p:nvSpPr>
          <p:spPr bwMode="auto">
            <a:xfrm>
              <a:off x="527" y="2904"/>
              <a:ext cx="0" cy="110"/>
            </a:xfrm>
            <a:prstGeom prst="line">
              <a:avLst/>
            </a:prstGeom>
            <a:noFill/>
            <a:ln w="2222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65" name="Line 7">
              <a:extLst>
                <a:ext uri="{FF2B5EF4-FFF2-40B4-BE49-F238E27FC236}">
                  <a16:creationId xmlns:a16="http://schemas.microsoft.com/office/drawing/2014/main" id="{EEC5B701-08AF-EEA2-82F0-73CC785D0452}"/>
                </a:ext>
              </a:extLst>
            </p:cNvPr>
            <p:cNvSpPr>
              <a:spLocks noChangeShapeType="1"/>
            </p:cNvSpPr>
            <p:nvPr/>
          </p:nvSpPr>
          <p:spPr bwMode="auto">
            <a:xfrm>
              <a:off x="385" y="2904"/>
              <a:ext cx="138" cy="110"/>
            </a:xfrm>
            <a:prstGeom prst="line">
              <a:avLst/>
            </a:prstGeom>
            <a:noFill/>
            <a:ln w="2222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66" name="Line 8">
              <a:extLst>
                <a:ext uri="{FF2B5EF4-FFF2-40B4-BE49-F238E27FC236}">
                  <a16:creationId xmlns:a16="http://schemas.microsoft.com/office/drawing/2014/main" id="{AF660270-5A69-6596-B7CF-E8AFB67520A1}"/>
                </a:ext>
              </a:extLst>
            </p:cNvPr>
            <p:cNvSpPr>
              <a:spLocks noChangeShapeType="1"/>
            </p:cNvSpPr>
            <p:nvPr/>
          </p:nvSpPr>
          <p:spPr bwMode="auto">
            <a:xfrm flipH="1">
              <a:off x="377" y="2904"/>
              <a:ext cx="154" cy="110"/>
            </a:xfrm>
            <a:prstGeom prst="line">
              <a:avLst/>
            </a:prstGeom>
            <a:noFill/>
            <a:ln w="2222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9158" name="Group 9">
            <a:extLst>
              <a:ext uri="{FF2B5EF4-FFF2-40B4-BE49-F238E27FC236}">
                <a16:creationId xmlns:a16="http://schemas.microsoft.com/office/drawing/2014/main" id="{B7DACDB2-FC18-55A5-FF8F-F4DF65EB94CE}"/>
              </a:ext>
            </a:extLst>
          </p:cNvPr>
          <p:cNvGrpSpPr>
            <a:grpSpLocks/>
          </p:cNvGrpSpPr>
          <p:nvPr/>
        </p:nvGrpSpPr>
        <p:grpSpPr bwMode="auto">
          <a:xfrm>
            <a:off x="5122863" y="3657600"/>
            <a:ext cx="441325" cy="347663"/>
            <a:chOff x="377" y="2904"/>
            <a:chExt cx="154" cy="110"/>
          </a:xfrm>
        </p:grpSpPr>
        <p:sp>
          <p:nvSpPr>
            <p:cNvPr id="49159" name="Line 10">
              <a:extLst>
                <a:ext uri="{FF2B5EF4-FFF2-40B4-BE49-F238E27FC236}">
                  <a16:creationId xmlns:a16="http://schemas.microsoft.com/office/drawing/2014/main" id="{FBBC0F20-8769-9A0E-34EE-D4EC614E4292}"/>
                </a:ext>
              </a:extLst>
            </p:cNvPr>
            <p:cNvSpPr>
              <a:spLocks noChangeShapeType="1"/>
            </p:cNvSpPr>
            <p:nvPr/>
          </p:nvSpPr>
          <p:spPr bwMode="auto">
            <a:xfrm>
              <a:off x="381" y="2904"/>
              <a:ext cx="0"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60" name="Line 11">
              <a:extLst>
                <a:ext uri="{FF2B5EF4-FFF2-40B4-BE49-F238E27FC236}">
                  <a16:creationId xmlns:a16="http://schemas.microsoft.com/office/drawing/2014/main" id="{02B52EA5-0BA8-F1FE-3520-9033C40EDC74}"/>
                </a:ext>
              </a:extLst>
            </p:cNvPr>
            <p:cNvSpPr>
              <a:spLocks noChangeShapeType="1"/>
            </p:cNvSpPr>
            <p:nvPr/>
          </p:nvSpPr>
          <p:spPr bwMode="auto">
            <a:xfrm>
              <a:off x="527" y="2904"/>
              <a:ext cx="0"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61" name="Line 12">
              <a:extLst>
                <a:ext uri="{FF2B5EF4-FFF2-40B4-BE49-F238E27FC236}">
                  <a16:creationId xmlns:a16="http://schemas.microsoft.com/office/drawing/2014/main" id="{BCB9FF8A-1C10-618F-B62F-603ED05718F9}"/>
                </a:ext>
              </a:extLst>
            </p:cNvPr>
            <p:cNvSpPr>
              <a:spLocks noChangeShapeType="1"/>
            </p:cNvSpPr>
            <p:nvPr/>
          </p:nvSpPr>
          <p:spPr bwMode="auto">
            <a:xfrm>
              <a:off x="385" y="2904"/>
              <a:ext cx="138"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62" name="Line 13">
              <a:extLst>
                <a:ext uri="{FF2B5EF4-FFF2-40B4-BE49-F238E27FC236}">
                  <a16:creationId xmlns:a16="http://schemas.microsoft.com/office/drawing/2014/main" id="{28B9E511-A0FB-A6B6-FF3E-CEC170B49C60}"/>
                </a:ext>
              </a:extLst>
            </p:cNvPr>
            <p:cNvSpPr>
              <a:spLocks noChangeShapeType="1"/>
            </p:cNvSpPr>
            <p:nvPr/>
          </p:nvSpPr>
          <p:spPr bwMode="auto">
            <a:xfrm flipH="1">
              <a:off x="377" y="2904"/>
              <a:ext cx="154"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8330B60E-A93B-1B12-D33B-C193E2D83060}"/>
              </a:ext>
            </a:extLst>
          </p:cNvPr>
          <p:cNvSpPr>
            <a:spLocks noGrp="1"/>
          </p:cNvSpPr>
          <p:nvPr>
            <p:ph type="title"/>
          </p:nvPr>
        </p:nvSpPr>
        <p:spPr>
          <a:xfrm>
            <a:off x="228600" y="303213"/>
            <a:ext cx="8153400" cy="992187"/>
          </a:xfrm>
        </p:spPr>
        <p:txBody>
          <a:bodyPr/>
          <a:lstStyle/>
          <a:p>
            <a:r>
              <a:rPr lang="en-US" altLang="en-US" sz="2400" b="1">
                <a:latin typeface="Verdana" panose="020B0604030504040204" pitchFamily="34" charset="0"/>
              </a:rPr>
              <a:t>Figure 8.6</a:t>
            </a:r>
            <a:r>
              <a:rPr lang="en-US" altLang="en-US" sz="2400">
                <a:latin typeface="Verdana" panose="020B0604030504040204" pitchFamily="34" charset="0"/>
              </a:rPr>
              <a:t>   Result of the JOIN operation DEPT_MGR ← DEPARTMENT</a:t>
            </a:r>
            <a:r>
              <a:rPr lang="en-US" altLang="en-US" sz="2400" baseline="30000">
                <a:latin typeface="Verdana" panose="020B0604030504040204" pitchFamily="34" charset="0"/>
              </a:rPr>
              <a:t>|X|</a:t>
            </a:r>
            <a:r>
              <a:rPr lang="en-US" altLang="en-US" sz="2400">
                <a:latin typeface="Verdana" panose="020B0604030504040204" pitchFamily="34" charset="0"/>
              </a:rPr>
              <a:t>  </a:t>
            </a:r>
            <a:r>
              <a:rPr lang="en-US" altLang="en-US" sz="2400" baseline="-25000">
                <a:latin typeface="Verdana" panose="020B0604030504040204" pitchFamily="34" charset="0"/>
              </a:rPr>
              <a:t>Mgr_ssn=Ssn</a:t>
            </a:r>
            <a:r>
              <a:rPr lang="en-US" altLang="en-US" sz="2400">
                <a:latin typeface="Verdana" panose="020B0604030504040204" pitchFamily="34" charset="0"/>
              </a:rPr>
              <a:t>EMPLOYEE.</a:t>
            </a:r>
          </a:p>
        </p:txBody>
      </p:sp>
      <p:pic>
        <p:nvPicPr>
          <p:cNvPr id="50179" name="Picture 2" descr="fig08_06.jpg">
            <a:extLst>
              <a:ext uri="{FF2B5EF4-FFF2-40B4-BE49-F238E27FC236}">
                <a16:creationId xmlns:a16="http://schemas.microsoft.com/office/drawing/2014/main" id="{338481E8-F4A6-5A46-F11C-7836D8C3D4A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5256510"/>
            <a:ext cx="8229600"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Slide Number Placeholder 3">
            <a:extLst>
              <a:ext uri="{FF2B5EF4-FFF2-40B4-BE49-F238E27FC236}">
                <a16:creationId xmlns:a16="http://schemas.microsoft.com/office/drawing/2014/main" id="{18C52D2D-B3B8-82AA-2C50-669E23D736B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96C73D84-EF58-4F29-86DC-21CD3A358E89}" type="slidenum">
              <a:rPr lang="en-US" altLang="en-US" sz="1400">
                <a:solidFill>
                  <a:srgbClr val="990033"/>
                </a:solidFill>
              </a:rPr>
              <a:pPr>
                <a:spcBef>
                  <a:spcPct val="0"/>
                </a:spcBef>
                <a:buClrTx/>
                <a:buSzTx/>
                <a:buFontTx/>
                <a:buNone/>
              </a:pPr>
              <a:t>40</a:t>
            </a:fld>
            <a:endParaRPr lang="en-CA" altLang="en-US" sz="1400">
              <a:solidFill>
                <a:srgbClr val="990033"/>
              </a:solidFill>
            </a:endParaRPr>
          </a:p>
        </p:txBody>
      </p:sp>
      <p:pic>
        <p:nvPicPr>
          <p:cNvPr id="3" name="Picture 2">
            <a:extLst>
              <a:ext uri="{FF2B5EF4-FFF2-40B4-BE49-F238E27FC236}">
                <a16:creationId xmlns:a16="http://schemas.microsoft.com/office/drawing/2014/main" id="{E9FA404A-E87C-8B5D-07CE-E67F8BD768A2}"/>
              </a:ext>
            </a:extLst>
          </p:cNvPr>
          <p:cNvPicPr>
            <a:picLocks noChangeAspect="1"/>
          </p:cNvPicPr>
          <p:nvPr/>
        </p:nvPicPr>
        <p:blipFill>
          <a:blip r:embed="rId3"/>
          <a:stretch>
            <a:fillRect/>
          </a:stretch>
        </p:blipFill>
        <p:spPr>
          <a:xfrm>
            <a:off x="76200" y="1485898"/>
            <a:ext cx="7315200" cy="2510117"/>
          </a:xfrm>
          <a:prstGeom prst="rect">
            <a:avLst/>
          </a:prstGeom>
        </p:spPr>
      </p:pic>
      <p:pic>
        <p:nvPicPr>
          <p:cNvPr id="5" name="Picture 4">
            <a:extLst>
              <a:ext uri="{FF2B5EF4-FFF2-40B4-BE49-F238E27FC236}">
                <a16:creationId xmlns:a16="http://schemas.microsoft.com/office/drawing/2014/main" id="{7D10499D-C1E9-5DC5-555D-190781E97E5D}"/>
              </a:ext>
            </a:extLst>
          </p:cNvPr>
          <p:cNvPicPr>
            <a:picLocks noChangeAspect="1"/>
          </p:cNvPicPr>
          <p:nvPr/>
        </p:nvPicPr>
        <p:blipFill>
          <a:blip r:embed="rId4"/>
          <a:stretch>
            <a:fillRect/>
          </a:stretch>
        </p:blipFill>
        <p:spPr>
          <a:xfrm>
            <a:off x="3796827" y="4029983"/>
            <a:ext cx="5071681" cy="1409700"/>
          </a:xfrm>
          <a:prstGeom prst="rect">
            <a:avLst/>
          </a:prstGeom>
        </p:spPr>
      </p:pic>
    </p:spTree>
  </p:cSld>
  <p:clrMapOvr>
    <a:masterClrMapping/>
  </p:clrMapOvr>
  <p:transition spd="med" advTm="0"/>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3">
            <a:extLst>
              <a:ext uri="{FF2B5EF4-FFF2-40B4-BE49-F238E27FC236}">
                <a16:creationId xmlns:a16="http://schemas.microsoft.com/office/drawing/2014/main" id="{9C34D9FF-2AEB-7EC7-A19A-336EC321A5E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05B2433F-8D5E-4618-A74C-9F38977DBEFF}" type="slidenum">
              <a:rPr lang="en-US" altLang="en-US" sz="1400">
                <a:solidFill>
                  <a:srgbClr val="990033"/>
                </a:solidFill>
              </a:rPr>
              <a:pPr>
                <a:spcBef>
                  <a:spcPct val="0"/>
                </a:spcBef>
                <a:buClrTx/>
                <a:buSzTx/>
                <a:buFontTx/>
                <a:buNone/>
              </a:pPr>
              <a:t>41</a:t>
            </a:fld>
            <a:endParaRPr lang="en-CA" altLang="en-US" sz="1400">
              <a:solidFill>
                <a:srgbClr val="990033"/>
              </a:solidFill>
            </a:endParaRPr>
          </a:p>
        </p:txBody>
      </p:sp>
      <p:sp>
        <p:nvSpPr>
          <p:cNvPr id="51203" name="Rectangle 15">
            <a:extLst>
              <a:ext uri="{FF2B5EF4-FFF2-40B4-BE49-F238E27FC236}">
                <a16:creationId xmlns:a16="http://schemas.microsoft.com/office/drawing/2014/main" id="{E9F469C7-E998-F0D2-F3FE-07F867F63C4B}"/>
              </a:ext>
            </a:extLst>
          </p:cNvPr>
          <p:cNvSpPr>
            <a:spLocks noGrp="1" noChangeArrowheads="1"/>
          </p:cNvSpPr>
          <p:nvPr>
            <p:ph type="title"/>
          </p:nvPr>
        </p:nvSpPr>
        <p:spPr/>
        <p:txBody>
          <a:bodyPr/>
          <a:lstStyle/>
          <a:p>
            <a:pPr eaLnBrk="1" hangingPunct="1"/>
            <a:r>
              <a:rPr lang="en-US" altLang="en-US"/>
              <a:t>Some properties of JOIN</a:t>
            </a:r>
          </a:p>
        </p:txBody>
      </p:sp>
      <p:sp>
        <p:nvSpPr>
          <p:cNvPr id="51204" name="Rectangle 16">
            <a:extLst>
              <a:ext uri="{FF2B5EF4-FFF2-40B4-BE49-F238E27FC236}">
                <a16:creationId xmlns:a16="http://schemas.microsoft.com/office/drawing/2014/main" id="{EAF0F6CB-6350-E106-B509-827243AAAEFF}"/>
              </a:ext>
            </a:extLst>
          </p:cNvPr>
          <p:cNvSpPr>
            <a:spLocks noGrp="1" noChangeArrowheads="1"/>
          </p:cNvSpPr>
          <p:nvPr>
            <p:ph type="body" idx="1"/>
          </p:nvPr>
        </p:nvSpPr>
        <p:spPr/>
        <p:txBody>
          <a:bodyPr/>
          <a:lstStyle/>
          <a:p>
            <a:pPr eaLnBrk="1" hangingPunct="1"/>
            <a:r>
              <a:rPr lang="en-US" altLang="en-US" sz="2400"/>
              <a:t>Consider the following JOIN operation:</a:t>
            </a:r>
          </a:p>
          <a:p>
            <a:pPr lvl="1" eaLnBrk="1" hangingPunct="1"/>
            <a:r>
              <a:rPr lang="en-US" altLang="en-US" sz="2200"/>
              <a:t>R(A1, A2, . . ., An)                   S(B1, B2, . . ., Bm)</a:t>
            </a:r>
          </a:p>
          <a:p>
            <a:pPr lvl="2" eaLnBrk="1" hangingPunct="1">
              <a:buFont typeface="Wingdings" panose="05000000000000000000" pitchFamily="2" charset="2"/>
              <a:buNone/>
            </a:pPr>
            <a:r>
              <a:rPr lang="en-US" altLang="en-US" sz="2000"/>
              <a:t>                                       R.Ai=S.Bj</a:t>
            </a:r>
          </a:p>
          <a:p>
            <a:pPr lvl="1" eaLnBrk="1" hangingPunct="1"/>
            <a:r>
              <a:rPr lang="en-US" altLang="en-US" sz="2200"/>
              <a:t>Result is a relation Q with degree n + m attributes:</a:t>
            </a:r>
          </a:p>
          <a:p>
            <a:pPr lvl="2" eaLnBrk="1" hangingPunct="1"/>
            <a:r>
              <a:rPr lang="en-US" altLang="en-US" sz="2000"/>
              <a:t>Q(A1, A2, . . ., An, B1, B2, . . ., Bm), in that order.</a:t>
            </a:r>
          </a:p>
          <a:p>
            <a:pPr lvl="1" eaLnBrk="1" hangingPunct="1"/>
            <a:r>
              <a:rPr lang="en-US" altLang="en-US" sz="2200"/>
              <a:t>The resulting relation state has one tuple for each combination of tuples—r from R and s from S, but </a:t>
            </a:r>
            <a:r>
              <a:rPr lang="en-US" altLang="en-US" sz="2200" i="1"/>
              <a:t>only if they satisfy the join condition</a:t>
            </a:r>
            <a:r>
              <a:rPr lang="en-US" altLang="en-US" sz="2200"/>
              <a:t> r[Ai]=s[Bj]</a:t>
            </a:r>
          </a:p>
          <a:p>
            <a:pPr lvl="1" eaLnBrk="1" hangingPunct="1"/>
            <a:r>
              <a:rPr lang="en-US" altLang="en-US" sz="2200"/>
              <a:t>Hence, if R has n</a:t>
            </a:r>
            <a:r>
              <a:rPr lang="en-US" altLang="en-US" sz="2200" baseline="-25000"/>
              <a:t>R</a:t>
            </a:r>
            <a:r>
              <a:rPr lang="en-US" altLang="en-US" sz="2200"/>
              <a:t> tuples, and S has n</a:t>
            </a:r>
            <a:r>
              <a:rPr lang="en-US" altLang="en-US" sz="2200" baseline="-25000"/>
              <a:t>S</a:t>
            </a:r>
            <a:r>
              <a:rPr lang="en-US" altLang="en-US" sz="2200"/>
              <a:t> tuples, then the join result will generally have </a:t>
            </a:r>
            <a:r>
              <a:rPr lang="en-US" altLang="en-US" sz="2200" i="1"/>
              <a:t>less than</a:t>
            </a:r>
            <a:r>
              <a:rPr lang="en-US" altLang="en-US" sz="2200"/>
              <a:t> n</a:t>
            </a:r>
            <a:r>
              <a:rPr lang="en-US" altLang="en-US" sz="2200" baseline="-25000"/>
              <a:t>R</a:t>
            </a:r>
            <a:r>
              <a:rPr lang="en-US" altLang="en-US" sz="2200"/>
              <a:t> * n</a:t>
            </a:r>
            <a:r>
              <a:rPr lang="en-US" altLang="en-US" sz="2200" baseline="-25000"/>
              <a:t>S</a:t>
            </a:r>
            <a:r>
              <a:rPr lang="en-US" altLang="en-US" sz="2200"/>
              <a:t> tuples.</a:t>
            </a:r>
          </a:p>
          <a:p>
            <a:pPr lvl="1" eaLnBrk="1" hangingPunct="1"/>
            <a:r>
              <a:rPr lang="en-US" altLang="en-US" sz="2200"/>
              <a:t>Only related tuples (based on the join condition) will appear in the result</a:t>
            </a:r>
          </a:p>
        </p:txBody>
      </p:sp>
      <p:grpSp>
        <p:nvGrpSpPr>
          <p:cNvPr id="51205" name="Group 17">
            <a:extLst>
              <a:ext uri="{FF2B5EF4-FFF2-40B4-BE49-F238E27FC236}">
                <a16:creationId xmlns:a16="http://schemas.microsoft.com/office/drawing/2014/main" id="{E552275F-7B6B-5083-53F5-E5F0F2A0C39E}"/>
              </a:ext>
            </a:extLst>
          </p:cNvPr>
          <p:cNvGrpSpPr>
            <a:grpSpLocks/>
          </p:cNvGrpSpPr>
          <p:nvPr/>
        </p:nvGrpSpPr>
        <p:grpSpPr bwMode="auto">
          <a:xfrm>
            <a:off x="3810000" y="2133600"/>
            <a:ext cx="441325" cy="347663"/>
            <a:chOff x="377" y="2904"/>
            <a:chExt cx="154" cy="110"/>
          </a:xfrm>
        </p:grpSpPr>
        <p:sp>
          <p:nvSpPr>
            <p:cNvPr id="51206" name="Line 18">
              <a:extLst>
                <a:ext uri="{FF2B5EF4-FFF2-40B4-BE49-F238E27FC236}">
                  <a16:creationId xmlns:a16="http://schemas.microsoft.com/office/drawing/2014/main" id="{34FEFD23-A99F-0D0E-5436-B8362C5C5BEA}"/>
                </a:ext>
              </a:extLst>
            </p:cNvPr>
            <p:cNvSpPr>
              <a:spLocks noChangeShapeType="1"/>
            </p:cNvSpPr>
            <p:nvPr/>
          </p:nvSpPr>
          <p:spPr bwMode="auto">
            <a:xfrm>
              <a:off x="381" y="2904"/>
              <a:ext cx="0"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07" name="Line 19">
              <a:extLst>
                <a:ext uri="{FF2B5EF4-FFF2-40B4-BE49-F238E27FC236}">
                  <a16:creationId xmlns:a16="http://schemas.microsoft.com/office/drawing/2014/main" id="{8AEFED2B-22C4-6371-B5B7-5F0E773936A0}"/>
                </a:ext>
              </a:extLst>
            </p:cNvPr>
            <p:cNvSpPr>
              <a:spLocks noChangeShapeType="1"/>
            </p:cNvSpPr>
            <p:nvPr/>
          </p:nvSpPr>
          <p:spPr bwMode="auto">
            <a:xfrm>
              <a:off x="527" y="2904"/>
              <a:ext cx="0"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08" name="Line 20">
              <a:extLst>
                <a:ext uri="{FF2B5EF4-FFF2-40B4-BE49-F238E27FC236}">
                  <a16:creationId xmlns:a16="http://schemas.microsoft.com/office/drawing/2014/main" id="{49423642-5B07-E3C8-61B6-53A4C43DA383}"/>
                </a:ext>
              </a:extLst>
            </p:cNvPr>
            <p:cNvSpPr>
              <a:spLocks noChangeShapeType="1"/>
            </p:cNvSpPr>
            <p:nvPr/>
          </p:nvSpPr>
          <p:spPr bwMode="auto">
            <a:xfrm>
              <a:off x="385" y="2904"/>
              <a:ext cx="138"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09" name="Line 21">
              <a:extLst>
                <a:ext uri="{FF2B5EF4-FFF2-40B4-BE49-F238E27FC236}">
                  <a16:creationId xmlns:a16="http://schemas.microsoft.com/office/drawing/2014/main" id="{BEA7DFBD-F352-F0DC-FD11-754F4E248678}"/>
                </a:ext>
              </a:extLst>
            </p:cNvPr>
            <p:cNvSpPr>
              <a:spLocks noChangeShapeType="1"/>
            </p:cNvSpPr>
            <p:nvPr/>
          </p:nvSpPr>
          <p:spPr bwMode="auto">
            <a:xfrm flipH="1">
              <a:off x="377" y="2904"/>
              <a:ext cx="154"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a:extLst>
              <a:ext uri="{FF2B5EF4-FFF2-40B4-BE49-F238E27FC236}">
                <a16:creationId xmlns:a16="http://schemas.microsoft.com/office/drawing/2014/main" id="{6516347A-CAF3-C635-0A14-AC87CBA4B3F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C2BB01B5-9566-4287-BB08-4839F9DCEF22}" type="slidenum">
              <a:rPr lang="en-US" altLang="en-US" sz="1400">
                <a:solidFill>
                  <a:srgbClr val="990033"/>
                </a:solidFill>
              </a:rPr>
              <a:pPr>
                <a:spcBef>
                  <a:spcPct val="0"/>
                </a:spcBef>
                <a:buClrTx/>
                <a:buSzTx/>
                <a:buFontTx/>
                <a:buNone/>
              </a:pPr>
              <a:t>42</a:t>
            </a:fld>
            <a:endParaRPr lang="en-CA" altLang="en-US" sz="1400">
              <a:solidFill>
                <a:srgbClr val="990033"/>
              </a:solidFill>
            </a:endParaRPr>
          </a:p>
        </p:txBody>
      </p:sp>
      <p:sp>
        <p:nvSpPr>
          <p:cNvPr id="52227" name="Rectangle 2">
            <a:extLst>
              <a:ext uri="{FF2B5EF4-FFF2-40B4-BE49-F238E27FC236}">
                <a16:creationId xmlns:a16="http://schemas.microsoft.com/office/drawing/2014/main" id="{E0C6AA4B-7437-4487-4BCD-7F9C7CB8A93E}"/>
              </a:ext>
            </a:extLst>
          </p:cNvPr>
          <p:cNvSpPr>
            <a:spLocks noGrp="1" noChangeArrowheads="1"/>
          </p:cNvSpPr>
          <p:nvPr>
            <p:ph type="title"/>
          </p:nvPr>
        </p:nvSpPr>
        <p:spPr/>
        <p:txBody>
          <a:bodyPr/>
          <a:lstStyle/>
          <a:p>
            <a:pPr eaLnBrk="1" hangingPunct="1"/>
            <a:r>
              <a:rPr lang="en-US" altLang="en-US"/>
              <a:t>Some properties of JOIN</a:t>
            </a:r>
          </a:p>
        </p:txBody>
      </p:sp>
      <p:sp>
        <p:nvSpPr>
          <p:cNvPr id="52228" name="Rectangle 3">
            <a:extLst>
              <a:ext uri="{FF2B5EF4-FFF2-40B4-BE49-F238E27FC236}">
                <a16:creationId xmlns:a16="http://schemas.microsoft.com/office/drawing/2014/main" id="{B37C4524-16B2-0DF4-0BDB-36105B1F5666}"/>
              </a:ext>
            </a:extLst>
          </p:cNvPr>
          <p:cNvSpPr>
            <a:spLocks noGrp="1" noChangeArrowheads="1"/>
          </p:cNvSpPr>
          <p:nvPr>
            <p:ph type="body" idx="1"/>
          </p:nvPr>
        </p:nvSpPr>
        <p:spPr>
          <a:xfrm>
            <a:off x="0" y="1590064"/>
            <a:ext cx="8904287" cy="4954586"/>
          </a:xfrm>
        </p:spPr>
        <p:txBody>
          <a:bodyPr>
            <a:normAutofit fontScale="85000" lnSpcReduction="20000"/>
          </a:bodyPr>
          <a:lstStyle/>
          <a:p>
            <a:pPr eaLnBrk="1" hangingPunct="1">
              <a:lnSpc>
                <a:spcPct val="90000"/>
              </a:lnSpc>
            </a:pPr>
            <a:r>
              <a:rPr lang="en-US" altLang="en-US" dirty="0"/>
              <a:t>The general case of JOIN operation is called a Theta-join: </a:t>
            </a:r>
          </a:p>
          <a:p>
            <a:pPr eaLnBrk="1" hangingPunct="1">
              <a:lnSpc>
                <a:spcPct val="90000"/>
              </a:lnSpc>
            </a:pPr>
            <a:endParaRPr lang="en-US" altLang="en-US" dirty="0"/>
          </a:p>
          <a:p>
            <a:pPr eaLnBrk="1" hangingPunct="1">
              <a:lnSpc>
                <a:spcPct val="90000"/>
              </a:lnSpc>
            </a:pPr>
            <a:endParaRPr lang="en-US" altLang="en-US" dirty="0"/>
          </a:p>
          <a:p>
            <a:pPr eaLnBrk="1" hangingPunct="1">
              <a:lnSpc>
                <a:spcPct val="90000"/>
              </a:lnSpc>
            </a:pPr>
            <a:r>
              <a:rPr lang="en-US" altLang="en-US" dirty="0"/>
              <a:t>The join condition is called </a:t>
            </a:r>
            <a:r>
              <a:rPr lang="en-US" altLang="en-US" i="1" dirty="0"/>
              <a:t>theta</a:t>
            </a:r>
          </a:p>
          <a:p>
            <a:pPr eaLnBrk="1" hangingPunct="1">
              <a:lnSpc>
                <a:spcPct val="90000"/>
              </a:lnSpc>
            </a:pPr>
            <a:r>
              <a:rPr lang="en-US" altLang="en-US" i="1" dirty="0"/>
              <a:t>Theta</a:t>
            </a:r>
            <a:r>
              <a:rPr lang="en-US" altLang="en-US" dirty="0"/>
              <a:t> can be any general </a:t>
            </a:r>
            <a:r>
              <a:rPr lang="en-US" altLang="en-US" dirty="0" err="1"/>
              <a:t>boolean</a:t>
            </a:r>
            <a:r>
              <a:rPr lang="en-US" altLang="en-US" dirty="0"/>
              <a:t> expression on the attributes of R and S; for example:</a:t>
            </a:r>
          </a:p>
          <a:p>
            <a:pPr lvl="1" eaLnBrk="1" hangingPunct="1">
              <a:lnSpc>
                <a:spcPct val="90000"/>
              </a:lnSpc>
            </a:pPr>
            <a:r>
              <a:rPr lang="en-US" altLang="en-US" dirty="0" err="1"/>
              <a:t>R.Ai</a:t>
            </a:r>
            <a:r>
              <a:rPr lang="en-US" altLang="en-US" dirty="0"/>
              <a:t>&lt;</a:t>
            </a:r>
            <a:r>
              <a:rPr lang="en-US" altLang="en-US" dirty="0" err="1"/>
              <a:t>S.Bj</a:t>
            </a:r>
            <a:r>
              <a:rPr lang="en-US" altLang="en-US" dirty="0"/>
              <a:t> AND (</a:t>
            </a:r>
            <a:r>
              <a:rPr lang="en-US" altLang="en-US" dirty="0" err="1"/>
              <a:t>R.Ak</a:t>
            </a:r>
            <a:r>
              <a:rPr lang="en-US" altLang="en-US" dirty="0"/>
              <a:t>=</a:t>
            </a:r>
            <a:r>
              <a:rPr lang="en-US" altLang="en-US" dirty="0" err="1"/>
              <a:t>S.Bl</a:t>
            </a:r>
            <a:r>
              <a:rPr lang="en-US" altLang="en-US" dirty="0"/>
              <a:t> OR </a:t>
            </a:r>
            <a:r>
              <a:rPr lang="en-US" altLang="en-US" dirty="0" err="1"/>
              <a:t>R.Ap</a:t>
            </a:r>
            <a:r>
              <a:rPr lang="en-US" altLang="en-US" dirty="0"/>
              <a:t>&lt;</a:t>
            </a:r>
            <a:r>
              <a:rPr lang="en-US" altLang="en-US" dirty="0" err="1"/>
              <a:t>S.Bq</a:t>
            </a:r>
            <a:r>
              <a:rPr lang="en-US" altLang="en-US" dirty="0"/>
              <a:t>)</a:t>
            </a:r>
          </a:p>
          <a:p>
            <a:pPr eaLnBrk="1" hangingPunct="1">
              <a:lnSpc>
                <a:spcPct val="90000"/>
              </a:lnSpc>
            </a:pPr>
            <a:r>
              <a:rPr lang="en-US" altLang="en-US" dirty="0"/>
              <a:t>Most join conditions involve one or more equality conditions “</a:t>
            </a:r>
            <a:r>
              <a:rPr lang="en-US" altLang="en-US" dirty="0" err="1"/>
              <a:t>AND”ed</a:t>
            </a:r>
            <a:r>
              <a:rPr lang="en-US" altLang="en-US" dirty="0"/>
              <a:t> together; for example:</a:t>
            </a:r>
          </a:p>
          <a:p>
            <a:pPr lvl="1" eaLnBrk="1" hangingPunct="1">
              <a:lnSpc>
                <a:spcPct val="90000"/>
              </a:lnSpc>
            </a:pPr>
            <a:r>
              <a:rPr lang="en-US" altLang="en-US" dirty="0" err="1"/>
              <a:t>R.Ai</a:t>
            </a:r>
            <a:r>
              <a:rPr lang="en-US" altLang="en-US" dirty="0"/>
              <a:t>=</a:t>
            </a:r>
            <a:r>
              <a:rPr lang="en-US" altLang="en-US" dirty="0" err="1"/>
              <a:t>S.Bj</a:t>
            </a:r>
            <a:r>
              <a:rPr lang="en-US" altLang="en-US" dirty="0"/>
              <a:t> AND </a:t>
            </a:r>
            <a:r>
              <a:rPr lang="en-US" altLang="en-US" dirty="0" err="1"/>
              <a:t>R.Ak</a:t>
            </a:r>
            <a:r>
              <a:rPr lang="en-US" altLang="en-US" dirty="0"/>
              <a:t>=</a:t>
            </a:r>
            <a:r>
              <a:rPr lang="en-US" altLang="en-US" dirty="0" err="1"/>
              <a:t>S.Bl</a:t>
            </a:r>
            <a:r>
              <a:rPr lang="en-US" altLang="en-US" dirty="0"/>
              <a:t> AND </a:t>
            </a:r>
            <a:r>
              <a:rPr lang="en-US" altLang="en-US" dirty="0" err="1"/>
              <a:t>R.Ap</a:t>
            </a:r>
            <a:r>
              <a:rPr lang="en-US" altLang="en-US" dirty="0"/>
              <a:t>=</a:t>
            </a:r>
            <a:r>
              <a:rPr lang="en-US" altLang="en-US" dirty="0" err="1"/>
              <a:t>S.Bq</a:t>
            </a:r>
            <a:endParaRPr lang="en-US" altLang="en-US" dirty="0"/>
          </a:p>
          <a:p>
            <a:pPr eaLnBrk="1" hangingPunct="1">
              <a:lnSpc>
                <a:spcPct val="90000"/>
              </a:lnSpc>
            </a:pPr>
            <a:r>
              <a:rPr lang="en-US" altLang="en-US" dirty="0"/>
              <a:t>Such a join, where the only comparison operator used is =, is called an EQUIJOIN.</a:t>
            </a:r>
          </a:p>
          <a:p>
            <a:pPr lvl="1" eaLnBrk="1" hangingPunct="1">
              <a:lnSpc>
                <a:spcPct val="90000"/>
              </a:lnSpc>
            </a:pPr>
            <a:r>
              <a:rPr lang="en-US" altLang="en-US" dirty="0"/>
              <a:t>In the result of an EQUIJOIN we always have one or more pairs of attributes (whose names need not be  identical) that have identical values in every tuple. </a:t>
            </a:r>
          </a:p>
          <a:p>
            <a:pPr lvl="1" eaLnBrk="1" hangingPunct="1">
              <a:lnSpc>
                <a:spcPct val="90000"/>
              </a:lnSpc>
            </a:pPr>
            <a:r>
              <a:rPr lang="en-US" altLang="en-US" dirty="0"/>
              <a:t>The JOIN seen in the previous example was an EQUIJOIN.</a:t>
            </a:r>
          </a:p>
          <a:p>
            <a:pPr eaLnBrk="1" hangingPunct="1">
              <a:lnSpc>
                <a:spcPct val="90000"/>
              </a:lnSpc>
              <a:buFont typeface="Wingdings" panose="05000000000000000000" pitchFamily="2" charset="2"/>
              <a:buNone/>
            </a:pPr>
            <a:endParaRPr lang="en-US" altLang="en-US" dirty="0"/>
          </a:p>
        </p:txBody>
      </p:sp>
      <p:pic>
        <p:nvPicPr>
          <p:cNvPr id="3" name="Picture 2">
            <a:extLst>
              <a:ext uri="{FF2B5EF4-FFF2-40B4-BE49-F238E27FC236}">
                <a16:creationId xmlns:a16="http://schemas.microsoft.com/office/drawing/2014/main" id="{1FF0FA6A-2577-2E6F-4D80-0049A2E6F68D}"/>
              </a:ext>
            </a:extLst>
          </p:cNvPr>
          <p:cNvPicPr>
            <a:picLocks noChangeAspect="1"/>
          </p:cNvPicPr>
          <p:nvPr/>
        </p:nvPicPr>
        <p:blipFill>
          <a:blip r:embed="rId3"/>
          <a:stretch>
            <a:fillRect/>
          </a:stretch>
        </p:blipFill>
        <p:spPr>
          <a:xfrm>
            <a:off x="3440219" y="1905000"/>
            <a:ext cx="1372973" cy="711005"/>
          </a:xfrm>
          <a:prstGeom prst="rect">
            <a:avLst/>
          </a:prstGeom>
        </p:spPr>
      </p:pic>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3">
            <a:extLst>
              <a:ext uri="{FF2B5EF4-FFF2-40B4-BE49-F238E27FC236}">
                <a16:creationId xmlns:a16="http://schemas.microsoft.com/office/drawing/2014/main" id="{7CDA236B-2281-C71D-F1BE-A8EDD7B93F0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A9529E14-04D6-478D-929F-25C35961FD07}" type="slidenum">
              <a:rPr lang="en-US" altLang="en-US" sz="1400">
                <a:solidFill>
                  <a:srgbClr val="990033"/>
                </a:solidFill>
              </a:rPr>
              <a:pPr>
                <a:spcBef>
                  <a:spcPct val="0"/>
                </a:spcBef>
                <a:buClrTx/>
                <a:buSzTx/>
                <a:buFontTx/>
                <a:buNone/>
              </a:pPr>
              <a:t>43</a:t>
            </a:fld>
            <a:endParaRPr lang="en-CA" altLang="en-US" sz="1400">
              <a:solidFill>
                <a:srgbClr val="990033"/>
              </a:solidFill>
            </a:endParaRPr>
          </a:p>
        </p:txBody>
      </p:sp>
      <p:sp>
        <p:nvSpPr>
          <p:cNvPr id="54275" name="Rectangle 9">
            <a:extLst>
              <a:ext uri="{FF2B5EF4-FFF2-40B4-BE49-F238E27FC236}">
                <a16:creationId xmlns:a16="http://schemas.microsoft.com/office/drawing/2014/main" id="{AD6C250C-E039-2B3A-ECA1-51DC484EC44D}"/>
              </a:ext>
            </a:extLst>
          </p:cNvPr>
          <p:cNvSpPr>
            <a:spLocks noGrp="1" noChangeArrowheads="1"/>
          </p:cNvSpPr>
          <p:nvPr>
            <p:ph type="title"/>
          </p:nvPr>
        </p:nvSpPr>
        <p:spPr/>
        <p:txBody>
          <a:bodyPr/>
          <a:lstStyle/>
          <a:p>
            <a:pPr eaLnBrk="1" hangingPunct="1"/>
            <a:r>
              <a:rPr lang="en-US" altLang="en-US" sz="3200"/>
              <a:t>Binary Relational Operations: </a:t>
            </a:r>
            <a:br>
              <a:rPr lang="en-US" altLang="en-US" sz="3200"/>
            </a:br>
            <a:r>
              <a:rPr lang="en-US" altLang="en-US" sz="3200"/>
              <a:t>NATURAL JOIN Operation</a:t>
            </a:r>
          </a:p>
        </p:txBody>
      </p:sp>
      <p:sp>
        <p:nvSpPr>
          <p:cNvPr id="54276" name="Rectangle 10">
            <a:extLst>
              <a:ext uri="{FF2B5EF4-FFF2-40B4-BE49-F238E27FC236}">
                <a16:creationId xmlns:a16="http://schemas.microsoft.com/office/drawing/2014/main" id="{4A9B00F3-DF1D-5A89-EBAC-FA8E1381A6F5}"/>
              </a:ext>
            </a:extLst>
          </p:cNvPr>
          <p:cNvSpPr>
            <a:spLocks noGrp="1" noChangeArrowheads="1"/>
          </p:cNvSpPr>
          <p:nvPr>
            <p:ph type="body" idx="1"/>
          </p:nvPr>
        </p:nvSpPr>
        <p:spPr/>
        <p:txBody>
          <a:bodyPr/>
          <a:lstStyle/>
          <a:p>
            <a:pPr eaLnBrk="1" hangingPunct="1"/>
            <a:r>
              <a:rPr lang="en-US" altLang="en-US" sz="2400" dirty="0"/>
              <a:t>NATURAL JOIN Operation </a:t>
            </a:r>
          </a:p>
          <a:p>
            <a:pPr lvl="1" eaLnBrk="1" hangingPunct="1"/>
            <a:r>
              <a:rPr lang="en-US" altLang="en-US" sz="2200" dirty="0"/>
              <a:t>Another variation of JOIN </a:t>
            </a:r>
          </a:p>
          <a:p>
            <a:pPr lvl="1" eaLnBrk="1" hangingPunct="1"/>
            <a:r>
              <a:rPr lang="en-US" altLang="en-US" sz="2200" dirty="0"/>
              <a:t>denoted by * </a:t>
            </a:r>
          </a:p>
          <a:p>
            <a:pPr lvl="1" eaLnBrk="1" hangingPunct="1"/>
            <a:r>
              <a:rPr lang="en-US" altLang="en-US" sz="2200" dirty="0"/>
              <a:t>get rid of the second (superfluous) attribute in an EQUIJOIN condition.</a:t>
            </a:r>
          </a:p>
          <a:p>
            <a:pPr lvl="2" eaLnBrk="1" hangingPunct="1"/>
            <a:r>
              <a:rPr lang="en-US" altLang="en-US" sz="2000" dirty="0"/>
              <a:t>because one of each pair of attributes with identical values is superfluous</a:t>
            </a:r>
          </a:p>
          <a:p>
            <a:pPr lvl="1" eaLnBrk="1" hangingPunct="1"/>
            <a:r>
              <a:rPr lang="en-US" altLang="en-US" sz="2200" dirty="0"/>
              <a:t>The standard definition of natural join requires that the two join attributes, or each pair of corresponding join attributes, </a:t>
            </a:r>
            <a:r>
              <a:rPr lang="en-US" altLang="en-US" sz="2200" i="1" dirty="0"/>
              <a:t>have the same name</a:t>
            </a:r>
            <a:r>
              <a:rPr lang="en-US" altLang="en-US" sz="2200" dirty="0"/>
              <a:t> in both relations</a:t>
            </a:r>
          </a:p>
          <a:p>
            <a:pPr lvl="1" eaLnBrk="1" hangingPunct="1"/>
            <a:r>
              <a:rPr lang="en-US" altLang="en-US" sz="2200" dirty="0"/>
              <a:t>If this is not the case, a renaming operation is applied first.	                    	</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3">
            <a:extLst>
              <a:ext uri="{FF2B5EF4-FFF2-40B4-BE49-F238E27FC236}">
                <a16:creationId xmlns:a16="http://schemas.microsoft.com/office/drawing/2014/main" id="{A2B4CCA8-453C-4B31-ED00-2907EBD40FE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8F8A6266-1006-4625-BB28-3957E4477F3E}" type="slidenum">
              <a:rPr lang="en-US" altLang="en-US" sz="1400">
                <a:solidFill>
                  <a:srgbClr val="990033"/>
                </a:solidFill>
              </a:rPr>
              <a:pPr>
                <a:spcBef>
                  <a:spcPct val="0"/>
                </a:spcBef>
                <a:buClrTx/>
                <a:buSzTx/>
                <a:buFontTx/>
                <a:buNone/>
              </a:pPr>
              <a:t>44</a:t>
            </a:fld>
            <a:endParaRPr lang="en-CA" altLang="en-US" sz="1400">
              <a:solidFill>
                <a:srgbClr val="990033"/>
              </a:solidFill>
            </a:endParaRPr>
          </a:p>
        </p:txBody>
      </p:sp>
      <p:sp>
        <p:nvSpPr>
          <p:cNvPr id="55299" name="Rectangle 5">
            <a:extLst>
              <a:ext uri="{FF2B5EF4-FFF2-40B4-BE49-F238E27FC236}">
                <a16:creationId xmlns:a16="http://schemas.microsoft.com/office/drawing/2014/main" id="{10BAD3DA-6374-BD06-A258-50ED91A1A747}"/>
              </a:ext>
            </a:extLst>
          </p:cNvPr>
          <p:cNvSpPr>
            <a:spLocks noGrp="1" noChangeArrowheads="1"/>
          </p:cNvSpPr>
          <p:nvPr>
            <p:ph type="title"/>
          </p:nvPr>
        </p:nvSpPr>
        <p:spPr/>
        <p:txBody>
          <a:bodyPr/>
          <a:lstStyle/>
          <a:p>
            <a:pPr eaLnBrk="1" hangingPunct="1"/>
            <a:r>
              <a:rPr lang="en-US" altLang="en-US"/>
              <a:t>Binary Relational Operations </a:t>
            </a:r>
            <a:r>
              <a:rPr lang="en-US" altLang="en-US" sz="3200"/>
              <a:t>NATURAL JOIN </a:t>
            </a:r>
            <a:r>
              <a:rPr lang="en-US" altLang="en-US"/>
              <a:t>(continued)</a:t>
            </a:r>
          </a:p>
        </p:txBody>
      </p:sp>
      <p:sp>
        <p:nvSpPr>
          <p:cNvPr id="55300" name="Rectangle 6">
            <a:extLst>
              <a:ext uri="{FF2B5EF4-FFF2-40B4-BE49-F238E27FC236}">
                <a16:creationId xmlns:a16="http://schemas.microsoft.com/office/drawing/2014/main" id="{038A3B2B-60EA-7503-6C6D-87A4F2A8F491}"/>
              </a:ext>
            </a:extLst>
          </p:cNvPr>
          <p:cNvSpPr>
            <a:spLocks noGrp="1" noChangeArrowheads="1"/>
          </p:cNvSpPr>
          <p:nvPr>
            <p:ph type="body" idx="1"/>
          </p:nvPr>
        </p:nvSpPr>
        <p:spPr>
          <a:xfrm>
            <a:off x="239713" y="1600200"/>
            <a:ext cx="8294687" cy="4495800"/>
          </a:xfrm>
        </p:spPr>
        <p:txBody>
          <a:bodyPr/>
          <a:lstStyle/>
          <a:p>
            <a:pPr eaLnBrk="1" hangingPunct="1">
              <a:lnSpc>
                <a:spcPct val="90000"/>
              </a:lnSpc>
            </a:pPr>
            <a:r>
              <a:rPr lang="en-US" altLang="en-US" sz="2000" dirty="0"/>
              <a:t>Example: To apply a natural join on the DNUMBER attributes of DEPARTMENT and DEPT_LOCATIONS, it is sufficient to write:  </a:t>
            </a:r>
          </a:p>
          <a:p>
            <a:pPr lvl="1" eaLnBrk="1" hangingPunct="1">
              <a:lnSpc>
                <a:spcPct val="90000"/>
              </a:lnSpc>
            </a:pPr>
            <a:r>
              <a:rPr lang="en-US" altLang="en-US" sz="1900" dirty="0"/>
              <a:t>DEPT_LOCS </a:t>
            </a:r>
            <a:r>
              <a:rPr lang="en-US" altLang="en-US" sz="1900" dirty="0">
                <a:sym typeface="Symbol" panose="05050102010706020507" pitchFamily="18" charset="2"/>
              </a:rPr>
              <a:t></a:t>
            </a:r>
            <a:r>
              <a:rPr lang="en-US" altLang="en-US" sz="1900" dirty="0"/>
              <a:t> DEPARTMENT * DEPT_LOCATIONS</a:t>
            </a:r>
          </a:p>
          <a:p>
            <a:pPr eaLnBrk="1" hangingPunct="1">
              <a:lnSpc>
                <a:spcPct val="90000"/>
              </a:lnSpc>
            </a:pPr>
            <a:r>
              <a:rPr lang="en-US" altLang="en-US" sz="2000" dirty="0"/>
              <a:t>Only attribute with the same name is DNUMBER</a:t>
            </a:r>
          </a:p>
          <a:p>
            <a:pPr eaLnBrk="1" hangingPunct="1">
              <a:lnSpc>
                <a:spcPct val="90000"/>
              </a:lnSpc>
            </a:pPr>
            <a:r>
              <a:rPr lang="en-US" altLang="en-US" sz="2000" dirty="0"/>
              <a:t>An implicit join condition is created based on this attribute:</a:t>
            </a:r>
          </a:p>
          <a:p>
            <a:pPr lvl="1" eaLnBrk="1" hangingPunct="1">
              <a:lnSpc>
                <a:spcPct val="90000"/>
              </a:lnSpc>
              <a:buFont typeface="Wingdings" panose="05000000000000000000" pitchFamily="2" charset="2"/>
              <a:buNone/>
            </a:pPr>
            <a:r>
              <a:rPr lang="en-US" altLang="en-US" sz="2000" dirty="0"/>
              <a:t>DEPARTMENT.DNUMBER=DEPT_LOCATIONS.DNUMBER</a:t>
            </a:r>
          </a:p>
          <a:p>
            <a:pPr lvl="1" eaLnBrk="1" hangingPunct="1">
              <a:lnSpc>
                <a:spcPct val="90000"/>
              </a:lnSpc>
            </a:pPr>
            <a:endParaRPr lang="en-US" altLang="en-US" sz="2000" dirty="0"/>
          </a:p>
          <a:p>
            <a:pPr eaLnBrk="1" hangingPunct="1">
              <a:lnSpc>
                <a:spcPct val="90000"/>
              </a:lnSpc>
            </a:pPr>
            <a:r>
              <a:rPr lang="en-US" altLang="en-US" sz="2000" dirty="0"/>
              <a:t>Another example: Q </a:t>
            </a:r>
            <a:r>
              <a:rPr lang="en-US" altLang="en-US" sz="2000" dirty="0">
                <a:sym typeface="Symbol" panose="05050102010706020507" pitchFamily="18" charset="2"/>
              </a:rPr>
              <a:t></a:t>
            </a:r>
            <a:r>
              <a:rPr lang="en-US" altLang="en-US" sz="2000" dirty="0"/>
              <a:t> R(A,B,C,D) * S(C,D,E)</a:t>
            </a:r>
          </a:p>
          <a:p>
            <a:pPr lvl="1" eaLnBrk="1" hangingPunct="1">
              <a:lnSpc>
                <a:spcPct val="90000"/>
              </a:lnSpc>
            </a:pPr>
            <a:r>
              <a:rPr lang="en-US" altLang="en-US" sz="2000" dirty="0"/>
              <a:t>The implicit join condition includes </a:t>
            </a:r>
            <a:r>
              <a:rPr lang="en-US" altLang="en-US" sz="2000" i="1" dirty="0"/>
              <a:t>each pair</a:t>
            </a:r>
            <a:r>
              <a:rPr lang="en-US" altLang="en-US" sz="2000" dirty="0"/>
              <a:t> of attributes with the same name, “</a:t>
            </a:r>
            <a:r>
              <a:rPr lang="en-US" altLang="en-US" sz="2000" dirty="0" err="1"/>
              <a:t>AND”ed</a:t>
            </a:r>
            <a:r>
              <a:rPr lang="en-US" altLang="en-US" sz="2000" dirty="0"/>
              <a:t> together:</a:t>
            </a:r>
          </a:p>
          <a:p>
            <a:pPr lvl="2" eaLnBrk="1" hangingPunct="1">
              <a:lnSpc>
                <a:spcPct val="90000"/>
              </a:lnSpc>
            </a:pPr>
            <a:r>
              <a:rPr lang="en-US" altLang="en-US" sz="1800" dirty="0"/>
              <a:t>R.C=S.C AND R.D=S.D</a:t>
            </a:r>
          </a:p>
          <a:p>
            <a:pPr lvl="1" eaLnBrk="1" hangingPunct="1">
              <a:lnSpc>
                <a:spcPct val="90000"/>
              </a:lnSpc>
            </a:pPr>
            <a:r>
              <a:rPr lang="en-US" altLang="en-US" sz="2000" dirty="0"/>
              <a:t>Result keeps only one attribute of each such pair:</a:t>
            </a:r>
          </a:p>
          <a:p>
            <a:pPr lvl="2" eaLnBrk="1" hangingPunct="1">
              <a:lnSpc>
                <a:spcPct val="90000"/>
              </a:lnSpc>
            </a:pPr>
            <a:r>
              <a:rPr lang="en-US" altLang="en-US" sz="1800" dirty="0"/>
              <a:t>Q(A,B,C,D,E)</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2">
            <a:extLst>
              <a:ext uri="{FF2B5EF4-FFF2-40B4-BE49-F238E27FC236}">
                <a16:creationId xmlns:a16="http://schemas.microsoft.com/office/drawing/2014/main" id="{9D86C641-22C0-D8F9-E927-9B084A17914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DC71139A-176A-403B-BA86-4A3285E342E9}" type="slidenum">
              <a:rPr lang="en-US" altLang="en-US" sz="1400">
                <a:solidFill>
                  <a:srgbClr val="990033"/>
                </a:solidFill>
              </a:rPr>
              <a:pPr>
                <a:spcBef>
                  <a:spcPct val="0"/>
                </a:spcBef>
                <a:buClrTx/>
                <a:buSzTx/>
                <a:buFontTx/>
                <a:buNone/>
              </a:pPr>
              <a:t>45</a:t>
            </a:fld>
            <a:endParaRPr lang="en-CA" altLang="en-US" sz="1400">
              <a:solidFill>
                <a:srgbClr val="990033"/>
              </a:solidFill>
            </a:endParaRPr>
          </a:p>
        </p:txBody>
      </p:sp>
      <p:sp>
        <p:nvSpPr>
          <p:cNvPr id="56323" name="Rectangle 2">
            <a:extLst>
              <a:ext uri="{FF2B5EF4-FFF2-40B4-BE49-F238E27FC236}">
                <a16:creationId xmlns:a16="http://schemas.microsoft.com/office/drawing/2014/main" id="{F8D43EF4-3643-C951-0D6B-C2997F598EBF}"/>
              </a:ext>
            </a:extLst>
          </p:cNvPr>
          <p:cNvSpPr>
            <a:spLocks noGrp="1" noChangeArrowheads="1"/>
          </p:cNvSpPr>
          <p:nvPr>
            <p:ph type="title"/>
          </p:nvPr>
        </p:nvSpPr>
        <p:spPr>
          <a:noFill/>
        </p:spPr>
        <p:txBody>
          <a:bodyPr/>
          <a:lstStyle/>
          <a:p>
            <a:pPr eaLnBrk="1" hangingPunct="1"/>
            <a:r>
              <a:rPr lang="en-US" altLang="en-US" sz="3200"/>
              <a:t>Example of NATURAL JOIN operation</a:t>
            </a:r>
          </a:p>
        </p:txBody>
      </p:sp>
      <p:sp>
        <p:nvSpPr>
          <p:cNvPr id="56324" name="Rectangle 3">
            <a:extLst>
              <a:ext uri="{FF2B5EF4-FFF2-40B4-BE49-F238E27FC236}">
                <a16:creationId xmlns:a16="http://schemas.microsoft.com/office/drawing/2014/main" id="{A429B19E-DA9D-43B0-DE27-96492A8C77A7}"/>
              </a:ext>
            </a:extLst>
          </p:cNvPr>
          <p:cNvSpPr>
            <a:spLocks noChangeArrowheads="1"/>
          </p:cNvSpPr>
          <p:nvPr/>
        </p:nvSpPr>
        <p:spPr bwMode="auto">
          <a:xfrm>
            <a:off x="1833563" y="1309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endParaRPr>
          </a:p>
        </p:txBody>
      </p:sp>
      <p:pic>
        <p:nvPicPr>
          <p:cNvPr id="56325" name="Picture 1">
            <a:extLst>
              <a:ext uri="{FF2B5EF4-FFF2-40B4-BE49-F238E27FC236}">
                <a16:creationId xmlns:a16="http://schemas.microsoft.com/office/drawing/2014/main" id="{D912C160-2566-CE56-2A6F-54C431D86AB0}"/>
              </a:ext>
            </a:extLst>
          </p:cNvPr>
          <p:cNvPicPr>
            <a:picLocks noChangeAspect="1"/>
          </p:cNvPicPr>
          <p:nvPr/>
        </p:nvPicPr>
        <p:blipFill rotWithShape="1">
          <a:blip r:embed="rId3">
            <a:extLst>
              <a:ext uri="{28A0092B-C50C-407E-A947-70E740481C1C}">
                <a14:useLocalDpi xmlns:a14="http://schemas.microsoft.com/office/drawing/2010/main" val="0"/>
              </a:ext>
            </a:extLst>
          </a:blip>
          <a:srcRect l="4576" t="21056" r="4922" b="12727"/>
          <a:stretch/>
        </p:blipFill>
        <p:spPr bwMode="auto">
          <a:xfrm>
            <a:off x="222738" y="3200413"/>
            <a:ext cx="6248400" cy="342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DF47F10D-E98A-27E5-C818-68A17A9BB09A}"/>
              </a:ext>
            </a:extLst>
          </p:cNvPr>
          <p:cNvPicPr>
            <a:picLocks noChangeAspect="1"/>
          </p:cNvPicPr>
          <p:nvPr/>
        </p:nvPicPr>
        <p:blipFill>
          <a:blip r:embed="rId4"/>
          <a:stretch>
            <a:fillRect/>
          </a:stretch>
        </p:blipFill>
        <p:spPr>
          <a:xfrm>
            <a:off x="222738" y="1486144"/>
            <a:ext cx="3922153" cy="1104656"/>
          </a:xfrm>
          <a:prstGeom prst="rect">
            <a:avLst/>
          </a:prstGeom>
        </p:spPr>
      </p:pic>
      <p:pic>
        <p:nvPicPr>
          <p:cNvPr id="5" name="Picture 4">
            <a:extLst>
              <a:ext uri="{FF2B5EF4-FFF2-40B4-BE49-F238E27FC236}">
                <a16:creationId xmlns:a16="http://schemas.microsoft.com/office/drawing/2014/main" id="{D5D1B677-26BA-6F30-CD63-A197A2A9A750}"/>
              </a:ext>
            </a:extLst>
          </p:cNvPr>
          <p:cNvPicPr>
            <a:picLocks noChangeAspect="1"/>
          </p:cNvPicPr>
          <p:nvPr/>
        </p:nvPicPr>
        <p:blipFill>
          <a:blip r:embed="rId5"/>
          <a:stretch>
            <a:fillRect/>
          </a:stretch>
        </p:blipFill>
        <p:spPr>
          <a:xfrm>
            <a:off x="4097398" y="1500823"/>
            <a:ext cx="1786925" cy="1629252"/>
          </a:xfrm>
          <a:prstGeom prst="rect">
            <a:avLst/>
          </a:prstGeom>
        </p:spPr>
      </p:pic>
      <p:pic>
        <p:nvPicPr>
          <p:cNvPr id="7" name="Picture 6">
            <a:extLst>
              <a:ext uri="{FF2B5EF4-FFF2-40B4-BE49-F238E27FC236}">
                <a16:creationId xmlns:a16="http://schemas.microsoft.com/office/drawing/2014/main" id="{8C1525FE-F1E7-861B-CCE3-29833F832435}"/>
              </a:ext>
            </a:extLst>
          </p:cNvPr>
          <p:cNvPicPr>
            <a:picLocks noChangeAspect="1"/>
          </p:cNvPicPr>
          <p:nvPr/>
        </p:nvPicPr>
        <p:blipFill>
          <a:blip r:embed="rId6"/>
          <a:stretch>
            <a:fillRect/>
          </a:stretch>
        </p:blipFill>
        <p:spPr>
          <a:xfrm>
            <a:off x="5933818" y="1530644"/>
            <a:ext cx="2905381" cy="1686601"/>
          </a:xfrm>
          <a:prstGeom prst="rect">
            <a:avLst/>
          </a:prstGeom>
        </p:spPr>
      </p:pic>
      <p:pic>
        <p:nvPicPr>
          <p:cNvPr id="9" name="Picture 8">
            <a:extLst>
              <a:ext uri="{FF2B5EF4-FFF2-40B4-BE49-F238E27FC236}">
                <a16:creationId xmlns:a16="http://schemas.microsoft.com/office/drawing/2014/main" id="{54F5A336-9477-4A7F-AEF0-F9155F117DDC}"/>
              </a:ext>
            </a:extLst>
          </p:cNvPr>
          <p:cNvPicPr>
            <a:picLocks noChangeAspect="1"/>
          </p:cNvPicPr>
          <p:nvPr/>
        </p:nvPicPr>
        <p:blipFill>
          <a:blip r:embed="rId7"/>
          <a:stretch>
            <a:fillRect/>
          </a:stretch>
        </p:blipFill>
        <p:spPr>
          <a:xfrm>
            <a:off x="4347368" y="4799844"/>
            <a:ext cx="4247540" cy="457199"/>
          </a:xfrm>
          <a:prstGeom prst="rect">
            <a:avLst/>
          </a:prstGeom>
        </p:spPr>
      </p:pic>
      <p:pic>
        <p:nvPicPr>
          <p:cNvPr id="11" name="Picture 10">
            <a:extLst>
              <a:ext uri="{FF2B5EF4-FFF2-40B4-BE49-F238E27FC236}">
                <a16:creationId xmlns:a16="http://schemas.microsoft.com/office/drawing/2014/main" id="{7095E325-326D-E6EF-F911-65B43F600941}"/>
              </a:ext>
            </a:extLst>
          </p:cNvPr>
          <p:cNvPicPr>
            <a:picLocks noChangeAspect="1"/>
          </p:cNvPicPr>
          <p:nvPr/>
        </p:nvPicPr>
        <p:blipFill>
          <a:blip r:embed="rId8"/>
          <a:stretch>
            <a:fillRect/>
          </a:stretch>
        </p:blipFill>
        <p:spPr>
          <a:xfrm>
            <a:off x="5068631" y="5866656"/>
            <a:ext cx="3776431" cy="319332"/>
          </a:xfrm>
          <a:prstGeom prst="rect">
            <a:avLst/>
          </a:prstGeom>
        </p:spPr>
      </p:pic>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3">
            <a:extLst>
              <a:ext uri="{FF2B5EF4-FFF2-40B4-BE49-F238E27FC236}">
                <a16:creationId xmlns:a16="http://schemas.microsoft.com/office/drawing/2014/main" id="{F7B1044E-4C9B-1791-C6B2-E68F27DA441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415DFE94-1BFD-48FD-822F-D5CCD9CF7941}" type="slidenum">
              <a:rPr lang="en-US" altLang="en-US" sz="1400">
                <a:solidFill>
                  <a:srgbClr val="990033"/>
                </a:solidFill>
              </a:rPr>
              <a:pPr>
                <a:spcBef>
                  <a:spcPct val="0"/>
                </a:spcBef>
                <a:buClrTx/>
                <a:buSzTx/>
                <a:buFontTx/>
                <a:buNone/>
              </a:pPr>
              <a:t>46</a:t>
            </a:fld>
            <a:endParaRPr lang="en-CA" altLang="en-US" sz="1400">
              <a:solidFill>
                <a:srgbClr val="990033"/>
              </a:solidFill>
            </a:endParaRPr>
          </a:p>
        </p:txBody>
      </p:sp>
      <p:sp>
        <p:nvSpPr>
          <p:cNvPr id="57347" name="Rectangle 14">
            <a:extLst>
              <a:ext uri="{FF2B5EF4-FFF2-40B4-BE49-F238E27FC236}">
                <a16:creationId xmlns:a16="http://schemas.microsoft.com/office/drawing/2014/main" id="{59F9EAA3-2E41-744E-7890-A6D905A13DD6}"/>
              </a:ext>
            </a:extLst>
          </p:cNvPr>
          <p:cNvSpPr>
            <a:spLocks noGrp="1" noChangeArrowheads="1"/>
          </p:cNvSpPr>
          <p:nvPr>
            <p:ph type="title"/>
          </p:nvPr>
        </p:nvSpPr>
        <p:spPr/>
        <p:txBody>
          <a:bodyPr/>
          <a:lstStyle/>
          <a:p>
            <a:pPr eaLnBrk="1" hangingPunct="1"/>
            <a:r>
              <a:rPr lang="en-US" altLang="en-US" sz="3200"/>
              <a:t>Complete Set of Relational Operations</a:t>
            </a:r>
          </a:p>
        </p:txBody>
      </p:sp>
      <p:sp>
        <p:nvSpPr>
          <p:cNvPr id="57348" name="Rectangle 15">
            <a:extLst>
              <a:ext uri="{FF2B5EF4-FFF2-40B4-BE49-F238E27FC236}">
                <a16:creationId xmlns:a16="http://schemas.microsoft.com/office/drawing/2014/main" id="{E46A06D6-5EAA-4C35-6BF4-0BC1FAE69BE5}"/>
              </a:ext>
            </a:extLst>
          </p:cNvPr>
          <p:cNvSpPr>
            <a:spLocks noGrp="1" noChangeArrowheads="1"/>
          </p:cNvSpPr>
          <p:nvPr>
            <p:ph type="body" idx="1"/>
          </p:nvPr>
        </p:nvSpPr>
        <p:spPr/>
        <p:txBody>
          <a:bodyPr/>
          <a:lstStyle/>
          <a:p>
            <a:pPr eaLnBrk="1" hangingPunct="1"/>
            <a:r>
              <a:rPr lang="en-US" altLang="en-US"/>
              <a:t>The set of operations including SELECT </a:t>
            </a:r>
            <a:r>
              <a:rPr lang="en-US" altLang="en-US">
                <a:latin typeface="Symbol" panose="05050102010706020507" pitchFamily="18" charset="2"/>
              </a:rPr>
              <a:t></a:t>
            </a:r>
            <a:r>
              <a:rPr lang="en-US" altLang="en-US"/>
              <a:t>, PROJECT </a:t>
            </a:r>
            <a:r>
              <a:rPr lang="en-US" altLang="en-US">
                <a:latin typeface="Symbol" panose="05050102010706020507" pitchFamily="18" charset="2"/>
              </a:rPr>
              <a:t></a:t>
            </a:r>
            <a:r>
              <a:rPr lang="en-US" altLang="en-US"/>
              <a:t> , UNION </a:t>
            </a:r>
            <a:r>
              <a:rPr lang="en-US" altLang="en-US">
                <a:latin typeface="Symbol" panose="05050102010706020507" pitchFamily="18" charset="2"/>
              </a:rPr>
              <a:t></a:t>
            </a:r>
            <a:r>
              <a:rPr lang="en-US" altLang="en-US"/>
              <a:t>, DIFFERENCE </a:t>
            </a:r>
            <a:r>
              <a:rPr lang="en-US" altLang="en-US">
                <a:latin typeface="Symbol" panose="05050102010706020507" pitchFamily="18" charset="2"/>
              </a:rPr>
              <a:t>-</a:t>
            </a:r>
            <a:r>
              <a:rPr lang="en-US" altLang="en-US"/>
              <a:t> , RENAME </a:t>
            </a:r>
            <a:r>
              <a:rPr lang="en-US" altLang="en-US">
                <a:sym typeface="Symbol" panose="05050102010706020507" pitchFamily="18" charset="2"/>
              </a:rPr>
              <a:t></a:t>
            </a:r>
            <a:r>
              <a:rPr lang="en-US" altLang="en-US"/>
              <a:t>, and CARTESIAN PRODUCT X is called a </a:t>
            </a:r>
            <a:r>
              <a:rPr lang="en-US" altLang="en-US" i="1"/>
              <a:t>complete set</a:t>
            </a:r>
            <a:r>
              <a:rPr lang="en-US" altLang="en-US"/>
              <a:t> because any other relational algebra expression can be expressed by a combination of these five operations.</a:t>
            </a:r>
          </a:p>
          <a:p>
            <a:pPr eaLnBrk="1" hangingPunct="1"/>
            <a:r>
              <a:rPr lang="en-US" altLang="en-US"/>
              <a:t>For example: </a:t>
            </a:r>
          </a:p>
          <a:p>
            <a:pPr lvl="1" eaLnBrk="1" hangingPunct="1"/>
            <a:r>
              <a:rPr lang="en-US" altLang="en-US"/>
              <a:t>R </a:t>
            </a:r>
            <a:r>
              <a:rPr lang="en-US" altLang="en-US">
                <a:latin typeface="Symbol" panose="05050102010706020507" pitchFamily="18" charset="2"/>
              </a:rPr>
              <a:t></a:t>
            </a:r>
            <a:r>
              <a:rPr lang="en-US" altLang="en-US"/>
              <a:t> S = (R </a:t>
            </a:r>
            <a:r>
              <a:rPr lang="en-US" altLang="en-US">
                <a:latin typeface="Symbol" panose="05050102010706020507" pitchFamily="18" charset="2"/>
              </a:rPr>
              <a:t></a:t>
            </a:r>
            <a:r>
              <a:rPr lang="en-US" altLang="en-US"/>
              <a:t> S ) – ((R </a:t>
            </a:r>
            <a:r>
              <a:rPr lang="en-US" altLang="en-US">
                <a:latin typeface="Symbol" panose="05050102010706020507" pitchFamily="18" charset="2"/>
              </a:rPr>
              <a:t>-</a:t>
            </a:r>
            <a:r>
              <a:rPr lang="en-US" altLang="en-US"/>
              <a:t> S) </a:t>
            </a:r>
            <a:r>
              <a:rPr lang="en-US" altLang="en-US">
                <a:latin typeface="Symbol" panose="05050102010706020507" pitchFamily="18" charset="2"/>
              </a:rPr>
              <a:t></a:t>
            </a:r>
            <a:r>
              <a:rPr lang="en-US" altLang="en-US"/>
              <a:t> (S </a:t>
            </a:r>
            <a:r>
              <a:rPr lang="en-US" altLang="en-US">
                <a:latin typeface="Symbol" panose="05050102010706020507" pitchFamily="18" charset="2"/>
              </a:rPr>
              <a:t>-</a:t>
            </a:r>
            <a:r>
              <a:rPr lang="en-US" altLang="en-US"/>
              <a:t> R))</a:t>
            </a:r>
          </a:p>
          <a:p>
            <a:pPr lvl="1" eaLnBrk="1" hangingPunct="1"/>
            <a:r>
              <a:rPr lang="en-US" altLang="en-US"/>
              <a:t>R       </a:t>
            </a:r>
            <a:r>
              <a:rPr lang="en-US" altLang="en-US" baseline="-25000"/>
              <a:t>&lt;join condition&gt;</a:t>
            </a:r>
            <a:r>
              <a:rPr lang="en-US" altLang="en-US"/>
              <a:t>S = </a:t>
            </a:r>
            <a:r>
              <a:rPr lang="en-US" altLang="en-US">
                <a:latin typeface="Symbol" panose="05050102010706020507" pitchFamily="18" charset="2"/>
              </a:rPr>
              <a:t></a:t>
            </a:r>
            <a:r>
              <a:rPr lang="en-US" altLang="en-US"/>
              <a:t> </a:t>
            </a:r>
            <a:r>
              <a:rPr lang="en-US" altLang="en-US" baseline="-25000"/>
              <a:t>&lt;join condition&gt;</a:t>
            </a:r>
            <a:r>
              <a:rPr lang="en-US" altLang="en-US"/>
              <a:t> (R X S)</a:t>
            </a:r>
          </a:p>
        </p:txBody>
      </p:sp>
      <p:grpSp>
        <p:nvGrpSpPr>
          <p:cNvPr id="57349" name="Group 9">
            <a:extLst>
              <a:ext uri="{FF2B5EF4-FFF2-40B4-BE49-F238E27FC236}">
                <a16:creationId xmlns:a16="http://schemas.microsoft.com/office/drawing/2014/main" id="{637B11ED-486E-57D7-5045-65AEB99473CC}"/>
              </a:ext>
            </a:extLst>
          </p:cNvPr>
          <p:cNvGrpSpPr>
            <a:grpSpLocks/>
          </p:cNvGrpSpPr>
          <p:nvPr/>
        </p:nvGrpSpPr>
        <p:grpSpPr bwMode="auto">
          <a:xfrm>
            <a:off x="1417638" y="5410200"/>
            <a:ext cx="487362" cy="174625"/>
            <a:chOff x="377" y="2904"/>
            <a:chExt cx="154" cy="110"/>
          </a:xfrm>
        </p:grpSpPr>
        <p:sp>
          <p:nvSpPr>
            <p:cNvPr id="57350" name="Line 10">
              <a:extLst>
                <a:ext uri="{FF2B5EF4-FFF2-40B4-BE49-F238E27FC236}">
                  <a16:creationId xmlns:a16="http://schemas.microsoft.com/office/drawing/2014/main" id="{FAEAFD60-68DD-7CDE-32EA-A7A4AF416997}"/>
                </a:ext>
              </a:extLst>
            </p:cNvPr>
            <p:cNvSpPr>
              <a:spLocks noChangeShapeType="1"/>
            </p:cNvSpPr>
            <p:nvPr/>
          </p:nvSpPr>
          <p:spPr bwMode="auto">
            <a:xfrm>
              <a:off x="381" y="2904"/>
              <a:ext cx="0" cy="110"/>
            </a:xfrm>
            <a:prstGeom prst="line">
              <a:avLst/>
            </a:prstGeom>
            <a:noFill/>
            <a:ln w="2222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351" name="Line 11">
              <a:extLst>
                <a:ext uri="{FF2B5EF4-FFF2-40B4-BE49-F238E27FC236}">
                  <a16:creationId xmlns:a16="http://schemas.microsoft.com/office/drawing/2014/main" id="{7F2AC8C8-7F49-B6C9-208D-FF73DAF78AEE}"/>
                </a:ext>
              </a:extLst>
            </p:cNvPr>
            <p:cNvSpPr>
              <a:spLocks noChangeShapeType="1"/>
            </p:cNvSpPr>
            <p:nvPr/>
          </p:nvSpPr>
          <p:spPr bwMode="auto">
            <a:xfrm>
              <a:off x="527" y="2904"/>
              <a:ext cx="0" cy="110"/>
            </a:xfrm>
            <a:prstGeom prst="line">
              <a:avLst/>
            </a:prstGeom>
            <a:noFill/>
            <a:ln w="2222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352" name="Line 12">
              <a:extLst>
                <a:ext uri="{FF2B5EF4-FFF2-40B4-BE49-F238E27FC236}">
                  <a16:creationId xmlns:a16="http://schemas.microsoft.com/office/drawing/2014/main" id="{D6913C66-DD57-66C8-190B-970313F790F8}"/>
                </a:ext>
              </a:extLst>
            </p:cNvPr>
            <p:cNvSpPr>
              <a:spLocks noChangeShapeType="1"/>
            </p:cNvSpPr>
            <p:nvPr/>
          </p:nvSpPr>
          <p:spPr bwMode="auto">
            <a:xfrm>
              <a:off x="385" y="2904"/>
              <a:ext cx="138" cy="110"/>
            </a:xfrm>
            <a:prstGeom prst="line">
              <a:avLst/>
            </a:prstGeom>
            <a:noFill/>
            <a:ln w="2222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353" name="Line 13">
              <a:extLst>
                <a:ext uri="{FF2B5EF4-FFF2-40B4-BE49-F238E27FC236}">
                  <a16:creationId xmlns:a16="http://schemas.microsoft.com/office/drawing/2014/main" id="{E0069920-020F-1AD3-AFFF-EE4B5E8C78FF}"/>
                </a:ext>
              </a:extLst>
            </p:cNvPr>
            <p:cNvSpPr>
              <a:spLocks noChangeShapeType="1"/>
            </p:cNvSpPr>
            <p:nvPr/>
          </p:nvSpPr>
          <p:spPr bwMode="auto">
            <a:xfrm flipH="1">
              <a:off x="377" y="2904"/>
              <a:ext cx="154" cy="110"/>
            </a:xfrm>
            <a:prstGeom prst="line">
              <a:avLst/>
            </a:prstGeom>
            <a:noFill/>
            <a:ln w="2222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3">
            <a:extLst>
              <a:ext uri="{FF2B5EF4-FFF2-40B4-BE49-F238E27FC236}">
                <a16:creationId xmlns:a16="http://schemas.microsoft.com/office/drawing/2014/main" id="{4610CE9D-D558-91F5-16AC-0C52E3C50A7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ED5DB8B0-F58A-4005-B367-CEA4857B0F73}" type="slidenum">
              <a:rPr lang="en-US" altLang="en-US" sz="1400">
                <a:solidFill>
                  <a:srgbClr val="990033"/>
                </a:solidFill>
              </a:rPr>
              <a:pPr>
                <a:spcBef>
                  <a:spcPct val="0"/>
                </a:spcBef>
                <a:buClrTx/>
                <a:buSzTx/>
                <a:buFontTx/>
                <a:buNone/>
              </a:pPr>
              <a:t>47</a:t>
            </a:fld>
            <a:endParaRPr lang="en-CA" altLang="en-US" sz="1400">
              <a:solidFill>
                <a:srgbClr val="990033"/>
              </a:solidFill>
            </a:endParaRPr>
          </a:p>
        </p:txBody>
      </p:sp>
      <p:sp>
        <p:nvSpPr>
          <p:cNvPr id="58371" name="Rectangle 9">
            <a:extLst>
              <a:ext uri="{FF2B5EF4-FFF2-40B4-BE49-F238E27FC236}">
                <a16:creationId xmlns:a16="http://schemas.microsoft.com/office/drawing/2014/main" id="{29FF9341-5868-7DB7-346A-B675C7B7FBC2}"/>
              </a:ext>
            </a:extLst>
          </p:cNvPr>
          <p:cNvSpPr>
            <a:spLocks noGrp="1" noChangeArrowheads="1"/>
          </p:cNvSpPr>
          <p:nvPr>
            <p:ph type="title"/>
          </p:nvPr>
        </p:nvSpPr>
        <p:spPr>
          <a:noFill/>
        </p:spPr>
        <p:txBody>
          <a:bodyPr/>
          <a:lstStyle/>
          <a:p>
            <a:pPr eaLnBrk="1" hangingPunct="1"/>
            <a:r>
              <a:rPr lang="en-US" altLang="en-US" sz="3200"/>
              <a:t>Binary Relational Operations: DIVISION</a:t>
            </a:r>
          </a:p>
        </p:txBody>
      </p:sp>
      <p:sp>
        <p:nvSpPr>
          <p:cNvPr id="58372" name="Rectangle 10">
            <a:extLst>
              <a:ext uri="{FF2B5EF4-FFF2-40B4-BE49-F238E27FC236}">
                <a16:creationId xmlns:a16="http://schemas.microsoft.com/office/drawing/2014/main" id="{2E038A1D-F28C-E040-3A91-24FCF1886C7F}"/>
              </a:ext>
            </a:extLst>
          </p:cNvPr>
          <p:cNvSpPr>
            <a:spLocks noGrp="1" noChangeArrowheads="1"/>
          </p:cNvSpPr>
          <p:nvPr>
            <p:ph type="body" idx="1"/>
          </p:nvPr>
        </p:nvSpPr>
        <p:spPr>
          <a:xfrm>
            <a:off x="0" y="1447800"/>
            <a:ext cx="8839199" cy="5257800"/>
          </a:xfrm>
        </p:spPr>
        <p:txBody>
          <a:bodyPr>
            <a:normAutofit lnSpcReduction="10000"/>
          </a:bodyPr>
          <a:lstStyle/>
          <a:p>
            <a:pPr eaLnBrk="1" hangingPunct="1">
              <a:lnSpc>
                <a:spcPct val="90000"/>
              </a:lnSpc>
            </a:pPr>
            <a:r>
              <a:rPr lang="en-US" altLang="en-US" sz="2400" dirty="0"/>
              <a:t>DIVISION Operation</a:t>
            </a:r>
          </a:p>
          <a:p>
            <a:pPr lvl="1" eaLnBrk="1" hangingPunct="1">
              <a:lnSpc>
                <a:spcPct val="90000"/>
              </a:lnSpc>
            </a:pPr>
            <a:r>
              <a:rPr lang="en-US" altLang="en-US" sz="2200" dirty="0"/>
              <a:t>The division operation is applied to two relations </a:t>
            </a:r>
          </a:p>
          <a:p>
            <a:pPr lvl="1" eaLnBrk="1" hangingPunct="1">
              <a:lnSpc>
                <a:spcPct val="90000"/>
              </a:lnSpc>
            </a:pPr>
            <a:r>
              <a:rPr lang="en-US" altLang="en-US" sz="2200" dirty="0"/>
              <a:t>	R(Z) </a:t>
            </a:r>
            <a:r>
              <a:rPr lang="en-US" altLang="en-US" sz="2200" dirty="0">
                <a:latin typeface="Symbol" panose="05050102010706020507" pitchFamily="18" charset="2"/>
              </a:rPr>
              <a:t></a:t>
            </a:r>
            <a:r>
              <a:rPr lang="en-US" altLang="en-US" sz="2200" dirty="0"/>
              <a:t> S(X), where X subset Z. </a:t>
            </a:r>
          </a:p>
          <a:p>
            <a:pPr lvl="2" eaLnBrk="1" hangingPunct="1">
              <a:lnSpc>
                <a:spcPct val="90000"/>
              </a:lnSpc>
            </a:pPr>
            <a:r>
              <a:rPr lang="en-US" altLang="en-US" sz="2000" dirty="0"/>
              <a:t>Let Y = Z - X (and hence Z = X </a:t>
            </a:r>
            <a:r>
              <a:rPr lang="en-US" altLang="en-US" sz="2000" dirty="0">
                <a:latin typeface="Symbol" panose="05050102010706020507" pitchFamily="18" charset="2"/>
              </a:rPr>
              <a:t></a:t>
            </a:r>
            <a:r>
              <a:rPr lang="en-US" altLang="en-US" sz="2000" dirty="0"/>
              <a:t> Y); that is, let Y be the set of attributes of R that are not attributes of S. </a:t>
            </a:r>
          </a:p>
          <a:p>
            <a:pPr lvl="1" eaLnBrk="1" hangingPunct="1">
              <a:lnSpc>
                <a:spcPct val="90000"/>
              </a:lnSpc>
            </a:pPr>
            <a:r>
              <a:rPr lang="en-US" altLang="en-US" sz="2200" dirty="0"/>
              <a:t>The result of DIVISION is a relation T(Y) that includes a tuple t </a:t>
            </a:r>
          </a:p>
          <a:p>
            <a:pPr lvl="2" eaLnBrk="1" hangingPunct="1">
              <a:lnSpc>
                <a:spcPct val="90000"/>
              </a:lnSpc>
            </a:pPr>
            <a:r>
              <a:rPr lang="en-US" altLang="en-US" sz="2000" dirty="0"/>
              <a:t>if tuples </a:t>
            </a:r>
            <a:r>
              <a:rPr lang="en-US" altLang="en-US" sz="2000" dirty="0" err="1"/>
              <a:t>t</a:t>
            </a:r>
            <a:r>
              <a:rPr lang="en-US" altLang="en-US" sz="2000" baseline="-25000" dirty="0" err="1"/>
              <a:t>R</a:t>
            </a:r>
            <a:r>
              <a:rPr lang="en-US" altLang="en-US" sz="2000" dirty="0"/>
              <a:t> appear </a:t>
            </a:r>
          </a:p>
          <a:p>
            <a:pPr lvl="3" eaLnBrk="1" hangingPunct="1">
              <a:lnSpc>
                <a:spcPct val="90000"/>
              </a:lnSpc>
            </a:pPr>
            <a:r>
              <a:rPr lang="en-US" altLang="en-US" sz="1600" dirty="0"/>
              <a:t>in R with </a:t>
            </a:r>
            <a:r>
              <a:rPr lang="en-US" altLang="en-US" sz="1600" dirty="0" err="1"/>
              <a:t>t</a:t>
            </a:r>
            <a:r>
              <a:rPr lang="en-US" altLang="en-US" sz="1600" baseline="-25000" dirty="0" err="1"/>
              <a:t>R</a:t>
            </a:r>
            <a:r>
              <a:rPr lang="en-US" altLang="en-US" sz="1600" dirty="0"/>
              <a:t> [Y] = t, and with</a:t>
            </a:r>
          </a:p>
          <a:p>
            <a:pPr lvl="3" eaLnBrk="1" hangingPunct="1">
              <a:lnSpc>
                <a:spcPct val="90000"/>
              </a:lnSpc>
            </a:pPr>
            <a:r>
              <a:rPr lang="en-US" altLang="en-US" sz="1600" dirty="0" err="1"/>
              <a:t>t</a:t>
            </a:r>
            <a:r>
              <a:rPr lang="en-US" altLang="en-US" sz="1600" baseline="-25000" dirty="0" err="1"/>
              <a:t>R</a:t>
            </a:r>
            <a:r>
              <a:rPr lang="en-US" altLang="en-US" sz="1600" dirty="0"/>
              <a:t> [X] = </a:t>
            </a:r>
            <a:r>
              <a:rPr lang="en-US" altLang="en-US" sz="1600" dirty="0" err="1"/>
              <a:t>t</a:t>
            </a:r>
            <a:r>
              <a:rPr lang="en-US" altLang="en-US" sz="1600" baseline="-25000" dirty="0" err="1"/>
              <a:t>s</a:t>
            </a:r>
            <a:r>
              <a:rPr lang="en-US" altLang="en-US" sz="1600" dirty="0"/>
              <a:t> </a:t>
            </a:r>
            <a:r>
              <a:rPr lang="en-US" altLang="en-US" sz="1600" i="1" dirty="0"/>
              <a:t>for every tuple</a:t>
            </a:r>
            <a:r>
              <a:rPr lang="en-US" altLang="en-US" sz="1600" dirty="0"/>
              <a:t> </a:t>
            </a:r>
            <a:r>
              <a:rPr lang="en-US" altLang="en-US" sz="1600" dirty="0" err="1"/>
              <a:t>t</a:t>
            </a:r>
            <a:r>
              <a:rPr lang="en-US" altLang="en-US" sz="1600" baseline="-25000" dirty="0" err="1"/>
              <a:t>s</a:t>
            </a:r>
            <a:r>
              <a:rPr lang="en-US" altLang="en-US" sz="1600" dirty="0"/>
              <a:t> in S. </a:t>
            </a:r>
          </a:p>
          <a:p>
            <a:pPr lvl="1" eaLnBrk="1" hangingPunct="1">
              <a:lnSpc>
                <a:spcPct val="90000"/>
              </a:lnSpc>
            </a:pPr>
            <a:endParaRPr lang="en-US" altLang="en-US" sz="2200" dirty="0"/>
          </a:p>
          <a:p>
            <a:pPr lvl="1" eaLnBrk="1" hangingPunct="1">
              <a:lnSpc>
                <a:spcPct val="90000"/>
              </a:lnSpc>
            </a:pPr>
            <a:r>
              <a:rPr lang="en-US" altLang="en-US" sz="2200" dirty="0"/>
              <a:t>For a tuple t to appear in the result T of the DIVISION, the values in t must appear in R in combination with </a:t>
            </a:r>
            <a:r>
              <a:rPr lang="en-US" altLang="en-US" sz="2200" i="1" dirty="0"/>
              <a:t>every</a:t>
            </a:r>
            <a:r>
              <a:rPr lang="en-US" altLang="en-US" sz="2200" dirty="0"/>
              <a:t> tuple in S. 	</a:t>
            </a:r>
          </a:p>
          <a:p>
            <a:pPr lvl="1" eaLnBrk="1" hangingPunct="1">
              <a:lnSpc>
                <a:spcPct val="90000"/>
              </a:lnSpc>
            </a:pPr>
            <a:endParaRPr lang="en-US" altLang="en-US" sz="2200" dirty="0"/>
          </a:p>
          <a:p>
            <a:pPr lvl="1" eaLnBrk="1" hangingPunct="1">
              <a:lnSpc>
                <a:spcPct val="90000"/>
              </a:lnSpc>
            </a:pPr>
            <a:r>
              <a:rPr lang="en-US" altLang="en-US" sz="2200" dirty="0"/>
              <a:t>R</a:t>
            </a:r>
            <a:r>
              <a:rPr lang="en-US" altLang="en-US" sz="2200" dirty="0">
                <a:latin typeface="Symbol" panose="05050102010706020507" pitchFamily="18" charset="2"/>
              </a:rPr>
              <a:t> </a:t>
            </a:r>
            <a:r>
              <a:rPr lang="en-US" altLang="en-US" sz="2200" dirty="0"/>
              <a:t> S defines a relation over the attributes C that consists of a set of tuples from R that match the combination of every tuple in S	</a:t>
            </a:r>
          </a:p>
        </p:txBody>
      </p:sp>
      <p:pic>
        <p:nvPicPr>
          <p:cNvPr id="3" name="Picture 2">
            <a:extLst>
              <a:ext uri="{FF2B5EF4-FFF2-40B4-BE49-F238E27FC236}">
                <a16:creationId xmlns:a16="http://schemas.microsoft.com/office/drawing/2014/main" id="{E431281B-B30B-872B-5090-4DD23B8A5F51}"/>
              </a:ext>
            </a:extLst>
          </p:cNvPr>
          <p:cNvPicPr>
            <a:picLocks noChangeAspect="1"/>
          </p:cNvPicPr>
          <p:nvPr/>
        </p:nvPicPr>
        <p:blipFill>
          <a:blip r:embed="rId3"/>
          <a:stretch>
            <a:fillRect/>
          </a:stretch>
        </p:blipFill>
        <p:spPr>
          <a:xfrm>
            <a:off x="5791200" y="3293075"/>
            <a:ext cx="2478339" cy="1202725"/>
          </a:xfrm>
          <a:prstGeom prst="rect">
            <a:avLst/>
          </a:prstGeom>
        </p:spPr>
      </p:pic>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3">
            <a:extLst>
              <a:ext uri="{FF2B5EF4-FFF2-40B4-BE49-F238E27FC236}">
                <a16:creationId xmlns:a16="http://schemas.microsoft.com/office/drawing/2014/main" id="{A569FC31-FA37-7FF8-6427-9EBFBC24BD6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3E5B8436-B73C-46F4-BADA-63B77BE9F31D}" type="slidenum">
              <a:rPr lang="en-US" altLang="en-US" sz="1400">
                <a:solidFill>
                  <a:srgbClr val="990033"/>
                </a:solidFill>
              </a:rPr>
              <a:pPr>
                <a:spcBef>
                  <a:spcPct val="0"/>
                </a:spcBef>
                <a:buClrTx/>
                <a:buSzTx/>
                <a:buFontTx/>
                <a:buNone/>
              </a:pPr>
              <a:t>48</a:t>
            </a:fld>
            <a:endParaRPr lang="en-CA" altLang="en-US" sz="1400">
              <a:solidFill>
                <a:srgbClr val="990033"/>
              </a:solidFill>
            </a:endParaRPr>
          </a:p>
        </p:txBody>
      </p:sp>
      <p:sp>
        <p:nvSpPr>
          <p:cNvPr id="59395" name="Rectangle 6">
            <a:extLst>
              <a:ext uri="{FF2B5EF4-FFF2-40B4-BE49-F238E27FC236}">
                <a16:creationId xmlns:a16="http://schemas.microsoft.com/office/drawing/2014/main" id="{2FC4EF2B-9F80-5284-BE58-2AB0E41EA1B1}"/>
              </a:ext>
            </a:extLst>
          </p:cNvPr>
          <p:cNvSpPr>
            <a:spLocks noGrp="1" noChangeArrowheads="1"/>
          </p:cNvSpPr>
          <p:nvPr>
            <p:ph type="title"/>
          </p:nvPr>
        </p:nvSpPr>
        <p:spPr>
          <a:xfrm>
            <a:off x="190500" y="363538"/>
            <a:ext cx="7796213" cy="992187"/>
          </a:xfrm>
          <a:noFill/>
        </p:spPr>
        <p:txBody>
          <a:bodyPr/>
          <a:lstStyle/>
          <a:p>
            <a:pPr eaLnBrk="1" hangingPunct="1"/>
            <a:r>
              <a:rPr lang="en-US" altLang="en-US" sz="3200"/>
              <a:t>Example of DIVISION</a:t>
            </a:r>
          </a:p>
        </p:txBody>
      </p:sp>
      <p:pic>
        <p:nvPicPr>
          <p:cNvPr id="59396" name="Picture 1">
            <a:extLst>
              <a:ext uri="{FF2B5EF4-FFF2-40B4-BE49-F238E27FC236}">
                <a16:creationId xmlns:a16="http://schemas.microsoft.com/office/drawing/2014/main" id="{1C6FE38E-FF5B-0E37-6F9D-F88D90FB21D7}"/>
              </a:ext>
            </a:extLst>
          </p:cNvPr>
          <p:cNvPicPr>
            <a:picLocks noChangeAspect="1"/>
          </p:cNvPicPr>
          <p:nvPr/>
        </p:nvPicPr>
        <p:blipFill rotWithShape="1">
          <a:blip r:embed="rId3">
            <a:extLst>
              <a:ext uri="{28A0092B-C50C-407E-A947-70E740481C1C}">
                <a14:useLocalDpi xmlns:a14="http://schemas.microsoft.com/office/drawing/2010/main" val="0"/>
              </a:ext>
            </a:extLst>
          </a:blip>
          <a:srcRect l="5058" t="7283" r="12871" b="12340"/>
          <a:stretch/>
        </p:blipFill>
        <p:spPr bwMode="auto">
          <a:xfrm>
            <a:off x="190500" y="1447800"/>
            <a:ext cx="67437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5">
            <a:extLst>
              <a:ext uri="{FF2B5EF4-FFF2-40B4-BE49-F238E27FC236}">
                <a16:creationId xmlns:a16="http://schemas.microsoft.com/office/drawing/2014/main" id="{B44BFCF3-BA05-05D5-D102-0696457D60A0}"/>
              </a:ext>
            </a:extLst>
          </p:cNvPr>
          <p:cNvSpPr>
            <a:spLocks noGrp="1"/>
          </p:cNvSpPr>
          <p:nvPr>
            <p:ph type="title"/>
          </p:nvPr>
        </p:nvSpPr>
        <p:spPr/>
        <p:txBody>
          <a:bodyPr/>
          <a:lstStyle/>
          <a:p>
            <a:r>
              <a:rPr lang="en-US" altLang="en-US" sz="3200" b="1">
                <a:latin typeface="Verdana" panose="020B0604030504040204" pitchFamily="34" charset="0"/>
              </a:rPr>
              <a:t>Table 8.1</a:t>
            </a:r>
            <a:r>
              <a:rPr lang="en-US" altLang="en-US" sz="3200">
                <a:latin typeface="Verdana" panose="020B0604030504040204" pitchFamily="34" charset="0"/>
              </a:rPr>
              <a:t>   Operations of Relational Algebra</a:t>
            </a:r>
          </a:p>
        </p:txBody>
      </p:sp>
      <p:pic>
        <p:nvPicPr>
          <p:cNvPr id="60419" name="Picture 2" descr="tab08_01a.jpg">
            <a:extLst>
              <a:ext uri="{FF2B5EF4-FFF2-40B4-BE49-F238E27FC236}">
                <a16:creationId xmlns:a16="http://schemas.microsoft.com/office/drawing/2014/main" id="{A03DC785-F1DE-F516-5BF1-EC0A3A85E54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3838" y="1881188"/>
            <a:ext cx="86868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0" name="TextBox 4">
            <a:extLst>
              <a:ext uri="{FF2B5EF4-FFF2-40B4-BE49-F238E27FC236}">
                <a16:creationId xmlns:a16="http://schemas.microsoft.com/office/drawing/2014/main" id="{46671899-FB95-0533-3427-177D75891B34}"/>
              </a:ext>
            </a:extLst>
          </p:cNvPr>
          <p:cNvSpPr txBox="1">
            <a:spLocks noChangeArrowheads="1"/>
          </p:cNvSpPr>
          <p:nvPr/>
        </p:nvSpPr>
        <p:spPr bwMode="auto">
          <a:xfrm>
            <a:off x="5668963" y="6124575"/>
            <a:ext cx="34750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lgn="r">
              <a:spcBef>
                <a:spcPct val="0"/>
              </a:spcBef>
              <a:buClrTx/>
              <a:buSzTx/>
              <a:buFontTx/>
              <a:buNone/>
            </a:pPr>
            <a:r>
              <a:rPr lang="en-US" altLang="en-US" sz="1200" i="1">
                <a:solidFill>
                  <a:schemeClr val="tx1"/>
                </a:solidFill>
                <a:latin typeface="Verdana" panose="020B0604030504040204" pitchFamily="34" charset="0"/>
              </a:rPr>
              <a:t>continued on next slide</a:t>
            </a:r>
          </a:p>
        </p:txBody>
      </p:sp>
      <p:sp>
        <p:nvSpPr>
          <p:cNvPr id="60421" name="Slide Number Placeholder 3">
            <a:extLst>
              <a:ext uri="{FF2B5EF4-FFF2-40B4-BE49-F238E27FC236}">
                <a16:creationId xmlns:a16="http://schemas.microsoft.com/office/drawing/2014/main" id="{8FFF5BA0-A338-4D4B-882C-A2D66DAA563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63F4B572-9F0C-41B9-A6D5-4A12179C8A01}" type="slidenum">
              <a:rPr lang="en-US" altLang="en-US" sz="1400">
                <a:solidFill>
                  <a:srgbClr val="990033"/>
                </a:solidFill>
              </a:rPr>
              <a:pPr>
                <a:spcBef>
                  <a:spcPct val="0"/>
                </a:spcBef>
                <a:buClrTx/>
                <a:buSzTx/>
                <a:buFontTx/>
                <a:buNone/>
              </a:pPr>
              <a:t>49</a:t>
            </a:fld>
            <a:endParaRPr lang="en-CA" altLang="en-US" sz="1400">
              <a:solidFill>
                <a:srgbClr val="990033"/>
              </a:solidFill>
            </a:endParaRPr>
          </a:p>
        </p:txBody>
      </p:sp>
    </p:spTree>
  </p:cSld>
  <p:clrMapOvr>
    <a:masterClrMapping/>
  </p:clrMapOvr>
  <p:transition spd="med" advTm="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5">
            <a:extLst>
              <a:ext uri="{FF2B5EF4-FFF2-40B4-BE49-F238E27FC236}">
                <a16:creationId xmlns:a16="http://schemas.microsoft.com/office/drawing/2014/main" id="{17E91C85-C784-CCBB-1F28-FEBDB4C2BA06}"/>
              </a:ext>
            </a:extLst>
          </p:cNvPr>
          <p:cNvSpPr>
            <a:spLocks noGrp="1"/>
          </p:cNvSpPr>
          <p:nvPr>
            <p:ph type="title"/>
          </p:nvPr>
        </p:nvSpPr>
        <p:spPr/>
        <p:txBody>
          <a:bodyPr/>
          <a:lstStyle/>
          <a:p>
            <a:r>
              <a:rPr lang="en-US" altLang="en-US" sz="3200" b="1">
                <a:latin typeface="Verdana" panose="020B0604030504040204" pitchFamily="34" charset="0"/>
              </a:rPr>
              <a:t>Table 8.1 </a:t>
            </a:r>
            <a:r>
              <a:rPr lang="en-US" altLang="en-US" sz="3200">
                <a:latin typeface="Verdana" panose="020B0604030504040204" pitchFamily="34" charset="0"/>
              </a:rPr>
              <a:t>  Operations of Relational Algebra (continued)</a:t>
            </a:r>
          </a:p>
        </p:txBody>
      </p:sp>
      <p:pic>
        <p:nvPicPr>
          <p:cNvPr id="61443" name="Picture 2" descr="tab08_01b.jpg">
            <a:extLst>
              <a:ext uri="{FF2B5EF4-FFF2-40B4-BE49-F238E27FC236}">
                <a16:creationId xmlns:a16="http://schemas.microsoft.com/office/drawing/2014/main" id="{9AE8ABD8-899C-49B5-E892-F26868447A0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905000"/>
            <a:ext cx="8686800" cy="437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4" name="Slide Number Placeholder 3">
            <a:extLst>
              <a:ext uri="{FF2B5EF4-FFF2-40B4-BE49-F238E27FC236}">
                <a16:creationId xmlns:a16="http://schemas.microsoft.com/office/drawing/2014/main" id="{5FEBAE53-B998-9B0D-EA8C-290FAD9BC8C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2709BF90-E6B4-4E24-B38F-6CD2CF2A16A2}" type="slidenum">
              <a:rPr lang="en-US" altLang="en-US" sz="1400">
                <a:solidFill>
                  <a:srgbClr val="990033"/>
                </a:solidFill>
              </a:rPr>
              <a:pPr>
                <a:spcBef>
                  <a:spcPct val="0"/>
                </a:spcBef>
                <a:buClrTx/>
                <a:buSzTx/>
                <a:buFontTx/>
                <a:buNone/>
              </a:pPr>
              <a:t>50</a:t>
            </a:fld>
            <a:endParaRPr lang="en-CA" altLang="en-US" sz="1400">
              <a:solidFill>
                <a:srgbClr val="990033"/>
              </a:solidFill>
            </a:endParaRPr>
          </a:p>
        </p:txBody>
      </p:sp>
    </p:spTree>
  </p:cSld>
  <p:clrMapOvr>
    <a:masterClrMapping/>
  </p:clrMapOvr>
  <p:transition spd="med" advTm="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91578-FEBA-CCDA-923A-140B2621DDED}"/>
              </a:ext>
            </a:extLst>
          </p:cNvPr>
          <p:cNvSpPr>
            <a:spLocks noGrp="1"/>
          </p:cNvSpPr>
          <p:nvPr>
            <p:ph type="title"/>
          </p:nvPr>
        </p:nvSpPr>
        <p:spPr/>
        <p:txBody>
          <a:bodyPr/>
          <a:lstStyle/>
          <a:p>
            <a:r>
              <a:rPr lang="en-US" dirty="0"/>
              <a:t>Relational Calculus</a:t>
            </a:r>
          </a:p>
        </p:txBody>
      </p:sp>
      <p:sp>
        <p:nvSpPr>
          <p:cNvPr id="3" name="Slide Number Placeholder 2">
            <a:extLst>
              <a:ext uri="{FF2B5EF4-FFF2-40B4-BE49-F238E27FC236}">
                <a16:creationId xmlns:a16="http://schemas.microsoft.com/office/drawing/2014/main" id="{7B4DBD8C-8B6B-530E-FD63-41D249D0EEF6}"/>
              </a:ext>
            </a:extLst>
          </p:cNvPr>
          <p:cNvSpPr>
            <a:spLocks noGrp="1"/>
          </p:cNvSpPr>
          <p:nvPr>
            <p:ph type="sldNum" sz="quarter" idx="10"/>
          </p:nvPr>
        </p:nvSpPr>
        <p:spPr/>
        <p:txBody>
          <a:bodyPr/>
          <a:lstStyle/>
          <a:p>
            <a:r>
              <a:rPr lang="en-US" altLang="en-US"/>
              <a:t>Slide 3- </a:t>
            </a:r>
            <a:fld id="{9228F43B-1751-4133-BFDC-FCBB34AB8CDD}" type="slidenum">
              <a:rPr lang="en-US" altLang="en-US" smtClean="0"/>
              <a:pPr/>
              <a:t>51</a:t>
            </a:fld>
            <a:endParaRPr lang="en-CA" altLang="en-US"/>
          </a:p>
        </p:txBody>
      </p:sp>
      <p:pic>
        <p:nvPicPr>
          <p:cNvPr id="5" name="Picture 4">
            <a:extLst>
              <a:ext uri="{FF2B5EF4-FFF2-40B4-BE49-F238E27FC236}">
                <a16:creationId xmlns:a16="http://schemas.microsoft.com/office/drawing/2014/main" id="{336FDB93-3BAC-D803-86B3-5B0F6308CC66}"/>
              </a:ext>
            </a:extLst>
          </p:cNvPr>
          <p:cNvPicPr>
            <a:picLocks noChangeAspect="1"/>
          </p:cNvPicPr>
          <p:nvPr/>
        </p:nvPicPr>
        <p:blipFill>
          <a:blip r:embed="rId2"/>
          <a:stretch>
            <a:fillRect/>
          </a:stretch>
        </p:blipFill>
        <p:spPr>
          <a:xfrm>
            <a:off x="381000" y="1595925"/>
            <a:ext cx="8087323" cy="4953000"/>
          </a:xfrm>
          <a:prstGeom prst="rect">
            <a:avLst/>
          </a:prstGeom>
        </p:spPr>
      </p:pic>
    </p:spTree>
    <p:extLst>
      <p:ext uri="{BB962C8B-B14F-4D97-AF65-F5344CB8AC3E}">
        <p14:creationId xmlns:p14="http://schemas.microsoft.com/office/powerpoint/2010/main" val="2955197106"/>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3">
            <a:extLst>
              <a:ext uri="{FF2B5EF4-FFF2-40B4-BE49-F238E27FC236}">
                <a16:creationId xmlns:a16="http://schemas.microsoft.com/office/drawing/2014/main" id="{34058F75-5445-3039-71BC-A21B7A35D41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A6BFBE28-2356-4E6F-922E-C0380A267E5D}" type="slidenum">
              <a:rPr lang="en-US" altLang="en-US" sz="1400">
                <a:solidFill>
                  <a:srgbClr val="990033"/>
                </a:solidFill>
              </a:rPr>
              <a:pPr>
                <a:spcBef>
                  <a:spcPct val="0"/>
                </a:spcBef>
                <a:buClrTx/>
                <a:buSzTx/>
                <a:buFontTx/>
                <a:buNone/>
              </a:pPr>
              <a:t>52</a:t>
            </a:fld>
            <a:endParaRPr lang="en-CA" altLang="en-US" sz="1400">
              <a:solidFill>
                <a:srgbClr val="990033"/>
              </a:solidFill>
            </a:endParaRPr>
          </a:p>
        </p:txBody>
      </p:sp>
      <p:sp>
        <p:nvSpPr>
          <p:cNvPr id="79875" name="Rectangle 4">
            <a:extLst>
              <a:ext uri="{FF2B5EF4-FFF2-40B4-BE49-F238E27FC236}">
                <a16:creationId xmlns:a16="http://schemas.microsoft.com/office/drawing/2014/main" id="{E415A114-BB9A-76DB-B74E-9483975256F8}"/>
              </a:ext>
            </a:extLst>
          </p:cNvPr>
          <p:cNvSpPr>
            <a:spLocks noGrp="1" noChangeArrowheads="1"/>
          </p:cNvSpPr>
          <p:nvPr>
            <p:ph type="title"/>
          </p:nvPr>
        </p:nvSpPr>
        <p:spPr>
          <a:noFill/>
        </p:spPr>
        <p:txBody>
          <a:bodyPr/>
          <a:lstStyle/>
          <a:p>
            <a:pPr eaLnBrk="1" hangingPunct="1"/>
            <a:r>
              <a:rPr lang="en-US" altLang="en-US" sz="3200"/>
              <a:t>Relational Calculus</a:t>
            </a:r>
          </a:p>
        </p:txBody>
      </p:sp>
      <p:sp>
        <p:nvSpPr>
          <p:cNvPr id="79876" name="Rectangle 5">
            <a:extLst>
              <a:ext uri="{FF2B5EF4-FFF2-40B4-BE49-F238E27FC236}">
                <a16:creationId xmlns:a16="http://schemas.microsoft.com/office/drawing/2014/main" id="{2E0EAA29-16C5-7F67-5F29-6DDE1335A395}"/>
              </a:ext>
            </a:extLst>
          </p:cNvPr>
          <p:cNvSpPr>
            <a:spLocks noGrp="1" noChangeArrowheads="1"/>
          </p:cNvSpPr>
          <p:nvPr>
            <p:ph type="body" idx="1"/>
          </p:nvPr>
        </p:nvSpPr>
        <p:spPr/>
        <p:txBody>
          <a:bodyPr/>
          <a:lstStyle/>
          <a:p>
            <a:pPr eaLnBrk="1" hangingPunct="1">
              <a:lnSpc>
                <a:spcPct val="90000"/>
              </a:lnSpc>
            </a:pPr>
            <a:r>
              <a:rPr lang="en-US" altLang="en-US"/>
              <a:t>A </a:t>
            </a:r>
            <a:r>
              <a:rPr lang="en-US" altLang="en-US" b="1"/>
              <a:t>relational calculus</a:t>
            </a:r>
            <a:r>
              <a:rPr lang="en-US" altLang="en-US"/>
              <a:t> expression creates a new relation, which is specified in terms of variables that range over rows of the stored database relations (in </a:t>
            </a:r>
            <a:r>
              <a:rPr lang="en-US" altLang="en-US" b="1"/>
              <a:t>tuple calculus</a:t>
            </a:r>
            <a:r>
              <a:rPr lang="en-US" altLang="en-US"/>
              <a:t>) or over columns of the stored relations (in </a:t>
            </a:r>
            <a:r>
              <a:rPr lang="en-US" altLang="en-US" b="1"/>
              <a:t>domain calculus</a:t>
            </a:r>
            <a:r>
              <a:rPr lang="en-US" altLang="en-US"/>
              <a:t>). </a:t>
            </a:r>
          </a:p>
          <a:p>
            <a:pPr eaLnBrk="1" hangingPunct="1">
              <a:lnSpc>
                <a:spcPct val="90000"/>
              </a:lnSpc>
            </a:pPr>
            <a:r>
              <a:rPr lang="en-US" altLang="en-US"/>
              <a:t>In a calculus expression, there is </a:t>
            </a:r>
            <a:r>
              <a:rPr lang="en-US" altLang="en-US" i="1"/>
              <a:t>no order of operations</a:t>
            </a:r>
            <a:r>
              <a:rPr lang="en-US" altLang="en-US"/>
              <a:t> to specify how to retrieve the query result—a calculus expression specifies only what information the result should contain. </a:t>
            </a:r>
          </a:p>
          <a:p>
            <a:pPr lvl="1" eaLnBrk="1" hangingPunct="1">
              <a:lnSpc>
                <a:spcPct val="90000"/>
              </a:lnSpc>
            </a:pPr>
            <a:r>
              <a:rPr lang="en-US" altLang="en-US"/>
              <a:t>This is the main distinguishing feature between relational algebra and relational calculus.</a:t>
            </a: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Number Placeholder 3">
            <a:extLst>
              <a:ext uri="{FF2B5EF4-FFF2-40B4-BE49-F238E27FC236}">
                <a16:creationId xmlns:a16="http://schemas.microsoft.com/office/drawing/2014/main" id="{8CEB5007-1BB0-B8BA-F189-2E95FD95C7F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6C0362C1-FB4C-46D3-9E32-7F9979EDFC02}" type="slidenum">
              <a:rPr lang="en-US" altLang="en-US" sz="1400">
                <a:solidFill>
                  <a:srgbClr val="990033"/>
                </a:solidFill>
              </a:rPr>
              <a:pPr>
                <a:spcBef>
                  <a:spcPct val="0"/>
                </a:spcBef>
                <a:buClrTx/>
                <a:buSzTx/>
                <a:buFontTx/>
                <a:buNone/>
              </a:pPr>
              <a:t>53</a:t>
            </a:fld>
            <a:endParaRPr lang="en-CA" altLang="en-US" sz="1400">
              <a:solidFill>
                <a:srgbClr val="990033"/>
              </a:solidFill>
            </a:endParaRPr>
          </a:p>
        </p:txBody>
      </p:sp>
      <p:sp>
        <p:nvSpPr>
          <p:cNvPr id="80899" name="Rectangle 2">
            <a:extLst>
              <a:ext uri="{FF2B5EF4-FFF2-40B4-BE49-F238E27FC236}">
                <a16:creationId xmlns:a16="http://schemas.microsoft.com/office/drawing/2014/main" id="{D409C238-E0A1-3A84-00C9-52F1BF6605BF}"/>
              </a:ext>
            </a:extLst>
          </p:cNvPr>
          <p:cNvSpPr>
            <a:spLocks noGrp="1" noChangeArrowheads="1"/>
          </p:cNvSpPr>
          <p:nvPr>
            <p:ph type="title"/>
          </p:nvPr>
        </p:nvSpPr>
        <p:spPr>
          <a:noFill/>
        </p:spPr>
        <p:txBody>
          <a:bodyPr/>
          <a:lstStyle/>
          <a:p>
            <a:pPr eaLnBrk="1" hangingPunct="1"/>
            <a:r>
              <a:rPr lang="en-US" altLang="en-US" sz="3200"/>
              <a:t>Relational Calculus (continued)</a:t>
            </a:r>
          </a:p>
        </p:txBody>
      </p:sp>
      <p:sp>
        <p:nvSpPr>
          <p:cNvPr id="80900" name="Rectangle 3">
            <a:extLst>
              <a:ext uri="{FF2B5EF4-FFF2-40B4-BE49-F238E27FC236}">
                <a16:creationId xmlns:a16="http://schemas.microsoft.com/office/drawing/2014/main" id="{5C8930D2-C737-6D39-7214-E1312FC831AE}"/>
              </a:ext>
            </a:extLst>
          </p:cNvPr>
          <p:cNvSpPr>
            <a:spLocks noGrp="1" noChangeArrowheads="1"/>
          </p:cNvSpPr>
          <p:nvPr>
            <p:ph type="body" idx="1"/>
          </p:nvPr>
        </p:nvSpPr>
        <p:spPr/>
        <p:txBody>
          <a:bodyPr/>
          <a:lstStyle/>
          <a:p>
            <a:pPr eaLnBrk="1" hangingPunct="1"/>
            <a:r>
              <a:rPr lang="en-US" altLang="en-US"/>
              <a:t>Relational calculus is considered to be a </a:t>
            </a:r>
            <a:r>
              <a:rPr lang="en-US" altLang="en-US" b="1"/>
              <a:t>nonprocedural</a:t>
            </a:r>
            <a:r>
              <a:rPr lang="en-US" altLang="en-US"/>
              <a:t> or </a:t>
            </a:r>
            <a:r>
              <a:rPr lang="en-US" altLang="en-US" b="1"/>
              <a:t>declarative</a:t>
            </a:r>
            <a:r>
              <a:rPr lang="en-US" altLang="en-US"/>
              <a:t> language. </a:t>
            </a:r>
          </a:p>
          <a:p>
            <a:pPr eaLnBrk="1" hangingPunct="1"/>
            <a:r>
              <a:rPr lang="en-US" altLang="en-US"/>
              <a:t>This differs from relational algebra, where we must write a </a:t>
            </a:r>
            <a:r>
              <a:rPr lang="en-US" altLang="en-US" i="1"/>
              <a:t>sequence of operations</a:t>
            </a:r>
            <a:r>
              <a:rPr lang="en-US" altLang="en-US"/>
              <a:t> to specify a retrieval request; hence relational algebra can be considered as a </a:t>
            </a:r>
            <a:r>
              <a:rPr lang="en-US" altLang="en-US" b="1"/>
              <a:t>procedural</a:t>
            </a:r>
            <a:r>
              <a:rPr lang="en-US" altLang="en-US"/>
              <a:t> way of stating a query.</a:t>
            </a:r>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3">
            <a:extLst>
              <a:ext uri="{FF2B5EF4-FFF2-40B4-BE49-F238E27FC236}">
                <a16:creationId xmlns:a16="http://schemas.microsoft.com/office/drawing/2014/main" id="{7CCC1DF5-19E2-4A9C-0844-0C05777480C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8E6AFBBA-7A61-4C97-BED6-516B258A5BED}" type="slidenum">
              <a:rPr lang="en-US" altLang="en-US" sz="1400">
                <a:solidFill>
                  <a:srgbClr val="990033"/>
                </a:solidFill>
              </a:rPr>
              <a:pPr>
                <a:spcBef>
                  <a:spcPct val="0"/>
                </a:spcBef>
                <a:buClrTx/>
                <a:buSzTx/>
                <a:buFontTx/>
                <a:buNone/>
              </a:pPr>
              <a:t>54</a:t>
            </a:fld>
            <a:endParaRPr lang="en-CA" altLang="en-US" sz="1400">
              <a:solidFill>
                <a:srgbClr val="990033"/>
              </a:solidFill>
            </a:endParaRPr>
          </a:p>
        </p:txBody>
      </p:sp>
      <p:sp>
        <p:nvSpPr>
          <p:cNvPr id="81923" name="Rectangle 4">
            <a:extLst>
              <a:ext uri="{FF2B5EF4-FFF2-40B4-BE49-F238E27FC236}">
                <a16:creationId xmlns:a16="http://schemas.microsoft.com/office/drawing/2014/main" id="{6E110152-4BF1-699B-EE08-7180619B7D81}"/>
              </a:ext>
            </a:extLst>
          </p:cNvPr>
          <p:cNvSpPr>
            <a:spLocks noGrp="1" noChangeArrowheads="1"/>
          </p:cNvSpPr>
          <p:nvPr>
            <p:ph type="title"/>
          </p:nvPr>
        </p:nvSpPr>
        <p:spPr>
          <a:noFill/>
        </p:spPr>
        <p:txBody>
          <a:bodyPr/>
          <a:lstStyle/>
          <a:p>
            <a:pPr eaLnBrk="1" hangingPunct="1"/>
            <a:r>
              <a:rPr lang="en-US" altLang="en-US" sz="3200"/>
              <a:t>Tuple Relational Calculus</a:t>
            </a:r>
          </a:p>
        </p:txBody>
      </p:sp>
      <p:sp>
        <p:nvSpPr>
          <p:cNvPr id="81924" name="Rectangle 5">
            <a:extLst>
              <a:ext uri="{FF2B5EF4-FFF2-40B4-BE49-F238E27FC236}">
                <a16:creationId xmlns:a16="http://schemas.microsoft.com/office/drawing/2014/main" id="{7DF55046-258C-5F63-8510-347D833D9C3E}"/>
              </a:ext>
            </a:extLst>
          </p:cNvPr>
          <p:cNvSpPr>
            <a:spLocks noGrp="1" noChangeArrowheads="1"/>
          </p:cNvSpPr>
          <p:nvPr>
            <p:ph type="body" idx="1"/>
          </p:nvPr>
        </p:nvSpPr>
        <p:spPr/>
        <p:txBody>
          <a:bodyPr/>
          <a:lstStyle/>
          <a:p>
            <a:pPr eaLnBrk="1" hangingPunct="1"/>
            <a:r>
              <a:rPr lang="en-US" altLang="en-US" sz="2400"/>
              <a:t>The tuple relational calculus is based on specifying a number of tuple variables. </a:t>
            </a:r>
          </a:p>
          <a:p>
            <a:pPr eaLnBrk="1" hangingPunct="1"/>
            <a:r>
              <a:rPr lang="en-US" altLang="en-US" sz="2400"/>
              <a:t>Each tuple variable usually ranges over a particular database relation, meaning that the variable may take as its value any individual tuple from that relation. </a:t>
            </a:r>
          </a:p>
          <a:p>
            <a:pPr eaLnBrk="1" hangingPunct="1"/>
            <a:r>
              <a:rPr lang="en-US" altLang="en-US" sz="2400"/>
              <a:t>A simple tuple relational calculus query is of the form</a:t>
            </a:r>
          </a:p>
          <a:p>
            <a:pPr algn="ctr" eaLnBrk="1" hangingPunct="1">
              <a:buFont typeface="Wingdings" panose="05000000000000000000" pitchFamily="2" charset="2"/>
              <a:buNone/>
            </a:pPr>
            <a:r>
              <a:rPr lang="en-US" altLang="en-US" sz="2400"/>
              <a:t>	</a:t>
            </a:r>
            <a:r>
              <a:rPr lang="en-US" altLang="en-US" sz="2400" b="1"/>
              <a:t>{t | COND(t)}</a:t>
            </a:r>
          </a:p>
          <a:p>
            <a:pPr lvl="1" eaLnBrk="1" hangingPunct="1"/>
            <a:r>
              <a:rPr lang="en-US" altLang="en-US" sz="2200"/>
              <a:t>where t is a tuple variable and COND (t) is a conditional expression involving t. </a:t>
            </a:r>
          </a:p>
          <a:p>
            <a:pPr lvl="1" eaLnBrk="1" hangingPunct="1"/>
            <a:r>
              <a:rPr lang="en-US" altLang="en-US" sz="2200"/>
              <a:t>The result of such a query is the set of all tuples t that satisfy COND (t).</a:t>
            </a: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Number Placeholder 3">
            <a:extLst>
              <a:ext uri="{FF2B5EF4-FFF2-40B4-BE49-F238E27FC236}">
                <a16:creationId xmlns:a16="http://schemas.microsoft.com/office/drawing/2014/main" id="{EF6A65D5-6FAB-3E22-7EEC-96948B76D23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18E4CF9C-B704-424A-8A57-2E2B95E76467}" type="slidenum">
              <a:rPr lang="en-US" altLang="en-US" sz="1400">
                <a:solidFill>
                  <a:srgbClr val="990033"/>
                </a:solidFill>
              </a:rPr>
              <a:pPr>
                <a:spcBef>
                  <a:spcPct val="0"/>
                </a:spcBef>
                <a:buClrTx/>
                <a:buSzTx/>
                <a:buFontTx/>
                <a:buNone/>
              </a:pPr>
              <a:t>55</a:t>
            </a:fld>
            <a:endParaRPr lang="en-CA" altLang="en-US" sz="1400">
              <a:solidFill>
                <a:srgbClr val="990033"/>
              </a:solidFill>
            </a:endParaRPr>
          </a:p>
        </p:txBody>
      </p:sp>
      <p:sp>
        <p:nvSpPr>
          <p:cNvPr id="82947" name="Rectangle 2">
            <a:extLst>
              <a:ext uri="{FF2B5EF4-FFF2-40B4-BE49-F238E27FC236}">
                <a16:creationId xmlns:a16="http://schemas.microsoft.com/office/drawing/2014/main" id="{AFE94FF9-E162-0B67-6810-82E49CA9A189}"/>
              </a:ext>
            </a:extLst>
          </p:cNvPr>
          <p:cNvSpPr>
            <a:spLocks noGrp="1" noChangeArrowheads="1"/>
          </p:cNvSpPr>
          <p:nvPr>
            <p:ph type="title"/>
          </p:nvPr>
        </p:nvSpPr>
        <p:spPr>
          <a:noFill/>
        </p:spPr>
        <p:txBody>
          <a:bodyPr/>
          <a:lstStyle/>
          <a:p>
            <a:pPr eaLnBrk="1" hangingPunct="1"/>
            <a:r>
              <a:rPr lang="en-US" altLang="en-US" sz="3200"/>
              <a:t>Tuple Relational Calculus (continued)</a:t>
            </a:r>
          </a:p>
        </p:txBody>
      </p:sp>
      <p:sp>
        <p:nvSpPr>
          <p:cNvPr id="82948" name="Rectangle 3">
            <a:extLst>
              <a:ext uri="{FF2B5EF4-FFF2-40B4-BE49-F238E27FC236}">
                <a16:creationId xmlns:a16="http://schemas.microsoft.com/office/drawing/2014/main" id="{E68B35AF-0D33-23F6-0FC0-5707C567BC5F}"/>
              </a:ext>
            </a:extLst>
          </p:cNvPr>
          <p:cNvSpPr>
            <a:spLocks noGrp="1" noChangeArrowheads="1"/>
          </p:cNvSpPr>
          <p:nvPr>
            <p:ph type="body" idx="1"/>
          </p:nvPr>
        </p:nvSpPr>
        <p:spPr>
          <a:xfrm>
            <a:off x="76201" y="1600200"/>
            <a:ext cx="8763000" cy="4572000"/>
          </a:xfrm>
        </p:spPr>
        <p:txBody>
          <a:bodyPr/>
          <a:lstStyle/>
          <a:p>
            <a:pPr eaLnBrk="1" hangingPunct="1">
              <a:lnSpc>
                <a:spcPct val="90000"/>
              </a:lnSpc>
            </a:pPr>
            <a:endParaRPr lang="en-US" altLang="en-US" sz="2400" dirty="0"/>
          </a:p>
          <a:p>
            <a:pPr eaLnBrk="1" hangingPunct="1">
              <a:lnSpc>
                <a:spcPct val="90000"/>
              </a:lnSpc>
            </a:pPr>
            <a:r>
              <a:rPr lang="en-US" altLang="en-US" sz="2400" dirty="0"/>
              <a:t>Example: To find the first and last names of all employees whose salary is above $50,000, we can write the following tuple calculus expression:</a:t>
            </a:r>
          </a:p>
          <a:p>
            <a:pPr algn="ctr" eaLnBrk="1" hangingPunct="1">
              <a:lnSpc>
                <a:spcPct val="90000"/>
              </a:lnSpc>
              <a:buFont typeface="Wingdings" panose="05000000000000000000" pitchFamily="2" charset="2"/>
              <a:buNone/>
            </a:pPr>
            <a:r>
              <a:rPr lang="en-US" altLang="en-US" sz="2400" b="1" dirty="0"/>
              <a:t>{</a:t>
            </a:r>
            <a:r>
              <a:rPr lang="en-US" altLang="en-US" sz="2400" b="1" dirty="0" err="1"/>
              <a:t>t.FNAME</a:t>
            </a:r>
            <a:r>
              <a:rPr lang="en-US" altLang="en-US" sz="2400" b="1" dirty="0"/>
              <a:t>, </a:t>
            </a:r>
            <a:r>
              <a:rPr lang="en-US" altLang="en-US" sz="2400" b="1" dirty="0" err="1"/>
              <a:t>t.LNAME</a:t>
            </a:r>
            <a:r>
              <a:rPr lang="en-US" altLang="en-US" sz="2400" b="1" dirty="0"/>
              <a:t> | EMPLOYEE(t) AND </a:t>
            </a:r>
            <a:r>
              <a:rPr lang="en-US" altLang="en-US" sz="2400" b="1" dirty="0" err="1"/>
              <a:t>t.SALARY</a:t>
            </a:r>
            <a:r>
              <a:rPr lang="en-US" altLang="en-US" sz="2400" b="1" dirty="0"/>
              <a:t>&gt;50000}</a:t>
            </a:r>
          </a:p>
          <a:p>
            <a:pPr eaLnBrk="1" hangingPunct="1">
              <a:lnSpc>
                <a:spcPct val="90000"/>
              </a:lnSpc>
            </a:pPr>
            <a:r>
              <a:rPr lang="en-US" altLang="en-US" sz="2400" dirty="0"/>
              <a:t>The condition EMPLOYEE(t) specifies that the </a:t>
            </a:r>
            <a:r>
              <a:rPr lang="en-US" altLang="en-US" sz="2400" b="1" dirty="0"/>
              <a:t>range relation</a:t>
            </a:r>
            <a:r>
              <a:rPr lang="en-US" altLang="en-US" sz="2400" dirty="0"/>
              <a:t> of tuple variable t is EMPLOYEE.</a:t>
            </a:r>
          </a:p>
          <a:p>
            <a:pPr eaLnBrk="1" hangingPunct="1">
              <a:lnSpc>
                <a:spcPct val="90000"/>
              </a:lnSpc>
            </a:pPr>
            <a:r>
              <a:rPr lang="en-US" altLang="en-US" sz="2400" dirty="0"/>
              <a:t>The first and last name (PROJECTION </a:t>
            </a:r>
            <a:r>
              <a:rPr lang="en-US" altLang="en-US" sz="2400" b="1" dirty="0">
                <a:latin typeface="Symbol" panose="05050102010706020507" pitchFamily="18" charset="2"/>
              </a:rPr>
              <a:t></a:t>
            </a:r>
            <a:r>
              <a:rPr lang="en-US" altLang="en-US" sz="2400" baseline="-25000" dirty="0"/>
              <a:t>FNAME, LNAME</a:t>
            </a:r>
            <a:r>
              <a:rPr lang="en-US" altLang="en-US" sz="2400" dirty="0"/>
              <a:t>) of each EMPLOYEE tuple t that satisfies the condition </a:t>
            </a:r>
            <a:r>
              <a:rPr lang="en-US" altLang="en-US" sz="2400" dirty="0" err="1"/>
              <a:t>t.SALARY</a:t>
            </a:r>
            <a:r>
              <a:rPr lang="en-US" altLang="en-US" sz="2400" dirty="0"/>
              <a:t>&gt;50000 (SELECTION </a:t>
            </a:r>
            <a:r>
              <a:rPr lang="en-US" altLang="en-US" sz="2400" b="1" dirty="0">
                <a:latin typeface="Symbol" panose="05050102010706020507" pitchFamily="18" charset="2"/>
              </a:rPr>
              <a:t></a:t>
            </a:r>
            <a:r>
              <a:rPr lang="en-US" altLang="en-US" sz="2400" dirty="0">
                <a:latin typeface="Symbol" panose="05050102010706020507" pitchFamily="18" charset="2"/>
              </a:rPr>
              <a:t> </a:t>
            </a:r>
            <a:r>
              <a:rPr lang="en-US" altLang="en-US" sz="2400" baseline="-25000" dirty="0"/>
              <a:t>SALARY &gt;50000</a:t>
            </a:r>
            <a:r>
              <a:rPr lang="en-US" altLang="en-US" sz="2400" dirty="0"/>
              <a:t>) will be retrieved. </a:t>
            </a: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1EE8D-20C1-F02D-1B8D-5FCE6B41B1CF}"/>
              </a:ext>
            </a:extLst>
          </p:cNvPr>
          <p:cNvSpPr>
            <a:spLocks noGrp="1"/>
          </p:cNvSpPr>
          <p:nvPr>
            <p:ph type="title"/>
          </p:nvPr>
        </p:nvSpPr>
        <p:spPr/>
        <p:txBody>
          <a:bodyPr/>
          <a:lstStyle/>
          <a:p>
            <a:r>
              <a:rPr lang="en-US" dirty="0"/>
              <a:t>Logical Operators</a:t>
            </a:r>
          </a:p>
        </p:txBody>
      </p:sp>
      <p:sp>
        <p:nvSpPr>
          <p:cNvPr id="3" name="Slide Number Placeholder 2">
            <a:extLst>
              <a:ext uri="{FF2B5EF4-FFF2-40B4-BE49-F238E27FC236}">
                <a16:creationId xmlns:a16="http://schemas.microsoft.com/office/drawing/2014/main" id="{3F84C019-B763-27D8-FFCA-3460350B3190}"/>
              </a:ext>
            </a:extLst>
          </p:cNvPr>
          <p:cNvSpPr>
            <a:spLocks noGrp="1"/>
          </p:cNvSpPr>
          <p:nvPr>
            <p:ph type="sldNum" sz="quarter" idx="10"/>
          </p:nvPr>
        </p:nvSpPr>
        <p:spPr/>
        <p:txBody>
          <a:bodyPr/>
          <a:lstStyle/>
          <a:p>
            <a:r>
              <a:rPr lang="en-US" altLang="en-US"/>
              <a:t>Slide 3- </a:t>
            </a:r>
            <a:fld id="{9228F43B-1751-4133-BFDC-FCBB34AB8CDD}" type="slidenum">
              <a:rPr lang="en-US" altLang="en-US" smtClean="0"/>
              <a:pPr/>
              <a:t>56</a:t>
            </a:fld>
            <a:endParaRPr lang="en-CA" altLang="en-US"/>
          </a:p>
        </p:txBody>
      </p:sp>
      <p:pic>
        <p:nvPicPr>
          <p:cNvPr id="5" name="Picture 4">
            <a:extLst>
              <a:ext uri="{FF2B5EF4-FFF2-40B4-BE49-F238E27FC236}">
                <a16:creationId xmlns:a16="http://schemas.microsoft.com/office/drawing/2014/main" id="{D0D82BE1-84AD-881E-3091-256C6A81137F}"/>
              </a:ext>
            </a:extLst>
          </p:cNvPr>
          <p:cNvPicPr>
            <a:picLocks noChangeAspect="1"/>
          </p:cNvPicPr>
          <p:nvPr/>
        </p:nvPicPr>
        <p:blipFill>
          <a:blip r:embed="rId2"/>
          <a:stretch>
            <a:fillRect/>
          </a:stretch>
        </p:blipFill>
        <p:spPr>
          <a:xfrm>
            <a:off x="207143" y="1828800"/>
            <a:ext cx="8632057" cy="4427924"/>
          </a:xfrm>
          <a:prstGeom prst="rect">
            <a:avLst/>
          </a:prstGeom>
        </p:spPr>
      </p:pic>
    </p:spTree>
    <p:extLst>
      <p:ext uri="{BB962C8B-B14F-4D97-AF65-F5344CB8AC3E}">
        <p14:creationId xmlns:p14="http://schemas.microsoft.com/office/powerpoint/2010/main" val="2225811680"/>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3">
            <a:extLst>
              <a:ext uri="{FF2B5EF4-FFF2-40B4-BE49-F238E27FC236}">
                <a16:creationId xmlns:a16="http://schemas.microsoft.com/office/drawing/2014/main" id="{B806A0E9-194A-D5EA-F0D9-C42FCD489D3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7CDC77DA-434A-4720-AC57-69B77731F856}" type="slidenum">
              <a:rPr lang="en-US" altLang="en-US" sz="1400">
                <a:solidFill>
                  <a:srgbClr val="990033"/>
                </a:solidFill>
              </a:rPr>
              <a:pPr>
                <a:spcBef>
                  <a:spcPct val="0"/>
                </a:spcBef>
                <a:buClrTx/>
                <a:buSzTx/>
                <a:buFontTx/>
                <a:buNone/>
              </a:pPr>
              <a:t>57</a:t>
            </a:fld>
            <a:endParaRPr lang="en-CA" altLang="en-US" sz="1400">
              <a:solidFill>
                <a:srgbClr val="990033"/>
              </a:solidFill>
            </a:endParaRPr>
          </a:p>
        </p:txBody>
      </p:sp>
      <p:sp>
        <p:nvSpPr>
          <p:cNvPr id="83971" name="Rectangle 6">
            <a:extLst>
              <a:ext uri="{FF2B5EF4-FFF2-40B4-BE49-F238E27FC236}">
                <a16:creationId xmlns:a16="http://schemas.microsoft.com/office/drawing/2014/main" id="{2F526901-75AD-1067-D7E1-708B84BBD9EB}"/>
              </a:ext>
            </a:extLst>
          </p:cNvPr>
          <p:cNvSpPr>
            <a:spLocks noGrp="1" noChangeArrowheads="1"/>
          </p:cNvSpPr>
          <p:nvPr>
            <p:ph type="title"/>
          </p:nvPr>
        </p:nvSpPr>
        <p:spPr/>
        <p:txBody>
          <a:bodyPr/>
          <a:lstStyle/>
          <a:p>
            <a:pPr eaLnBrk="1" hangingPunct="1"/>
            <a:r>
              <a:rPr lang="en-US" altLang="en-US" sz="3200"/>
              <a:t>The Existential and Universal Quantifiers </a:t>
            </a:r>
          </a:p>
        </p:txBody>
      </p:sp>
      <p:sp>
        <p:nvSpPr>
          <p:cNvPr id="83972" name="Rectangle 7">
            <a:extLst>
              <a:ext uri="{FF2B5EF4-FFF2-40B4-BE49-F238E27FC236}">
                <a16:creationId xmlns:a16="http://schemas.microsoft.com/office/drawing/2014/main" id="{5F7DF957-7A98-29D9-794C-887013FEB7B8}"/>
              </a:ext>
            </a:extLst>
          </p:cNvPr>
          <p:cNvSpPr>
            <a:spLocks noGrp="1" noChangeArrowheads="1"/>
          </p:cNvSpPr>
          <p:nvPr>
            <p:ph type="body" idx="1"/>
          </p:nvPr>
        </p:nvSpPr>
        <p:spPr/>
        <p:txBody>
          <a:bodyPr/>
          <a:lstStyle/>
          <a:p>
            <a:pPr eaLnBrk="1" hangingPunct="1">
              <a:lnSpc>
                <a:spcPct val="80000"/>
              </a:lnSpc>
            </a:pPr>
            <a:r>
              <a:rPr lang="en-US" altLang="en-US" sz="2400" dirty="0"/>
              <a:t>Two special symbols called quantifiers can appear in formulas; these are the universal quantifier </a:t>
            </a:r>
            <a:r>
              <a:rPr lang="en-US" altLang="en-US" sz="2400" dirty="0">
                <a:latin typeface="Symbol" panose="05050102010706020507" pitchFamily="18" charset="2"/>
              </a:rPr>
              <a:t>()</a:t>
            </a:r>
            <a:r>
              <a:rPr lang="en-US" altLang="en-US" sz="2400" dirty="0"/>
              <a:t> and the existential quantifier </a:t>
            </a:r>
            <a:r>
              <a:rPr lang="en-US" altLang="en-US" sz="2400" dirty="0">
                <a:latin typeface="Symbol" panose="05050102010706020507" pitchFamily="18" charset="2"/>
              </a:rPr>
              <a:t>().</a:t>
            </a:r>
          </a:p>
          <a:p>
            <a:pPr eaLnBrk="1" hangingPunct="1">
              <a:lnSpc>
                <a:spcPct val="80000"/>
              </a:lnSpc>
            </a:pPr>
            <a:r>
              <a:rPr lang="en-US" altLang="en-US" sz="2400" dirty="0"/>
              <a:t>Informally, a tuple variable t is bound if it is quantified, meaning that it appears in an </a:t>
            </a:r>
            <a:r>
              <a:rPr lang="en-US" altLang="en-US" sz="2400" dirty="0">
                <a:latin typeface="Symbol" panose="05050102010706020507" pitchFamily="18" charset="2"/>
              </a:rPr>
              <a:t>( </a:t>
            </a:r>
            <a:r>
              <a:rPr lang="en-US" altLang="en-US" sz="2400" dirty="0"/>
              <a:t>t</a:t>
            </a:r>
            <a:r>
              <a:rPr lang="en-US" altLang="en-US" sz="2400" dirty="0">
                <a:latin typeface="Symbol" panose="05050102010706020507" pitchFamily="18" charset="2"/>
              </a:rPr>
              <a:t>)</a:t>
            </a:r>
            <a:r>
              <a:rPr lang="en-US" altLang="en-US" sz="2400" dirty="0"/>
              <a:t> or </a:t>
            </a:r>
            <a:r>
              <a:rPr lang="en-US" altLang="en-US" sz="2400" dirty="0">
                <a:latin typeface="Symbol" panose="05050102010706020507" pitchFamily="18" charset="2"/>
              </a:rPr>
              <a:t>( </a:t>
            </a:r>
            <a:r>
              <a:rPr lang="en-US" altLang="en-US" sz="2400" dirty="0"/>
              <a:t>t</a:t>
            </a:r>
            <a:r>
              <a:rPr lang="en-US" altLang="en-US" sz="2400" dirty="0">
                <a:latin typeface="Symbol" panose="05050102010706020507" pitchFamily="18" charset="2"/>
              </a:rPr>
              <a:t>)</a:t>
            </a:r>
            <a:r>
              <a:rPr lang="en-US" altLang="en-US" sz="2400" dirty="0"/>
              <a:t> clause; otherwise, it is free. </a:t>
            </a:r>
          </a:p>
          <a:p>
            <a:pPr eaLnBrk="1" hangingPunct="1">
              <a:lnSpc>
                <a:spcPct val="80000"/>
              </a:lnSpc>
            </a:pPr>
            <a:r>
              <a:rPr lang="en-US" altLang="en-US" sz="2400" dirty="0"/>
              <a:t>If F is a formula, then so are </a:t>
            </a:r>
            <a:r>
              <a:rPr lang="en-US" altLang="en-US" sz="2400" dirty="0">
                <a:latin typeface="Symbol" panose="05050102010706020507" pitchFamily="18" charset="2"/>
              </a:rPr>
              <a:t>( </a:t>
            </a:r>
            <a:r>
              <a:rPr lang="en-US" altLang="en-US" sz="2400" dirty="0"/>
              <a:t>t)(F) and </a:t>
            </a:r>
            <a:r>
              <a:rPr lang="en-US" altLang="en-US" sz="2400" dirty="0">
                <a:latin typeface="Symbol" panose="05050102010706020507" pitchFamily="18" charset="2"/>
              </a:rPr>
              <a:t>( </a:t>
            </a:r>
            <a:r>
              <a:rPr lang="en-US" altLang="en-US" sz="2400" dirty="0"/>
              <a:t>t)(F), where t is a tuple variable.</a:t>
            </a:r>
          </a:p>
          <a:p>
            <a:pPr lvl="1" eaLnBrk="1" hangingPunct="1">
              <a:lnSpc>
                <a:spcPct val="80000"/>
              </a:lnSpc>
            </a:pPr>
            <a:r>
              <a:rPr lang="en-US" altLang="en-US" sz="2200" dirty="0"/>
              <a:t>The formula </a:t>
            </a:r>
            <a:r>
              <a:rPr lang="en-US" altLang="en-US" sz="2200" dirty="0">
                <a:latin typeface="Symbol" panose="05050102010706020507" pitchFamily="18" charset="2"/>
              </a:rPr>
              <a:t>(</a:t>
            </a:r>
            <a:r>
              <a:rPr lang="en-US" altLang="en-US" sz="2200" dirty="0"/>
              <a:t>t)(F) is true if the formula F evaluates to true for some (at least one) tuple assigned to free occurrences of t in F; otherwise </a:t>
            </a:r>
            <a:r>
              <a:rPr lang="en-US" altLang="en-US" sz="2200" dirty="0">
                <a:latin typeface="Symbol" panose="05050102010706020507" pitchFamily="18" charset="2"/>
              </a:rPr>
              <a:t>(</a:t>
            </a:r>
            <a:r>
              <a:rPr lang="en-US" altLang="en-US" sz="2200" dirty="0"/>
              <a:t>t)(F) is false.</a:t>
            </a:r>
          </a:p>
          <a:p>
            <a:pPr lvl="1" eaLnBrk="1" hangingPunct="1">
              <a:lnSpc>
                <a:spcPct val="80000"/>
              </a:lnSpc>
            </a:pPr>
            <a:r>
              <a:rPr lang="en-US" altLang="en-US" sz="2200" dirty="0"/>
              <a:t>The formula </a:t>
            </a:r>
            <a:r>
              <a:rPr lang="en-US" altLang="en-US" sz="2200" dirty="0">
                <a:latin typeface="Symbol" panose="05050102010706020507" pitchFamily="18" charset="2"/>
              </a:rPr>
              <a:t>(</a:t>
            </a:r>
            <a:r>
              <a:rPr lang="en-US" altLang="en-US" sz="2200" dirty="0"/>
              <a:t>t)(F) is true if the formula F evaluates to true for every tuple (in the universe) assigned to free occurrences of t in F; otherwise </a:t>
            </a:r>
            <a:r>
              <a:rPr lang="en-US" altLang="en-US" sz="2200" dirty="0">
                <a:latin typeface="Symbol" panose="05050102010706020507" pitchFamily="18" charset="2"/>
              </a:rPr>
              <a:t>(</a:t>
            </a:r>
            <a:r>
              <a:rPr lang="en-US" altLang="en-US" sz="2200" dirty="0"/>
              <a:t>t)(F) is false. </a:t>
            </a:r>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Number Placeholder 3">
            <a:extLst>
              <a:ext uri="{FF2B5EF4-FFF2-40B4-BE49-F238E27FC236}">
                <a16:creationId xmlns:a16="http://schemas.microsoft.com/office/drawing/2014/main" id="{B42B686A-BF68-9E2E-0E26-CF7A6F47F0C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0A3313B9-4BE2-4C3A-A225-7267DE62AF29}" type="slidenum">
              <a:rPr lang="en-US" altLang="en-US" sz="1400">
                <a:solidFill>
                  <a:srgbClr val="990033"/>
                </a:solidFill>
              </a:rPr>
              <a:pPr>
                <a:spcBef>
                  <a:spcPct val="0"/>
                </a:spcBef>
                <a:buClrTx/>
                <a:buSzTx/>
                <a:buFontTx/>
                <a:buNone/>
              </a:pPr>
              <a:t>58</a:t>
            </a:fld>
            <a:endParaRPr lang="en-CA" altLang="en-US" sz="1400">
              <a:solidFill>
                <a:srgbClr val="990033"/>
              </a:solidFill>
            </a:endParaRPr>
          </a:p>
        </p:txBody>
      </p:sp>
      <p:sp>
        <p:nvSpPr>
          <p:cNvPr id="84995" name="Rectangle 2">
            <a:extLst>
              <a:ext uri="{FF2B5EF4-FFF2-40B4-BE49-F238E27FC236}">
                <a16:creationId xmlns:a16="http://schemas.microsoft.com/office/drawing/2014/main" id="{F765F858-07C4-FD3F-C818-C8179953EDEC}"/>
              </a:ext>
            </a:extLst>
          </p:cNvPr>
          <p:cNvSpPr>
            <a:spLocks noGrp="1" noChangeArrowheads="1"/>
          </p:cNvSpPr>
          <p:nvPr>
            <p:ph type="title"/>
          </p:nvPr>
        </p:nvSpPr>
        <p:spPr>
          <a:xfrm>
            <a:off x="239713" y="303213"/>
            <a:ext cx="8675687" cy="992187"/>
          </a:xfrm>
        </p:spPr>
        <p:txBody>
          <a:bodyPr/>
          <a:lstStyle/>
          <a:p>
            <a:pPr eaLnBrk="1" hangingPunct="1"/>
            <a:r>
              <a:rPr lang="en-US" altLang="en-US" sz="3200"/>
              <a:t>The Existential and Universal </a:t>
            </a:r>
            <a:br>
              <a:rPr lang="en-US" altLang="en-US" sz="3200"/>
            </a:br>
            <a:r>
              <a:rPr lang="en-US" altLang="en-US" sz="3200"/>
              <a:t>Quantifiers (continued)</a:t>
            </a:r>
          </a:p>
        </p:txBody>
      </p:sp>
      <p:sp>
        <p:nvSpPr>
          <p:cNvPr id="84996" name="Rectangle 3">
            <a:extLst>
              <a:ext uri="{FF2B5EF4-FFF2-40B4-BE49-F238E27FC236}">
                <a16:creationId xmlns:a16="http://schemas.microsoft.com/office/drawing/2014/main" id="{A49D641B-EB67-391E-6BE3-A1C5F9AA7952}"/>
              </a:ext>
            </a:extLst>
          </p:cNvPr>
          <p:cNvSpPr>
            <a:spLocks noGrp="1" noChangeArrowheads="1"/>
          </p:cNvSpPr>
          <p:nvPr>
            <p:ph type="body" idx="1"/>
          </p:nvPr>
        </p:nvSpPr>
        <p:spPr/>
        <p:txBody>
          <a:bodyPr/>
          <a:lstStyle/>
          <a:p>
            <a:pPr eaLnBrk="1" hangingPunct="1"/>
            <a:r>
              <a:rPr lang="en-US" altLang="en-US">
                <a:latin typeface="Symbol" panose="05050102010706020507" pitchFamily="18" charset="2"/>
              </a:rPr>
              <a:t></a:t>
            </a:r>
            <a:r>
              <a:rPr lang="en-US" altLang="en-US"/>
              <a:t> is called the universal or “for all” quantifier because every tuple in “the universe of” tuples must make F true to make the quantified formula true.</a:t>
            </a:r>
          </a:p>
          <a:p>
            <a:pPr eaLnBrk="1" hangingPunct="1"/>
            <a:r>
              <a:rPr lang="en-US" altLang="en-US">
                <a:latin typeface="Symbol" panose="05050102010706020507" pitchFamily="18" charset="2"/>
              </a:rPr>
              <a:t></a:t>
            </a:r>
            <a:r>
              <a:rPr lang="en-US" altLang="en-US"/>
              <a:t> is called the existential or “there exists” quantifier because any tuple that exists in “the universe of” tuples may make F true to make the quantified formula true.</a:t>
            </a:r>
          </a:p>
        </p:txBody>
      </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Number Placeholder 3">
            <a:extLst>
              <a:ext uri="{FF2B5EF4-FFF2-40B4-BE49-F238E27FC236}">
                <a16:creationId xmlns:a16="http://schemas.microsoft.com/office/drawing/2014/main" id="{C1F57767-8ED0-11AC-3486-90F3D400D6C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59E4E34A-2B57-4125-8404-673144BD8EC4}" type="slidenum">
              <a:rPr lang="en-US" altLang="en-US" sz="1400">
                <a:solidFill>
                  <a:srgbClr val="990033"/>
                </a:solidFill>
              </a:rPr>
              <a:pPr>
                <a:spcBef>
                  <a:spcPct val="0"/>
                </a:spcBef>
                <a:buClrTx/>
                <a:buSzTx/>
                <a:buFontTx/>
                <a:buNone/>
              </a:pPr>
              <a:t>59</a:t>
            </a:fld>
            <a:endParaRPr lang="en-CA" altLang="en-US" sz="1400">
              <a:solidFill>
                <a:srgbClr val="990033"/>
              </a:solidFill>
            </a:endParaRPr>
          </a:p>
        </p:txBody>
      </p:sp>
      <p:sp>
        <p:nvSpPr>
          <p:cNvPr id="86019" name="Rectangle 9">
            <a:extLst>
              <a:ext uri="{FF2B5EF4-FFF2-40B4-BE49-F238E27FC236}">
                <a16:creationId xmlns:a16="http://schemas.microsoft.com/office/drawing/2014/main" id="{E0ECF274-D944-6612-525C-F377F55A63E0}"/>
              </a:ext>
            </a:extLst>
          </p:cNvPr>
          <p:cNvSpPr>
            <a:spLocks noGrp="1" noChangeArrowheads="1"/>
          </p:cNvSpPr>
          <p:nvPr>
            <p:ph type="title"/>
          </p:nvPr>
        </p:nvSpPr>
        <p:spPr>
          <a:noFill/>
        </p:spPr>
        <p:txBody>
          <a:bodyPr/>
          <a:lstStyle/>
          <a:p>
            <a:pPr eaLnBrk="1" hangingPunct="1"/>
            <a:r>
              <a:rPr lang="en-US" altLang="en-US" sz="3200"/>
              <a:t>Example Query Using Existential Quantifier</a:t>
            </a:r>
          </a:p>
        </p:txBody>
      </p:sp>
      <p:sp>
        <p:nvSpPr>
          <p:cNvPr id="86020" name="Rectangle 10">
            <a:extLst>
              <a:ext uri="{FF2B5EF4-FFF2-40B4-BE49-F238E27FC236}">
                <a16:creationId xmlns:a16="http://schemas.microsoft.com/office/drawing/2014/main" id="{1A35D18F-A3AC-7C41-A4B4-4416DD8D5E54}"/>
              </a:ext>
            </a:extLst>
          </p:cNvPr>
          <p:cNvSpPr>
            <a:spLocks noGrp="1" noChangeArrowheads="1"/>
          </p:cNvSpPr>
          <p:nvPr>
            <p:ph type="body" idx="1"/>
          </p:nvPr>
        </p:nvSpPr>
        <p:spPr/>
        <p:txBody>
          <a:bodyPr/>
          <a:lstStyle/>
          <a:p>
            <a:pPr eaLnBrk="1" hangingPunct="1">
              <a:lnSpc>
                <a:spcPct val="80000"/>
              </a:lnSpc>
            </a:pPr>
            <a:r>
              <a:rPr lang="en-US" altLang="en-US" sz="2000"/>
              <a:t>Retrieve the name and address of all employees who work for the ‘Research’ department. The query can be expressed as : </a:t>
            </a:r>
          </a:p>
          <a:p>
            <a:pPr eaLnBrk="1" hangingPunct="1">
              <a:lnSpc>
                <a:spcPct val="80000"/>
              </a:lnSpc>
              <a:buFont typeface="Wingdings" panose="05000000000000000000" pitchFamily="2" charset="2"/>
              <a:buNone/>
            </a:pPr>
            <a:r>
              <a:rPr lang="en-US" altLang="en-US" sz="2000" b="1"/>
              <a:t>{t.FNAME, t.LNAME, t.ADDRESS | EMPLOYEE(t) and </a:t>
            </a:r>
            <a:r>
              <a:rPr lang="en-US" altLang="en-US" sz="2000" b="1">
                <a:latin typeface="Symbol" panose="05050102010706020507" pitchFamily="18" charset="2"/>
              </a:rPr>
              <a:t>(</a:t>
            </a:r>
            <a:r>
              <a:rPr lang="en-US" altLang="en-US" sz="2000" b="1"/>
              <a:t> d) </a:t>
            </a:r>
            <a:br>
              <a:rPr lang="en-US" altLang="en-US" sz="2000" b="1"/>
            </a:br>
            <a:r>
              <a:rPr lang="en-US" altLang="en-US" sz="2000" b="1"/>
              <a:t>(DEPARTMENT(d) and d.DNAME=‘Research’ and d.DNUMBER=t.DNO)  }</a:t>
            </a:r>
            <a:endParaRPr lang="en-US" altLang="en-US" sz="2000"/>
          </a:p>
          <a:p>
            <a:pPr eaLnBrk="1" hangingPunct="1">
              <a:lnSpc>
                <a:spcPct val="80000"/>
              </a:lnSpc>
            </a:pPr>
            <a:r>
              <a:rPr lang="en-US" altLang="en-US" sz="2000"/>
              <a:t>The only </a:t>
            </a:r>
            <a:r>
              <a:rPr lang="en-US" altLang="en-US" sz="2000" i="1"/>
              <a:t>free tuple variables</a:t>
            </a:r>
            <a:r>
              <a:rPr lang="en-US" altLang="en-US" sz="2000"/>
              <a:t> in a relational calculus expression should be those that appear to the left of the bar ( | ).</a:t>
            </a:r>
          </a:p>
          <a:p>
            <a:pPr lvl="1" eaLnBrk="1" hangingPunct="1">
              <a:lnSpc>
                <a:spcPct val="80000"/>
              </a:lnSpc>
            </a:pPr>
            <a:r>
              <a:rPr lang="en-US" altLang="en-US" sz="2000"/>
              <a:t>In above query, t is the only free variable; it is then </a:t>
            </a:r>
            <a:r>
              <a:rPr lang="en-US" altLang="en-US" sz="2000" i="1"/>
              <a:t>bound successively</a:t>
            </a:r>
            <a:r>
              <a:rPr lang="en-US" altLang="en-US" sz="2000"/>
              <a:t> to each tuple.</a:t>
            </a:r>
          </a:p>
          <a:p>
            <a:pPr eaLnBrk="1" hangingPunct="1">
              <a:lnSpc>
                <a:spcPct val="80000"/>
              </a:lnSpc>
            </a:pPr>
            <a:r>
              <a:rPr lang="en-US" altLang="en-US" sz="2000"/>
              <a:t>If a tuple </a:t>
            </a:r>
            <a:r>
              <a:rPr lang="en-US" altLang="en-US" sz="2000" i="1"/>
              <a:t>satisfies the conditions</a:t>
            </a:r>
            <a:r>
              <a:rPr lang="en-US" altLang="en-US" sz="2000"/>
              <a:t> specified in the query, the attributes FNAME, LNAME, and ADDRESS are retrieved for each such tuple. </a:t>
            </a:r>
          </a:p>
          <a:p>
            <a:pPr lvl="1" eaLnBrk="1" hangingPunct="1">
              <a:lnSpc>
                <a:spcPct val="80000"/>
              </a:lnSpc>
            </a:pPr>
            <a:r>
              <a:rPr lang="en-US" altLang="en-US" sz="2000"/>
              <a:t>The conditions EMPLOYEE (t) and DEPARTMENT(d) specify the range relations for t and d. </a:t>
            </a:r>
          </a:p>
          <a:p>
            <a:pPr lvl="1" eaLnBrk="1" hangingPunct="1">
              <a:lnSpc>
                <a:spcPct val="80000"/>
              </a:lnSpc>
            </a:pPr>
            <a:r>
              <a:rPr lang="en-US" altLang="en-US" sz="2000"/>
              <a:t>The condition d.DNAME = ‘Research’ is a selection condition and corresponds to a SELECT operation in the relational algebra, whereas the condition d.DNUMBER = t.DNO is a JOIN condition.</a:t>
            </a:r>
          </a:p>
        </p:txBody>
      </p:sp>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Number Placeholder 3">
            <a:extLst>
              <a:ext uri="{FF2B5EF4-FFF2-40B4-BE49-F238E27FC236}">
                <a16:creationId xmlns:a16="http://schemas.microsoft.com/office/drawing/2014/main" id="{0833427F-7C78-B0DD-E91E-8FAA62D1870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CDD30DA1-09EF-4968-91A9-50C98A6D84BD}" type="slidenum">
              <a:rPr lang="en-US" altLang="en-US" sz="1400">
                <a:solidFill>
                  <a:srgbClr val="990033"/>
                </a:solidFill>
              </a:rPr>
              <a:pPr>
                <a:spcBef>
                  <a:spcPct val="0"/>
                </a:spcBef>
                <a:buClrTx/>
                <a:buSzTx/>
                <a:buFontTx/>
                <a:buNone/>
              </a:pPr>
              <a:t>60</a:t>
            </a:fld>
            <a:endParaRPr lang="en-CA" altLang="en-US" sz="1400">
              <a:solidFill>
                <a:srgbClr val="990033"/>
              </a:solidFill>
            </a:endParaRPr>
          </a:p>
        </p:txBody>
      </p:sp>
      <p:sp>
        <p:nvSpPr>
          <p:cNvPr id="87043" name="Rectangle 9">
            <a:extLst>
              <a:ext uri="{FF2B5EF4-FFF2-40B4-BE49-F238E27FC236}">
                <a16:creationId xmlns:a16="http://schemas.microsoft.com/office/drawing/2014/main" id="{6E2C2835-B97D-19F8-395D-E9E62D170DE3}"/>
              </a:ext>
            </a:extLst>
          </p:cNvPr>
          <p:cNvSpPr>
            <a:spLocks noGrp="1" noChangeArrowheads="1"/>
          </p:cNvSpPr>
          <p:nvPr>
            <p:ph type="title"/>
          </p:nvPr>
        </p:nvSpPr>
        <p:spPr>
          <a:noFill/>
        </p:spPr>
        <p:txBody>
          <a:bodyPr/>
          <a:lstStyle/>
          <a:p>
            <a:pPr eaLnBrk="1" hangingPunct="1"/>
            <a:r>
              <a:rPr lang="en-US" altLang="en-US" sz="3200"/>
              <a:t>Example Query Using Universal Quantifier</a:t>
            </a:r>
          </a:p>
        </p:txBody>
      </p:sp>
      <p:sp>
        <p:nvSpPr>
          <p:cNvPr id="87044" name="Rectangle 10">
            <a:extLst>
              <a:ext uri="{FF2B5EF4-FFF2-40B4-BE49-F238E27FC236}">
                <a16:creationId xmlns:a16="http://schemas.microsoft.com/office/drawing/2014/main" id="{A36A0C69-256C-C3CD-1209-100FD36CBF2A}"/>
              </a:ext>
            </a:extLst>
          </p:cNvPr>
          <p:cNvSpPr>
            <a:spLocks noGrp="1" noChangeArrowheads="1"/>
          </p:cNvSpPr>
          <p:nvPr>
            <p:ph type="body" idx="1"/>
          </p:nvPr>
        </p:nvSpPr>
        <p:spPr/>
        <p:txBody>
          <a:bodyPr/>
          <a:lstStyle/>
          <a:p>
            <a:pPr eaLnBrk="1" hangingPunct="1">
              <a:lnSpc>
                <a:spcPct val="80000"/>
              </a:lnSpc>
            </a:pPr>
            <a:r>
              <a:rPr lang="en-US" altLang="en-US" sz="1800"/>
              <a:t>Find the names of employees who work on </a:t>
            </a:r>
            <a:r>
              <a:rPr lang="en-US" altLang="en-US" sz="1800" i="1"/>
              <a:t>all</a:t>
            </a:r>
            <a:r>
              <a:rPr lang="en-US" altLang="en-US" sz="1800"/>
              <a:t> the projects controlled by department number 5. The query can be: </a:t>
            </a:r>
          </a:p>
          <a:p>
            <a:pPr eaLnBrk="1" hangingPunct="1">
              <a:lnSpc>
                <a:spcPct val="80000"/>
              </a:lnSpc>
              <a:buFont typeface="Wingdings" panose="05000000000000000000" pitchFamily="2" charset="2"/>
              <a:buNone/>
            </a:pPr>
            <a:r>
              <a:rPr lang="en-US" altLang="en-US" sz="1800" b="1"/>
              <a:t>{e.LNAME, e.FNAME | EMPLOYEE(e) and </a:t>
            </a:r>
            <a:r>
              <a:rPr lang="en-US" altLang="en-US" sz="1800" b="1">
                <a:latin typeface="Symbol" panose="05050102010706020507" pitchFamily="18" charset="2"/>
              </a:rPr>
              <a:t>( (</a:t>
            </a:r>
            <a:r>
              <a:rPr lang="en-US" altLang="en-US" sz="1800" b="1"/>
              <a:t> x)(not(PROJECT(x)) or not(x.DNUM=5)</a:t>
            </a:r>
          </a:p>
          <a:p>
            <a:pPr eaLnBrk="1" hangingPunct="1">
              <a:lnSpc>
                <a:spcPct val="80000"/>
              </a:lnSpc>
              <a:buFont typeface="Wingdings" panose="05000000000000000000" pitchFamily="2" charset="2"/>
              <a:buNone/>
            </a:pPr>
            <a:r>
              <a:rPr lang="en-US" altLang="en-US" sz="1800" b="1"/>
              <a:t>OR </a:t>
            </a:r>
            <a:r>
              <a:rPr lang="en-US" altLang="en-US" sz="1800" b="1">
                <a:latin typeface="Symbol" panose="05050102010706020507" pitchFamily="18" charset="2"/>
              </a:rPr>
              <a:t>( (</a:t>
            </a:r>
            <a:r>
              <a:rPr lang="en-US" altLang="en-US" sz="1800" b="1"/>
              <a:t> w)(WORKS_ON(w) and w.ESSN=e.SSN and x.PNUMBER=w.PNO))))}</a:t>
            </a:r>
          </a:p>
          <a:p>
            <a:pPr eaLnBrk="1" hangingPunct="1">
              <a:lnSpc>
                <a:spcPct val="80000"/>
              </a:lnSpc>
            </a:pPr>
            <a:r>
              <a:rPr lang="en-US" altLang="en-US" sz="1800"/>
              <a:t>Exclude from the universal quantification all tuples that we are not interested in by making the condition true </a:t>
            </a:r>
            <a:r>
              <a:rPr lang="en-US" altLang="en-US" sz="1800" i="1"/>
              <a:t>for all such tuples</a:t>
            </a:r>
            <a:r>
              <a:rPr lang="en-US" altLang="en-US" sz="1800"/>
              <a:t>.</a:t>
            </a:r>
          </a:p>
          <a:p>
            <a:pPr lvl="1" eaLnBrk="1" hangingPunct="1">
              <a:lnSpc>
                <a:spcPct val="80000"/>
              </a:lnSpc>
            </a:pPr>
            <a:r>
              <a:rPr lang="en-US" altLang="en-US" sz="1700"/>
              <a:t>The first tuples to exclude (by making them evaluate automatically to true) are those that are not in the relation R of interest. </a:t>
            </a:r>
          </a:p>
          <a:p>
            <a:pPr eaLnBrk="1" hangingPunct="1">
              <a:lnSpc>
                <a:spcPct val="80000"/>
              </a:lnSpc>
            </a:pPr>
            <a:r>
              <a:rPr lang="en-US" altLang="en-US" sz="1800"/>
              <a:t>In query above, using the expression </a:t>
            </a:r>
            <a:r>
              <a:rPr lang="en-US" altLang="en-US" sz="1800" b="1"/>
              <a:t>not(PROJECT(x))</a:t>
            </a:r>
            <a:r>
              <a:rPr lang="en-US" altLang="en-US" sz="1800"/>
              <a:t> inside the universally quantified formula evaluates to true all tuples x that are not in the PROJECT relation.</a:t>
            </a:r>
          </a:p>
          <a:p>
            <a:pPr lvl="1" eaLnBrk="1" hangingPunct="1">
              <a:lnSpc>
                <a:spcPct val="80000"/>
              </a:lnSpc>
            </a:pPr>
            <a:r>
              <a:rPr lang="en-US" altLang="en-US" sz="1700"/>
              <a:t>Then we exclude the tuples we are not interested in from R itself. The expression not(x.DNUM=5) evaluates to true all tuples x that are in the project relation but are not controlled by department 5. </a:t>
            </a:r>
          </a:p>
          <a:p>
            <a:pPr eaLnBrk="1" hangingPunct="1">
              <a:lnSpc>
                <a:spcPct val="80000"/>
              </a:lnSpc>
            </a:pPr>
            <a:r>
              <a:rPr lang="en-US" altLang="en-US" sz="1800"/>
              <a:t>Finally, we specify a condition that must hold on all the remaining tuples in R.</a:t>
            </a:r>
          </a:p>
          <a:p>
            <a:pPr eaLnBrk="1" hangingPunct="1">
              <a:lnSpc>
                <a:spcPct val="80000"/>
              </a:lnSpc>
              <a:buFont typeface="Wingdings" panose="05000000000000000000" pitchFamily="2" charset="2"/>
              <a:buNone/>
            </a:pPr>
            <a:r>
              <a:rPr lang="en-US" altLang="en-US" sz="1800" b="1"/>
              <a:t> </a:t>
            </a:r>
            <a:r>
              <a:rPr lang="en-US" altLang="en-US" sz="1800" b="1">
                <a:latin typeface="Symbol" panose="05050102010706020507" pitchFamily="18" charset="2"/>
              </a:rPr>
              <a:t>( (</a:t>
            </a:r>
            <a:r>
              <a:rPr lang="en-US" altLang="en-US" sz="1800" b="1"/>
              <a:t> w)(WORKS_ON(w) and w.ESSN=e.SSN and x.PNUMBER=w.PNO)</a:t>
            </a:r>
          </a:p>
        </p:txBody>
      </p:sp>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3">
            <a:extLst>
              <a:ext uri="{FF2B5EF4-FFF2-40B4-BE49-F238E27FC236}">
                <a16:creationId xmlns:a16="http://schemas.microsoft.com/office/drawing/2014/main" id="{D0800517-F8AB-1B24-C340-067334CF645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EF3164DF-6695-414F-A893-EC4A7941F4F5}" type="slidenum">
              <a:rPr lang="en-US" altLang="en-US" sz="1400">
                <a:solidFill>
                  <a:srgbClr val="990033"/>
                </a:solidFill>
              </a:rPr>
              <a:pPr>
                <a:spcBef>
                  <a:spcPct val="0"/>
                </a:spcBef>
                <a:buClrTx/>
                <a:buSzTx/>
                <a:buFontTx/>
                <a:buNone/>
              </a:pPr>
              <a:t>61</a:t>
            </a:fld>
            <a:endParaRPr lang="en-CA" altLang="en-US" sz="1400">
              <a:solidFill>
                <a:srgbClr val="990033"/>
              </a:solidFill>
            </a:endParaRPr>
          </a:p>
        </p:txBody>
      </p:sp>
      <p:sp>
        <p:nvSpPr>
          <p:cNvPr id="90115" name="Rectangle 15">
            <a:extLst>
              <a:ext uri="{FF2B5EF4-FFF2-40B4-BE49-F238E27FC236}">
                <a16:creationId xmlns:a16="http://schemas.microsoft.com/office/drawing/2014/main" id="{02189890-1994-338A-E5F6-7DFBC6363BF6}"/>
              </a:ext>
            </a:extLst>
          </p:cNvPr>
          <p:cNvSpPr>
            <a:spLocks noGrp="1" noChangeArrowheads="1"/>
          </p:cNvSpPr>
          <p:nvPr>
            <p:ph type="title"/>
          </p:nvPr>
        </p:nvSpPr>
        <p:spPr>
          <a:noFill/>
        </p:spPr>
        <p:txBody>
          <a:bodyPr/>
          <a:lstStyle/>
          <a:p>
            <a:pPr eaLnBrk="1" hangingPunct="1"/>
            <a:r>
              <a:rPr lang="en-US" altLang="en-US" sz="3200"/>
              <a:t>The Domain Relational Calculus </a:t>
            </a:r>
          </a:p>
        </p:txBody>
      </p:sp>
      <p:sp>
        <p:nvSpPr>
          <p:cNvPr id="90116" name="Rectangle 16">
            <a:extLst>
              <a:ext uri="{FF2B5EF4-FFF2-40B4-BE49-F238E27FC236}">
                <a16:creationId xmlns:a16="http://schemas.microsoft.com/office/drawing/2014/main" id="{7D1B06F4-E893-BF56-EBE0-116C674263DF}"/>
              </a:ext>
            </a:extLst>
          </p:cNvPr>
          <p:cNvSpPr>
            <a:spLocks noGrp="1" noChangeArrowheads="1"/>
          </p:cNvSpPr>
          <p:nvPr>
            <p:ph type="body" idx="1"/>
          </p:nvPr>
        </p:nvSpPr>
        <p:spPr/>
        <p:txBody>
          <a:bodyPr/>
          <a:lstStyle/>
          <a:p>
            <a:pPr eaLnBrk="1" hangingPunct="1">
              <a:lnSpc>
                <a:spcPct val="90000"/>
              </a:lnSpc>
            </a:pPr>
            <a:r>
              <a:rPr lang="en-US" altLang="en-US" sz="2000" dirty="0"/>
              <a:t>Another variation of relational calculus called the domain relational calculus, or simply, domain calculus is equivalent to tuple calculus and to relational algebra.</a:t>
            </a:r>
          </a:p>
          <a:p>
            <a:pPr eaLnBrk="1" hangingPunct="1">
              <a:lnSpc>
                <a:spcPct val="90000"/>
              </a:lnSpc>
            </a:pPr>
            <a:r>
              <a:rPr lang="en-US" altLang="en-US" sz="2000" dirty="0"/>
              <a:t>The language called QBE (Query-By-Example) that is related to domain calculus was developed almost concurrently to SQL at IBM Research, Yorktown Heights, New York. </a:t>
            </a:r>
          </a:p>
          <a:p>
            <a:pPr lvl="1" eaLnBrk="1" hangingPunct="1">
              <a:lnSpc>
                <a:spcPct val="90000"/>
              </a:lnSpc>
            </a:pPr>
            <a:r>
              <a:rPr lang="en-US" altLang="en-US" sz="2000" dirty="0"/>
              <a:t>Domain calculus was thought of to explain what QBE does.</a:t>
            </a:r>
          </a:p>
          <a:p>
            <a:pPr eaLnBrk="1" hangingPunct="1">
              <a:lnSpc>
                <a:spcPct val="90000"/>
              </a:lnSpc>
            </a:pPr>
            <a:r>
              <a:rPr lang="en-US" altLang="en-US" sz="2000" dirty="0"/>
              <a:t>Domain calculus differs from tuple calculus in the type of variables used in formulas:</a:t>
            </a:r>
          </a:p>
          <a:p>
            <a:pPr lvl="1" eaLnBrk="1" hangingPunct="1">
              <a:lnSpc>
                <a:spcPct val="90000"/>
              </a:lnSpc>
            </a:pPr>
            <a:r>
              <a:rPr lang="en-US" altLang="en-US" sz="2000" dirty="0"/>
              <a:t>Rather than having variables range over tuples, the variables range over single values from domains of attributes.</a:t>
            </a:r>
          </a:p>
          <a:p>
            <a:pPr eaLnBrk="1" hangingPunct="1">
              <a:lnSpc>
                <a:spcPct val="90000"/>
              </a:lnSpc>
            </a:pPr>
            <a:r>
              <a:rPr lang="en-US" altLang="en-US" sz="2000" dirty="0"/>
              <a:t>To form a relation of degree n for a query result, we must have n of these domain variables— one for each attribute.</a:t>
            </a:r>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Number Placeholder 3">
            <a:extLst>
              <a:ext uri="{FF2B5EF4-FFF2-40B4-BE49-F238E27FC236}">
                <a16:creationId xmlns:a16="http://schemas.microsoft.com/office/drawing/2014/main" id="{A7B123AA-4212-12E2-F0F9-72496FBC92F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2EC21697-E259-4EDC-8454-77949AF4FE6F}" type="slidenum">
              <a:rPr lang="en-US" altLang="en-US" sz="1400">
                <a:solidFill>
                  <a:srgbClr val="990033"/>
                </a:solidFill>
              </a:rPr>
              <a:pPr>
                <a:spcBef>
                  <a:spcPct val="0"/>
                </a:spcBef>
                <a:buClrTx/>
                <a:buSzTx/>
                <a:buFontTx/>
                <a:buNone/>
              </a:pPr>
              <a:t>62</a:t>
            </a:fld>
            <a:endParaRPr lang="en-CA" altLang="en-US" sz="1400">
              <a:solidFill>
                <a:srgbClr val="990033"/>
              </a:solidFill>
            </a:endParaRPr>
          </a:p>
        </p:txBody>
      </p:sp>
      <p:sp>
        <p:nvSpPr>
          <p:cNvPr id="91139" name="Rectangle 2">
            <a:extLst>
              <a:ext uri="{FF2B5EF4-FFF2-40B4-BE49-F238E27FC236}">
                <a16:creationId xmlns:a16="http://schemas.microsoft.com/office/drawing/2014/main" id="{10D280E6-73CA-1D23-35F1-F8273F6DCBBD}"/>
              </a:ext>
            </a:extLst>
          </p:cNvPr>
          <p:cNvSpPr>
            <a:spLocks noGrp="1" noChangeArrowheads="1"/>
          </p:cNvSpPr>
          <p:nvPr>
            <p:ph type="title"/>
          </p:nvPr>
        </p:nvSpPr>
        <p:spPr>
          <a:noFill/>
        </p:spPr>
        <p:txBody>
          <a:bodyPr/>
          <a:lstStyle/>
          <a:p>
            <a:pPr eaLnBrk="1" hangingPunct="1"/>
            <a:r>
              <a:rPr lang="en-US" altLang="en-US" sz="3200"/>
              <a:t>The Domain Relational Calculus (continued)</a:t>
            </a:r>
          </a:p>
        </p:txBody>
      </p:sp>
      <p:sp>
        <p:nvSpPr>
          <p:cNvPr id="91140" name="Rectangle 3">
            <a:extLst>
              <a:ext uri="{FF2B5EF4-FFF2-40B4-BE49-F238E27FC236}">
                <a16:creationId xmlns:a16="http://schemas.microsoft.com/office/drawing/2014/main" id="{97EB0DB2-92BF-EAE1-3274-505A398702AB}"/>
              </a:ext>
            </a:extLst>
          </p:cNvPr>
          <p:cNvSpPr>
            <a:spLocks noGrp="1" noChangeArrowheads="1"/>
          </p:cNvSpPr>
          <p:nvPr>
            <p:ph type="body" idx="1"/>
          </p:nvPr>
        </p:nvSpPr>
        <p:spPr/>
        <p:txBody>
          <a:bodyPr/>
          <a:lstStyle/>
          <a:p>
            <a:pPr eaLnBrk="1" hangingPunct="1"/>
            <a:r>
              <a:rPr lang="en-US" altLang="en-US"/>
              <a:t> An expression of the domain calculus is of the form</a:t>
            </a:r>
          </a:p>
          <a:p>
            <a:pPr eaLnBrk="1" hangingPunct="1">
              <a:buFont typeface="Wingdings" panose="05000000000000000000" pitchFamily="2" charset="2"/>
              <a:buNone/>
            </a:pPr>
            <a:r>
              <a:rPr lang="en-US" altLang="en-US" b="1"/>
              <a:t>{ x</a:t>
            </a:r>
            <a:r>
              <a:rPr lang="en-US" altLang="en-US" b="1" baseline="-25000"/>
              <a:t>1</a:t>
            </a:r>
            <a:r>
              <a:rPr lang="en-US" altLang="en-US" b="1"/>
              <a:t>, x</a:t>
            </a:r>
            <a:r>
              <a:rPr lang="en-US" altLang="en-US" b="1" baseline="-25000"/>
              <a:t>2</a:t>
            </a:r>
            <a:r>
              <a:rPr lang="en-US" altLang="en-US" b="1"/>
              <a:t>, . . ., x</a:t>
            </a:r>
            <a:r>
              <a:rPr lang="en-US" altLang="en-US" b="1" baseline="-25000"/>
              <a:t>n</a:t>
            </a:r>
            <a:r>
              <a:rPr lang="en-US" altLang="en-US" b="1"/>
              <a:t> | </a:t>
            </a:r>
          </a:p>
          <a:p>
            <a:pPr eaLnBrk="1" hangingPunct="1">
              <a:buFont typeface="Wingdings" panose="05000000000000000000" pitchFamily="2" charset="2"/>
              <a:buNone/>
            </a:pPr>
            <a:r>
              <a:rPr lang="en-US" altLang="en-US" b="1"/>
              <a:t>	COND(x</a:t>
            </a:r>
            <a:r>
              <a:rPr lang="en-US" altLang="en-US" b="1" baseline="-25000"/>
              <a:t>1</a:t>
            </a:r>
            <a:r>
              <a:rPr lang="en-US" altLang="en-US" b="1"/>
              <a:t>, x</a:t>
            </a:r>
            <a:r>
              <a:rPr lang="en-US" altLang="en-US" b="1" baseline="-25000"/>
              <a:t>2</a:t>
            </a:r>
            <a:r>
              <a:rPr lang="en-US" altLang="en-US" b="1"/>
              <a:t>, . . ., x</a:t>
            </a:r>
            <a:r>
              <a:rPr lang="en-US" altLang="en-US" b="1" baseline="-25000"/>
              <a:t>n</a:t>
            </a:r>
            <a:r>
              <a:rPr lang="en-US" altLang="en-US" b="1"/>
              <a:t>, x</a:t>
            </a:r>
            <a:r>
              <a:rPr lang="en-US" altLang="en-US" b="1" baseline="-25000"/>
              <a:t>n+1</a:t>
            </a:r>
            <a:r>
              <a:rPr lang="en-US" altLang="en-US" b="1"/>
              <a:t>, x</a:t>
            </a:r>
            <a:r>
              <a:rPr lang="en-US" altLang="en-US" b="1" baseline="-25000"/>
              <a:t>n+2</a:t>
            </a:r>
            <a:r>
              <a:rPr lang="en-US" altLang="en-US" b="1"/>
              <a:t>, . . ., x</a:t>
            </a:r>
            <a:r>
              <a:rPr lang="en-US" altLang="en-US" b="1" baseline="-25000"/>
              <a:t>n+m</a:t>
            </a:r>
            <a:r>
              <a:rPr lang="en-US" altLang="en-US" b="1"/>
              <a:t>)}</a:t>
            </a:r>
          </a:p>
          <a:p>
            <a:pPr lvl="1" eaLnBrk="1" hangingPunct="1"/>
            <a:r>
              <a:rPr lang="en-US" altLang="en-US"/>
              <a:t>where x</a:t>
            </a:r>
            <a:r>
              <a:rPr lang="en-US" altLang="en-US" baseline="-25000"/>
              <a:t>1</a:t>
            </a:r>
            <a:r>
              <a:rPr lang="en-US" altLang="en-US"/>
              <a:t>, x</a:t>
            </a:r>
            <a:r>
              <a:rPr lang="en-US" altLang="en-US" baseline="-25000"/>
              <a:t>2</a:t>
            </a:r>
            <a:r>
              <a:rPr lang="en-US" altLang="en-US"/>
              <a:t>, . . ., x</a:t>
            </a:r>
            <a:r>
              <a:rPr lang="en-US" altLang="en-US" baseline="-25000"/>
              <a:t>n</a:t>
            </a:r>
            <a:r>
              <a:rPr lang="en-US" altLang="en-US"/>
              <a:t>, x</a:t>
            </a:r>
            <a:r>
              <a:rPr lang="en-US" altLang="en-US" baseline="-25000"/>
              <a:t>n+1</a:t>
            </a:r>
            <a:r>
              <a:rPr lang="en-US" altLang="en-US"/>
              <a:t>, x</a:t>
            </a:r>
            <a:r>
              <a:rPr lang="en-US" altLang="en-US" baseline="-25000"/>
              <a:t>n+2</a:t>
            </a:r>
            <a:r>
              <a:rPr lang="en-US" altLang="en-US"/>
              <a:t>, . . ., x</a:t>
            </a:r>
            <a:r>
              <a:rPr lang="en-US" altLang="en-US" baseline="-25000"/>
              <a:t>n+m</a:t>
            </a:r>
            <a:r>
              <a:rPr lang="en-US" altLang="en-US"/>
              <a:t> are domain variables that range over domains (of attributes)</a:t>
            </a:r>
          </a:p>
          <a:p>
            <a:pPr lvl="1" eaLnBrk="1" hangingPunct="1"/>
            <a:r>
              <a:rPr lang="en-US" altLang="en-US"/>
              <a:t>and COND is a condition or formula of the domain relational calculus. </a:t>
            </a:r>
          </a:p>
        </p:txBody>
      </p:sp>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Number Placeholder 3">
            <a:extLst>
              <a:ext uri="{FF2B5EF4-FFF2-40B4-BE49-F238E27FC236}">
                <a16:creationId xmlns:a16="http://schemas.microsoft.com/office/drawing/2014/main" id="{ADEB236B-5261-DD91-168F-3A578620252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32FE05C1-6871-4A90-B943-951A10D5DE27}" type="slidenum">
              <a:rPr lang="en-US" altLang="en-US" sz="1400">
                <a:solidFill>
                  <a:srgbClr val="990033"/>
                </a:solidFill>
              </a:rPr>
              <a:pPr>
                <a:spcBef>
                  <a:spcPct val="0"/>
                </a:spcBef>
                <a:buClrTx/>
                <a:buSzTx/>
                <a:buFontTx/>
                <a:buNone/>
              </a:pPr>
              <a:t>63</a:t>
            </a:fld>
            <a:endParaRPr lang="en-CA" altLang="en-US" sz="1400">
              <a:solidFill>
                <a:srgbClr val="990033"/>
              </a:solidFill>
            </a:endParaRPr>
          </a:p>
        </p:txBody>
      </p:sp>
      <p:sp>
        <p:nvSpPr>
          <p:cNvPr id="92163" name="Rectangle 2">
            <a:extLst>
              <a:ext uri="{FF2B5EF4-FFF2-40B4-BE49-F238E27FC236}">
                <a16:creationId xmlns:a16="http://schemas.microsoft.com/office/drawing/2014/main" id="{3FC8EC40-A577-B54D-BC72-D4086B48014C}"/>
              </a:ext>
            </a:extLst>
          </p:cNvPr>
          <p:cNvSpPr>
            <a:spLocks noGrp="1" noChangeArrowheads="1"/>
          </p:cNvSpPr>
          <p:nvPr>
            <p:ph type="title"/>
          </p:nvPr>
        </p:nvSpPr>
        <p:spPr/>
        <p:txBody>
          <a:bodyPr/>
          <a:lstStyle/>
          <a:p>
            <a:pPr eaLnBrk="1" hangingPunct="1"/>
            <a:r>
              <a:rPr lang="en-US" altLang="en-US" sz="3200"/>
              <a:t>Example Query Using Domain Calculus</a:t>
            </a:r>
          </a:p>
        </p:txBody>
      </p:sp>
      <p:sp>
        <p:nvSpPr>
          <p:cNvPr id="92164" name="Rectangle 3">
            <a:extLst>
              <a:ext uri="{FF2B5EF4-FFF2-40B4-BE49-F238E27FC236}">
                <a16:creationId xmlns:a16="http://schemas.microsoft.com/office/drawing/2014/main" id="{4270273A-D436-4394-E993-5BE556C4ADC7}"/>
              </a:ext>
            </a:extLst>
          </p:cNvPr>
          <p:cNvSpPr>
            <a:spLocks noGrp="1" noChangeArrowheads="1"/>
          </p:cNvSpPr>
          <p:nvPr>
            <p:ph type="body" idx="1"/>
          </p:nvPr>
        </p:nvSpPr>
        <p:spPr>
          <a:xfrm>
            <a:off x="239713" y="1600200"/>
            <a:ext cx="8675687" cy="4572000"/>
          </a:xfrm>
        </p:spPr>
        <p:txBody>
          <a:bodyPr/>
          <a:lstStyle/>
          <a:p>
            <a:pPr eaLnBrk="1" hangingPunct="1">
              <a:lnSpc>
                <a:spcPct val="80000"/>
              </a:lnSpc>
              <a:buFont typeface="Wingdings" panose="05000000000000000000" pitchFamily="2" charset="2"/>
              <a:buNone/>
            </a:pPr>
            <a:r>
              <a:rPr lang="en-US" altLang="en-US" sz="1800"/>
              <a:t>Retrieve the birthdate and address of the employee whose name is ‘John B. Smith’.</a:t>
            </a:r>
          </a:p>
          <a:p>
            <a:pPr eaLnBrk="1" hangingPunct="1">
              <a:lnSpc>
                <a:spcPct val="80000"/>
              </a:lnSpc>
            </a:pPr>
            <a:r>
              <a:rPr lang="en-US" altLang="en-US" sz="1800"/>
              <a:t>Query : </a:t>
            </a:r>
          </a:p>
          <a:p>
            <a:pPr eaLnBrk="1" hangingPunct="1">
              <a:lnSpc>
                <a:spcPct val="80000"/>
              </a:lnSpc>
              <a:buFont typeface="Wingdings" panose="05000000000000000000" pitchFamily="2" charset="2"/>
              <a:buNone/>
            </a:pPr>
            <a:r>
              <a:rPr lang="en-US" altLang="en-US" sz="1800" b="1"/>
              <a:t>{uv | (</a:t>
            </a:r>
            <a:r>
              <a:rPr lang="en-US" altLang="en-US" sz="1800" b="1">
                <a:latin typeface="Symbol" panose="05050102010706020507" pitchFamily="18" charset="2"/>
              </a:rPr>
              <a:t> </a:t>
            </a:r>
            <a:r>
              <a:rPr lang="en-US" altLang="en-US" sz="1800" b="1"/>
              <a:t>q) (</a:t>
            </a:r>
            <a:r>
              <a:rPr lang="en-US" altLang="en-US" sz="1800" b="1">
                <a:latin typeface="Symbol" panose="05050102010706020507" pitchFamily="18" charset="2"/>
              </a:rPr>
              <a:t> </a:t>
            </a:r>
            <a:r>
              <a:rPr lang="en-US" altLang="en-US" sz="1800" b="1"/>
              <a:t>r) (</a:t>
            </a:r>
            <a:r>
              <a:rPr lang="en-US" altLang="en-US" sz="1800" b="1">
                <a:latin typeface="Symbol" panose="05050102010706020507" pitchFamily="18" charset="2"/>
              </a:rPr>
              <a:t> </a:t>
            </a:r>
            <a:r>
              <a:rPr lang="en-US" altLang="en-US" sz="1800" b="1"/>
              <a:t>s) (</a:t>
            </a:r>
            <a:r>
              <a:rPr lang="en-US" altLang="en-US" sz="1800" b="1">
                <a:latin typeface="Symbol" panose="05050102010706020507" pitchFamily="18" charset="2"/>
              </a:rPr>
              <a:t> </a:t>
            </a:r>
            <a:r>
              <a:rPr lang="en-US" altLang="en-US" sz="1800" b="1"/>
              <a:t>t) (</a:t>
            </a:r>
            <a:r>
              <a:rPr lang="en-US" altLang="en-US" sz="1800" b="1">
                <a:latin typeface="Symbol" panose="05050102010706020507" pitchFamily="18" charset="2"/>
              </a:rPr>
              <a:t> </a:t>
            </a:r>
            <a:r>
              <a:rPr lang="en-US" altLang="en-US" sz="1800" b="1"/>
              <a:t>w) (</a:t>
            </a:r>
            <a:r>
              <a:rPr lang="en-US" altLang="en-US" sz="1800" b="1">
                <a:latin typeface="Symbol" panose="05050102010706020507" pitchFamily="18" charset="2"/>
              </a:rPr>
              <a:t> </a:t>
            </a:r>
            <a:r>
              <a:rPr lang="en-US" altLang="en-US" sz="1800" b="1"/>
              <a:t>x) (</a:t>
            </a:r>
            <a:r>
              <a:rPr lang="en-US" altLang="en-US" sz="1800" b="1">
                <a:latin typeface="Symbol" panose="05050102010706020507" pitchFamily="18" charset="2"/>
              </a:rPr>
              <a:t> </a:t>
            </a:r>
            <a:r>
              <a:rPr lang="en-US" altLang="en-US" sz="1800" b="1"/>
              <a:t>y) (</a:t>
            </a:r>
            <a:r>
              <a:rPr lang="en-US" altLang="en-US" sz="1800" b="1">
                <a:latin typeface="Symbol" panose="05050102010706020507" pitchFamily="18" charset="2"/>
              </a:rPr>
              <a:t> </a:t>
            </a:r>
            <a:r>
              <a:rPr lang="en-US" altLang="en-US" sz="1800" b="1"/>
              <a:t>z)</a:t>
            </a:r>
          </a:p>
          <a:p>
            <a:pPr eaLnBrk="1" hangingPunct="1">
              <a:lnSpc>
                <a:spcPct val="80000"/>
              </a:lnSpc>
              <a:buFont typeface="Wingdings" panose="05000000000000000000" pitchFamily="2" charset="2"/>
              <a:buNone/>
            </a:pPr>
            <a:r>
              <a:rPr lang="en-US" altLang="en-US" sz="1800" b="1"/>
              <a:t>	(EMPLOYEE(qrstuvwxyz) and q=’John’ and r=’B’ and s=’Smith’)}</a:t>
            </a:r>
          </a:p>
          <a:p>
            <a:pPr eaLnBrk="1" hangingPunct="1">
              <a:lnSpc>
                <a:spcPct val="80000"/>
              </a:lnSpc>
              <a:buFont typeface="Wingdings" panose="05000000000000000000" pitchFamily="2" charset="2"/>
              <a:buNone/>
            </a:pPr>
            <a:endParaRPr lang="en-US" altLang="en-US" sz="1800" b="1"/>
          </a:p>
          <a:p>
            <a:pPr eaLnBrk="1" hangingPunct="1">
              <a:lnSpc>
                <a:spcPct val="80000"/>
              </a:lnSpc>
            </a:pPr>
            <a:r>
              <a:rPr lang="en-US" altLang="en-US" sz="1800" b="1"/>
              <a:t>Abbreviated notation EMPLOYEE(qrstuvwxyz) </a:t>
            </a:r>
            <a:r>
              <a:rPr lang="en-US" altLang="en-US" sz="1800"/>
              <a:t>uses the</a:t>
            </a:r>
            <a:r>
              <a:rPr lang="en-US" altLang="en-US" sz="1800" b="1"/>
              <a:t> </a:t>
            </a:r>
          </a:p>
          <a:p>
            <a:pPr eaLnBrk="1" hangingPunct="1">
              <a:lnSpc>
                <a:spcPct val="80000"/>
              </a:lnSpc>
              <a:buFont typeface="Wingdings" panose="05000000000000000000" pitchFamily="2" charset="2"/>
              <a:buNone/>
            </a:pPr>
            <a:r>
              <a:rPr lang="en-US" altLang="en-US" sz="1800"/>
              <a:t>	variables without the separating commas: </a:t>
            </a:r>
            <a:r>
              <a:rPr lang="en-US" altLang="en-US" sz="1800" b="1"/>
              <a:t>EMPLOYEE(q,r,s,t,u,v,w,x,y,z)</a:t>
            </a:r>
          </a:p>
          <a:p>
            <a:pPr eaLnBrk="1" hangingPunct="1">
              <a:lnSpc>
                <a:spcPct val="80000"/>
              </a:lnSpc>
              <a:buFont typeface="Wingdings" panose="05000000000000000000" pitchFamily="2" charset="2"/>
              <a:buNone/>
            </a:pPr>
            <a:endParaRPr lang="en-US" altLang="en-US" sz="1800"/>
          </a:p>
          <a:p>
            <a:pPr eaLnBrk="1" hangingPunct="1">
              <a:lnSpc>
                <a:spcPct val="80000"/>
              </a:lnSpc>
            </a:pPr>
            <a:r>
              <a:rPr lang="en-US" altLang="en-US" sz="1800"/>
              <a:t>Ten variables for the employee relation are needed, one to range over the domain of each attribute in order. </a:t>
            </a:r>
          </a:p>
          <a:p>
            <a:pPr lvl="1" eaLnBrk="1" hangingPunct="1">
              <a:lnSpc>
                <a:spcPct val="80000"/>
              </a:lnSpc>
            </a:pPr>
            <a:r>
              <a:rPr lang="en-US" altLang="en-US" sz="1800"/>
              <a:t>Of the ten variables q, r, s, . . ., z, only u and v are free. </a:t>
            </a:r>
          </a:p>
          <a:p>
            <a:pPr eaLnBrk="1" hangingPunct="1">
              <a:lnSpc>
                <a:spcPct val="80000"/>
              </a:lnSpc>
            </a:pPr>
            <a:r>
              <a:rPr lang="en-US" altLang="en-US" sz="1800"/>
              <a:t>Specify the </a:t>
            </a:r>
            <a:r>
              <a:rPr lang="en-US" altLang="en-US" sz="1800" i="1"/>
              <a:t>requested attributes</a:t>
            </a:r>
            <a:r>
              <a:rPr lang="en-US" altLang="en-US" sz="1800"/>
              <a:t>, BDATE and ADDRESS, by the free domain variables u for BDATE and v for ADDRESS. </a:t>
            </a:r>
          </a:p>
          <a:p>
            <a:pPr eaLnBrk="1" hangingPunct="1">
              <a:lnSpc>
                <a:spcPct val="80000"/>
              </a:lnSpc>
            </a:pPr>
            <a:r>
              <a:rPr lang="en-US" altLang="en-US" sz="1800"/>
              <a:t>Specify the condition for selecting a tuple following the bar ( | )—</a:t>
            </a:r>
          </a:p>
          <a:p>
            <a:pPr lvl="1" eaLnBrk="1" hangingPunct="1">
              <a:lnSpc>
                <a:spcPct val="80000"/>
              </a:lnSpc>
            </a:pPr>
            <a:r>
              <a:rPr lang="en-US" altLang="en-US" sz="1800"/>
              <a:t>namely, that the sequence of values assigned to the variables qrstuvwxyz be a tuple of the employee relation and that the values for q (FNAME), r (MINIT), and s (LNAME) be ‘John’, ‘B’, and ‘Smith’, respectively. </a:t>
            </a:r>
          </a:p>
        </p:txBody>
      </p:sp>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Number Placeholder 3">
            <a:extLst>
              <a:ext uri="{FF2B5EF4-FFF2-40B4-BE49-F238E27FC236}">
                <a16:creationId xmlns:a16="http://schemas.microsoft.com/office/drawing/2014/main" id="{204E0725-290E-B62D-885C-8B5EFA0DB15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6675D6AF-1117-47F8-B7C0-68C059801F82}" type="slidenum">
              <a:rPr lang="en-US" altLang="en-US" sz="1400">
                <a:solidFill>
                  <a:srgbClr val="990033"/>
                </a:solidFill>
              </a:rPr>
              <a:pPr>
                <a:spcBef>
                  <a:spcPct val="0"/>
                </a:spcBef>
                <a:buClrTx/>
                <a:buSzTx/>
                <a:buFontTx/>
                <a:buNone/>
              </a:pPr>
              <a:t>64</a:t>
            </a:fld>
            <a:endParaRPr lang="en-CA" altLang="en-US" sz="1400">
              <a:solidFill>
                <a:srgbClr val="990033"/>
              </a:solidFill>
            </a:endParaRPr>
          </a:p>
        </p:txBody>
      </p:sp>
      <p:sp>
        <p:nvSpPr>
          <p:cNvPr id="108547" name="Rectangle 2">
            <a:extLst>
              <a:ext uri="{FF2B5EF4-FFF2-40B4-BE49-F238E27FC236}">
                <a16:creationId xmlns:a16="http://schemas.microsoft.com/office/drawing/2014/main" id="{2689FBE1-167D-B51E-2EF5-D88C8642C1E6}"/>
              </a:ext>
            </a:extLst>
          </p:cNvPr>
          <p:cNvSpPr>
            <a:spLocks noGrp="1" noChangeArrowheads="1"/>
          </p:cNvSpPr>
          <p:nvPr>
            <p:ph type="title"/>
          </p:nvPr>
        </p:nvSpPr>
        <p:spPr>
          <a:noFill/>
        </p:spPr>
        <p:txBody>
          <a:bodyPr/>
          <a:lstStyle/>
          <a:p>
            <a:pPr eaLnBrk="1" hangingPunct="1"/>
            <a:r>
              <a:rPr lang="en-US" altLang="en-US" sz="3200"/>
              <a:t>Chapter Summary</a:t>
            </a:r>
          </a:p>
        </p:txBody>
      </p:sp>
      <p:sp>
        <p:nvSpPr>
          <p:cNvPr id="108548" name="Rectangle 3">
            <a:extLst>
              <a:ext uri="{FF2B5EF4-FFF2-40B4-BE49-F238E27FC236}">
                <a16:creationId xmlns:a16="http://schemas.microsoft.com/office/drawing/2014/main" id="{1D65862F-2823-6334-C8A5-9265D64CA5A2}"/>
              </a:ext>
            </a:extLst>
          </p:cNvPr>
          <p:cNvSpPr>
            <a:spLocks noGrp="1" noChangeArrowheads="1"/>
          </p:cNvSpPr>
          <p:nvPr>
            <p:ph type="body" idx="1"/>
          </p:nvPr>
        </p:nvSpPr>
        <p:spPr/>
        <p:txBody>
          <a:bodyPr/>
          <a:lstStyle/>
          <a:p>
            <a:pPr eaLnBrk="1" hangingPunct="1">
              <a:lnSpc>
                <a:spcPct val="90000"/>
              </a:lnSpc>
            </a:pPr>
            <a:r>
              <a:rPr lang="en-US" altLang="en-US" dirty="0"/>
              <a:t>Relational Algebra</a:t>
            </a:r>
          </a:p>
          <a:p>
            <a:pPr lvl="1" eaLnBrk="1" hangingPunct="1">
              <a:lnSpc>
                <a:spcPct val="90000"/>
              </a:lnSpc>
            </a:pPr>
            <a:r>
              <a:rPr lang="en-US" altLang="en-US" dirty="0"/>
              <a:t>Unary Relational Operations </a:t>
            </a:r>
          </a:p>
          <a:p>
            <a:pPr lvl="1" eaLnBrk="1" hangingPunct="1">
              <a:lnSpc>
                <a:spcPct val="90000"/>
              </a:lnSpc>
            </a:pPr>
            <a:r>
              <a:rPr lang="en-US" altLang="en-US" dirty="0"/>
              <a:t>Relational Algebra Operations From Set Theory</a:t>
            </a:r>
          </a:p>
          <a:p>
            <a:pPr lvl="1" eaLnBrk="1" hangingPunct="1">
              <a:lnSpc>
                <a:spcPct val="90000"/>
              </a:lnSpc>
            </a:pPr>
            <a:r>
              <a:rPr lang="en-US" altLang="en-US" dirty="0"/>
              <a:t>Binary Relational Operations</a:t>
            </a:r>
          </a:p>
          <a:p>
            <a:pPr lvl="1" eaLnBrk="1" hangingPunct="1">
              <a:lnSpc>
                <a:spcPct val="90000"/>
              </a:lnSpc>
            </a:pPr>
            <a:r>
              <a:rPr lang="en-US" altLang="en-US" dirty="0"/>
              <a:t>Additional Relational Operations</a:t>
            </a:r>
          </a:p>
          <a:p>
            <a:pPr lvl="1" eaLnBrk="1" hangingPunct="1">
              <a:lnSpc>
                <a:spcPct val="90000"/>
              </a:lnSpc>
            </a:pPr>
            <a:r>
              <a:rPr lang="en-US" altLang="en-US" dirty="0"/>
              <a:t>Examples of Queries in Relational Algebra</a:t>
            </a:r>
          </a:p>
          <a:p>
            <a:pPr eaLnBrk="1" hangingPunct="1">
              <a:lnSpc>
                <a:spcPct val="90000"/>
              </a:lnSpc>
            </a:pPr>
            <a:r>
              <a:rPr lang="en-US" altLang="en-US" dirty="0"/>
              <a:t>Relational Calculus</a:t>
            </a:r>
          </a:p>
          <a:p>
            <a:pPr lvl="1" eaLnBrk="1" hangingPunct="1">
              <a:lnSpc>
                <a:spcPct val="90000"/>
              </a:lnSpc>
            </a:pPr>
            <a:r>
              <a:rPr lang="en-US" altLang="en-US" dirty="0"/>
              <a:t>Tuple Relational Calculus</a:t>
            </a:r>
          </a:p>
          <a:p>
            <a:pPr lvl="1" eaLnBrk="1" hangingPunct="1">
              <a:lnSpc>
                <a:spcPct val="90000"/>
              </a:lnSpc>
            </a:pPr>
            <a:r>
              <a:rPr lang="en-US" altLang="en-US" dirty="0"/>
              <a:t>Domain Relational Calculus</a:t>
            </a:r>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xfrm>
            <a:off x="11092815" y="6428920"/>
            <a:ext cx="2190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2700">
              <a:spcBef>
                <a:spcPts val="40"/>
              </a:spcBef>
            </a:pPr>
            <a:fld id="{81D60167-4931-47E6-BA6A-407CBD079E47}" type="slidenum">
              <a:rPr lang="en-US" spc="-25" smtClean="0"/>
              <a:pPr marL="12700">
                <a:spcBef>
                  <a:spcPts val="40"/>
                </a:spcBef>
              </a:pPr>
              <a:t>65</a:t>
            </a:fld>
            <a:endParaRPr spc="-19" dirty="0"/>
          </a:p>
        </p:txBody>
      </p:sp>
      <p:sp>
        <p:nvSpPr>
          <p:cNvPr id="2" name="object 2"/>
          <p:cNvSpPr txBox="1">
            <a:spLocks noGrp="1"/>
          </p:cNvSpPr>
          <p:nvPr>
            <p:ph type="title"/>
          </p:nvPr>
        </p:nvSpPr>
        <p:spPr>
          <a:xfrm>
            <a:off x="484346" y="304800"/>
            <a:ext cx="8175308" cy="702115"/>
          </a:xfrm>
          <a:prstGeom prst="rect">
            <a:avLst/>
          </a:prstGeom>
        </p:spPr>
        <p:txBody>
          <a:bodyPr vert="horz" wrap="square" lIns="0" tIns="9525" rIns="0" bIns="0" numCol="1" rtlCol="0" anchor="b" anchorCtr="0" compatLnSpc="1">
            <a:prstTxWarp prst="textNoShape">
              <a:avLst/>
            </a:prstTxWarp>
            <a:spAutoFit/>
          </a:bodyPr>
          <a:lstStyle/>
          <a:p>
            <a:pPr marL="9525" algn="ctr">
              <a:spcBef>
                <a:spcPts val="75"/>
              </a:spcBef>
            </a:pPr>
            <a:r>
              <a:rPr lang="en-US" sz="4500" dirty="0"/>
              <a:t>Is it 4:15 yet?</a:t>
            </a:r>
            <a:endParaRPr sz="4500" dirty="0"/>
          </a:p>
        </p:txBody>
      </p:sp>
    </p:spTree>
    <p:extLst>
      <p:ext uri="{BB962C8B-B14F-4D97-AF65-F5344CB8AC3E}">
        <p14:creationId xmlns:p14="http://schemas.microsoft.com/office/powerpoint/2010/main" val="2764479272"/>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466" name="Slide Number Placeholder 3">
            <a:extLst>
              <a:ext uri="{FF2B5EF4-FFF2-40B4-BE49-F238E27FC236}">
                <a16:creationId xmlns:a16="http://schemas.microsoft.com/office/drawing/2014/main" id="{2A53AE38-E576-0E6F-64B6-07DE90A09A9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9764364C-BA17-40D3-846F-303121C877C7}" type="slidenum">
              <a:rPr lang="en-US" altLang="en-US" sz="1400">
                <a:solidFill>
                  <a:srgbClr val="990033"/>
                </a:solidFill>
              </a:rPr>
              <a:pPr>
                <a:spcBef>
                  <a:spcPct val="0"/>
                </a:spcBef>
                <a:buClrTx/>
                <a:buSzTx/>
                <a:buFontTx/>
                <a:buNone/>
              </a:pPr>
              <a:t>66</a:t>
            </a:fld>
            <a:endParaRPr lang="en-CA" altLang="en-US" sz="1400">
              <a:solidFill>
                <a:srgbClr val="990033"/>
              </a:solidFill>
            </a:endParaRPr>
          </a:p>
        </p:txBody>
      </p:sp>
      <p:sp>
        <p:nvSpPr>
          <p:cNvPr id="62467" name="Rectangle 2">
            <a:extLst>
              <a:ext uri="{FF2B5EF4-FFF2-40B4-BE49-F238E27FC236}">
                <a16:creationId xmlns:a16="http://schemas.microsoft.com/office/drawing/2014/main" id="{FE516954-A3B1-AA89-5C77-FB962210BCC1}"/>
              </a:ext>
            </a:extLst>
          </p:cNvPr>
          <p:cNvSpPr>
            <a:spLocks noGrp="1" noChangeArrowheads="1"/>
          </p:cNvSpPr>
          <p:nvPr>
            <p:ph type="title"/>
          </p:nvPr>
        </p:nvSpPr>
        <p:spPr>
          <a:noFill/>
        </p:spPr>
        <p:txBody>
          <a:bodyPr/>
          <a:lstStyle/>
          <a:p>
            <a:pPr eaLnBrk="1" hangingPunct="1"/>
            <a:r>
              <a:rPr lang="en-US" altLang="en-US"/>
              <a:t>Query Tree Notation</a:t>
            </a:r>
          </a:p>
        </p:txBody>
      </p:sp>
      <p:sp>
        <p:nvSpPr>
          <p:cNvPr id="62468" name="Rectangle 3">
            <a:extLst>
              <a:ext uri="{FF2B5EF4-FFF2-40B4-BE49-F238E27FC236}">
                <a16:creationId xmlns:a16="http://schemas.microsoft.com/office/drawing/2014/main" id="{B4292E54-99E3-A0A4-6645-78CC655EFEB0}"/>
              </a:ext>
            </a:extLst>
          </p:cNvPr>
          <p:cNvSpPr>
            <a:spLocks noGrp="1" noChangeArrowheads="1"/>
          </p:cNvSpPr>
          <p:nvPr>
            <p:ph type="body" idx="1"/>
          </p:nvPr>
        </p:nvSpPr>
        <p:spPr/>
        <p:txBody>
          <a:bodyPr/>
          <a:lstStyle/>
          <a:p>
            <a:pPr eaLnBrk="1" hangingPunct="1">
              <a:lnSpc>
                <a:spcPct val="90000"/>
              </a:lnSpc>
            </a:pPr>
            <a:r>
              <a:rPr lang="en-US" altLang="en-US" sz="2400"/>
              <a:t>Query Tree</a:t>
            </a:r>
          </a:p>
          <a:p>
            <a:pPr lvl="1" eaLnBrk="1" hangingPunct="1">
              <a:lnSpc>
                <a:spcPct val="90000"/>
              </a:lnSpc>
            </a:pPr>
            <a:r>
              <a:rPr lang="en-US" altLang="en-US" sz="2200"/>
              <a:t>An internal data structure to represent a query </a:t>
            </a:r>
          </a:p>
          <a:p>
            <a:pPr lvl="1" eaLnBrk="1" hangingPunct="1">
              <a:lnSpc>
                <a:spcPct val="90000"/>
              </a:lnSpc>
            </a:pPr>
            <a:r>
              <a:rPr lang="en-US" altLang="en-US" sz="2200"/>
              <a:t>Standard technique for estimating the work involved in executing the query, the generation of intermediate results, and the optimization of execution </a:t>
            </a:r>
          </a:p>
          <a:p>
            <a:pPr lvl="1" eaLnBrk="1" hangingPunct="1">
              <a:lnSpc>
                <a:spcPct val="90000"/>
              </a:lnSpc>
            </a:pPr>
            <a:r>
              <a:rPr lang="en-US" altLang="en-US" sz="2200"/>
              <a:t>Nodes stand for operations like selection, projection, join, renaming, division, …. </a:t>
            </a:r>
          </a:p>
          <a:p>
            <a:pPr lvl="1" eaLnBrk="1" hangingPunct="1">
              <a:lnSpc>
                <a:spcPct val="90000"/>
              </a:lnSpc>
            </a:pPr>
            <a:r>
              <a:rPr lang="en-US" altLang="en-US" sz="2200"/>
              <a:t>Leaf nodes represent base relations</a:t>
            </a:r>
          </a:p>
          <a:p>
            <a:pPr lvl="1" eaLnBrk="1" hangingPunct="1">
              <a:lnSpc>
                <a:spcPct val="90000"/>
              </a:lnSpc>
            </a:pPr>
            <a:r>
              <a:rPr lang="en-US" altLang="en-US" sz="2200"/>
              <a:t>A tree gives a good visual feel of the complexity of the query and the operations involved</a:t>
            </a:r>
          </a:p>
          <a:p>
            <a:pPr lvl="1" eaLnBrk="1" hangingPunct="1">
              <a:lnSpc>
                <a:spcPct val="90000"/>
              </a:lnSpc>
            </a:pPr>
            <a:r>
              <a:rPr lang="en-US" altLang="en-US" sz="2200"/>
              <a:t>Algebraic Query Optimization consists of rewriting the query or modifying the query tree into an equivalent tree.</a:t>
            </a:r>
          </a:p>
          <a:p>
            <a:pPr lvl="1" eaLnBrk="1" hangingPunct="1">
              <a:lnSpc>
                <a:spcPct val="90000"/>
              </a:lnSpc>
              <a:buFont typeface="Wingdings" panose="05000000000000000000" pitchFamily="2" charset="2"/>
              <a:buNone/>
            </a:pPr>
            <a:r>
              <a:rPr lang="en-US" altLang="en-US" sz="2200" b="1"/>
              <a:t>(see Chapter 15)	</a:t>
            </a:r>
            <a:r>
              <a:rPr lang="en-US" altLang="en-US" sz="2200"/>
              <a:t>		</a:t>
            </a:r>
          </a:p>
        </p:txBody>
      </p:sp>
    </p:spTree>
    <p:extLst>
      <p:ext uri="{BB962C8B-B14F-4D97-AF65-F5344CB8AC3E}">
        <p14:creationId xmlns:p14="http://schemas.microsoft.com/office/powerpoint/2010/main" val="1475839455"/>
      </p:ext>
    </p:ext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490" name="Slide Number Placeholder 3">
            <a:extLst>
              <a:ext uri="{FF2B5EF4-FFF2-40B4-BE49-F238E27FC236}">
                <a16:creationId xmlns:a16="http://schemas.microsoft.com/office/drawing/2014/main" id="{4D81E299-029A-6C66-98D1-36704535125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6A1120EF-9417-4A91-B847-DB902712166F}" type="slidenum">
              <a:rPr lang="en-US" altLang="en-US" sz="1400">
                <a:solidFill>
                  <a:srgbClr val="990033"/>
                </a:solidFill>
              </a:rPr>
              <a:pPr>
                <a:spcBef>
                  <a:spcPct val="0"/>
                </a:spcBef>
                <a:buClrTx/>
                <a:buSzTx/>
                <a:buFontTx/>
                <a:buNone/>
              </a:pPr>
              <a:t>67</a:t>
            </a:fld>
            <a:endParaRPr lang="en-CA" altLang="en-US" sz="1400">
              <a:solidFill>
                <a:srgbClr val="990033"/>
              </a:solidFill>
            </a:endParaRPr>
          </a:p>
        </p:txBody>
      </p:sp>
      <p:sp>
        <p:nvSpPr>
          <p:cNvPr id="63491" name="Text Box 3" descr="Pink tissue paper">
            <a:extLst>
              <a:ext uri="{FF2B5EF4-FFF2-40B4-BE49-F238E27FC236}">
                <a16:creationId xmlns:a16="http://schemas.microsoft.com/office/drawing/2014/main" id="{F96CE593-A87C-FFF3-B921-1CD05F1088F4}"/>
              </a:ext>
            </a:extLst>
          </p:cNvPr>
          <p:cNvSpPr txBox="1">
            <a:spLocks noChangeArrowheads="1"/>
          </p:cNvSpPr>
          <p:nvPr/>
        </p:nvSpPr>
        <p:spPr bwMode="auto">
          <a:xfrm>
            <a:off x="990600" y="457200"/>
            <a:ext cx="7239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spcBef>
                <a:spcPct val="50000"/>
              </a:spcBef>
              <a:buClrTx/>
              <a:buSzTx/>
              <a:buFontTx/>
              <a:buNone/>
            </a:pPr>
            <a:r>
              <a:rPr lang="en-US" altLang="en-US" sz="3600">
                <a:solidFill>
                  <a:srgbClr val="990000"/>
                </a:solidFill>
              </a:rPr>
              <a:t>Example of Query Tree</a:t>
            </a:r>
          </a:p>
        </p:txBody>
      </p:sp>
      <p:pic>
        <p:nvPicPr>
          <p:cNvPr id="63492" name="Picture 1">
            <a:extLst>
              <a:ext uri="{FF2B5EF4-FFF2-40B4-BE49-F238E27FC236}">
                <a16:creationId xmlns:a16="http://schemas.microsoft.com/office/drawing/2014/main" id="{BF7BE065-8F27-AEA1-5B6B-698C37BA1BB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509713"/>
            <a:ext cx="6824663" cy="511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1385041"/>
      </p:ext>
    </p:ext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514" name="Slide Number Placeholder 3">
            <a:extLst>
              <a:ext uri="{FF2B5EF4-FFF2-40B4-BE49-F238E27FC236}">
                <a16:creationId xmlns:a16="http://schemas.microsoft.com/office/drawing/2014/main" id="{A3335E34-96FE-FF5A-2BD9-A004EA64607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841CEDF6-A455-4C6B-9E0C-7116894B463F}" type="slidenum">
              <a:rPr lang="en-US" altLang="en-US" sz="1400">
                <a:solidFill>
                  <a:srgbClr val="990033"/>
                </a:solidFill>
              </a:rPr>
              <a:pPr>
                <a:spcBef>
                  <a:spcPct val="0"/>
                </a:spcBef>
                <a:buClrTx/>
                <a:buSzTx/>
                <a:buFontTx/>
                <a:buNone/>
              </a:pPr>
              <a:t>68</a:t>
            </a:fld>
            <a:endParaRPr lang="en-CA" altLang="en-US" sz="1400">
              <a:solidFill>
                <a:srgbClr val="990033"/>
              </a:solidFill>
            </a:endParaRPr>
          </a:p>
        </p:txBody>
      </p:sp>
      <p:sp>
        <p:nvSpPr>
          <p:cNvPr id="64515" name="Rectangle 4">
            <a:extLst>
              <a:ext uri="{FF2B5EF4-FFF2-40B4-BE49-F238E27FC236}">
                <a16:creationId xmlns:a16="http://schemas.microsoft.com/office/drawing/2014/main" id="{202004A9-7E99-BE45-48C2-937519C8955D}"/>
              </a:ext>
            </a:extLst>
          </p:cNvPr>
          <p:cNvSpPr>
            <a:spLocks noGrp="1" noChangeArrowheads="1"/>
          </p:cNvSpPr>
          <p:nvPr>
            <p:ph type="title"/>
          </p:nvPr>
        </p:nvSpPr>
        <p:spPr>
          <a:noFill/>
        </p:spPr>
        <p:txBody>
          <a:bodyPr/>
          <a:lstStyle/>
          <a:p>
            <a:pPr eaLnBrk="1" hangingPunct="1"/>
            <a:r>
              <a:rPr lang="en-US" altLang="en-US" sz="3200"/>
              <a:t>Additional Relational Operations: Aggregate Functions and Grouping</a:t>
            </a:r>
          </a:p>
        </p:txBody>
      </p:sp>
      <p:sp>
        <p:nvSpPr>
          <p:cNvPr id="64516" name="Rectangle 5">
            <a:extLst>
              <a:ext uri="{FF2B5EF4-FFF2-40B4-BE49-F238E27FC236}">
                <a16:creationId xmlns:a16="http://schemas.microsoft.com/office/drawing/2014/main" id="{E8770F85-326D-D4AF-6331-F5A30E91B2B8}"/>
              </a:ext>
            </a:extLst>
          </p:cNvPr>
          <p:cNvSpPr>
            <a:spLocks noGrp="1" noChangeArrowheads="1"/>
          </p:cNvSpPr>
          <p:nvPr>
            <p:ph type="body" idx="1"/>
          </p:nvPr>
        </p:nvSpPr>
        <p:spPr/>
        <p:txBody>
          <a:bodyPr/>
          <a:lstStyle/>
          <a:p>
            <a:pPr eaLnBrk="1" hangingPunct="1">
              <a:lnSpc>
                <a:spcPct val="80000"/>
              </a:lnSpc>
            </a:pPr>
            <a:r>
              <a:rPr lang="en-US" altLang="en-US" sz="2400"/>
              <a:t>A type of request that cannot be expressed in the basic relational algebra is to specify mathematical </a:t>
            </a:r>
            <a:r>
              <a:rPr lang="en-US" altLang="en-US" sz="2400" b="1"/>
              <a:t>aggregate functions</a:t>
            </a:r>
            <a:r>
              <a:rPr lang="en-US" altLang="en-US" sz="2400"/>
              <a:t> on collections of values from the database. </a:t>
            </a:r>
          </a:p>
          <a:p>
            <a:pPr eaLnBrk="1" hangingPunct="1">
              <a:lnSpc>
                <a:spcPct val="80000"/>
              </a:lnSpc>
            </a:pPr>
            <a:r>
              <a:rPr lang="en-US" altLang="en-US" sz="2400"/>
              <a:t>Examples of such functions include retrieving the average or total salary of all employees or the total number of employee tuples.</a:t>
            </a:r>
          </a:p>
          <a:p>
            <a:pPr lvl="1" eaLnBrk="1" hangingPunct="1">
              <a:lnSpc>
                <a:spcPct val="80000"/>
              </a:lnSpc>
            </a:pPr>
            <a:r>
              <a:rPr lang="en-US" altLang="en-US" sz="2200"/>
              <a:t>These functions are used in simple statistical queries that summarize information from the database tuples.</a:t>
            </a:r>
          </a:p>
          <a:p>
            <a:pPr eaLnBrk="1" hangingPunct="1">
              <a:lnSpc>
                <a:spcPct val="80000"/>
              </a:lnSpc>
            </a:pPr>
            <a:r>
              <a:rPr lang="en-US" altLang="en-US" sz="2400"/>
              <a:t>Common functions applied to collections of numeric values include</a:t>
            </a:r>
          </a:p>
          <a:p>
            <a:pPr lvl="1" eaLnBrk="1" hangingPunct="1">
              <a:lnSpc>
                <a:spcPct val="80000"/>
              </a:lnSpc>
            </a:pPr>
            <a:r>
              <a:rPr lang="en-US" altLang="en-US" sz="2200"/>
              <a:t>SUM, AVERAGE, MAXIMUM, and MINIMUM.</a:t>
            </a:r>
          </a:p>
          <a:p>
            <a:pPr eaLnBrk="1" hangingPunct="1">
              <a:lnSpc>
                <a:spcPct val="80000"/>
              </a:lnSpc>
            </a:pPr>
            <a:r>
              <a:rPr lang="en-US" altLang="en-US" sz="2400"/>
              <a:t>The COUNT function is used for counting tuples or values.</a:t>
            </a:r>
          </a:p>
        </p:txBody>
      </p:sp>
    </p:spTree>
    <p:extLst>
      <p:ext uri="{BB962C8B-B14F-4D97-AF65-F5344CB8AC3E}">
        <p14:creationId xmlns:p14="http://schemas.microsoft.com/office/powerpoint/2010/main" val="2934160658"/>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5538" name="Slide Number Placeholder 3">
            <a:extLst>
              <a:ext uri="{FF2B5EF4-FFF2-40B4-BE49-F238E27FC236}">
                <a16:creationId xmlns:a16="http://schemas.microsoft.com/office/drawing/2014/main" id="{3F34FE08-EF1E-DB3E-978F-A6B6EEFB6CB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38F197D9-1309-4A25-95F4-9C4001E281B0}" type="slidenum">
              <a:rPr lang="en-US" altLang="en-US" sz="1400">
                <a:solidFill>
                  <a:srgbClr val="990033"/>
                </a:solidFill>
              </a:rPr>
              <a:pPr>
                <a:spcBef>
                  <a:spcPct val="0"/>
                </a:spcBef>
                <a:buClrTx/>
                <a:buSzTx/>
                <a:buFontTx/>
                <a:buNone/>
              </a:pPr>
              <a:t>69</a:t>
            </a:fld>
            <a:endParaRPr lang="en-CA" altLang="en-US" sz="1400">
              <a:solidFill>
                <a:srgbClr val="990033"/>
              </a:solidFill>
            </a:endParaRPr>
          </a:p>
        </p:txBody>
      </p:sp>
      <p:sp>
        <p:nvSpPr>
          <p:cNvPr id="65539" name="Rectangle 4">
            <a:extLst>
              <a:ext uri="{FF2B5EF4-FFF2-40B4-BE49-F238E27FC236}">
                <a16:creationId xmlns:a16="http://schemas.microsoft.com/office/drawing/2014/main" id="{5E1F9739-6195-EFB0-8541-B8ED0C5A0F86}"/>
              </a:ext>
            </a:extLst>
          </p:cNvPr>
          <p:cNvSpPr>
            <a:spLocks noGrp="1" noChangeArrowheads="1"/>
          </p:cNvSpPr>
          <p:nvPr>
            <p:ph type="title"/>
          </p:nvPr>
        </p:nvSpPr>
        <p:spPr/>
        <p:txBody>
          <a:bodyPr/>
          <a:lstStyle/>
          <a:p>
            <a:pPr eaLnBrk="1" hangingPunct="1"/>
            <a:r>
              <a:rPr lang="en-US" altLang="en-US"/>
              <a:t>Aggregate Function Operation</a:t>
            </a:r>
          </a:p>
        </p:txBody>
      </p:sp>
      <p:sp>
        <p:nvSpPr>
          <p:cNvPr id="65540" name="Rectangle 5">
            <a:extLst>
              <a:ext uri="{FF2B5EF4-FFF2-40B4-BE49-F238E27FC236}">
                <a16:creationId xmlns:a16="http://schemas.microsoft.com/office/drawing/2014/main" id="{4B6F0213-C7A4-E949-F965-1433AD610198}"/>
              </a:ext>
            </a:extLst>
          </p:cNvPr>
          <p:cNvSpPr>
            <a:spLocks noGrp="1" noChangeArrowheads="1"/>
          </p:cNvSpPr>
          <p:nvPr>
            <p:ph type="body" idx="1"/>
          </p:nvPr>
        </p:nvSpPr>
        <p:spPr/>
        <p:txBody>
          <a:bodyPr/>
          <a:lstStyle/>
          <a:p>
            <a:pPr eaLnBrk="1" hangingPunct="1"/>
            <a:r>
              <a:rPr lang="en-US" altLang="en-US" sz="2400"/>
              <a:t>Use of the Aggregate Functional operation ℱ</a:t>
            </a:r>
          </a:p>
          <a:p>
            <a:pPr lvl="1" eaLnBrk="1" hangingPunct="1"/>
            <a:r>
              <a:rPr lang="en-US" altLang="en-US" sz="2200"/>
              <a:t>ℱ</a:t>
            </a:r>
            <a:r>
              <a:rPr lang="en-US" altLang="en-US" sz="2200" baseline="-25000"/>
              <a:t>MAX Salary</a:t>
            </a:r>
            <a:r>
              <a:rPr lang="en-US" altLang="en-US" sz="2200"/>
              <a:t> (EMPLOYEE) retrieves the maximum salary value from the EMPLOYEE relation</a:t>
            </a:r>
          </a:p>
          <a:p>
            <a:pPr lvl="1" eaLnBrk="1" hangingPunct="1"/>
            <a:r>
              <a:rPr lang="en-US" altLang="en-US" sz="2200"/>
              <a:t>ℱ</a:t>
            </a:r>
            <a:r>
              <a:rPr lang="en-US" altLang="en-US" sz="2200" baseline="-25000"/>
              <a:t>MIN Salary</a:t>
            </a:r>
            <a:r>
              <a:rPr lang="en-US" altLang="en-US" sz="2200"/>
              <a:t> (EMPLOYEE) retrieves the minimum Salary value from the EMPLOYEE relation</a:t>
            </a:r>
          </a:p>
          <a:p>
            <a:pPr lvl="1" eaLnBrk="1" hangingPunct="1"/>
            <a:r>
              <a:rPr lang="en-US" altLang="en-US" sz="2200"/>
              <a:t>ℱ</a:t>
            </a:r>
            <a:r>
              <a:rPr lang="en-US" altLang="en-US" sz="2200" baseline="-25000"/>
              <a:t>SUM Salary</a:t>
            </a:r>
            <a:r>
              <a:rPr lang="en-US" altLang="en-US" sz="2200"/>
              <a:t> (EMPLOYEE) retrieves the sum of the Salary from the EMPLOYEE relation</a:t>
            </a:r>
          </a:p>
          <a:p>
            <a:pPr lvl="1" eaLnBrk="1" hangingPunct="1"/>
            <a:r>
              <a:rPr lang="en-US" altLang="en-US" sz="2200"/>
              <a:t> ℱ</a:t>
            </a:r>
            <a:r>
              <a:rPr lang="en-US" altLang="en-US" sz="2200" baseline="-25000"/>
              <a:t>COUNT SSN, AVERAGE Salary</a:t>
            </a:r>
            <a:r>
              <a:rPr lang="en-US" altLang="en-US" sz="2200"/>
              <a:t> (EMPLOYEE) computes the count (number) of employees and their average salary</a:t>
            </a:r>
          </a:p>
          <a:p>
            <a:pPr lvl="2" eaLnBrk="1" hangingPunct="1"/>
            <a:r>
              <a:rPr lang="en-US" altLang="en-US" sz="2000"/>
              <a:t>Note: count just counts the number of rows, without removing duplicates</a:t>
            </a:r>
          </a:p>
        </p:txBody>
      </p:sp>
    </p:spTree>
    <p:extLst>
      <p:ext uri="{BB962C8B-B14F-4D97-AF65-F5344CB8AC3E}">
        <p14:creationId xmlns:p14="http://schemas.microsoft.com/office/powerpoint/2010/main" val="4074136680"/>
      </p:ext>
    </p:ext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562" name="Slide Number Placeholder 3">
            <a:extLst>
              <a:ext uri="{FF2B5EF4-FFF2-40B4-BE49-F238E27FC236}">
                <a16:creationId xmlns:a16="http://schemas.microsoft.com/office/drawing/2014/main" id="{2A414221-2105-8C40-0FEF-76BABF73BCD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55B9E2E9-BD29-442F-8019-DCF3B835AB77}" type="slidenum">
              <a:rPr lang="en-US" altLang="en-US" sz="1400">
                <a:solidFill>
                  <a:srgbClr val="990033"/>
                </a:solidFill>
              </a:rPr>
              <a:pPr>
                <a:spcBef>
                  <a:spcPct val="0"/>
                </a:spcBef>
                <a:buClrTx/>
                <a:buSzTx/>
                <a:buFontTx/>
                <a:buNone/>
              </a:pPr>
              <a:t>70</a:t>
            </a:fld>
            <a:endParaRPr lang="en-CA" altLang="en-US" sz="1400">
              <a:solidFill>
                <a:srgbClr val="990033"/>
              </a:solidFill>
            </a:endParaRPr>
          </a:p>
        </p:txBody>
      </p:sp>
      <p:sp>
        <p:nvSpPr>
          <p:cNvPr id="66563" name="Rectangle 2">
            <a:extLst>
              <a:ext uri="{FF2B5EF4-FFF2-40B4-BE49-F238E27FC236}">
                <a16:creationId xmlns:a16="http://schemas.microsoft.com/office/drawing/2014/main" id="{488D2731-9E0A-4D21-44A1-EA3434396D29}"/>
              </a:ext>
            </a:extLst>
          </p:cNvPr>
          <p:cNvSpPr>
            <a:spLocks noGrp="1" noChangeArrowheads="1"/>
          </p:cNvSpPr>
          <p:nvPr>
            <p:ph type="title"/>
          </p:nvPr>
        </p:nvSpPr>
        <p:spPr/>
        <p:txBody>
          <a:bodyPr/>
          <a:lstStyle/>
          <a:p>
            <a:pPr eaLnBrk="1" hangingPunct="1"/>
            <a:r>
              <a:rPr lang="en-US" altLang="en-US"/>
              <a:t>Using Grouping with Aggregation</a:t>
            </a:r>
          </a:p>
        </p:txBody>
      </p:sp>
      <p:sp>
        <p:nvSpPr>
          <p:cNvPr id="66564" name="Rectangle 3">
            <a:extLst>
              <a:ext uri="{FF2B5EF4-FFF2-40B4-BE49-F238E27FC236}">
                <a16:creationId xmlns:a16="http://schemas.microsoft.com/office/drawing/2014/main" id="{9C2ECCD3-F245-98D8-B0E7-6E0E3BB7B3E6}"/>
              </a:ext>
            </a:extLst>
          </p:cNvPr>
          <p:cNvSpPr>
            <a:spLocks noGrp="1" noChangeArrowheads="1"/>
          </p:cNvSpPr>
          <p:nvPr>
            <p:ph type="body" idx="1"/>
          </p:nvPr>
        </p:nvSpPr>
        <p:spPr/>
        <p:txBody>
          <a:bodyPr/>
          <a:lstStyle/>
          <a:p>
            <a:pPr eaLnBrk="1" hangingPunct="1">
              <a:lnSpc>
                <a:spcPct val="80000"/>
              </a:lnSpc>
            </a:pPr>
            <a:r>
              <a:rPr lang="en-US" altLang="en-US" sz="2400"/>
              <a:t>The previous examples all summarized one or more attributes for a set of tuples</a:t>
            </a:r>
          </a:p>
          <a:p>
            <a:pPr lvl="1" eaLnBrk="1" hangingPunct="1">
              <a:lnSpc>
                <a:spcPct val="80000"/>
              </a:lnSpc>
            </a:pPr>
            <a:r>
              <a:rPr lang="en-US" altLang="en-US" sz="2200"/>
              <a:t>Maximum Salary or Count (number of) Ssn</a:t>
            </a:r>
          </a:p>
          <a:p>
            <a:pPr eaLnBrk="1" hangingPunct="1">
              <a:lnSpc>
                <a:spcPct val="80000"/>
              </a:lnSpc>
            </a:pPr>
            <a:r>
              <a:rPr lang="en-US" altLang="en-US" sz="2400"/>
              <a:t>Grouping can be combined with Aggregate Functions</a:t>
            </a:r>
          </a:p>
          <a:p>
            <a:pPr eaLnBrk="1" hangingPunct="1">
              <a:lnSpc>
                <a:spcPct val="80000"/>
              </a:lnSpc>
            </a:pPr>
            <a:r>
              <a:rPr lang="en-US" altLang="en-US" sz="2400"/>
              <a:t>Example: For each department, retrieve the DNO, COUNT SSN, and AVERAGE SALARY</a:t>
            </a:r>
          </a:p>
          <a:p>
            <a:pPr eaLnBrk="1" hangingPunct="1">
              <a:lnSpc>
                <a:spcPct val="80000"/>
              </a:lnSpc>
            </a:pPr>
            <a:r>
              <a:rPr lang="en-US" altLang="en-US" sz="2400"/>
              <a:t>A variation of aggregate operation ℱ allows this:</a:t>
            </a:r>
          </a:p>
          <a:p>
            <a:pPr lvl="1" eaLnBrk="1" hangingPunct="1">
              <a:lnSpc>
                <a:spcPct val="80000"/>
              </a:lnSpc>
            </a:pPr>
            <a:r>
              <a:rPr lang="en-US" altLang="en-US" sz="2200"/>
              <a:t>Grouping attribute placed to left of symbol</a:t>
            </a:r>
          </a:p>
          <a:p>
            <a:pPr lvl="1" eaLnBrk="1" hangingPunct="1">
              <a:lnSpc>
                <a:spcPct val="80000"/>
              </a:lnSpc>
            </a:pPr>
            <a:r>
              <a:rPr lang="en-US" altLang="en-US" sz="2200"/>
              <a:t>Aggregate functions to right of symbol</a:t>
            </a:r>
          </a:p>
          <a:p>
            <a:pPr lvl="1" eaLnBrk="1" hangingPunct="1">
              <a:lnSpc>
                <a:spcPct val="80000"/>
              </a:lnSpc>
            </a:pPr>
            <a:r>
              <a:rPr lang="en-US" altLang="en-US" sz="2200" baseline="-25000"/>
              <a:t>DNO</a:t>
            </a:r>
            <a:r>
              <a:rPr lang="en-US" altLang="en-US" sz="2200"/>
              <a:t> ℱ</a:t>
            </a:r>
            <a:r>
              <a:rPr lang="en-US" altLang="en-US" sz="2200" baseline="-25000"/>
              <a:t>COUNT SSN, AVERAGE Salary</a:t>
            </a:r>
            <a:r>
              <a:rPr lang="en-US" altLang="en-US" sz="2200"/>
              <a:t> (EMPLOYEE)</a:t>
            </a:r>
          </a:p>
          <a:p>
            <a:pPr eaLnBrk="1" hangingPunct="1">
              <a:lnSpc>
                <a:spcPct val="80000"/>
              </a:lnSpc>
            </a:pPr>
            <a:r>
              <a:rPr lang="en-US" altLang="en-US" sz="2400"/>
              <a:t>Above operation groups employees by DNO (department number) and computes the count of employees and average salary per department</a:t>
            </a:r>
          </a:p>
        </p:txBody>
      </p:sp>
    </p:spTree>
    <p:extLst>
      <p:ext uri="{BB962C8B-B14F-4D97-AF65-F5344CB8AC3E}">
        <p14:creationId xmlns:p14="http://schemas.microsoft.com/office/powerpoint/2010/main" val="1735071513"/>
      </p:ext>
    </p:ext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0602EFAF-21BC-10EC-E57D-84D29319D96A}"/>
              </a:ext>
            </a:extLst>
          </p:cNvPr>
          <p:cNvSpPr>
            <a:spLocks noGrp="1"/>
          </p:cNvSpPr>
          <p:nvPr>
            <p:ph type="title"/>
          </p:nvPr>
        </p:nvSpPr>
        <p:spPr>
          <a:xfrm>
            <a:off x="381000" y="-268288"/>
            <a:ext cx="8382000" cy="1563688"/>
          </a:xfrm>
        </p:spPr>
        <p:txBody>
          <a:bodyPr/>
          <a:lstStyle/>
          <a:p>
            <a:r>
              <a:rPr lang="en-US" altLang="en-US" sz="2800" b="1">
                <a:latin typeface="Verdana" panose="020B0604030504040204" pitchFamily="34" charset="0"/>
              </a:rPr>
              <a:t>Figure 8.10   </a:t>
            </a:r>
            <a:r>
              <a:rPr lang="en-US" altLang="en-US" sz="2800">
                <a:latin typeface="Verdana" panose="020B0604030504040204" pitchFamily="34" charset="0"/>
              </a:rPr>
              <a:t>The aggregate function operation. </a:t>
            </a:r>
          </a:p>
        </p:txBody>
      </p:sp>
      <p:pic>
        <p:nvPicPr>
          <p:cNvPr id="67587" name="Picture 2" descr="fig08_10.jpg">
            <a:extLst>
              <a:ext uri="{FF2B5EF4-FFF2-40B4-BE49-F238E27FC236}">
                <a16:creationId xmlns:a16="http://schemas.microsoft.com/office/drawing/2014/main" id="{908AD654-FDC0-FA09-321E-D6215E41833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5263" y="3429000"/>
            <a:ext cx="8686800" cy="243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8" name="TextBox 1">
            <a:extLst>
              <a:ext uri="{FF2B5EF4-FFF2-40B4-BE49-F238E27FC236}">
                <a16:creationId xmlns:a16="http://schemas.microsoft.com/office/drawing/2014/main" id="{4F0B5FAB-C393-FB50-9736-E14BF41674F7}"/>
              </a:ext>
            </a:extLst>
          </p:cNvPr>
          <p:cNvSpPr txBox="1">
            <a:spLocks noChangeArrowheads="1"/>
          </p:cNvSpPr>
          <p:nvPr/>
        </p:nvSpPr>
        <p:spPr bwMode="auto">
          <a:xfrm>
            <a:off x="690563" y="1858963"/>
            <a:ext cx="76962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AutoNum type="alphaLcPeriod"/>
            </a:pPr>
            <a:r>
              <a:rPr lang="en-US" altLang="en-US" sz="2400">
                <a:solidFill>
                  <a:schemeClr val="tx1"/>
                </a:solidFill>
                <a:latin typeface="Times" panose="02020603050405020304" pitchFamily="18" charset="0"/>
              </a:rPr>
              <a:t>ρ</a:t>
            </a:r>
            <a:r>
              <a:rPr lang="en-US" altLang="en-US" sz="2400" i="1" baseline="-25000">
                <a:solidFill>
                  <a:schemeClr val="tx1"/>
                </a:solidFill>
                <a:latin typeface="Verdana" panose="020B0604030504040204" pitchFamily="34" charset="0"/>
              </a:rPr>
              <a:t>R</a:t>
            </a:r>
            <a:r>
              <a:rPr lang="en-US" altLang="en-US" sz="2400" baseline="-25000">
                <a:solidFill>
                  <a:schemeClr val="tx1"/>
                </a:solidFill>
                <a:latin typeface="Verdana" panose="020B0604030504040204" pitchFamily="34" charset="0"/>
              </a:rPr>
              <a:t>(Dno, No_of_employees, Average_sal)</a:t>
            </a:r>
            <a:r>
              <a:rPr lang="en-US" altLang="en-US" sz="2400">
                <a:solidFill>
                  <a:schemeClr val="tx1"/>
                </a:solidFill>
                <a:latin typeface="Verdana" panose="020B0604030504040204" pitchFamily="34" charset="0"/>
              </a:rPr>
              <a:t>(</a:t>
            </a:r>
            <a:r>
              <a:rPr lang="en-US" altLang="en-US" sz="2400" baseline="-25000">
                <a:solidFill>
                  <a:schemeClr val="tx1"/>
                </a:solidFill>
                <a:latin typeface="Verdana" panose="020B0604030504040204" pitchFamily="34" charset="0"/>
              </a:rPr>
              <a:t>Dno</a:t>
            </a:r>
            <a:r>
              <a:rPr lang="en-US" altLang="en-US" sz="2400">
                <a:solidFill>
                  <a:schemeClr val="tx1"/>
                </a:solidFill>
                <a:latin typeface="Verdana" panose="020B0604030504040204" pitchFamily="34" charset="0"/>
              </a:rPr>
              <a:t> </a:t>
            </a:r>
            <a:r>
              <a:rPr lang="en-US" altLang="en-US" sz="2400">
                <a:solidFill>
                  <a:schemeClr val="tx1"/>
                </a:solidFill>
                <a:latin typeface="Times" panose="02020603050405020304" pitchFamily="18" charset="0"/>
              </a:rPr>
              <a:t>ℑ</a:t>
            </a:r>
            <a:r>
              <a:rPr lang="en-US" altLang="en-US" sz="2400">
                <a:solidFill>
                  <a:schemeClr val="tx1"/>
                </a:solidFill>
                <a:latin typeface="Verdana" panose="020B0604030504040204" pitchFamily="34" charset="0"/>
              </a:rPr>
              <a:t> </a:t>
            </a:r>
            <a:r>
              <a:rPr lang="en-US" altLang="en-US" sz="2400" baseline="-25000">
                <a:solidFill>
                  <a:schemeClr val="tx1"/>
                </a:solidFill>
                <a:latin typeface="Verdana" panose="020B0604030504040204" pitchFamily="34" charset="0"/>
              </a:rPr>
              <a:t>COUNT Ssn, AVERAGE Salary</a:t>
            </a:r>
            <a:r>
              <a:rPr lang="en-US" altLang="en-US" sz="2400">
                <a:solidFill>
                  <a:schemeClr val="tx1"/>
                </a:solidFill>
                <a:latin typeface="Verdana" panose="020B0604030504040204" pitchFamily="34" charset="0"/>
              </a:rPr>
              <a:t> (EMPLOYEE)). </a:t>
            </a:r>
          </a:p>
          <a:p>
            <a:pPr>
              <a:spcBef>
                <a:spcPct val="0"/>
              </a:spcBef>
              <a:buClrTx/>
              <a:buSzTx/>
              <a:buFontTx/>
              <a:buNone/>
            </a:pPr>
            <a:r>
              <a:rPr lang="en-US" altLang="en-US" sz="2400">
                <a:solidFill>
                  <a:schemeClr val="tx1"/>
                </a:solidFill>
                <a:latin typeface="Verdana" panose="020B0604030504040204" pitchFamily="34" charset="0"/>
              </a:rPr>
              <a:t>b.  </a:t>
            </a:r>
            <a:r>
              <a:rPr lang="en-US" altLang="en-US" sz="2400" baseline="-25000">
                <a:solidFill>
                  <a:schemeClr val="tx1"/>
                </a:solidFill>
                <a:latin typeface="Verdana" panose="020B0604030504040204" pitchFamily="34" charset="0"/>
              </a:rPr>
              <a:t>Dno</a:t>
            </a:r>
            <a:r>
              <a:rPr lang="en-US" altLang="en-US" sz="2400">
                <a:solidFill>
                  <a:schemeClr val="tx1"/>
                </a:solidFill>
                <a:latin typeface="Verdana" panose="020B0604030504040204" pitchFamily="34" charset="0"/>
              </a:rPr>
              <a:t> </a:t>
            </a:r>
            <a:r>
              <a:rPr lang="en-US" altLang="en-US" sz="2400">
                <a:solidFill>
                  <a:schemeClr val="tx1"/>
                </a:solidFill>
                <a:latin typeface="Times" panose="02020603050405020304" pitchFamily="18" charset="0"/>
              </a:rPr>
              <a:t>ℑ</a:t>
            </a:r>
            <a:r>
              <a:rPr lang="en-US" altLang="en-US" sz="2400">
                <a:solidFill>
                  <a:schemeClr val="tx1"/>
                </a:solidFill>
                <a:latin typeface="Verdana" panose="020B0604030504040204" pitchFamily="34" charset="0"/>
              </a:rPr>
              <a:t> </a:t>
            </a:r>
            <a:r>
              <a:rPr lang="en-US" altLang="en-US" sz="2400" baseline="-25000">
                <a:solidFill>
                  <a:schemeClr val="tx1"/>
                </a:solidFill>
                <a:latin typeface="Verdana" panose="020B0604030504040204" pitchFamily="34" charset="0"/>
              </a:rPr>
              <a:t>alary</a:t>
            </a:r>
            <a:r>
              <a:rPr lang="en-US" altLang="en-US" sz="2400">
                <a:solidFill>
                  <a:schemeClr val="tx1"/>
                </a:solidFill>
                <a:latin typeface="Verdana" panose="020B0604030504040204" pitchFamily="34" charset="0"/>
              </a:rPr>
              <a:t>(EMPLOYEE). </a:t>
            </a:r>
          </a:p>
          <a:p>
            <a:pPr>
              <a:spcBef>
                <a:spcPct val="0"/>
              </a:spcBef>
              <a:buClrTx/>
              <a:buSzTx/>
              <a:buFontTx/>
              <a:buNone/>
            </a:pPr>
            <a:r>
              <a:rPr lang="en-US" altLang="en-US" sz="2400">
                <a:solidFill>
                  <a:schemeClr val="tx1"/>
                </a:solidFill>
                <a:latin typeface="Verdana" panose="020B0604030504040204" pitchFamily="34" charset="0"/>
              </a:rPr>
              <a:t>c. </a:t>
            </a:r>
            <a:r>
              <a:rPr lang="en-US" altLang="en-US" sz="2400">
                <a:solidFill>
                  <a:schemeClr val="tx1"/>
                </a:solidFill>
                <a:latin typeface="Times" panose="02020603050405020304" pitchFamily="18" charset="0"/>
              </a:rPr>
              <a:t>ℑ</a:t>
            </a:r>
            <a:r>
              <a:rPr lang="en-US" altLang="en-US" sz="2400">
                <a:solidFill>
                  <a:schemeClr val="tx1"/>
                </a:solidFill>
                <a:latin typeface="Verdana" panose="020B0604030504040204" pitchFamily="34" charset="0"/>
              </a:rPr>
              <a:t> </a:t>
            </a:r>
            <a:r>
              <a:rPr lang="en-US" altLang="en-US" sz="2400" baseline="-25000">
                <a:solidFill>
                  <a:schemeClr val="tx1"/>
                </a:solidFill>
                <a:latin typeface="Verdana" panose="020B0604030504040204" pitchFamily="34" charset="0"/>
              </a:rPr>
              <a:t>COUNT Ssn, AVERAGE Salary</a:t>
            </a:r>
            <a:r>
              <a:rPr lang="en-US" altLang="en-US" sz="2400">
                <a:solidFill>
                  <a:schemeClr val="tx1"/>
                </a:solidFill>
                <a:latin typeface="Verdana" panose="020B0604030504040204" pitchFamily="34" charset="0"/>
              </a:rPr>
              <a:t>(EMPLOYEE).</a:t>
            </a:r>
            <a:endParaRPr lang="en-US" altLang="en-US" sz="2400">
              <a:solidFill>
                <a:schemeClr val="tx1"/>
              </a:solidFill>
            </a:endParaRPr>
          </a:p>
        </p:txBody>
      </p:sp>
      <p:sp>
        <p:nvSpPr>
          <p:cNvPr id="67589" name="Slide Number Placeholder 3">
            <a:extLst>
              <a:ext uri="{FF2B5EF4-FFF2-40B4-BE49-F238E27FC236}">
                <a16:creationId xmlns:a16="http://schemas.microsoft.com/office/drawing/2014/main" id="{668F339F-5BFB-3440-3629-6E06A79430D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3BBC1AE1-91CE-468F-8069-4CF01358B6FB}" type="slidenum">
              <a:rPr lang="en-US" altLang="en-US" sz="1400">
                <a:solidFill>
                  <a:srgbClr val="990033"/>
                </a:solidFill>
              </a:rPr>
              <a:pPr>
                <a:spcBef>
                  <a:spcPct val="0"/>
                </a:spcBef>
                <a:buClrTx/>
                <a:buSzTx/>
                <a:buFontTx/>
                <a:buNone/>
              </a:pPr>
              <a:t>71</a:t>
            </a:fld>
            <a:endParaRPr lang="en-CA" altLang="en-US" sz="1400">
              <a:solidFill>
                <a:srgbClr val="990033"/>
              </a:solidFill>
            </a:endParaRPr>
          </a:p>
        </p:txBody>
      </p:sp>
    </p:spTree>
    <p:extLst>
      <p:ext uri="{BB962C8B-B14F-4D97-AF65-F5344CB8AC3E}">
        <p14:creationId xmlns:p14="http://schemas.microsoft.com/office/powerpoint/2010/main" val="4013425400"/>
      </p:ext>
    </p:extLst>
  </p:cSld>
  <p:clrMapOvr>
    <a:masterClrMapping/>
  </p:clrMapOvr>
  <p:transition spd="med" advTm="0"/>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A3D58363-6CCE-C6A3-B19E-06B2C73ADB63}"/>
              </a:ext>
            </a:extLst>
          </p:cNvPr>
          <p:cNvSpPr>
            <a:spLocks noGrp="1"/>
          </p:cNvSpPr>
          <p:nvPr>
            <p:ph type="title"/>
          </p:nvPr>
        </p:nvSpPr>
        <p:spPr/>
        <p:txBody>
          <a:bodyPr/>
          <a:lstStyle/>
          <a:p>
            <a:r>
              <a:rPr lang="en-US" altLang="en-US" sz="3200" b="1">
                <a:latin typeface="Verdana" panose="020B0604030504040204" pitchFamily="34" charset="0"/>
              </a:rPr>
              <a:t>Figure 7.1a   </a:t>
            </a:r>
            <a:r>
              <a:rPr lang="en-US" altLang="en-US" sz="3200">
                <a:latin typeface="Verdana" panose="020B0604030504040204" pitchFamily="34" charset="0"/>
              </a:rPr>
              <a:t>Results of GROUP BY and HAVING (in SQL). Q24</a:t>
            </a:r>
            <a:r>
              <a:rPr lang="en-US" altLang="en-US">
                <a:latin typeface="Verdana" panose="020B0604030504040204" pitchFamily="34" charset="0"/>
              </a:rPr>
              <a:t>.</a:t>
            </a:r>
            <a:endParaRPr lang="en-US" altLang="en-US" i="1">
              <a:latin typeface="Verdana" panose="020B0604030504040204" pitchFamily="34" charset="0"/>
            </a:endParaRPr>
          </a:p>
        </p:txBody>
      </p:sp>
      <p:pic>
        <p:nvPicPr>
          <p:cNvPr id="68611" name="Picture 3" descr="fig07_01a.jpg">
            <a:extLst>
              <a:ext uri="{FF2B5EF4-FFF2-40B4-BE49-F238E27FC236}">
                <a16:creationId xmlns:a16="http://schemas.microsoft.com/office/drawing/2014/main" id="{0FF2F189-4A40-6E60-FF26-3E1195DFF1D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247900"/>
            <a:ext cx="82296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2" name="TextBox 4">
            <a:extLst>
              <a:ext uri="{FF2B5EF4-FFF2-40B4-BE49-F238E27FC236}">
                <a16:creationId xmlns:a16="http://schemas.microsoft.com/office/drawing/2014/main" id="{1BD4B524-6664-FD1A-19B1-1405B72F3C38}"/>
              </a:ext>
            </a:extLst>
          </p:cNvPr>
          <p:cNvSpPr txBox="1">
            <a:spLocks noChangeArrowheads="1"/>
          </p:cNvSpPr>
          <p:nvPr/>
        </p:nvSpPr>
        <p:spPr bwMode="auto">
          <a:xfrm>
            <a:off x="5668963" y="6124575"/>
            <a:ext cx="34750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lgn="r">
              <a:spcBef>
                <a:spcPct val="0"/>
              </a:spcBef>
              <a:buClrTx/>
              <a:buSzTx/>
              <a:buFontTx/>
              <a:buNone/>
            </a:pPr>
            <a:r>
              <a:rPr lang="en-US" altLang="en-US" sz="1200" i="1">
                <a:solidFill>
                  <a:schemeClr val="tx1"/>
                </a:solidFill>
                <a:latin typeface="Verdana" panose="020B0604030504040204" pitchFamily="34" charset="0"/>
              </a:rPr>
              <a:t>continued on next slide</a:t>
            </a:r>
          </a:p>
        </p:txBody>
      </p:sp>
      <p:sp>
        <p:nvSpPr>
          <p:cNvPr id="68613" name="Slide Number Placeholder 3">
            <a:extLst>
              <a:ext uri="{FF2B5EF4-FFF2-40B4-BE49-F238E27FC236}">
                <a16:creationId xmlns:a16="http://schemas.microsoft.com/office/drawing/2014/main" id="{F8B5D0A9-63C6-104E-8624-53D2FF0D159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67965A3C-0895-4108-A9AD-DC8DFADB28EC}" type="slidenum">
              <a:rPr lang="en-US" altLang="en-US" sz="1400">
                <a:solidFill>
                  <a:srgbClr val="990033"/>
                </a:solidFill>
              </a:rPr>
              <a:pPr>
                <a:spcBef>
                  <a:spcPct val="0"/>
                </a:spcBef>
                <a:buClrTx/>
                <a:buSzTx/>
                <a:buFontTx/>
                <a:buNone/>
              </a:pPr>
              <a:t>72</a:t>
            </a:fld>
            <a:endParaRPr lang="en-CA" altLang="en-US" sz="1400">
              <a:solidFill>
                <a:srgbClr val="990033"/>
              </a:solidFill>
            </a:endParaRPr>
          </a:p>
        </p:txBody>
      </p:sp>
    </p:spTree>
    <p:extLst>
      <p:ext uri="{BB962C8B-B14F-4D97-AF65-F5344CB8AC3E}">
        <p14:creationId xmlns:p14="http://schemas.microsoft.com/office/powerpoint/2010/main" val="1820871873"/>
      </p:ext>
    </p:extLst>
  </p:cSld>
  <p:clrMapOvr>
    <a:masterClrMapping/>
  </p:clrMapOvr>
  <p:transition spd="med" advTm="0"/>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9634" name="Slide Number Placeholder 3">
            <a:extLst>
              <a:ext uri="{FF2B5EF4-FFF2-40B4-BE49-F238E27FC236}">
                <a16:creationId xmlns:a16="http://schemas.microsoft.com/office/drawing/2014/main" id="{4EA6513A-9526-A418-7501-A8534542C6F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410F8890-789E-484C-A1C8-029546ABF2D0}" type="slidenum">
              <a:rPr lang="en-US" altLang="en-US" sz="1400">
                <a:solidFill>
                  <a:srgbClr val="990033"/>
                </a:solidFill>
              </a:rPr>
              <a:pPr>
                <a:spcBef>
                  <a:spcPct val="0"/>
                </a:spcBef>
                <a:buClrTx/>
                <a:buSzTx/>
                <a:buFontTx/>
                <a:buNone/>
              </a:pPr>
              <a:t>73</a:t>
            </a:fld>
            <a:endParaRPr lang="en-CA" altLang="en-US" sz="1400">
              <a:solidFill>
                <a:srgbClr val="990033"/>
              </a:solidFill>
            </a:endParaRPr>
          </a:p>
        </p:txBody>
      </p:sp>
      <p:sp>
        <p:nvSpPr>
          <p:cNvPr id="69635" name="Rectangle 2">
            <a:extLst>
              <a:ext uri="{FF2B5EF4-FFF2-40B4-BE49-F238E27FC236}">
                <a16:creationId xmlns:a16="http://schemas.microsoft.com/office/drawing/2014/main" id="{46735BF0-E946-6FD1-F666-335E1BFB6294}"/>
              </a:ext>
            </a:extLst>
          </p:cNvPr>
          <p:cNvSpPr>
            <a:spLocks noGrp="1" noChangeArrowheads="1"/>
          </p:cNvSpPr>
          <p:nvPr>
            <p:ph type="title"/>
          </p:nvPr>
        </p:nvSpPr>
        <p:spPr/>
        <p:txBody>
          <a:bodyPr/>
          <a:lstStyle/>
          <a:p>
            <a:pPr eaLnBrk="1" hangingPunct="1"/>
            <a:r>
              <a:rPr lang="en-US" altLang="en-US" sz="3200"/>
              <a:t>Additional Relational Operations (continued)</a:t>
            </a:r>
          </a:p>
        </p:txBody>
      </p:sp>
      <p:sp>
        <p:nvSpPr>
          <p:cNvPr id="69636" name="Rectangle 3">
            <a:extLst>
              <a:ext uri="{FF2B5EF4-FFF2-40B4-BE49-F238E27FC236}">
                <a16:creationId xmlns:a16="http://schemas.microsoft.com/office/drawing/2014/main" id="{613A24E7-6DDF-2210-C7B8-D1FF7E874F3E}"/>
              </a:ext>
            </a:extLst>
          </p:cNvPr>
          <p:cNvSpPr>
            <a:spLocks noGrp="1" noChangeArrowheads="1"/>
          </p:cNvSpPr>
          <p:nvPr>
            <p:ph type="body" idx="1"/>
          </p:nvPr>
        </p:nvSpPr>
        <p:spPr>
          <a:xfrm>
            <a:off x="239713" y="1600200"/>
            <a:ext cx="8294687" cy="4876800"/>
          </a:xfrm>
        </p:spPr>
        <p:txBody>
          <a:bodyPr/>
          <a:lstStyle/>
          <a:p>
            <a:pPr eaLnBrk="1" hangingPunct="1">
              <a:lnSpc>
                <a:spcPct val="80000"/>
              </a:lnSpc>
            </a:pPr>
            <a:r>
              <a:rPr lang="en-US" altLang="en-US"/>
              <a:t>Recursive Closure Operations</a:t>
            </a:r>
          </a:p>
          <a:p>
            <a:pPr lvl="1" eaLnBrk="1" hangingPunct="1">
              <a:lnSpc>
                <a:spcPct val="80000"/>
              </a:lnSpc>
            </a:pPr>
            <a:r>
              <a:rPr lang="en-US" altLang="en-US" sz="2800"/>
              <a:t>Another type of operation that, in general, cannot be specified in the basic original relational algebra is </a:t>
            </a:r>
            <a:r>
              <a:rPr lang="en-US" altLang="en-US" sz="2800" b="1"/>
              <a:t>recursive closure</a:t>
            </a:r>
            <a:r>
              <a:rPr lang="en-US" altLang="en-US" sz="2800"/>
              <a:t>.</a:t>
            </a:r>
          </a:p>
          <a:p>
            <a:pPr lvl="2" eaLnBrk="1" hangingPunct="1">
              <a:lnSpc>
                <a:spcPct val="80000"/>
              </a:lnSpc>
            </a:pPr>
            <a:r>
              <a:rPr lang="en-US" altLang="en-US"/>
              <a:t>This operation is applied to a </a:t>
            </a:r>
            <a:r>
              <a:rPr lang="en-US" altLang="en-US" b="1"/>
              <a:t>recursive relationship</a:t>
            </a:r>
            <a:r>
              <a:rPr lang="en-US" altLang="en-US"/>
              <a:t>.</a:t>
            </a:r>
          </a:p>
          <a:p>
            <a:pPr lvl="1" eaLnBrk="1" hangingPunct="1">
              <a:lnSpc>
                <a:spcPct val="80000"/>
              </a:lnSpc>
            </a:pPr>
            <a:r>
              <a:rPr lang="en-US" altLang="en-US" sz="2800"/>
              <a:t>An example of a recursive operation is to retrieve all SUPERVISEES of an EMPLOYEE </a:t>
            </a:r>
            <a:r>
              <a:rPr lang="en-US" altLang="en-US" sz="2800" b="1"/>
              <a:t>e</a:t>
            </a:r>
            <a:r>
              <a:rPr lang="en-US" altLang="en-US" sz="2800"/>
              <a:t> at all levels — that is, all EMPLOYEE </a:t>
            </a:r>
            <a:r>
              <a:rPr lang="en-US" altLang="en-US" sz="2800" b="1"/>
              <a:t>e’</a:t>
            </a:r>
            <a:r>
              <a:rPr lang="en-US" altLang="ja-JP" sz="2800"/>
              <a:t> directly supervised by </a:t>
            </a:r>
            <a:r>
              <a:rPr lang="en-US" altLang="ja-JP" sz="2800" b="1"/>
              <a:t>e</a:t>
            </a:r>
            <a:r>
              <a:rPr lang="en-US" altLang="ja-JP" sz="2800"/>
              <a:t>; all employees </a:t>
            </a:r>
            <a:r>
              <a:rPr lang="en-US" altLang="ja-JP" sz="2800" b="1"/>
              <a:t>e</a:t>
            </a:r>
            <a:r>
              <a:rPr lang="en-US" altLang="en-US" sz="2800" b="1"/>
              <a:t>’’</a:t>
            </a:r>
            <a:r>
              <a:rPr lang="en-US" altLang="ja-JP" sz="2800"/>
              <a:t> directly supervised by each employee </a:t>
            </a:r>
            <a:r>
              <a:rPr lang="en-US" altLang="ja-JP" sz="2800" b="1"/>
              <a:t>e</a:t>
            </a:r>
            <a:r>
              <a:rPr lang="en-US" altLang="en-US" sz="2800" b="1"/>
              <a:t>’</a:t>
            </a:r>
            <a:r>
              <a:rPr lang="en-US" altLang="ja-JP" sz="2800"/>
              <a:t>; all employees </a:t>
            </a:r>
            <a:r>
              <a:rPr lang="en-US" altLang="ja-JP" sz="2800" b="1"/>
              <a:t>e</a:t>
            </a:r>
            <a:r>
              <a:rPr lang="en-US" altLang="en-US" sz="2800" b="1"/>
              <a:t>’’’</a:t>
            </a:r>
            <a:r>
              <a:rPr lang="en-US" altLang="ja-JP" sz="2800"/>
              <a:t> directly supervised by each employee </a:t>
            </a:r>
            <a:r>
              <a:rPr lang="en-US" altLang="ja-JP" sz="2800" b="1"/>
              <a:t>e</a:t>
            </a:r>
            <a:r>
              <a:rPr lang="en-US" altLang="en-US" sz="2800" b="1"/>
              <a:t>’’</a:t>
            </a:r>
            <a:r>
              <a:rPr lang="en-US" altLang="ja-JP" sz="2800"/>
              <a:t>; and so on.</a:t>
            </a:r>
            <a:endParaRPr lang="en-US" altLang="en-US" sz="2800"/>
          </a:p>
        </p:txBody>
      </p:sp>
    </p:spTree>
    <p:extLst>
      <p:ext uri="{BB962C8B-B14F-4D97-AF65-F5344CB8AC3E}">
        <p14:creationId xmlns:p14="http://schemas.microsoft.com/office/powerpoint/2010/main" val="947052820"/>
      </p:ext>
    </p:ext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8" name="Slide Number Placeholder 3">
            <a:extLst>
              <a:ext uri="{FF2B5EF4-FFF2-40B4-BE49-F238E27FC236}">
                <a16:creationId xmlns:a16="http://schemas.microsoft.com/office/drawing/2014/main" id="{D50956F4-1660-381F-499C-6B2C210759A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F7A0E28F-D9A9-4C2D-A698-B2F6BA76D32D}" type="slidenum">
              <a:rPr lang="en-US" altLang="en-US" sz="1400">
                <a:solidFill>
                  <a:srgbClr val="990033"/>
                </a:solidFill>
              </a:rPr>
              <a:pPr>
                <a:spcBef>
                  <a:spcPct val="0"/>
                </a:spcBef>
                <a:buClrTx/>
                <a:buSzTx/>
                <a:buFontTx/>
                <a:buNone/>
              </a:pPr>
              <a:t>74</a:t>
            </a:fld>
            <a:endParaRPr lang="en-CA" altLang="en-US" sz="1400">
              <a:solidFill>
                <a:srgbClr val="990033"/>
              </a:solidFill>
            </a:endParaRPr>
          </a:p>
        </p:txBody>
      </p:sp>
      <p:sp>
        <p:nvSpPr>
          <p:cNvPr id="70659" name="Rectangle 2">
            <a:extLst>
              <a:ext uri="{FF2B5EF4-FFF2-40B4-BE49-F238E27FC236}">
                <a16:creationId xmlns:a16="http://schemas.microsoft.com/office/drawing/2014/main" id="{7A2DDAEA-EE40-40AC-AA07-34C2A1FC8843}"/>
              </a:ext>
            </a:extLst>
          </p:cNvPr>
          <p:cNvSpPr>
            <a:spLocks noGrp="1" noChangeArrowheads="1"/>
          </p:cNvSpPr>
          <p:nvPr>
            <p:ph type="title"/>
          </p:nvPr>
        </p:nvSpPr>
        <p:spPr/>
        <p:txBody>
          <a:bodyPr/>
          <a:lstStyle/>
          <a:p>
            <a:pPr eaLnBrk="1" hangingPunct="1"/>
            <a:r>
              <a:rPr lang="en-US" altLang="en-US" sz="3200"/>
              <a:t>Additional Relational Operations (continued)</a:t>
            </a:r>
          </a:p>
        </p:txBody>
      </p:sp>
      <p:sp>
        <p:nvSpPr>
          <p:cNvPr id="70660" name="Rectangle 3">
            <a:extLst>
              <a:ext uri="{FF2B5EF4-FFF2-40B4-BE49-F238E27FC236}">
                <a16:creationId xmlns:a16="http://schemas.microsoft.com/office/drawing/2014/main" id="{93A50A95-7376-4416-F006-53AB7232F769}"/>
              </a:ext>
            </a:extLst>
          </p:cNvPr>
          <p:cNvSpPr>
            <a:spLocks noGrp="1" noChangeArrowheads="1"/>
          </p:cNvSpPr>
          <p:nvPr>
            <p:ph type="body" idx="1"/>
          </p:nvPr>
        </p:nvSpPr>
        <p:spPr/>
        <p:txBody>
          <a:bodyPr/>
          <a:lstStyle/>
          <a:p>
            <a:pPr eaLnBrk="1" hangingPunct="1"/>
            <a:r>
              <a:rPr lang="en-US" altLang="en-US"/>
              <a:t>Although it is possible to retrieve employees at each level and then take their union, we cannot, in general, specify a query such as “retrieve the supervisees of ‘James Borg’ at all levels” without utilizing a looping mechanism.</a:t>
            </a:r>
          </a:p>
          <a:p>
            <a:pPr lvl="1" eaLnBrk="1" hangingPunct="1"/>
            <a:r>
              <a:rPr lang="en-US" altLang="en-US"/>
              <a:t>The SQL3 standard includes syntax for recursive closure.</a:t>
            </a:r>
          </a:p>
        </p:txBody>
      </p:sp>
    </p:spTree>
    <p:extLst>
      <p:ext uri="{BB962C8B-B14F-4D97-AF65-F5344CB8AC3E}">
        <p14:creationId xmlns:p14="http://schemas.microsoft.com/office/powerpoint/2010/main" val="985809957"/>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70AA0637-82FA-0D2A-D681-8CE3E20CE302}"/>
              </a:ext>
            </a:extLst>
          </p:cNvPr>
          <p:cNvSpPr>
            <a:spLocks noGrp="1"/>
          </p:cNvSpPr>
          <p:nvPr>
            <p:ph type="title"/>
          </p:nvPr>
        </p:nvSpPr>
        <p:spPr/>
        <p:txBody>
          <a:bodyPr/>
          <a:lstStyle/>
          <a:p>
            <a:r>
              <a:rPr lang="en-US" altLang="en-US" sz="3200" b="1">
                <a:latin typeface="Verdana" panose="020B0604030504040204" pitchFamily="34" charset="0"/>
              </a:rPr>
              <a:t>Figure 8.11</a:t>
            </a:r>
            <a:r>
              <a:rPr lang="en-US" altLang="en-US" sz="3200">
                <a:latin typeface="Verdana" panose="020B0604030504040204" pitchFamily="34" charset="0"/>
              </a:rPr>
              <a:t>   A two-level recursive query.</a:t>
            </a:r>
          </a:p>
        </p:txBody>
      </p:sp>
      <p:pic>
        <p:nvPicPr>
          <p:cNvPr id="71683" name="Picture 2" descr="fig08_11.jpg">
            <a:extLst>
              <a:ext uri="{FF2B5EF4-FFF2-40B4-BE49-F238E27FC236}">
                <a16:creationId xmlns:a16="http://schemas.microsoft.com/office/drawing/2014/main" id="{EC240445-9ED5-BC8B-98A6-E2DD75CCFCC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600200"/>
            <a:ext cx="4810125"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4" name="Slide Number Placeholder 3">
            <a:extLst>
              <a:ext uri="{FF2B5EF4-FFF2-40B4-BE49-F238E27FC236}">
                <a16:creationId xmlns:a16="http://schemas.microsoft.com/office/drawing/2014/main" id="{2C48E2DE-9CA9-CC52-B406-8A3B30099B3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EFFAA6D5-EF61-445B-9BBC-3BA353E92C0E}" type="slidenum">
              <a:rPr lang="en-US" altLang="en-US" sz="1400">
                <a:solidFill>
                  <a:srgbClr val="990033"/>
                </a:solidFill>
              </a:rPr>
              <a:pPr>
                <a:spcBef>
                  <a:spcPct val="0"/>
                </a:spcBef>
                <a:buClrTx/>
                <a:buSzTx/>
                <a:buFontTx/>
                <a:buNone/>
              </a:pPr>
              <a:t>75</a:t>
            </a:fld>
            <a:endParaRPr lang="en-CA" altLang="en-US" sz="1400">
              <a:solidFill>
                <a:srgbClr val="990033"/>
              </a:solidFill>
            </a:endParaRPr>
          </a:p>
        </p:txBody>
      </p:sp>
    </p:spTree>
    <p:extLst>
      <p:ext uri="{BB962C8B-B14F-4D97-AF65-F5344CB8AC3E}">
        <p14:creationId xmlns:p14="http://schemas.microsoft.com/office/powerpoint/2010/main" val="695547120"/>
      </p:ext>
    </p:extLst>
  </p:cSld>
  <p:clrMapOvr>
    <a:masterClrMapping/>
  </p:clrMapOvr>
  <p:transition spd="med" advTm="0"/>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706" name="Slide Number Placeholder 3">
            <a:extLst>
              <a:ext uri="{FF2B5EF4-FFF2-40B4-BE49-F238E27FC236}">
                <a16:creationId xmlns:a16="http://schemas.microsoft.com/office/drawing/2014/main" id="{A4BF1475-D10D-6621-BA2F-8B8C2F7A65F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E9020223-56EC-4150-AF0D-4FB17A2E61CE}" type="slidenum">
              <a:rPr lang="en-US" altLang="en-US" sz="1400">
                <a:solidFill>
                  <a:srgbClr val="990033"/>
                </a:solidFill>
              </a:rPr>
              <a:pPr>
                <a:spcBef>
                  <a:spcPct val="0"/>
                </a:spcBef>
                <a:buClrTx/>
                <a:buSzTx/>
                <a:buFontTx/>
                <a:buNone/>
              </a:pPr>
              <a:t>76</a:t>
            </a:fld>
            <a:endParaRPr lang="en-CA" altLang="en-US" sz="1400">
              <a:solidFill>
                <a:srgbClr val="990033"/>
              </a:solidFill>
            </a:endParaRPr>
          </a:p>
        </p:txBody>
      </p:sp>
      <p:sp>
        <p:nvSpPr>
          <p:cNvPr id="72707" name="Rectangle 29">
            <a:extLst>
              <a:ext uri="{FF2B5EF4-FFF2-40B4-BE49-F238E27FC236}">
                <a16:creationId xmlns:a16="http://schemas.microsoft.com/office/drawing/2014/main" id="{5A649A92-66AD-79AF-B38D-51B130DA4F22}"/>
              </a:ext>
            </a:extLst>
          </p:cNvPr>
          <p:cNvSpPr>
            <a:spLocks noGrp="1" noChangeArrowheads="1"/>
          </p:cNvSpPr>
          <p:nvPr>
            <p:ph type="title"/>
          </p:nvPr>
        </p:nvSpPr>
        <p:spPr/>
        <p:txBody>
          <a:bodyPr/>
          <a:lstStyle/>
          <a:p>
            <a:pPr eaLnBrk="1" hangingPunct="1"/>
            <a:r>
              <a:rPr lang="en-US" altLang="en-US" sz="3200"/>
              <a:t>Additional Relational Operations (continued)</a:t>
            </a:r>
          </a:p>
        </p:txBody>
      </p:sp>
      <p:sp>
        <p:nvSpPr>
          <p:cNvPr id="72708" name="Rectangle 30">
            <a:extLst>
              <a:ext uri="{FF2B5EF4-FFF2-40B4-BE49-F238E27FC236}">
                <a16:creationId xmlns:a16="http://schemas.microsoft.com/office/drawing/2014/main" id="{EEA106A7-CE3B-480F-7299-7E0ACE5D4F14}"/>
              </a:ext>
            </a:extLst>
          </p:cNvPr>
          <p:cNvSpPr>
            <a:spLocks noGrp="1" noChangeArrowheads="1"/>
          </p:cNvSpPr>
          <p:nvPr>
            <p:ph type="body" idx="1"/>
          </p:nvPr>
        </p:nvSpPr>
        <p:spPr/>
        <p:txBody>
          <a:bodyPr/>
          <a:lstStyle/>
          <a:p>
            <a:pPr eaLnBrk="1" hangingPunct="1"/>
            <a:r>
              <a:rPr lang="en-US" altLang="en-US" sz="2400"/>
              <a:t>The OUTER JOIN Operation</a:t>
            </a:r>
          </a:p>
          <a:p>
            <a:pPr lvl="1" eaLnBrk="1" hangingPunct="1"/>
            <a:r>
              <a:rPr lang="en-US" altLang="en-US" sz="2200"/>
              <a:t>In NATURAL JOIN and EQUIJOIN, tuples without a </a:t>
            </a:r>
            <a:r>
              <a:rPr lang="en-US" altLang="en-US" sz="2200" i="1"/>
              <a:t>matching</a:t>
            </a:r>
            <a:r>
              <a:rPr lang="en-US" altLang="en-US" sz="2200"/>
              <a:t> (or </a:t>
            </a:r>
            <a:r>
              <a:rPr lang="en-US" altLang="en-US" sz="2200" i="1"/>
              <a:t>related</a:t>
            </a:r>
            <a:r>
              <a:rPr lang="en-US" altLang="en-US" sz="2200"/>
              <a:t>) tuple are eliminated from the join result</a:t>
            </a:r>
          </a:p>
          <a:p>
            <a:pPr lvl="2" eaLnBrk="1" hangingPunct="1"/>
            <a:r>
              <a:rPr lang="en-US" altLang="en-US" sz="2000"/>
              <a:t>Tuples with null in the join attributes are also eliminated</a:t>
            </a:r>
          </a:p>
          <a:p>
            <a:pPr lvl="2" eaLnBrk="1" hangingPunct="1"/>
            <a:r>
              <a:rPr lang="en-US" altLang="en-US" sz="2000"/>
              <a:t>This amounts to loss of information.</a:t>
            </a:r>
          </a:p>
          <a:p>
            <a:pPr lvl="1" eaLnBrk="1" hangingPunct="1"/>
            <a:r>
              <a:rPr lang="en-US" altLang="en-US" sz="2200"/>
              <a:t>A set of operations, called OUTER joins, can be used when we want to keep all the tuples in R, or all those in S, or all those in both relations in the result of the join, regardless of whether or not they have matching tuples in the other relation.</a:t>
            </a:r>
          </a:p>
        </p:txBody>
      </p:sp>
    </p:spTree>
    <p:extLst>
      <p:ext uri="{BB962C8B-B14F-4D97-AF65-F5344CB8AC3E}">
        <p14:creationId xmlns:p14="http://schemas.microsoft.com/office/powerpoint/2010/main" val="2074239649"/>
      </p:ext>
    </p:ext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3730" name="Slide Number Placeholder 3">
            <a:extLst>
              <a:ext uri="{FF2B5EF4-FFF2-40B4-BE49-F238E27FC236}">
                <a16:creationId xmlns:a16="http://schemas.microsoft.com/office/drawing/2014/main" id="{4E695304-13BD-919F-6BAF-78D1C288570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95598664-8A28-471B-A52D-69321FA425BB}" type="slidenum">
              <a:rPr lang="en-US" altLang="en-US" sz="1400">
                <a:solidFill>
                  <a:srgbClr val="990033"/>
                </a:solidFill>
              </a:rPr>
              <a:pPr>
                <a:spcBef>
                  <a:spcPct val="0"/>
                </a:spcBef>
                <a:buClrTx/>
                <a:buSzTx/>
                <a:buFontTx/>
                <a:buNone/>
              </a:pPr>
              <a:t>77</a:t>
            </a:fld>
            <a:endParaRPr lang="en-CA" altLang="en-US" sz="1400">
              <a:solidFill>
                <a:srgbClr val="990033"/>
              </a:solidFill>
            </a:endParaRPr>
          </a:p>
        </p:txBody>
      </p:sp>
      <p:sp>
        <p:nvSpPr>
          <p:cNvPr id="73731" name="Rectangle 29">
            <a:extLst>
              <a:ext uri="{FF2B5EF4-FFF2-40B4-BE49-F238E27FC236}">
                <a16:creationId xmlns:a16="http://schemas.microsoft.com/office/drawing/2014/main" id="{742FFDFF-C7A0-D100-5838-7ECABEFAC61A}"/>
              </a:ext>
            </a:extLst>
          </p:cNvPr>
          <p:cNvSpPr>
            <a:spLocks noGrp="1" noChangeArrowheads="1"/>
          </p:cNvSpPr>
          <p:nvPr>
            <p:ph type="title"/>
          </p:nvPr>
        </p:nvSpPr>
        <p:spPr/>
        <p:txBody>
          <a:bodyPr/>
          <a:lstStyle/>
          <a:p>
            <a:pPr eaLnBrk="1" hangingPunct="1"/>
            <a:r>
              <a:rPr lang="en-US" altLang="en-US" sz="3200"/>
              <a:t>Additional Relational Operations (continued)</a:t>
            </a:r>
          </a:p>
        </p:txBody>
      </p:sp>
      <p:sp>
        <p:nvSpPr>
          <p:cNvPr id="73732" name="Rectangle 30">
            <a:extLst>
              <a:ext uri="{FF2B5EF4-FFF2-40B4-BE49-F238E27FC236}">
                <a16:creationId xmlns:a16="http://schemas.microsoft.com/office/drawing/2014/main" id="{9199E45C-88A0-3DB3-BBA5-1634F192DA95}"/>
              </a:ext>
            </a:extLst>
          </p:cNvPr>
          <p:cNvSpPr>
            <a:spLocks noGrp="1" noChangeArrowheads="1"/>
          </p:cNvSpPr>
          <p:nvPr>
            <p:ph type="body" idx="1"/>
          </p:nvPr>
        </p:nvSpPr>
        <p:spPr/>
        <p:txBody>
          <a:bodyPr/>
          <a:lstStyle/>
          <a:p>
            <a:pPr eaLnBrk="1" hangingPunct="1">
              <a:lnSpc>
                <a:spcPct val="90000"/>
              </a:lnSpc>
            </a:pPr>
            <a:r>
              <a:rPr lang="en-US" altLang="en-US"/>
              <a:t>The left outer join operation keeps </a:t>
            </a:r>
            <a:r>
              <a:rPr lang="en-US" altLang="en-US" u="sng"/>
              <a:t>every tuple</a:t>
            </a:r>
            <a:r>
              <a:rPr lang="en-US" altLang="en-US"/>
              <a:t> in the first or left relation R in R      S; if no matching tuple is found in S, then the attributes of S in the join result are filled or “padded” with null values.</a:t>
            </a:r>
          </a:p>
          <a:p>
            <a:pPr eaLnBrk="1" hangingPunct="1">
              <a:lnSpc>
                <a:spcPct val="90000"/>
              </a:lnSpc>
            </a:pPr>
            <a:r>
              <a:rPr lang="en-US" altLang="en-US"/>
              <a:t>A similar operation, right outer join, keeps every tuple in the second or right relation S in the result of R       S.</a:t>
            </a:r>
          </a:p>
          <a:p>
            <a:pPr eaLnBrk="1" hangingPunct="1">
              <a:lnSpc>
                <a:spcPct val="90000"/>
              </a:lnSpc>
            </a:pPr>
            <a:r>
              <a:rPr lang="en-US" altLang="en-US"/>
              <a:t>A third operation, full outer join, denoted by               keeps all tuples </a:t>
            </a:r>
            <a:r>
              <a:rPr lang="en-US" altLang="en-US" u="sng"/>
              <a:t>in both the left and the right relations</a:t>
            </a:r>
            <a:r>
              <a:rPr lang="en-US" altLang="en-US"/>
              <a:t> when no matching tuples are found, padding them with null values as needed. </a:t>
            </a:r>
          </a:p>
        </p:txBody>
      </p:sp>
      <p:grpSp>
        <p:nvGrpSpPr>
          <p:cNvPr id="73733" name="Group 4">
            <a:extLst>
              <a:ext uri="{FF2B5EF4-FFF2-40B4-BE49-F238E27FC236}">
                <a16:creationId xmlns:a16="http://schemas.microsoft.com/office/drawing/2014/main" id="{AC428797-644B-DA84-C2A3-B394E32D1CCB}"/>
              </a:ext>
            </a:extLst>
          </p:cNvPr>
          <p:cNvGrpSpPr>
            <a:grpSpLocks/>
          </p:cNvGrpSpPr>
          <p:nvPr/>
        </p:nvGrpSpPr>
        <p:grpSpPr bwMode="auto">
          <a:xfrm>
            <a:off x="5321300" y="2095500"/>
            <a:ext cx="393700" cy="266700"/>
            <a:chOff x="2672" y="1534"/>
            <a:chExt cx="1670" cy="666"/>
          </a:xfrm>
        </p:grpSpPr>
        <p:grpSp>
          <p:nvGrpSpPr>
            <p:cNvPr id="73751" name="Group 5">
              <a:extLst>
                <a:ext uri="{FF2B5EF4-FFF2-40B4-BE49-F238E27FC236}">
                  <a16:creationId xmlns:a16="http://schemas.microsoft.com/office/drawing/2014/main" id="{F1026A03-D86A-E521-2F6E-5EC9826F6E78}"/>
                </a:ext>
              </a:extLst>
            </p:cNvPr>
            <p:cNvGrpSpPr>
              <a:grpSpLocks/>
            </p:cNvGrpSpPr>
            <p:nvPr/>
          </p:nvGrpSpPr>
          <p:grpSpPr bwMode="auto">
            <a:xfrm>
              <a:off x="3112" y="1534"/>
              <a:ext cx="1230" cy="666"/>
              <a:chOff x="377" y="2904"/>
              <a:chExt cx="154" cy="110"/>
            </a:xfrm>
          </p:grpSpPr>
          <p:sp>
            <p:nvSpPr>
              <p:cNvPr id="73754" name="Line 6">
                <a:extLst>
                  <a:ext uri="{FF2B5EF4-FFF2-40B4-BE49-F238E27FC236}">
                    <a16:creationId xmlns:a16="http://schemas.microsoft.com/office/drawing/2014/main" id="{B7075218-DABE-DCE0-DBF1-EACA223D0535}"/>
                  </a:ext>
                </a:extLst>
              </p:cNvPr>
              <p:cNvSpPr>
                <a:spLocks noChangeShapeType="1"/>
              </p:cNvSpPr>
              <p:nvPr/>
            </p:nvSpPr>
            <p:spPr bwMode="auto">
              <a:xfrm>
                <a:off x="381" y="2904"/>
                <a:ext cx="0"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755" name="Line 7">
                <a:extLst>
                  <a:ext uri="{FF2B5EF4-FFF2-40B4-BE49-F238E27FC236}">
                    <a16:creationId xmlns:a16="http://schemas.microsoft.com/office/drawing/2014/main" id="{BD55BCB8-08F5-E888-40D7-36D0EA81244C}"/>
                  </a:ext>
                </a:extLst>
              </p:cNvPr>
              <p:cNvSpPr>
                <a:spLocks noChangeShapeType="1"/>
              </p:cNvSpPr>
              <p:nvPr/>
            </p:nvSpPr>
            <p:spPr bwMode="auto">
              <a:xfrm>
                <a:off x="527" y="2904"/>
                <a:ext cx="0"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756" name="Line 8">
                <a:extLst>
                  <a:ext uri="{FF2B5EF4-FFF2-40B4-BE49-F238E27FC236}">
                    <a16:creationId xmlns:a16="http://schemas.microsoft.com/office/drawing/2014/main" id="{4BA3E53E-1F9E-947D-2D75-A0CB0C2E3B56}"/>
                  </a:ext>
                </a:extLst>
              </p:cNvPr>
              <p:cNvSpPr>
                <a:spLocks noChangeShapeType="1"/>
              </p:cNvSpPr>
              <p:nvPr/>
            </p:nvSpPr>
            <p:spPr bwMode="auto">
              <a:xfrm>
                <a:off x="385" y="2904"/>
                <a:ext cx="138"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757" name="Line 9">
                <a:extLst>
                  <a:ext uri="{FF2B5EF4-FFF2-40B4-BE49-F238E27FC236}">
                    <a16:creationId xmlns:a16="http://schemas.microsoft.com/office/drawing/2014/main" id="{3859A51D-9D56-53FE-9BD6-57C0F7EFBB9B}"/>
                  </a:ext>
                </a:extLst>
              </p:cNvPr>
              <p:cNvSpPr>
                <a:spLocks noChangeShapeType="1"/>
              </p:cNvSpPr>
              <p:nvPr/>
            </p:nvSpPr>
            <p:spPr bwMode="auto">
              <a:xfrm flipH="1">
                <a:off x="377" y="2904"/>
                <a:ext cx="154"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73752" name="Line 10">
              <a:extLst>
                <a:ext uri="{FF2B5EF4-FFF2-40B4-BE49-F238E27FC236}">
                  <a16:creationId xmlns:a16="http://schemas.microsoft.com/office/drawing/2014/main" id="{EC86E33C-3F41-0539-AA9F-EBBCB8FCDE0B}"/>
                </a:ext>
              </a:extLst>
            </p:cNvPr>
            <p:cNvSpPr>
              <a:spLocks noChangeShapeType="1"/>
            </p:cNvSpPr>
            <p:nvPr/>
          </p:nvSpPr>
          <p:spPr bwMode="auto">
            <a:xfrm flipH="1">
              <a:off x="2672" y="2200"/>
              <a:ext cx="440" cy="0"/>
            </a:xfrm>
            <a:prstGeom prst="line">
              <a:avLst/>
            </a:prstGeom>
            <a:noFill/>
            <a:ln w="6350">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73753" name="Line 11">
              <a:extLst>
                <a:ext uri="{FF2B5EF4-FFF2-40B4-BE49-F238E27FC236}">
                  <a16:creationId xmlns:a16="http://schemas.microsoft.com/office/drawing/2014/main" id="{94ACFC08-1625-B56F-6F8D-631F231C5076}"/>
                </a:ext>
              </a:extLst>
            </p:cNvPr>
            <p:cNvSpPr>
              <a:spLocks noChangeShapeType="1"/>
            </p:cNvSpPr>
            <p:nvPr/>
          </p:nvSpPr>
          <p:spPr bwMode="auto">
            <a:xfrm flipH="1">
              <a:off x="2672" y="1534"/>
              <a:ext cx="440" cy="0"/>
            </a:xfrm>
            <a:prstGeom prst="line">
              <a:avLst/>
            </a:prstGeom>
            <a:noFill/>
            <a:ln w="6350">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73734" name="Group 12">
            <a:extLst>
              <a:ext uri="{FF2B5EF4-FFF2-40B4-BE49-F238E27FC236}">
                <a16:creationId xmlns:a16="http://schemas.microsoft.com/office/drawing/2014/main" id="{559081D2-B63D-4A09-DD43-EBF6717FA25D}"/>
              </a:ext>
            </a:extLst>
          </p:cNvPr>
          <p:cNvGrpSpPr>
            <a:grpSpLocks/>
          </p:cNvGrpSpPr>
          <p:nvPr/>
        </p:nvGrpSpPr>
        <p:grpSpPr bwMode="auto">
          <a:xfrm>
            <a:off x="1447800" y="4114800"/>
            <a:ext cx="493713" cy="266700"/>
            <a:chOff x="2537" y="3040"/>
            <a:chExt cx="311" cy="168"/>
          </a:xfrm>
        </p:grpSpPr>
        <p:grpSp>
          <p:nvGrpSpPr>
            <p:cNvPr id="73744" name="Group 13">
              <a:extLst>
                <a:ext uri="{FF2B5EF4-FFF2-40B4-BE49-F238E27FC236}">
                  <a16:creationId xmlns:a16="http://schemas.microsoft.com/office/drawing/2014/main" id="{4EF96744-3257-FA70-EC48-F435F9436377}"/>
                </a:ext>
              </a:extLst>
            </p:cNvPr>
            <p:cNvGrpSpPr>
              <a:grpSpLocks/>
            </p:cNvGrpSpPr>
            <p:nvPr/>
          </p:nvGrpSpPr>
          <p:grpSpPr bwMode="auto">
            <a:xfrm>
              <a:off x="2537" y="3040"/>
              <a:ext cx="183" cy="168"/>
              <a:chOff x="377" y="2904"/>
              <a:chExt cx="154" cy="110"/>
            </a:xfrm>
          </p:grpSpPr>
          <p:sp>
            <p:nvSpPr>
              <p:cNvPr id="73747" name="Line 14">
                <a:extLst>
                  <a:ext uri="{FF2B5EF4-FFF2-40B4-BE49-F238E27FC236}">
                    <a16:creationId xmlns:a16="http://schemas.microsoft.com/office/drawing/2014/main" id="{C66DB5F1-4B6E-C702-2816-BA201F8C0CFF}"/>
                  </a:ext>
                </a:extLst>
              </p:cNvPr>
              <p:cNvSpPr>
                <a:spLocks noChangeShapeType="1"/>
              </p:cNvSpPr>
              <p:nvPr/>
            </p:nvSpPr>
            <p:spPr bwMode="auto">
              <a:xfrm>
                <a:off x="381" y="2904"/>
                <a:ext cx="0"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748" name="Line 15">
                <a:extLst>
                  <a:ext uri="{FF2B5EF4-FFF2-40B4-BE49-F238E27FC236}">
                    <a16:creationId xmlns:a16="http://schemas.microsoft.com/office/drawing/2014/main" id="{8DE0CA6C-4DE3-FBF2-3471-3FFF91BBF2BD}"/>
                  </a:ext>
                </a:extLst>
              </p:cNvPr>
              <p:cNvSpPr>
                <a:spLocks noChangeShapeType="1"/>
              </p:cNvSpPr>
              <p:nvPr/>
            </p:nvSpPr>
            <p:spPr bwMode="auto">
              <a:xfrm>
                <a:off x="527" y="2904"/>
                <a:ext cx="0"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749" name="Line 16">
                <a:extLst>
                  <a:ext uri="{FF2B5EF4-FFF2-40B4-BE49-F238E27FC236}">
                    <a16:creationId xmlns:a16="http://schemas.microsoft.com/office/drawing/2014/main" id="{C3C00776-1111-3084-239D-6F0BADF51694}"/>
                  </a:ext>
                </a:extLst>
              </p:cNvPr>
              <p:cNvSpPr>
                <a:spLocks noChangeShapeType="1"/>
              </p:cNvSpPr>
              <p:nvPr/>
            </p:nvSpPr>
            <p:spPr bwMode="auto">
              <a:xfrm>
                <a:off x="385" y="2904"/>
                <a:ext cx="138"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750" name="Line 17">
                <a:extLst>
                  <a:ext uri="{FF2B5EF4-FFF2-40B4-BE49-F238E27FC236}">
                    <a16:creationId xmlns:a16="http://schemas.microsoft.com/office/drawing/2014/main" id="{61AF1C93-C8A1-D6F1-00FC-5B61BDD40A5C}"/>
                  </a:ext>
                </a:extLst>
              </p:cNvPr>
              <p:cNvSpPr>
                <a:spLocks noChangeShapeType="1"/>
              </p:cNvSpPr>
              <p:nvPr/>
            </p:nvSpPr>
            <p:spPr bwMode="auto">
              <a:xfrm flipH="1">
                <a:off x="377" y="2904"/>
                <a:ext cx="154"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73745" name="Line 18">
              <a:extLst>
                <a:ext uri="{FF2B5EF4-FFF2-40B4-BE49-F238E27FC236}">
                  <a16:creationId xmlns:a16="http://schemas.microsoft.com/office/drawing/2014/main" id="{2E241DE5-E6C8-1DA5-0F6C-3B4799205ADA}"/>
                </a:ext>
              </a:extLst>
            </p:cNvPr>
            <p:cNvSpPr>
              <a:spLocks noChangeShapeType="1"/>
            </p:cNvSpPr>
            <p:nvPr/>
          </p:nvSpPr>
          <p:spPr bwMode="auto">
            <a:xfrm>
              <a:off x="2720" y="3040"/>
              <a:ext cx="128" cy="0"/>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73746" name="Line 19">
              <a:extLst>
                <a:ext uri="{FF2B5EF4-FFF2-40B4-BE49-F238E27FC236}">
                  <a16:creationId xmlns:a16="http://schemas.microsoft.com/office/drawing/2014/main" id="{10845A8A-E6D7-B22B-728C-E42803CA8D6A}"/>
                </a:ext>
              </a:extLst>
            </p:cNvPr>
            <p:cNvSpPr>
              <a:spLocks noChangeShapeType="1"/>
            </p:cNvSpPr>
            <p:nvPr/>
          </p:nvSpPr>
          <p:spPr bwMode="auto">
            <a:xfrm>
              <a:off x="2720" y="3208"/>
              <a:ext cx="128" cy="0"/>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73735" name="Group 20">
            <a:extLst>
              <a:ext uri="{FF2B5EF4-FFF2-40B4-BE49-F238E27FC236}">
                <a16:creationId xmlns:a16="http://schemas.microsoft.com/office/drawing/2014/main" id="{D2255CE1-FD55-574A-1BFB-37E853309D04}"/>
              </a:ext>
            </a:extLst>
          </p:cNvPr>
          <p:cNvGrpSpPr>
            <a:grpSpLocks/>
          </p:cNvGrpSpPr>
          <p:nvPr/>
        </p:nvGrpSpPr>
        <p:grpSpPr bwMode="auto">
          <a:xfrm>
            <a:off x="7913688" y="4572000"/>
            <a:ext cx="290512" cy="266700"/>
            <a:chOff x="377" y="2904"/>
            <a:chExt cx="154" cy="110"/>
          </a:xfrm>
        </p:grpSpPr>
        <p:sp>
          <p:nvSpPr>
            <p:cNvPr id="73740" name="Line 21">
              <a:extLst>
                <a:ext uri="{FF2B5EF4-FFF2-40B4-BE49-F238E27FC236}">
                  <a16:creationId xmlns:a16="http://schemas.microsoft.com/office/drawing/2014/main" id="{284B3A1A-A9F8-8BAA-9EB7-105E05FFF85E}"/>
                </a:ext>
              </a:extLst>
            </p:cNvPr>
            <p:cNvSpPr>
              <a:spLocks noChangeShapeType="1"/>
            </p:cNvSpPr>
            <p:nvPr/>
          </p:nvSpPr>
          <p:spPr bwMode="auto">
            <a:xfrm>
              <a:off x="381" y="2904"/>
              <a:ext cx="0"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741" name="Line 22">
              <a:extLst>
                <a:ext uri="{FF2B5EF4-FFF2-40B4-BE49-F238E27FC236}">
                  <a16:creationId xmlns:a16="http://schemas.microsoft.com/office/drawing/2014/main" id="{2295342D-BFDA-B69D-8A16-5723DD238C30}"/>
                </a:ext>
              </a:extLst>
            </p:cNvPr>
            <p:cNvSpPr>
              <a:spLocks noChangeShapeType="1"/>
            </p:cNvSpPr>
            <p:nvPr/>
          </p:nvSpPr>
          <p:spPr bwMode="auto">
            <a:xfrm>
              <a:off x="527" y="2904"/>
              <a:ext cx="0"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742" name="Line 23">
              <a:extLst>
                <a:ext uri="{FF2B5EF4-FFF2-40B4-BE49-F238E27FC236}">
                  <a16:creationId xmlns:a16="http://schemas.microsoft.com/office/drawing/2014/main" id="{53473EFF-3EE9-F937-9E3C-9681E6AF8EB2}"/>
                </a:ext>
              </a:extLst>
            </p:cNvPr>
            <p:cNvSpPr>
              <a:spLocks noChangeShapeType="1"/>
            </p:cNvSpPr>
            <p:nvPr/>
          </p:nvSpPr>
          <p:spPr bwMode="auto">
            <a:xfrm>
              <a:off x="385" y="2904"/>
              <a:ext cx="138"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743" name="Line 24">
              <a:extLst>
                <a:ext uri="{FF2B5EF4-FFF2-40B4-BE49-F238E27FC236}">
                  <a16:creationId xmlns:a16="http://schemas.microsoft.com/office/drawing/2014/main" id="{24B10D3B-0D02-B33F-E564-F7ECD134CAC7}"/>
                </a:ext>
              </a:extLst>
            </p:cNvPr>
            <p:cNvSpPr>
              <a:spLocks noChangeShapeType="1"/>
            </p:cNvSpPr>
            <p:nvPr/>
          </p:nvSpPr>
          <p:spPr bwMode="auto">
            <a:xfrm flipH="1">
              <a:off x="377" y="2904"/>
              <a:ext cx="154"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73736" name="Line 25">
            <a:extLst>
              <a:ext uri="{FF2B5EF4-FFF2-40B4-BE49-F238E27FC236}">
                <a16:creationId xmlns:a16="http://schemas.microsoft.com/office/drawing/2014/main" id="{6B5F1FA2-95D1-0037-7D08-07D53969C788}"/>
              </a:ext>
            </a:extLst>
          </p:cNvPr>
          <p:cNvSpPr>
            <a:spLocks noChangeShapeType="1"/>
          </p:cNvSpPr>
          <p:nvPr/>
        </p:nvSpPr>
        <p:spPr bwMode="auto">
          <a:xfrm>
            <a:off x="8189913" y="4572000"/>
            <a:ext cx="203200" cy="0"/>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73737" name="Line 26">
            <a:extLst>
              <a:ext uri="{FF2B5EF4-FFF2-40B4-BE49-F238E27FC236}">
                <a16:creationId xmlns:a16="http://schemas.microsoft.com/office/drawing/2014/main" id="{01A7CCBC-BD06-17BC-597D-A91A3AB76BC3}"/>
              </a:ext>
            </a:extLst>
          </p:cNvPr>
          <p:cNvSpPr>
            <a:spLocks noChangeShapeType="1"/>
          </p:cNvSpPr>
          <p:nvPr/>
        </p:nvSpPr>
        <p:spPr bwMode="auto">
          <a:xfrm>
            <a:off x="8189913" y="4838700"/>
            <a:ext cx="203200" cy="0"/>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73738" name="Line 27">
            <a:extLst>
              <a:ext uri="{FF2B5EF4-FFF2-40B4-BE49-F238E27FC236}">
                <a16:creationId xmlns:a16="http://schemas.microsoft.com/office/drawing/2014/main" id="{B42BA032-E2F9-6FA9-474E-A32A83AEE235}"/>
              </a:ext>
            </a:extLst>
          </p:cNvPr>
          <p:cNvSpPr>
            <a:spLocks noChangeShapeType="1"/>
          </p:cNvSpPr>
          <p:nvPr/>
        </p:nvSpPr>
        <p:spPr bwMode="auto">
          <a:xfrm>
            <a:off x="7696200" y="4584700"/>
            <a:ext cx="203200" cy="0"/>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73739" name="Line 28">
            <a:extLst>
              <a:ext uri="{FF2B5EF4-FFF2-40B4-BE49-F238E27FC236}">
                <a16:creationId xmlns:a16="http://schemas.microsoft.com/office/drawing/2014/main" id="{E9E1816A-7B90-FB7D-2BA2-8F341D7E1217}"/>
              </a:ext>
            </a:extLst>
          </p:cNvPr>
          <p:cNvSpPr>
            <a:spLocks noChangeShapeType="1"/>
          </p:cNvSpPr>
          <p:nvPr/>
        </p:nvSpPr>
        <p:spPr bwMode="auto">
          <a:xfrm>
            <a:off x="7696200" y="4838700"/>
            <a:ext cx="203200" cy="0"/>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2044923"/>
      </p:ext>
    </p:ext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FDC63A42-1F90-A268-1707-F417F0308A7C}"/>
              </a:ext>
            </a:extLst>
          </p:cNvPr>
          <p:cNvSpPr>
            <a:spLocks noGrp="1"/>
          </p:cNvSpPr>
          <p:nvPr>
            <p:ph type="title"/>
          </p:nvPr>
        </p:nvSpPr>
        <p:spPr/>
        <p:txBody>
          <a:bodyPr/>
          <a:lstStyle/>
          <a:p>
            <a:r>
              <a:rPr lang="en-US" altLang="en-US" sz="3200" b="1">
                <a:latin typeface="Verdana" panose="020B0604030504040204" pitchFamily="34" charset="0"/>
              </a:rPr>
              <a:t>Figure 8.12</a:t>
            </a:r>
            <a:r>
              <a:rPr lang="en-US" altLang="en-US" sz="3200">
                <a:latin typeface="Verdana" panose="020B0604030504040204" pitchFamily="34" charset="0"/>
              </a:rPr>
              <a:t>   The result of a LEFT OUTER JOIN operation.</a:t>
            </a:r>
          </a:p>
        </p:txBody>
      </p:sp>
      <p:pic>
        <p:nvPicPr>
          <p:cNvPr id="74755" name="Picture 2" descr="fig08_12.jpg">
            <a:extLst>
              <a:ext uri="{FF2B5EF4-FFF2-40B4-BE49-F238E27FC236}">
                <a16:creationId xmlns:a16="http://schemas.microsoft.com/office/drawing/2014/main" id="{9594BC0F-1075-E275-3AD4-DC043E659D5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22363" y="1600200"/>
            <a:ext cx="690245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6" name="Slide Number Placeholder 3">
            <a:extLst>
              <a:ext uri="{FF2B5EF4-FFF2-40B4-BE49-F238E27FC236}">
                <a16:creationId xmlns:a16="http://schemas.microsoft.com/office/drawing/2014/main" id="{4873E774-83B7-77D9-2ADB-1A73136BB85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87131990-9258-47D3-9CA1-21DB6EA0D797}" type="slidenum">
              <a:rPr lang="en-US" altLang="en-US" sz="1400">
                <a:solidFill>
                  <a:srgbClr val="990033"/>
                </a:solidFill>
              </a:rPr>
              <a:pPr>
                <a:spcBef>
                  <a:spcPct val="0"/>
                </a:spcBef>
                <a:buClrTx/>
                <a:buSzTx/>
                <a:buFontTx/>
                <a:buNone/>
              </a:pPr>
              <a:t>78</a:t>
            </a:fld>
            <a:endParaRPr lang="en-CA" altLang="en-US" sz="1400">
              <a:solidFill>
                <a:srgbClr val="990033"/>
              </a:solidFill>
            </a:endParaRPr>
          </a:p>
        </p:txBody>
      </p:sp>
    </p:spTree>
    <p:extLst>
      <p:ext uri="{BB962C8B-B14F-4D97-AF65-F5344CB8AC3E}">
        <p14:creationId xmlns:p14="http://schemas.microsoft.com/office/powerpoint/2010/main" val="3892863069"/>
      </p:ext>
    </p:extLst>
  </p:cSld>
  <p:clrMapOvr>
    <a:masterClrMapping/>
  </p:clrMapOvr>
  <p:transition spd="med" advTm="0"/>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5778" name="Slide Number Placeholder 3">
            <a:extLst>
              <a:ext uri="{FF2B5EF4-FFF2-40B4-BE49-F238E27FC236}">
                <a16:creationId xmlns:a16="http://schemas.microsoft.com/office/drawing/2014/main" id="{14E6353E-D286-339D-D4D2-7B424E6C42C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D479D806-1699-49D9-8667-608C2D3ABAF0}" type="slidenum">
              <a:rPr lang="en-US" altLang="en-US" sz="1400">
                <a:solidFill>
                  <a:srgbClr val="990033"/>
                </a:solidFill>
              </a:rPr>
              <a:pPr>
                <a:spcBef>
                  <a:spcPct val="0"/>
                </a:spcBef>
                <a:buClrTx/>
                <a:buSzTx/>
                <a:buFontTx/>
                <a:buNone/>
              </a:pPr>
              <a:t>79</a:t>
            </a:fld>
            <a:endParaRPr lang="en-CA" altLang="en-US" sz="1400">
              <a:solidFill>
                <a:srgbClr val="990033"/>
              </a:solidFill>
            </a:endParaRPr>
          </a:p>
        </p:txBody>
      </p:sp>
      <p:sp>
        <p:nvSpPr>
          <p:cNvPr id="75779" name="Rectangle 2">
            <a:extLst>
              <a:ext uri="{FF2B5EF4-FFF2-40B4-BE49-F238E27FC236}">
                <a16:creationId xmlns:a16="http://schemas.microsoft.com/office/drawing/2014/main" id="{A3E82559-28A5-7573-8F30-A2BE83441682}"/>
              </a:ext>
            </a:extLst>
          </p:cNvPr>
          <p:cNvSpPr>
            <a:spLocks noGrp="1" noChangeArrowheads="1"/>
          </p:cNvSpPr>
          <p:nvPr>
            <p:ph type="title"/>
          </p:nvPr>
        </p:nvSpPr>
        <p:spPr/>
        <p:txBody>
          <a:bodyPr/>
          <a:lstStyle/>
          <a:p>
            <a:pPr eaLnBrk="1" hangingPunct="1"/>
            <a:r>
              <a:rPr lang="en-US" altLang="en-US" sz="3200"/>
              <a:t>Additional Relational Operations (continued)</a:t>
            </a:r>
          </a:p>
        </p:txBody>
      </p:sp>
      <p:sp>
        <p:nvSpPr>
          <p:cNvPr id="75780" name="Rectangle 3">
            <a:extLst>
              <a:ext uri="{FF2B5EF4-FFF2-40B4-BE49-F238E27FC236}">
                <a16:creationId xmlns:a16="http://schemas.microsoft.com/office/drawing/2014/main" id="{D9BDD315-793B-8D58-35C9-F0C0DF335C55}"/>
              </a:ext>
            </a:extLst>
          </p:cNvPr>
          <p:cNvSpPr>
            <a:spLocks noGrp="1" noChangeArrowheads="1"/>
          </p:cNvSpPr>
          <p:nvPr>
            <p:ph type="body" idx="1"/>
          </p:nvPr>
        </p:nvSpPr>
        <p:spPr/>
        <p:txBody>
          <a:bodyPr/>
          <a:lstStyle/>
          <a:p>
            <a:pPr eaLnBrk="1" hangingPunct="1">
              <a:lnSpc>
                <a:spcPct val="80000"/>
              </a:lnSpc>
            </a:pPr>
            <a:r>
              <a:rPr lang="en-US" altLang="en-US"/>
              <a:t>OUTER UNION Operations</a:t>
            </a:r>
          </a:p>
          <a:p>
            <a:pPr lvl="1" eaLnBrk="1" hangingPunct="1">
              <a:lnSpc>
                <a:spcPct val="80000"/>
              </a:lnSpc>
            </a:pPr>
            <a:r>
              <a:rPr lang="en-US" altLang="en-US"/>
              <a:t>The outer union operation was developed to take the union of tuples from two relations if the relations are </a:t>
            </a:r>
            <a:r>
              <a:rPr lang="en-US" altLang="en-US" i="1"/>
              <a:t>not type compatible</a:t>
            </a:r>
            <a:r>
              <a:rPr lang="en-US" altLang="en-US"/>
              <a:t>. </a:t>
            </a:r>
          </a:p>
          <a:p>
            <a:pPr lvl="1" eaLnBrk="1" hangingPunct="1">
              <a:lnSpc>
                <a:spcPct val="80000"/>
              </a:lnSpc>
            </a:pPr>
            <a:r>
              <a:rPr lang="en-US" altLang="en-US"/>
              <a:t>This operation will take the union of tuples in two relations R(X, Y) and S(X, Z) that are </a:t>
            </a:r>
            <a:r>
              <a:rPr lang="en-US" altLang="en-US" b="1"/>
              <a:t>partially compatible</a:t>
            </a:r>
            <a:r>
              <a:rPr lang="en-US" altLang="en-US"/>
              <a:t>, meaning that only some of their attributes, say X, are type compatible. </a:t>
            </a:r>
          </a:p>
          <a:p>
            <a:pPr lvl="1" eaLnBrk="1" hangingPunct="1">
              <a:lnSpc>
                <a:spcPct val="80000"/>
              </a:lnSpc>
            </a:pPr>
            <a:r>
              <a:rPr lang="en-US" altLang="en-US"/>
              <a:t>The attributes that are type compatible are represented only once in the result, and those attributes that are not type compatible from either relation are also kept in the result relation T(X, Y, Z).</a:t>
            </a:r>
          </a:p>
        </p:txBody>
      </p:sp>
    </p:spTree>
    <p:extLst>
      <p:ext uri="{BB962C8B-B14F-4D97-AF65-F5344CB8AC3E}">
        <p14:creationId xmlns:p14="http://schemas.microsoft.com/office/powerpoint/2010/main" val="2492476135"/>
      </p:ext>
    </p:extLst>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6802" name="Slide Number Placeholder 3">
            <a:extLst>
              <a:ext uri="{FF2B5EF4-FFF2-40B4-BE49-F238E27FC236}">
                <a16:creationId xmlns:a16="http://schemas.microsoft.com/office/drawing/2014/main" id="{313B6461-324B-09A2-19D9-9111CFEF34D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87C71D40-AE3F-4347-9C12-52B5BB8277BE}" type="slidenum">
              <a:rPr lang="en-US" altLang="en-US" sz="1400">
                <a:solidFill>
                  <a:srgbClr val="990033"/>
                </a:solidFill>
              </a:rPr>
              <a:pPr>
                <a:spcBef>
                  <a:spcPct val="0"/>
                </a:spcBef>
                <a:buClrTx/>
                <a:buSzTx/>
                <a:buFontTx/>
                <a:buNone/>
              </a:pPr>
              <a:t>80</a:t>
            </a:fld>
            <a:endParaRPr lang="en-CA" altLang="en-US" sz="1400">
              <a:solidFill>
                <a:srgbClr val="990033"/>
              </a:solidFill>
            </a:endParaRPr>
          </a:p>
        </p:txBody>
      </p:sp>
      <p:sp>
        <p:nvSpPr>
          <p:cNvPr id="76803" name="Rectangle 2">
            <a:extLst>
              <a:ext uri="{FF2B5EF4-FFF2-40B4-BE49-F238E27FC236}">
                <a16:creationId xmlns:a16="http://schemas.microsoft.com/office/drawing/2014/main" id="{6D7B2F28-61B4-139B-C153-30FE094101CC}"/>
              </a:ext>
            </a:extLst>
          </p:cNvPr>
          <p:cNvSpPr>
            <a:spLocks noGrp="1" noChangeArrowheads="1"/>
          </p:cNvSpPr>
          <p:nvPr>
            <p:ph type="title"/>
          </p:nvPr>
        </p:nvSpPr>
        <p:spPr/>
        <p:txBody>
          <a:bodyPr/>
          <a:lstStyle/>
          <a:p>
            <a:pPr eaLnBrk="1" hangingPunct="1"/>
            <a:r>
              <a:rPr lang="en-US" altLang="en-US" sz="3200"/>
              <a:t>Additional Relational Operations (continued)</a:t>
            </a:r>
          </a:p>
        </p:txBody>
      </p:sp>
      <p:sp>
        <p:nvSpPr>
          <p:cNvPr id="76804" name="Rectangle 3">
            <a:extLst>
              <a:ext uri="{FF2B5EF4-FFF2-40B4-BE49-F238E27FC236}">
                <a16:creationId xmlns:a16="http://schemas.microsoft.com/office/drawing/2014/main" id="{C2EB3F66-0298-F5A7-8FBE-1D8353B92BF5}"/>
              </a:ext>
            </a:extLst>
          </p:cNvPr>
          <p:cNvSpPr>
            <a:spLocks noGrp="1" noChangeArrowheads="1"/>
          </p:cNvSpPr>
          <p:nvPr>
            <p:ph type="body" idx="1"/>
          </p:nvPr>
        </p:nvSpPr>
        <p:spPr/>
        <p:txBody>
          <a:bodyPr/>
          <a:lstStyle/>
          <a:p>
            <a:pPr eaLnBrk="1" hangingPunct="1">
              <a:lnSpc>
                <a:spcPct val="80000"/>
              </a:lnSpc>
            </a:pPr>
            <a:r>
              <a:rPr lang="en-US" altLang="en-US" sz="2400"/>
              <a:t>Example: An outer union can be applied to two relations whose schemas are STUDENT(Name, SSN, Department, Advisor) and INSTRUCTOR(Name, SSN, Department, Rank).</a:t>
            </a:r>
          </a:p>
          <a:p>
            <a:pPr lvl="1" eaLnBrk="1" hangingPunct="1">
              <a:lnSpc>
                <a:spcPct val="80000"/>
              </a:lnSpc>
            </a:pPr>
            <a:r>
              <a:rPr lang="en-US" altLang="en-US" sz="2100"/>
              <a:t>Tuples from the two relations are matched based on having the same combination of values of the shared attributes— Name, SSN, Department.</a:t>
            </a:r>
          </a:p>
          <a:p>
            <a:pPr lvl="1" eaLnBrk="1" hangingPunct="1">
              <a:lnSpc>
                <a:spcPct val="80000"/>
              </a:lnSpc>
            </a:pPr>
            <a:r>
              <a:rPr lang="en-US" altLang="en-US" sz="2100"/>
              <a:t>If a student is also an instructor, both Advisor and Rank will have a value; otherwise, one of these two attributes will be null.</a:t>
            </a:r>
          </a:p>
          <a:p>
            <a:pPr lvl="1" eaLnBrk="1" hangingPunct="1">
              <a:lnSpc>
                <a:spcPct val="80000"/>
              </a:lnSpc>
            </a:pPr>
            <a:r>
              <a:rPr lang="en-US" altLang="en-US" sz="2100"/>
              <a:t>The result relation STUDENT_OR_INSTRUCTOR will have the following attributes:</a:t>
            </a:r>
          </a:p>
          <a:p>
            <a:pPr eaLnBrk="1" hangingPunct="1">
              <a:lnSpc>
                <a:spcPct val="80000"/>
              </a:lnSpc>
              <a:buFont typeface="Wingdings" panose="05000000000000000000" pitchFamily="2" charset="2"/>
              <a:buNone/>
            </a:pPr>
            <a:r>
              <a:rPr lang="en-US" altLang="en-US" sz="2400" b="1"/>
              <a:t>STUDENT_OR_INSTRUCTOR (Name, SSN, Department, Advisor, Rank) </a:t>
            </a:r>
          </a:p>
        </p:txBody>
      </p:sp>
    </p:spTree>
    <p:extLst>
      <p:ext uri="{BB962C8B-B14F-4D97-AF65-F5344CB8AC3E}">
        <p14:creationId xmlns:p14="http://schemas.microsoft.com/office/powerpoint/2010/main" val="2142356335"/>
      </p:ext>
    </p:ext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7826" name="Slide Number Placeholder 2">
            <a:extLst>
              <a:ext uri="{FF2B5EF4-FFF2-40B4-BE49-F238E27FC236}">
                <a16:creationId xmlns:a16="http://schemas.microsoft.com/office/drawing/2014/main" id="{DADC8025-FBF6-5086-C069-3136D08ED03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4229CC15-4231-4953-A84B-9BEECA3BC873}" type="slidenum">
              <a:rPr lang="en-US" altLang="en-US" sz="1400">
                <a:solidFill>
                  <a:srgbClr val="990033"/>
                </a:solidFill>
              </a:rPr>
              <a:pPr>
                <a:spcBef>
                  <a:spcPct val="0"/>
                </a:spcBef>
                <a:buClrTx/>
                <a:buSzTx/>
                <a:buFontTx/>
                <a:buNone/>
              </a:pPr>
              <a:t>81</a:t>
            </a:fld>
            <a:endParaRPr lang="en-CA" altLang="en-US" sz="1400">
              <a:solidFill>
                <a:srgbClr val="990033"/>
              </a:solidFill>
            </a:endParaRPr>
          </a:p>
        </p:txBody>
      </p:sp>
      <p:sp>
        <p:nvSpPr>
          <p:cNvPr id="77827" name="Rectangle 19">
            <a:extLst>
              <a:ext uri="{FF2B5EF4-FFF2-40B4-BE49-F238E27FC236}">
                <a16:creationId xmlns:a16="http://schemas.microsoft.com/office/drawing/2014/main" id="{23D7A692-813D-263E-C817-6BB7B806F464}"/>
              </a:ext>
            </a:extLst>
          </p:cNvPr>
          <p:cNvSpPr>
            <a:spLocks noGrp="1" noChangeArrowheads="1"/>
          </p:cNvSpPr>
          <p:nvPr>
            <p:ph type="title"/>
          </p:nvPr>
        </p:nvSpPr>
        <p:spPr/>
        <p:txBody>
          <a:bodyPr/>
          <a:lstStyle/>
          <a:p>
            <a:pPr eaLnBrk="1" hangingPunct="1"/>
            <a:r>
              <a:rPr lang="en-US" altLang="en-US" sz="3200"/>
              <a:t>Examples of Queries in Relational Algebra : Procedural Form</a:t>
            </a:r>
          </a:p>
        </p:txBody>
      </p:sp>
      <p:sp>
        <p:nvSpPr>
          <p:cNvPr id="77828" name="Rectangle 9">
            <a:extLst>
              <a:ext uri="{FF2B5EF4-FFF2-40B4-BE49-F238E27FC236}">
                <a16:creationId xmlns:a16="http://schemas.microsoft.com/office/drawing/2014/main" id="{F8856B65-8451-7C5A-BA3A-319FE316983B}"/>
              </a:ext>
            </a:extLst>
          </p:cNvPr>
          <p:cNvSpPr>
            <a:spLocks noChangeArrowheads="1"/>
          </p:cNvSpPr>
          <p:nvPr/>
        </p:nvSpPr>
        <p:spPr bwMode="auto">
          <a:xfrm>
            <a:off x="228600" y="1652588"/>
            <a:ext cx="8547100" cy="444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r>
              <a:rPr lang="en-US" altLang="en-US" sz="2000" b="1">
                <a:latin typeface="Times New Roman" panose="02020603050405020304" pitchFamily="18" charset="0"/>
              </a:rPr>
              <a:t>Q1: Retrieve the name and address of all employees who work for the ‘Research’ department.</a:t>
            </a:r>
          </a:p>
          <a:p>
            <a:pPr eaLnBrk="1" hangingPunct="1">
              <a:buFont typeface="Wingdings" panose="05000000000000000000" pitchFamily="2" charset="2"/>
              <a:buNone/>
            </a:pPr>
            <a:r>
              <a:rPr lang="en-US" altLang="en-US" sz="1800">
                <a:latin typeface="Times New Roman" panose="02020603050405020304" pitchFamily="18" charset="0"/>
              </a:rPr>
              <a:t>	RESEARCH_DEPT </a:t>
            </a:r>
            <a:r>
              <a:rPr lang="en-US" altLang="en-US" sz="1800">
                <a:latin typeface="Times New Roman" panose="02020603050405020304" pitchFamily="18" charset="0"/>
                <a:sym typeface="Symbol" panose="05050102010706020507" pitchFamily="18" charset="2"/>
              </a:rPr>
              <a:t></a:t>
            </a:r>
            <a:r>
              <a:rPr lang="en-US" altLang="en-US" sz="1800">
                <a:latin typeface="Times New Roman" panose="02020603050405020304" pitchFamily="18" charset="0"/>
              </a:rPr>
              <a:t> </a:t>
            </a:r>
            <a:r>
              <a:rPr lang="en-US" altLang="en-US" sz="2000" b="1">
                <a:latin typeface="Symbol" panose="05050102010706020507" pitchFamily="18" charset="2"/>
              </a:rPr>
              <a:t></a:t>
            </a:r>
            <a:r>
              <a:rPr lang="en-US" altLang="en-US" sz="1800">
                <a:latin typeface="Times New Roman" panose="02020603050405020304" pitchFamily="18" charset="0"/>
              </a:rPr>
              <a:t> </a:t>
            </a:r>
            <a:r>
              <a:rPr lang="en-US" altLang="en-US" sz="1200">
                <a:latin typeface="Times New Roman" panose="02020603050405020304" pitchFamily="18" charset="0"/>
              </a:rPr>
              <a:t>DNAME=’Research’ </a:t>
            </a:r>
            <a:r>
              <a:rPr lang="en-US" altLang="en-US" sz="1800">
                <a:latin typeface="Times New Roman" panose="02020603050405020304" pitchFamily="18" charset="0"/>
              </a:rPr>
              <a:t>(DEPARTMENT)</a:t>
            </a:r>
          </a:p>
          <a:p>
            <a:pPr eaLnBrk="1" hangingPunct="1">
              <a:buFont typeface="Wingdings" panose="05000000000000000000" pitchFamily="2" charset="2"/>
              <a:buNone/>
            </a:pPr>
            <a:r>
              <a:rPr lang="en-US" altLang="en-US" sz="1800">
                <a:latin typeface="Times New Roman" panose="02020603050405020304" pitchFamily="18" charset="0"/>
              </a:rPr>
              <a:t>	RESEARCH_EMPS </a:t>
            </a:r>
            <a:r>
              <a:rPr lang="en-US" altLang="en-US" sz="1800">
                <a:latin typeface="Times New Roman" panose="02020603050405020304" pitchFamily="18" charset="0"/>
                <a:sym typeface="Symbol" panose="05050102010706020507" pitchFamily="18" charset="2"/>
              </a:rPr>
              <a:t> </a:t>
            </a:r>
            <a:r>
              <a:rPr lang="en-US" altLang="en-US" sz="1800">
                <a:latin typeface="Times New Roman" panose="02020603050405020304" pitchFamily="18" charset="0"/>
              </a:rPr>
              <a:t>(RESEARCH_DEPT        </a:t>
            </a:r>
            <a:r>
              <a:rPr lang="en-US" altLang="en-US" sz="1200" baseline="-25000">
                <a:latin typeface="Times New Roman" panose="02020603050405020304" pitchFamily="18" charset="0"/>
              </a:rPr>
              <a:t>DNUMBER= DNOEMPLOYEE</a:t>
            </a:r>
            <a:r>
              <a:rPr lang="en-US" altLang="en-US" sz="1800">
                <a:latin typeface="Times New Roman" panose="02020603050405020304" pitchFamily="18" charset="0"/>
              </a:rPr>
              <a:t>EMPLOYEE)</a:t>
            </a:r>
          </a:p>
          <a:p>
            <a:pPr eaLnBrk="1" hangingPunct="1">
              <a:buFont typeface="Wingdings" panose="05000000000000000000" pitchFamily="2" charset="2"/>
              <a:buNone/>
            </a:pPr>
            <a:r>
              <a:rPr lang="en-US" altLang="en-US" sz="1800">
                <a:latin typeface="Times New Roman" panose="02020603050405020304" pitchFamily="18" charset="0"/>
              </a:rPr>
              <a:t>	RESULT </a:t>
            </a:r>
            <a:r>
              <a:rPr lang="en-US" altLang="en-US" sz="1800">
                <a:latin typeface="Times New Roman" panose="02020603050405020304" pitchFamily="18" charset="0"/>
                <a:sym typeface="Symbol" panose="05050102010706020507" pitchFamily="18" charset="2"/>
              </a:rPr>
              <a:t></a:t>
            </a:r>
            <a:r>
              <a:rPr lang="en-US" altLang="en-US" sz="1800">
                <a:latin typeface="Times New Roman" panose="02020603050405020304" pitchFamily="18" charset="0"/>
              </a:rPr>
              <a:t> </a:t>
            </a:r>
            <a:r>
              <a:rPr lang="en-US" altLang="en-US" sz="2400">
                <a:latin typeface="Symbol" panose="05050102010706020507" pitchFamily="18" charset="2"/>
              </a:rPr>
              <a:t></a:t>
            </a:r>
            <a:r>
              <a:rPr lang="en-US" altLang="en-US" sz="1800">
                <a:latin typeface="Times New Roman" panose="02020603050405020304" pitchFamily="18" charset="0"/>
              </a:rPr>
              <a:t> </a:t>
            </a:r>
            <a:r>
              <a:rPr lang="en-US" altLang="en-US" sz="1200">
                <a:latin typeface="Times New Roman" panose="02020603050405020304" pitchFamily="18" charset="0"/>
              </a:rPr>
              <a:t>FNAME, LNAME, ADDRESS</a:t>
            </a:r>
            <a:r>
              <a:rPr lang="en-US" altLang="en-US" sz="1800">
                <a:latin typeface="Times New Roman" panose="02020603050405020304" pitchFamily="18" charset="0"/>
              </a:rPr>
              <a:t> (RESEARCH_EMPS)</a:t>
            </a:r>
          </a:p>
          <a:p>
            <a:pPr eaLnBrk="1" hangingPunct="1">
              <a:buFont typeface="Wingdings" panose="05000000000000000000" pitchFamily="2" charset="2"/>
              <a:buNone/>
            </a:pPr>
            <a:endParaRPr lang="en-US" altLang="en-US" sz="900">
              <a:latin typeface="Times New Roman" panose="02020603050405020304" pitchFamily="18" charset="0"/>
            </a:endParaRPr>
          </a:p>
          <a:p>
            <a:pPr eaLnBrk="1" hangingPunct="1"/>
            <a:r>
              <a:rPr lang="en-US" altLang="en-US" sz="2000" b="1">
                <a:latin typeface="Times New Roman" panose="02020603050405020304" pitchFamily="18" charset="0"/>
              </a:rPr>
              <a:t>Q6: Retrieve the names of employees who have no dependents.</a:t>
            </a:r>
          </a:p>
          <a:p>
            <a:pPr eaLnBrk="1" hangingPunct="1">
              <a:buFont typeface="Wingdings" panose="05000000000000000000" pitchFamily="2" charset="2"/>
              <a:buNone/>
            </a:pPr>
            <a:r>
              <a:rPr lang="en-US" altLang="en-US" sz="1600">
                <a:latin typeface="Times New Roman" panose="02020603050405020304" pitchFamily="18" charset="0"/>
              </a:rPr>
              <a:t>	</a:t>
            </a:r>
            <a:r>
              <a:rPr lang="en-US" altLang="en-US" sz="1800">
                <a:latin typeface="Times New Roman" panose="02020603050405020304" pitchFamily="18" charset="0"/>
              </a:rPr>
              <a:t>ALL_EMPS </a:t>
            </a:r>
            <a:r>
              <a:rPr lang="en-US" altLang="en-US" sz="1800">
                <a:latin typeface="Times New Roman" panose="02020603050405020304" pitchFamily="18" charset="0"/>
                <a:sym typeface="Symbol" panose="05050102010706020507" pitchFamily="18" charset="2"/>
              </a:rPr>
              <a:t></a:t>
            </a:r>
            <a:r>
              <a:rPr lang="en-US" altLang="en-US" sz="1600">
                <a:latin typeface="Times New Roman" panose="02020603050405020304" pitchFamily="18" charset="0"/>
              </a:rPr>
              <a:t> </a:t>
            </a:r>
            <a:r>
              <a:rPr lang="en-US" altLang="en-US" sz="2400">
                <a:latin typeface="Symbol" panose="05050102010706020507" pitchFamily="18" charset="2"/>
              </a:rPr>
              <a:t></a:t>
            </a:r>
            <a:r>
              <a:rPr lang="en-US" altLang="en-US" sz="1600">
                <a:latin typeface="Times New Roman" panose="02020603050405020304" pitchFamily="18" charset="0"/>
              </a:rPr>
              <a:t> </a:t>
            </a:r>
            <a:r>
              <a:rPr lang="en-US" altLang="en-US" sz="1200">
                <a:latin typeface="Times New Roman" panose="02020603050405020304" pitchFamily="18" charset="0"/>
              </a:rPr>
              <a:t>SSN</a:t>
            </a:r>
            <a:r>
              <a:rPr lang="en-US" altLang="en-US" sz="1800">
                <a:latin typeface="Times New Roman" panose="02020603050405020304" pitchFamily="18" charset="0"/>
              </a:rPr>
              <a:t>(EMPLOYEE)</a:t>
            </a:r>
          </a:p>
          <a:p>
            <a:pPr eaLnBrk="1" hangingPunct="1">
              <a:buFont typeface="Wingdings" panose="05000000000000000000" pitchFamily="2" charset="2"/>
              <a:buNone/>
            </a:pPr>
            <a:r>
              <a:rPr lang="en-US" altLang="en-US" sz="1800">
                <a:latin typeface="Times New Roman" panose="02020603050405020304" pitchFamily="18" charset="0"/>
              </a:rPr>
              <a:t>	EMPS_WITH_DEPS</a:t>
            </a:r>
            <a:r>
              <a:rPr lang="en-US" altLang="en-US" sz="2000">
                <a:latin typeface="Times New Roman" panose="02020603050405020304" pitchFamily="18" charset="0"/>
              </a:rPr>
              <a:t>(</a:t>
            </a:r>
            <a:r>
              <a:rPr lang="en-US" altLang="en-US" sz="1800">
                <a:latin typeface="Times New Roman" panose="02020603050405020304" pitchFamily="18" charset="0"/>
              </a:rPr>
              <a:t>SSN</a:t>
            </a:r>
            <a:r>
              <a:rPr lang="en-US" altLang="en-US" sz="2000">
                <a:latin typeface="Times New Roman" panose="02020603050405020304" pitchFamily="18" charset="0"/>
              </a:rPr>
              <a:t>) </a:t>
            </a:r>
            <a:r>
              <a:rPr lang="en-US" altLang="en-US" sz="2000">
                <a:latin typeface="Times New Roman" panose="02020603050405020304" pitchFamily="18" charset="0"/>
                <a:sym typeface="Symbol" panose="05050102010706020507" pitchFamily="18" charset="2"/>
              </a:rPr>
              <a:t></a:t>
            </a:r>
            <a:r>
              <a:rPr lang="en-US" altLang="en-US" sz="1600">
                <a:latin typeface="Times New Roman" panose="02020603050405020304" pitchFamily="18" charset="0"/>
              </a:rPr>
              <a:t> </a:t>
            </a:r>
            <a:r>
              <a:rPr lang="en-US" altLang="en-US" sz="2400">
                <a:latin typeface="Symbol" panose="05050102010706020507" pitchFamily="18" charset="2"/>
              </a:rPr>
              <a:t></a:t>
            </a:r>
            <a:r>
              <a:rPr lang="en-US" altLang="en-US" sz="1600">
                <a:latin typeface="Times New Roman" panose="02020603050405020304" pitchFamily="18" charset="0"/>
              </a:rPr>
              <a:t> </a:t>
            </a:r>
            <a:r>
              <a:rPr lang="en-US" altLang="en-US" sz="1200">
                <a:latin typeface="Times New Roman" panose="02020603050405020304" pitchFamily="18" charset="0"/>
              </a:rPr>
              <a:t>ESSN</a:t>
            </a:r>
            <a:r>
              <a:rPr lang="en-US" altLang="en-US" sz="2000">
                <a:latin typeface="Times New Roman" panose="02020603050405020304" pitchFamily="18" charset="0"/>
              </a:rPr>
              <a:t>(</a:t>
            </a:r>
            <a:r>
              <a:rPr lang="en-US" altLang="en-US" sz="1800">
                <a:latin typeface="Times New Roman" panose="02020603050405020304" pitchFamily="18" charset="0"/>
              </a:rPr>
              <a:t>DEPENDENT</a:t>
            </a:r>
            <a:r>
              <a:rPr lang="en-US" altLang="en-US" sz="2000">
                <a:latin typeface="Times New Roman" panose="02020603050405020304" pitchFamily="18" charset="0"/>
              </a:rPr>
              <a:t>)</a:t>
            </a:r>
          </a:p>
          <a:p>
            <a:pPr eaLnBrk="1" hangingPunct="1">
              <a:buFont typeface="Wingdings" panose="05000000000000000000" pitchFamily="2" charset="2"/>
              <a:buNone/>
            </a:pPr>
            <a:r>
              <a:rPr lang="en-US" altLang="en-US" sz="2000">
                <a:latin typeface="Times New Roman" panose="02020603050405020304" pitchFamily="18" charset="0"/>
              </a:rPr>
              <a:t>	</a:t>
            </a:r>
            <a:r>
              <a:rPr lang="en-US" altLang="en-US" sz="1800">
                <a:latin typeface="Times New Roman" panose="02020603050405020304" pitchFamily="18" charset="0"/>
              </a:rPr>
              <a:t>EMPS_WITHOUT_DEPS </a:t>
            </a:r>
            <a:r>
              <a:rPr lang="en-US" altLang="en-US" sz="1800">
                <a:latin typeface="Times New Roman" panose="02020603050405020304" pitchFamily="18" charset="0"/>
                <a:sym typeface="Symbol" panose="05050102010706020507" pitchFamily="18" charset="2"/>
              </a:rPr>
              <a:t></a:t>
            </a:r>
            <a:r>
              <a:rPr lang="en-US" altLang="en-US" sz="1800">
                <a:latin typeface="Times New Roman" panose="02020603050405020304" pitchFamily="18" charset="0"/>
              </a:rPr>
              <a:t> (ALL_EMPS </a:t>
            </a:r>
            <a:r>
              <a:rPr lang="en-US" altLang="en-US" sz="1800"/>
              <a:t>-</a:t>
            </a:r>
            <a:r>
              <a:rPr lang="en-US" altLang="en-US" sz="1800">
                <a:latin typeface="Times New Roman" panose="02020603050405020304" pitchFamily="18" charset="0"/>
              </a:rPr>
              <a:t> EMPS_WITH_DEPS)</a:t>
            </a:r>
          </a:p>
          <a:p>
            <a:pPr eaLnBrk="1" hangingPunct="1">
              <a:buFont typeface="Wingdings" panose="05000000000000000000" pitchFamily="2" charset="2"/>
              <a:buNone/>
            </a:pPr>
            <a:r>
              <a:rPr lang="en-US" altLang="en-US" sz="2000">
                <a:latin typeface="Times New Roman" panose="02020603050405020304" pitchFamily="18" charset="0"/>
              </a:rPr>
              <a:t>	</a:t>
            </a:r>
            <a:r>
              <a:rPr lang="en-US" altLang="en-US" sz="1800">
                <a:latin typeface="Times New Roman" panose="02020603050405020304" pitchFamily="18" charset="0"/>
              </a:rPr>
              <a:t>RESULT </a:t>
            </a:r>
            <a:r>
              <a:rPr lang="en-US" altLang="en-US" sz="1800">
                <a:latin typeface="Times New Roman" panose="02020603050405020304" pitchFamily="18" charset="0"/>
                <a:sym typeface="Symbol" panose="05050102010706020507" pitchFamily="18" charset="2"/>
              </a:rPr>
              <a:t></a:t>
            </a:r>
            <a:r>
              <a:rPr lang="en-US" altLang="en-US" sz="1800">
                <a:latin typeface="Times New Roman" panose="02020603050405020304" pitchFamily="18" charset="0"/>
              </a:rPr>
              <a:t> </a:t>
            </a:r>
            <a:r>
              <a:rPr lang="en-US" altLang="en-US" sz="2400">
                <a:latin typeface="Symbol" panose="05050102010706020507" pitchFamily="18" charset="2"/>
              </a:rPr>
              <a:t></a:t>
            </a:r>
            <a:r>
              <a:rPr lang="en-US" altLang="en-US" sz="1800">
                <a:latin typeface="Times New Roman" panose="02020603050405020304" pitchFamily="18" charset="0"/>
              </a:rPr>
              <a:t> </a:t>
            </a:r>
            <a:r>
              <a:rPr lang="en-US" altLang="en-US" sz="1400">
                <a:latin typeface="Times New Roman" panose="02020603050405020304" pitchFamily="18" charset="0"/>
              </a:rPr>
              <a:t>LNAME, FNAME</a:t>
            </a:r>
            <a:r>
              <a:rPr lang="en-US" altLang="en-US" sz="1800">
                <a:latin typeface="Times New Roman" panose="02020603050405020304" pitchFamily="18" charset="0"/>
              </a:rPr>
              <a:t> (EMPS_WITHOUT_DEPS * EMPLOYEE)</a:t>
            </a:r>
          </a:p>
        </p:txBody>
      </p:sp>
      <p:grpSp>
        <p:nvGrpSpPr>
          <p:cNvPr id="77829" name="Group 10">
            <a:extLst>
              <a:ext uri="{FF2B5EF4-FFF2-40B4-BE49-F238E27FC236}">
                <a16:creationId xmlns:a16="http://schemas.microsoft.com/office/drawing/2014/main" id="{8704E85B-0254-4140-C051-C7E941B90B2A}"/>
              </a:ext>
            </a:extLst>
          </p:cNvPr>
          <p:cNvGrpSpPr>
            <a:grpSpLocks/>
          </p:cNvGrpSpPr>
          <p:nvPr/>
        </p:nvGrpSpPr>
        <p:grpSpPr bwMode="auto">
          <a:xfrm>
            <a:off x="4953000" y="2720975"/>
            <a:ext cx="374650" cy="174625"/>
            <a:chOff x="377" y="2904"/>
            <a:chExt cx="154" cy="110"/>
          </a:xfrm>
        </p:grpSpPr>
        <p:sp>
          <p:nvSpPr>
            <p:cNvPr id="77830" name="Line 11">
              <a:extLst>
                <a:ext uri="{FF2B5EF4-FFF2-40B4-BE49-F238E27FC236}">
                  <a16:creationId xmlns:a16="http://schemas.microsoft.com/office/drawing/2014/main" id="{27EE1639-914F-B347-23A4-BCC1B561AC2D}"/>
                </a:ext>
              </a:extLst>
            </p:cNvPr>
            <p:cNvSpPr>
              <a:spLocks noChangeShapeType="1"/>
            </p:cNvSpPr>
            <p:nvPr/>
          </p:nvSpPr>
          <p:spPr bwMode="auto">
            <a:xfrm>
              <a:off x="381" y="2904"/>
              <a:ext cx="0"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831" name="Line 12">
              <a:extLst>
                <a:ext uri="{FF2B5EF4-FFF2-40B4-BE49-F238E27FC236}">
                  <a16:creationId xmlns:a16="http://schemas.microsoft.com/office/drawing/2014/main" id="{9D2317FF-1D14-9975-A572-EB046A4D5B91}"/>
                </a:ext>
              </a:extLst>
            </p:cNvPr>
            <p:cNvSpPr>
              <a:spLocks noChangeShapeType="1"/>
            </p:cNvSpPr>
            <p:nvPr/>
          </p:nvSpPr>
          <p:spPr bwMode="auto">
            <a:xfrm>
              <a:off x="527" y="2904"/>
              <a:ext cx="0"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832" name="Line 13">
              <a:extLst>
                <a:ext uri="{FF2B5EF4-FFF2-40B4-BE49-F238E27FC236}">
                  <a16:creationId xmlns:a16="http://schemas.microsoft.com/office/drawing/2014/main" id="{8507D6DE-5F63-2FEA-AE62-EC516730D080}"/>
                </a:ext>
              </a:extLst>
            </p:cNvPr>
            <p:cNvSpPr>
              <a:spLocks noChangeShapeType="1"/>
            </p:cNvSpPr>
            <p:nvPr/>
          </p:nvSpPr>
          <p:spPr bwMode="auto">
            <a:xfrm>
              <a:off x="385" y="2904"/>
              <a:ext cx="138"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833" name="Line 14">
              <a:extLst>
                <a:ext uri="{FF2B5EF4-FFF2-40B4-BE49-F238E27FC236}">
                  <a16:creationId xmlns:a16="http://schemas.microsoft.com/office/drawing/2014/main" id="{6AE53674-A4D3-0B8A-E0E2-3A241588A986}"/>
                </a:ext>
              </a:extLst>
            </p:cNvPr>
            <p:cNvSpPr>
              <a:spLocks noChangeShapeType="1"/>
            </p:cNvSpPr>
            <p:nvPr/>
          </p:nvSpPr>
          <p:spPr bwMode="auto">
            <a:xfrm flipH="1">
              <a:off x="377" y="2904"/>
              <a:ext cx="154"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137681606"/>
      </p:ext>
    </p:extLst>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8850" name="Slide Number Placeholder 2">
            <a:extLst>
              <a:ext uri="{FF2B5EF4-FFF2-40B4-BE49-F238E27FC236}">
                <a16:creationId xmlns:a16="http://schemas.microsoft.com/office/drawing/2014/main" id="{646CD4DC-0ED6-CD77-350E-A091F78D23F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8- </a:t>
            </a:r>
            <a:fld id="{75F2DC36-B023-436E-94D8-DA9C7DC7E7E4}" type="slidenum">
              <a:rPr lang="en-US" altLang="en-US" sz="1400">
                <a:solidFill>
                  <a:srgbClr val="990033"/>
                </a:solidFill>
              </a:rPr>
              <a:pPr>
                <a:spcBef>
                  <a:spcPct val="0"/>
                </a:spcBef>
                <a:buClrTx/>
                <a:buSzTx/>
                <a:buFontTx/>
                <a:buNone/>
              </a:pPr>
              <a:t>82</a:t>
            </a:fld>
            <a:endParaRPr lang="en-CA" altLang="en-US" sz="1400">
              <a:solidFill>
                <a:srgbClr val="990033"/>
              </a:solidFill>
            </a:endParaRPr>
          </a:p>
        </p:txBody>
      </p:sp>
      <p:sp>
        <p:nvSpPr>
          <p:cNvPr id="78851" name="Rectangle 2">
            <a:extLst>
              <a:ext uri="{FF2B5EF4-FFF2-40B4-BE49-F238E27FC236}">
                <a16:creationId xmlns:a16="http://schemas.microsoft.com/office/drawing/2014/main" id="{B6363140-1FB1-8028-7928-D238B10A267C}"/>
              </a:ext>
            </a:extLst>
          </p:cNvPr>
          <p:cNvSpPr>
            <a:spLocks noGrp="1" noChangeArrowheads="1"/>
          </p:cNvSpPr>
          <p:nvPr>
            <p:ph type="title"/>
          </p:nvPr>
        </p:nvSpPr>
        <p:spPr/>
        <p:txBody>
          <a:bodyPr/>
          <a:lstStyle/>
          <a:p>
            <a:pPr eaLnBrk="1" hangingPunct="1"/>
            <a:r>
              <a:rPr lang="en-US" altLang="en-US" sz="3200"/>
              <a:t>Examples of Queries in Relational Algebra – Single expressions</a:t>
            </a:r>
          </a:p>
        </p:txBody>
      </p:sp>
      <p:sp>
        <p:nvSpPr>
          <p:cNvPr id="78852" name="Rectangle 3">
            <a:extLst>
              <a:ext uri="{FF2B5EF4-FFF2-40B4-BE49-F238E27FC236}">
                <a16:creationId xmlns:a16="http://schemas.microsoft.com/office/drawing/2014/main" id="{709DC262-0AA7-0139-3475-7960C7892FAB}"/>
              </a:ext>
            </a:extLst>
          </p:cNvPr>
          <p:cNvSpPr>
            <a:spLocks noChangeArrowheads="1"/>
          </p:cNvSpPr>
          <p:nvPr/>
        </p:nvSpPr>
        <p:spPr bwMode="auto">
          <a:xfrm>
            <a:off x="228600" y="1652588"/>
            <a:ext cx="8547100" cy="444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buFont typeface="Wingdings" panose="05000000000000000000" pitchFamily="2" charset="2"/>
              <a:buNone/>
            </a:pPr>
            <a:r>
              <a:rPr lang="en-US" altLang="en-US" sz="2400"/>
              <a:t>As a single expression, these queries become:</a:t>
            </a:r>
          </a:p>
          <a:p>
            <a:pPr eaLnBrk="1" hangingPunct="1"/>
            <a:r>
              <a:rPr lang="en-US" altLang="en-US" sz="2000" b="1">
                <a:latin typeface="Times New Roman" panose="02020603050405020304" pitchFamily="18" charset="0"/>
              </a:rPr>
              <a:t>Q1: Retrieve the name and address of all employees who work for the ‘Research’ department.</a:t>
            </a:r>
          </a:p>
          <a:p>
            <a:pPr eaLnBrk="1" hangingPunct="1">
              <a:buFont typeface="Wingdings" panose="05000000000000000000" pitchFamily="2" charset="2"/>
              <a:buNone/>
            </a:pPr>
            <a:r>
              <a:rPr lang="en-US" altLang="en-US" sz="1800">
                <a:latin typeface="Times New Roman" panose="02020603050405020304" pitchFamily="18" charset="0"/>
              </a:rPr>
              <a:t>	</a:t>
            </a:r>
            <a:r>
              <a:rPr lang="en-US" altLang="en-US">
                <a:latin typeface="Symbol" panose="05050102010706020507" pitchFamily="18" charset="2"/>
                <a:sym typeface="Symbol" panose="05050102010706020507" pitchFamily="18" charset="2"/>
              </a:rPr>
              <a:t></a:t>
            </a:r>
            <a:r>
              <a:rPr lang="en-US" altLang="en-US"/>
              <a:t> </a:t>
            </a:r>
            <a:r>
              <a:rPr lang="en-US" altLang="en-US" sz="2400" baseline="-25000"/>
              <a:t>Fname, Lname, Address</a:t>
            </a:r>
            <a:r>
              <a:rPr lang="en-US" altLang="en-US"/>
              <a:t> (σ </a:t>
            </a:r>
            <a:r>
              <a:rPr lang="en-US" altLang="en-US" sz="2000"/>
              <a:t>Dname= ‘Research’</a:t>
            </a:r>
            <a:r>
              <a:rPr lang="en-US" altLang="ja-JP"/>
              <a:t> </a:t>
            </a:r>
          </a:p>
          <a:p>
            <a:pPr eaLnBrk="1" hangingPunct="1">
              <a:buFont typeface="Wingdings" panose="05000000000000000000" pitchFamily="2" charset="2"/>
              <a:buNone/>
            </a:pPr>
            <a:r>
              <a:rPr lang="en-US" altLang="en-US"/>
              <a:t>(DEPARTMENT     </a:t>
            </a:r>
            <a:r>
              <a:rPr lang="en-US" altLang="en-US" sz="2000"/>
              <a:t>Dnumber=Dno</a:t>
            </a:r>
            <a:r>
              <a:rPr lang="en-US" altLang="en-US"/>
              <a:t>(EMPLOYEE))</a:t>
            </a:r>
          </a:p>
          <a:p>
            <a:pPr eaLnBrk="1" hangingPunct="1">
              <a:buFont typeface="Wingdings" panose="05000000000000000000" pitchFamily="2" charset="2"/>
              <a:buNone/>
            </a:pPr>
            <a:endParaRPr lang="en-US" altLang="en-US" sz="900">
              <a:latin typeface="Times New Roman" panose="02020603050405020304" pitchFamily="18" charset="0"/>
            </a:endParaRPr>
          </a:p>
          <a:p>
            <a:pPr eaLnBrk="1" hangingPunct="1"/>
            <a:r>
              <a:rPr lang="en-US" altLang="en-US" sz="2000" b="1">
                <a:latin typeface="Times New Roman" panose="02020603050405020304" pitchFamily="18" charset="0"/>
              </a:rPr>
              <a:t>Q6: Retrieve the names of employees who have no dependents.</a:t>
            </a:r>
          </a:p>
          <a:p>
            <a:pPr eaLnBrk="1" hangingPunct="1">
              <a:buFont typeface="Wingdings" panose="05000000000000000000" pitchFamily="2" charset="2"/>
              <a:buNone/>
            </a:pPr>
            <a:r>
              <a:rPr lang="en-US" altLang="en-US" sz="1600">
                <a:latin typeface="Times New Roman" panose="02020603050405020304" pitchFamily="18" charset="0"/>
              </a:rPr>
              <a:t>	 </a:t>
            </a:r>
            <a:r>
              <a:rPr lang="en-US" altLang="en-US">
                <a:latin typeface="Symbol" panose="05050102010706020507" pitchFamily="18" charset="2"/>
                <a:sym typeface="Symbol" panose="05050102010706020507" pitchFamily="18" charset="2"/>
              </a:rPr>
              <a:t></a:t>
            </a:r>
            <a:r>
              <a:rPr lang="en-US" altLang="en-US"/>
              <a:t> </a:t>
            </a:r>
            <a:r>
              <a:rPr lang="en-US" altLang="en-US" sz="2400" baseline="-25000"/>
              <a:t>Lname, Fname</a:t>
            </a:r>
            <a:r>
              <a:rPr lang="en-US" altLang="en-US"/>
              <a:t>((</a:t>
            </a:r>
            <a:r>
              <a:rPr lang="en-US" altLang="en-US">
                <a:latin typeface="Symbol" panose="05050102010706020507" pitchFamily="18" charset="2"/>
                <a:sym typeface="Symbol" panose="05050102010706020507" pitchFamily="18" charset="2"/>
              </a:rPr>
              <a:t></a:t>
            </a:r>
            <a:r>
              <a:rPr lang="en-US" altLang="en-US"/>
              <a:t> </a:t>
            </a:r>
            <a:r>
              <a:rPr lang="en-US" altLang="en-US" sz="2400" baseline="-25000"/>
              <a:t>Ssn</a:t>
            </a:r>
            <a:r>
              <a:rPr lang="en-US" altLang="en-US" sz="2000"/>
              <a:t> </a:t>
            </a:r>
            <a:r>
              <a:rPr lang="en-US" altLang="en-US"/>
              <a:t>(EMPLOYEE) − ρ </a:t>
            </a:r>
            <a:r>
              <a:rPr lang="en-US" altLang="en-US" sz="2400" baseline="-25000"/>
              <a:t>Ssn</a:t>
            </a:r>
            <a:r>
              <a:rPr lang="en-US" altLang="en-US"/>
              <a:t> (</a:t>
            </a:r>
            <a:r>
              <a:rPr lang="en-US" altLang="en-US">
                <a:latin typeface="Symbol" panose="05050102010706020507" pitchFamily="18" charset="2"/>
                <a:sym typeface="Symbol" panose="05050102010706020507" pitchFamily="18" charset="2"/>
              </a:rPr>
              <a:t></a:t>
            </a:r>
            <a:r>
              <a:rPr lang="en-US" altLang="en-US"/>
              <a:t> </a:t>
            </a:r>
            <a:r>
              <a:rPr lang="en-US" altLang="en-US" sz="2000"/>
              <a:t>Essn </a:t>
            </a:r>
            <a:r>
              <a:rPr lang="en-US" altLang="en-US"/>
              <a:t>(DEPENDENT))) ∗ EMPLOYEE)</a:t>
            </a:r>
          </a:p>
        </p:txBody>
      </p:sp>
      <p:grpSp>
        <p:nvGrpSpPr>
          <p:cNvPr id="78853" name="Group 4">
            <a:extLst>
              <a:ext uri="{FF2B5EF4-FFF2-40B4-BE49-F238E27FC236}">
                <a16:creationId xmlns:a16="http://schemas.microsoft.com/office/drawing/2014/main" id="{3362AF7C-332F-D75A-1A9A-ED961701EF05}"/>
              </a:ext>
            </a:extLst>
          </p:cNvPr>
          <p:cNvGrpSpPr>
            <a:grpSpLocks/>
          </p:cNvGrpSpPr>
          <p:nvPr/>
        </p:nvGrpSpPr>
        <p:grpSpPr bwMode="auto">
          <a:xfrm>
            <a:off x="2971800" y="3429000"/>
            <a:ext cx="374650" cy="174625"/>
            <a:chOff x="377" y="2904"/>
            <a:chExt cx="154" cy="110"/>
          </a:xfrm>
        </p:grpSpPr>
        <p:sp>
          <p:nvSpPr>
            <p:cNvPr id="78854" name="Line 5">
              <a:extLst>
                <a:ext uri="{FF2B5EF4-FFF2-40B4-BE49-F238E27FC236}">
                  <a16:creationId xmlns:a16="http://schemas.microsoft.com/office/drawing/2014/main" id="{28FC0417-D74E-361A-936A-0D4E488761D9}"/>
                </a:ext>
              </a:extLst>
            </p:cNvPr>
            <p:cNvSpPr>
              <a:spLocks noChangeShapeType="1"/>
            </p:cNvSpPr>
            <p:nvPr/>
          </p:nvSpPr>
          <p:spPr bwMode="auto">
            <a:xfrm>
              <a:off x="381" y="2904"/>
              <a:ext cx="0"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8855" name="Line 6">
              <a:extLst>
                <a:ext uri="{FF2B5EF4-FFF2-40B4-BE49-F238E27FC236}">
                  <a16:creationId xmlns:a16="http://schemas.microsoft.com/office/drawing/2014/main" id="{5D71798D-98A6-4354-A77E-961DF673474F}"/>
                </a:ext>
              </a:extLst>
            </p:cNvPr>
            <p:cNvSpPr>
              <a:spLocks noChangeShapeType="1"/>
            </p:cNvSpPr>
            <p:nvPr/>
          </p:nvSpPr>
          <p:spPr bwMode="auto">
            <a:xfrm>
              <a:off x="527" y="2904"/>
              <a:ext cx="0"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8856" name="Line 7">
              <a:extLst>
                <a:ext uri="{FF2B5EF4-FFF2-40B4-BE49-F238E27FC236}">
                  <a16:creationId xmlns:a16="http://schemas.microsoft.com/office/drawing/2014/main" id="{0C8FDE26-9A04-7283-8108-6355A1D9D9BF}"/>
                </a:ext>
              </a:extLst>
            </p:cNvPr>
            <p:cNvSpPr>
              <a:spLocks noChangeShapeType="1"/>
            </p:cNvSpPr>
            <p:nvPr/>
          </p:nvSpPr>
          <p:spPr bwMode="auto">
            <a:xfrm>
              <a:off x="385" y="2904"/>
              <a:ext cx="138"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8857" name="Line 8">
              <a:extLst>
                <a:ext uri="{FF2B5EF4-FFF2-40B4-BE49-F238E27FC236}">
                  <a16:creationId xmlns:a16="http://schemas.microsoft.com/office/drawing/2014/main" id="{FB86C761-3915-DE86-F383-C8226C8420E8}"/>
                </a:ext>
              </a:extLst>
            </p:cNvPr>
            <p:cNvSpPr>
              <a:spLocks noChangeShapeType="1"/>
            </p:cNvSpPr>
            <p:nvPr/>
          </p:nvSpPr>
          <p:spPr bwMode="auto">
            <a:xfrm flipH="1">
              <a:off x="377" y="2904"/>
              <a:ext cx="154" cy="11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1755169148"/>
      </p:ext>
    </p:extLst>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xfrm>
            <a:off x="11092815" y="6428920"/>
            <a:ext cx="2190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2700">
              <a:spcBef>
                <a:spcPts val="40"/>
              </a:spcBef>
            </a:pPr>
            <a:fld id="{81D60167-4931-47E6-BA6A-407CBD079E47}" type="slidenum">
              <a:rPr lang="en-US" spc="-25" smtClean="0"/>
              <a:pPr marL="12700">
                <a:spcBef>
                  <a:spcPts val="40"/>
                </a:spcBef>
              </a:pPr>
              <a:t>83</a:t>
            </a:fld>
            <a:endParaRPr spc="-19" dirty="0"/>
          </a:p>
        </p:txBody>
      </p:sp>
      <p:sp>
        <p:nvSpPr>
          <p:cNvPr id="2" name="object 2"/>
          <p:cNvSpPr txBox="1">
            <a:spLocks noGrp="1"/>
          </p:cNvSpPr>
          <p:nvPr>
            <p:ph type="title"/>
          </p:nvPr>
        </p:nvSpPr>
        <p:spPr>
          <a:xfrm>
            <a:off x="0" y="381000"/>
            <a:ext cx="9067800" cy="4164602"/>
          </a:xfrm>
          <a:prstGeom prst="rect">
            <a:avLst/>
          </a:prstGeom>
        </p:spPr>
        <p:txBody>
          <a:bodyPr vert="horz" wrap="square" lIns="0" tIns="9525" rIns="0" bIns="0" numCol="1" rtlCol="0" anchor="b" anchorCtr="0" compatLnSpc="1">
            <a:prstTxWarp prst="textNoShape">
              <a:avLst/>
            </a:prstTxWarp>
            <a:spAutoFit/>
          </a:bodyPr>
          <a:lstStyle/>
          <a:p>
            <a:pPr marL="9525" algn="ctr">
              <a:spcBef>
                <a:spcPts val="75"/>
              </a:spcBef>
            </a:pPr>
            <a:r>
              <a:rPr lang="en-US" sz="4500" spc="83" dirty="0"/>
              <a:t>Break (4:30 PM – 4:50 PM)</a:t>
            </a:r>
            <a:br>
              <a:rPr lang="en-US" sz="4500" spc="83" dirty="0"/>
            </a:br>
            <a:br>
              <a:rPr lang="en-US" sz="4500" spc="83" dirty="0"/>
            </a:br>
            <a:br>
              <a:rPr lang="en-US" sz="4500" spc="83" dirty="0"/>
            </a:br>
            <a:br>
              <a:rPr lang="en-US" sz="4500" spc="83" dirty="0"/>
            </a:br>
            <a:r>
              <a:rPr lang="en-US" sz="4500" spc="83" dirty="0"/>
              <a:t>Please be punctual so that </a:t>
            </a:r>
            <a:br>
              <a:rPr lang="en-US" sz="4500" spc="83" dirty="0"/>
            </a:br>
            <a:r>
              <a:rPr lang="en-US" sz="4500" spc="83" dirty="0"/>
              <a:t>we restart on time</a:t>
            </a:r>
            <a:endParaRPr sz="4500" dirty="0"/>
          </a:p>
        </p:txBody>
      </p:sp>
    </p:spTree>
    <p:extLst>
      <p:ext uri="{BB962C8B-B14F-4D97-AF65-F5344CB8AC3E}">
        <p14:creationId xmlns:p14="http://schemas.microsoft.com/office/powerpoint/2010/main" val="2253616397"/>
      </p:ext>
    </p:extLst>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F11D5CEA-1582-EF88-72C0-91590CF14F0B}"/>
              </a:ext>
            </a:extLst>
          </p:cNvPr>
          <p:cNvSpPr>
            <a:spLocks noGrp="1"/>
          </p:cNvSpPr>
          <p:nvPr>
            <p:ph type="title"/>
          </p:nvPr>
        </p:nvSpPr>
        <p:spPr/>
        <p:txBody>
          <a:bodyPr/>
          <a:lstStyle/>
          <a:p>
            <a:endParaRPr lang="en-US" altLang="en-US"/>
          </a:p>
        </p:txBody>
      </p:sp>
      <p:sp>
        <p:nvSpPr>
          <p:cNvPr id="3" name="Content Placeholder 2">
            <a:extLst>
              <a:ext uri="{FF2B5EF4-FFF2-40B4-BE49-F238E27FC236}">
                <a16:creationId xmlns:a16="http://schemas.microsoft.com/office/drawing/2014/main" id="{36914AC3-AD49-18DA-3E2B-0319D0BCC21B}"/>
              </a:ext>
            </a:extLst>
          </p:cNvPr>
          <p:cNvSpPr>
            <a:spLocks noGrp="1"/>
          </p:cNvSpPr>
          <p:nvPr>
            <p:ph idx="1"/>
          </p:nvPr>
        </p:nvSpPr>
        <p:spPr>
          <a:xfrm>
            <a:off x="227990" y="2743200"/>
            <a:ext cx="8294687" cy="2743200"/>
          </a:xfrm>
        </p:spPr>
        <p:txBody>
          <a:bodyPr/>
          <a:lstStyle/>
          <a:p>
            <a:pPr marL="0" indent="0" algn="ctr">
              <a:buFont typeface="Wingdings" panose="05000000000000000000" pitchFamily="2" charset="2"/>
              <a:buNone/>
              <a:defRPr/>
            </a:pPr>
            <a:r>
              <a:rPr lang="en-US" sz="3200" b="1" dirty="0">
                <a:ea typeface="+mn-ea"/>
              </a:rPr>
              <a:t>CHAPTER 7</a:t>
            </a:r>
          </a:p>
          <a:p>
            <a:pPr marL="0" indent="0" algn="ctr">
              <a:buFont typeface="Wingdings" panose="05000000000000000000" pitchFamily="2" charset="2"/>
              <a:buNone/>
              <a:defRPr/>
            </a:pPr>
            <a:endParaRPr lang="en-US" sz="3200" b="1" dirty="0">
              <a:ea typeface="+mn-ea"/>
            </a:endParaRPr>
          </a:p>
          <a:p>
            <a:pPr marL="0" indent="0" algn="ctr">
              <a:buFont typeface="Wingdings" panose="05000000000000000000" pitchFamily="2" charset="2"/>
              <a:buNone/>
              <a:defRPr/>
            </a:pPr>
            <a:r>
              <a:rPr lang="en-US" sz="3600" b="1" dirty="0">
                <a:ea typeface="+mn-ea"/>
              </a:rPr>
              <a:t>Triggers, Views, and </a:t>
            </a:r>
          </a:p>
          <a:p>
            <a:pPr marL="0" indent="0" algn="ctr">
              <a:buFont typeface="Wingdings" panose="05000000000000000000" pitchFamily="2" charset="2"/>
              <a:buNone/>
              <a:defRPr/>
            </a:pPr>
            <a:r>
              <a:rPr lang="en-US" sz="3600" b="1" dirty="0">
                <a:ea typeface="+mn-ea"/>
              </a:rPr>
              <a:t>Schema Modification</a:t>
            </a:r>
          </a:p>
        </p:txBody>
      </p:sp>
      <p:sp>
        <p:nvSpPr>
          <p:cNvPr id="8196" name="Slide Number Placeholder 3">
            <a:extLst>
              <a:ext uri="{FF2B5EF4-FFF2-40B4-BE49-F238E27FC236}">
                <a16:creationId xmlns:a16="http://schemas.microsoft.com/office/drawing/2014/main" id="{072D8A59-A87F-1E09-6CF9-9064286E201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7- </a:t>
            </a:r>
            <a:fld id="{5C309A8C-7329-4875-A370-49D768E26E29}" type="slidenum">
              <a:rPr lang="en-US" altLang="en-US" sz="1400">
                <a:solidFill>
                  <a:srgbClr val="990033"/>
                </a:solidFill>
              </a:rPr>
              <a:pPr>
                <a:spcBef>
                  <a:spcPct val="0"/>
                </a:spcBef>
                <a:buClrTx/>
                <a:buSzTx/>
                <a:buFontTx/>
                <a:buNone/>
              </a:pPr>
              <a:t>84</a:t>
            </a:fld>
            <a:endParaRPr lang="en-CA" altLang="en-US" sz="1400">
              <a:solidFill>
                <a:srgbClr val="990033"/>
              </a:solidFill>
            </a:endParaRPr>
          </a:p>
        </p:txBody>
      </p:sp>
    </p:spTree>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FA8F1C9B-CA34-EA56-7DF4-133E9E20C6D6}"/>
              </a:ext>
            </a:extLst>
          </p:cNvPr>
          <p:cNvSpPr>
            <a:spLocks noGrp="1"/>
          </p:cNvSpPr>
          <p:nvPr>
            <p:ph type="title"/>
          </p:nvPr>
        </p:nvSpPr>
        <p:spPr>
          <a:xfrm>
            <a:off x="457200" y="381000"/>
            <a:ext cx="8228013" cy="838200"/>
          </a:xfrm>
        </p:spPr>
        <p:txBody>
          <a:bodyPr/>
          <a:lstStyle/>
          <a:p>
            <a:r>
              <a:rPr lang="en-US" altLang="en-US" dirty="0"/>
              <a:t>Specifying Constraints as Assertions and Actions as Triggers</a:t>
            </a:r>
          </a:p>
        </p:txBody>
      </p:sp>
      <p:sp>
        <p:nvSpPr>
          <p:cNvPr id="51203" name="Content Placeholder 2">
            <a:extLst>
              <a:ext uri="{FF2B5EF4-FFF2-40B4-BE49-F238E27FC236}">
                <a16:creationId xmlns:a16="http://schemas.microsoft.com/office/drawing/2014/main" id="{8DA0CC51-3F88-BE8B-4356-261D73616A5B}"/>
              </a:ext>
            </a:extLst>
          </p:cNvPr>
          <p:cNvSpPr>
            <a:spLocks noGrp="1"/>
          </p:cNvSpPr>
          <p:nvPr>
            <p:ph idx="1"/>
          </p:nvPr>
        </p:nvSpPr>
        <p:spPr>
          <a:xfrm>
            <a:off x="457200" y="1905000"/>
            <a:ext cx="8228013" cy="4224338"/>
          </a:xfrm>
        </p:spPr>
        <p:txBody>
          <a:bodyPr/>
          <a:lstStyle/>
          <a:p>
            <a:r>
              <a:rPr lang="en-US" altLang="en-US"/>
              <a:t>Semantic Constraints: The following are beyond the scope of the EER and relational model </a:t>
            </a:r>
          </a:p>
          <a:p>
            <a:r>
              <a:rPr lang="en-US" altLang="en-US" b="1">
                <a:latin typeface="Courier New" panose="02070309020205020404" pitchFamily="49" charset="0"/>
                <a:cs typeface="Courier New" panose="02070309020205020404" pitchFamily="49" charset="0"/>
              </a:rPr>
              <a:t>CREATE ASSERTION</a:t>
            </a:r>
          </a:p>
          <a:p>
            <a:pPr lvl="1"/>
            <a:r>
              <a:rPr lang="en-US" altLang="en-US"/>
              <a:t>Specify additional types of constraints outside scope of built-in relational model constraints</a:t>
            </a:r>
          </a:p>
          <a:p>
            <a:r>
              <a:rPr lang="en-US" altLang="en-US" b="1">
                <a:latin typeface="Courier New" panose="02070309020205020404" pitchFamily="49" charset="0"/>
                <a:cs typeface="Courier New" panose="02070309020205020404" pitchFamily="49" charset="0"/>
              </a:rPr>
              <a:t>CREATE TRIGGER</a:t>
            </a:r>
          </a:p>
          <a:p>
            <a:pPr lvl="1"/>
            <a:r>
              <a:rPr lang="en-US" altLang="en-US"/>
              <a:t>Specify automatic actions that database system will perform when certain events and conditions occur</a:t>
            </a:r>
          </a:p>
        </p:txBody>
      </p:sp>
      <p:sp>
        <p:nvSpPr>
          <p:cNvPr id="51204" name="Slide Number Placeholder 3">
            <a:extLst>
              <a:ext uri="{FF2B5EF4-FFF2-40B4-BE49-F238E27FC236}">
                <a16:creationId xmlns:a16="http://schemas.microsoft.com/office/drawing/2014/main" id="{3076224B-39FA-D939-0C95-38118BC1B1A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7- 41</a:t>
            </a:r>
            <a:endParaRPr lang="en-CA" altLang="en-US" sz="1400">
              <a:solidFill>
                <a:srgbClr val="990033"/>
              </a:solidFill>
            </a:endParaRPr>
          </a:p>
        </p:txBody>
      </p:sp>
    </p:spTree>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9653A977-B028-BD69-C43C-00C172C8C5C6}"/>
              </a:ext>
            </a:extLst>
          </p:cNvPr>
          <p:cNvSpPr>
            <a:spLocks noGrp="1"/>
          </p:cNvSpPr>
          <p:nvPr>
            <p:ph type="title"/>
          </p:nvPr>
        </p:nvSpPr>
        <p:spPr/>
        <p:txBody>
          <a:bodyPr/>
          <a:lstStyle/>
          <a:p>
            <a:r>
              <a:rPr lang="en-US" altLang="en-US"/>
              <a:t>Specifying General Constraints as Assertions in SQL</a:t>
            </a:r>
          </a:p>
        </p:txBody>
      </p:sp>
      <p:sp>
        <p:nvSpPr>
          <p:cNvPr id="52227" name="Content Placeholder 2">
            <a:extLst>
              <a:ext uri="{FF2B5EF4-FFF2-40B4-BE49-F238E27FC236}">
                <a16:creationId xmlns:a16="http://schemas.microsoft.com/office/drawing/2014/main" id="{DC51BEE7-BFB4-5EDF-0016-B933CADFA4EC}"/>
              </a:ext>
            </a:extLst>
          </p:cNvPr>
          <p:cNvSpPr>
            <a:spLocks noGrp="1"/>
          </p:cNvSpPr>
          <p:nvPr>
            <p:ph idx="1"/>
          </p:nvPr>
        </p:nvSpPr>
        <p:spPr/>
        <p:txBody>
          <a:bodyPr/>
          <a:lstStyle/>
          <a:p>
            <a:r>
              <a:rPr lang="en-US" altLang="en-US" b="1">
                <a:latin typeface="Courier New" panose="02070309020205020404" pitchFamily="49" charset="0"/>
                <a:cs typeface="Courier New" panose="02070309020205020404" pitchFamily="49" charset="0"/>
              </a:rPr>
              <a:t>CREATE ASSERTION </a:t>
            </a:r>
          </a:p>
          <a:p>
            <a:pPr lvl="1"/>
            <a:r>
              <a:rPr lang="en-US" altLang="en-US"/>
              <a:t>Specify a query that selects any tuples that violate the desired condition</a:t>
            </a:r>
          </a:p>
          <a:p>
            <a:pPr lvl="1"/>
            <a:r>
              <a:rPr lang="en-US" altLang="en-US"/>
              <a:t>Use only in cases where it goes beyond a simple </a:t>
            </a:r>
            <a:r>
              <a:rPr lang="en-US" altLang="en-US">
                <a:latin typeface="Courier New" panose="02070309020205020404" pitchFamily="49" charset="0"/>
                <a:cs typeface="Courier New" panose="02070309020205020404" pitchFamily="49" charset="0"/>
              </a:rPr>
              <a:t>CHECK</a:t>
            </a:r>
            <a:r>
              <a:rPr lang="en-US" altLang="en-US"/>
              <a:t> which applies to individual attributes and domains</a:t>
            </a:r>
          </a:p>
        </p:txBody>
      </p:sp>
      <p:pic>
        <p:nvPicPr>
          <p:cNvPr id="52228" name="Picture 2">
            <a:extLst>
              <a:ext uri="{FF2B5EF4-FFF2-40B4-BE49-F238E27FC236}">
                <a16:creationId xmlns:a16="http://schemas.microsoft.com/office/drawing/2014/main" id="{EBB58C94-E58E-EB03-655E-F3A75382FA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4191000"/>
            <a:ext cx="63373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9" name="Slide Number Placeholder 3">
            <a:extLst>
              <a:ext uri="{FF2B5EF4-FFF2-40B4-BE49-F238E27FC236}">
                <a16:creationId xmlns:a16="http://schemas.microsoft.com/office/drawing/2014/main" id="{E00C915B-44C6-71D4-8987-20AF54DA5AF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7- </a:t>
            </a:r>
            <a:fld id="{0DCE232D-7CC6-466F-82D3-3708D30E5C76}" type="slidenum">
              <a:rPr lang="en-US" altLang="en-US" sz="1400">
                <a:solidFill>
                  <a:srgbClr val="990033"/>
                </a:solidFill>
              </a:rPr>
              <a:pPr>
                <a:spcBef>
                  <a:spcPct val="0"/>
                </a:spcBef>
                <a:buClrTx/>
                <a:buSzTx/>
                <a:buFontTx/>
                <a:buNone/>
              </a:pPr>
              <a:t>86</a:t>
            </a:fld>
            <a:endParaRPr lang="en-CA" altLang="en-US" sz="1400">
              <a:solidFill>
                <a:srgbClr val="990033"/>
              </a:solidFill>
            </a:endParaRPr>
          </a:p>
        </p:txBody>
      </p:sp>
    </p:spTree>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C64453EC-A62C-F032-10A6-F97AE509EDDA}"/>
              </a:ext>
            </a:extLst>
          </p:cNvPr>
          <p:cNvSpPr>
            <a:spLocks noGrp="1"/>
          </p:cNvSpPr>
          <p:nvPr>
            <p:ph type="title"/>
          </p:nvPr>
        </p:nvSpPr>
        <p:spPr/>
        <p:txBody>
          <a:bodyPr/>
          <a:lstStyle/>
          <a:p>
            <a:r>
              <a:rPr lang="en-US" altLang="en-US"/>
              <a:t>Introduction to Triggers in SQL</a:t>
            </a:r>
          </a:p>
        </p:txBody>
      </p:sp>
      <p:sp>
        <p:nvSpPr>
          <p:cNvPr id="53251" name="Content Placeholder 2">
            <a:extLst>
              <a:ext uri="{FF2B5EF4-FFF2-40B4-BE49-F238E27FC236}">
                <a16:creationId xmlns:a16="http://schemas.microsoft.com/office/drawing/2014/main" id="{17FE7F96-0400-A4B6-4392-5225AF76E7CD}"/>
              </a:ext>
            </a:extLst>
          </p:cNvPr>
          <p:cNvSpPr>
            <a:spLocks noGrp="1"/>
          </p:cNvSpPr>
          <p:nvPr>
            <p:ph idx="1"/>
          </p:nvPr>
        </p:nvSpPr>
        <p:spPr/>
        <p:txBody>
          <a:bodyPr/>
          <a:lstStyle/>
          <a:p>
            <a:r>
              <a:rPr lang="en-US" altLang="en-US">
                <a:latin typeface="Courier New" panose="02070309020205020404" pitchFamily="49" charset="0"/>
                <a:cs typeface="Courier New" panose="02070309020205020404" pitchFamily="49" charset="0"/>
              </a:rPr>
              <a:t>CREATE TRIGGER </a:t>
            </a:r>
            <a:r>
              <a:rPr lang="en-US" altLang="en-US"/>
              <a:t>statement</a:t>
            </a:r>
          </a:p>
          <a:p>
            <a:pPr lvl="1"/>
            <a:r>
              <a:rPr lang="en-US" altLang="en-US"/>
              <a:t>Used to monitor the database</a:t>
            </a:r>
          </a:p>
          <a:p>
            <a:r>
              <a:rPr lang="en-US" altLang="en-US"/>
              <a:t>Typical trigger has three components which make it a rule for an “active database “ (more on active databases in section 26.1) :</a:t>
            </a:r>
          </a:p>
          <a:p>
            <a:pPr lvl="1"/>
            <a:r>
              <a:rPr lang="en-US" altLang="en-US" b="1"/>
              <a:t>Event(s)</a:t>
            </a:r>
          </a:p>
          <a:p>
            <a:pPr lvl="1"/>
            <a:r>
              <a:rPr lang="en-US" altLang="en-US" b="1"/>
              <a:t>Condition</a:t>
            </a:r>
          </a:p>
          <a:p>
            <a:pPr lvl="1"/>
            <a:r>
              <a:rPr lang="en-US" altLang="en-US" b="1"/>
              <a:t>Action</a:t>
            </a:r>
          </a:p>
        </p:txBody>
      </p:sp>
      <p:sp>
        <p:nvSpPr>
          <p:cNvPr id="53252" name="Slide Number Placeholder 3">
            <a:extLst>
              <a:ext uri="{FF2B5EF4-FFF2-40B4-BE49-F238E27FC236}">
                <a16:creationId xmlns:a16="http://schemas.microsoft.com/office/drawing/2014/main" id="{2D60649B-80DA-FB92-C921-F9C06EE851D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7- 4</a:t>
            </a:r>
            <a:r>
              <a:rPr lang="en-CA" altLang="en-US" sz="1400">
                <a:solidFill>
                  <a:srgbClr val="990033"/>
                </a:solidFill>
              </a:rPr>
              <a:t>3</a:t>
            </a:r>
            <a:endParaRPr lang="en-US" altLang="en-US" sz="1400">
              <a:solidFill>
                <a:srgbClr val="990033"/>
              </a:solidFill>
            </a:endParaRPr>
          </a:p>
        </p:txBody>
      </p:sp>
    </p:spTree>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D4540786-4644-843B-3EF7-2332E1979CC1}"/>
              </a:ext>
            </a:extLst>
          </p:cNvPr>
          <p:cNvSpPr>
            <a:spLocks noGrp="1"/>
          </p:cNvSpPr>
          <p:nvPr>
            <p:ph type="title"/>
          </p:nvPr>
        </p:nvSpPr>
        <p:spPr/>
        <p:txBody>
          <a:bodyPr/>
          <a:lstStyle/>
          <a:p>
            <a:r>
              <a:rPr lang="en-US" altLang="en-US"/>
              <a:t>USE OF TRIGGERS</a:t>
            </a:r>
          </a:p>
        </p:txBody>
      </p:sp>
      <p:sp>
        <p:nvSpPr>
          <p:cNvPr id="54275" name="Content Placeholder 2">
            <a:extLst>
              <a:ext uri="{FF2B5EF4-FFF2-40B4-BE49-F238E27FC236}">
                <a16:creationId xmlns:a16="http://schemas.microsoft.com/office/drawing/2014/main" id="{86D6023B-B298-31BF-449B-1E86F32320B8}"/>
              </a:ext>
            </a:extLst>
          </p:cNvPr>
          <p:cNvSpPr>
            <a:spLocks noGrp="1"/>
          </p:cNvSpPr>
          <p:nvPr>
            <p:ph idx="1"/>
          </p:nvPr>
        </p:nvSpPr>
        <p:spPr>
          <a:xfrm>
            <a:off x="228600" y="3125431"/>
            <a:ext cx="8294687" cy="872106"/>
          </a:xfrm>
        </p:spPr>
        <p:txBody>
          <a:bodyPr>
            <a:normAutofit fontScale="70000" lnSpcReduction="20000"/>
          </a:bodyPr>
          <a:lstStyle/>
          <a:p>
            <a:pPr marL="0" indent="0">
              <a:buNone/>
            </a:pPr>
            <a:r>
              <a:rPr lang="en-US" altLang="en-US" dirty="0"/>
              <a:t>AN EXAMPLE with standard Syntax.</a:t>
            </a:r>
          </a:p>
          <a:p>
            <a:pPr marL="0" indent="0">
              <a:buNone/>
            </a:pPr>
            <a:r>
              <a:rPr lang="en-US" altLang="en-US" dirty="0"/>
              <a:t>(other SQL implementations like PostgreSQL use a different syntax.)</a:t>
            </a:r>
          </a:p>
          <a:p>
            <a:endParaRPr lang="en-US" altLang="en-US" dirty="0"/>
          </a:p>
        </p:txBody>
      </p:sp>
      <p:sp>
        <p:nvSpPr>
          <p:cNvPr id="54276" name="TextBox 3">
            <a:extLst>
              <a:ext uri="{FF2B5EF4-FFF2-40B4-BE49-F238E27FC236}">
                <a16:creationId xmlns:a16="http://schemas.microsoft.com/office/drawing/2014/main" id="{8BBA5E02-6651-C4A1-2D10-93097280BD83}"/>
              </a:ext>
            </a:extLst>
          </p:cNvPr>
          <p:cNvSpPr txBox="1">
            <a:spLocks noChangeArrowheads="1"/>
          </p:cNvSpPr>
          <p:nvPr/>
        </p:nvSpPr>
        <p:spPr bwMode="auto">
          <a:xfrm>
            <a:off x="557213" y="3965453"/>
            <a:ext cx="7467600"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r>
              <a:rPr lang="en-US" altLang="en-US" sz="1800" b="1" dirty="0">
                <a:solidFill>
                  <a:schemeClr val="tx1"/>
                </a:solidFill>
                <a:cs typeface="Arial" panose="020B0604020202020204" pitchFamily="34" charset="0"/>
              </a:rPr>
              <a:t>R5: </a:t>
            </a:r>
          </a:p>
          <a:p>
            <a:pPr eaLnBrk="1" hangingPunct="1">
              <a:spcBef>
                <a:spcPct val="0"/>
              </a:spcBef>
              <a:buClrTx/>
              <a:buSzTx/>
              <a:buFontTx/>
              <a:buNone/>
            </a:pPr>
            <a:r>
              <a:rPr lang="en-US" altLang="en-US" sz="1800" b="1" dirty="0">
                <a:solidFill>
                  <a:schemeClr val="tx1"/>
                </a:solidFill>
                <a:cs typeface="Arial" panose="020B0604020202020204" pitchFamily="34" charset="0"/>
              </a:rPr>
              <a:t>CREATE TRIGGER </a:t>
            </a:r>
            <a:r>
              <a:rPr lang="en-US" altLang="en-US" sz="1800" dirty="0">
                <a:solidFill>
                  <a:schemeClr val="tx1"/>
                </a:solidFill>
                <a:cs typeface="Arial" panose="020B0604020202020204" pitchFamily="34" charset="0"/>
              </a:rPr>
              <a:t>SALARY_VIOLATION</a:t>
            </a:r>
          </a:p>
          <a:p>
            <a:pPr eaLnBrk="1" hangingPunct="1">
              <a:spcBef>
                <a:spcPct val="0"/>
              </a:spcBef>
              <a:buClrTx/>
              <a:buSzTx/>
              <a:buFontTx/>
              <a:buNone/>
            </a:pPr>
            <a:r>
              <a:rPr lang="en-US" altLang="en-US" sz="1800" b="1" dirty="0">
                <a:solidFill>
                  <a:schemeClr val="tx1"/>
                </a:solidFill>
                <a:cs typeface="Arial" panose="020B0604020202020204" pitchFamily="34" charset="0"/>
              </a:rPr>
              <a:t>BEFORE INSERT OR UPDATE </a:t>
            </a:r>
            <a:r>
              <a:rPr lang="en-US" altLang="en-US" sz="1800" dirty="0">
                <a:solidFill>
                  <a:schemeClr val="tx1"/>
                </a:solidFill>
                <a:cs typeface="Arial" panose="020B0604020202020204" pitchFamily="34" charset="0"/>
              </a:rPr>
              <a:t>OF Salary, </a:t>
            </a:r>
            <a:r>
              <a:rPr lang="en-US" altLang="en-US" sz="1800" dirty="0" err="1">
                <a:solidFill>
                  <a:schemeClr val="tx1"/>
                </a:solidFill>
                <a:cs typeface="Arial" panose="020B0604020202020204" pitchFamily="34" charset="0"/>
              </a:rPr>
              <a:t>Supervisor_ssn</a:t>
            </a:r>
            <a:r>
              <a:rPr lang="en-US" altLang="en-US" sz="1800" dirty="0">
                <a:solidFill>
                  <a:schemeClr val="tx1"/>
                </a:solidFill>
                <a:cs typeface="Arial" panose="020B0604020202020204" pitchFamily="34" charset="0"/>
              </a:rPr>
              <a:t> </a:t>
            </a:r>
            <a:r>
              <a:rPr lang="en-US" altLang="en-US" sz="1800" b="1" dirty="0">
                <a:solidFill>
                  <a:schemeClr val="tx1"/>
                </a:solidFill>
                <a:cs typeface="Arial" panose="020B0604020202020204" pitchFamily="34" charset="0"/>
              </a:rPr>
              <a:t>ON</a:t>
            </a:r>
            <a:r>
              <a:rPr lang="en-US" altLang="en-US" sz="1800" dirty="0">
                <a:solidFill>
                  <a:schemeClr val="tx1"/>
                </a:solidFill>
                <a:cs typeface="Arial" panose="020B0604020202020204" pitchFamily="34" charset="0"/>
              </a:rPr>
              <a:t> EMPLOYEE</a:t>
            </a:r>
          </a:p>
          <a:p>
            <a:pPr eaLnBrk="1" hangingPunct="1">
              <a:spcBef>
                <a:spcPct val="0"/>
              </a:spcBef>
              <a:buClrTx/>
              <a:buSzTx/>
              <a:buFontTx/>
              <a:buNone/>
            </a:pPr>
            <a:endParaRPr lang="en-US" altLang="en-US" sz="1800" dirty="0">
              <a:solidFill>
                <a:schemeClr val="tx1"/>
              </a:solidFill>
              <a:cs typeface="Arial" panose="020B0604020202020204" pitchFamily="34" charset="0"/>
            </a:endParaRPr>
          </a:p>
          <a:p>
            <a:pPr eaLnBrk="1" hangingPunct="1">
              <a:spcBef>
                <a:spcPct val="0"/>
              </a:spcBef>
              <a:buClrTx/>
              <a:buSzTx/>
              <a:buFontTx/>
              <a:buNone/>
            </a:pPr>
            <a:r>
              <a:rPr lang="en-US" altLang="en-US" sz="1800" b="1" dirty="0">
                <a:solidFill>
                  <a:schemeClr val="tx1"/>
                </a:solidFill>
                <a:cs typeface="Arial" panose="020B0604020202020204" pitchFamily="34" charset="0"/>
              </a:rPr>
              <a:t>FOR EACH ROW</a:t>
            </a:r>
          </a:p>
          <a:p>
            <a:pPr eaLnBrk="1" hangingPunct="1">
              <a:spcBef>
                <a:spcPct val="0"/>
              </a:spcBef>
              <a:buClrTx/>
              <a:buSzTx/>
              <a:buFontTx/>
              <a:buNone/>
            </a:pPr>
            <a:r>
              <a:rPr lang="en-US" altLang="en-US" sz="1800" b="1" dirty="0">
                <a:solidFill>
                  <a:schemeClr val="tx1"/>
                </a:solidFill>
                <a:cs typeface="Arial" panose="020B0604020202020204" pitchFamily="34" charset="0"/>
              </a:rPr>
              <a:t>WHEN (NEW</a:t>
            </a:r>
            <a:r>
              <a:rPr lang="en-US" altLang="en-US" sz="1800" dirty="0">
                <a:solidFill>
                  <a:schemeClr val="tx1"/>
                </a:solidFill>
                <a:cs typeface="Arial" panose="020B0604020202020204" pitchFamily="34" charset="0"/>
              </a:rPr>
              <a:t>.SALARY &gt; </a:t>
            </a:r>
            <a:r>
              <a:rPr lang="en-US" altLang="en-US" sz="1800" b="1" dirty="0">
                <a:solidFill>
                  <a:schemeClr val="tx1"/>
                </a:solidFill>
                <a:cs typeface="Arial" panose="020B0604020202020204" pitchFamily="34" charset="0"/>
              </a:rPr>
              <a:t>(</a:t>
            </a:r>
            <a:r>
              <a:rPr lang="en-US" altLang="en-US" sz="1800" dirty="0">
                <a:solidFill>
                  <a:schemeClr val="tx1"/>
                </a:solidFill>
                <a:cs typeface="Arial" panose="020B0604020202020204" pitchFamily="34" charset="0"/>
              </a:rPr>
              <a:t> SELECT Salary FROM EMPLOYEE</a:t>
            </a:r>
          </a:p>
          <a:p>
            <a:pPr eaLnBrk="1" hangingPunct="1">
              <a:spcBef>
                <a:spcPct val="0"/>
              </a:spcBef>
              <a:buClrTx/>
              <a:buSzTx/>
              <a:buFontTx/>
              <a:buNone/>
            </a:pPr>
            <a:r>
              <a:rPr lang="en-US" altLang="en-US" sz="1800" b="1" dirty="0">
                <a:solidFill>
                  <a:schemeClr val="tx1"/>
                </a:solidFill>
                <a:cs typeface="Arial" panose="020B0604020202020204" pitchFamily="34" charset="0"/>
              </a:rPr>
              <a:t>                                           WHERE Ssn = NEW. </a:t>
            </a:r>
            <a:r>
              <a:rPr lang="en-US" altLang="en-US" sz="1800" b="1" dirty="0" err="1">
                <a:solidFill>
                  <a:schemeClr val="tx1"/>
                </a:solidFill>
                <a:cs typeface="Arial" panose="020B0604020202020204" pitchFamily="34" charset="0"/>
              </a:rPr>
              <a:t>Supervisor_Ssn</a:t>
            </a:r>
            <a:r>
              <a:rPr lang="en-US" altLang="en-US" sz="1800" b="1" dirty="0">
                <a:solidFill>
                  <a:schemeClr val="tx1"/>
                </a:solidFill>
                <a:cs typeface="Arial" panose="020B0604020202020204" pitchFamily="34" charset="0"/>
              </a:rPr>
              <a:t>))  INFORM_SUPERVISOR (</a:t>
            </a:r>
            <a:r>
              <a:rPr lang="en-US" altLang="en-US" sz="1800" b="1" dirty="0" err="1">
                <a:solidFill>
                  <a:schemeClr val="tx1"/>
                </a:solidFill>
                <a:cs typeface="Arial" panose="020B0604020202020204" pitchFamily="34" charset="0"/>
              </a:rPr>
              <a:t>NEW.Supervisor.Ssn</a:t>
            </a:r>
            <a:r>
              <a:rPr lang="en-US" altLang="en-US" sz="1800" b="1" dirty="0">
                <a:solidFill>
                  <a:schemeClr val="tx1"/>
                </a:solidFill>
                <a:cs typeface="Arial" panose="020B0604020202020204" pitchFamily="34" charset="0"/>
              </a:rPr>
              <a:t>, </a:t>
            </a:r>
            <a:r>
              <a:rPr lang="en-US" altLang="en-US" sz="1800" b="1" dirty="0" err="1">
                <a:solidFill>
                  <a:schemeClr val="tx1"/>
                </a:solidFill>
                <a:cs typeface="Arial" panose="020B0604020202020204" pitchFamily="34" charset="0"/>
              </a:rPr>
              <a:t>New.Ssn</a:t>
            </a:r>
            <a:r>
              <a:rPr lang="en-US" altLang="en-US" sz="1800" b="1" dirty="0">
                <a:solidFill>
                  <a:schemeClr val="tx1"/>
                </a:solidFill>
                <a:cs typeface="Arial" panose="020B0604020202020204" pitchFamily="34" charset="0"/>
              </a:rPr>
              <a:t>)</a:t>
            </a:r>
          </a:p>
        </p:txBody>
      </p:sp>
      <p:sp>
        <p:nvSpPr>
          <p:cNvPr id="54277" name="Slide Number Placeholder 3">
            <a:extLst>
              <a:ext uri="{FF2B5EF4-FFF2-40B4-BE49-F238E27FC236}">
                <a16:creationId xmlns:a16="http://schemas.microsoft.com/office/drawing/2014/main" id="{0F7A4D9D-3A55-4B1F-04ED-E67ED193748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7- 44</a:t>
            </a:r>
            <a:endParaRPr lang="en-CA" altLang="en-US" sz="1400">
              <a:solidFill>
                <a:srgbClr val="990033"/>
              </a:solidFill>
            </a:endParaRPr>
          </a:p>
        </p:txBody>
      </p:sp>
      <p:sp>
        <p:nvSpPr>
          <p:cNvPr id="7" name="object 7"/>
          <p:cNvSpPr txBox="1"/>
          <p:nvPr/>
        </p:nvSpPr>
        <p:spPr>
          <a:xfrm>
            <a:off x="533399" y="1415482"/>
            <a:ext cx="7796213" cy="1491755"/>
          </a:xfrm>
          <a:prstGeom prst="rect">
            <a:avLst/>
          </a:prstGeom>
          <a:ln w="38100">
            <a:solidFill>
              <a:srgbClr val="4472C4"/>
            </a:solidFill>
          </a:ln>
        </p:spPr>
        <p:txBody>
          <a:bodyPr vert="horz" wrap="square" lIns="0" tIns="14288" rIns="0" bIns="0" rtlCol="0">
            <a:spAutoFit/>
          </a:bodyPr>
          <a:lstStyle/>
          <a:p>
            <a:pPr marL="68104">
              <a:spcBef>
                <a:spcPts val="113"/>
              </a:spcBef>
            </a:pPr>
            <a:r>
              <a:rPr b="1" dirty="0">
                <a:latin typeface="Courier New"/>
                <a:cs typeface="Courier New"/>
              </a:rPr>
              <a:t>CREATE</a:t>
            </a:r>
            <a:r>
              <a:rPr b="1" spc="-19" dirty="0">
                <a:latin typeface="Courier New"/>
                <a:cs typeface="Courier New"/>
              </a:rPr>
              <a:t> </a:t>
            </a:r>
            <a:r>
              <a:rPr b="1" dirty="0">
                <a:latin typeface="Courier New"/>
                <a:cs typeface="Courier New"/>
              </a:rPr>
              <a:t>TRIGGER</a:t>
            </a:r>
            <a:r>
              <a:rPr b="1" spc="-8" dirty="0">
                <a:latin typeface="Courier New"/>
                <a:cs typeface="Courier New"/>
              </a:rPr>
              <a:t> </a:t>
            </a:r>
            <a:r>
              <a:rPr spc="-8" dirty="0">
                <a:latin typeface="Courier New"/>
                <a:cs typeface="Courier New"/>
              </a:rPr>
              <a:t>trigger-</a:t>
            </a:r>
            <a:r>
              <a:rPr spc="-15" dirty="0">
                <a:latin typeface="Courier New"/>
                <a:cs typeface="Courier New"/>
              </a:rPr>
              <a:t>name</a:t>
            </a:r>
            <a:endParaRPr dirty="0">
              <a:latin typeface="Courier New"/>
              <a:cs typeface="Courier New"/>
            </a:endParaRPr>
          </a:p>
          <a:p>
            <a:pPr marL="68104" marR="210503" indent="228600"/>
            <a:r>
              <a:rPr b="1" spc="-8" dirty="0">
                <a:solidFill>
                  <a:srgbClr val="FF0000"/>
                </a:solidFill>
                <a:latin typeface="Courier New"/>
                <a:cs typeface="Courier New"/>
              </a:rPr>
              <a:t>trigger-</a:t>
            </a:r>
            <a:r>
              <a:rPr b="1" dirty="0">
                <a:solidFill>
                  <a:srgbClr val="FF0000"/>
                </a:solidFill>
                <a:latin typeface="Courier New"/>
                <a:cs typeface="Courier New"/>
              </a:rPr>
              <a:t>time</a:t>
            </a:r>
            <a:r>
              <a:rPr b="1" spc="38" dirty="0">
                <a:solidFill>
                  <a:srgbClr val="FF0000"/>
                </a:solidFill>
                <a:latin typeface="Courier New"/>
                <a:cs typeface="Courier New"/>
              </a:rPr>
              <a:t> </a:t>
            </a:r>
            <a:r>
              <a:rPr b="1" spc="-8" dirty="0">
                <a:solidFill>
                  <a:srgbClr val="FF0000"/>
                </a:solidFill>
                <a:latin typeface="Courier New"/>
                <a:cs typeface="Courier New"/>
              </a:rPr>
              <a:t>trigger-event </a:t>
            </a:r>
            <a:r>
              <a:rPr b="1" dirty="0">
                <a:latin typeface="Courier New"/>
                <a:cs typeface="Courier New"/>
              </a:rPr>
              <a:t>ON</a:t>
            </a:r>
            <a:r>
              <a:rPr b="1" spc="15" dirty="0">
                <a:latin typeface="Courier New"/>
                <a:cs typeface="Courier New"/>
              </a:rPr>
              <a:t> </a:t>
            </a:r>
            <a:r>
              <a:rPr spc="-8" dirty="0">
                <a:latin typeface="Courier New"/>
                <a:cs typeface="Courier New"/>
              </a:rPr>
              <a:t>table-</a:t>
            </a:r>
            <a:r>
              <a:rPr spc="-15" dirty="0">
                <a:latin typeface="Courier New"/>
                <a:cs typeface="Courier New"/>
              </a:rPr>
              <a:t>name</a:t>
            </a:r>
            <a:endParaRPr dirty="0">
              <a:latin typeface="Courier New"/>
              <a:cs typeface="Courier New"/>
            </a:endParaRPr>
          </a:p>
          <a:p>
            <a:pPr marL="68104"/>
            <a:r>
              <a:rPr b="1" dirty="0">
                <a:latin typeface="Courier New"/>
                <a:cs typeface="Courier New"/>
              </a:rPr>
              <a:t>FOR</a:t>
            </a:r>
            <a:r>
              <a:rPr b="1" spc="-15" dirty="0">
                <a:latin typeface="Courier New"/>
                <a:cs typeface="Courier New"/>
              </a:rPr>
              <a:t> </a:t>
            </a:r>
            <a:r>
              <a:rPr b="1" dirty="0">
                <a:latin typeface="Courier New"/>
                <a:cs typeface="Courier New"/>
              </a:rPr>
              <a:t>EACH</a:t>
            </a:r>
            <a:r>
              <a:rPr b="1" spc="-11" dirty="0">
                <a:latin typeface="Courier New"/>
                <a:cs typeface="Courier New"/>
              </a:rPr>
              <a:t> </a:t>
            </a:r>
            <a:r>
              <a:rPr b="1" spc="-19" dirty="0">
                <a:latin typeface="Courier New"/>
                <a:cs typeface="Courier New"/>
              </a:rPr>
              <a:t>ROW</a:t>
            </a:r>
            <a:endParaRPr dirty="0">
              <a:latin typeface="Courier New"/>
              <a:cs typeface="Courier New"/>
            </a:endParaRPr>
          </a:p>
          <a:p>
            <a:pPr marL="297180"/>
            <a:r>
              <a:rPr b="1" spc="-8" dirty="0">
                <a:solidFill>
                  <a:srgbClr val="FF0000"/>
                </a:solidFill>
                <a:latin typeface="Courier New"/>
                <a:cs typeface="Courier New"/>
              </a:rPr>
              <a:t>trigger-action</a:t>
            </a:r>
            <a:r>
              <a:rPr spc="-8" dirty="0">
                <a:latin typeface="Courier New"/>
                <a:cs typeface="Courier New"/>
              </a:rPr>
              <a:t>;</a:t>
            </a:r>
            <a:endParaRPr dirty="0">
              <a:latin typeface="Courier New"/>
              <a:cs typeface="Courier New"/>
            </a:endParaRPr>
          </a:p>
        </p:txBody>
      </p:sp>
    </p:spTree>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30666" y="577736"/>
            <a:ext cx="5847160"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dirty="0"/>
              <a:t>Specification</a:t>
            </a:r>
            <a:r>
              <a:rPr spc="-101" dirty="0"/>
              <a:t> </a:t>
            </a:r>
            <a:r>
              <a:rPr dirty="0"/>
              <a:t>of</a:t>
            </a:r>
            <a:r>
              <a:rPr spc="-98" dirty="0"/>
              <a:t> </a:t>
            </a:r>
            <a:r>
              <a:rPr spc="-19" dirty="0"/>
              <a:t>Triggers</a:t>
            </a:r>
          </a:p>
        </p:txBody>
      </p:sp>
      <p:sp>
        <p:nvSpPr>
          <p:cNvPr id="3" name="object 3"/>
          <p:cNvSpPr txBox="1"/>
          <p:nvPr/>
        </p:nvSpPr>
        <p:spPr>
          <a:xfrm>
            <a:off x="0" y="1437681"/>
            <a:ext cx="8915400" cy="378950"/>
          </a:xfrm>
          <a:prstGeom prst="rect">
            <a:avLst/>
          </a:prstGeom>
        </p:spPr>
        <p:txBody>
          <a:bodyPr vert="horz" wrap="square" lIns="0" tIns="9525" rIns="0" bIns="0" rtlCol="0">
            <a:spAutoFit/>
          </a:bodyPr>
          <a:lstStyle/>
          <a:p>
            <a:pPr marL="180499" indent="-170974" algn="ctr">
              <a:spcBef>
                <a:spcPts val="75"/>
              </a:spcBef>
              <a:buClr>
                <a:srgbClr val="000000"/>
              </a:buClr>
              <a:buFont typeface="Arial"/>
              <a:buChar char="•"/>
              <a:tabLst>
                <a:tab pos="180499" algn="l"/>
              </a:tabLst>
            </a:pPr>
            <a:r>
              <a:rPr u="heavy" spc="-23" dirty="0">
                <a:solidFill>
                  <a:srgbClr val="0563C1"/>
                </a:solidFill>
                <a:uFill>
                  <a:solidFill>
                    <a:srgbClr val="0563C1"/>
                  </a:solidFill>
                </a:uFill>
                <a:latin typeface="Calibri"/>
                <a:cs typeface="Calibri"/>
              </a:rPr>
              <a:t>https://dev.mysql.com/doc/refman/8.0/en/create-</a:t>
            </a:r>
            <a:r>
              <a:rPr u="heavy" spc="-8" dirty="0">
                <a:solidFill>
                  <a:srgbClr val="0563C1"/>
                </a:solidFill>
                <a:uFill>
                  <a:solidFill>
                    <a:srgbClr val="0563C1"/>
                  </a:solidFill>
                </a:uFill>
                <a:latin typeface="Calibri"/>
                <a:cs typeface="Calibri"/>
              </a:rPr>
              <a:t>trigger.html</a:t>
            </a:r>
            <a:endParaRPr dirty="0">
              <a:latin typeface="Calibri"/>
              <a:cs typeface="Calibri"/>
            </a:endParaRPr>
          </a:p>
        </p:txBody>
      </p:sp>
      <p:pic>
        <p:nvPicPr>
          <p:cNvPr id="4" name="object 4"/>
          <p:cNvPicPr/>
          <p:nvPr/>
        </p:nvPicPr>
        <p:blipFill>
          <a:blip r:embed="rId2" cstate="print"/>
          <a:srcRect r="40684"/>
          <a:stretch/>
        </p:blipFill>
        <p:spPr>
          <a:xfrm>
            <a:off x="140547" y="2096918"/>
            <a:ext cx="8470053" cy="4075282"/>
          </a:xfrm>
          <a:prstGeom prst="rect">
            <a:avLst/>
          </a:prstGeom>
        </p:spPr>
      </p:pic>
      <p:sp>
        <p:nvSpPr>
          <p:cNvPr id="5" name="object 5"/>
          <p:cNvSpPr txBox="1">
            <a:spLocks noGrp="1"/>
          </p:cNvSpPr>
          <p:nvPr>
            <p:ph type="ftr" sz="quarter" idx="5"/>
          </p:nvPr>
        </p:nvSpPr>
        <p:spPr>
          <a:xfrm>
            <a:off x="4254246" y="6428920"/>
            <a:ext cx="3683634"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9525">
              <a:spcBef>
                <a:spcPts val="30"/>
              </a:spcBef>
            </a:pPr>
            <a:r>
              <a:rPr lang="en-US" spc="-10"/>
              <a:t>Copyright</a:t>
            </a:r>
            <a:r>
              <a:rPr lang="en-US" spc="-15"/>
              <a:t> </a:t>
            </a:r>
            <a:r>
              <a:rPr lang="en-US"/>
              <a:t>©</a:t>
            </a:r>
            <a:r>
              <a:rPr lang="en-US" spc="-10"/>
              <a:t> </a:t>
            </a:r>
            <a:r>
              <a:rPr lang="en-US"/>
              <a:t>2016</a:t>
            </a:r>
            <a:r>
              <a:rPr lang="en-US" spc="-10"/>
              <a:t> </a:t>
            </a:r>
            <a:r>
              <a:rPr lang="en-US"/>
              <a:t>Ramez</a:t>
            </a:r>
            <a:r>
              <a:rPr lang="en-US" spc="-5"/>
              <a:t> </a:t>
            </a:r>
            <a:r>
              <a:rPr lang="en-US"/>
              <a:t>Elmasri</a:t>
            </a:r>
            <a:r>
              <a:rPr lang="en-US" spc="-15"/>
              <a:t> </a:t>
            </a:r>
            <a:r>
              <a:rPr lang="en-US"/>
              <a:t>and</a:t>
            </a:r>
            <a:r>
              <a:rPr lang="en-US" spc="-15"/>
              <a:t> </a:t>
            </a:r>
            <a:r>
              <a:rPr lang="en-US" spc="-10"/>
              <a:t>Shamkant</a:t>
            </a:r>
            <a:r>
              <a:rPr lang="en-US" spc="-15"/>
              <a:t> </a:t>
            </a:r>
            <a:r>
              <a:rPr lang="en-US"/>
              <a:t>B.</a:t>
            </a:r>
            <a:r>
              <a:rPr lang="en-US" spc="-10"/>
              <a:t> Navathe</a:t>
            </a:r>
            <a:endParaRPr spc="-8" dirty="0"/>
          </a:p>
        </p:txBody>
      </p:sp>
      <p:sp>
        <p:nvSpPr>
          <p:cNvPr id="6" name="object 6"/>
          <p:cNvSpPr txBox="1">
            <a:spLocks noGrp="1"/>
          </p:cNvSpPr>
          <p:nvPr>
            <p:ph type="sldNum" sz="quarter" idx="7"/>
          </p:nvPr>
        </p:nvSpPr>
        <p:spPr>
          <a:xfrm>
            <a:off x="11067415" y="6428920"/>
            <a:ext cx="2444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15570">
              <a:spcBef>
                <a:spcPts val="40"/>
              </a:spcBef>
            </a:pPr>
            <a:fld id="{81D60167-4931-47E6-BA6A-407CBD079E47}" type="slidenum">
              <a:rPr lang="en-US" spc="-50" smtClean="0"/>
              <a:pPr marL="115570">
                <a:spcBef>
                  <a:spcPts val="40"/>
                </a:spcBef>
              </a:pPr>
              <a:t>89</a:t>
            </a:fld>
            <a:endParaRPr spc="-19" dirty="0"/>
          </a:p>
        </p:txBody>
      </p:sp>
    </p:spTree>
    <p:extLst>
      <p:ext uri="{BB962C8B-B14F-4D97-AF65-F5344CB8AC3E}">
        <p14:creationId xmlns:p14="http://schemas.microsoft.com/office/powerpoint/2010/main" val="3521964226"/>
      </p:ext>
    </p:extLst>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0234" y="320212"/>
            <a:ext cx="5847160"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spc="-15" dirty="0"/>
              <a:t>Trigger1</a:t>
            </a:r>
            <a:r>
              <a:rPr spc="-75" dirty="0"/>
              <a:t> </a:t>
            </a:r>
            <a:r>
              <a:rPr dirty="0"/>
              <a:t>–</a:t>
            </a:r>
            <a:r>
              <a:rPr spc="-71" dirty="0"/>
              <a:t> </a:t>
            </a:r>
            <a:r>
              <a:rPr dirty="0"/>
              <a:t>Step</a:t>
            </a:r>
            <a:r>
              <a:rPr spc="-68" dirty="0"/>
              <a:t> </a:t>
            </a:r>
            <a:r>
              <a:rPr spc="-38" dirty="0"/>
              <a:t>1</a:t>
            </a:r>
          </a:p>
        </p:txBody>
      </p:sp>
      <p:sp>
        <p:nvSpPr>
          <p:cNvPr id="3" name="object 3"/>
          <p:cNvSpPr txBox="1"/>
          <p:nvPr/>
        </p:nvSpPr>
        <p:spPr>
          <a:xfrm>
            <a:off x="687704" y="2103501"/>
            <a:ext cx="7767638" cy="637995"/>
          </a:xfrm>
          <a:prstGeom prst="rect">
            <a:avLst/>
          </a:prstGeom>
        </p:spPr>
        <p:txBody>
          <a:bodyPr vert="horz" wrap="square" lIns="0" tIns="47625" rIns="0" bIns="0" rtlCol="0">
            <a:spAutoFit/>
          </a:bodyPr>
          <a:lstStyle/>
          <a:p>
            <a:pPr marL="180975" marR="3810" indent="-171450">
              <a:lnSpc>
                <a:spcPts val="2250"/>
              </a:lnSpc>
              <a:spcBef>
                <a:spcPts val="375"/>
              </a:spcBef>
              <a:buFont typeface="Arial"/>
              <a:buChar char="•"/>
              <a:tabLst>
                <a:tab pos="180975" algn="l"/>
              </a:tabLst>
            </a:pPr>
            <a:r>
              <a:rPr sz="2100" dirty="0">
                <a:latin typeface="Calibri"/>
                <a:cs typeface="Calibri"/>
              </a:rPr>
              <a:t>We</a:t>
            </a:r>
            <a:r>
              <a:rPr sz="2100" spc="-41" dirty="0">
                <a:latin typeface="Calibri"/>
                <a:cs typeface="Calibri"/>
              </a:rPr>
              <a:t> </a:t>
            </a:r>
            <a:r>
              <a:rPr sz="2100" dirty="0">
                <a:latin typeface="Calibri"/>
                <a:cs typeface="Calibri"/>
              </a:rPr>
              <a:t>want</a:t>
            </a:r>
            <a:r>
              <a:rPr sz="2100" spc="-38" dirty="0">
                <a:latin typeface="Calibri"/>
                <a:cs typeface="Calibri"/>
              </a:rPr>
              <a:t> </a:t>
            </a:r>
            <a:r>
              <a:rPr sz="2100" dirty="0">
                <a:latin typeface="Calibri"/>
                <a:cs typeface="Calibri"/>
              </a:rPr>
              <a:t>to</a:t>
            </a:r>
            <a:r>
              <a:rPr sz="2100" spc="-38" dirty="0">
                <a:latin typeface="Calibri"/>
                <a:cs typeface="Calibri"/>
              </a:rPr>
              <a:t> </a:t>
            </a:r>
            <a:r>
              <a:rPr sz="2100" dirty="0">
                <a:latin typeface="Calibri"/>
                <a:cs typeface="Calibri"/>
              </a:rPr>
              <a:t>create</a:t>
            </a:r>
            <a:r>
              <a:rPr sz="2100" spc="-38" dirty="0">
                <a:latin typeface="Calibri"/>
                <a:cs typeface="Calibri"/>
              </a:rPr>
              <a:t> </a:t>
            </a:r>
            <a:r>
              <a:rPr sz="2100" dirty="0">
                <a:latin typeface="Calibri"/>
                <a:cs typeface="Calibri"/>
              </a:rPr>
              <a:t>a</a:t>
            </a:r>
            <a:r>
              <a:rPr sz="2100" spc="-38" dirty="0">
                <a:latin typeface="Calibri"/>
                <a:cs typeface="Calibri"/>
              </a:rPr>
              <a:t> </a:t>
            </a:r>
            <a:r>
              <a:rPr sz="2100" dirty="0">
                <a:latin typeface="Calibri"/>
                <a:cs typeface="Calibri"/>
              </a:rPr>
              <a:t>trigger</a:t>
            </a:r>
            <a:r>
              <a:rPr sz="2100" spc="-38" dirty="0">
                <a:latin typeface="Calibri"/>
                <a:cs typeface="Calibri"/>
              </a:rPr>
              <a:t> </a:t>
            </a:r>
            <a:r>
              <a:rPr sz="2100" dirty="0">
                <a:latin typeface="Calibri"/>
                <a:cs typeface="Calibri"/>
              </a:rPr>
              <a:t>to</a:t>
            </a:r>
            <a:r>
              <a:rPr sz="2100" spc="-38" dirty="0">
                <a:latin typeface="Calibri"/>
                <a:cs typeface="Calibri"/>
              </a:rPr>
              <a:t> </a:t>
            </a:r>
            <a:r>
              <a:rPr sz="2100" dirty="0">
                <a:latin typeface="Calibri"/>
                <a:cs typeface="Calibri"/>
              </a:rPr>
              <a:t>update</a:t>
            </a:r>
            <a:r>
              <a:rPr sz="2100" spc="-38" dirty="0">
                <a:latin typeface="Calibri"/>
                <a:cs typeface="Calibri"/>
              </a:rPr>
              <a:t> </a:t>
            </a:r>
            <a:r>
              <a:rPr sz="2100" dirty="0">
                <a:latin typeface="Calibri"/>
                <a:cs typeface="Calibri"/>
              </a:rPr>
              <a:t>the</a:t>
            </a:r>
            <a:r>
              <a:rPr sz="2100" spc="-41" dirty="0">
                <a:latin typeface="Calibri"/>
                <a:cs typeface="Calibri"/>
              </a:rPr>
              <a:t> </a:t>
            </a:r>
            <a:r>
              <a:rPr sz="2100" dirty="0">
                <a:latin typeface="Calibri"/>
                <a:cs typeface="Calibri"/>
              </a:rPr>
              <a:t>total</a:t>
            </a:r>
            <a:r>
              <a:rPr sz="2100" spc="-38" dirty="0">
                <a:latin typeface="Calibri"/>
                <a:cs typeface="Calibri"/>
              </a:rPr>
              <a:t> </a:t>
            </a:r>
            <a:r>
              <a:rPr sz="2100" dirty="0">
                <a:latin typeface="Calibri"/>
                <a:cs typeface="Calibri"/>
              </a:rPr>
              <a:t>salary</a:t>
            </a:r>
            <a:r>
              <a:rPr sz="2100" spc="-38" dirty="0">
                <a:latin typeface="Calibri"/>
                <a:cs typeface="Calibri"/>
              </a:rPr>
              <a:t> </a:t>
            </a:r>
            <a:r>
              <a:rPr sz="2100" dirty="0">
                <a:latin typeface="Calibri"/>
                <a:cs typeface="Calibri"/>
              </a:rPr>
              <a:t>of</a:t>
            </a:r>
            <a:r>
              <a:rPr sz="2100" spc="-38" dirty="0">
                <a:latin typeface="Calibri"/>
                <a:cs typeface="Calibri"/>
              </a:rPr>
              <a:t> </a:t>
            </a:r>
            <a:r>
              <a:rPr sz="2100" dirty="0">
                <a:latin typeface="Calibri"/>
                <a:cs typeface="Calibri"/>
              </a:rPr>
              <a:t>a</a:t>
            </a:r>
            <a:r>
              <a:rPr sz="2100" spc="-38" dirty="0">
                <a:latin typeface="Calibri"/>
                <a:cs typeface="Calibri"/>
              </a:rPr>
              <a:t> </a:t>
            </a:r>
            <a:r>
              <a:rPr sz="2100" spc="-8" dirty="0">
                <a:latin typeface="Calibri"/>
                <a:cs typeface="Calibri"/>
              </a:rPr>
              <a:t>department </a:t>
            </a:r>
            <a:r>
              <a:rPr sz="2100" dirty="0">
                <a:latin typeface="Calibri"/>
                <a:cs typeface="Calibri"/>
              </a:rPr>
              <a:t>when</a:t>
            </a:r>
            <a:r>
              <a:rPr sz="2100" spc="-34" dirty="0">
                <a:latin typeface="Calibri"/>
                <a:cs typeface="Calibri"/>
              </a:rPr>
              <a:t> </a:t>
            </a:r>
            <a:r>
              <a:rPr sz="2100" dirty="0">
                <a:latin typeface="Calibri"/>
                <a:cs typeface="Calibri"/>
              </a:rPr>
              <a:t>a</a:t>
            </a:r>
            <a:r>
              <a:rPr sz="2100" spc="-41" dirty="0">
                <a:latin typeface="Calibri"/>
                <a:cs typeface="Calibri"/>
              </a:rPr>
              <a:t> </a:t>
            </a:r>
            <a:r>
              <a:rPr sz="2100" dirty="0">
                <a:latin typeface="Calibri"/>
                <a:cs typeface="Calibri"/>
              </a:rPr>
              <a:t>new</a:t>
            </a:r>
            <a:r>
              <a:rPr sz="2100" spc="-38" dirty="0">
                <a:latin typeface="Calibri"/>
                <a:cs typeface="Calibri"/>
              </a:rPr>
              <a:t> </a:t>
            </a:r>
            <a:r>
              <a:rPr sz="2100" dirty="0">
                <a:latin typeface="Calibri"/>
                <a:cs typeface="Calibri"/>
              </a:rPr>
              <a:t>employee</a:t>
            </a:r>
            <a:r>
              <a:rPr sz="2100" spc="-38" dirty="0">
                <a:latin typeface="Calibri"/>
                <a:cs typeface="Calibri"/>
              </a:rPr>
              <a:t> </a:t>
            </a:r>
            <a:r>
              <a:rPr sz="2100" dirty="0">
                <a:latin typeface="Calibri"/>
                <a:cs typeface="Calibri"/>
              </a:rPr>
              <a:t>is</a:t>
            </a:r>
            <a:r>
              <a:rPr sz="2100" spc="-34" dirty="0">
                <a:latin typeface="Calibri"/>
                <a:cs typeface="Calibri"/>
              </a:rPr>
              <a:t> </a:t>
            </a:r>
            <a:r>
              <a:rPr sz="2100" spc="-8" dirty="0">
                <a:latin typeface="Calibri"/>
                <a:cs typeface="Calibri"/>
              </a:rPr>
              <a:t>hired</a:t>
            </a:r>
            <a:endParaRPr sz="2100">
              <a:latin typeface="Calibri"/>
              <a:cs typeface="Calibri"/>
            </a:endParaRPr>
          </a:p>
        </p:txBody>
      </p:sp>
      <p:sp>
        <p:nvSpPr>
          <p:cNvPr id="4" name="object 4"/>
          <p:cNvSpPr txBox="1"/>
          <p:nvPr/>
        </p:nvSpPr>
        <p:spPr>
          <a:xfrm>
            <a:off x="866082" y="2772537"/>
            <a:ext cx="2091214"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mysql&gt;</a:t>
            </a:r>
            <a:r>
              <a:rPr sz="900" spc="-23" dirty="0">
                <a:latin typeface="Courier New"/>
                <a:cs typeface="Courier New"/>
              </a:rPr>
              <a:t> </a:t>
            </a:r>
            <a:r>
              <a:rPr sz="900" dirty="0">
                <a:latin typeface="Courier New"/>
                <a:cs typeface="Courier New"/>
              </a:rPr>
              <a:t>select</a:t>
            </a:r>
            <a:r>
              <a:rPr sz="900" spc="-19" dirty="0">
                <a:latin typeface="Courier New"/>
                <a:cs typeface="Courier New"/>
              </a:rPr>
              <a:t> </a:t>
            </a:r>
            <a:r>
              <a:rPr sz="900" dirty="0">
                <a:latin typeface="Courier New"/>
                <a:cs typeface="Courier New"/>
              </a:rPr>
              <a:t>*</a:t>
            </a:r>
            <a:r>
              <a:rPr sz="900" spc="-19" dirty="0">
                <a:latin typeface="Courier New"/>
                <a:cs typeface="Courier New"/>
              </a:rPr>
              <a:t> </a:t>
            </a:r>
            <a:r>
              <a:rPr sz="900" dirty="0">
                <a:latin typeface="Courier New"/>
                <a:cs typeface="Courier New"/>
              </a:rPr>
              <a:t>from</a:t>
            </a:r>
            <a:r>
              <a:rPr sz="900" spc="-19" dirty="0">
                <a:latin typeface="Courier New"/>
                <a:cs typeface="Courier New"/>
              </a:rPr>
              <a:t> </a:t>
            </a:r>
            <a:r>
              <a:rPr sz="900" spc="-8" dirty="0">
                <a:latin typeface="Courier New"/>
                <a:cs typeface="Courier New"/>
              </a:rPr>
              <a:t>employee;</a:t>
            </a:r>
            <a:endParaRPr sz="900">
              <a:latin typeface="Courier New"/>
              <a:cs typeface="Courier New"/>
            </a:endParaRPr>
          </a:p>
        </p:txBody>
      </p:sp>
      <p:sp>
        <p:nvSpPr>
          <p:cNvPr id="5" name="object 5"/>
          <p:cNvSpPr/>
          <p:nvPr/>
        </p:nvSpPr>
        <p:spPr>
          <a:xfrm>
            <a:off x="944663" y="3004661"/>
            <a:ext cx="691039" cy="0"/>
          </a:xfrm>
          <a:custGeom>
            <a:avLst/>
            <a:gdLst/>
            <a:ahLst/>
            <a:cxnLst/>
            <a:rect l="l" t="t" r="r" b="b"/>
            <a:pathLst>
              <a:path w="921385">
                <a:moveTo>
                  <a:pt x="0" y="0"/>
                </a:moveTo>
                <a:lnTo>
                  <a:pt x="920800" y="0"/>
                </a:lnTo>
              </a:path>
            </a:pathLst>
          </a:custGeom>
          <a:ln w="12649">
            <a:solidFill>
              <a:srgbClr val="000000"/>
            </a:solidFill>
            <a:prstDash val="dash"/>
          </a:ln>
        </p:spPr>
        <p:txBody>
          <a:bodyPr wrap="square" lIns="0" tIns="0" rIns="0" bIns="0" rtlCol="0"/>
          <a:lstStyle/>
          <a:p>
            <a:endParaRPr sz="1800"/>
          </a:p>
        </p:txBody>
      </p:sp>
      <p:sp>
        <p:nvSpPr>
          <p:cNvPr id="6" name="object 6"/>
          <p:cNvSpPr/>
          <p:nvPr/>
        </p:nvSpPr>
        <p:spPr>
          <a:xfrm>
            <a:off x="1704281" y="3004661"/>
            <a:ext cx="483870" cy="0"/>
          </a:xfrm>
          <a:custGeom>
            <a:avLst/>
            <a:gdLst/>
            <a:ahLst/>
            <a:cxnLst/>
            <a:rect l="l" t="t" r="r" b="b"/>
            <a:pathLst>
              <a:path w="645160">
                <a:moveTo>
                  <a:pt x="0" y="0"/>
                </a:moveTo>
                <a:lnTo>
                  <a:pt x="644560" y="0"/>
                </a:lnTo>
              </a:path>
            </a:pathLst>
          </a:custGeom>
          <a:ln w="12649">
            <a:solidFill>
              <a:srgbClr val="000000"/>
            </a:solidFill>
            <a:prstDash val="dash"/>
          </a:ln>
        </p:spPr>
        <p:txBody>
          <a:bodyPr wrap="square" lIns="0" tIns="0" rIns="0" bIns="0" rtlCol="0"/>
          <a:lstStyle/>
          <a:p>
            <a:endParaRPr sz="1800"/>
          </a:p>
        </p:txBody>
      </p:sp>
      <p:sp>
        <p:nvSpPr>
          <p:cNvPr id="7" name="object 7"/>
          <p:cNvSpPr/>
          <p:nvPr/>
        </p:nvSpPr>
        <p:spPr>
          <a:xfrm>
            <a:off x="2256731" y="3004661"/>
            <a:ext cx="621983" cy="0"/>
          </a:xfrm>
          <a:custGeom>
            <a:avLst/>
            <a:gdLst/>
            <a:ahLst/>
            <a:cxnLst/>
            <a:rect l="l" t="t" r="r" b="b"/>
            <a:pathLst>
              <a:path w="829310">
                <a:moveTo>
                  <a:pt x="0" y="0"/>
                </a:moveTo>
                <a:lnTo>
                  <a:pt x="828720" y="0"/>
                </a:lnTo>
              </a:path>
            </a:pathLst>
          </a:custGeom>
          <a:ln w="12649">
            <a:solidFill>
              <a:srgbClr val="000000"/>
            </a:solidFill>
            <a:prstDash val="dash"/>
          </a:ln>
        </p:spPr>
        <p:txBody>
          <a:bodyPr wrap="square" lIns="0" tIns="0" rIns="0" bIns="0" rtlCol="0"/>
          <a:lstStyle/>
          <a:p>
            <a:endParaRPr sz="1800"/>
          </a:p>
        </p:txBody>
      </p:sp>
      <p:sp>
        <p:nvSpPr>
          <p:cNvPr id="8" name="object 8"/>
          <p:cNvSpPr/>
          <p:nvPr/>
        </p:nvSpPr>
        <p:spPr>
          <a:xfrm>
            <a:off x="2947294" y="3004661"/>
            <a:ext cx="760095" cy="0"/>
          </a:xfrm>
          <a:custGeom>
            <a:avLst/>
            <a:gdLst/>
            <a:ahLst/>
            <a:cxnLst/>
            <a:rect l="l" t="t" r="r" b="b"/>
            <a:pathLst>
              <a:path w="1013460">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9" name="object 9"/>
          <p:cNvSpPr/>
          <p:nvPr/>
        </p:nvSpPr>
        <p:spPr>
          <a:xfrm>
            <a:off x="3775969" y="3004661"/>
            <a:ext cx="829151" cy="0"/>
          </a:xfrm>
          <a:custGeom>
            <a:avLst/>
            <a:gdLst/>
            <a:ahLst/>
            <a:cxnLst/>
            <a:rect l="l" t="t" r="r" b="b"/>
            <a:pathLst>
              <a:path w="1105535">
                <a:moveTo>
                  <a:pt x="0" y="0"/>
                </a:moveTo>
                <a:lnTo>
                  <a:pt x="1104961" y="0"/>
                </a:lnTo>
              </a:path>
            </a:pathLst>
          </a:custGeom>
          <a:ln w="12649">
            <a:solidFill>
              <a:srgbClr val="000000"/>
            </a:solidFill>
            <a:prstDash val="dash"/>
          </a:ln>
        </p:spPr>
        <p:txBody>
          <a:bodyPr wrap="square" lIns="0" tIns="0" rIns="0" bIns="0" rtlCol="0"/>
          <a:lstStyle/>
          <a:p>
            <a:endParaRPr sz="1800"/>
          </a:p>
        </p:txBody>
      </p:sp>
      <p:sp>
        <p:nvSpPr>
          <p:cNvPr id="10" name="object 10"/>
          <p:cNvSpPr/>
          <p:nvPr/>
        </p:nvSpPr>
        <p:spPr>
          <a:xfrm>
            <a:off x="4673700" y="3004661"/>
            <a:ext cx="1795939" cy="0"/>
          </a:xfrm>
          <a:custGeom>
            <a:avLst/>
            <a:gdLst/>
            <a:ahLst/>
            <a:cxnLst/>
            <a:rect l="l" t="t" r="r" b="b"/>
            <a:pathLst>
              <a:path w="2394584">
                <a:moveTo>
                  <a:pt x="0" y="0"/>
                </a:moveTo>
                <a:lnTo>
                  <a:pt x="2394082" y="0"/>
                </a:lnTo>
              </a:path>
            </a:pathLst>
          </a:custGeom>
          <a:ln w="12649">
            <a:solidFill>
              <a:srgbClr val="000000"/>
            </a:solidFill>
            <a:prstDash val="dash"/>
          </a:ln>
        </p:spPr>
        <p:txBody>
          <a:bodyPr wrap="square" lIns="0" tIns="0" rIns="0" bIns="0" rtlCol="0"/>
          <a:lstStyle/>
          <a:p>
            <a:endParaRPr sz="1800"/>
          </a:p>
        </p:txBody>
      </p:sp>
      <p:sp>
        <p:nvSpPr>
          <p:cNvPr id="11" name="object 11"/>
          <p:cNvSpPr/>
          <p:nvPr/>
        </p:nvSpPr>
        <p:spPr>
          <a:xfrm>
            <a:off x="6538219" y="3004661"/>
            <a:ext cx="414814" cy="0"/>
          </a:xfrm>
          <a:custGeom>
            <a:avLst/>
            <a:gdLst/>
            <a:ahLst/>
            <a:cxnLst/>
            <a:rect l="l" t="t" r="r" b="b"/>
            <a:pathLst>
              <a:path w="553084">
                <a:moveTo>
                  <a:pt x="0" y="0"/>
                </a:moveTo>
                <a:lnTo>
                  <a:pt x="552480" y="0"/>
                </a:lnTo>
              </a:path>
            </a:pathLst>
          </a:custGeom>
          <a:ln w="12649">
            <a:solidFill>
              <a:srgbClr val="000000"/>
            </a:solidFill>
            <a:prstDash val="dash"/>
          </a:ln>
        </p:spPr>
        <p:txBody>
          <a:bodyPr wrap="square" lIns="0" tIns="0" rIns="0" bIns="0" rtlCol="0"/>
          <a:lstStyle/>
          <a:p>
            <a:endParaRPr sz="1800"/>
          </a:p>
        </p:txBody>
      </p:sp>
      <p:sp>
        <p:nvSpPr>
          <p:cNvPr id="12" name="object 12"/>
          <p:cNvSpPr/>
          <p:nvPr/>
        </p:nvSpPr>
        <p:spPr>
          <a:xfrm>
            <a:off x="7021613" y="3004661"/>
            <a:ext cx="552926" cy="0"/>
          </a:xfrm>
          <a:custGeom>
            <a:avLst/>
            <a:gdLst/>
            <a:ahLst/>
            <a:cxnLst/>
            <a:rect l="l" t="t" r="r" b="b"/>
            <a:pathLst>
              <a:path w="737234">
                <a:moveTo>
                  <a:pt x="0" y="0"/>
                </a:moveTo>
                <a:lnTo>
                  <a:pt x="736640" y="0"/>
                </a:lnTo>
              </a:path>
            </a:pathLst>
          </a:custGeom>
          <a:ln w="12649">
            <a:solidFill>
              <a:srgbClr val="000000"/>
            </a:solidFill>
            <a:prstDash val="dash"/>
          </a:ln>
        </p:spPr>
        <p:txBody>
          <a:bodyPr wrap="square" lIns="0" tIns="0" rIns="0" bIns="0" rtlCol="0"/>
          <a:lstStyle/>
          <a:p>
            <a:endParaRPr sz="1800"/>
          </a:p>
        </p:txBody>
      </p:sp>
      <p:sp>
        <p:nvSpPr>
          <p:cNvPr id="13" name="object 13"/>
          <p:cNvSpPr/>
          <p:nvPr/>
        </p:nvSpPr>
        <p:spPr>
          <a:xfrm>
            <a:off x="7643119" y="3004661"/>
            <a:ext cx="760095" cy="0"/>
          </a:xfrm>
          <a:custGeom>
            <a:avLst/>
            <a:gdLst/>
            <a:ahLst/>
            <a:cxnLst/>
            <a:rect l="l" t="t" r="r" b="b"/>
            <a:pathLst>
              <a:path w="1013459">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14" name="object 14"/>
          <p:cNvSpPr/>
          <p:nvPr/>
        </p:nvSpPr>
        <p:spPr>
          <a:xfrm>
            <a:off x="8471794" y="3004661"/>
            <a:ext cx="345757" cy="0"/>
          </a:xfrm>
          <a:custGeom>
            <a:avLst/>
            <a:gdLst/>
            <a:ahLst/>
            <a:cxnLst/>
            <a:rect l="l" t="t" r="r" b="b"/>
            <a:pathLst>
              <a:path w="461009">
                <a:moveTo>
                  <a:pt x="0" y="0"/>
                </a:moveTo>
                <a:lnTo>
                  <a:pt x="460400" y="0"/>
                </a:lnTo>
              </a:path>
            </a:pathLst>
          </a:custGeom>
          <a:ln w="12649">
            <a:solidFill>
              <a:srgbClr val="000000"/>
            </a:solidFill>
            <a:prstDash val="dash"/>
          </a:ln>
        </p:spPr>
        <p:txBody>
          <a:bodyPr wrap="square" lIns="0" tIns="0" rIns="0" bIns="0" rtlCol="0"/>
          <a:lstStyle/>
          <a:p>
            <a:endParaRPr sz="1800"/>
          </a:p>
        </p:txBody>
      </p:sp>
      <p:sp>
        <p:nvSpPr>
          <p:cNvPr id="15" name="object 15"/>
          <p:cNvSpPr txBox="1"/>
          <p:nvPr/>
        </p:nvSpPr>
        <p:spPr>
          <a:xfrm>
            <a:off x="7564538" y="2916556"/>
            <a:ext cx="1331119" cy="148117"/>
          </a:xfrm>
          <a:prstGeom prst="rect">
            <a:avLst/>
          </a:prstGeom>
        </p:spPr>
        <p:txBody>
          <a:bodyPr vert="horz" wrap="square" lIns="0" tIns="9525" rIns="0" bIns="0" rtlCol="0">
            <a:spAutoFit/>
          </a:bodyPr>
          <a:lstStyle/>
          <a:p>
            <a:pPr marL="9525">
              <a:spcBef>
                <a:spcPts val="75"/>
              </a:spcBef>
              <a:tabLst>
                <a:tab pos="837724" algn="l"/>
                <a:tab pos="1252061"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16" name="object 16"/>
          <p:cNvSpPr txBox="1"/>
          <p:nvPr/>
        </p:nvSpPr>
        <p:spPr>
          <a:xfrm>
            <a:off x="866082" y="2916555"/>
            <a:ext cx="6165056" cy="291747"/>
          </a:xfrm>
          <a:prstGeom prst="rect">
            <a:avLst/>
          </a:prstGeom>
        </p:spPr>
        <p:txBody>
          <a:bodyPr vert="horz" wrap="square" lIns="0" tIns="9525" rIns="0" bIns="0" rtlCol="0">
            <a:spAutoFit/>
          </a:bodyPr>
          <a:lstStyle/>
          <a:p>
            <a:pPr marL="9525">
              <a:lnSpc>
                <a:spcPts val="1061"/>
              </a:lnSpc>
              <a:spcBef>
                <a:spcPts val="75"/>
              </a:spcBef>
              <a:tabLst>
                <a:tab pos="768668" algn="l"/>
                <a:tab pos="1321117" algn="l"/>
                <a:tab pos="2011680" algn="l"/>
                <a:tab pos="2840355" algn="l"/>
                <a:tab pos="3738086" algn="l"/>
                <a:tab pos="5602605" algn="l"/>
                <a:tab pos="6085999"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dirty="0">
              <a:latin typeface="Courier New"/>
              <a:cs typeface="Courier New"/>
            </a:endParaRPr>
          </a:p>
          <a:p>
            <a:pPr marL="9525">
              <a:lnSpc>
                <a:spcPts val="1061"/>
              </a:lnSpc>
              <a:tabLst>
                <a:tab pos="768668" algn="l"/>
                <a:tab pos="2011680" algn="l"/>
                <a:tab pos="2840355" algn="l"/>
                <a:tab pos="3738086" algn="l"/>
                <a:tab pos="5602605"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fname</a:t>
            </a:r>
            <a:r>
              <a:rPr sz="900" dirty="0">
                <a:latin typeface="Courier New"/>
                <a:cs typeface="Courier New"/>
              </a:rPr>
              <a:t>	|</a:t>
            </a:r>
            <a:r>
              <a:rPr sz="900" spc="-11" dirty="0">
                <a:latin typeface="Courier New"/>
                <a:cs typeface="Courier New"/>
              </a:rPr>
              <a:t> </a:t>
            </a:r>
            <a:r>
              <a:rPr sz="900" dirty="0">
                <a:latin typeface="Courier New"/>
                <a:cs typeface="Courier New"/>
              </a:rPr>
              <a:t>minit</a:t>
            </a:r>
            <a:r>
              <a:rPr sz="900" spc="-8" dirty="0">
                <a:latin typeface="Courier New"/>
                <a:cs typeface="Courier New"/>
              </a:rPr>
              <a:t> </a:t>
            </a:r>
            <a:r>
              <a:rPr sz="900" dirty="0">
                <a:latin typeface="Courier New"/>
                <a:cs typeface="Courier New"/>
              </a:rPr>
              <a:t>|</a:t>
            </a:r>
            <a:r>
              <a:rPr sz="900" spc="-11" dirty="0">
                <a:latin typeface="Courier New"/>
                <a:cs typeface="Courier New"/>
              </a:rPr>
              <a:t> </a:t>
            </a:r>
            <a:r>
              <a:rPr sz="900" spc="-8" dirty="0">
                <a:latin typeface="Courier New"/>
                <a:cs typeface="Courier New"/>
              </a:rPr>
              <a:t>lname</a:t>
            </a:r>
            <a:r>
              <a:rPr sz="900" dirty="0">
                <a:latin typeface="Courier New"/>
                <a:cs typeface="Courier New"/>
              </a:rPr>
              <a:t>	|</a:t>
            </a:r>
            <a:r>
              <a:rPr sz="900" spc="-4" dirty="0">
                <a:latin typeface="Courier New"/>
                <a:cs typeface="Courier New"/>
              </a:rPr>
              <a:t> </a:t>
            </a:r>
            <a:r>
              <a:rPr sz="900" spc="-19" dirty="0">
                <a:latin typeface="Courier New"/>
                <a:cs typeface="Courier New"/>
              </a:rPr>
              <a:t>ssn</a:t>
            </a:r>
            <a:r>
              <a:rPr sz="900" dirty="0">
                <a:latin typeface="Courier New"/>
                <a:cs typeface="Courier New"/>
              </a:rPr>
              <a:t>	|</a:t>
            </a:r>
            <a:r>
              <a:rPr sz="900" spc="-4" dirty="0">
                <a:latin typeface="Courier New"/>
                <a:cs typeface="Courier New"/>
              </a:rPr>
              <a:t> </a:t>
            </a:r>
            <a:r>
              <a:rPr sz="900" spc="-8" dirty="0">
                <a:latin typeface="Courier New"/>
                <a:cs typeface="Courier New"/>
              </a:rPr>
              <a:t>bdate</a:t>
            </a:r>
            <a:r>
              <a:rPr sz="900" dirty="0">
                <a:latin typeface="Courier New"/>
                <a:cs typeface="Courier New"/>
              </a:rPr>
              <a:t>	|</a:t>
            </a:r>
            <a:r>
              <a:rPr sz="900" spc="-4" dirty="0">
                <a:latin typeface="Courier New"/>
                <a:cs typeface="Courier New"/>
              </a:rPr>
              <a:t> </a:t>
            </a:r>
            <a:r>
              <a:rPr sz="900" spc="-8" dirty="0">
                <a:latin typeface="Courier New"/>
                <a:cs typeface="Courier New"/>
              </a:rPr>
              <a:t>address</a:t>
            </a:r>
            <a:r>
              <a:rPr sz="900" dirty="0">
                <a:latin typeface="Courier New"/>
                <a:cs typeface="Courier New"/>
              </a:rPr>
              <a:t>	|</a:t>
            </a:r>
            <a:r>
              <a:rPr sz="900" spc="-4" dirty="0">
                <a:latin typeface="Courier New"/>
                <a:cs typeface="Courier New"/>
              </a:rPr>
              <a:t> </a:t>
            </a:r>
            <a:r>
              <a:rPr sz="900" spc="-19" dirty="0">
                <a:latin typeface="Courier New"/>
                <a:cs typeface="Courier New"/>
              </a:rPr>
              <a:t>sex</a:t>
            </a:r>
            <a:endParaRPr sz="900" dirty="0">
              <a:latin typeface="Courier New"/>
              <a:cs typeface="Courier New"/>
            </a:endParaRPr>
          </a:p>
        </p:txBody>
      </p:sp>
      <p:sp>
        <p:nvSpPr>
          <p:cNvPr id="17" name="object 17"/>
          <p:cNvSpPr txBox="1"/>
          <p:nvPr/>
        </p:nvSpPr>
        <p:spPr>
          <a:xfrm>
            <a:off x="6943031" y="3049143"/>
            <a:ext cx="1952625"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19" dirty="0">
                <a:latin typeface="Courier New"/>
                <a:cs typeface="Courier New"/>
              </a:rPr>
              <a:t> </a:t>
            </a:r>
            <a:r>
              <a:rPr sz="900" dirty="0">
                <a:latin typeface="Courier New"/>
                <a:cs typeface="Courier New"/>
              </a:rPr>
              <a:t>salary</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super_ssn</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dno</a:t>
            </a:r>
            <a:r>
              <a:rPr sz="900" spc="-15"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18" name="object 18"/>
          <p:cNvSpPr/>
          <p:nvPr/>
        </p:nvSpPr>
        <p:spPr>
          <a:xfrm>
            <a:off x="944663" y="3278981"/>
            <a:ext cx="691039" cy="0"/>
          </a:xfrm>
          <a:custGeom>
            <a:avLst/>
            <a:gdLst/>
            <a:ahLst/>
            <a:cxnLst/>
            <a:rect l="l" t="t" r="r" b="b"/>
            <a:pathLst>
              <a:path w="921385">
                <a:moveTo>
                  <a:pt x="0" y="0"/>
                </a:moveTo>
                <a:lnTo>
                  <a:pt x="920800" y="0"/>
                </a:lnTo>
              </a:path>
            </a:pathLst>
          </a:custGeom>
          <a:ln w="12649">
            <a:solidFill>
              <a:srgbClr val="000000"/>
            </a:solidFill>
            <a:prstDash val="dash"/>
          </a:ln>
        </p:spPr>
        <p:txBody>
          <a:bodyPr wrap="square" lIns="0" tIns="0" rIns="0" bIns="0" rtlCol="0"/>
          <a:lstStyle/>
          <a:p>
            <a:endParaRPr sz="1800"/>
          </a:p>
        </p:txBody>
      </p:sp>
      <p:sp>
        <p:nvSpPr>
          <p:cNvPr id="19" name="object 19"/>
          <p:cNvSpPr/>
          <p:nvPr/>
        </p:nvSpPr>
        <p:spPr>
          <a:xfrm>
            <a:off x="1704281" y="3278981"/>
            <a:ext cx="483870" cy="0"/>
          </a:xfrm>
          <a:custGeom>
            <a:avLst/>
            <a:gdLst/>
            <a:ahLst/>
            <a:cxnLst/>
            <a:rect l="l" t="t" r="r" b="b"/>
            <a:pathLst>
              <a:path w="645160">
                <a:moveTo>
                  <a:pt x="0" y="0"/>
                </a:moveTo>
                <a:lnTo>
                  <a:pt x="644560" y="0"/>
                </a:lnTo>
              </a:path>
            </a:pathLst>
          </a:custGeom>
          <a:ln w="12649">
            <a:solidFill>
              <a:srgbClr val="000000"/>
            </a:solidFill>
            <a:prstDash val="dash"/>
          </a:ln>
        </p:spPr>
        <p:txBody>
          <a:bodyPr wrap="square" lIns="0" tIns="0" rIns="0" bIns="0" rtlCol="0"/>
          <a:lstStyle/>
          <a:p>
            <a:endParaRPr sz="1800"/>
          </a:p>
        </p:txBody>
      </p:sp>
      <p:sp>
        <p:nvSpPr>
          <p:cNvPr id="20" name="object 20"/>
          <p:cNvSpPr/>
          <p:nvPr/>
        </p:nvSpPr>
        <p:spPr>
          <a:xfrm>
            <a:off x="2256731" y="3278981"/>
            <a:ext cx="621983" cy="0"/>
          </a:xfrm>
          <a:custGeom>
            <a:avLst/>
            <a:gdLst/>
            <a:ahLst/>
            <a:cxnLst/>
            <a:rect l="l" t="t" r="r" b="b"/>
            <a:pathLst>
              <a:path w="829310">
                <a:moveTo>
                  <a:pt x="0" y="0"/>
                </a:moveTo>
                <a:lnTo>
                  <a:pt x="828720" y="0"/>
                </a:lnTo>
              </a:path>
            </a:pathLst>
          </a:custGeom>
          <a:ln w="12649">
            <a:solidFill>
              <a:srgbClr val="000000"/>
            </a:solidFill>
            <a:prstDash val="dash"/>
          </a:ln>
        </p:spPr>
        <p:txBody>
          <a:bodyPr wrap="square" lIns="0" tIns="0" rIns="0" bIns="0" rtlCol="0"/>
          <a:lstStyle/>
          <a:p>
            <a:endParaRPr sz="1800"/>
          </a:p>
        </p:txBody>
      </p:sp>
      <p:sp>
        <p:nvSpPr>
          <p:cNvPr id="21" name="object 21"/>
          <p:cNvSpPr/>
          <p:nvPr/>
        </p:nvSpPr>
        <p:spPr>
          <a:xfrm>
            <a:off x="2947294" y="3278981"/>
            <a:ext cx="760095" cy="0"/>
          </a:xfrm>
          <a:custGeom>
            <a:avLst/>
            <a:gdLst/>
            <a:ahLst/>
            <a:cxnLst/>
            <a:rect l="l" t="t" r="r" b="b"/>
            <a:pathLst>
              <a:path w="1013460">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22" name="object 22"/>
          <p:cNvSpPr/>
          <p:nvPr/>
        </p:nvSpPr>
        <p:spPr>
          <a:xfrm>
            <a:off x="3775969" y="3278981"/>
            <a:ext cx="829151" cy="0"/>
          </a:xfrm>
          <a:custGeom>
            <a:avLst/>
            <a:gdLst/>
            <a:ahLst/>
            <a:cxnLst/>
            <a:rect l="l" t="t" r="r" b="b"/>
            <a:pathLst>
              <a:path w="1105535">
                <a:moveTo>
                  <a:pt x="0" y="0"/>
                </a:moveTo>
                <a:lnTo>
                  <a:pt x="1104961" y="0"/>
                </a:lnTo>
              </a:path>
            </a:pathLst>
          </a:custGeom>
          <a:ln w="12649">
            <a:solidFill>
              <a:srgbClr val="000000"/>
            </a:solidFill>
            <a:prstDash val="dash"/>
          </a:ln>
        </p:spPr>
        <p:txBody>
          <a:bodyPr wrap="square" lIns="0" tIns="0" rIns="0" bIns="0" rtlCol="0"/>
          <a:lstStyle/>
          <a:p>
            <a:endParaRPr sz="1800"/>
          </a:p>
        </p:txBody>
      </p:sp>
      <p:sp>
        <p:nvSpPr>
          <p:cNvPr id="23" name="object 23"/>
          <p:cNvSpPr/>
          <p:nvPr/>
        </p:nvSpPr>
        <p:spPr>
          <a:xfrm>
            <a:off x="4673700" y="3278981"/>
            <a:ext cx="1795939" cy="0"/>
          </a:xfrm>
          <a:custGeom>
            <a:avLst/>
            <a:gdLst/>
            <a:ahLst/>
            <a:cxnLst/>
            <a:rect l="l" t="t" r="r" b="b"/>
            <a:pathLst>
              <a:path w="2394584">
                <a:moveTo>
                  <a:pt x="0" y="0"/>
                </a:moveTo>
                <a:lnTo>
                  <a:pt x="2394082" y="0"/>
                </a:lnTo>
              </a:path>
            </a:pathLst>
          </a:custGeom>
          <a:ln w="12649">
            <a:solidFill>
              <a:srgbClr val="000000"/>
            </a:solidFill>
            <a:prstDash val="dash"/>
          </a:ln>
        </p:spPr>
        <p:txBody>
          <a:bodyPr wrap="square" lIns="0" tIns="0" rIns="0" bIns="0" rtlCol="0"/>
          <a:lstStyle/>
          <a:p>
            <a:endParaRPr sz="1800"/>
          </a:p>
        </p:txBody>
      </p:sp>
      <p:sp>
        <p:nvSpPr>
          <p:cNvPr id="24" name="object 24"/>
          <p:cNvSpPr/>
          <p:nvPr/>
        </p:nvSpPr>
        <p:spPr>
          <a:xfrm>
            <a:off x="6538219" y="3278981"/>
            <a:ext cx="414814" cy="0"/>
          </a:xfrm>
          <a:custGeom>
            <a:avLst/>
            <a:gdLst/>
            <a:ahLst/>
            <a:cxnLst/>
            <a:rect l="l" t="t" r="r" b="b"/>
            <a:pathLst>
              <a:path w="553084">
                <a:moveTo>
                  <a:pt x="0" y="0"/>
                </a:moveTo>
                <a:lnTo>
                  <a:pt x="552480" y="0"/>
                </a:lnTo>
              </a:path>
            </a:pathLst>
          </a:custGeom>
          <a:ln w="12649">
            <a:solidFill>
              <a:srgbClr val="000000"/>
            </a:solidFill>
            <a:prstDash val="dash"/>
          </a:ln>
        </p:spPr>
        <p:txBody>
          <a:bodyPr wrap="square" lIns="0" tIns="0" rIns="0" bIns="0" rtlCol="0"/>
          <a:lstStyle/>
          <a:p>
            <a:endParaRPr sz="1800"/>
          </a:p>
        </p:txBody>
      </p:sp>
      <p:sp>
        <p:nvSpPr>
          <p:cNvPr id="25" name="object 25"/>
          <p:cNvSpPr txBox="1"/>
          <p:nvPr/>
        </p:nvSpPr>
        <p:spPr>
          <a:xfrm>
            <a:off x="866082" y="3190876"/>
            <a:ext cx="6165056" cy="148117"/>
          </a:xfrm>
          <a:prstGeom prst="rect">
            <a:avLst/>
          </a:prstGeom>
        </p:spPr>
        <p:txBody>
          <a:bodyPr vert="horz" wrap="square" lIns="0" tIns="9525" rIns="0" bIns="0" rtlCol="0">
            <a:spAutoFit/>
          </a:bodyPr>
          <a:lstStyle/>
          <a:p>
            <a:pPr marL="9525">
              <a:spcBef>
                <a:spcPts val="75"/>
              </a:spcBef>
              <a:tabLst>
                <a:tab pos="768668" algn="l"/>
                <a:tab pos="1321117" algn="l"/>
                <a:tab pos="2011680" algn="l"/>
                <a:tab pos="2840355" algn="l"/>
                <a:tab pos="3738086" algn="l"/>
                <a:tab pos="5602605" algn="l"/>
                <a:tab pos="6085999"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26" name="object 26"/>
          <p:cNvSpPr/>
          <p:nvPr/>
        </p:nvSpPr>
        <p:spPr>
          <a:xfrm>
            <a:off x="7021613" y="3278981"/>
            <a:ext cx="552926" cy="0"/>
          </a:xfrm>
          <a:custGeom>
            <a:avLst/>
            <a:gdLst/>
            <a:ahLst/>
            <a:cxnLst/>
            <a:rect l="l" t="t" r="r" b="b"/>
            <a:pathLst>
              <a:path w="737234">
                <a:moveTo>
                  <a:pt x="0" y="0"/>
                </a:moveTo>
                <a:lnTo>
                  <a:pt x="736640" y="0"/>
                </a:lnTo>
              </a:path>
            </a:pathLst>
          </a:custGeom>
          <a:ln w="12649">
            <a:solidFill>
              <a:srgbClr val="000000"/>
            </a:solidFill>
            <a:prstDash val="dash"/>
          </a:ln>
        </p:spPr>
        <p:txBody>
          <a:bodyPr wrap="square" lIns="0" tIns="0" rIns="0" bIns="0" rtlCol="0"/>
          <a:lstStyle/>
          <a:p>
            <a:endParaRPr sz="1800"/>
          </a:p>
        </p:txBody>
      </p:sp>
      <p:sp>
        <p:nvSpPr>
          <p:cNvPr id="27" name="object 27"/>
          <p:cNvSpPr txBox="1"/>
          <p:nvPr/>
        </p:nvSpPr>
        <p:spPr>
          <a:xfrm>
            <a:off x="7564538" y="3190876"/>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28" name="object 28"/>
          <p:cNvSpPr/>
          <p:nvPr/>
        </p:nvSpPr>
        <p:spPr>
          <a:xfrm>
            <a:off x="7643119" y="3278981"/>
            <a:ext cx="760095" cy="0"/>
          </a:xfrm>
          <a:custGeom>
            <a:avLst/>
            <a:gdLst/>
            <a:ahLst/>
            <a:cxnLst/>
            <a:rect l="l" t="t" r="r" b="b"/>
            <a:pathLst>
              <a:path w="1013459">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29" name="object 29"/>
          <p:cNvSpPr txBox="1"/>
          <p:nvPr/>
        </p:nvSpPr>
        <p:spPr>
          <a:xfrm>
            <a:off x="8393213" y="3190876"/>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30" name="object 30"/>
          <p:cNvSpPr/>
          <p:nvPr/>
        </p:nvSpPr>
        <p:spPr>
          <a:xfrm>
            <a:off x="8471794" y="3278981"/>
            <a:ext cx="345757" cy="0"/>
          </a:xfrm>
          <a:custGeom>
            <a:avLst/>
            <a:gdLst/>
            <a:ahLst/>
            <a:cxnLst/>
            <a:rect l="l" t="t" r="r" b="b"/>
            <a:pathLst>
              <a:path w="461009">
                <a:moveTo>
                  <a:pt x="0" y="0"/>
                </a:moveTo>
                <a:lnTo>
                  <a:pt x="460400" y="0"/>
                </a:lnTo>
              </a:path>
            </a:pathLst>
          </a:custGeom>
          <a:ln w="12649">
            <a:solidFill>
              <a:srgbClr val="000000"/>
            </a:solidFill>
            <a:prstDash val="dash"/>
          </a:ln>
        </p:spPr>
        <p:txBody>
          <a:bodyPr wrap="square" lIns="0" tIns="0" rIns="0" bIns="0" rtlCol="0"/>
          <a:lstStyle/>
          <a:p>
            <a:endParaRPr sz="1800"/>
          </a:p>
        </p:txBody>
      </p:sp>
      <p:sp>
        <p:nvSpPr>
          <p:cNvPr id="31" name="object 31"/>
          <p:cNvSpPr txBox="1"/>
          <p:nvPr/>
        </p:nvSpPr>
        <p:spPr>
          <a:xfrm>
            <a:off x="8807551" y="3190876"/>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32" name="object 32"/>
          <p:cNvSpPr txBox="1"/>
          <p:nvPr/>
        </p:nvSpPr>
        <p:spPr>
          <a:xfrm>
            <a:off x="866081" y="3325750"/>
            <a:ext cx="985838" cy="148117"/>
          </a:xfrm>
          <a:prstGeom prst="rect">
            <a:avLst/>
          </a:prstGeom>
        </p:spPr>
        <p:txBody>
          <a:bodyPr vert="horz" wrap="square" lIns="0" tIns="9525" rIns="0" bIns="0" rtlCol="0">
            <a:spAutoFit/>
          </a:bodyPr>
          <a:lstStyle/>
          <a:p>
            <a:pPr marL="9525">
              <a:spcBef>
                <a:spcPts val="75"/>
              </a:spcBef>
              <a:tabLst>
                <a:tab pos="768668" algn="l"/>
              </a:tabLst>
            </a:pPr>
            <a:r>
              <a:rPr sz="900" dirty="0">
                <a:latin typeface="Courier New"/>
                <a:cs typeface="Courier New"/>
              </a:rPr>
              <a:t>|</a:t>
            </a:r>
            <a:r>
              <a:rPr sz="900" spc="-4" dirty="0">
                <a:latin typeface="Courier New"/>
                <a:cs typeface="Courier New"/>
              </a:rPr>
              <a:t> </a:t>
            </a:r>
            <a:r>
              <a:rPr sz="900" spc="-15" dirty="0">
                <a:latin typeface="Courier New"/>
                <a:cs typeface="Courier New"/>
              </a:rPr>
              <a:t>JOHN</a:t>
            </a:r>
            <a:r>
              <a:rPr sz="900" dirty="0">
                <a:latin typeface="Courier New"/>
                <a:cs typeface="Courier New"/>
              </a:rPr>
              <a:t>	|</a:t>
            </a:r>
            <a:r>
              <a:rPr sz="900" spc="-4" dirty="0">
                <a:latin typeface="Courier New"/>
                <a:cs typeface="Courier New"/>
              </a:rPr>
              <a:t> </a:t>
            </a:r>
            <a:r>
              <a:rPr sz="900" spc="-38" dirty="0">
                <a:latin typeface="Courier New"/>
                <a:cs typeface="Courier New"/>
              </a:rPr>
              <a:t>B</a:t>
            </a:r>
            <a:endParaRPr sz="900">
              <a:latin typeface="Courier New"/>
              <a:cs typeface="Courier New"/>
            </a:endParaRPr>
          </a:p>
        </p:txBody>
      </p:sp>
      <p:sp>
        <p:nvSpPr>
          <p:cNvPr id="33" name="object 33"/>
          <p:cNvSpPr txBox="1"/>
          <p:nvPr/>
        </p:nvSpPr>
        <p:spPr>
          <a:xfrm>
            <a:off x="866081" y="3458338"/>
            <a:ext cx="985838"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15" dirty="0">
                <a:latin typeface="Courier New"/>
                <a:cs typeface="Courier New"/>
              </a:rPr>
              <a:t> </a:t>
            </a:r>
            <a:r>
              <a:rPr sz="900" dirty="0">
                <a:latin typeface="Courier New"/>
                <a:cs typeface="Courier New"/>
              </a:rPr>
              <a:t>FRANKLIN</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38" dirty="0">
                <a:latin typeface="Courier New"/>
                <a:cs typeface="Courier New"/>
              </a:rPr>
              <a:t>T</a:t>
            </a:r>
            <a:endParaRPr sz="900">
              <a:latin typeface="Courier New"/>
              <a:cs typeface="Courier New"/>
            </a:endParaRPr>
          </a:p>
        </p:txBody>
      </p:sp>
      <p:sp>
        <p:nvSpPr>
          <p:cNvPr id="34" name="object 34"/>
          <p:cNvSpPr txBox="1"/>
          <p:nvPr/>
        </p:nvSpPr>
        <p:spPr>
          <a:xfrm>
            <a:off x="2178151" y="3325749"/>
            <a:ext cx="4507706" cy="291747"/>
          </a:xfrm>
          <a:prstGeom prst="rect">
            <a:avLst/>
          </a:prstGeom>
        </p:spPr>
        <p:txBody>
          <a:bodyPr vert="horz" wrap="square" lIns="0" tIns="9525" rIns="0" bIns="0" rtlCol="0">
            <a:spAutoFit/>
          </a:bodyPr>
          <a:lstStyle/>
          <a:p>
            <a:pPr marL="9525">
              <a:lnSpc>
                <a:spcPts val="1061"/>
              </a:lnSpc>
              <a:spcBef>
                <a:spcPts val="75"/>
              </a:spcBef>
              <a:tabLst>
                <a:tab pos="699611"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SMITH</a:t>
            </a:r>
            <a:r>
              <a:rPr sz="900" dirty="0">
                <a:latin typeface="Courier New"/>
                <a:cs typeface="Courier New"/>
              </a:rPr>
              <a:t>	|</a:t>
            </a:r>
            <a:r>
              <a:rPr sz="900" spc="-15" dirty="0">
                <a:latin typeface="Courier New"/>
                <a:cs typeface="Courier New"/>
              </a:rPr>
              <a:t> </a:t>
            </a:r>
            <a:r>
              <a:rPr sz="900" dirty="0">
                <a:latin typeface="Courier New"/>
                <a:cs typeface="Courier New"/>
              </a:rPr>
              <a:t>123456789</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1" dirty="0">
                <a:latin typeface="Courier New"/>
                <a:cs typeface="Courier New"/>
              </a:rPr>
              <a:t> </a:t>
            </a:r>
            <a:r>
              <a:rPr sz="900" dirty="0">
                <a:latin typeface="Courier New"/>
                <a:cs typeface="Courier New"/>
              </a:rPr>
              <a:t>731</a:t>
            </a:r>
            <a:r>
              <a:rPr sz="900" spc="-15" dirty="0">
                <a:latin typeface="Courier New"/>
                <a:cs typeface="Courier New"/>
              </a:rPr>
              <a:t> </a:t>
            </a:r>
            <a:r>
              <a:rPr sz="900" dirty="0">
                <a:latin typeface="Courier New"/>
                <a:cs typeface="Courier New"/>
              </a:rPr>
              <a:t>FONDREN,</a:t>
            </a:r>
            <a:r>
              <a:rPr sz="900" spc="-15" dirty="0">
                <a:latin typeface="Courier New"/>
                <a:cs typeface="Courier New"/>
              </a:rPr>
              <a:t> </a:t>
            </a:r>
            <a:r>
              <a:rPr sz="900" dirty="0">
                <a:latin typeface="Courier New"/>
                <a:cs typeface="Courier New"/>
              </a:rPr>
              <a:t>HOUSTON,</a:t>
            </a:r>
            <a:r>
              <a:rPr sz="900" spc="-15" dirty="0">
                <a:latin typeface="Courier New"/>
                <a:cs typeface="Courier New"/>
              </a:rPr>
              <a:t> </a:t>
            </a:r>
            <a:r>
              <a:rPr sz="900" dirty="0">
                <a:latin typeface="Courier New"/>
                <a:cs typeface="Courier New"/>
              </a:rPr>
              <a:t>TX</a:t>
            </a:r>
            <a:r>
              <a:rPr sz="900" spc="-15" dirty="0">
                <a:latin typeface="Courier New"/>
                <a:cs typeface="Courier New"/>
              </a:rPr>
              <a:t> </a:t>
            </a:r>
            <a:r>
              <a:rPr sz="900" dirty="0">
                <a:latin typeface="Courier New"/>
                <a:cs typeface="Courier New"/>
              </a:rPr>
              <a:t>|</a:t>
            </a:r>
            <a:r>
              <a:rPr sz="900" spc="-11" dirty="0">
                <a:latin typeface="Courier New"/>
                <a:cs typeface="Courier New"/>
              </a:rPr>
              <a:t> </a:t>
            </a:r>
            <a:r>
              <a:rPr sz="900" spc="-38" dirty="0">
                <a:latin typeface="Courier New"/>
                <a:cs typeface="Courier New"/>
              </a:rPr>
              <a:t>M</a:t>
            </a:r>
            <a:endParaRPr sz="900">
              <a:latin typeface="Courier New"/>
              <a:cs typeface="Courier New"/>
            </a:endParaRPr>
          </a:p>
          <a:p>
            <a:pPr marL="9525">
              <a:lnSpc>
                <a:spcPts val="1061"/>
              </a:lnSpc>
              <a:tabLst>
                <a:tab pos="699611" algn="l"/>
              </a:tabLst>
            </a:pPr>
            <a:r>
              <a:rPr sz="900" dirty="0">
                <a:latin typeface="Courier New"/>
                <a:cs typeface="Courier New"/>
              </a:rPr>
              <a:t>|</a:t>
            </a:r>
            <a:r>
              <a:rPr sz="900" spc="-4" dirty="0">
                <a:latin typeface="Courier New"/>
                <a:cs typeface="Courier New"/>
              </a:rPr>
              <a:t> </a:t>
            </a:r>
            <a:r>
              <a:rPr sz="900" spc="-15" dirty="0">
                <a:latin typeface="Courier New"/>
                <a:cs typeface="Courier New"/>
              </a:rPr>
              <a:t>WONG</a:t>
            </a:r>
            <a:r>
              <a:rPr sz="900" dirty="0">
                <a:latin typeface="Courier New"/>
                <a:cs typeface="Courier New"/>
              </a:rPr>
              <a:t>	|</a:t>
            </a:r>
            <a:r>
              <a:rPr sz="900" spc="-19" dirty="0">
                <a:latin typeface="Courier New"/>
                <a:cs typeface="Courier New"/>
              </a:rPr>
              <a:t> </a:t>
            </a:r>
            <a:r>
              <a:rPr sz="900" dirty="0">
                <a:latin typeface="Courier New"/>
                <a:cs typeface="Courier New"/>
              </a:rPr>
              <a:t>333445555</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638</a:t>
            </a:r>
            <a:r>
              <a:rPr sz="900" spc="-19" dirty="0">
                <a:latin typeface="Courier New"/>
                <a:cs typeface="Courier New"/>
              </a:rPr>
              <a:t> </a:t>
            </a:r>
            <a:r>
              <a:rPr sz="900" dirty="0">
                <a:latin typeface="Courier New"/>
                <a:cs typeface="Courier New"/>
              </a:rPr>
              <a:t>VOSS,HOUSTON</a:t>
            </a:r>
            <a:r>
              <a:rPr sz="900" spc="-15" dirty="0">
                <a:latin typeface="Courier New"/>
                <a:cs typeface="Courier New"/>
              </a:rPr>
              <a:t> </a:t>
            </a:r>
            <a:r>
              <a:rPr sz="900" spc="-19" dirty="0">
                <a:latin typeface="Courier New"/>
                <a:cs typeface="Courier New"/>
              </a:rPr>
              <a:t>TX</a:t>
            </a:r>
            <a:endParaRPr sz="900">
              <a:latin typeface="Courier New"/>
              <a:cs typeface="Courier New"/>
            </a:endParaRPr>
          </a:p>
        </p:txBody>
      </p:sp>
      <p:sp>
        <p:nvSpPr>
          <p:cNvPr id="35" name="object 35"/>
          <p:cNvSpPr txBox="1"/>
          <p:nvPr/>
        </p:nvSpPr>
        <p:spPr>
          <a:xfrm>
            <a:off x="2178151" y="3602356"/>
            <a:ext cx="571976"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4" dirty="0">
                <a:latin typeface="Courier New"/>
                <a:cs typeface="Courier New"/>
              </a:rPr>
              <a:t> </a:t>
            </a:r>
            <a:r>
              <a:rPr sz="900" spc="-8" dirty="0">
                <a:latin typeface="Courier New"/>
                <a:cs typeface="Courier New"/>
              </a:rPr>
              <a:t>ZELAYA</a:t>
            </a:r>
            <a:endParaRPr sz="900">
              <a:latin typeface="Courier New"/>
              <a:cs typeface="Courier New"/>
            </a:endParaRPr>
          </a:p>
        </p:txBody>
      </p:sp>
      <p:sp>
        <p:nvSpPr>
          <p:cNvPr id="36" name="object 36"/>
          <p:cNvSpPr txBox="1"/>
          <p:nvPr/>
        </p:nvSpPr>
        <p:spPr>
          <a:xfrm>
            <a:off x="866081" y="3602355"/>
            <a:ext cx="985838" cy="291747"/>
          </a:xfrm>
          <a:prstGeom prst="rect">
            <a:avLst/>
          </a:prstGeom>
        </p:spPr>
        <p:txBody>
          <a:bodyPr vert="horz" wrap="square" lIns="0" tIns="9525" rIns="0" bIns="0" rtlCol="0">
            <a:spAutoFit/>
          </a:bodyPr>
          <a:lstStyle/>
          <a:p>
            <a:pPr marL="9525">
              <a:lnSpc>
                <a:spcPts val="1061"/>
              </a:lnSpc>
              <a:spcBef>
                <a:spcPts val="75"/>
              </a:spcBef>
              <a:tabLst>
                <a:tab pos="768668"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ALICIA</a:t>
            </a:r>
            <a:r>
              <a:rPr sz="900" dirty="0">
                <a:latin typeface="Courier New"/>
                <a:cs typeface="Courier New"/>
              </a:rPr>
              <a:t>	|</a:t>
            </a:r>
            <a:r>
              <a:rPr sz="900" spc="-4" dirty="0">
                <a:latin typeface="Courier New"/>
                <a:cs typeface="Courier New"/>
              </a:rPr>
              <a:t> </a:t>
            </a:r>
            <a:r>
              <a:rPr sz="900" spc="-38" dirty="0">
                <a:latin typeface="Courier New"/>
                <a:cs typeface="Courier New"/>
              </a:rPr>
              <a:t>J</a:t>
            </a:r>
            <a:endParaRPr sz="900">
              <a:latin typeface="Courier New"/>
              <a:cs typeface="Courier New"/>
            </a:endParaRPr>
          </a:p>
          <a:p>
            <a:pPr marL="9525">
              <a:lnSpc>
                <a:spcPts val="1061"/>
              </a:lnSpc>
            </a:pPr>
            <a:r>
              <a:rPr sz="900" dirty="0">
                <a:latin typeface="Courier New"/>
                <a:cs typeface="Courier New"/>
              </a:rPr>
              <a:t>|</a:t>
            </a:r>
            <a:r>
              <a:rPr sz="900" spc="-15" dirty="0">
                <a:latin typeface="Courier New"/>
                <a:cs typeface="Courier New"/>
              </a:rPr>
              <a:t> </a:t>
            </a:r>
            <a:r>
              <a:rPr sz="900" dirty="0">
                <a:latin typeface="Courier New"/>
                <a:cs typeface="Courier New"/>
              </a:rPr>
              <a:t>JENNIFER</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38" dirty="0">
                <a:latin typeface="Courier New"/>
                <a:cs typeface="Courier New"/>
              </a:rPr>
              <a:t>S</a:t>
            </a:r>
            <a:endParaRPr sz="900">
              <a:latin typeface="Courier New"/>
              <a:cs typeface="Courier New"/>
            </a:endParaRPr>
          </a:p>
        </p:txBody>
      </p:sp>
      <p:sp>
        <p:nvSpPr>
          <p:cNvPr id="37" name="object 37"/>
          <p:cNvSpPr txBox="1"/>
          <p:nvPr/>
        </p:nvSpPr>
        <p:spPr>
          <a:xfrm>
            <a:off x="2178151" y="3734943"/>
            <a:ext cx="4162901"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19" dirty="0">
                <a:latin typeface="Courier New"/>
                <a:cs typeface="Courier New"/>
              </a:rPr>
              <a:t> </a:t>
            </a:r>
            <a:r>
              <a:rPr sz="900" dirty="0">
                <a:latin typeface="Courier New"/>
                <a:cs typeface="Courier New"/>
              </a:rPr>
              <a:t>WALLACE</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dirty="0">
                <a:latin typeface="Courier New"/>
                <a:cs typeface="Courier New"/>
              </a:rPr>
              <a:t>987654321</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9"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291</a:t>
            </a:r>
            <a:r>
              <a:rPr sz="900" spc="-15" dirty="0">
                <a:latin typeface="Courier New"/>
                <a:cs typeface="Courier New"/>
              </a:rPr>
              <a:t> </a:t>
            </a:r>
            <a:r>
              <a:rPr sz="900" dirty="0">
                <a:latin typeface="Courier New"/>
                <a:cs typeface="Courier New"/>
              </a:rPr>
              <a:t>BERRY,</a:t>
            </a:r>
            <a:r>
              <a:rPr sz="900" spc="-19" dirty="0">
                <a:latin typeface="Courier New"/>
                <a:cs typeface="Courier New"/>
              </a:rPr>
              <a:t> </a:t>
            </a:r>
            <a:r>
              <a:rPr sz="900" dirty="0">
                <a:latin typeface="Courier New"/>
                <a:cs typeface="Courier New"/>
              </a:rPr>
              <a:t>BELLAIRE,</a:t>
            </a:r>
            <a:r>
              <a:rPr sz="900" spc="-15" dirty="0">
                <a:latin typeface="Courier New"/>
                <a:cs typeface="Courier New"/>
              </a:rPr>
              <a:t> </a:t>
            </a:r>
            <a:r>
              <a:rPr sz="900" spc="-19" dirty="0">
                <a:latin typeface="Courier New"/>
                <a:cs typeface="Courier New"/>
              </a:rPr>
              <a:t>TX</a:t>
            </a:r>
            <a:endParaRPr sz="900">
              <a:latin typeface="Courier New"/>
              <a:cs typeface="Courier New"/>
            </a:endParaRPr>
          </a:p>
        </p:txBody>
      </p:sp>
      <p:sp>
        <p:nvSpPr>
          <p:cNvPr id="38" name="object 38"/>
          <p:cNvSpPr txBox="1"/>
          <p:nvPr/>
        </p:nvSpPr>
        <p:spPr>
          <a:xfrm>
            <a:off x="2868713" y="3458337"/>
            <a:ext cx="3817144" cy="443070"/>
          </a:xfrm>
          <a:prstGeom prst="rect">
            <a:avLst/>
          </a:prstGeom>
        </p:spPr>
        <p:txBody>
          <a:bodyPr vert="horz" wrap="square" lIns="0" tIns="9525" rIns="0" bIns="0" rtlCol="0">
            <a:spAutoFit/>
          </a:bodyPr>
          <a:lstStyle/>
          <a:p>
            <a:pPr marR="3810" algn="r">
              <a:spcBef>
                <a:spcPts val="75"/>
              </a:spcBef>
            </a:pPr>
            <a:r>
              <a:rPr sz="900" dirty="0">
                <a:latin typeface="Courier New"/>
                <a:cs typeface="Courier New"/>
              </a:rPr>
              <a:t>|</a:t>
            </a:r>
            <a:r>
              <a:rPr sz="900" spc="-4" dirty="0">
                <a:latin typeface="Courier New"/>
                <a:cs typeface="Courier New"/>
              </a:rPr>
              <a:t> </a:t>
            </a:r>
            <a:r>
              <a:rPr sz="900" spc="-38" dirty="0">
                <a:latin typeface="Courier New"/>
                <a:cs typeface="Courier New"/>
              </a:rPr>
              <a:t>M</a:t>
            </a:r>
            <a:endParaRPr sz="900" dirty="0">
              <a:latin typeface="Courier New"/>
              <a:cs typeface="Courier New"/>
            </a:endParaRPr>
          </a:p>
          <a:p>
            <a:pPr marR="3810" algn="r">
              <a:lnSpc>
                <a:spcPts val="1061"/>
              </a:lnSpc>
              <a:spcBef>
                <a:spcPts val="53"/>
              </a:spcBef>
              <a:tabLst>
                <a:tab pos="3590449" algn="l"/>
              </a:tabLst>
            </a:pPr>
            <a:r>
              <a:rPr sz="900" dirty="0">
                <a:latin typeface="Courier New"/>
                <a:cs typeface="Courier New"/>
              </a:rPr>
              <a:t>|</a:t>
            </a:r>
            <a:r>
              <a:rPr sz="900" spc="-19" dirty="0">
                <a:latin typeface="Courier New"/>
                <a:cs typeface="Courier New"/>
              </a:rPr>
              <a:t> </a:t>
            </a:r>
            <a:r>
              <a:rPr sz="900" dirty="0">
                <a:latin typeface="Courier New"/>
                <a:cs typeface="Courier New"/>
              </a:rPr>
              <a:t>999887777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dirty="0">
                <a:latin typeface="Courier New"/>
                <a:cs typeface="Courier New"/>
              </a:rPr>
              <a:t>3321</a:t>
            </a:r>
            <a:r>
              <a:rPr sz="900" spc="-15" dirty="0">
                <a:latin typeface="Courier New"/>
                <a:cs typeface="Courier New"/>
              </a:rPr>
              <a:t> </a:t>
            </a:r>
            <a:r>
              <a:rPr sz="900" dirty="0">
                <a:latin typeface="Courier New"/>
                <a:cs typeface="Courier New"/>
              </a:rPr>
              <a:t>CASTLE,</a:t>
            </a:r>
            <a:r>
              <a:rPr sz="900" spc="-15" dirty="0">
                <a:latin typeface="Courier New"/>
                <a:cs typeface="Courier New"/>
              </a:rPr>
              <a:t> </a:t>
            </a:r>
            <a:r>
              <a:rPr sz="900" dirty="0">
                <a:latin typeface="Courier New"/>
                <a:cs typeface="Courier New"/>
              </a:rPr>
              <a:t>SPRING,</a:t>
            </a:r>
            <a:r>
              <a:rPr sz="900" spc="-15" dirty="0">
                <a:latin typeface="Courier New"/>
                <a:cs typeface="Courier New"/>
              </a:rPr>
              <a:t> </a:t>
            </a:r>
            <a:r>
              <a:rPr sz="900" spc="-19" dirty="0">
                <a:latin typeface="Courier New"/>
                <a:cs typeface="Courier New"/>
              </a:rPr>
              <a:t>TX</a:t>
            </a:r>
            <a:r>
              <a:rPr sz="900" dirty="0">
                <a:latin typeface="Courier New"/>
                <a:cs typeface="Courier New"/>
              </a:rPr>
              <a:t>	|</a:t>
            </a:r>
            <a:r>
              <a:rPr sz="900" spc="-4" dirty="0">
                <a:latin typeface="Courier New"/>
                <a:cs typeface="Courier New"/>
              </a:rPr>
              <a:t> </a:t>
            </a:r>
            <a:r>
              <a:rPr sz="900" spc="-38" dirty="0">
                <a:latin typeface="Courier New"/>
                <a:cs typeface="Courier New"/>
              </a:rPr>
              <a:t>F</a:t>
            </a:r>
            <a:endParaRPr sz="900" dirty="0">
              <a:latin typeface="Courier New"/>
              <a:cs typeface="Courier New"/>
            </a:endParaRPr>
          </a:p>
          <a:p>
            <a:pPr marR="3810" algn="r">
              <a:lnSpc>
                <a:spcPts val="1061"/>
              </a:lnSpc>
            </a:pPr>
            <a:r>
              <a:rPr sz="900" dirty="0">
                <a:latin typeface="Courier New"/>
                <a:cs typeface="Courier New"/>
              </a:rPr>
              <a:t>|</a:t>
            </a:r>
            <a:r>
              <a:rPr sz="900" spc="-4" dirty="0">
                <a:latin typeface="Courier New"/>
                <a:cs typeface="Courier New"/>
              </a:rPr>
              <a:t> </a:t>
            </a:r>
            <a:r>
              <a:rPr sz="900" spc="-38" dirty="0">
                <a:latin typeface="Courier New"/>
                <a:cs typeface="Courier New"/>
              </a:rPr>
              <a:t>F</a:t>
            </a:r>
            <a:endParaRPr sz="900" dirty="0">
              <a:latin typeface="Courier New"/>
              <a:cs typeface="Courier New"/>
            </a:endParaRPr>
          </a:p>
        </p:txBody>
      </p:sp>
      <p:sp>
        <p:nvSpPr>
          <p:cNvPr id="39" name="object 39"/>
          <p:cNvSpPr txBox="1"/>
          <p:nvPr/>
        </p:nvSpPr>
        <p:spPr>
          <a:xfrm>
            <a:off x="2178151" y="3876676"/>
            <a:ext cx="4507706"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15" dirty="0">
                <a:latin typeface="Courier New"/>
                <a:cs typeface="Courier New"/>
              </a:rPr>
              <a:t> </a:t>
            </a:r>
            <a:r>
              <a:rPr sz="900" dirty="0">
                <a:latin typeface="Courier New"/>
                <a:cs typeface="Courier New"/>
              </a:rPr>
              <a:t>NARAYAN</a:t>
            </a:r>
            <a:r>
              <a:rPr sz="900" spc="-11"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666884444</a:t>
            </a:r>
            <a:r>
              <a:rPr sz="900" spc="-11"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1"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975</a:t>
            </a:r>
            <a:r>
              <a:rPr sz="900" spc="-11" dirty="0">
                <a:latin typeface="Courier New"/>
                <a:cs typeface="Courier New"/>
              </a:rPr>
              <a:t> </a:t>
            </a:r>
            <a:r>
              <a:rPr sz="900" dirty="0">
                <a:latin typeface="Courier New"/>
                <a:cs typeface="Courier New"/>
              </a:rPr>
              <a:t>FIRE</a:t>
            </a:r>
            <a:r>
              <a:rPr sz="900" spc="-15" dirty="0">
                <a:latin typeface="Courier New"/>
                <a:cs typeface="Courier New"/>
              </a:rPr>
              <a:t> </a:t>
            </a:r>
            <a:r>
              <a:rPr sz="900" dirty="0">
                <a:latin typeface="Courier New"/>
                <a:cs typeface="Courier New"/>
              </a:rPr>
              <a:t>OAK,</a:t>
            </a:r>
            <a:r>
              <a:rPr sz="900" spc="-11" dirty="0">
                <a:latin typeface="Courier New"/>
                <a:cs typeface="Courier New"/>
              </a:rPr>
              <a:t> </a:t>
            </a:r>
            <a:r>
              <a:rPr sz="900" dirty="0">
                <a:latin typeface="Courier New"/>
                <a:cs typeface="Courier New"/>
              </a:rPr>
              <a:t>HUMBLE,</a:t>
            </a:r>
            <a:r>
              <a:rPr sz="900" spc="-15" dirty="0">
                <a:latin typeface="Courier New"/>
                <a:cs typeface="Courier New"/>
              </a:rPr>
              <a:t> </a:t>
            </a:r>
            <a:r>
              <a:rPr sz="900" dirty="0">
                <a:latin typeface="Courier New"/>
                <a:cs typeface="Courier New"/>
              </a:rPr>
              <a:t>TX</a:t>
            </a:r>
            <a:r>
              <a:rPr sz="900" spc="-11" dirty="0">
                <a:latin typeface="Courier New"/>
                <a:cs typeface="Courier New"/>
              </a:rPr>
              <a:t> </a:t>
            </a:r>
            <a:r>
              <a:rPr sz="900" dirty="0">
                <a:latin typeface="Courier New"/>
                <a:cs typeface="Courier New"/>
              </a:rPr>
              <a:t>|</a:t>
            </a:r>
            <a:r>
              <a:rPr sz="900" spc="-11" dirty="0">
                <a:latin typeface="Courier New"/>
                <a:cs typeface="Courier New"/>
              </a:rPr>
              <a:t> </a:t>
            </a:r>
            <a:r>
              <a:rPr sz="900" spc="-38" dirty="0">
                <a:latin typeface="Courier New"/>
                <a:cs typeface="Courier New"/>
              </a:rPr>
              <a:t>M</a:t>
            </a:r>
            <a:endParaRPr sz="900">
              <a:latin typeface="Courier New"/>
              <a:cs typeface="Courier New"/>
            </a:endParaRPr>
          </a:p>
        </p:txBody>
      </p:sp>
      <p:sp>
        <p:nvSpPr>
          <p:cNvPr id="40" name="object 40"/>
          <p:cNvSpPr txBox="1"/>
          <p:nvPr/>
        </p:nvSpPr>
        <p:spPr>
          <a:xfrm>
            <a:off x="866081" y="3876675"/>
            <a:ext cx="985838" cy="584134"/>
          </a:xfrm>
          <a:prstGeom prst="rect">
            <a:avLst/>
          </a:prstGeom>
        </p:spPr>
        <p:txBody>
          <a:bodyPr vert="horz" wrap="square" lIns="0" tIns="9525" rIns="0" bIns="0" rtlCol="0">
            <a:spAutoFit/>
          </a:bodyPr>
          <a:lstStyle/>
          <a:p>
            <a:pPr marL="9525">
              <a:lnSpc>
                <a:spcPts val="1073"/>
              </a:lnSpc>
              <a:spcBef>
                <a:spcPts val="75"/>
              </a:spcBef>
              <a:tabLst>
                <a:tab pos="768668"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RAMESH</a:t>
            </a:r>
            <a:r>
              <a:rPr sz="900" dirty="0">
                <a:latin typeface="Courier New"/>
                <a:cs typeface="Courier New"/>
              </a:rPr>
              <a:t>	|</a:t>
            </a:r>
            <a:r>
              <a:rPr sz="900" spc="-4" dirty="0">
                <a:latin typeface="Courier New"/>
                <a:cs typeface="Courier New"/>
              </a:rPr>
              <a:t> </a:t>
            </a:r>
            <a:r>
              <a:rPr sz="900" spc="-38" dirty="0">
                <a:latin typeface="Courier New"/>
                <a:cs typeface="Courier New"/>
              </a:rPr>
              <a:t>K</a:t>
            </a:r>
            <a:endParaRPr sz="900">
              <a:latin typeface="Courier New"/>
              <a:cs typeface="Courier New"/>
            </a:endParaRPr>
          </a:p>
          <a:p>
            <a:pPr marL="9525">
              <a:lnSpc>
                <a:spcPts val="1054"/>
              </a:lnSpc>
              <a:tabLst>
                <a:tab pos="768668"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JOYCE</a:t>
            </a:r>
            <a:r>
              <a:rPr sz="900" dirty="0">
                <a:latin typeface="Courier New"/>
                <a:cs typeface="Courier New"/>
              </a:rPr>
              <a:t>	|</a:t>
            </a:r>
            <a:r>
              <a:rPr sz="900" spc="-4" dirty="0">
                <a:latin typeface="Courier New"/>
                <a:cs typeface="Courier New"/>
              </a:rPr>
              <a:t> </a:t>
            </a:r>
            <a:r>
              <a:rPr sz="900" spc="-38" dirty="0">
                <a:latin typeface="Courier New"/>
                <a:cs typeface="Courier New"/>
              </a:rPr>
              <a:t>A</a:t>
            </a:r>
            <a:endParaRPr sz="900">
              <a:latin typeface="Courier New"/>
              <a:cs typeface="Courier New"/>
            </a:endParaRPr>
          </a:p>
          <a:p>
            <a:pPr marL="9525">
              <a:lnSpc>
                <a:spcPts val="1061"/>
              </a:lnSpc>
              <a:tabLst>
                <a:tab pos="768668"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AHMAD</a:t>
            </a:r>
            <a:r>
              <a:rPr sz="900" dirty="0">
                <a:latin typeface="Courier New"/>
                <a:cs typeface="Courier New"/>
              </a:rPr>
              <a:t>	|</a:t>
            </a:r>
            <a:r>
              <a:rPr sz="900" spc="-4" dirty="0">
                <a:latin typeface="Courier New"/>
                <a:cs typeface="Courier New"/>
              </a:rPr>
              <a:t> </a:t>
            </a:r>
            <a:r>
              <a:rPr sz="900" spc="-38" dirty="0">
                <a:latin typeface="Courier New"/>
                <a:cs typeface="Courier New"/>
              </a:rPr>
              <a:t>V</a:t>
            </a:r>
            <a:endParaRPr sz="900">
              <a:latin typeface="Courier New"/>
              <a:cs typeface="Courier New"/>
            </a:endParaRPr>
          </a:p>
          <a:p>
            <a:pPr marL="9525">
              <a:spcBef>
                <a:spcPts val="53"/>
              </a:spcBef>
              <a:tabLst>
                <a:tab pos="768668"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JAMES</a:t>
            </a:r>
            <a:r>
              <a:rPr sz="900" dirty="0">
                <a:latin typeface="Courier New"/>
                <a:cs typeface="Courier New"/>
              </a:rPr>
              <a:t>	|</a:t>
            </a:r>
            <a:r>
              <a:rPr sz="900" spc="-4" dirty="0">
                <a:latin typeface="Courier New"/>
                <a:cs typeface="Courier New"/>
              </a:rPr>
              <a:t> </a:t>
            </a:r>
            <a:r>
              <a:rPr sz="900" spc="-38" dirty="0">
                <a:latin typeface="Courier New"/>
                <a:cs typeface="Courier New"/>
              </a:rPr>
              <a:t>E</a:t>
            </a:r>
            <a:endParaRPr sz="900">
              <a:latin typeface="Courier New"/>
              <a:cs typeface="Courier New"/>
            </a:endParaRPr>
          </a:p>
        </p:txBody>
      </p:sp>
      <p:sp>
        <p:nvSpPr>
          <p:cNvPr id="41" name="object 41"/>
          <p:cNvSpPr txBox="1"/>
          <p:nvPr/>
        </p:nvSpPr>
        <p:spPr>
          <a:xfrm>
            <a:off x="2178150" y="4288156"/>
            <a:ext cx="4093845" cy="148117"/>
          </a:xfrm>
          <a:prstGeom prst="rect">
            <a:avLst/>
          </a:prstGeom>
        </p:spPr>
        <p:txBody>
          <a:bodyPr vert="horz" wrap="square" lIns="0" tIns="9525" rIns="0" bIns="0" rtlCol="0">
            <a:spAutoFit/>
          </a:bodyPr>
          <a:lstStyle/>
          <a:p>
            <a:pPr marL="9525">
              <a:spcBef>
                <a:spcPts val="75"/>
              </a:spcBef>
              <a:tabLst>
                <a:tab pos="699611" algn="l"/>
              </a:tabLst>
            </a:pPr>
            <a:r>
              <a:rPr sz="900" dirty="0">
                <a:latin typeface="Courier New"/>
                <a:cs typeface="Courier New"/>
              </a:rPr>
              <a:t>|</a:t>
            </a:r>
            <a:r>
              <a:rPr sz="900" spc="-4" dirty="0">
                <a:latin typeface="Courier New"/>
                <a:cs typeface="Courier New"/>
              </a:rPr>
              <a:t> </a:t>
            </a:r>
            <a:r>
              <a:rPr sz="900" spc="-15" dirty="0">
                <a:latin typeface="Courier New"/>
                <a:cs typeface="Courier New"/>
              </a:rPr>
              <a:t>BORG</a:t>
            </a:r>
            <a:r>
              <a:rPr sz="900" dirty="0">
                <a:latin typeface="Courier New"/>
                <a:cs typeface="Courier New"/>
              </a:rPr>
              <a:t>	|</a:t>
            </a:r>
            <a:r>
              <a:rPr sz="900" spc="-19" dirty="0">
                <a:latin typeface="Courier New"/>
                <a:cs typeface="Courier New"/>
              </a:rPr>
              <a:t> </a:t>
            </a:r>
            <a:r>
              <a:rPr sz="900" dirty="0">
                <a:latin typeface="Courier New"/>
                <a:cs typeface="Courier New"/>
              </a:rPr>
              <a:t>888665555</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450</a:t>
            </a:r>
            <a:r>
              <a:rPr sz="900" spc="-15" dirty="0">
                <a:latin typeface="Courier New"/>
                <a:cs typeface="Courier New"/>
              </a:rPr>
              <a:t> </a:t>
            </a:r>
            <a:r>
              <a:rPr sz="900" dirty="0">
                <a:latin typeface="Courier New"/>
                <a:cs typeface="Courier New"/>
              </a:rPr>
              <a:t>STONE,</a:t>
            </a:r>
            <a:r>
              <a:rPr sz="900" spc="-15" dirty="0">
                <a:latin typeface="Courier New"/>
                <a:cs typeface="Courier New"/>
              </a:rPr>
              <a:t> </a:t>
            </a:r>
            <a:r>
              <a:rPr sz="900" dirty="0">
                <a:latin typeface="Courier New"/>
                <a:cs typeface="Courier New"/>
              </a:rPr>
              <a:t>HOUSTON,</a:t>
            </a:r>
            <a:r>
              <a:rPr sz="900" spc="-15" dirty="0">
                <a:latin typeface="Courier New"/>
                <a:cs typeface="Courier New"/>
              </a:rPr>
              <a:t> </a:t>
            </a:r>
            <a:r>
              <a:rPr sz="900" spc="-19" dirty="0">
                <a:latin typeface="Courier New"/>
                <a:cs typeface="Courier New"/>
              </a:rPr>
              <a:t>TX</a:t>
            </a:r>
            <a:endParaRPr sz="900">
              <a:latin typeface="Courier New"/>
              <a:cs typeface="Courier New"/>
            </a:endParaRPr>
          </a:p>
        </p:txBody>
      </p:sp>
      <p:sp>
        <p:nvSpPr>
          <p:cNvPr id="42" name="object 42"/>
          <p:cNvSpPr txBox="1"/>
          <p:nvPr/>
        </p:nvSpPr>
        <p:spPr>
          <a:xfrm>
            <a:off x="2178151" y="4011549"/>
            <a:ext cx="4507706" cy="443070"/>
          </a:xfrm>
          <a:prstGeom prst="rect">
            <a:avLst/>
          </a:prstGeom>
        </p:spPr>
        <p:txBody>
          <a:bodyPr vert="horz" wrap="square" lIns="0" tIns="9525" rIns="0" bIns="0" rtlCol="0">
            <a:spAutoFit/>
          </a:bodyPr>
          <a:lstStyle/>
          <a:p>
            <a:pPr marR="3810" algn="r">
              <a:lnSpc>
                <a:spcPts val="1061"/>
              </a:lnSpc>
              <a:spcBef>
                <a:spcPts val="75"/>
              </a:spcBef>
              <a:tabLst>
                <a:tab pos="4281011" algn="l"/>
              </a:tabLst>
            </a:pPr>
            <a:r>
              <a:rPr sz="900" dirty="0">
                <a:latin typeface="Courier New"/>
                <a:cs typeface="Courier New"/>
              </a:rPr>
              <a:t>|</a:t>
            </a:r>
            <a:r>
              <a:rPr sz="900" spc="-19" dirty="0">
                <a:latin typeface="Courier New"/>
                <a:cs typeface="Courier New"/>
              </a:rPr>
              <a:t> </a:t>
            </a:r>
            <a:r>
              <a:rPr sz="900" dirty="0">
                <a:latin typeface="Courier New"/>
                <a:cs typeface="Courier New"/>
              </a:rPr>
              <a:t>ENGLISH</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453453453</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5631</a:t>
            </a:r>
            <a:r>
              <a:rPr sz="900" spc="-15" dirty="0">
                <a:latin typeface="Courier New"/>
                <a:cs typeface="Courier New"/>
              </a:rPr>
              <a:t> </a:t>
            </a:r>
            <a:r>
              <a:rPr sz="900" dirty="0">
                <a:latin typeface="Courier New"/>
                <a:cs typeface="Courier New"/>
              </a:rPr>
              <a:t>RICE,</a:t>
            </a:r>
            <a:r>
              <a:rPr sz="900" spc="-15" dirty="0">
                <a:latin typeface="Courier New"/>
                <a:cs typeface="Courier New"/>
              </a:rPr>
              <a:t> </a:t>
            </a:r>
            <a:r>
              <a:rPr sz="900" dirty="0">
                <a:latin typeface="Courier New"/>
                <a:cs typeface="Courier New"/>
              </a:rPr>
              <a:t>HOUSTON,</a:t>
            </a:r>
            <a:r>
              <a:rPr sz="900" spc="-19" dirty="0">
                <a:latin typeface="Courier New"/>
                <a:cs typeface="Courier New"/>
              </a:rPr>
              <a:t> TX</a:t>
            </a:r>
            <a:r>
              <a:rPr sz="900" dirty="0">
                <a:latin typeface="Courier New"/>
                <a:cs typeface="Courier New"/>
              </a:rPr>
              <a:t>	|</a:t>
            </a:r>
            <a:r>
              <a:rPr sz="900" spc="-4" dirty="0">
                <a:latin typeface="Courier New"/>
                <a:cs typeface="Courier New"/>
              </a:rPr>
              <a:t> </a:t>
            </a:r>
            <a:r>
              <a:rPr sz="900" spc="-38" dirty="0">
                <a:latin typeface="Courier New"/>
                <a:cs typeface="Courier New"/>
              </a:rPr>
              <a:t>F</a:t>
            </a:r>
            <a:endParaRPr sz="900">
              <a:latin typeface="Courier New"/>
              <a:cs typeface="Courier New"/>
            </a:endParaRPr>
          </a:p>
          <a:p>
            <a:pPr marR="3810" algn="r">
              <a:lnSpc>
                <a:spcPts val="1061"/>
              </a:lnSpc>
              <a:tabLst>
                <a:tab pos="690086" algn="l"/>
                <a:tab pos="4281011"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JABBAR</a:t>
            </a:r>
            <a:r>
              <a:rPr sz="900" dirty="0">
                <a:latin typeface="Courier New"/>
                <a:cs typeface="Courier New"/>
              </a:rPr>
              <a:t>	|</a:t>
            </a:r>
            <a:r>
              <a:rPr sz="900" spc="-19" dirty="0">
                <a:latin typeface="Courier New"/>
                <a:cs typeface="Courier New"/>
              </a:rPr>
              <a:t> </a:t>
            </a:r>
            <a:r>
              <a:rPr sz="900" dirty="0">
                <a:latin typeface="Courier New"/>
                <a:cs typeface="Courier New"/>
              </a:rPr>
              <a:t>987987987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dirty="0">
                <a:latin typeface="Courier New"/>
                <a:cs typeface="Courier New"/>
              </a:rPr>
              <a:t>980</a:t>
            </a:r>
            <a:r>
              <a:rPr sz="900" spc="-15" dirty="0">
                <a:latin typeface="Courier New"/>
                <a:cs typeface="Courier New"/>
              </a:rPr>
              <a:t> </a:t>
            </a:r>
            <a:r>
              <a:rPr sz="900" dirty="0">
                <a:latin typeface="Courier New"/>
                <a:cs typeface="Courier New"/>
              </a:rPr>
              <a:t>DALLAS,</a:t>
            </a:r>
            <a:r>
              <a:rPr sz="900" spc="-15" dirty="0">
                <a:latin typeface="Courier New"/>
                <a:cs typeface="Courier New"/>
              </a:rPr>
              <a:t> </a:t>
            </a:r>
            <a:r>
              <a:rPr sz="900" dirty="0">
                <a:latin typeface="Courier New"/>
                <a:cs typeface="Courier New"/>
              </a:rPr>
              <a:t>HOUSTON,</a:t>
            </a:r>
            <a:r>
              <a:rPr sz="900" spc="-15" dirty="0">
                <a:latin typeface="Courier New"/>
                <a:cs typeface="Courier New"/>
              </a:rPr>
              <a:t> </a:t>
            </a:r>
            <a:r>
              <a:rPr sz="900" spc="-19" dirty="0">
                <a:latin typeface="Courier New"/>
                <a:cs typeface="Courier New"/>
              </a:rPr>
              <a:t>TX</a:t>
            </a:r>
            <a:r>
              <a:rPr sz="900" dirty="0">
                <a:latin typeface="Courier New"/>
                <a:cs typeface="Courier New"/>
              </a:rPr>
              <a:t>	|</a:t>
            </a:r>
            <a:r>
              <a:rPr sz="900" spc="-4" dirty="0">
                <a:latin typeface="Courier New"/>
                <a:cs typeface="Courier New"/>
              </a:rPr>
              <a:t> </a:t>
            </a:r>
            <a:r>
              <a:rPr sz="900" spc="-38" dirty="0">
                <a:latin typeface="Courier New"/>
                <a:cs typeface="Courier New"/>
              </a:rPr>
              <a:t>M</a:t>
            </a:r>
            <a:endParaRPr sz="900">
              <a:latin typeface="Courier New"/>
              <a:cs typeface="Courier New"/>
            </a:endParaRPr>
          </a:p>
          <a:p>
            <a:pPr marR="3810" algn="r">
              <a:spcBef>
                <a:spcPts val="53"/>
              </a:spcBef>
            </a:pPr>
            <a:r>
              <a:rPr sz="900" dirty="0">
                <a:latin typeface="Courier New"/>
                <a:cs typeface="Courier New"/>
              </a:rPr>
              <a:t>|</a:t>
            </a:r>
            <a:r>
              <a:rPr sz="900" spc="-4" dirty="0">
                <a:latin typeface="Courier New"/>
                <a:cs typeface="Courier New"/>
              </a:rPr>
              <a:t> </a:t>
            </a:r>
            <a:r>
              <a:rPr sz="900" spc="-38" dirty="0">
                <a:latin typeface="Courier New"/>
                <a:cs typeface="Courier New"/>
              </a:rPr>
              <a:t>M</a:t>
            </a:r>
            <a:endParaRPr sz="900">
              <a:latin typeface="Courier New"/>
              <a:cs typeface="Courier New"/>
            </a:endParaRPr>
          </a:p>
        </p:txBody>
      </p:sp>
      <p:sp>
        <p:nvSpPr>
          <p:cNvPr id="43" name="object 43"/>
          <p:cNvSpPr/>
          <p:nvPr/>
        </p:nvSpPr>
        <p:spPr>
          <a:xfrm>
            <a:off x="944663" y="4508849"/>
            <a:ext cx="691039" cy="0"/>
          </a:xfrm>
          <a:custGeom>
            <a:avLst/>
            <a:gdLst/>
            <a:ahLst/>
            <a:cxnLst/>
            <a:rect l="l" t="t" r="r" b="b"/>
            <a:pathLst>
              <a:path w="921385">
                <a:moveTo>
                  <a:pt x="0" y="0"/>
                </a:moveTo>
                <a:lnTo>
                  <a:pt x="920800" y="0"/>
                </a:lnTo>
              </a:path>
            </a:pathLst>
          </a:custGeom>
          <a:ln w="12649">
            <a:solidFill>
              <a:srgbClr val="000000"/>
            </a:solidFill>
            <a:prstDash val="dash"/>
          </a:ln>
        </p:spPr>
        <p:txBody>
          <a:bodyPr wrap="square" lIns="0" tIns="0" rIns="0" bIns="0" rtlCol="0"/>
          <a:lstStyle/>
          <a:p>
            <a:endParaRPr sz="1800"/>
          </a:p>
        </p:txBody>
      </p:sp>
      <p:sp>
        <p:nvSpPr>
          <p:cNvPr id="44" name="object 44"/>
          <p:cNvSpPr/>
          <p:nvPr/>
        </p:nvSpPr>
        <p:spPr>
          <a:xfrm>
            <a:off x="1704281" y="4508849"/>
            <a:ext cx="483870" cy="0"/>
          </a:xfrm>
          <a:custGeom>
            <a:avLst/>
            <a:gdLst/>
            <a:ahLst/>
            <a:cxnLst/>
            <a:rect l="l" t="t" r="r" b="b"/>
            <a:pathLst>
              <a:path w="645160">
                <a:moveTo>
                  <a:pt x="0" y="0"/>
                </a:moveTo>
                <a:lnTo>
                  <a:pt x="644560" y="0"/>
                </a:lnTo>
              </a:path>
            </a:pathLst>
          </a:custGeom>
          <a:ln w="12649">
            <a:solidFill>
              <a:srgbClr val="000000"/>
            </a:solidFill>
            <a:prstDash val="dash"/>
          </a:ln>
        </p:spPr>
        <p:txBody>
          <a:bodyPr wrap="square" lIns="0" tIns="0" rIns="0" bIns="0" rtlCol="0"/>
          <a:lstStyle/>
          <a:p>
            <a:endParaRPr sz="1800"/>
          </a:p>
        </p:txBody>
      </p:sp>
      <p:sp>
        <p:nvSpPr>
          <p:cNvPr id="45" name="object 45"/>
          <p:cNvSpPr/>
          <p:nvPr/>
        </p:nvSpPr>
        <p:spPr>
          <a:xfrm>
            <a:off x="2256731" y="4508849"/>
            <a:ext cx="621983" cy="0"/>
          </a:xfrm>
          <a:custGeom>
            <a:avLst/>
            <a:gdLst/>
            <a:ahLst/>
            <a:cxnLst/>
            <a:rect l="l" t="t" r="r" b="b"/>
            <a:pathLst>
              <a:path w="829310">
                <a:moveTo>
                  <a:pt x="0" y="0"/>
                </a:moveTo>
                <a:lnTo>
                  <a:pt x="828720" y="0"/>
                </a:lnTo>
              </a:path>
            </a:pathLst>
          </a:custGeom>
          <a:ln w="12649">
            <a:solidFill>
              <a:srgbClr val="000000"/>
            </a:solidFill>
            <a:prstDash val="dash"/>
          </a:ln>
        </p:spPr>
        <p:txBody>
          <a:bodyPr wrap="square" lIns="0" tIns="0" rIns="0" bIns="0" rtlCol="0"/>
          <a:lstStyle/>
          <a:p>
            <a:endParaRPr sz="1800"/>
          </a:p>
        </p:txBody>
      </p:sp>
      <p:sp>
        <p:nvSpPr>
          <p:cNvPr id="46" name="object 46"/>
          <p:cNvSpPr/>
          <p:nvPr/>
        </p:nvSpPr>
        <p:spPr>
          <a:xfrm>
            <a:off x="2947294" y="4508849"/>
            <a:ext cx="760095" cy="0"/>
          </a:xfrm>
          <a:custGeom>
            <a:avLst/>
            <a:gdLst/>
            <a:ahLst/>
            <a:cxnLst/>
            <a:rect l="l" t="t" r="r" b="b"/>
            <a:pathLst>
              <a:path w="1013460">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47" name="object 47"/>
          <p:cNvSpPr/>
          <p:nvPr/>
        </p:nvSpPr>
        <p:spPr>
          <a:xfrm>
            <a:off x="3775969" y="4508849"/>
            <a:ext cx="829151" cy="0"/>
          </a:xfrm>
          <a:custGeom>
            <a:avLst/>
            <a:gdLst/>
            <a:ahLst/>
            <a:cxnLst/>
            <a:rect l="l" t="t" r="r" b="b"/>
            <a:pathLst>
              <a:path w="1105535">
                <a:moveTo>
                  <a:pt x="0" y="0"/>
                </a:moveTo>
                <a:lnTo>
                  <a:pt x="1104961" y="0"/>
                </a:lnTo>
              </a:path>
            </a:pathLst>
          </a:custGeom>
          <a:ln w="12649">
            <a:solidFill>
              <a:srgbClr val="000000"/>
            </a:solidFill>
            <a:prstDash val="dash"/>
          </a:ln>
        </p:spPr>
        <p:txBody>
          <a:bodyPr wrap="square" lIns="0" tIns="0" rIns="0" bIns="0" rtlCol="0"/>
          <a:lstStyle/>
          <a:p>
            <a:endParaRPr sz="1800"/>
          </a:p>
        </p:txBody>
      </p:sp>
      <p:sp>
        <p:nvSpPr>
          <p:cNvPr id="48" name="object 48"/>
          <p:cNvSpPr txBox="1"/>
          <p:nvPr/>
        </p:nvSpPr>
        <p:spPr>
          <a:xfrm>
            <a:off x="866082" y="4420743"/>
            <a:ext cx="3817144" cy="148117"/>
          </a:xfrm>
          <a:prstGeom prst="rect">
            <a:avLst/>
          </a:prstGeom>
        </p:spPr>
        <p:txBody>
          <a:bodyPr vert="horz" wrap="square" lIns="0" tIns="9525" rIns="0" bIns="0" rtlCol="0">
            <a:spAutoFit/>
          </a:bodyPr>
          <a:lstStyle/>
          <a:p>
            <a:pPr marL="9525">
              <a:spcBef>
                <a:spcPts val="75"/>
              </a:spcBef>
              <a:tabLst>
                <a:tab pos="768668" algn="l"/>
                <a:tab pos="1321117" algn="l"/>
                <a:tab pos="2011680" algn="l"/>
                <a:tab pos="2840355" algn="l"/>
                <a:tab pos="3738086"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49" name="object 49"/>
          <p:cNvSpPr/>
          <p:nvPr/>
        </p:nvSpPr>
        <p:spPr>
          <a:xfrm>
            <a:off x="4673700" y="4508849"/>
            <a:ext cx="1795939" cy="0"/>
          </a:xfrm>
          <a:custGeom>
            <a:avLst/>
            <a:gdLst/>
            <a:ahLst/>
            <a:cxnLst/>
            <a:rect l="l" t="t" r="r" b="b"/>
            <a:pathLst>
              <a:path w="2394584">
                <a:moveTo>
                  <a:pt x="0" y="0"/>
                </a:moveTo>
                <a:lnTo>
                  <a:pt x="2394082" y="0"/>
                </a:lnTo>
              </a:path>
            </a:pathLst>
          </a:custGeom>
          <a:ln w="12649">
            <a:solidFill>
              <a:srgbClr val="000000"/>
            </a:solidFill>
            <a:prstDash val="dash"/>
          </a:ln>
        </p:spPr>
        <p:txBody>
          <a:bodyPr wrap="square" lIns="0" tIns="0" rIns="0" bIns="0" rtlCol="0"/>
          <a:lstStyle/>
          <a:p>
            <a:endParaRPr sz="1800"/>
          </a:p>
        </p:txBody>
      </p:sp>
      <p:sp>
        <p:nvSpPr>
          <p:cNvPr id="50" name="object 50"/>
          <p:cNvSpPr txBox="1"/>
          <p:nvPr/>
        </p:nvSpPr>
        <p:spPr>
          <a:xfrm>
            <a:off x="6459638" y="4420743"/>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51" name="object 51"/>
          <p:cNvSpPr/>
          <p:nvPr/>
        </p:nvSpPr>
        <p:spPr>
          <a:xfrm>
            <a:off x="6538219" y="4508849"/>
            <a:ext cx="414814" cy="0"/>
          </a:xfrm>
          <a:custGeom>
            <a:avLst/>
            <a:gdLst/>
            <a:ahLst/>
            <a:cxnLst/>
            <a:rect l="l" t="t" r="r" b="b"/>
            <a:pathLst>
              <a:path w="553084">
                <a:moveTo>
                  <a:pt x="0" y="0"/>
                </a:moveTo>
                <a:lnTo>
                  <a:pt x="552480" y="0"/>
                </a:lnTo>
              </a:path>
            </a:pathLst>
          </a:custGeom>
          <a:ln w="12649">
            <a:solidFill>
              <a:srgbClr val="000000"/>
            </a:solidFill>
            <a:prstDash val="dash"/>
          </a:ln>
        </p:spPr>
        <p:txBody>
          <a:bodyPr wrap="square" lIns="0" tIns="0" rIns="0" bIns="0" rtlCol="0"/>
          <a:lstStyle/>
          <a:p>
            <a:endParaRPr sz="1800"/>
          </a:p>
        </p:txBody>
      </p:sp>
      <p:sp>
        <p:nvSpPr>
          <p:cNvPr id="52" name="object 52"/>
          <p:cNvSpPr/>
          <p:nvPr/>
        </p:nvSpPr>
        <p:spPr>
          <a:xfrm>
            <a:off x="7021613" y="4508849"/>
            <a:ext cx="552926" cy="0"/>
          </a:xfrm>
          <a:custGeom>
            <a:avLst/>
            <a:gdLst/>
            <a:ahLst/>
            <a:cxnLst/>
            <a:rect l="l" t="t" r="r" b="b"/>
            <a:pathLst>
              <a:path w="737234">
                <a:moveTo>
                  <a:pt x="0" y="0"/>
                </a:moveTo>
                <a:lnTo>
                  <a:pt x="736640" y="0"/>
                </a:lnTo>
              </a:path>
            </a:pathLst>
          </a:custGeom>
          <a:ln w="12649">
            <a:solidFill>
              <a:srgbClr val="000000"/>
            </a:solidFill>
            <a:prstDash val="dash"/>
          </a:ln>
        </p:spPr>
        <p:txBody>
          <a:bodyPr wrap="square" lIns="0" tIns="0" rIns="0" bIns="0" rtlCol="0"/>
          <a:lstStyle/>
          <a:p>
            <a:endParaRPr sz="1800"/>
          </a:p>
        </p:txBody>
      </p:sp>
      <p:sp>
        <p:nvSpPr>
          <p:cNvPr id="53" name="object 53"/>
          <p:cNvSpPr/>
          <p:nvPr/>
        </p:nvSpPr>
        <p:spPr>
          <a:xfrm>
            <a:off x="7643119" y="4508849"/>
            <a:ext cx="760095" cy="0"/>
          </a:xfrm>
          <a:custGeom>
            <a:avLst/>
            <a:gdLst/>
            <a:ahLst/>
            <a:cxnLst/>
            <a:rect l="l" t="t" r="r" b="b"/>
            <a:pathLst>
              <a:path w="1013459">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54" name="object 54"/>
          <p:cNvSpPr/>
          <p:nvPr/>
        </p:nvSpPr>
        <p:spPr>
          <a:xfrm>
            <a:off x="8471794" y="4508849"/>
            <a:ext cx="345757" cy="0"/>
          </a:xfrm>
          <a:custGeom>
            <a:avLst/>
            <a:gdLst/>
            <a:ahLst/>
            <a:cxnLst/>
            <a:rect l="l" t="t" r="r" b="b"/>
            <a:pathLst>
              <a:path w="461009">
                <a:moveTo>
                  <a:pt x="0" y="0"/>
                </a:moveTo>
                <a:lnTo>
                  <a:pt x="460400" y="0"/>
                </a:lnTo>
              </a:path>
            </a:pathLst>
          </a:custGeom>
          <a:ln w="12649">
            <a:solidFill>
              <a:srgbClr val="000000"/>
            </a:solidFill>
            <a:prstDash val="dash"/>
          </a:ln>
        </p:spPr>
        <p:txBody>
          <a:bodyPr wrap="square" lIns="0" tIns="0" rIns="0" bIns="0" rtlCol="0"/>
          <a:lstStyle/>
          <a:p>
            <a:endParaRPr sz="1800"/>
          </a:p>
        </p:txBody>
      </p:sp>
      <p:sp>
        <p:nvSpPr>
          <p:cNvPr id="55" name="object 55"/>
          <p:cNvSpPr txBox="1"/>
          <p:nvPr/>
        </p:nvSpPr>
        <p:spPr>
          <a:xfrm>
            <a:off x="6943031" y="3325749"/>
            <a:ext cx="1952625" cy="1304844"/>
          </a:xfrm>
          <a:prstGeom prst="rect">
            <a:avLst/>
          </a:prstGeom>
        </p:spPr>
        <p:txBody>
          <a:bodyPr vert="horz" wrap="square" lIns="0" tIns="9525" rIns="0" bIns="0" rtlCol="0">
            <a:spAutoFit/>
          </a:bodyPr>
          <a:lstStyle/>
          <a:p>
            <a:pPr marL="9525">
              <a:lnSpc>
                <a:spcPts val="1061"/>
              </a:lnSpc>
              <a:spcBef>
                <a:spcPts val="75"/>
              </a:spcBef>
              <a:tabLst>
                <a:tab pos="216218" algn="l"/>
                <a:tab pos="1735455" algn="l"/>
              </a:tabLst>
            </a:pPr>
            <a:r>
              <a:rPr sz="900" spc="-38" dirty="0">
                <a:latin typeface="Courier New"/>
                <a:cs typeface="Courier New"/>
              </a:rPr>
              <a:t>|</a:t>
            </a:r>
            <a:r>
              <a:rPr sz="900" dirty="0">
                <a:latin typeface="Courier New"/>
                <a:cs typeface="Courier New"/>
              </a:rPr>
              <a:t>	33000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333445555</a:t>
            </a:r>
            <a:r>
              <a:rPr sz="900" spc="-23" dirty="0">
                <a:latin typeface="Courier New"/>
                <a:cs typeface="Courier New"/>
              </a:rPr>
              <a:t> </a:t>
            </a:r>
            <a:r>
              <a:rPr sz="900" spc="-38" dirty="0">
                <a:latin typeface="Courier New"/>
                <a:cs typeface="Courier New"/>
              </a:rPr>
              <a:t>|</a:t>
            </a:r>
            <a:r>
              <a:rPr sz="900" dirty="0">
                <a:latin typeface="Courier New"/>
                <a:cs typeface="Courier New"/>
              </a:rPr>
              <a:t>	5</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tabLst>
                <a:tab pos="216218" algn="l"/>
                <a:tab pos="1735455" algn="l"/>
              </a:tabLst>
            </a:pPr>
            <a:r>
              <a:rPr sz="900" spc="-38" dirty="0">
                <a:latin typeface="Courier New"/>
                <a:cs typeface="Courier New"/>
              </a:rPr>
              <a:t>|</a:t>
            </a:r>
            <a:r>
              <a:rPr sz="900" dirty="0">
                <a:latin typeface="Courier New"/>
                <a:cs typeface="Courier New"/>
              </a:rPr>
              <a:t>	44000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888665555</a:t>
            </a:r>
            <a:r>
              <a:rPr sz="900" spc="-23" dirty="0">
                <a:latin typeface="Courier New"/>
                <a:cs typeface="Courier New"/>
              </a:rPr>
              <a:t> </a:t>
            </a:r>
            <a:r>
              <a:rPr sz="900" spc="-38" dirty="0">
                <a:latin typeface="Courier New"/>
                <a:cs typeface="Courier New"/>
              </a:rPr>
              <a:t>|</a:t>
            </a:r>
            <a:r>
              <a:rPr sz="900" dirty="0">
                <a:latin typeface="Courier New"/>
                <a:cs typeface="Courier New"/>
              </a:rPr>
              <a:t>	5</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spcBef>
                <a:spcPts val="53"/>
              </a:spcBef>
              <a:tabLst>
                <a:tab pos="216218" algn="l"/>
                <a:tab pos="1735455" algn="l"/>
              </a:tabLst>
            </a:pPr>
            <a:r>
              <a:rPr sz="900" spc="-38" dirty="0">
                <a:latin typeface="Courier New"/>
                <a:cs typeface="Courier New"/>
              </a:rPr>
              <a:t>|</a:t>
            </a:r>
            <a:r>
              <a:rPr sz="900" dirty="0">
                <a:latin typeface="Courier New"/>
                <a:cs typeface="Courier New"/>
              </a:rPr>
              <a:t>	27500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987654321</a:t>
            </a:r>
            <a:r>
              <a:rPr sz="900" spc="-23" dirty="0">
                <a:latin typeface="Courier New"/>
                <a:cs typeface="Courier New"/>
              </a:rPr>
              <a:t> </a:t>
            </a:r>
            <a:r>
              <a:rPr sz="900" spc="-38" dirty="0">
                <a:latin typeface="Courier New"/>
                <a:cs typeface="Courier New"/>
              </a:rPr>
              <a:t>|</a:t>
            </a:r>
            <a:r>
              <a:rPr sz="900" dirty="0">
                <a:latin typeface="Courier New"/>
                <a:cs typeface="Courier New"/>
              </a:rPr>
              <a:t>	4</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tabLst>
                <a:tab pos="216218" algn="l"/>
                <a:tab pos="1735455" algn="l"/>
              </a:tabLst>
            </a:pPr>
            <a:r>
              <a:rPr sz="900" spc="-38" dirty="0">
                <a:latin typeface="Courier New"/>
                <a:cs typeface="Courier New"/>
              </a:rPr>
              <a:t>|</a:t>
            </a:r>
            <a:r>
              <a:rPr sz="900" dirty="0">
                <a:latin typeface="Courier New"/>
                <a:cs typeface="Courier New"/>
              </a:rPr>
              <a:t>	47300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888665555</a:t>
            </a:r>
            <a:r>
              <a:rPr sz="900" spc="-23" dirty="0">
                <a:latin typeface="Courier New"/>
                <a:cs typeface="Courier New"/>
              </a:rPr>
              <a:t> </a:t>
            </a:r>
            <a:r>
              <a:rPr sz="900" spc="-38" dirty="0">
                <a:latin typeface="Courier New"/>
                <a:cs typeface="Courier New"/>
              </a:rPr>
              <a:t>|</a:t>
            </a:r>
            <a:r>
              <a:rPr sz="900" dirty="0">
                <a:latin typeface="Courier New"/>
                <a:cs typeface="Courier New"/>
              </a:rPr>
              <a:t>	4</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73"/>
              </a:lnSpc>
              <a:spcBef>
                <a:spcPts val="38"/>
              </a:spcBef>
              <a:tabLst>
                <a:tab pos="216218" algn="l"/>
                <a:tab pos="1735455" algn="l"/>
              </a:tabLst>
            </a:pPr>
            <a:r>
              <a:rPr sz="900" spc="-38" dirty="0">
                <a:latin typeface="Courier New"/>
                <a:cs typeface="Courier New"/>
              </a:rPr>
              <a:t>|</a:t>
            </a:r>
            <a:r>
              <a:rPr sz="900" dirty="0">
                <a:latin typeface="Courier New"/>
                <a:cs typeface="Courier New"/>
              </a:rPr>
              <a:t>	41800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333445555</a:t>
            </a:r>
            <a:r>
              <a:rPr sz="900" spc="-23" dirty="0">
                <a:latin typeface="Courier New"/>
                <a:cs typeface="Courier New"/>
              </a:rPr>
              <a:t> </a:t>
            </a:r>
            <a:r>
              <a:rPr sz="900" spc="-38" dirty="0">
                <a:latin typeface="Courier New"/>
                <a:cs typeface="Courier New"/>
              </a:rPr>
              <a:t>|</a:t>
            </a:r>
            <a:r>
              <a:rPr sz="900" dirty="0">
                <a:latin typeface="Courier New"/>
                <a:cs typeface="Courier New"/>
              </a:rPr>
              <a:t>	5</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54"/>
              </a:lnSpc>
              <a:tabLst>
                <a:tab pos="216218" algn="l"/>
                <a:tab pos="1735455" algn="l"/>
              </a:tabLst>
            </a:pPr>
            <a:r>
              <a:rPr sz="900" spc="-38" dirty="0">
                <a:latin typeface="Courier New"/>
                <a:cs typeface="Courier New"/>
              </a:rPr>
              <a:t>|</a:t>
            </a:r>
            <a:r>
              <a:rPr sz="900" dirty="0">
                <a:latin typeface="Courier New"/>
                <a:cs typeface="Courier New"/>
              </a:rPr>
              <a:t>	27500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333445555</a:t>
            </a:r>
            <a:r>
              <a:rPr sz="900" spc="-23" dirty="0">
                <a:latin typeface="Courier New"/>
                <a:cs typeface="Courier New"/>
              </a:rPr>
              <a:t> </a:t>
            </a:r>
            <a:r>
              <a:rPr sz="900" spc="-38" dirty="0">
                <a:latin typeface="Courier New"/>
                <a:cs typeface="Courier New"/>
              </a:rPr>
              <a:t>|</a:t>
            </a:r>
            <a:r>
              <a:rPr sz="900" dirty="0">
                <a:latin typeface="Courier New"/>
                <a:cs typeface="Courier New"/>
              </a:rPr>
              <a:t>	5</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tabLst>
                <a:tab pos="216218" algn="l"/>
                <a:tab pos="1735455" algn="l"/>
              </a:tabLst>
            </a:pPr>
            <a:r>
              <a:rPr sz="900" spc="-38" dirty="0">
                <a:latin typeface="Courier New"/>
                <a:cs typeface="Courier New"/>
              </a:rPr>
              <a:t>|</a:t>
            </a:r>
            <a:r>
              <a:rPr sz="900" dirty="0">
                <a:latin typeface="Courier New"/>
                <a:cs typeface="Courier New"/>
              </a:rPr>
              <a:t>	27500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987654321</a:t>
            </a:r>
            <a:r>
              <a:rPr sz="900" spc="-23" dirty="0">
                <a:latin typeface="Courier New"/>
                <a:cs typeface="Courier New"/>
              </a:rPr>
              <a:t> </a:t>
            </a:r>
            <a:r>
              <a:rPr sz="900" spc="-38" dirty="0">
                <a:latin typeface="Courier New"/>
                <a:cs typeface="Courier New"/>
              </a:rPr>
              <a:t>|</a:t>
            </a:r>
            <a:r>
              <a:rPr sz="900" dirty="0">
                <a:latin typeface="Courier New"/>
                <a:cs typeface="Courier New"/>
              </a:rPr>
              <a:t>	4</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spcBef>
                <a:spcPts val="53"/>
              </a:spcBef>
              <a:tabLst>
                <a:tab pos="216218" algn="l"/>
                <a:tab pos="1459229" algn="l"/>
                <a:tab pos="1735455" algn="l"/>
              </a:tabLst>
            </a:pPr>
            <a:r>
              <a:rPr sz="900" spc="-38" dirty="0">
                <a:latin typeface="Courier New"/>
                <a:cs typeface="Courier New"/>
              </a:rPr>
              <a:t>|</a:t>
            </a:r>
            <a:r>
              <a:rPr sz="900" dirty="0">
                <a:latin typeface="Courier New"/>
                <a:cs typeface="Courier New"/>
              </a:rPr>
              <a:t>	60500</a:t>
            </a:r>
            <a:r>
              <a:rPr sz="900" spc="-26"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1</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tabLst>
                <a:tab pos="630555" algn="l"/>
                <a:tab pos="1459229" algn="l"/>
                <a:tab pos="1873568"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56" name="object 56"/>
          <p:cNvSpPr/>
          <p:nvPr/>
        </p:nvSpPr>
        <p:spPr>
          <a:xfrm>
            <a:off x="944662" y="4918043"/>
            <a:ext cx="621983" cy="0"/>
          </a:xfrm>
          <a:custGeom>
            <a:avLst/>
            <a:gdLst/>
            <a:ahLst/>
            <a:cxnLst/>
            <a:rect l="l" t="t" r="r" b="b"/>
            <a:pathLst>
              <a:path w="829310">
                <a:moveTo>
                  <a:pt x="0" y="0"/>
                </a:moveTo>
                <a:lnTo>
                  <a:pt x="828720" y="0"/>
                </a:lnTo>
              </a:path>
            </a:pathLst>
          </a:custGeom>
          <a:ln w="12649">
            <a:solidFill>
              <a:srgbClr val="000000"/>
            </a:solidFill>
            <a:prstDash val="dash"/>
          </a:ln>
        </p:spPr>
        <p:txBody>
          <a:bodyPr wrap="square" lIns="0" tIns="0" rIns="0" bIns="0" rtlCol="0"/>
          <a:lstStyle/>
          <a:p>
            <a:endParaRPr sz="1800"/>
          </a:p>
        </p:txBody>
      </p:sp>
      <p:sp>
        <p:nvSpPr>
          <p:cNvPr id="57" name="object 57"/>
          <p:cNvSpPr/>
          <p:nvPr/>
        </p:nvSpPr>
        <p:spPr>
          <a:xfrm>
            <a:off x="1635225" y="4918043"/>
            <a:ext cx="898208" cy="0"/>
          </a:xfrm>
          <a:custGeom>
            <a:avLst/>
            <a:gdLst/>
            <a:ahLst/>
            <a:cxnLst/>
            <a:rect l="l" t="t" r="r" b="b"/>
            <a:pathLst>
              <a:path w="1197610">
                <a:moveTo>
                  <a:pt x="0" y="0"/>
                </a:moveTo>
                <a:lnTo>
                  <a:pt x="1197041" y="0"/>
                </a:lnTo>
              </a:path>
            </a:pathLst>
          </a:custGeom>
          <a:ln w="12649">
            <a:solidFill>
              <a:srgbClr val="000000"/>
            </a:solidFill>
            <a:prstDash val="dash"/>
          </a:ln>
        </p:spPr>
        <p:txBody>
          <a:bodyPr wrap="square" lIns="0" tIns="0" rIns="0" bIns="0" rtlCol="0"/>
          <a:lstStyle/>
          <a:p>
            <a:endParaRPr sz="1800"/>
          </a:p>
        </p:txBody>
      </p:sp>
      <p:sp>
        <p:nvSpPr>
          <p:cNvPr id="58" name="object 58"/>
          <p:cNvSpPr txBox="1"/>
          <p:nvPr/>
        </p:nvSpPr>
        <p:spPr>
          <a:xfrm>
            <a:off x="866082" y="4697349"/>
            <a:ext cx="2021681" cy="443070"/>
          </a:xfrm>
          <a:prstGeom prst="rect">
            <a:avLst/>
          </a:prstGeom>
        </p:spPr>
        <p:txBody>
          <a:bodyPr vert="horz" wrap="square" lIns="0" tIns="9525" rIns="0" bIns="0" rtlCol="0">
            <a:spAutoFit/>
          </a:bodyPr>
          <a:lstStyle/>
          <a:p>
            <a:pPr marL="9525">
              <a:lnSpc>
                <a:spcPts val="1061"/>
              </a:lnSpc>
              <a:spcBef>
                <a:spcPts val="75"/>
              </a:spcBef>
            </a:pPr>
            <a:r>
              <a:rPr sz="900" dirty="0">
                <a:latin typeface="Courier New"/>
                <a:cs typeface="Courier New"/>
              </a:rPr>
              <a:t>mysql&gt;</a:t>
            </a:r>
            <a:r>
              <a:rPr sz="900" spc="-23" dirty="0">
                <a:latin typeface="Courier New"/>
                <a:cs typeface="Courier New"/>
              </a:rPr>
              <a:t> </a:t>
            </a:r>
            <a:r>
              <a:rPr sz="900" dirty="0">
                <a:latin typeface="Courier New"/>
                <a:cs typeface="Courier New"/>
              </a:rPr>
              <a:t>select</a:t>
            </a:r>
            <a:r>
              <a:rPr sz="900" spc="-19" dirty="0">
                <a:latin typeface="Courier New"/>
                <a:cs typeface="Courier New"/>
              </a:rPr>
              <a:t> </a:t>
            </a:r>
            <a:r>
              <a:rPr sz="900" dirty="0">
                <a:latin typeface="Courier New"/>
                <a:cs typeface="Courier New"/>
              </a:rPr>
              <a:t>*</a:t>
            </a:r>
            <a:r>
              <a:rPr sz="900" spc="-19" dirty="0">
                <a:latin typeface="Courier New"/>
                <a:cs typeface="Courier New"/>
              </a:rPr>
              <a:t> </a:t>
            </a:r>
            <a:r>
              <a:rPr sz="900" dirty="0">
                <a:latin typeface="Courier New"/>
                <a:cs typeface="Courier New"/>
              </a:rPr>
              <a:t>from</a:t>
            </a:r>
            <a:r>
              <a:rPr sz="900" spc="-19" dirty="0">
                <a:latin typeface="Courier New"/>
                <a:cs typeface="Courier New"/>
              </a:rPr>
              <a:t> </a:t>
            </a:r>
            <a:r>
              <a:rPr sz="900" spc="-8" dirty="0">
                <a:latin typeface="Courier New"/>
                <a:cs typeface="Courier New"/>
              </a:rPr>
              <a:t>deptsal;</a:t>
            </a:r>
            <a:endParaRPr sz="900">
              <a:latin typeface="Courier New"/>
              <a:cs typeface="Courier New"/>
            </a:endParaRPr>
          </a:p>
          <a:p>
            <a:pPr marL="9525">
              <a:lnSpc>
                <a:spcPts val="1061"/>
              </a:lnSpc>
              <a:tabLst>
                <a:tab pos="699611" algn="l"/>
                <a:tab pos="1666399"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a:p>
            <a:pPr marL="9525">
              <a:spcBef>
                <a:spcPts val="53"/>
              </a:spcBef>
            </a:pPr>
            <a:r>
              <a:rPr sz="900" dirty="0">
                <a:latin typeface="Courier New"/>
                <a:cs typeface="Courier New"/>
              </a:rPr>
              <a:t>|</a:t>
            </a:r>
            <a:r>
              <a:rPr sz="900" spc="-26" dirty="0">
                <a:latin typeface="Courier New"/>
                <a:cs typeface="Courier New"/>
              </a:rPr>
              <a:t> </a:t>
            </a:r>
            <a:r>
              <a:rPr sz="900" dirty="0">
                <a:latin typeface="Courier New"/>
                <a:cs typeface="Courier New"/>
              </a:rPr>
              <a:t>dnumber</a:t>
            </a:r>
            <a:r>
              <a:rPr sz="900" spc="-23"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totalsalary</a:t>
            </a:r>
            <a:r>
              <a:rPr sz="900" spc="-23"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59" name="object 59"/>
          <p:cNvSpPr/>
          <p:nvPr/>
        </p:nvSpPr>
        <p:spPr>
          <a:xfrm>
            <a:off x="944662" y="5194649"/>
            <a:ext cx="621983" cy="0"/>
          </a:xfrm>
          <a:custGeom>
            <a:avLst/>
            <a:gdLst/>
            <a:ahLst/>
            <a:cxnLst/>
            <a:rect l="l" t="t" r="r" b="b"/>
            <a:pathLst>
              <a:path w="829310">
                <a:moveTo>
                  <a:pt x="0" y="0"/>
                </a:moveTo>
                <a:lnTo>
                  <a:pt x="828720" y="0"/>
                </a:lnTo>
              </a:path>
            </a:pathLst>
          </a:custGeom>
          <a:ln w="12649">
            <a:solidFill>
              <a:srgbClr val="000000"/>
            </a:solidFill>
            <a:prstDash val="dash"/>
          </a:ln>
        </p:spPr>
        <p:txBody>
          <a:bodyPr wrap="square" lIns="0" tIns="0" rIns="0" bIns="0" rtlCol="0"/>
          <a:lstStyle/>
          <a:p>
            <a:endParaRPr sz="1800"/>
          </a:p>
        </p:txBody>
      </p:sp>
      <p:sp>
        <p:nvSpPr>
          <p:cNvPr id="60" name="object 60"/>
          <p:cNvSpPr/>
          <p:nvPr/>
        </p:nvSpPr>
        <p:spPr>
          <a:xfrm>
            <a:off x="1635225" y="5194649"/>
            <a:ext cx="898208" cy="0"/>
          </a:xfrm>
          <a:custGeom>
            <a:avLst/>
            <a:gdLst/>
            <a:ahLst/>
            <a:cxnLst/>
            <a:rect l="l" t="t" r="r" b="b"/>
            <a:pathLst>
              <a:path w="1197610">
                <a:moveTo>
                  <a:pt x="0" y="0"/>
                </a:moveTo>
                <a:lnTo>
                  <a:pt x="1197041" y="0"/>
                </a:lnTo>
              </a:path>
            </a:pathLst>
          </a:custGeom>
          <a:ln w="12649">
            <a:solidFill>
              <a:srgbClr val="000000"/>
            </a:solidFill>
            <a:prstDash val="dash"/>
          </a:ln>
        </p:spPr>
        <p:txBody>
          <a:bodyPr wrap="square" lIns="0" tIns="0" rIns="0" bIns="0" rtlCol="0"/>
          <a:lstStyle/>
          <a:p>
            <a:endParaRPr sz="1800"/>
          </a:p>
        </p:txBody>
      </p:sp>
      <p:graphicFrame>
        <p:nvGraphicFramePr>
          <p:cNvPr id="61" name="object 61"/>
          <p:cNvGraphicFramePr>
            <a:graphicFrameLocks noGrp="1"/>
          </p:cNvGraphicFramePr>
          <p:nvPr/>
        </p:nvGraphicFramePr>
        <p:xfrm>
          <a:off x="851794" y="5124272"/>
          <a:ext cx="1772603" cy="641985"/>
        </p:xfrm>
        <a:graphic>
          <a:graphicData uri="http://schemas.openxmlformats.org/drawingml/2006/table">
            <a:tbl>
              <a:tblPr firstRow="1" bandRow="1">
                <a:tableStyleId>{2D5ABB26-0587-4C30-8999-92F81FD0307C}</a:tableStyleId>
              </a:tblPr>
              <a:tblGrid>
                <a:gridCol w="334328">
                  <a:extLst>
                    <a:ext uri="{9D8B030D-6E8A-4147-A177-3AD203B41FA5}">
                      <a16:colId xmlns:a16="http://schemas.microsoft.com/office/drawing/2014/main" val="20000"/>
                    </a:ext>
                  </a:extLst>
                </a:gridCol>
                <a:gridCol w="655796">
                  <a:extLst>
                    <a:ext uri="{9D8B030D-6E8A-4147-A177-3AD203B41FA5}">
                      <a16:colId xmlns:a16="http://schemas.microsoft.com/office/drawing/2014/main" val="20001"/>
                    </a:ext>
                  </a:extLst>
                </a:gridCol>
                <a:gridCol w="655796">
                  <a:extLst>
                    <a:ext uri="{9D8B030D-6E8A-4147-A177-3AD203B41FA5}">
                      <a16:colId xmlns:a16="http://schemas.microsoft.com/office/drawing/2014/main" val="20002"/>
                    </a:ext>
                  </a:extLst>
                </a:gridCol>
                <a:gridCol w="126683">
                  <a:extLst>
                    <a:ext uri="{9D8B030D-6E8A-4147-A177-3AD203B41FA5}">
                      <a16:colId xmlns:a16="http://schemas.microsoft.com/office/drawing/2014/main" val="20003"/>
                    </a:ext>
                  </a:extLst>
                </a:gridCol>
              </a:tblGrid>
              <a:tr h="137160">
                <a:tc>
                  <a:txBody>
                    <a:bodyPr/>
                    <a:lstStyle/>
                    <a:p>
                      <a:pPr marL="31750">
                        <a:lnSpc>
                          <a:spcPts val="1340"/>
                        </a:lnSpc>
                      </a:pPr>
                      <a:r>
                        <a:rPr sz="900" spc="-50" dirty="0">
                          <a:latin typeface="Courier New"/>
                          <a:cs typeface="Courier New"/>
                        </a:rPr>
                        <a:t>+</a:t>
                      </a:r>
                      <a:endParaRPr sz="900">
                        <a:latin typeface="Courier New"/>
                        <a:cs typeface="Courier New"/>
                      </a:endParaRPr>
                    </a:p>
                  </a:txBody>
                  <a:tcPr marL="0" marR="0" marT="0" marB="0"/>
                </a:tc>
                <a:tc>
                  <a:txBody>
                    <a:bodyPr/>
                    <a:lstStyle/>
                    <a:p>
                      <a:pPr marR="268605" algn="r">
                        <a:lnSpc>
                          <a:spcPts val="1340"/>
                        </a:lnSpc>
                      </a:pPr>
                      <a:r>
                        <a:rPr sz="900" spc="-50" dirty="0">
                          <a:latin typeface="Courier New"/>
                          <a:cs typeface="Courier New"/>
                        </a:rPr>
                        <a:t>+</a:t>
                      </a:r>
                      <a:endParaRPr sz="900">
                        <a:latin typeface="Courier New"/>
                        <a:cs typeface="Courier New"/>
                      </a:endParaRPr>
                    </a:p>
                  </a:txBody>
                  <a:tcPr marL="0" marR="0" marT="0" marB="0"/>
                </a:tc>
                <a:tc>
                  <a:txBody>
                    <a:bodyPr/>
                    <a:lstStyle/>
                    <a:p>
                      <a:pPr>
                        <a:lnSpc>
                          <a:spcPct val="100000"/>
                        </a:lnSpc>
                      </a:pPr>
                      <a:endParaRPr sz="800">
                        <a:latin typeface="Times New Roman"/>
                        <a:cs typeface="Times New Roman"/>
                      </a:endParaRPr>
                    </a:p>
                  </a:txBody>
                  <a:tcPr marL="0" marR="0" marT="0" marB="0"/>
                </a:tc>
                <a:tc>
                  <a:txBody>
                    <a:bodyPr/>
                    <a:lstStyle/>
                    <a:p>
                      <a:pPr marL="13970" algn="ctr">
                        <a:lnSpc>
                          <a:spcPts val="1340"/>
                        </a:lnSpc>
                      </a:pPr>
                      <a:r>
                        <a:rPr sz="900" spc="-50" dirty="0">
                          <a:latin typeface="Courier New"/>
                          <a:cs typeface="Courier New"/>
                        </a:rPr>
                        <a:t>+</a:t>
                      </a:r>
                      <a:endParaRPr sz="900">
                        <a:latin typeface="Courier New"/>
                        <a:cs typeface="Courier New"/>
                      </a:endParaRPr>
                    </a:p>
                  </a:txBody>
                  <a:tcPr marL="0" marR="0" marT="0" marB="0"/>
                </a:tc>
                <a:extLst>
                  <a:ext uri="{0D108BD9-81ED-4DB2-BD59-A6C34878D82A}">
                    <a16:rowId xmlns:a16="http://schemas.microsoft.com/office/drawing/2014/main" val="10000"/>
                  </a:ext>
                </a:extLst>
              </a:tr>
              <a:tr h="138113">
                <a:tc>
                  <a:txBody>
                    <a:bodyPr/>
                    <a:lstStyle/>
                    <a:p>
                      <a:pPr marL="31750">
                        <a:lnSpc>
                          <a:spcPts val="1350"/>
                        </a:lnSpc>
                      </a:pPr>
                      <a:r>
                        <a:rPr sz="900" spc="-50" dirty="0">
                          <a:latin typeface="Courier New"/>
                          <a:cs typeface="Courier New"/>
                        </a:rPr>
                        <a:t>|</a:t>
                      </a:r>
                      <a:endParaRPr sz="900">
                        <a:latin typeface="Courier New"/>
                        <a:cs typeface="Courier New"/>
                      </a:endParaRPr>
                    </a:p>
                  </a:txBody>
                  <a:tcPr marL="0" marR="0" marT="0" marB="0"/>
                </a:tc>
                <a:tc>
                  <a:txBody>
                    <a:bodyPr/>
                    <a:lstStyle/>
                    <a:p>
                      <a:pPr marR="268605" algn="r">
                        <a:lnSpc>
                          <a:spcPts val="1350"/>
                        </a:lnSpc>
                      </a:pPr>
                      <a:r>
                        <a:rPr sz="900" dirty="0">
                          <a:latin typeface="Courier New"/>
                          <a:cs typeface="Courier New"/>
                        </a:rPr>
                        <a:t>5</a:t>
                      </a:r>
                      <a:r>
                        <a:rPr sz="900" spc="-5" dirty="0">
                          <a:latin typeface="Courier New"/>
                          <a:cs typeface="Courier New"/>
                        </a:rPr>
                        <a:t> </a:t>
                      </a:r>
                      <a:r>
                        <a:rPr sz="900" spc="-50" dirty="0">
                          <a:latin typeface="Courier New"/>
                          <a:cs typeface="Courier New"/>
                        </a:rPr>
                        <a:t>|</a:t>
                      </a:r>
                      <a:endParaRPr sz="900">
                        <a:latin typeface="Courier New"/>
                        <a:cs typeface="Courier New"/>
                      </a:endParaRPr>
                    </a:p>
                  </a:txBody>
                  <a:tcPr marL="0" marR="0" marT="0" marB="0"/>
                </a:tc>
                <a:tc>
                  <a:txBody>
                    <a:bodyPr/>
                    <a:lstStyle/>
                    <a:p>
                      <a:pPr marR="38100" algn="r">
                        <a:lnSpc>
                          <a:spcPts val="1350"/>
                        </a:lnSpc>
                      </a:pPr>
                      <a:r>
                        <a:rPr sz="900" spc="-10" dirty="0">
                          <a:latin typeface="Courier New"/>
                          <a:cs typeface="Courier New"/>
                        </a:rPr>
                        <a:t>133000</a:t>
                      </a:r>
                      <a:endParaRPr sz="900">
                        <a:latin typeface="Courier New"/>
                        <a:cs typeface="Courier New"/>
                      </a:endParaRPr>
                    </a:p>
                  </a:txBody>
                  <a:tcPr marL="0" marR="0" marT="0" marB="0"/>
                </a:tc>
                <a:tc>
                  <a:txBody>
                    <a:bodyPr/>
                    <a:lstStyle/>
                    <a:p>
                      <a:pPr marL="13970" algn="ctr">
                        <a:lnSpc>
                          <a:spcPts val="1350"/>
                        </a:lnSpc>
                      </a:pPr>
                      <a:r>
                        <a:rPr sz="900" spc="-50" dirty="0">
                          <a:latin typeface="Courier New"/>
                          <a:cs typeface="Courier New"/>
                        </a:rPr>
                        <a:t>|</a:t>
                      </a:r>
                      <a:endParaRPr sz="900">
                        <a:latin typeface="Courier New"/>
                        <a:cs typeface="Courier New"/>
                      </a:endParaRPr>
                    </a:p>
                  </a:txBody>
                  <a:tcPr marL="0" marR="0" marT="0" marB="0"/>
                </a:tc>
                <a:extLst>
                  <a:ext uri="{0D108BD9-81ED-4DB2-BD59-A6C34878D82A}">
                    <a16:rowId xmlns:a16="http://schemas.microsoft.com/office/drawing/2014/main" val="10001"/>
                  </a:ext>
                </a:extLst>
              </a:tr>
              <a:tr h="133350">
                <a:tc>
                  <a:txBody>
                    <a:bodyPr/>
                    <a:lstStyle/>
                    <a:p>
                      <a:pPr marL="31750">
                        <a:lnSpc>
                          <a:spcPts val="1305"/>
                        </a:lnSpc>
                      </a:pPr>
                      <a:r>
                        <a:rPr sz="900" spc="-50" dirty="0">
                          <a:latin typeface="Courier New"/>
                          <a:cs typeface="Courier New"/>
                        </a:rPr>
                        <a:t>|</a:t>
                      </a:r>
                      <a:endParaRPr sz="900">
                        <a:latin typeface="Courier New"/>
                        <a:cs typeface="Courier New"/>
                      </a:endParaRPr>
                    </a:p>
                  </a:txBody>
                  <a:tcPr marL="0" marR="0" marT="0" marB="0"/>
                </a:tc>
                <a:tc>
                  <a:txBody>
                    <a:bodyPr/>
                    <a:lstStyle/>
                    <a:p>
                      <a:pPr marR="268605" algn="r">
                        <a:lnSpc>
                          <a:spcPts val="1305"/>
                        </a:lnSpc>
                      </a:pPr>
                      <a:r>
                        <a:rPr sz="900" dirty="0">
                          <a:latin typeface="Courier New"/>
                          <a:cs typeface="Courier New"/>
                        </a:rPr>
                        <a:t>4</a:t>
                      </a:r>
                      <a:r>
                        <a:rPr sz="900" spc="-5" dirty="0">
                          <a:latin typeface="Courier New"/>
                          <a:cs typeface="Courier New"/>
                        </a:rPr>
                        <a:t> </a:t>
                      </a:r>
                      <a:r>
                        <a:rPr sz="900" spc="-50" dirty="0">
                          <a:latin typeface="Courier New"/>
                          <a:cs typeface="Courier New"/>
                        </a:rPr>
                        <a:t>|</a:t>
                      </a:r>
                      <a:endParaRPr sz="900">
                        <a:latin typeface="Courier New"/>
                        <a:cs typeface="Courier New"/>
                      </a:endParaRPr>
                    </a:p>
                  </a:txBody>
                  <a:tcPr marL="0" marR="0" marT="0" marB="0"/>
                </a:tc>
                <a:tc>
                  <a:txBody>
                    <a:bodyPr/>
                    <a:lstStyle/>
                    <a:p>
                      <a:pPr marR="38100" algn="r">
                        <a:lnSpc>
                          <a:spcPts val="1305"/>
                        </a:lnSpc>
                      </a:pPr>
                      <a:r>
                        <a:rPr sz="900" spc="-10" dirty="0">
                          <a:latin typeface="Courier New"/>
                          <a:cs typeface="Courier New"/>
                        </a:rPr>
                        <a:t>93000</a:t>
                      </a:r>
                      <a:endParaRPr sz="900">
                        <a:latin typeface="Courier New"/>
                        <a:cs typeface="Courier New"/>
                      </a:endParaRPr>
                    </a:p>
                  </a:txBody>
                  <a:tcPr marL="0" marR="0" marT="0" marB="0"/>
                </a:tc>
                <a:tc>
                  <a:txBody>
                    <a:bodyPr/>
                    <a:lstStyle/>
                    <a:p>
                      <a:pPr marL="13970" algn="ctr">
                        <a:lnSpc>
                          <a:spcPts val="1305"/>
                        </a:lnSpc>
                      </a:pPr>
                      <a:r>
                        <a:rPr sz="900" spc="-50" dirty="0">
                          <a:latin typeface="Courier New"/>
                          <a:cs typeface="Courier New"/>
                        </a:rPr>
                        <a:t>|</a:t>
                      </a:r>
                      <a:endParaRPr sz="900">
                        <a:latin typeface="Courier New"/>
                        <a:cs typeface="Courier New"/>
                      </a:endParaRPr>
                    </a:p>
                  </a:txBody>
                  <a:tcPr marL="0" marR="0" marT="0" marB="0"/>
                </a:tc>
                <a:extLst>
                  <a:ext uri="{0D108BD9-81ED-4DB2-BD59-A6C34878D82A}">
                    <a16:rowId xmlns:a16="http://schemas.microsoft.com/office/drawing/2014/main" val="10002"/>
                  </a:ext>
                </a:extLst>
              </a:tr>
              <a:tr h="132398">
                <a:tc>
                  <a:txBody>
                    <a:bodyPr/>
                    <a:lstStyle/>
                    <a:p>
                      <a:pPr marL="31750">
                        <a:lnSpc>
                          <a:spcPts val="1295"/>
                        </a:lnSpc>
                      </a:pPr>
                      <a:r>
                        <a:rPr sz="900" spc="-50" dirty="0">
                          <a:latin typeface="Courier New"/>
                          <a:cs typeface="Courier New"/>
                        </a:rPr>
                        <a:t>|</a:t>
                      </a:r>
                      <a:endParaRPr sz="900">
                        <a:latin typeface="Courier New"/>
                        <a:cs typeface="Courier New"/>
                      </a:endParaRPr>
                    </a:p>
                  </a:txBody>
                  <a:tcPr marL="0" marR="0" marT="0" marB="0"/>
                </a:tc>
                <a:tc>
                  <a:txBody>
                    <a:bodyPr/>
                    <a:lstStyle/>
                    <a:p>
                      <a:pPr marR="268605" algn="r">
                        <a:lnSpc>
                          <a:spcPts val="1295"/>
                        </a:lnSpc>
                      </a:pPr>
                      <a:r>
                        <a:rPr sz="900" dirty="0">
                          <a:latin typeface="Courier New"/>
                          <a:cs typeface="Courier New"/>
                        </a:rPr>
                        <a:t>1</a:t>
                      </a:r>
                      <a:r>
                        <a:rPr sz="900" spc="-5" dirty="0">
                          <a:latin typeface="Courier New"/>
                          <a:cs typeface="Courier New"/>
                        </a:rPr>
                        <a:t> </a:t>
                      </a:r>
                      <a:r>
                        <a:rPr sz="900" spc="-50" dirty="0">
                          <a:latin typeface="Courier New"/>
                          <a:cs typeface="Courier New"/>
                        </a:rPr>
                        <a:t>|</a:t>
                      </a:r>
                      <a:endParaRPr sz="900">
                        <a:latin typeface="Courier New"/>
                        <a:cs typeface="Courier New"/>
                      </a:endParaRPr>
                    </a:p>
                  </a:txBody>
                  <a:tcPr marL="0" marR="0" marT="0" marB="0"/>
                </a:tc>
                <a:tc>
                  <a:txBody>
                    <a:bodyPr/>
                    <a:lstStyle/>
                    <a:p>
                      <a:pPr marR="38100" algn="r">
                        <a:lnSpc>
                          <a:spcPts val="1295"/>
                        </a:lnSpc>
                      </a:pPr>
                      <a:r>
                        <a:rPr sz="900" spc="-10" dirty="0">
                          <a:latin typeface="Courier New"/>
                          <a:cs typeface="Courier New"/>
                        </a:rPr>
                        <a:t>55000</a:t>
                      </a:r>
                      <a:endParaRPr sz="900">
                        <a:latin typeface="Courier New"/>
                        <a:cs typeface="Courier New"/>
                      </a:endParaRPr>
                    </a:p>
                  </a:txBody>
                  <a:tcPr marL="0" marR="0" marT="0" marB="0"/>
                </a:tc>
                <a:tc>
                  <a:txBody>
                    <a:bodyPr/>
                    <a:lstStyle/>
                    <a:p>
                      <a:pPr marL="13970" algn="ctr">
                        <a:lnSpc>
                          <a:spcPts val="1295"/>
                        </a:lnSpc>
                      </a:pPr>
                      <a:r>
                        <a:rPr sz="900" spc="-50" dirty="0">
                          <a:latin typeface="Courier New"/>
                          <a:cs typeface="Courier New"/>
                        </a:rPr>
                        <a:t>|</a:t>
                      </a:r>
                      <a:endParaRPr sz="900">
                        <a:latin typeface="Courier New"/>
                        <a:cs typeface="Courier New"/>
                      </a:endParaRPr>
                    </a:p>
                  </a:txBody>
                  <a:tcPr marL="0" marR="0" marT="0" marB="0"/>
                </a:tc>
                <a:extLst>
                  <a:ext uri="{0D108BD9-81ED-4DB2-BD59-A6C34878D82A}">
                    <a16:rowId xmlns:a16="http://schemas.microsoft.com/office/drawing/2014/main" val="10003"/>
                  </a:ext>
                </a:extLst>
              </a:tr>
            </a:tbl>
          </a:graphicData>
        </a:graphic>
      </p:graphicFrame>
      <p:sp>
        <p:nvSpPr>
          <p:cNvPr id="63" name="object 63"/>
          <p:cNvSpPr txBox="1"/>
          <p:nvPr/>
        </p:nvSpPr>
        <p:spPr>
          <a:xfrm>
            <a:off x="866082" y="5667959"/>
            <a:ext cx="1745456" cy="139462"/>
          </a:xfrm>
          <a:prstGeom prst="rect">
            <a:avLst/>
          </a:prstGeom>
        </p:spPr>
        <p:txBody>
          <a:bodyPr vert="horz" wrap="square" lIns="0" tIns="953" rIns="0" bIns="0" rtlCol="0">
            <a:spAutoFit/>
          </a:bodyPr>
          <a:lstStyle/>
          <a:p>
            <a:pPr marL="9525">
              <a:spcBef>
                <a:spcPts val="8"/>
              </a:spcBef>
            </a:pPr>
            <a:r>
              <a:rPr sz="900" spc="-8" dirty="0">
                <a:latin typeface="Courier New"/>
                <a:cs typeface="Courier New"/>
              </a:rPr>
              <a:t>+---------+-------------</a:t>
            </a:r>
            <a:r>
              <a:rPr sz="900" spc="-38" dirty="0">
                <a:latin typeface="Courier New"/>
                <a:cs typeface="Courier New"/>
              </a:rPr>
              <a:t>+</a:t>
            </a:r>
            <a:endParaRPr sz="900">
              <a:latin typeface="Courier New"/>
              <a:cs typeface="Courier New"/>
            </a:endParaRPr>
          </a:p>
        </p:txBody>
      </p:sp>
      <p:sp>
        <p:nvSpPr>
          <p:cNvPr id="64" name="object 64"/>
          <p:cNvSpPr txBox="1">
            <a:spLocks noGrp="1"/>
          </p:cNvSpPr>
          <p:nvPr>
            <p:ph type="ftr" sz="quarter" idx="5"/>
          </p:nvPr>
        </p:nvSpPr>
        <p:spPr>
          <a:xfrm>
            <a:off x="4254246" y="6428920"/>
            <a:ext cx="3683634"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9525">
              <a:spcBef>
                <a:spcPts val="30"/>
              </a:spcBef>
            </a:pPr>
            <a:r>
              <a:rPr lang="en-US" spc="-10"/>
              <a:t>Copyright</a:t>
            </a:r>
            <a:r>
              <a:rPr lang="en-US" spc="-15"/>
              <a:t> </a:t>
            </a:r>
            <a:r>
              <a:rPr lang="en-US"/>
              <a:t>©</a:t>
            </a:r>
            <a:r>
              <a:rPr lang="en-US" spc="-10"/>
              <a:t> </a:t>
            </a:r>
            <a:r>
              <a:rPr lang="en-US"/>
              <a:t>2016</a:t>
            </a:r>
            <a:r>
              <a:rPr lang="en-US" spc="-10"/>
              <a:t> </a:t>
            </a:r>
            <a:r>
              <a:rPr lang="en-US"/>
              <a:t>Ramez</a:t>
            </a:r>
            <a:r>
              <a:rPr lang="en-US" spc="-5"/>
              <a:t> </a:t>
            </a:r>
            <a:r>
              <a:rPr lang="en-US"/>
              <a:t>Elmasri</a:t>
            </a:r>
            <a:r>
              <a:rPr lang="en-US" spc="-15"/>
              <a:t> </a:t>
            </a:r>
            <a:r>
              <a:rPr lang="en-US"/>
              <a:t>and</a:t>
            </a:r>
            <a:r>
              <a:rPr lang="en-US" spc="-15"/>
              <a:t> </a:t>
            </a:r>
            <a:r>
              <a:rPr lang="en-US" spc="-10"/>
              <a:t>Shamkant</a:t>
            </a:r>
            <a:r>
              <a:rPr lang="en-US" spc="-15"/>
              <a:t> </a:t>
            </a:r>
            <a:r>
              <a:rPr lang="en-US"/>
              <a:t>B.</a:t>
            </a:r>
            <a:r>
              <a:rPr lang="en-US" spc="-10"/>
              <a:t> Navathe</a:t>
            </a:r>
            <a:endParaRPr spc="-8" dirty="0"/>
          </a:p>
        </p:txBody>
      </p:sp>
      <p:sp>
        <p:nvSpPr>
          <p:cNvPr id="65" name="object 65"/>
          <p:cNvSpPr txBox="1">
            <a:spLocks noGrp="1"/>
          </p:cNvSpPr>
          <p:nvPr>
            <p:ph type="sldNum" sz="quarter" idx="7"/>
          </p:nvPr>
        </p:nvSpPr>
        <p:spPr>
          <a:xfrm>
            <a:off x="11067415" y="6428920"/>
            <a:ext cx="2444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15570">
              <a:spcBef>
                <a:spcPts val="40"/>
              </a:spcBef>
            </a:pPr>
            <a:fld id="{81D60167-4931-47E6-BA6A-407CBD079E47}" type="slidenum">
              <a:rPr lang="en-US" spc="-50" smtClean="0"/>
              <a:pPr marL="115570">
                <a:spcBef>
                  <a:spcPts val="40"/>
                </a:spcBef>
              </a:pPr>
              <a:t>90</a:t>
            </a:fld>
            <a:endParaRPr spc="-19" dirty="0"/>
          </a:p>
        </p:txBody>
      </p:sp>
      <p:sp>
        <p:nvSpPr>
          <p:cNvPr id="62" name="object 62"/>
          <p:cNvSpPr txBox="1"/>
          <p:nvPr/>
        </p:nvSpPr>
        <p:spPr>
          <a:xfrm>
            <a:off x="7342724" y="1147191"/>
            <a:ext cx="461010" cy="217367"/>
          </a:xfrm>
          <a:prstGeom prst="rect">
            <a:avLst/>
          </a:prstGeom>
        </p:spPr>
        <p:txBody>
          <a:bodyPr vert="horz" wrap="square" lIns="0" tIns="9525" rIns="0" bIns="0" rtlCol="0">
            <a:spAutoFit/>
          </a:bodyPr>
          <a:lstStyle/>
          <a:p>
            <a:pPr marL="9525">
              <a:spcBef>
                <a:spcPts val="75"/>
              </a:spcBef>
            </a:pPr>
            <a:r>
              <a:rPr sz="1350" spc="-8" dirty="0">
                <a:latin typeface="Calibri"/>
                <a:cs typeface="Calibri"/>
              </a:rPr>
              <a:t>Q6.sql</a:t>
            </a:r>
            <a:endParaRPr sz="1350">
              <a:latin typeface="Calibri"/>
              <a:cs typeface="Calibri"/>
            </a:endParaRPr>
          </a:p>
        </p:txBody>
      </p:sp>
    </p:spTree>
    <p:extLst>
      <p:ext uri="{BB962C8B-B14F-4D97-AF65-F5344CB8AC3E}">
        <p14:creationId xmlns:p14="http://schemas.microsoft.com/office/powerpoint/2010/main" val="1549409646"/>
      </p:ext>
    </p:extLst>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0" y="326239"/>
            <a:ext cx="5847160"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spc="-15" dirty="0"/>
              <a:t>Trigger1</a:t>
            </a:r>
            <a:r>
              <a:rPr spc="-75" dirty="0"/>
              <a:t> </a:t>
            </a:r>
            <a:r>
              <a:rPr dirty="0"/>
              <a:t>–</a:t>
            </a:r>
            <a:r>
              <a:rPr spc="-71" dirty="0"/>
              <a:t> </a:t>
            </a:r>
            <a:r>
              <a:rPr dirty="0"/>
              <a:t>Step</a:t>
            </a:r>
            <a:r>
              <a:rPr spc="-68" dirty="0"/>
              <a:t> </a:t>
            </a:r>
            <a:r>
              <a:rPr spc="-38" dirty="0"/>
              <a:t>2</a:t>
            </a:r>
          </a:p>
        </p:txBody>
      </p:sp>
      <p:sp>
        <p:nvSpPr>
          <p:cNvPr id="5" name="object 5"/>
          <p:cNvSpPr txBox="1"/>
          <p:nvPr/>
        </p:nvSpPr>
        <p:spPr>
          <a:xfrm>
            <a:off x="761207" y="2038731"/>
            <a:ext cx="3644741" cy="1043234"/>
          </a:xfrm>
          <a:prstGeom prst="rect">
            <a:avLst/>
          </a:prstGeom>
        </p:spPr>
        <p:txBody>
          <a:bodyPr vert="horz" wrap="square" lIns="0" tIns="9525" rIns="0" bIns="0" rtlCol="0">
            <a:spAutoFit/>
          </a:bodyPr>
          <a:lstStyle/>
          <a:p>
            <a:pPr marR="1444466" algn="ctr">
              <a:spcBef>
                <a:spcPts val="75"/>
              </a:spcBef>
            </a:pPr>
            <a:r>
              <a:rPr sz="1350" dirty="0">
                <a:latin typeface="Courier New"/>
                <a:cs typeface="Courier New"/>
              </a:rPr>
              <a:t>mysql&gt;</a:t>
            </a:r>
            <a:r>
              <a:rPr sz="1350" spc="8" dirty="0">
                <a:latin typeface="Courier New"/>
                <a:cs typeface="Courier New"/>
              </a:rPr>
              <a:t> </a:t>
            </a:r>
            <a:r>
              <a:rPr sz="1350" dirty="0">
                <a:latin typeface="Courier New"/>
                <a:cs typeface="Courier New"/>
              </a:rPr>
              <a:t>delimiter</a:t>
            </a:r>
            <a:r>
              <a:rPr sz="1350" spc="8" dirty="0">
                <a:latin typeface="Courier New"/>
                <a:cs typeface="Courier New"/>
              </a:rPr>
              <a:t> </a:t>
            </a:r>
            <a:r>
              <a:rPr sz="1350" dirty="0">
                <a:latin typeface="Courier New"/>
                <a:cs typeface="Courier New"/>
              </a:rPr>
              <a:t>$$</a:t>
            </a:r>
            <a:r>
              <a:rPr sz="1350" spc="8" dirty="0">
                <a:latin typeface="Courier New"/>
                <a:cs typeface="Courier New"/>
              </a:rPr>
              <a:t> </a:t>
            </a:r>
            <a:r>
              <a:rPr sz="1350" spc="-38" dirty="0">
                <a:latin typeface="Courier New"/>
                <a:cs typeface="Courier New"/>
              </a:rPr>
              <a:t>;</a:t>
            </a:r>
            <a:endParaRPr sz="1350" dirty="0">
              <a:latin typeface="Courier New"/>
              <a:cs typeface="Courier New"/>
            </a:endParaRPr>
          </a:p>
          <a:p>
            <a:pPr algn="ctr">
              <a:lnSpc>
                <a:spcPts val="1594"/>
              </a:lnSpc>
              <a:spcBef>
                <a:spcPts val="34"/>
              </a:spcBef>
            </a:pPr>
            <a:r>
              <a:rPr sz="1350" dirty="0">
                <a:latin typeface="Courier New"/>
                <a:cs typeface="Courier New"/>
              </a:rPr>
              <a:t>mysql&gt;</a:t>
            </a:r>
            <a:r>
              <a:rPr sz="1350" spc="8" dirty="0">
                <a:latin typeface="Courier New"/>
                <a:cs typeface="Courier New"/>
              </a:rPr>
              <a:t> </a:t>
            </a:r>
            <a:r>
              <a:rPr sz="1350" dirty="0">
                <a:latin typeface="Courier New"/>
                <a:cs typeface="Courier New"/>
              </a:rPr>
              <a:t>create</a:t>
            </a:r>
            <a:r>
              <a:rPr sz="1350" spc="8" dirty="0">
                <a:latin typeface="Courier New"/>
                <a:cs typeface="Courier New"/>
              </a:rPr>
              <a:t> </a:t>
            </a:r>
            <a:r>
              <a:rPr sz="1350" dirty="0">
                <a:latin typeface="Courier New"/>
                <a:cs typeface="Courier New"/>
              </a:rPr>
              <a:t>trigger</a:t>
            </a:r>
            <a:r>
              <a:rPr sz="1350" spc="8" dirty="0">
                <a:latin typeface="Courier New"/>
                <a:cs typeface="Courier New"/>
              </a:rPr>
              <a:t> </a:t>
            </a:r>
            <a:r>
              <a:rPr sz="1350" spc="-8" dirty="0">
                <a:latin typeface="Courier New"/>
                <a:cs typeface="Courier New"/>
              </a:rPr>
              <a:t>update_salary</a:t>
            </a:r>
            <a:endParaRPr sz="1350" dirty="0">
              <a:latin typeface="Courier New"/>
              <a:cs typeface="Courier New"/>
            </a:endParaRPr>
          </a:p>
          <a:p>
            <a:pPr algn="ctr">
              <a:lnSpc>
                <a:spcPts val="1594"/>
              </a:lnSpc>
            </a:pPr>
            <a:r>
              <a:rPr sz="1350" dirty="0">
                <a:latin typeface="Courier New"/>
                <a:cs typeface="Courier New"/>
              </a:rPr>
              <a:t>-&gt;</a:t>
            </a:r>
            <a:r>
              <a:rPr sz="1350" spc="8" dirty="0">
                <a:latin typeface="Courier New"/>
                <a:cs typeface="Courier New"/>
              </a:rPr>
              <a:t> </a:t>
            </a:r>
            <a:r>
              <a:rPr sz="1350" dirty="0">
                <a:latin typeface="Courier New"/>
                <a:cs typeface="Courier New"/>
              </a:rPr>
              <a:t>after</a:t>
            </a:r>
            <a:r>
              <a:rPr sz="1350" spc="8" dirty="0">
                <a:latin typeface="Courier New"/>
                <a:cs typeface="Courier New"/>
              </a:rPr>
              <a:t> </a:t>
            </a:r>
            <a:r>
              <a:rPr sz="1350" dirty="0">
                <a:latin typeface="Courier New"/>
                <a:cs typeface="Courier New"/>
              </a:rPr>
              <a:t>insert</a:t>
            </a:r>
            <a:r>
              <a:rPr sz="1350" spc="8" dirty="0">
                <a:latin typeface="Courier New"/>
                <a:cs typeface="Courier New"/>
              </a:rPr>
              <a:t> </a:t>
            </a:r>
            <a:r>
              <a:rPr sz="1350" dirty="0">
                <a:latin typeface="Courier New"/>
                <a:cs typeface="Courier New"/>
              </a:rPr>
              <a:t>on</a:t>
            </a:r>
            <a:r>
              <a:rPr sz="1350" spc="8" dirty="0">
                <a:latin typeface="Courier New"/>
                <a:cs typeface="Courier New"/>
              </a:rPr>
              <a:t> </a:t>
            </a:r>
            <a:r>
              <a:rPr sz="1350" spc="-8" dirty="0">
                <a:latin typeface="Courier New"/>
                <a:cs typeface="Courier New"/>
              </a:rPr>
              <a:t>employee</a:t>
            </a:r>
            <a:endParaRPr sz="1350" dirty="0">
              <a:latin typeface="Courier New"/>
              <a:cs typeface="Courier New"/>
            </a:endParaRPr>
          </a:p>
          <a:p>
            <a:pPr marL="423863">
              <a:spcBef>
                <a:spcPts val="38"/>
              </a:spcBef>
            </a:pPr>
            <a:r>
              <a:rPr sz="1350" dirty="0">
                <a:latin typeface="Courier New"/>
                <a:cs typeface="Courier New"/>
              </a:rPr>
              <a:t>-&gt;</a:t>
            </a:r>
            <a:r>
              <a:rPr sz="1350" spc="8" dirty="0">
                <a:latin typeface="Courier New"/>
                <a:cs typeface="Courier New"/>
              </a:rPr>
              <a:t> </a:t>
            </a:r>
            <a:r>
              <a:rPr sz="1350" dirty="0">
                <a:latin typeface="Courier New"/>
                <a:cs typeface="Courier New"/>
              </a:rPr>
              <a:t>for</a:t>
            </a:r>
            <a:r>
              <a:rPr sz="1350" spc="8" dirty="0">
                <a:latin typeface="Courier New"/>
                <a:cs typeface="Courier New"/>
              </a:rPr>
              <a:t> </a:t>
            </a:r>
            <a:r>
              <a:rPr sz="1350" dirty="0">
                <a:latin typeface="Courier New"/>
                <a:cs typeface="Courier New"/>
              </a:rPr>
              <a:t>each</a:t>
            </a:r>
            <a:r>
              <a:rPr sz="1350" spc="8" dirty="0">
                <a:latin typeface="Courier New"/>
                <a:cs typeface="Courier New"/>
              </a:rPr>
              <a:t> </a:t>
            </a:r>
            <a:r>
              <a:rPr sz="1350" spc="-19" dirty="0">
                <a:latin typeface="Courier New"/>
                <a:cs typeface="Courier New"/>
              </a:rPr>
              <a:t>row</a:t>
            </a:r>
            <a:endParaRPr sz="1350" dirty="0">
              <a:latin typeface="Courier New"/>
              <a:cs typeface="Courier New"/>
            </a:endParaRPr>
          </a:p>
          <a:p>
            <a:pPr marL="423863">
              <a:spcBef>
                <a:spcPts val="34"/>
              </a:spcBef>
            </a:pPr>
            <a:r>
              <a:rPr sz="1350" dirty="0">
                <a:latin typeface="Courier New"/>
                <a:cs typeface="Courier New"/>
              </a:rPr>
              <a:t>-&gt;</a:t>
            </a:r>
            <a:r>
              <a:rPr sz="1350" spc="8" dirty="0">
                <a:latin typeface="Courier New"/>
                <a:cs typeface="Courier New"/>
              </a:rPr>
              <a:t> </a:t>
            </a:r>
            <a:r>
              <a:rPr sz="1350" spc="-8" dirty="0">
                <a:latin typeface="Courier New"/>
                <a:cs typeface="Courier New"/>
              </a:rPr>
              <a:t>begin</a:t>
            </a:r>
            <a:endParaRPr sz="1350" dirty="0">
              <a:latin typeface="Courier New"/>
              <a:cs typeface="Courier New"/>
            </a:endParaRPr>
          </a:p>
        </p:txBody>
      </p:sp>
      <p:sp>
        <p:nvSpPr>
          <p:cNvPr id="6" name="object 6"/>
          <p:cNvSpPr txBox="1"/>
          <p:nvPr/>
        </p:nvSpPr>
        <p:spPr>
          <a:xfrm>
            <a:off x="1175545" y="3067432"/>
            <a:ext cx="226219" cy="835485"/>
          </a:xfrm>
          <a:prstGeom prst="rect">
            <a:avLst/>
          </a:prstGeom>
        </p:spPr>
        <p:txBody>
          <a:bodyPr vert="horz" wrap="square" lIns="0" tIns="9525" rIns="0" bIns="0" rtlCol="0">
            <a:spAutoFit/>
          </a:bodyPr>
          <a:lstStyle/>
          <a:p>
            <a:pPr marL="9525">
              <a:spcBef>
                <a:spcPts val="75"/>
              </a:spcBef>
            </a:pPr>
            <a:r>
              <a:rPr sz="1350" dirty="0">
                <a:latin typeface="Courier New"/>
                <a:cs typeface="Courier New"/>
              </a:rPr>
              <a:t>-</a:t>
            </a:r>
            <a:r>
              <a:rPr sz="1350" spc="-38" dirty="0">
                <a:latin typeface="Courier New"/>
                <a:cs typeface="Courier New"/>
              </a:rPr>
              <a:t>&gt;</a:t>
            </a:r>
            <a:endParaRPr sz="1350">
              <a:latin typeface="Courier New"/>
              <a:cs typeface="Courier New"/>
            </a:endParaRPr>
          </a:p>
          <a:p>
            <a:pPr marL="9525">
              <a:lnSpc>
                <a:spcPts val="1594"/>
              </a:lnSpc>
              <a:spcBef>
                <a:spcPts val="34"/>
              </a:spcBef>
            </a:pPr>
            <a:r>
              <a:rPr sz="1350" dirty="0">
                <a:latin typeface="Courier New"/>
                <a:cs typeface="Courier New"/>
              </a:rPr>
              <a:t>-</a:t>
            </a:r>
            <a:r>
              <a:rPr sz="1350" spc="-38" dirty="0">
                <a:latin typeface="Courier New"/>
                <a:cs typeface="Courier New"/>
              </a:rPr>
              <a:t>&gt;</a:t>
            </a:r>
            <a:endParaRPr sz="1350">
              <a:latin typeface="Courier New"/>
              <a:cs typeface="Courier New"/>
            </a:endParaRPr>
          </a:p>
          <a:p>
            <a:pPr marL="9525">
              <a:lnSpc>
                <a:spcPts val="1594"/>
              </a:lnSpc>
            </a:pPr>
            <a:r>
              <a:rPr sz="1350" dirty="0">
                <a:latin typeface="Courier New"/>
                <a:cs typeface="Courier New"/>
              </a:rPr>
              <a:t>-</a:t>
            </a:r>
            <a:r>
              <a:rPr sz="1350" spc="-38" dirty="0">
                <a:latin typeface="Courier New"/>
                <a:cs typeface="Courier New"/>
              </a:rPr>
              <a:t>&gt;</a:t>
            </a:r>
            <a:endParaRPr sz="1350">
              <a:latin typeface="Courier New"/>
              <a:cs typeface="Courier New"/>
            </a:endParaRPr>
          </a:p>
          <a:p>
            <a:pPr marL="9525">
              <a:spcBef>
                <a:spcPts val="38"/>
              </a:spcBef>
            </a:pPr>
            <a:r>
              <a:rPr sz="1350" dirty="0">
                <a:latin typeface="Courier New"/>
                <a:cs typeface="Courier New"/>
              </a:rPr>
              <a:t>-</a:t>
            </a:r>
            <a:r>
              <a:rPr sz="1350" spc="-38" dirty="0">
                <a:latin typeface="Courier New"/>
                <a:cs typeface="Courier New"/>
              </a:rPr>
              <a:t>&gt;</a:t>
            </a:r>
            <a:endParaRPr sz="1350">
              <a:latin typeface="Courier New"/>
              <a:cs typeface="Courier New"/>
            </a:endParaRPr>
          </a:p>
        </p:txBody>
      </p:sp>
      <p:sp>
        <p:nvSpPr>
          <p:cNvPr id="7" name="object 7"/>
          <p:cNvSpPr txBox="1"/>
          <p:nvPr/>
        </p:nvSpPr>
        <p:spPr>
          <a:xfrm>
            <a:off x="1175545" y="3897249"/>
            <a:ext cx="226219" cy="217367"/>
          </a:xfrm>
          <a:prstGeom prst="rect">
            <a:avLst/>
          </a:prstGeom>
        </p:spPr>
        <p:txBody>
          <a:bodyPr vert="horz" wrap="square" lIns="0" tIns="9525" rIns="0" bIns="0" rtlCol="0">
            <a:spAutoFit/>
          </a:bodyPr>
          <a:lstStyle/>
          <a:p>
            <a:pPr marL="9525">
              <a:spcBef>
                <a:spcPts val="75"/>
              </a:spcBef>
            </a:pPr>
            <a:r>
              <a:rPr sz="1350" dirty="0">
                <a:latin typeface="Courier New"/>
                <a:cs typeface="Courier New"/>
              </a:rPr>
              <a:t>-</a:t>
            </a:r>
            <a:r>
              <a:rPr sz="1350" spc="-38" dirty="0">
                <a:latin typeface="Courier New"/>
                <a:cs typeface="Courier New"/>
              </a:rPr>
              <a:t>&gt;</a:t>
            </a:r>
            <a:endParaRPr sz="1350">
              <a:latin typeface="Courier New"/>
              <a:cs typeface="Courier New"/>
            </a:endParaRPr>
          </a:p>
        </p:txBody>
      </p:sp>
      <p:sp>
        <p:nvSpPr>
          <p:cNvPr id="8" name="object 8"/>
          <p:cNvSpPr txBox="1"/>
          <p:nvPr/>
        </p:nvSpPr>
        <p:spPr>
          <a:xfrm>
            <a:off x="1702992" y="3089263"/>
            <a:ext cx="4558189" cy="1026563"/>
          </a:xfrm>
          <a:prstGeom prst="rect">
            <a:avLst/>
          </a:prstGeom>
        </p:spPr>
        <p:txBody>
          <a:bodyPr vert="horz" wrap="square" lIns="0" tIns="0" rIns="0" bIns="0" rtlCol="0">
            <a:spAutoFit/>
          </a:bodyPr>
          <a:lstStyle/>
          <a:p>
            <a:pPr>
              <a:lnSpc>
                <a:spcPts val="1523"/>
              </a:lnSpc>
            </a:pPr>
            <a:r>
              <a:rPr sz="1350" dirty="0">
                <a:latin typeface="Courier New"/>
                <a:cs typeface="Courier New"/>
              </a:rPr>
              <a:t>if </a:t>
            </a:r>
            <a:r>
              <a:rPr sz="1350" dirty="0">
                <a:solidFill>
                  <a:srgbClr val="FF0000"/>
                </a:solidFill>
                <a:latin typeface="Courier New"/>
                <a:cs typeface="Courier New"/>
              </a:rPr>
              <a:t>new</a:t>
            </a:r>
            <a:r>
              <a:rPr sz="1350" dirty="0">
                <a:latin typeface="Courier New"/>
                <a:cs typeface="Courier New"/>
              </a:rPr>
              <a:t>.dno</a:t>
            </a:r>
            <a:r>
              <a:rPr sz="1350" spc="8" dirty="0">
                <a:latin typeface="Courier New"/>
                <a:cs typeface="Courier New"/>
              </a:rPr>
              <a:t> </a:t>
            </a:r>
            <a:r>
              <a:rPr sz="1350" dirty="0">
                <a:latin typeface="Courier New"/>
                <a:cs typeface="Courier New"/>
              </a:rPr>
              <a:t>is</a:t>
            </a:r>
            <a:r>
              <a:rPr sz="1350" spc="8" dirty="0">
                <a:latin typeface="Courier New"/>
                <a:cs typeface="Courier New"/>
              </a:rPr>
              <a:t> </a:t>
            </a:r>
            <a:r>
              <a:rPr sz="1350" dirty="0">
                <a:latin typeface="Courier New"/>
                <a:cs typeface="Courier New"/>
              </a:rPr>
              <a:t>not</a:t>
            </a:r>
            <a:r>
              <a:rPr sz="1350" spc="8" dirty="0">
                <a:latin typeface="Courier New"/>
                <a:cs typeface="Courier New"/>
              </a:rPr>
              <a:t> </a:t>
            </a:r>
            <a:r>
              <a:rPr sz="1350" dirty="0">
                <a:latin typeface="Courier New"/>
                <a:cs typeface="Courier New"/>
              </a:rPr>
              <a:t>null</a:t>
            </a:r>
            <a:r>
              <a:rPr sz="1350" spc="8" dirty="0">
                <a:latin typeface="Courier New"/>
                <a:cs typeface="Courier New"/>
              </a:rPr>
              <a:t> </a:t>
            </a:r>
            <a:r>
              <a:rPr sz="1350" spc="-15" dirty="0">
                <a:latin typeface="Courier New"/>
                <a:cs typeface="Courier New"/>
              </a:rPr>
              <a:t>then</a:t>
            </a:r>
            <a:endParaRPr sz="1350">
              <a:latin typeface="Courier New"/>
              <a:cs typeface="Courier New"/>
            </a:endParaRPr>
          </a:p>
          <a:p>
            <a:pPr marL="207169">
              <a:lnSpc>
                <a:spcPts val="1594"/>
              </a:lnSpc>
              <a:spcBef>
                <a:spcPts val="34"/>
              </a:spcBef>
            </a:pPr>
            <a:r>
              <a:rPr sz="1350" dirty="0">
                <a:latin typeface="Courier New"/>
                <a:cs typeface="Courier New"/>
              </a:rPr>
              <a:t>update</a:t>
            </a:r>
            <a:r>
              <a:rPr sz="1350" spc="8" dirty="0">
                <a:latin typeface="Courier New"/>
                <a:cs typeface="Courier New"/>
              </a:rPr>
              <a:t> </a:t>
            </a:r>
            <a:r>
              <a:rPr sz="1350" spc="-8" dirty="0">
                <a:latin typeface="Courier New"/>
                <a:cs typeface="Courier New"/>
              </a:rPr>
              <a:t>deptsal</a:t>
            </a:r>
            <a:endParaRPr sz="1350">
              <a:latin typeface="Courier New"/>
              <a:cs typeface="Courier New"/>
            </a:endParaRPr>
          </a:p>
          <a:p>
            <a:pPr marL="207169">
              <a:lnSpc>
                <a:spcPts val="1594"/>
              </a:lnSpc>
            </a:pPr>
            <a:r>
              <a:rPr sz="1350" dirty="0">
                <a:latin typeface="Courier New"/>
                <a:cs typeface="Courier New"/>
              </a:rPr>
              <a:t>set</a:t>
            </a:r>
            <a:r>
              <a:rPr sz="1350" spc="8" dirty="0">
                <a:latin typeface="Courier New"/>
                <a:cs typeface="Courier New"/>
              </a:rPr>
              <a:t> </a:t>
            </a:r>
            <a:r>
              <a:rPr sz="1350" dirty="0">
                <a:latin typeface="Courier New"/>
                <a:cs typeface="Courier New"/>
              </a:rPr>
              <a:t>totalsalary</a:t>
            </a:r>
            <a:r>
              <a:rPr sz="1350" spc="8" dirty="0">
                <a:latin typeface="Courier New"/>
                <a:cs typeface="Courier New"/>
              </a:rPr>
              <a:t> </a:t>
            </a:r>
            <a:r>
              <a:rPr sz="1350" dirty="0">
                <a:latin typeface="Courier New"/>
                <a:cs typeface="Courier New"/>
              </a:rPr>
              <a:t>=</a:t>
            </a:r>
            <a:r>
              <a:rPr sz="1350" spc="8" dirty="0">
                <a:latin typeface="Courier New"/>
                <a:cs typeface="Courier New"/>
              </a:rPr>
              <a:t> </a:t>
            </a:r>
            <a:r>
              <a:rPr sz="1350" dirty="0">
                <a:latin typeface="Courier New"/>
                <a:cs typeface="Courier New"/>
              </a:rPr>
              <a:t>totalsalary</a:t>
            </a:r>
            <a:r>
              <a:rPr sz="1350" spc="8" dirty="0">
                <a:latin typeface="Courier New"/>
                <a:cs typeface="Courier New"/>
              </a:rPr>
              <a:t> </a:t>
            </a:r>
            <a:r>
              <a:rPr sz="1350" dirty="0">
                <a:latin typeface="Courier New"/>
                <a:cs typeface="Courier New"/>
              </a:rPr>
              <a:t>+</a:t>
            </a:r>
            <a:r>
              <a:rPr sz="1350" spc="8" dirty="0">
                <a:latin typeface="Courier New"/>
                <a:cs typeface="Courier New"/>
              </a:rPr>
              <a:t> </a:t>
            </a:r>
            <a:r>
              <a:rPr sz="1350" spc="-8" dirty="0">
                <a:solidFill>
                  <a:srgbClr val="FF0000"/>
                </a:solidFill>
                <a:latin typeface="Courier New"/>
                <a:cs typeface="Courier New"/>
              </a:rPr>
              <a:t>new</a:t>
            </a:r>
            <a:r>
              <a:rPr sz="1350" spc="-8" dirty="0">
                <a:latin typeface="Courier New"/>
                <a:cs typeface="Courier New"/>
              </a:rPr>
              <a:t>.salary</a:t>
            </a:r>
            <a:endParaRPr sz="1350">
              <a:latin typeface="Courier New"/>
              <a:cs typeface="Courier New"/>
            </a:endParaRPr>
          </a:p>
          <a:p>
            <a:pPr marR="1858804" indent="207169">
              <a:lnSpc>
                <a:spcPct val="102200"/>
              </a:lnSpc>
            </a:pPr>
            <a:r>
              <a:rPr sz="1350" dirty="0">
                <a:latin typeface="Courier New"/>
                <a:cs typeface="Courier New"/>
              </a:rPr>
              <a:t>where</a:t>
            </a:r>
            <a:r>
              <a:rPr sz="1350" spc="8" dirty="0">
                <a:latin typeface="Courier New"/>
                <a:cs typeface="Courier New"/>
              </a:rPr>
              <a:t> </a:t>
            </a:r>
            <a:r>
              <a:rPr sz="1350" dirty="0">
                <a:latin typeface="Courier New"/>
                <a:cs typeface="Courier New"/>
              </a:rPr>
              <a:t>dnumber</a:t>
            </a:r>
            <a:r>
              <a:rPr sz="1350" spc="8" dirty="0">
                <a:latin typeface="Courier New"/>
                <a:cs typeface="Courier New"/>
              </a:rPr>
              <a:t> </a:t>
            </a:r>
            <a:r>
              <a:rPr sz="1350" dirty="0">
                <a:latin typeface="Courier New"/>
                <a:cs typeface="Courier New"/>
              </a:rPr>
              <a:t>=</a:t>
            </a:r>
            <a:r>
              <a:rPr sz="1350" spc="8" dirty="0">
                <a:latin typeface="Courier New"/>
                <a:cs typeface="Courier New"/>
              </a:rPr>
              <a:t> </a:t>
            </a:r>
            <a:r>
              <a:rPr sz="1350" spc="-8" dirty="0">
                <a:solidFill>
                  <a:srgbClr val="FF0000"/>
                </a:solidFill>
                <a:latin typeface="Courier New"/>
                <a:cs typeface="Courier New"/>
              </a:rPr>
              <a:t>new</a:t>
            </a:r>
            <a:r>
              <a:rPr sz="1350" spc="-8" dirty="0">
                <a:latin typeface="Courier New"/>
                <a:cs typeface="Courier New"/>
              </a:rPr>
              <a:t>.dno; </a:t>
            </a:r>
            <a:r>
              <a:rPr sz="1350" dirty="0">
                <a:latin typeface="Courier New"/>
                <a:cs typeface="Courier New"/>
              </a:rPr>
              <a:t>end</a:t>
            </a:r>
            <a:r>
              <a:rPr sz="1350" spc="8" dirty="0">
                <a:latin typeface="Courier New"/>
                <a:cs typeface="Courier New"/>
              </a:rPr>
              <a:t> </a:t>
            </a:r>
            <a:r>
              <a:rPr sz="1350" spc="-19" dirty="0">
                <a:latin typeface="Courier New"/>
                <a:cs typeface="Courier New"/>
              </a:rPr>
              <a:t>if;</a:t>
            </a:r>
            <a:endParaRPr sz="1350">
              <a:latin typeface="Courier New"/>
              <a:cs typeface="Courier New"/>
            </a:endParaRPr>
          </a:p>
        </p:txBody>
      </p:sp>
      <p:sp>
        <p:nvSpPr>
          <p:cNvPr id="9" name="object 9"/>
          <p:cNvSpPr txBox="1"/>
          <p:nvPr/>
        </p:nvSpPr>
        <p:spPr>
          <a:xfrm>
            <a:off x="769228" y="4110666"/>
            <a:ext cx="5303044" cy="1684435"/>
          </a:xfrm>
          <a:prstGeom prst="rect">
            <a:avLst/>
          </a:prstGeom>
        </p:spPr>
        <p:txBody>
          <a:bodyPr vert="horz" wrap="square" lIns="0" tIns="9525" rIns="0" bIns="0" rtlCol="0">
            <a:spAutoFit/>
          </a:bodyPr>
          <a:lstStyle/>
          <a:p>
            <a:pPr marL="423863">
              <a:spcBef>
                <a:spcPts val="75"/>
              </a:spcBef>
            </a:pPr>
            <a:r>
              <a:rPr sz="1350" dirty="0">
                <a:latin typeface="Courier New"/>
                <a:cs typeface="Courier New"/>
              </a:rPr>
              <a:t>-&gt;</a:t>
            </a:r>
            <a:r>
              <a:rPr sz="1350" spc="8" dirty="0">
                <a:latin typeface="Courier New"/>
                <a:cs typeface="Courier New"/>
              </a:rPr>
              <a:t> </a:t>
            </a:r>
            <a:r>
              <a:rPr sz="1350" dirty="0">
                <a:latin typeface="Courier New"/>
                <a:cs typeface="Courier New"/>
              </a:rPr>
              <a:t>end;</a:t>
            </a:r>
            <a:r>
              <a:rPr sz="1350" spc="8" dirty="0">
                <a:latin typeface="Courier New"/>
                <a:cs typeface="Courier New"/>
              </a:rPr>
              <a:t> </a:t>
            </a:r>
            <a:r>
              <a:rPr sz="1350" spc="-19" dirty="0">
                <a:latin typeface="Courier New"/>
                <a:cs typeface="Courier New"/>
              </a:rPr>
              <a:t>$$</a:t>
            </a:r>
            <a:endParaRPr sz="1350" dirty="0">
              <a:latin typeface="Courier New"/>
              <a:cs typeface="Courier New"/>
            </a:endParaRPr>
          </a:p>
          <a:p>
            <a:pPr marL="9525">
              <a:spcBef>
                <a:spcPts val="34"/>
              </a:spcBef>
            </a:pPr>
            <a:r>
              <a:rPr sz="1350" dirty="0">
                <a:latin typeface="Courier New"/>
                <a:cs typeface="Courier New"/>
              </a:rPr>
              <a:t>Query</a:t>
            </a:r>
            <a:r>
              <a:rPr sz="1350" spc="8" dirty="0">
                <a:latin typeface="Courier New"/>
                <a:cs typeface="Courier New"/>
              </a:rPr>
              <a:t> </a:t>
            </a:r>
            <a:r>
              <a:rPr sz="1350" dirty="0">
                <a:latin typeface="Courier New"/>
                <a:cs typeface="Courier New"/>
              </a:rPr>
              <a:t>OK,</a:t>
            </a:r>
            <a:r>
              <a:rPr sz="1350" spc="8" dirty="0">
                <a:latin typeface="Courier New"/>
                <a:cs typeface="Courier New"/>
              </a:rPr>
              <a:t> </a:t>
            </a:r>
            <a:r>
              <a:rPr sz="1350" dirty="0">
                <a:latin typeface="Courier New"/>
                <a:cs typeface="Courier New"/>
              </a:rPr>
              <a:t>0</a:t>
            </a:r>
            <a:r>
              <a:rPr sz="1350" spc="8" dirty="0">
                <a:latin typeface="Courier New"/>
                <a:cs typeface="Courier New"/>
              </a:rPr>
              <a:t> </a:t>
            </a:r>
            <a:r>
              <a:rPr sz="1350" dirty="0">
                <a:latin typeface="Courier New"/>
                <a:cs typeface="Courier New"/>
              </a:rPr>
              <a:t>rows</a:t>
            </a:r>
            <a:r>
              <a:rPr sz="1350" spc="8" dirty="0">
                <a:latin typeface="Courier New"/>
                <a:cs typeface="Courier New"/>
              </a:rPr>
              <a:t> </a:t>
            </a:r>
            <a:r>
              <a:rPr sz="1350" dirty="0">
                <a:latin typeface="Courier New"/>
                <a:cs typeface="Courier New"/>
              </a:rPr>
              <a:t>affected</a:t>
            </a:r>
            <a:r>
              <a:rPr sz="1350" spc="8" dirty="0">
                <a:latin typeface="Courier New"/>
                <a:cs typeface="Courier New"/>
              </a:rPr>
              <a:t> </a:t>
            </a:r>
            <a:r>
              <a:rPr sz="1350" dirty="0">
                <a:latin typeface="Courier New"/>
                <a:cs typeface="Courier New"/>
              </a:rPr>
              <a:t>(0.02</a:t>
            </a:r>
            <a:r>
              <a:rPr sz="1350" spc="8" dirty="0">
                <a:latin typeface="Courier New"/>
                <a:cs typeface="Courier New"/>
              </a:rPr>
              <a:t> </a:t>
            </a:r>
            <a:r>
              <a:rPr sz="1350" spc="-15" dirty="0">
                <a:latin typeface="Courier New"/>
                <a:cs typeface="Courier New"/>
              </a:rPr>
              <a:t>sec)</a:t>
            </a:r>
            <a:endParaRPr sz="1350" dirty="0">
              <a:latin typeface="Courier New"/>
              <a:cs typeface="Courier New"/>
            </a:endParaRPr>
          </a:p>
          <a:p>
            <a:pPr>
              <a:spcBef>
                <a:spcPts val="71"/>
              </a:spcBef>
            </a:pPr>
            <a:endParaRPr sz="1350" dirty="0">
              <a:latin typeface="Courier New"/>
              <a:cs typeface="Courier New"/>
            </a:endParaRPr>
          </a:p>
          <a:p>
            <a:pPr marL="9525">
              <a:spcBef>
                <a:spcPts val="4"/>
              </a:spcBef>
            </a:pPr>
            <a:r>
              <a:rPr sz="1350" dirty="0">
                <a:latin typeface="Courier New"/>
                <a:cs typeface="Courier New"/>
              </a:rPr>
              <a:t>mysql&gt;</a:t>
            </a:r>
            <a:r>
              <a:rPr sz="1350" spc="8" dirty="0">
                <a:latin typeface="Courier New"/>
                <a:cs typeface="Courier New"/>
              </a:rPr>
              <a:t> </a:t>
            </a:r>
            <a:r>
              <a:rPr sz="1350" dirty="0">
                <a:latin typeface="Courier New"/>
                <a:cs typeface="Courier New"/>
              </a:rPr>
              <a:t>delimiter</a:t>
            </a:r>
            <a:r>
              <a:rPr sz="1350" spc="8" dirty="0">
                <a:latin typeface="Courier New"/>
                <a:cs typeface="Courier New"/>
              </a:rPr>
              <a:t> </a:t>
            </a:r>
            <a:r>
              <a:rPr sz="1350" dirty="0">
                <a:latin typeface="Courier New"/>
                <a:cs typeface="Courier New"/>
              </a:rPr>
              <a:t>;</a:t>
            </a:r>
            <a:r>
              <a:rPr sz="1350" spc="8" dirty="0">
                <a:latin typeface="Courier New"/>
                <a:cs typeface="Courier New"/>
              </a:rPr>
              <a:t> </a:t>
            </a:r>
            <a:r>
              <a:rPr sz="1350" spc="-19" dirty="0">
                <a:latin typeface="Courier New"/>
                <a:cs typeface="Courier New"/>
              </a:rPr>
              <a:t>$$</a:t>
            </a:r>
            <a:endParaRPr sz="1350" dirty="0">
              <a:latin typeface="Courier New"/>
              <a:cs typeface="Courier New"/>
            </a:endParaRPr>
          </a:p>
          <a:p>
            <a:pPr>
              <a:spcBef>
                <a:spcPts val="472"/>
              </a:spcBef>
            </a:pPr>
            <a:endParaRPr sz="1350" dirty="0">
              <a:latin typeface="Courier New"/>
              <a:cs typeface="Courier New"/>
            </a:endParaRPr>
          </a:p>
          <a:p>
            <a:pPr marL="1354454" indent="-171450">
              <a:buFont typeface="Arial"/>
              <a:buChar char="•"/>
              <a:tabLst>
                <a:tab pos="1354454" algn="l"/>
              </a:tabLst>
            </a:pPr>
            <a:r>
              <a:rPr sz="1650" spc="-8" dirty="0">
                <a:latin typeface="Calibri"/>
                <a:cs typeface="Calibri"/>
              </a:rPr>
              <a:t>Keyword</a:t>
            </a:r>
            <a:r>
              <a:rPr sz="1650" spc="-41" dirty="0">
                <a:latin typeface="Calibri"/>
                <a:cs typeface="Calibri"/>
              </a:rPr>
              <a:t> </a:t>
            </a:r>
            <a:r>
              <a:rPr sz="1650" dirty="0">
                <a:latin typeface="Calibri"/>
                <a:cs typeface="Calibri"/>
              </a:rPr>
              <a:t>“new”</a:t>
            </a:r>
            <a:r>
              <a:rPr sz="1650" spc="-30" dirty="0">
                <a:latin typeface="Calibri"/>
                <a:cs typeface="Calibri"/>
              </a:rPr>
              <a:t> </a:t>
            </a:r>
            <a:r>
              <a:rPr sz="1650" spc="-8" dirty="0">
                <a:latin typeface="Calibri"/>
                <a:cs typeface="Calibri"/>
              </a:rPr>
              <a:t>refer</a:t>
            </a:r>
            <a:r>
              <a:rPr sz="1650" spc="-41" dirty="0">
                <a:latin typeface="Calibri"/>
                <a:cs typeface="Calibri"/>
              </a:rPr>
              <a:t> </a:t>
            </a:r>
            <a:r>
              <a:rPr sz="1650" dirty="0">
                <a:latin typeface="Calibri"/>
                <a:cs typeface="Calibri"/>
              </a:rPr>
              <a:t>to</a:t>
            </a:r>
            <a:r>
              <a:rPr sz="1650" spc="-34" dirty="0">
                <a:latin typeface="Calibri"/>
                <a:cs typeface="Calibri"/>
              </a:rPr>
              <a:t> </a:t>
            </a:r>
            <a:r>
              <a:rPr sz="1650" dirty="0">
                <a:latin typeface="Calibri"/>
                <a:cs typeface="Calibri"/>
              </a:rPr>
              <a:t>the</a:t>
            </a:r>
            <a:r>
              <a:rPr sz="1650" spc="-34" dirty="0">
                <a:latin typeface="Calibri"/>
                <a:cs typeface="Calibri"/>
              </a:rPr>
              <a:t> </a:t>
            </a:r>
            <a:r>
              <a:rPr sz="1650" dirty="0">
                <a:latin typeface="Calibri"/>
                <a:cs typeface="Calibri"/>
              </a:rPr>
              <a:t>new</a:t>
            </a:r>
            <a:r>
              <a:rPr sz="1650" spc="-30" dirty="0">
                <a:latin typeface="Calibri"/>
                <a:cs typeface="Calibri"/>
              </a:rPr>
              <a:t> </a:t>
            </a:r>
            <a:r>
              <a:rPr sz="1650" dirty="0">
                <a:latin typeface="Calibri"/>
                <a:cs typeface="Calibri"/>
              </a:rPr>
              <a:t>row</a:t>
            </a:r>
            <a:r>
              <a:rPr sz="1650" spc="-34" dirty="0">
                <a:latin typeface="Calibri"/>
                <a:cs typeface="Calibri"/>
              </a:rPr>
              <a:t> </a:t>
            </a:r>
            <a:r>
              <a:rPr sz="1650" spc="-8" dirty="0">
                <a:latin typeface="Calibri"/>
                <a:cs typeface="Calibri"/>
              </a:rPr>
              <a:t>inserted.</a:t>
            </a:r>
            <a:endParaRPr sz="1650" dirty="0">
              <a:latin typeface="Calibri"/>
              <a:cs typeface="Calibri"/>
            </a:endParaRPr>
          </a:p>
          <a:p>
            <a:pPr marL="1354454" indent="-171450">
              <a:spcBef>
                <a:spcPts val="360"/>
              </a:spcBef>
              <a:buFont typeface="Arial"/>
              <a:buChar char="•"/>
              <a:tabLst>
                <a:tab pos="1354454" algn="l"/>
              </a:tabLst>
            </a:pPr>
            <a:r>
              <a:rPr sz="1650" spc="-8" dirty="0">
                <a:latin typeface="Calibri"/>
                <a:cs typeface="Calibri"/>
              </a:rPr>
              <a:t>Keyword</a:t>
            </a:r>
            <a:r>
              <a:rPr sz="1650" spc="-60" dirty="0">
                <a:latin typeface="Calibri"/>
                <a:cs typeface="Calibri"/>
              </a:rPr>
              <a:t> </a:t>
            </a:r>
            <a:r>
              <a:rPr sz="1650" dirty="0">
                <a:latin typeface="Calibri"/>
                <a:cs typeface="Calibri"/>
              </a:rPr>
              <a:t>“old”</a:t>
            </a:r>
            <a:r>
              <a:rPr sz="1650" spc="-53" dirty="0">
                <a:latin typeface="Calibri"/>
                <a:cs typeface="Calibri"/>
              </a:rPr>
              <a:t> </a:t>
            </a:r>
            <a:r>
              <a:rPr sz="1650" spc="-8" dirty="0">
                <a:latin typeface="Calibri"/>
                <a:cs typeface="Calibri"/>
              </a:rPr>
              <a:t>refer</a:t>
            </a:r>
            <a:r>
              <a:rPr sz="1650" spc="-56" dirty="0">
                <a:latin typeface="Calibri"/>
                <a:cs typeface="Calibri"/>
              </a:rPr>
              <a:t> </a:t>
            </a:r>
            <a:r>
              <a:rPr sz="1650" dirty="0">
                <a:latin typeface="Calibri"/>
                <a:cs typeface="Calibri"/>
              </a:rPr>
              <a:t>to</a:t>
            </a:r>
            <a:r>
              <a:rPr sz="1650" spc="-56" dirty="0">
                <a:latin typeface="Calibri"/>
                <a:cs typeface="Calibri"/>
              </a:rPr>
              <a:t> </a:t>
            </a:r>
            <a:r>
              <a:rPr sz="1650" dirty="0">
                <a:latin typeface="Calibri"/>
                <a:cs typeface="Calibri"/>
              </a:rPr>
              <a:t>the</a:t>
            </a:r>
            <a:r>
              <a:rPr sz="1650" spc="-53" dirty="0">
                <a:latin typeface="Calibri"/>
                <a:cs typeface="Calibri"/>
              </a:rPr>
              <a:t> </a:t>
            </a:r>
            <a:r>
              <a:rPr sz="1650" dirty="0">
                <a:latin typeface="Calibri"/>
                <a:cs typeface="Calibri"/>
              </a:rPr>
              <a:t>previous</a:t>
            </a:r>
            <a:r>
              <a:rPr sz="1650" spc="-53" dirty="0">
                <a:latin typeface="Calibri"/>
                <a:cs typeface="Calibri"/>
              </a:rPr>
              <a:t> </a:t>
            </a:r>
            <a:r>
              <a:rPr sz="1650" spc="-15" dirty="0">
                <a:latin typeface="Calibri"/>
                <a:cs typeface="Calibri"/>
              </a:rPr>
              <a:t>data</a:t>
            </a:r>
            <a:endParaRPr sz="1650" dirty="0">
              <a:latin typeface="Calibri"/>
              <a:cs typeface="Calibri"/>
            </a:endParaRPr>
          </a:p>
        </p:txBody>
      </p:sp>
      <p:sp>
        <p:nvSpPr>
          <p:cNvPr id="10" name="object 10"/>
          <p:cNvSpPr txBox="1"/>
          <p:nvPr/>
        </p:nvSpPr>
        <p:spPr>
          <a:xfrm>
            <a:off x="1671145" y="3103836"/>
            <a:ext cx="5468779" cy="604492"/>
          </a:xfrm>
          <a:prstGeom prst="rect">
            <a:avLst/>
          </a:prstGeom>
          <a:solidFill>
            <a:srgbClr val="4472C4"/>
          </a:solidFill>
          <a:ln w="12700">
            <a:solidFill>
              <a:srgbClr val="2F528F"/>
            </a:solidFill>
          </a:ln>
        </p:spPr>
        <p:txBody>
          <a:bodyPr vert="horz" wrap="square" lIns="0" tIns="187166" rIns="0" bIns="0" rtlCol="0">
            <a:spAutoFit/>
          </a:bodyPr>
          <a:lstStyle/>
          <a:p>
            <a:pPr>
              <a:spcBef>
                <a:spcPts val="1473"/>
              </a:spcBef>
            </a:pPr>
            <a:endParaRPr sz="1350">
              <a:latin typeface="Times New Roman"/>
              <a:cs typeface="Times New Roman"/>
            </a:endParaRPr>
          </a:p>
          <a:p>
            <a:pPr algn="ctr">
              <a:lnSpc>
                <a:spcPct val="100000"/>
              </a:lnSpc>
            </a:pPr>
            <a:r>
              <a:rPr sz="1350" dirty="0">
                <a:solidFill>
                  <a:srgbClr val="FFFFFF"/>
                </a:solidFill>
                <a:latin typeface="Calibri"/>
                <a:cs typeface="Calibri"/>
              </a:rPr>
              <a:t>//Add</a:t>
            </a:r>
            <a:r>
              <a:rPr sz="1350" spc="-45" dirty="0">
                <a:solidFill>
                  <a:srgbClr val="FFFFFF"/>
                </a:solidFill>
                <a:latin typeface="Calibri"/>
                <a:cs typeface="Calibri"/>
              </a:rPr>
              <a:t> </a:t>
            </a:r>
            <a:r>
              <a:rPr sz="1350" dirty="0">
                <a:solidFill>
                  <a:srgbClr val="FFFFFF"/>
                </a:solidFill>
                <a:latin typeface="Calibri"/>
                <a:cs typeface="Calibri"/>
              </a:rPr>
              <a:t>your</a:t>
            </a:r>
            <a:r>
              <a:rPr sz="1350" spc="-49" dirty="0">
                <a:solidFill>
                  <a:srgbClr val="FFFFFF"/>
                </a:solidFill>
                <a:latin typeface="Calibri"/>
                <a:cs typeface="Calibri"/>
              </a:rPr>
              <a:t> </a:t>
            </a:r>
            <a:r>
              <a:rPr sz="1350" dirty="0">
                <a:solidFill>
                  <a:srgbClr val="FFFFFF"/>
                </a:solidFill>
                <a:latin typeface="Calibri"/>
                <a:cs typeface="Calibri"/>
              </a:rPr>
              <a:t>code</a:t>
            </a:r>
            <a:r>
              <a:rPr sz="1350" spc="-41" dirty="0">
                <a:solidFill>
                  <a:srgbClr val="FFFFFF"/>
                </a:solidFill>
                <a:latin typeface="Calibri"/>
                <a:cs typeface="Calibri"/>
              </a:rPr>
              <a:t> </a:t>
            </a:r>
            <a:r>
              <a:rPr sz="1350" spc="-15" dirty="0">
                <a:solidFill>
                  <a:srgbClr val="FFFFFF"/>
                </a:solidFill>
                <a:latin typeface="Calibri"/>
                <a:cs typeface="Calibri"/>
              </a:rPr>
              <a:t>here</a:t>
            </a:r>
            <a:endParaRPr sz="1350">
              <a:latin typeface="Calibri"/>
              <a:cs typeface="Calibri"/>
            </a:endParaRPr>
          </a:p>
        </p:txBody>
      </p:sp>
      <p:sp>
        <p:nvSpPr>
          <p:cNvPr id="11" name="object 11"/>
          <p:cNvSpPr txBox="1"/>
          <p:nvPr/>
        </p:nvSpPr>
        <p:spPr>
          <a:xfrm>
            <a:off x="7342724" y="1147191"/>
            <a:ext cx="461010" cy="217367"/>
          </a:xfrm>
          <a:prstGeom prst="rect">
            <a:avLst/>
          </a:prstGeom>
        </p:spPr>
        <p:txBody>
          <a:bodyPr vert="horz" wrap="square" lIns="0" tIns="9525" rIns="0" bIns="0" rtlCol="0">
            <a:spAutoFit/>
          </a:bodyPr>
          <a:lstStyle/>
          <a:p>
            <a:pPr marL="9525">
              <a:spcBef>
                <a:spcPts val="75"/>
              </a:spcBef>
            </a:pPr>
            <a:r>
              <a:rPr sz="1350" spc="-8" dirty="0">
                <a:latin typeface="Calibri"/>
                <a:cs typeface="Calibri"/>
              </a:rPr>
              <a:t>Q6.sql</a:t>
            </a:r>
            <a:endParaRPr sz="1350">
              <a:latin typeface="Calibri"/>
              <a:cs typeface="Calibri"/>
            </a:endParaRPr>
          </a:p>
        </p:txBody>
      </p:sp>
    </p:spTree>
    <p:extLst>
      <p:ext uri="{BB962C8B-B14F-4D97-AF65-F5344CB8AC3E}">
        <p14:creationId xmlns:p14="http://schemas.microsoft.com/office/powerpoint/2010/main" val="3527137531"/>
      </p:ext>
    </p:extLst>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62500" y="417231"/>
            <a:ext cx="2842259" cy="517449"/>
          </a:xfrm>
          <a:prstGeom prst="rect">
            <a:avLst/>
          </a:prstGeom>
        </p:spPr>
        <p:txBody>
          <a:bodyPr vert="horz" wrap="square" lIns="0" tIns="9525" rIns="0" bIns="0" rtlCol="0">
            <a:spAutoFit/>
          </a:bodyPr>
          <a:lstStyle/>
          <a:p>
            <a:pPr marL="9525">
              <a:spcBef>
                <a:spcPts val="75"/>
              </a:spcBef>
            </a:pPr>
            <a:r>
              <a:rPr sz="3300" spc="-15" dirty="0">
                <a:latin typeface="Calibri Light"/>
                <a:cs typeface="Calibri Light"/>
              </a:rPr>
              <a:t>Trigger1</a:t>
            </a:r>
            <a:r>
              <a:rPr sz="3300" spc="-75" dirty="0">
                <a:latin typeface="Calibri Light"/>
                <a:cs typeface="Calibri Light"/>
              </a:rPr>
              <a:t> </a:t>
            </a:r>
            <a:r>
              <a:rPr sz="3300" dirty="0">
                <a:latin typeface="Calibri Light"/>
                <a:cs typeface="Calibri Light"/>
              </a:rPr>
              <a:t>–</a:t>
            </a:r>
            <a:r>
              <a:rPr sz="3300" spc="-71" dirty="0">
                <a:latin typeface="Calibri Light"/>
                <a:cs typeface="Calibri Light"/>
              </a:rPr>
              <a:t> </a:t>
            </a:r>
            <a:r>
              <a:rPr sz="3300" dirty="0">
                <a:latin typeface="Calibri Light"/>
                <a:cs typeface="Calibri Light"/>
              </a:rPr>
              <a:t>Step</a:t>
            </a:r>
            <a:r>
              <a:rPr sz="3300" spc="-68" dirty="0">
                <a:latin typeface="Calibri Light"/>
                <a:cs typeface="Calibri Light"/>
              </a:rPr>
              <a:t> </a:t>
            </a:r>
            <a:r>
              <a:rPr sz="3300" spc="-38" dirty="0">
                <a:latin typeface="Calibri Light"/>
                <a:cs typeface="Calibri Light"/>
              </a:rPr>
              <a:t>3</a:t>
            </a:r>
            <a:endParaRPr sz="3300" dirty="0">
              <a:latin typeface="Calibri Light"/>
              <a:cs typeface="Calibri Light"/>
            </a:endParaRPr>
          </a:p>
        </p:txBody>
      </p:sp>
      <p:sp>
        <p:nvSpPr>
          <p:cNvPr id="3" name="object 3"/>
          <p:cNvSpPr txBox="1"/>
          <p:nvPr/>
        </p:nvSpPr>
        <p:spPr>
          <a:xfrm>
            <a:off x="3190685" y="5673472"/>
            <a:ext cx="2762726" cy="148117"/>
          </a:xfrm>
          <a:prstGeom prst="rect">
            <a:avLst/>
          </a:prstGeom>
        </p:spPr>
        <p:txBody>
          <a:bodyPr vert="horz" wrap="square" lIns="0" tIns="9525" rIns="0" bIns="0" rtlCol="0">
            <a:spAutoFit/>
          </a:bodyPr>
          <a:lstStyle/>
          <a:p>
            <a:pPr marL="9525">
              <a:spcBef>
                <a:spcPts val="75"/>
              </a:spcBef>
            </a:pPr>
            <a:r>
              <a:rPr sz="900" spc="-8" dirty="0">
                <a:solidFill>
                  <a:srgbClr val="898989"/>
                </a:solidFill>
                <a:latin typeface="Calibri"/>
                <a:cs typeface="Calibri"/>
              </a:rPr>
              <a:t>Copyright</a:t>
            </a:r>
            <a:r>
              <a:rPr sz="900" spc="-11" dirty="0">
                <a:solidFill>
                  <a:srgbClr val="898989"/>
                </a:solidFill>
                <a:latin typeface="Calibri"/>
                <a:cs typeface="Calibri"/>
              </a:rPr>
              <a:t> </a:t>
            </a:r>
            <a:r>
              <a:rPr sz="900" dirty="0">
                <a:solidFill>
                  <a:srgbClr val="898989"/>
                </a:solidFill>
                <a:latin typeface="Calibri"/>
                <a:cs typeface="Calibri"/>
              </a:rPr>
              <a:t>©</a:t>
            </a:r>
            <a:r>
              <a:rPr sz="900" spc="-8" dirty="0">
                <a:solidFill>
                  <a:srgbClr val="898989"/>
                </a:solidFill>
                <a:latin typeface="Calibri"/>
                <a:cs typeface="Calibri"/>
              </a:rPr>
              <a:t> </a:t>
            </a:r>
            <a:r>
              <a:rPr sz="900" dirty="0">
                <a:solidFill>
                  <a:srgbClr val="898989"/>
                </a:solidFill>
                <a:latin typeface="Calibri"/>
                <a:cs typeface="Calibri"/>
              </a:rPr>
              <a:t>2016</a:t>
            </a:r>
            <a:r>
              <a:rPr sz="900" spc="-8" dirty="0">
                <a:solidFill>
                  <a:srgbClr val="898989"/>
                </a:solidFill>
                <a:latin typeface="Calibri"/>
                <a:cs typeface="Calibri"/>
              </a:rPr>
              <a:t> </a:t>
            </a:r>
            <a:r>
              <a:rPr sz="900" dirty="0">
                <a:solidFill>
                  <a:srgbClr val="898989"/>
                </a:solidFill>
                <a:latin typeface="Calibri"/>
                <a:cs typeface="Calibri"/>
              </a:rPr>
              <a:t>Ramez</a:t>
            </a:r>
            <a:r>
              <a:rPr sz="900" spc="-4" dirty="0">
                <a:solidFill>
                  <a:srgbClr val="898989"/>
                </a:solidFill>
                <a:latin typeface="Calibri"/>
                <a:cs typeface="Calibri"/>
              </a:rPr>
              <a:t> </a:t>
            </a:r>
            <a:r>
              <a:rPr sz="900" dirty="0">
                <a:solidFill>
                  <a:srgbClr val="898989"/>
                </a:solidFill>
                <a:latin typeface="Calibri"/>
                <a:cs typeface="Calibri"/>
              </a:rPr>
              <a:t>Elmasri</a:t>
            </a:r>
            <a:r>
              <a:rPr sz="900" spc="-11" dirty="0">
                <a:solidFill>
                  <a:srgbClr val="898989"/>
                </a:solidFill>
                <a:latin typeface="Calibri"/>
                <a:cs typeface="Calibri"/>
              </a:rPr>
              <a:t> </a:t>
            </a:r>
            <a:r>
              <a:rPr sz="900" dirty="0">
                <a:solidFill>
                  <a:srgbClr val="898989"/>
                </a:solidFill>
                <a:latin typeface="Calibri"/>
                <a:cs typeface="Calibri"/>
              </a:rPr>
              <a:t>and</a:t>
            </a:r>
            <a:r>
              <a:rPr sz="900" spc="-11" dirty="0">
                <a:solidFill>
                  <a:srgbClr val="898989"/>
                </a:solidFill>
                <a:latin typeface="Calibri"/>
                <a:cs typeface="Calibri"/>
              </a:rPr>
              <a:t> </a:t>
            </a:r>
            <a:r>
              <a:rPr sz="900" spc="-8" dirty="0">
                <a:solidFill>
                  <a:srgbClr val="898989"/>
                </a:solidFill>
                <a:latin typeface="Calibri"/>
                <a:cs typeface="Calibri"/>
              </a:rPr>
              <a:t>Shamkant</a:t>
            </a:r>
            <a:r>
              <a:rPr sz="900" spc="-11" dirty="0">
                <a:solidFill>
                  <a:srgbClr val="898989"/>
                </a:solidFill>
                <a:latin typeface="Calibri"/>
                <a:cs typeface="Calibri"/>
              </a:rPr>
              <a:t> </a:t>
            </a:r>
            <a:r>
              <a:rPr sz="900" dirty="0">
                <a:solidFill>
                  <a:srgbClr val="898989"/>
                </a:solidFill>
                <a:latin typeface="Calibri"/>
                <a:cs typeface="Calibri"/>
              </a:rPr>
              <a:t>B.</a:t>
            </a:r>
            <a:r>
              <a:rPr sz="900" spc="-8" dirty="0">
                <a:solidFill>
                  <a:srgbClr val="898989"/>
                </a:solidFill>
                <a:latin typeface="Calibri"/>
                <a:cs typeface="Calibri"/>
              </a:rPr>
              <a:t> Navathe</a:t>
            </a:r>
            <a:endParaRPr sz="900">
              <a:latin typeface="Calibri"/>
              <a:cs typeface="Calibri"/>
            </a:endParaRPr>
          </a:p>
        </p:txBody>
      </p:sp>
      <p:sp>
        <p:nvSpPr>
          <p:cNvPr id="4" name="object 4"/>
          <p:cNvSpPr txBox="1"/>
          <p:nvPr/>
        </p:nvSpPr>
        <p:spPr>
          <a:xfrm>
            <a:off x="8319612" y="5673472"/>
            <a:ext cx="135731" cy="148117"/>
          </a:xfrm>
          <a:prstGeom prst="rect">
            <a:avLst/>
          </a:prstGeom>
        </p:spPr>
        <p:txBody>
          <a:bodyPr vert="horz" wrap="square" lIns="0" tIns="9525" rIns="0" bIns="0" rtlCol="0">
            <a:spAutoFit/>
          </a:bodyPr>
          <a:lstStyle/>
          <a:p>
            <a:pPr marL="9525">
              <a:spcBef>
                <a:spcPts val="75"/>
              </a:spcBef>
            </a:pPr>
            <a:r>
              <a:rPr sz="900" spc="-19" dirty="0">
                <a:solidFill>
                  <a:srgbClr val="898989"/>
                </a:solidFill>
                <a:latin typeface="Calibri"/>
                <a:cs typeface="Calibri"/>
              </a:rPr>
              <a:t>51</a:t>
            </a:r>
            <a:endParaRPr sz="900">
              <a:latin typeface="Calibri"/>
              <a:cs typeface="Calibri"/>
            </a:endParaRPr>
          </a:p>
        </p:txBody>
      </p:sp>
      <p:sp>
        <p:nvSpPr>
          <p:cNvPr id="5" name="object 5"/>
          <p:cNvSpPr/>
          <p:nvPr/>
        </p:nvSpPr>
        <p:spPr>
          <a:xfrm>
            <a:off x="869707" y="2247518"/>
            <a:ext cx="825341" cy="0"/>
          </a:xfrm>
          <a:custGeom>
            <a:avLst/>
            <a:gdLst/>
            <a:ahLst/>
            <a:cxnLst/>
            <a:rect l="l" t="t" r="r" b="b"/>
            <a:pathLst>
              <a:path w="1100455">
                <a:moveTo>
                  <a:pt x="0" y="0"/>
                </a:moveTo>
                <a:lnTo>
                  <a:pt x="1100206" y="0"/>
                </a:lnTo>
              </a:path>
            </a:pathLst>
          </a:custGeom>
          <a:ln w="16865">
            <a:solidFill>
              <a:srgbClr val="000000"/>
            </a:solidFill>
            <a:prstDash val="dash"/>
          </a:ln>
        </p:spPr>
        <p:txBody>
          <a:bodyPr wrap="square" lIns="0" tIns="0" rIns="0" bIns="0" rtlCol="0"/>
          <a:lstStyle/>
          <a:p>
            <a:endParaRPr sz="1800"/>
          </a:p>
        </p:txBody>
      </p:sp>
      <p:sp>
        <p:nvSpPr>
          <p:cNvPr id="6" name="object 6"/>
          <p:cNvSpPr/>
          <p:nvPr/>
        </p:nvSpPr>
        <p:spPr>
          <a:xfrm>
            <a:off x="1786488" y="2247518"/>
            <a:ext cx="1192054" cy="0"/>
          </a:xfrm>
          <a:custGeom>
            <a:avLst/>
            <a:gdLst/>
            <a:ahLst/>
            <a:cxnLst/>
            <a:rect l="l" t="t" r="r" b="b"/>
            <a:pathLst>
              <a:path w="1589404">
                <a:moveTo>
                  <a:pt x="0" y="0"/>
                </a:moveTo>
                <a:lnTo>
                  <a:pt x="1589186" y="0"/>
                </a:lnTo>
              </a:path>
            </a:pathLst>
          </a:custGeom>
          <a:ln w="16865">
            <a:solidFill>
              <a:srgbClr val="000000"/>
            </a:solidFill>
            <a:prstDash val="dash"/>
          </a:ln>
        </p:spPr>
        <p:txBody>
          <a:bodyPr wrap="square" lIns="0" tIns="0" rIns="0" bIns="0" rtlCol="0"/>
          <a:lstStyle/>
          <a:p>
            <a:endParaRPr sz="1800"/>
          </a:p>
        </p:txBody>
      </p:sp>
      <p:sp>
        <p:nvSpPr>
          <p:cNvPr id="7" name="object 7"/>
          <p:cNvSpPr/>
          <p:nvPr/>
        </p:nvSpPr>
        <p:spPr>
          <a:xfrm>
            <a:off x="869707" y="2610992"/>
            <a:ext cx="825341" cy="0"/>
          </a:xfrm>
          <a:custGeom>
            <a:avLst/>
            <a:gdLst/>
            <a:ahLst/>
            <a:cxnLst/>
            <a:rect l="l" t="t" r="r" b="b"/>
            <a:pathLst>
              <a:path w="1100455">
                <a:moveTo>
                  <a:pt x="0" y="0"/>
                </a:moveTo>
                <a:lnTo>
                  <a:pt x="1100206" y="0"/>
                </a:lnTo>
              </a:path>
            </a:pathLst>
          </a:custGeom>
          <a:ln w="16865">
            <a:solidFill>
              <a:srgbClr val="000000"/>
            </a:solidFill>
            <a:prstDash val="dash"/>
          </a:ln>
        </p:spPr>
        <p:txBody>
          <a:bodyPr wrap="square" lIns="0" tIns="0" rIns="0" bIns="0" rtlCol="0"/>
          <a:lstStyle/>
          <a:p>
            <a:endParaRPr sz="1800"/>
          </a:p>
        </p:txBody>
      </p:sp>
      <p:sp>
        <p:nvSpPr>
          <p:cNvPr id="8" name="object 8"/>
          <p:cNvSpPr/>
          <p:nvPr/>
        </p:nvSpPr>
        <p:spPr>
          <a:xfrm>
            <a:off x="1786488" y="2610992"/>
            <a:ext cx="1192054" cy="0"/>
          </a:xfrm>
          <a:custGeom>
            <a:avLst/>
            <a:gdLst/>
            <a:ahLst/>
            <a:cxnLst/>
            <a:rect l="l" t="t" r="r" b="b"/>
            <a:pathLst>
              <a:path w="1589404">
                <a:moveTo>
                  <a:pt x="0" y="0"/>
                </a:moveTo>
                <a:lnTo>
                  <a:pt x="1589186" y="0"/>
                </a:lnTo>
              </a:path>
            </a:pathLst>
          </a:custGeom>
          <a:ln w="16865">
            <a:solidFill>
              <a:srgbClr val="000000"/>
            </a:solidFill>
            <a:prstDash val="dash"/>
          </a:ln>
        </p:spPr>
        <p:txBody>
          <a:bodyPr wrap="square" lIns="0" tIns="0" rIns="0" bIns="0" rtlCol="0"/>
          <a:lstStyle/>
          <a:p>
            <a:endParaRPr sz="1800"/>
          </a:p>
        </p:txBody>
      </p:sp>
      <p:sp>
        <p:nvSpPr>
          <p:cNvPr id="9" name="object 9"/>
          <p:cNvSpPr txBox="1"/>
          <p:nvPr/>
        </p:nvSpPr>
        <p:spPr>
          <a:xfrm>
            <a:off x="768503" y="1943481"/>
            <a:ext cx="2677953" cy="750847"/>
          </a:xfrm>
          <a:prstGeom prst="rect">
            <a:avLst/>
          </a:prstGeom>
        </p:spPr>
        <p:txBody>
          <a:bodyPr vert="horz" wrap="square" lIns="0" tIns="9525" rIns="0" bIns="0" rtlCol="0">
            <a:spAutoFit/>
          </a:bodyPr>
          <a:lstStyle/>
          <a:p>
            <a:pPr marL="9525">
              <a:spcBef>
                <a:spcPts val="75"/>
              </a:spcBef>
            </a:pPr>
            <a:r>
              <a:rPr sz="1200" dirty="0">
                <a:latin typeface="Courier New"/>
                <a:cs typeface="Courier New"/>
              </a:rPr>
              <a:t>mysql&gt;</a:t>
            </a:r>
            <a:r>
              <a:rPr sz="1200" spc="-23" dirty="0">
                <a:latin typeface="Courier New"/>
                <a:cs typeface="Courier New"/>
              </a:rPr>
              <a:t> </a:t>
            </a:r>
            <a:r>
              <a:rPr sz="1200" dirty="0">
                <a:latin typeface="Courier New"/>
                <a:cs typeface="Courier New"/>
              </a:rPr>
              <a:t>select</a:t>
            </a:r>
            <a:r>
              <a:rPr sz="1200" spc="-11" dirty="0">
                <a:latin typeface="Courier New"/>
                <a:cs typeface="Courier New"/>
              </a:rPr>
              <a:t> </a:t>
            </a:r>
            <a:r>
              <a:rPr sz="1200" dirty="0">
                <a:latin typeface="Courier New"/>
                <a:cs typeface="Courier New"/>
              </a:rPr>
              <a:t>*</a:t>
            </a:r>
            <a:r>
              <a:rPr sz="1200" spc="-11" dirty="0">
                <a:latin typeface="Courier New"/>
                <a:cs typeface="Courier New"/>
              </a:rPr>
              <a:t> </a:t>
            </a:r>
            <a:r>
              <a:rPr sz="1200" dirty="0">
                <a:latin typeface="Courier New"/>
                <a:cs typeface="Courier New"/>
              </a:rPr>
              <a:t>from</a:t>
            </a:r>
            <a:r>
              <a:rPr sz="1200" spc="-11" dirty="0">
                <a:latin typeface="Courier New"/>
                <a:cs typeface="Courier New"/>
              </a:rPr>
              <a:t> </a:t>
            </a:r>
            <a:r>
              <a:rPr sz="1200" spc="-8" dirty="0">
                <a:latin typeface="Courier New"/>
                <a:cs typeface="Courier New"/>
              </a:rPr>
              <a:t>deptsal;</a:t>
            </a:r>
            <a:endParaRPr sz="1200">
              <a:latin typeface="Courier New"/>
              <a:cs typeface="Courier New"/>
            </a:endParaRPr>
          </a:p>
          <a:p>
            <a:pPr marL="9525">
              <a:lnSpc>
                <a:spcPts val="1433"/>
              </a:lnSpc>
              <a:spcBef>
                <a:spcPts val="53"/>
              </a:spcBef>
              <a:tabLst>
                <a:tab pos="925830" algn="l"/>
                <a:tab pos="2209324" algn="l"/>
              </a:tabLst>
            </a:pPr>
            <a:r>
              <a:rPr sz="1200" spc="-38" dirty="0">
                <a:latin typeface="Courier New"/>
                <a:cs typeface="Courier New"/>
              </a:rPr>
              <a:t>+</a:t>
            </a:r>
            <a:r>
              <a:rPr sz="1200" dirty="0">
                <a:latin typeface="Courier New"/>
                <a:cs typeface="Courier New"/>
              </a:rPr>
              <a:t>	</a:t>
            </a:r>
            <a:r>
              <a:rPr sz="1200" spc="-38" dirty="0">
                <a:latin typeface="Courier New"/>
                <a:cs typeface="Courier New"/>
              </a:rPr>
              <a:t>+</a:t>
            </a:r>
            <a:r>
              <a:rPr sz="1200" dirty="0">
                <a:latin typeface="Courier New"/>
                <a:cs typeface="Courier New"/>
              </a:rPr>
              <a:t>	</a:t>
            </a:r>
            <a:r>
              <a:rPr sz="1200" spc="-38" dirty="0">
                <a:latin typeface="Courier New"/>
                <a:cs typeface="Courier New"/>
              </a:rPr>
              <a:t>+</a:t>
            </a:r>
            <a:endParaRPr sz="1200">
              <a:latin typeface="Courier New"/>
              <a:cs typeface="Courier New"/>
            </a:endParaRPr>
          </a:p>
          <a:p>
            <a:pPr marL="9525">
              <a:lnSpc>
                <a:spcPts val="1433"/>
              </a:lnSpc>
            </a:pPr>
            <a:r>
              <a:rPr sz="1200" dirty="0">
                <a:latin typeface="Courier New"/>
                <a:cs typeface="Courier New"/>
              </a:rPr>
              <a:t>|</a:t>
            </a:r>
            <a:r>
              <a:rPr sz="1200" spc="-15" dirty="0">
                <a:latin typeface="Courier New"/>
                <a:cs typeface="Courier New"/>
              </a:rPr>
              <a:t> </a:t>
            </a:r>
            <a:r>
              <a:rPr sz="1200" dirty="0">
                <a:latin typeface="Courier New"/>
                <a:cs typeface="Courier New"/>
              </a:rPr>
              <a:t>dnumber</a:t>
            </a:r>
            <a:r>
              <a:rPr sz="1200" spc="-15" dirty="0">
                <a:latin typeface="Courier New"/>
                <a:cs typeface="Courier New"/>
              </a:rPr>
              <a:t> </a:t>
            </a:r>
            <a:r>
              <a:rPr sz="1200" dirty="0">
                <a:latin typeface="Courier New"/>
                <a:cs typeface="Courier New"/>
              </a:rPr>
              <a:t>|</a:t>
            </a:r>
            <a:r>
              <a:rPr sz="1200" spc="-15" dirty="0">
                <a:latin typeface="Courier New"/>
                <a:cs typeface="Courier New"/>
              </a:rPr>
              <a:t> </a:t>
            </a:r>
            <a:r>
              <a:rPr sz="1200" dirty="0">
                <a:latin typeface="Courier New"/>
                <a:cs typeface="Courier New"/>
              </a:rPr>
              <a:t>totalsalary</a:t>
            </a:r>
            <a:r>
              <a:rPr sz="1200" spc="-15" dirty="0">
                <a:latin typeface="Courier New"/>
                <a:cs typeface="Courier New"/>
              </a:rPr>
              <a:t> </a:t>
            </a:r>
            <a:r>
              <a:rPr sz="1200" spc="-38" dirty="0">
                <a:latin typeface="Courier New"/>
                <a:cs typeface="Courier New"/>
              </a:rPr>
              <a:t>|</a:t>
            </a:r>
            <a:endParaRPr sz="1200">
              <a:latin typeface="Courier New"/>
              <a:cs typeface="Courier New"/>
            </a:endParaRPr>
          </a:p>
          <a:p>
            <a:pPr marL="9525">
              <a:tabLst>
                <a:tab pos="925830" algn="l"/>
                <a:tab pos="2209324" algn="l"/>
              </a:tabLst>
            </a:pPr>
            <a:r>
              <a:rPr sz="1200" spc="-38" dirty="0">
                <a:latin typeface="Courier New"/>
                <a:cs typeface="Courier New"/>
              </a:rPr>
              <a:t>+</a:t>
            </a:r>
            <a:r>
              <a:rPr sz="1200" dirty="0">
                <a:latin typeface="Courier New"/>
                <a:cs typeface="Courier New"/>
              </a:rPr>
              <a:t>	</a:t>
            </a:r>
            <a:r>
              <a:rPr sz="1200" spc="-38" dirty="0">
                <a:latin typeface="Courier New"/>
                <a:cs typeface="Courier New"/>
              </a:rPr>
              <a:t>+</a:t>
            </a:r>
            <a:r>
              <a:rPr sz="1200" dirty="0">
                <a:latin typeface="Courier New"/>
                <a:cs typeface="Courier New"/>
              </a:rPr>
              <a:t>	</a:t>
            </a:r>
            <a:r>
              <a:rPr sz="1200" spc="-38" dirty="0">
                <a:latin typeface="Courier New"/>
                <a:cs typeface="Courier New"/>
              </a:rPr>
              <a:t>+</a:t>
            </a:r>
            <a:endParaRPr sz="1200">
              <a:latin typeface="Courier New"/>
              <a:cs typeface="Courier New"/>
            </a:endParaRPr>
          </a:p>
        </p:txBody>
      </p:sp>
      <p:sp>
        <p:nvSpPr>
          <p:cNvPr id="10" name="object 10"/>
          <p:cNvSpPr txBox="1"/>
          <p:nvPr/>
        </p:nvSpPr>
        <p:spPr>
          <a:xfrm>
            <a:off x="768503" y="2677286"/>
            <a:ext cx="110966" cy="741870"/>
          </a:xfrm>
          <a:prstGeom prst="rect">
            <a:avLst/>
          </a:prstGeom>
        </p:spPr>
        <p:txBody>
          <a:bodyPr vert="horz" wrap="square" lIns="0" tIns="9525" rIns="0" bIns="0" rtlCol="0">
            <a:spAutoFit/>
          </a:bodyPr>
          <a:lstStyle/>
          <a:p>
            <a:pPr marL="9525">
              <a:lnSpc>
                <a:spcPts val="1433"/>
              </a:lnSpc>
              <a:spcBef>
                <a:spcPts val="75"/>
              </a:spcBef>
            </a:pPr>
            <a:r>
              <a:rPr sz="1200" spc="-38" dirty="0">
                <a:latin typeface="Courier New"/>
                <a:cs typeface="Courier New"/>
              </a:rPr>
              <a:t>|</a:t>
            </a:r>
            <a:endParaRPr sz="1200">
              <a:latin typeface="Courier New"/>
              <a:cs typeface="Courier New"/>
            </a:endParaRPr>
          </a:p>
          <a:p>
            <a:pPr marL="9525">
              <a:lnSpc>
                <a:spcPts val="1433"/>
              </a:lnSpc>
            </a:pPr>
            <a:r>
              <a:rPr sz="1200" spc="-38" dirty="0">
                <a:latin typeface="Courier New"/>
                <a:cs typeface="Courier New"/>
              </a:rPr>
              <a:t>|</a:t>
            </a:r>
            <a:endParaRPr sz="1200">
              <a:latin typeface="Courier New"/>
              <a:cs typeface="Courier New"/>
            </a:endParaRPr>
          </a:p>
          <a:p>
            <a:pPr marL="9525">
              <a:lnSpc>
                <a:spcPts val="1433"/>
              </a:lnSpc>
              <a:spcBef>
                <a:spcPts val="53"/>
              </a:spcBef>
            </a:pPr>
            <a:r>
              <a:rPr sz="1200" spc="-38" dirty="0">
                <a:latin typeface="Courier New"/>
                <a:cs typeface="Courier New"/>
              </a:rPr>
              <a:t>|</a:t>
            </a:r>
            <a:endParaRPr sz="1200">
              <a:latin typeface="Courier New"/>
              <a:cs typeface="Courier New"/>
            </a:endParaRPr>
          </a:p>
          <a:p>
            <a:pPr marL="9525">
              <a:lnSpc>
                <a:spcPts val="1433"/>
              </a:lnSpc>
            </a:pPr>
            <a:r>
              <a:rPr sz="1200" spc="-38" dirty="0">
                <a:latin typeface="Courier New"/>
                <a:cs typeface="Courier New"/>
              </a:rPr>
              <a:t>+</a:t>
            </a:r>
            <a:endParaRPr sz="1200">
              <a:latin typeface="Courier New"/>
              <a:cs typeface="Courier New"/>
            </a:endParaRPr>
          </a:p>
        </p:txBody>
      </p:sp>
      <p:sp>
        <p:nvSpPr>
          <p:cNvPr id="11" name="object 11"/>
          <p:cNvSpPr/>
          <p:nvPr/>
        </p:nvSpPr>
        <p:spPr>
          <a:xfrm>
            <a:off x="869707" y="3342513"/>
            <a:ext cx="825341" cy="0"/>
          </a:xfrm>
          <a:custGeom>
            <a:avLst/>
            <a:gdLst/>
            <a:ahLst/>
            <a:cxnLst/>
            <a:rect l="l" t="t" r="r" b="b"/>
            <a:pathLst>
              <a:path w="1100455">
                <a:moveTo>
                  <a:pt x="0" y="0"/>
                </a:moveTo>
                <a:lnTo>
                  <a:pt x="1100206" y="0"/>
                </a:lnTo>
              </a:path>
            </a:pathLst>
          </a:custGeom>
          <a:ln w="16865">
            <a:solidFill>
              <a:srgbClr val="000000"/>
            </a:solidFill>
            <a:prstDash val="dash"/>
          </a:ln>
        </p:spPr>
        <p:txBody>
          <a:bodyPr wrap="square" lIns="0" tIns="0" rIns="0" bIns="0" rtlCol="0"/>
          <a:lstStyle/>
          <a:p>
            <a:endParaRPr sz="1800"/>
          </a:p>
        </p:txBody>
      </p:sp>
      <p:sp>
        <p:nvSpPr>
          <p:cNvPr id="12" name="object 12"/>
          <p:cNvSpPr txBox="1"/>
          <p:nvPr/>
        </p:nvSpPr>
        <p:spPr>
          <a:xfrm>
            <a:off x="1501928" y="2677286"/>
            <a:ext cx="294323" cy="741870"/>
          </a:xfrm>
          <a:prstGeom prst="rect">
            <a:avLst/>
          </a:prstGeom>
        </p:spPr>
        <p:txBody>
          <a:bodyPr vert="horz" wrap="square" lIns="0" tIns="9525" rIns="0" bIns="0" rtlCol="0">
            <a:spAutoFit/>
          </a:bodyPr>
          <a:lstStyle/>
          <a:p>
            <a:pPr marL="9525">
              <a:lnSpc>
                <a:spcPts val="1433"/>
              </a:lnSpc>
              <a:spcBef>
                <a:spcPts val="75"/>
              </a:spcBef>
            </a:pPr>
            <a:r>
              <a:rPr sz="1200" dirty="0">
                <a:latin typeface="Courier New"/>
                <a:cs typeface="Courier New"/>
              </a:rPr>
              <a:t>5 </a:t>
            </a:r>
            <a:r>
              <a:rPr sz="1200" spc="-38" dirty="0">
                <a:latin typeface="Courier New"/>
                <a:cs typeface="Courier New"/>
              </a:rPr>
              <a:t>|</a:t>
            </a:r>
            <a:endParaRPr sz="1200">
              <a:latin typeface="Courier New"/>
              <a:cs typeface="Courier New"/>
            </a:endParaRPr>
          </a:p>
          <a:p>
            <a:pPr marL="9525">
              <a:lnSpc>
                <a:spcPts val="1433"/>
              </a:lnSpc>
            </a:pPr>
            <a:r>
              <a:rPr sz="1200" dirty="0">
                <a:latin typeface="Courier New"/>
                <a:cs typeface="Courier New"/>
              </a:rPr>
              <a:t>4 </a:t>
            </a:r>
            <a:r>
              <a:rPr sz="1200" spc="-38" dirty="0">
                <a:latin typeface="Courier New"/>
                <a:cs typeface="Courier New"/>
              </a:rPr>
              <a:t>|</a:t>
            </a:r>
            <a:endParaRPr sz="1200">
              <a:latin typeface="Courier New"/>
              <a:cs typeface="Courier New"/>
            </a:endParaRPr>
          </a:p>
          <a:p>
            <a:pPr marL="9525">
              <a:lnSpc>
                <a:spcPts val="1433"/>
              </a:lnSpc>
              <a:spcBef>
                <a:spcPts val="53"/>
              </a:spcBef>
            </a:pPr>
            <a:r>
              <a:rPr sz="1200" dirty="0">
                <a:latin typeface="Courier New"/>
                <a:cs typeface="Courier New"/>
              </a:rPr>
              <a:t>1 </a:t>
            </a:r>
            <a:r>
              <a:rPr sz="1200" spc="-38" dirty="0">
                <a:latin typeface="Courier New"/>
                <a:cs typeface="Courier New"/>
              </a:rPr>
              <a:t>|</a:t>
            </a:r>
            <a:endParaRPr sz="1200">
              <a:latin typeface="Courier New"/>
              <a:cs typeface="Courier New"/>
            </a:endParaRPr>
          </a:p>
          <a:p>
            <a:pPr marL="192405">
              <a:lnSpc>
                <a:spcPts val="1433"/>
              </a:lnSpc>
            </a:pPr>
            <a:r>
              <a:rPr sz="1200" spc="-38" dirty="0">
                <a:latin typeface="Courier New"/>
                <a:cs typeface="Courier New"/>
              </a:rPr>
              <a:t>+</a:t>
            </a:r>
            <a:endParaRPr sz="1200">
              <a:latin typeface="Courier New"/>
              <a:cs typeface="Courier New"/>
            </a:endParaRPr>
          </a:p>
        </p:txBody>
      </p:sp>
      <p:sp>
        <p:nvSpPr>
          <p:cNvPr id="13" name="object 13"/>
          <p:cNvSpPr/>
          <p:nvPr/>
        </p:nvSpPr>
        <p:spPr>
          <a:xfrm>
            <a:off x="1786488" y="3342513"/>
            <a:ext cx="1192054" cy="0"/>
          </a:xfrm>
          <a:custGeom>
            <a:avLst/>
            <a:gdLst/>
            <a:ahLst/>
            <a:cxnLst/>
            <a:rect l="l" t="t" r="r" b="b"/>
            <a:pathLst>
              <a:path w="1589404">
                <a:moveTo>
                  <a:pt x="0" y="0"/>
                </a:moveTo>
                <a:lnTo>
                  <a:pt x="1589186" y="0"/>
                </a:lnTo>
              </a:path>
            </a:pathLst>
          </a:custGeom>
          <a:ln w="16865">
            <a:solidFill>
              <a:srgbClr val="000000"/>
            </a:solidFill>
            <a:prstDash val="dash"/>
          </a:ln>
        </p:spPr>
        <p:txBody>
          <a:bodyPr wrap="square" lIns="0" tIns="0" rIns="0" bIns="0" rtlCol="0"/>
          <a:lstStyle/>
          <a:p>
            <a:endParaRPr sz="1800"/>
          </a:p>
        </p:txBody>
      </p:sp>
      <p:sp>
        <p:nvSpPr>
          <p:cNvPr id="14" name="object 14"/>
          <p:cNvSpPr txBox="1"/>
          <p:nvPr/>
        </p:nvSpPr>
        <p:spPr>
          <a:xfrm>
            <a:off x="2327032" y="2677286"/>
            <a:ext cx="752951" cy="741870"/>
          </a:xfrm>
          <a:prstGeom prst="rect">
            <a:avLst/>
          </a:prstGeom>
        </p:spPr>
        <p:txBody>
          <a:bodyPr vert="horz" wrap="square" lIns="0" tIns="9525" rIns="0" bIns="0" rtlCol="0">
            <a:spAutoFit/>
          </a:bodyPr>
          <a:lstStyle/>
          <a:p>
            <a:pPr marR="3810" algn="r">
              <a:lnSpc>
                <a:spcPts val="1433"/>
              </a:lnSpc>
              <a:spcBef>
                <a:spcPts val="75"/>
              </a:spcBef>
            </a:pPr>
            <a:r>
              <a:rPr sz="1200" dirty="0">
                <a:latin typeface="Courier New"/>
                <a:cs typeface="Courier New"/>
              </a:rPr>
              <a:t>133000</a:t>
            </a:r>
            <a:r>
              <a:rPr sz="1200" spc="-19" dirty="0">
                <a:latin typeface="Courier New"/>
                <a:cs typeface="Courier New"/>
              </a:rPr>
              <a:t> </a:t>
            </a:r>
            <a:r>
              <a:rPr sz="1200" spc="-38" dirty="0">
                <a:latin typeface="Courier New"/>
                <a:cs typeface="Courier New"/>
              </a:rPr>
              <a:t>|</a:t>
            </a:r>
            <a:endParaRPr sz="1200">
              <a:latin typeface="Courier New"/>
              <a:cs typeface="Courier New"/>
            </a:endParaRPr>
          </a:p>
          <a:p>
            <a:pPr marR="3810" algn="r">
              <a:lnSpc>
                <a:spcPts val="1433"/>
              </a:lnSpc>
            </a:pPr>
            <a:r>
              <a:rPr sz="1200" dirty="0">
                <a:latin typeface="Courier New"/>
                <a:cs typeface="Courier New"/>
              </a:rPr>
              <a:t>93000</a:t>
            </a:r>
            <a:r>
              <a:rPr sz="1200" spc="-15" dirty="0">
                <a:latin typeface="Courier New"/>
                <a:cs typeface="Courier New"/>
              </a:rPr>
              <a:t> </a:t>
            </a:r>
            <a:r>
              <a:rPr sz="1200" spc="-38" dirty="0">
                <a:latin typeface="Courier New"/>
                <a:cs typeface="Courier New"/>
              </a:rPr>
              <a:t>|</a:t>
            </a:r>
            <a:endParaRPr sz="1200">
              <a:latin typeface="Courier New"/>
              <a:cs typeface="Courier New"/>
            </a:endParaRPr>
          </a:p>
          <a:p>
            <a:pPr marR="3810" algn="r">
              <a:lnSpc>
                <a:spcPts val="1433"/>
              </a:lnSpc>
              <a:spcBef>
                <a:spcPts val="53"/>
              </a:spcBef>
            </a:pPr>
            <a:r>
              <a:rPr sz="1200" dirty="0">
                <a:latin typeface="Courier New"/>
                <a:cs typeface="Courier New"/>
              </a:rPr>
              <a:t>55000</a:t>
            </a:r>
            <a:r>
              <a:rPr sz="1200" spc="-15" dirty="0">
                <a:latin typeface="Courier New"/>
                <a:cs typeface="Courier New"/>
              </a:rPr>
              <a:t> </a:t>
            </a:r>
            <a:r>
              <a:rPr sz="1200" spc="-38" dirty="0">
                <a:latin typeface="Courier New"/>
                <a:cs typeface="Courier New"/>
              </a:rPr>
              <a:t>|</a:t>
            </a:r>
            <a:endParaRPr sz="1200">
              <a:latin typeface="Courier New"/>
              <a:cs typeface="Courier New"/>
            </a:endParaRPr>
          </a:p>
          <a:p>
            <a:pPr marR="3810" algn="r">
              <a:lnSpc>
                <a:spcPts val="1433"/>
              </a:lnSpc>
            </a:pPr>
            <a:r>
              <a:rPr sz="1200" spc="-38" dirty="0">
                <a:latin typeface="Courier New"/>
                <a:cs typeface="Courier New"/>
              </a:rPr>
              <a:t>+</a:t>
            </a:r>
            <a:endParaRPr sz="1200">
              <a:latin typeface="Courier New"/>
              <a:cs typeface="Courier New"/>
            </a:endParaRPr>
          </a:p>
        </p:txBody>
      </p:sp>
      <p:sp>
        <p:nvSpPr>
          <p:cNvPr id="15" name="object 15"/>
          <p:cNvSpPr/>
          <p:nvPr/>
        </p:nvSpPr>
        <p:spPr>
          <a:xfrm>
            <a:off x="869707" y="4620387"/>
            <a:ext cx="825341" cy="0"/>
          </a:xfrm>
          <a:custGeom>
            <a:avLst/>
            <a:gdLst/>
            <a:ahLst/>
            <a:cxnLst/>
            <a:rect l="l" t="t" r="r" b="b"/>
            <a:pathLst>
              <a:path w="1100455">
                <a:moveTo>
                  <a:pt x="0" y="0"/>
                </a:moveTo>
                <a:lnTo>
                  <a:pt x="1100206" y="0"/>
                </a:lnTo>
              </a:path>
            </a:pathLst>
          </a:custGeom>
          <a:ln w="16865">
            <a:solidFill>
              <a:srgbClr val="000000"/>
            </a:solidFill>
            <a:prstDash val="dash"/>
          </a:ln>
        </p:spPr>
        <p:txBody>
          <a:bodyPr wrap="square" lIns="0" tIns="0" rIns="0" bIns="0" rtlCol="0"/>
          <a:lstStyle/>
          <a:p>
            <a:endParaRPr sz="1800"/>
          </a:p>
        </p:txBody>
      </p:sp>
      <p:sp>
        <p:nvSpPr>
          <p:cNvPr id="16" name="object 16"/>
          <p:cNvSpPr/>
          <p:nvPr/>
        </p:nvSpPr>
        <p:spPr>
          <a:xfrm>
            <a:off x="1786488" y="4620387"/>
            <a:ext cx="1192054" cy="0"/>
          </a:xfrm>
          <a:custGeom>
            <a:avLst/>
            <a:gdLst/>
            <a:ahLst/>
            <a:cxnLst/>
            <a:rect l="l" t="t" r="r" b="b"/>
            <a:pathLst>
              <a:path w="1589404">
                <a:moveTo>
                  <a:pt x="0" y="0"/>
                </a:moveTo>
                <a:lnTo>
                  <a:pt x="1589186" y="0"/>
                </a:lnTo>
              </a:path>
            </a:pathLst>
          </a:custGeom>
          <a:ln w="16865">
            <a:solidFill>
              <a:srgbClr val="000000"/>
            </a:solidFill>
            <a:prstDash val="dash"/>
          </a:ln>
        </p:spPr>
        <p:txBody>
          <a:bodyPr wrap="square" lIns="0" tIns="0" rIns="0" bIns="0" rtlCol="0"/>
          <a:lstStyle/>
          <a:p>
            <a:endParaRPr sz="1800"/>
          </a:p>
        </p:txBody>
      </p:sp>
      <p:sp>
        <p:nvSpPr>
          <p:cNvPr id="17" name="object 17"/>
          <p:cNvSpPr/>
          <p:nvPr/>
        </p:nvSpPr>
        <p:spPr>
          <a:xfrm>
            <a:off x="869707" y="4990718"/>
            <a:ext cx="825341" cy="0"/>
          </a:xfrm>
          <a:custGeom>
            <a:avLst/>
            <a:gdLst/>
            <a:ahLst/>
            <a:cxnLst/>
            <a:rect l="l" t="t" r="r" b="b"/>
            <a:pathLst>
              <a:path w="1100455">
                <a:moveTo>
                  <a:pt x="0" y="0"/>
                </a:moveTo>
                <a:lnTo>
                  <a:pt x="1100206" y="0"/>
                </a:lnTo>
              </a:path>
            </a:pathLst>
          </a:custGeom>
          <a:ln w="16865">
            <a:solidFill>
              <a:srgbClr val="000000"/>
            </a:solidFill>
            <a:prstDash val="dash"/>
          </a:ln>
        </p:spPr>
        <p:txBody>
          <a:bodyPr wrap="square" lIns="0" tIns="0" rIns="0" bIns="0" rtlCol="0"/>
          <a:lstStyle/>
          <a:p>
            <a:endParaRPr sz="1800"/>
          </a:p>
        </p:txBody>
      </p:sp>
      <p:sp>
        <p:nvSpPr>
          <p:cNvPr id="18" name="object 18"/>
          <p:cNvSpPr/>
          <p:nvPr/>
        </p:nvSpPr>
        <p:spPr>
          <a:xfrm>
            <a:off x="1786488" y="4990718"/>
            <a:ext cx="1192054" cy="0"/>
          </a:xfrm>
          <a:custGeom>
            <a:avLst/>
            <a:gdLst/>
            <a:ahLst/>
            <a:cxnLst/>
            <a:rect l="l" t="t" r="r" b="b"/>
            <a:pathLst>
              <a:path w="1589404">
                <a:moveTo>
                  <a:pt x="0" y="0"/>
                </a:moveTo>
                <a:lnTo>
                  <a:pt x="1589186" y="0"/>
                </a:lnTo>
              </a:path>
            </a:pathLst>
          </a:custGeom>
          <a:ln w="16865">
            <a:solidFill>
              <a:srgbClr val="000000"/>
            </a:solidFill>
            <a:prstDash val="dash"/>
          </a:ln>
        </p:spPr>
        <p:txBody>
          <a:bodyPr wrap="square" lIns="0" tIns="0" rIns="0" bIns="0" rtlCol="0"/>
          <a:lstStyle/>
          <a:p>
            <a:endParaRPr sz="1800"/>
          </a:p>
        </p:txBody>
      </p:sp>
      <p:sp>
        <p:nvSpPr>
          <p:cNvPr id="19" name="object 19"/>
          <p:cNvSpPr txBox="1"/>
          <p:nvPr/>
        </p:nvSpPr>
        <p:spPr>
          <a:xfrm>
            <a:off x="768503" y="3411093"/>
            <a:ext cx="6436995" cy="1694695"/>
          </a:xfrm>
          <a:prstGeom prst="rect">
            <a:avLst/>
          </a:prstGeom>
        </p:spPr>
        <p:txBody>
          <a:bodyPr vert="horz" wrap="square" lIns="0" tIns="9525" rIns="0" bIns="0" rtlCol="0">
            <a:spAutoFit/>
          </a:bodyPr>
          <a:lstStyle/>
          <a:p>
            <a:pPr marL="9525">
              <a:spcBef>
                <a:spcPts val="75"/>
              </a:spcBef>
            </a:pPr>
            <a:r>
              <a:rPr sz="1200" dirty="0">
                <a:latin typeface="Courier New"/>
                <a:cs typeface="Courier New"/>
              </a:rPr>
              <a:t>3</a:t>
            </a:r>
            <a:r>
              <a:rPr sz="1200" spc="-8" dirty="0">
                <a:latin typeface="Courier New"/>
                <a:cs typeface="Courier New"/>
              </a:rPr>
              <a:t> </a:t>
            </a:r>
            <a:r>
              <a:rPr sz="1200" dirty="0">
                <a:latin typeface="Courier New"/>
                <a:cs typeface="Courier New"/>
              </a:rPr>
              <a:t>rows</a:t>
            </a:r>
            <a:r>
              <a:rPr sz="1200" spc="-8" dirty="0">
                <a:latin typeface="Courier New"/>
                <a:cs typeface="Courier New"/>
              </a:rPr>
              <a:t> </a:t>
            </a:r>
            <a:r>
              <a:rPr sz="1200" dirty="0">
                <a:latin typeface="Courier New"/>
                <a:cs typeface="Courier New"/>
              </a:rPr>
              <a:t>in</a:t>
            </a:r>
            <a:r>
              <a:rPr sz="1200" spc="-8" dirty="0">
                <a:latin typeface="Courier New"/>
                <a:cs typeface="Courier New"/>
              </a:rPr>
              <a:t> </a:t>
            </a:r>
            <a:r>
              <a:rPr sz="1200" dirty="0">
                <a:latin typeface="Courier New"/>
                <a:cs typeface="Courier New"/>
              </a:rPr>
              <a:t>set</a:t>
            </a:r>
            <a:r>
              <a:rPr sz="1200" spc="-8" dirty="0">
                <a:latin typeface="Courier New"/>
                <a:cs typeface="Courier New"/>
              </a:rPr>
              <a:t> </a:t>
            </a:r>
            <a:r>
              <a:rPr sz="1200" dirty="0">
                <a:latin typeface="Courier New"/>
                <a:cs typeface="Courier New"/>
              </a:rPr>
              <a:t>(0.00</a:t>
            </a:r>
            <a:r>
              <a:rPr sz="1200" spc="-8" dirty="0">
                <a:latin typeface="Courier New"/>
                <a:cs typeface="Courier New"/>
              </a:rPr>
              <a:t> </a:t>
            </a:r>
            <a:r>
              <a:rPr sz="1200" spc="-15" dirty="0">
                <a:latin typeface="Courier New"/>
                <a:cs typeface="Courier New"/>
              </a:rPr>
              <a:t>sec)</a:t>
            </a:r>
            <a:endParaRPr sz="1200">
              <a:latin typeface="Courier New"/>
              <a:cs typeface="Courier New"/>
            </a:endParaRPr>
          </a:p>
          <a:p>
            <a:pPr>
              <a:spcBef>
                <a:spcPts val="41"/>
              </a:spcBef>
            </a:pPr>
            <a:endParaRPr sz="1200">
              <a:latin typeface="Courier New"/>
              <a:cs typeface="Courier New"/>
            </a:endParaRPr>
          </a:p>
          <a:p>
            <a:pPr marL="9525">
              <a:spcBef>
                <a:spcPts val="4"/>
              </a:spcBef>
            </a:pPr>
            <a:r>
              <a:rPr sz="1200" dirty="0">
                <a:latin typeface="Courier New"/>
                <a:cs typeface="Courier New"/>
              </a:rPr>
              <a:t>mysql&gt;</a:t>
            </a:r>
            <a:r>
              <a:rPr sz="1200" spc="-19" dirty="0">
                <a:latin typeface="Courier New"/>
                <a:cs typeface="Courier New"/>
              </a:rPr>
              <a:t> </a:t>
            </a:r>
            <a:r>
              <a:rPr sz="1200" dirty="0">
                <a:latin typeface="Courier New"/>
                <a:cs typeface="Courier New"/>
              </a:rPr>
              <a:t>insert</a:t>
            </a:r>
            <a:r>
              <a:rPr sz="1200" spc="-19" dirty="0">
                <a:latin typeface="Courier New"/>
                <a:cs typeface="Courier New"/>
              </a:rPr>
              <a:t> </a:t>
            </a:r>
            <a:r>
              <a:rPr sz="1200" dirty="0">
                <a:latin typeface="Courier New"/>
                <a:cs typeface="Courier New"/>
              </a:rPr>
              <a:t>into</a:t>
            </a:r>
            <a:r>
              <a:rPr sz="1200" spc="-19" dirty="0">
                <a:latin typeface="Courier New"/>
                <a:cs typeface="Courier New"/>
              </a:rPr>
              <a:t> </a:t>
            </a:r>
            <a:r>
              <a:rPr sz="1200" dirty="0">
                <a:latin typeface="Courier New"/>
                <a:cs typeface="Courier New"/>
              </a:rPr>
              <a:t>employee</a:t>
            </a:r>
            <a:r>
              <a:rPr sz="1200" spc="-19" dirty="0">
                <a:latin typeface="Courier New"/>
                <a:cs typeface="Courier New"/>
              </a:rPr>
              <a:t> </a:t>
            </a:r>
            <a:r>
              <a:rPr sz="1200" dirty="0">
                <a:latin typeface="Courier New"/>
                <a:cs typeface="Courier New"/>
              </a:rPr>
              <a:t>values</a:t>
            </a:r>
            <a:r>
              <a:rPr sz="1200" spc="-19" dirty="0">
                <a:latin typeface="Courier New"/>
                <a:cs typeface="Courier New"/>
              </a:rPr>
              <a:t> </a:t>
            </a:r>
            <a:r>
              <a:rPr sz="1200" spc="-8" dirty="0">
                <a:latin typeface="Courier New"/>
                <a:cs typeface="Courier New"/>
              </a:rPr>
              <a:t>('JAY','K','LEE','222334444',NOW(),</a:t>
            </a:r>
            <a:endParaRPr sz="1200">
              <a:latin typeface="Courier New"/>
              <a:cs typeface="Courier New"/>
            </a:endParaRPr>
          </a:p>
          <a:p>
            <a:pPr marL="376238">
              <a:spcBef>
                <a:spcPts val="53"/>
              </a:spcBef>
            </a:pPr>
            <a:r>
              <a:rPr sz="1200" spc="-8" dirty="0">
                <a:latin typeface="Courier New"/>
                <a:cs typeface="Courier New"/>
              </a:rPr>
              <a:t>-</a:t>
            </a:r>
            <a:r>
              <a:rPr sz="1200" dirty="0">
                <a:latin typeface="Courier New"/>
                <a:cs typeface="Courier New"/>
              </a:rPr>
              <a:t>&gt;</a:t>
            </a:r>
            <a:r>
              <a:rPr sz="1200" spc="-23" dirty="0">
                <a:latin typeface="Courier New"/>
                <a:cs typeface="Courier New"/>
              </a:rPr>
              <a:t> </a:t>
            </a:r>
            <a:r>
              <a:rPr sz="1200" dirty="0">
                <a:latin typeface="Courier New"/>
                <a:cs typeface="Courier New"/>
              </a:rPr>
              <a:t>'4N</a:t>
            </a:r>
            <a:r>
              <a:rPr sz="1200" spc="-11" dirty="0">
                <a:latin typeface="Courier New"/>
                <a:cs typeface="Courier New"/>
              </a:rPr>
              <a:t> </a:t>
            </a:r>
            <a:r>
              <a:rPr sz="1200" dirty="0">
                <a:latin typeface="Courier New"/>
                <a:cs typeface="Courier New"/>
              </a:rPr>
              <a:t>2ND,</a:t>
            </a:r>
            <a:r>
              <a:rPr sz="1200" spc="-11" dirty="0">
                <a:latin typeface="Courier New"/>
                <a:cs typeface="Courier New"/>
              </a:rPr>
              <a:t> </a:t>
            </a:r>
            <a:r>
              <a:rPr sz="1200" dirty="0">
                <a:latin typeface="Courier New"/>
                <a:cs typeface="Courier New"/>
              </a:rPr>
              <a:t>SAN</a:t>
            </a:r>
            <a:r>
              <a:rPr sz="1200" spc="-11" dirty="0">
                <a:latin typeface="Courier New"/>
                <a:cs typeface="Courier New"/>
              </a:rPr>
              <a:t> </a:t>
            </a:r>
            <a:r>
              <a:rPr sz="1200" dirty="0">
                <a:latin typeface="Courier New"/>
                <a:cs typeface="Courier New"/>
              </a:rPr>
              <a:t>JOSE,</a:t>
            </a:r>
            <a:r>
              <a:rPr sz="1200" spc="-11" dirty="0">
                <a:latin typeface="Courier New"/>
                <a:cs typeface="Courier New"/>
              </a:rPr>
              <a:t> </a:t>
            </a:r>
            <a:r>
              <a:rPr sz="1200" dirty="0">
                <a:latin typeface="Courier New"/>
                <a:cs typeface="Courier New"/>
              </a:rPr>
              <a:t>CA','M',</a:t>
            </a:r>
            <a:r>
              <a:rPr sz="1200" spc="-11" dirty="0">
                <a:latin typeface="Courier New"/>
                <a:cs typeface="Courier New"/>
              </a:rPr>
              <a:t> </a:t>
            </a:r>
            <a:r>
              <a:rPr sz="1200" dirty="0">
                <a:latin typeface="Courier New"/>
                <a:cs typeface="Courier New"/>
              </a:rPr>
              <a:t>50000,</a:t>
            </a:r>
            <a:r>
              <a:rPr sz="1200" spc="-11" dirty="0">
                <a:latin typeface="Courier New"/>
                <a:cs typeface="Courier New"/>
              </a:rPr>
              <a:t> </a:t>
            </a:r>
            <a:r>
              <a:rPr sz="1200" spc="-8" dirty="0">
                <a:latin typeface="Courier New"/>
                <a:cs typeface="Courier New"/>
              </a:rPr>
              <a:t>'123456789',5);</a:t>
            </a:r>
            <a:endParaRPr sz="1200">
              <a:latin typeface="Courier New"/>
              <a:cs typeface="Courier New"/>
            </a:endParaRPr>
          </a:p>
          <a:p>
            <a:pPr>
              <a:spcBef>
                <a:spcPts val="64"/>
              </a:spcBef>
            </a:pPr>
            <a:endParaRPr sz="1200">
              <a:latin typeface="Courier New"/>
              <a:cs typeface="Courier New"/>
            </a:endParaRPr>
          </a:p>
          <a:p>
            <a:pPr marL="9525">
              <a:lnSpc>
                <a:spcPts val="1433"/>
              </a:lnSpc>
            </a:pPr>
            <a:r>
              <a:rPr sz="1200" dirty="0">
                <a:latin typeface="Courier New"/>
                <a:cs typeface="Courier New"/>
              </a:rPr>
              <a:t>mysql&gt;</a:t>
            </a:r>
            <a:r>
              <a:rPr sz="1200" spc="-23" dirty="0">
                <a:latin typeface="Courier New"/>
                <a:cs typeface="Courier New"/>
              </a:rPr>
              <a:t> </a:t>
            </a:r>
            <a:r>
              <a:rPr sz="1200" dirty="0">
                <a:latin typeface="Courier New"/>
                <a:cs typeface="Courier New"/>
              </a:rPr>
              <a:t>select</a:t>
            </a:r>
            <a:r>
              <a:rPr sz="1200" spc="-11" dirty="0">
                <a:latin typeface="Courier New"/>
                <a:cs typeface="Courier New"/>
              </a:rPr>
              <a:t> </a:t>
            </a:r>
            <a:r>
              <a:rPr sz="1200" dirty="0">
                <a:latin typeface="Courier New"/>
                <a:cs typeface="Courier New"/>
              </a:rPr>
              <a:t>*</a:t>
            </a:r>
            <a:r>
              <a:rPr sz="1200" spc="-11" dirty="0">
                <a:latin typeface="Courier New"/>
                <a:cs typeface="Courier New"/>
              </a:rPr>
              <a:t> </a:t>
            </a:r>
            <a:r>
              <a:rPr sz="1200" dirty="0">
                <a:latin typeface="Courier New"/>
                <a:cs typeface="Courier New"/>
              </a:rPr>
              <a:t>from</a:t>
            </a:r>
            <a:r>
              <a:rPr sz="1200" spc="-11" dirty="0">
                <a:latin typeface="Courier New"/>
                <a:cs typeface="Courier New"/>
              </a:rPr>
              <a:t> </a:t>
            </a:r>
            <a:r>
              <a:rPr sz="1200" spc="-8" dirty="0">
                <a:latin typeface="Courier New"/>
                <a:cs typeface="Courier New"/>
              </a:rPr>
              <a:t>deptsal;</a:t>
            </a:r>
            <a:endParaRPr sz="1200">
              <a:latin typeface="Courier New"/>
              <a:cs typeface="Courier New"/>
            </a:endParaRPr>
          </a:p>
          <a:p>
            <a:pPr marL="9525">
              <a:lnSpc>
                <a:spcPts val="1421"/>
              </a:lnSpc>
              <a:tabLst>
                <a:tab pos="925830" algn="l"/>
                <a:tab pos="2209324" algn="l"/>
              </a:tabLst>
            </a:pPr>
            <a:r>
              <a:rPr sz="1200" spc="-38" dirty="0">
                <a:latin typeface="Courier New"/>
                <a:cs typeface="Courier New"/>
              </a:rPr>
              <a:t>+</a:t>
            </a:r>
            <a:r>
              <a:rPr sz="1200" dirty="0">
                <a:latin typeface="Courier New"/>
                <a:cs typeface="Courier New"/>
              </a:rPr>
              <a:t>	</a:t>
            </a:r>
            <a:r>
              <a:rPr sz="1200" spc="-38" dirty="0">
                <a:latin typeface="Courier New"/>
                <a:cs typeface="Courier New"/>
              </a:rPr>
              <a:t>+</a:t>
            </a:r>
            <a:r>
              <a:rPr sz="1200" dirty="0">
                <a:latin typeface="Courier New"/>
                <a:cs typeface="Courier New"/>
              </a:rPr>
              <a:t>	</a:t>
            </a:r>
            <a:r>
              <a:rPr sz="1200" spc="-38" dirty="0">
                <a:latin typeface="Courier New"/>
                <a:cs typeface="Courier New"/>
              </a:rPr>
              <a:t>+</a:t>
            </a:r>
            <a:endParaRPr sz="1200">
              <a:latin typeface="Courier New"/>
              <a:cs typeface="Courier New"/>
            </a:endParaRPr>
          </a:p>
          <a:p>
            <a:pPr marL="9525">
              <a:lnSpc>
                <a:spcPts val="1433"/>
              </a:lnSpc>
            </a:pPr>
            <a:r>
              <a:rPr sz="1200" dirty="0">
                <a:latin typeface="Courier New"/>
                <a:cs typeface="Courier New"/>
              </a:rPr>
              <a:t>|</a:t>
            </a:r>
            <a:r>
              <a:rPr sz="1200" spc="-15" dirty="0">
                <a:latin typeface="Courier New"/>
                <a:cs typeface="Courier New"/>
              </a:rPr>
              <a:t> </a:t>
            </a:r>
            <a:r>
              <a:rPr sz="1200" dirty="0">
                <a:latin typeface="Courier New"/>
                <a:cs typeface="Courier New"/>
              </a:rPr>
              <a:t>dnumber</a:t>
            </a:r>
            <a:r>
              <a:rPr sz="1200" spc="-15" dirty="0">
                <a:latin typeface="Courier New"/>
                <a:cs typeface="Courier New"/>
              </a:rPr>
              <a:t> </a:t>
            </a:r>
            <a:r>
              <a:rPr sz="1200" dirty="0">
                <a:latin typeface="Courier New"/>
                <a:cs typeface="Courier New"/>
              </a:rPr>
              <a:t>|</a:t>
            </a:r>
            <a:r>
              <a:rPr sz="1200" spc="-15" dirty="0">
                <a:latin typeface="Courier New"/>
                <a:cs typeface="Courier New"/>
              </a:rPr>
              <a:t> </a:t>
            </a:r>
            <a:r>
              <a:rPr sz="1200" dirty="0">
                <a:latin typeface="Courier New"/>
                <a:cs typeface="Courier New"/>
              </a:rPr>
              <a:t>totalsalary</a:t>
            </a:r>
            <a:r>
              <a:rPr sz="1200" spc="-15" dirty="0">
                <a:latin typeface="Courier New"/>
                <a:cs typeface="Courier New"/>
              </a:rPr>
              <a:t> </a:t>
            </a:r>
            <a:r>
              <a:rPr sz="1200" spc="-38" dirty="0">
                <a:latin typeface="Courier New"/>
                <a:cs typeface="Courier New"/>
              </a:rPr>
              <a:t>|</a:t>
            </a:r>
            <a:endParaRPr sz="1200">
              <a:latin typeface="Courier New"/>
              <a:cs typeface="Courier New"/>
            </a:endParaRPr>
          </a:p>
          <a:p>
            <a:pPr marL="9525">
              <a:spcBef>
                <a:spcPts val="53"/>
              </a:spcBef>
              <a:tabLst>
                <a:tab pos="925830" algn="l"/>
                <a:tab pos="2209324" algn="l"/>
              </a:tabLst>
            </a:pPr>
            <a:r>
              <a:rPr sz="1200" spc="-38" dirty="0">
                <a:latin typeface="Courier New"/>
                <a:cs typeface="Courier New"/>
              </a:rPr>
              <a:t>+</a:t>
            </a:r>
            <a:r>
              <a:rPr sz="1200" dirty="0">
                <a:latin typeface="Courier New"/>
                <a:cs typeface="Courier New"/>
              </a:rPr>
              <a:t>	</a:t>
            </a:r>
            <a:r>
              <a:rPr sz="1200" spc="-38" dirty="0">
                <a:latin typeface="Courier New"/>
                <a:cs typeface="Courier New"/>
              </a:rPr>
              <a:t>+</a:t>
            </a:r>
            <a:r>
              <a:rPr sz="1200" dirty="0">
                <a:latin typeface="Courier New"/>
                <a:cs typeface="Courier New"/>
              </a:rPr>
              <a:t>	</a:t>
            </a:r>
            <a:r>
              <a:rPr sz="1200" spc="-38" dirty="0">
                <a:latin typeface="Courier New"/>
                <a:cs typeface="Courier New"/>
              </a:rPr>
              <a:t>+</a:t>
            </a:r>
            <a:endParaRPr sz="1200">
              <a:latin typeface="Courier New"/>
              <a:cs typeface="Courier New"/>
            </a:endParaRPr>
          </a:p>
        </p:txBody>
      </p:sp>
      <p:sp>
        <p:nvSpPr>
          <p:cNvPr id="20" name="object 20"/>
          <p:cNvSpPr txBox="1"/>
          <p:nvPr/>
        </p:nvSpPr>
        <p:spPr>
          <a:xfrm>
            <a:off x="768503" y="5057013"/>
            <a:ext cx="110966" cy="554639"/>
          </a:xfrm>
          <a:prstGeom prst="rect">
            <a:avLst/>
          </a:prstGeom>
        </p:spPr>
        <p:txBody>
          <a:bodyPr vert="horz" wrap="square" lIns="0" tIns="9525" rIns="0" bIns="0" rtlCol="0">
            <a:spAutoFit/>
          </a:bodyPr>
          <a:lstStyle/>
          <a:p>
            <a:pPr marL="9525">
              <a:spcBef>
                <a:spcPts val="75"/>
              </a:spcBef>
            </a:pPr>
            <a:r>
              <a:rPr sz="1200" spc="-38" dirty="0">
                <a:latin typeface="Courier New"/>
                <a:cs typeface="Courier New"/>
              </a:rPr>
              <a:t>|</a:t>
            </a:r>
            <a:endParaRPr sz="1200">
              <a:latin typeface="Courier New"/>
              <a:cs typeface="Courier New"/>
            </a:endParaRPr>
          </a:p>
          <a:p>
            <a:pPr marL="9525">
              <a:lnSpc>
                <a:spcPts val="1433"/>
              </a:lnSpc>
            </a:pPr>
            <a:r>
              <a:rPr sz="1200" spc="-38" dirty="0">
                <a:latin typeface="Courier New"/>
                <a:cs typeface="Courier New"/>
              </a:rPr>
              <a:t>|</a:t>
            </a:r>
            <a:endParaRPr sz="1200">
              <a:latin typeface="Courier New"/>
              <a:cs typeface="Courier New"/>
            </a:endParaRPr>
          </a:p>
          <a:p>
            <a:pPr marL="9525">
              <a:lnSpc>
                <a:spcPts val="1433"/>
              </a:lnSpc>
            </a:pPr>
            <a:r>
              <a:rPr sz="1200" spc="-38" dirty="0">
                <a:latin typeface="Courier New"/>
                <a:cs typeface="Courier New"/>
              </a:rPr>
              <a:t>|</a:t>
            </a:r>
            <a:endParaRPr sz="1200">
              <a:latin typeface="Courier New"/>
              <a:cs typeface="Courier New"/>
            </a:endParaRPr>
          </a:p>
        </p:txBody>
      </p:sp>
      <p:sp>
        <p:nvSpPr>
          <p:cNvPr id="21" name="object 21"/>
          <p:cNvSpPr txBox="1"/>
          <p:nvPr/>
        </p:nvSpPr>
        <p:spPr>
          <a:xfrm>
            <a:off x="1501928" y="5057013"/>
            <a:ext cx="294323" cy="554639"/>
          </a:xfrm>
          <a:prstGeom prst="rect">
            <a:avLst/>
          </a:prstGeom>
        </p:spPr>
        <p:txBody>
          <a:bodyPr vert="horz" wrap="square" lIns="0" tIns="9525" rIns="0" bIns="0" rtlCol="0">
            <a:spAutoFit/>
          </a:bodyPr>
          <a:lstStyle/>
          <a:p>
            <a:pPr marL="9525">
              <a:spcBef>
                <a:spcPts val="75"/>
              </a:spcBef>
            </a:pPr>
            <a:r>
              <a:rPr sz="1200" dirty="0">
                <a:latin typeface="Courier New"/>
                <a:cs typeface="Courier New"/>
              </a:rPr>
              <a:t>5 </a:t>
            </a:r>
            <a:r>
              <a:rPr sz="1200" spc="-38" dirty="0">
                <a:latin typeface="Courier New"/>
                <a:cs typeface="Courier New"/>
              </a:rPr>
              <a:t>|</a:t>
            </a:r>
            <a:endParaRPr sz="1200">
              <a:latin typeface="Courier New"/>
              <a:cs typeface="Courier New"/>
            </a:endParaRPr>
          </a:p>
          <a:p>
            <a:pPr marL="9525">
              <a:lnSpc>
                <a:spcPts val="1433"/>
              </a:lnSpc>
            </a:pPr>
            <a:r>
              <a:rPr sz="1200" dirty="0">
                <a:latin typeface="Courier New"/>
                <a:cs typeface="Courier New"/>
              </a:rPr>
              <a:t>4 </a:t>
            </a:r>
            <a:r>
              <a:rPr sz="1200" spc="-38" dirty="0">
                <a:latin typeface="Courier New"/>
                <a:cs typeface="Courier New"/>
              </a:rPr>
              <a:t>|</a:t>
            </a:r>
            <a:endParaRPr sz="1200">
              <a:latin typeface="Courier New"/>
              <a:cs typeface="Courier New"/>
            </a:endParaRPr>
          </a:p>
          <a:p>
            <a:pPr marL="9525">
              <a:lnSpc>
                <a:spcPts val="1433"/>
              </a:lnSpc>
            </a:pPr>
            <a:r>
              <a:rPr sz="1200" dirty="0">
                <a:latin typeface="Courier New"/>
                <a:cs typeface="Courier New"/>
              </a:rPr>
              <a:t>1 </a:t>
            </a:r>
            <a:r>
              <a:rPr sz="1200" spc="-38" dirty="0">
                <a:latin typeface="Courier New"/>
                <a:cs typeface="Courier New"/>
              </a:rPr>
              <a:t>|</a:t>
            </a:r>
            <a:endParaRPr sz="1200">
              <a:latin typeface="Courier New"/>
              <a:cs typeface="Courier New"/>
            </a:endParaRPr>
          </a:p>
        </p:txBody>
      </p:sp>
      <p:sp>
        <p:nvSpPr>
          <p:cNvPr id="22" name="object 22"/>
          <p:cNvSpPr txBox="1"/>
          <p:nvPr/>
        </p:nvSpPr>
        <p:spPr>
          <a:xfrm>
            <a:off x="2327032" y="5057013"/>
            <a:ext cx="752951" cy="554639"/>
          </a:xfrm>
          <a:prstGeom prst="rect">
            <a:avLst/>
          </a:prstGeom>
        </p:spPr>
        <p:txBody>
          <a:bodyPr vert="horz" wrap="square" lIns="0" tIns="9525" rIns="0" bIns="0" rtlCol="0">
            <a:spAutoFit/>
          </a:bodyPr>
          <a:lstStyle/>
          <a:p>
            <a:pPr marR="3810" algn="r">
              <a:spcBef>
                <a:spcPts val="75"/>
              </a:spcBef>
            </a:pPr>
            <a:r>
              <a:rPr sz="1200" dirty="0">
                <a:latin typeface="Courier New"/>
                <a:cs typeface="Courier New"/>
              </a:rPr>
              <a:t>183000</a:t>
            </a:r>
            <a:r>
              <a:rPr sz="1200" spc="-19" dirty="0">
                <a:latin typeface="Courier New"/>
                <a:cs typeface="Courier New"/>
              </a:rPr>
              <a:t> </a:t>
            </a:r>
            <a:r>
              <a:rPr sz="1200" spc="-38" dirty="0">
                <a:latin typeface="Courier New"/>
                <a:cs typeface="Courier New"/>
              </a:rPr>
              <a:t>|</a:t>
            </a:r>
            <a:endParaRPr sz="1200">
              <a:latin typeface="Courier New"/>
              <a:cs typeface="Courier New"/>
            </a:endParaRPr>
          </a:p>
          <a:p>
            <a:pPr marR="3810" algn="r">
              <a:lnSpc>
                <a:spcPts val="1433"/>
              </a:lnSpc>
            </a:pPr>
            <a:r>
              <a:rPr sz="1200" dirty="0">
                <a:latin typeface="Courier New"/>
                <a:cs typeface="Courier New"/>
              </a:rPr>
              <a:t>93000</a:t>
            </a:r>
            <a:r>
              <a:rPr sz="1200" spc="-15" dirty="0">
                <a:latin typeface="Courier New"/>
                <a:cs typeface="Courier New"/>
              </a:rPr>
              <a:t> </a:t>
            </a:r>
            <a:r>
              <a:rPr sz="1200" spc="-38" dirty="0">
                <a:latin typeface="Courier New"/>
                <a:cs typeface="Courier New"/>
              </a:rPr>
              <a:t>|</a:t>
            </a:r>
            <a:endParaRPr sz="1200">
              <a:latin typeface="Courier New"/>
              <a:cs typeface="Courier New"/>
            </a:endParaRPr>
          </a:p>
          <a:p>
            <a:pPr marR="3810" algn="r">
              <a:lnSpc>
                <a:spcPts val="1433"/>
              </a:lnSpc>
            </a:pPr>
            <a:r>
              <a:rPr sz="1200" dirty="0">
                <a:latin typeface="Courier New"/>
                <a:cs typeface="Courier New"/>
              </a:rPr>
              <a:t>55000</a:t>
            </a:r>
            <a:r>
              <a:rPr sz="1200" spc="-15" dirty="0">
                <a:latin typeface="Courier New"/>
                <a:cs typeface="Courier New"/>
              </a:rPr>
              <a:t> </a:t>
            </a:r>
            <a:r>
              <a:rPr sz="1200" spc="-38" dirty="0">
                <a:latin typeface="Courier New"/>
                <a:cs typeface="Courier New"/>
              </a:rPr>
              <a:t>|</a:t>
            </a:r>
            <a:endParaRPr sz="1200">
              <a:latin typeface="Courier New"/>
              <a:cs typeface="Courier New"/>
            </a:endParaRPr>
          </a:p>
        </p:txBody>
      </p:sp>
      <p:sp>
        <p:nvSpPr>
          <p:cNvPr id="23" name="object 23"/>
          <p:cNvSpPr txBox="1"/>
          <p:nvPr/>
        </p:nvSpPr>
        <p:spPr>
          <a:xfrm>
            <a:off x="768503" y="5601081"/>
            <a:ext cx="2311241" cy="194284"/>
          </a:xfrm>
          <a:prstGeom prst="rect">
            <a:avLst/>
          </a:prstGeom>
        </p:spPr>
        <p:txBody>
          <a:bodyPr vert="horz" wrap="square" lIns="0" tIns="9525" rIns="0" bIns="0" rtlCol="0">
            <a:spAutoFit/>
          </a:bodyPr>
          <a:lstStyle/>
          <a:p>
            <a:pPr marL="9525">
              <a:spcBef>
                <a:spcPts val="75"/>
              </a:spcBef>
            </a:pPr>
            <a:r>
              <a:rPr sz="1200" spc="-8" dirty="0">
                <a:latin typeface="Courier New"/>
                <a:cs typeface="Courier New"/>
              </a:rPr>
              <a:t>+---------+-------------</a:t>
            </a:r>
            <a:r>
              <a:rPr sz="1200" spc="-38" dirty="0">
                <a:latin typeface="Courier New"/>
                <a:cs typeface="Courier New"/>
              </a:rPr>
              <a:t>+</a:t>
            </a:r>
            <a:endParaRPr sz="1200">
              <a:latin typeface="Courier New"/>
              <a:cs typeface="Courier New"/>
            </a:endParaRPr>
          </a:p>
        </p:txBody>
      </p:sp>
      <p:sp>
        <p:nvSpPr>
          <p:cNvPr id="24" name="object 24"/>
          <p:cNvSpPr txBox="1"/>
          <p:nvPr/>
        </p:nvSpPr>
        <p:spPr>
          <a:xfrm>
            <a:off x="4301074" y="5034489"/>
            <a:ext cx="2750820" cy="232274"/>
          </a:xfrm>
          <a:prstGeom prst="rect">
            <a:avLst/>
          </a:prstGeom>
          <a:ln w="9525">
            <a:solidFill>
              <a:srgbClr val="4472C4"/>
            </a:solidFill>
          </a:ln>
        </p:spPr>
        <p:txBody>
          <a:bodyPr vert="horz" wrap="square" lIns="0" tIns="24288" rIns="0" bIns="0" rtlCol="0">
            <a:spAutoFit/>
          </a:bodyPr>
          <a:lstStyle/>
          <a:p>
            <a:pPr marL="68104">
              <a:spcBef>
                <a:spcPts val="191"/>
              </a:spcBef>
            </a:pPr>
            <a:r>
              <a:rPr sz="1350" spc="-15" dirty="0">
                <a:latin typeface="Calibri"/>
                <a:cs typeface="Calibri"/>
              </a:rPr>
              <a:t>Totalsalary</a:t>
            </a:r>
            <a:r>
              <a:rPr sz="1350" spc="-19" dirty="0">
                <a:latin typeface="Calibri"/>
                <a:cs typeface="Calibri"/>
              </a:rPr>
              <a:t> </a:t>
            </a:r>
            <a:r>
              <a:rPr sz="1350" dirty="0">
                <a:latin typeface="Calibri"/>
                <a:cs typeface="Calibri"/>
              </a:rPr>
              <a:t>of</a:t>
            </a:r>
            <a:r>
              <a:rPr sz="1350" spc="-15" dirty="0">
                <a:latin typeface="Calibri"/>
                <a:cs typeface="Calibri"/>
              </a:rPr>
              <a:t> </a:t>
            </a:r>
            <a:r>
              <a:rPr sz="1350" dirty="0">
                <a:latin typeface="Calibri"/>
                <a:cs typeface="Calibri"/>
              </a:rPr>
              <a:t>5</a:t>
            </a:r>
            <a:r>
              <a:rPr sz="1350" spc="-19" dirty="0">
                <a:latin typeface="Calibri"/>
                <a:cs typeface="Calibri"/>
              </a:rPr>
              <a:t> </a:t>
            </a:r>
            <a:r>
              <a:rPr sz="1350" dirty="0">
                <a:latin typeface="Calibri"/>
                <a:cs typeface="Calibri"/>
              </a:rPr>
              <a:t>is</a:t>
            </a:r>
            <a:r>
              <a:rPr sz="1350" spc="-15" dirty="0">
                <a:latin typeface="Calibri"/>
                <a:cs typeface="Calibri"/>
              </a:rPr>
              <a:t> </a:t>
            </a:r>
            <a:r>
              <a:rPr sz="1350" dirty="0">
                <a:latin typeface="Calibri"/>
                <a:cs typeface="Calibri"/>
              </a:rPr>
              <a:t>increased</a:t>
            </a:r>
            <a:r>
              <a:rPr sz="1350" spc="-15" dirty="0">
                <a:latin typeface="Calibri"/>
                <a:cs typeface="Calibri"/>
              </a:rPr>
              <a:t> </a:t>
            </a:r>
            <a:r>
              <a:rPr sz="1350" dirty="0">
                <a:latin typeface="Calibri"/>
                <a:cs typeface="Calibri"/>
              </a:rPr>
              <a:t>by</a:t>
            </a:r>
            <a:r>
              <a:rPr sz="1350" spc="-19" dirty="0">
                <a:latin typeface="Calibri"/>
                <a:cs typeface="Calibri"/>
              </a:rPr>
              <a:t> </a:t>
            </a:r>
            <a:r>
              <a:rPr sz="1350" spc="-8" dirty="0">
                <a:latin typeface="Calibri"/>
                <a:cs typeface="Calibri"/>
              </a:rPr>
              <a:t>50000</a:t>
            </a:r>
            <a:endParaRPr sz="1350">
              <a:latin typeface="Calibri"/>
              <a:cs typeface="Calibri"/>
            </a:endParaRPr>
          </a:p>
        </p:txBody>
      </p:sp>
      <p:sp>
        <p:nvSpPr>
          <p:cNvPr id="25" name="object 25"/>
          <p:cNvSpPr/>
          <p:nvPr/>
        </p:nvSpPr>
        <p:spPr>
          <a:xfrm>
            <a:off x="3535903" y="5130126"/>
            <a:ext cx="765333" cy="85725"/>
          </a:xfrm>
          <a:custGeom>
            <a:avLst/>
            <a:gdLst/>
            <a:ahLst/>
            <a:cxnLst/>
            <a:rect l="l" t="t" r="r" b="b"/>
            <a:pathLst>
              <a:path w="1020445" h="114300">
                <a:moveTo>
                  <a:pt x="114300" y="0"/>
                </a:moveTo>
                <a:lnTo>
                  <a:pt x="0" y="57150"/>
                </a:lnTo>
                <a:lnTo>
                  <a:pt x="114300" y="114300"/>
                </a:lnTo>
                <a:lnTo>
                  <a:pt x="114300" y="76200"/>
                </a:lnTo>
                <a:lnTo>
                  <a:pt x="95250" y="76200"/>
                </a:lnTo>
                <a:lnTo>
                  <a:pt x="95250" y="38100"/>
                </a:lnTo>
                <a:lnTo>
                  <a:pt x="114300" y="38100"/>
                </a:lnTo>
                <a:lnTo>
                  <a:pt x="114300" y="0"/>
                </a:lnTo>
                <a:close/>
              </a:path>
              <a:path w="1020445" h="114300">
                <a:moveTo>
                  <a:pt x="114300" y="38100"/>
                </a:moveTo>
                <a:lnTo>
                  <a:pt x="95250" y="38100"/>
                </a:lnTo>
                <a:lnTo>
                  <a:pt x="95250" y="76200"/>
                </a:lnTo>
                <a:lnTo>
                  <a:pt x="114300" y="76200"/>
                </a:lnTo>
                <a:lnTo>
                  <a:pt x="114300" y="38100"/>
                </a:lnTo>
                <a:close/>
              </a:path>
              <a:path w="1020445" h="114300">
                <a:moveTo>
                  <a:pt x="1020227" y="38100"/>
                </a:moveTo>
                <a:lnTo>
                  <a:pt x="114300" y="38100"/>
                </a:lnTo>
                <a:lnTo>
                  <a:pt x="114300" y="76200"/>
                </a:lnTo>
                <a:lnTo>
                  <a:pt x="1020227" y="76200"/>
                </a:lnTo>
                <a:lnTo>
                  <a:pt x="1020227" y="38100"/>
                </a:lnTo>
                <a:close/>
              </a:path>
            </a:pathLst>
          </a:custGeom>
          <a:solidFill>
            <a:srgbClr val="FF0000"/>
          </a:solidFill>
        </p:spPr>
        <p:txBody>
          <a:bodyPr wrap="square" lIns="0" tIns="0" rIns="0" bIns="0" rtlCol="0"/>
          <a:lstStyle/>
          <a:p>
            <a:endParaRPr sz="1800"/>
          </a:p>
        </p:txBody>
      </p:sp>
      <p:sp>
        <p:nvSpPr>
          <p:cNvPr id="26" name="object 26"/>
          <p:cNvSpPr txBox="1">
            <a:spLocks noGrp="1"/>
          </p:cNvSpPr>
          <p:nvPr>
            <p:ph type="title"/>
          </p:nvPr>
        </p:nvSpPr>
        <p:spPr>
          <a:xfrm>
            <a:off x="7342724" y="1154615"/>
            <a:ext cx="461010" cy="217367"/>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sz="1350" spc="-8" dirty="0">
                <a:latin typeface="Calibri"/>
                <a:cs typeface="Calibri"/>
              </a:rPr>
              <a:t>Q6.sql</a:t>
            </a:r>
            <a:endParaRPr sz="1350">
              <a:latin typeface="Calibri"/>
              <a:cs typeface="Calibri"/>
            </a:endParaRPr>
          </a:p>
        </p:txBody>
      </p:sp>
    </p:spTree>
    <p:extLst>
      <p:ext uri="{BB962C8B-B14F-4D97-AF65-F5344CB8AC3E}">
        <p14:creationId xmlns:p14="http://schemas.microsoft.com/office/powerpoint/2010/main" val="2816704385"/>
      </p:ext>
    </p:extLst>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51878" y="334473"/>
            <a:ext cx="5847160"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spc="-15" dirty="0"/>
              <a:t>Trigger2</a:t>
            </a:r>
            <a:r>
              <a:rPr spc="-75" dirty="0"/>
              <a:t> </a:t>
            </a:r>
            <a:r>
              <a:rPr dirty="0"/>
              <a:t>–</a:t>
            </a:r>
            <a:r>
              <a:rPr spc="-71" dirty="0"/>
              <a:t> </a:t>
            </a:r>
            <a:r>
              <a:rPr dirty="0"/>
              <a:t>Step</a:t>
            </a:r>
            <a:r>
              <a:rPr spc="-68" dirty="0"/>
              <a:t> </a:t>
            </a:r>
            <a:r>
              <a:rPr spc="-38" dirty="0"/>
              <a:t>1</a:t>
            </a:r>
          </a:p>
        </p:txBody>
      </p:sp>
      <p:sp>
        <p:nvSpPr>
          <p:cNvPr id="3" name="object 3"/>
          <p:cNvSpPr txBox="1"/>
          <p:nvPr/>
        </p:nvSpPr>
        <p:spPr>
          <a:xfrm>
            <a:off x="687705" y="1948053"/>
            <a:ext cx="6735604" cy="1593385"/>
          </a:xfrm>
          <a:prstGeom prst="rect">
            <a:avLst/>
          </a:prstGeom>
        </p:spPr>
        <p:txBody>
          <a:bodyPr vert="horz" wrap="square" lIns="0" tIns="47625" rIns="0" bIns="0" rtlCol="0">
            <a:spAutoFit/>
          </a:bodyPr>
          <a:lstStyle/>
          <a:p>
            <a:pPr marL="180975" marR="3810" indent="-171450">
              <a:lnSpc>
                <a:spcPts val="2250"/>
              </a:lnSpc>
              <a:spcBef>
                <a:spcPts val="375"/>
              </a:spcBef>
              <a:buFont typeface="Arial"/>
              <a:buChar char="•"/>
              <a:tabLst>
                <a:tab pos="180975" algn="l"/>
              </a:tabLst>
            </a:pPr>
            <a:r>
              <a:rPr sz="2100" dirty="0">
                <a:latin typeface="Calibri"/>
                <a:cs typeface="Calibri"/>
              </a:rPr>
              <a:t>A</a:t>
            </a:r>
            <a:r>
              <a:rPr sz="2100" spc="-30" dirty="0">
                <a:latin typeface="Calibri"/>
                <a:cs typeface="Calibri"/>
              </a:rPr>
              <a:t> </a:t>
            </a:r>
            <a:r>
              <a:rPr sz="2100" dirty="0">
                <a:latin typeface="Calibri"/>
                <a:cs typeface="Calibri"/>
              </a:rPr>
              <a:t>trigger</a:t>
            </a:r>
            <a:r>
              <a:rPr sz="2100" spc="-30" dirty="0">
                <a:latin typeface="Calibri"/>
                <a:cs typeface="Calibri"/>
              </a:rPr>
              <a:t> </a:t>
            </a:r>
            <a:r>
              <a:rPr sz="2100" dirty="0">
                <a:latin typeface="Calibri"/>
                <a:cs typeface="Calibri"/>
              </a:rPr>
              <a:t>to</a:t>
            </a:r>
            <a:r>
              <a:rPr sz="2100" spc="-30" dirty="0">
                <a:latin typeface="Calibri"/>
                <a:cs typeface="Calibri"/>
              </a:rPr>
              <a:t> </a:t>
            </a:r>
            <a:r>
              <a:rPr sz="2100" dirty="0">
                <a:latin typeface="Calibri"/>
                <a:cs typeface="Calibri"/>
              </a:rPr>
              <a:t>update</a:t>
            </a:r>
            <a:r>
              <a:rPr sz="2100" spc="-34" dirty="0">
                <a:latin typeface="Calibri"/>
                <a:cs typeface="Calibri"/>
              </a:rPr>
              <a:t> </a:t>
            </a:r>
            <a:r>
              <a:rPr sz="2100" dirty="0">
                <a:latin typeface="Calibri"/>
                <a:cs typeface="Calibri"/>
              </a:rPr>
              <a:t>the</a:t>
            </a:r>
            <a:r>
              <a:rPr sz="2100" spc="-34" dirty="0">
                <a:latin typeface="Calibri"/>
                <a:cs typeface="Calibri"/>
              </a:rPr>
              <a:t> </a:t>
            </a:r>
            <a:r>
              <a:rPr sz="2100" dirty="0">
                <a:latin typeface="Calibri"/>
                <a:cs typeface="Calibri"/>
              </a:rPr>
              <a:t>total</a:t>
            </a:r>
            <a:r>
              <a:rPr sz="2100" spc="-38" dirty="0">
                <a:latin typeface="Calibri"/>
                <a:cs typeface="Calibri"/>
              </a:rPr>
              <a:t> </a:t>
            </a:r>
            <a:r>
              <a:rPr sz="2100" dirty="0">
                <a:latin typeface="Calibri"/>
                <a:cs typeface="Calibri"/>
              </a:rPr>
              <a:t>salary</a:t>
            </a:r>
            <a:r>
              <a:rPr sz="2100" spc="-34" dirty="0">
                <a:latin typeface="Calibri"/>
                <a:cs typeface="Calibri"/>
              </a:rPr>
              <a:t> </a:t>
            </a:r>
            <a:r>
              <a:rPr sz="2100" dirty="0">
                <a:latin typeface="Calibri"/>
                <a:cs typeface="Calibri"/>
              </a:rPr>
              <a:t>of</a:t>
            </a:r>
            <a:r>
              <a:rPr sz="2100" spc="-34" dirty="0">
                <a:latin typeface="Calibri"/>
                <a:cs typeface="Calibri"/>
              </a:rPr>
              <a:t> </a:t>
            </a:r>
            <a:r>
              <a:rPr sz="2100" dirty="0">
                <a:latin typeface="Calibri"/>
                <a:cs typeface="Calibri"/>
              </a:rPr>
              <a:t>a</a:t>
            </a:r>
            <a:r>
              <a:rPr sz="2100" spc="-34" dirty="0">
                <a:latin typeface="Calibri"/>
                <a:cs typeface="Calibri"/>
              </a:rPr>
              <a:t> </a:t>
            </a:r>
            <a:r>
              <a:rPr sz="2100" dirty="0">
                <a:latin typeface="Calibri"/>
                <a:cs typeface="Calibri"/>
              </a:rPr>
              <a:t>department</a:t>
            </a:r>
            <a:r>
              <a:rPr sz="2100" spc="-30" dirty="0">
                <a:latin typeface="Calibri"/>
                <a:cs typeface="Calibri"/>
              </a:rPr>
              <a:t> </a:t>
            </a:r>
            <a:r>
              <a:rPr sz="2100" dirty="0">
                <a:latin typeface="Calibri"/>
                <a:cs typeface="Calibri"/>
              </a:rPr>
              <a:t>when</a:t>
            </a:r>
            <a:r>
              <a:rPr sz="2100" spc="-26" dirty="0">
                <a:latin typeface="Calibri"/>
                <a:cs typeface="Calibri"/>
              </a:rPr>
              <a:t> </a:t>
            </a:r>
            <a:r>
              <a:rPr sz="2100" spc="-19" dirty="0">
                <a:latin typeface="Calibri"/>
                <a:cs typeface="Calibri"/>
              </a:rPr>
              <a:t>an </a:t>
            </a:r>
            <a:r>
              <a:rPr sz="2100" dirty="0">
                <a:latin typeface="Calibri"/>
                <a:cs typeface="Calibri"/>
              </a:rPr>
              <a:t>employee</a:t>
            </a:r>
            <a:r>
              <a:rPr sz="2100" spc="-64" dirty="0">
                <a:latin typeface="Calibri"/>
                <a:cs typeface="Calibri"/>
              </a:rPr>
              <a:t> </a:t>
            </a:r>
            <a:r>
              <a:rPr sz="2100" dirty="0">
                <a:latin typeface="Calibri"/>
                <a:cs typeface="Calibri"/>
              </a:rPr>
              <a:t>tuple</a:t>
            </a:r>
            <a:r>
              <a:rPr sz="2100" spc="-64" dirty="0">
                <a:latin typeface="Calibri"/>
                <a:cs typeface="Calibri"/>
              </a:rPr>
              <a:t> </a:t>
            </a:r>
            <a:r>
              <a:rPr sz="2100" spc="-8" dirty="0">
                <a:latin typeface="Calibri"/>
                <a:cs typeface="Calibri"/>
              </a:rPr>
              <a:t>“dno”</a:t>
            </a:r>
            <a:r>
              <a:rPr sz="2100" spc="-53" dirty="0">
                <a:latin typeface="Calibri"/>
                <a:cs typeface="Calibri"/>
              </a:rPr>
              <a:t> </a:t>
            </a:r>
            <a:r>
              <a:rPr sz="2100" dirty="0">
                <a:latin typeface="Calibri"/>
                <a:cs typeface="Calibri"/>
              </a:rPr>
              <a:t>is</a:t>
            </a:r>
            <a:r>
              <a:rPr sz="2100" spc="-56" dirty="0">
                <a:latin typeface="Calibri"/>
                <a:cs typeface="Calibri"/>
              </a:rPr>
              <a:t> </a:t>
            </a:r>
            <a:r>
              <a:rPr sz="2100" spc="-8" dirty="0">
                <a:latin typeface="Calibri"/>
                <a:cs typeface="Calibri"/>
              </a:rPr>
              <a:t>modified:</a:t>
            </a:r>
            <a:endParaRPr sz="2100" dirty="0">
              <a:latin typeface="Calibri"/>
              <a:cs typeface="Calibri"/>
            </a:endParaRPr>
          </a:p>
          <a:p>
            <a:pPr marL="208121">
              <a:spcBef>
                <a:spcPts val="348"/>
              </a:spcBef>
            </a:pPr>
            <a:r>
              <a:rPr sz="1200" dirty="0">
                <a:latin typeface="Courier New"/>
                <a:cs typeface="Courier New"/>
              </a:rPr>
              <a:t>mysql&gt;</a:t>
            </a:r>
            <a:r>
              <a:rPr sz="1200" spc="-19" dirty="0">
                <a:latin typeface="Courier New"/>
                <a:cs typeface="Courier New"/>
              </a:rPr>
              <a:t> </a:t>
            </a:r>
            <a:r>
              <a:rPr sz="1200" dirty="0">
                <a:latin typeface="Courier New"/>
                <a:cs typeface="Courier New"/>
              </a:rPr>
              <a:t>delimiter</a:t>
            </a:r>
            <a:r>
              <a:rPr sz="1200" spc="-19" dirty="0">
                <a:latin typeface="Courier New"/>
                <a:cs typeface="Courier New"/>
              </a:rPr>
              <a:t> </a:t>
            </a:r>
            <a:r>
              <a:rPr sz="1200" dirty="0">
                <a:latin typeface="Courier New"/>
                <a:cs typeface="Courier New"/>
              </a:rPr>
              <a:t>$$</a:t>
            </a:r>
            <a:r>
              <a:rPr sz="1200" spc="-15" dirty="0">
                <a:latin typeface="Courier New"/>
                <a:cs typeface="Courier New"/>
              </a:rPr>
              <a:t> </a:t>
            </a:r>
            <a:r>
              <a:rPr sz="1200" spc="-38" dirty="0">
                <a:latin typeface="Courier New"/>
                <a:cs typeface="Courier New"/>
              </a:rPr>
              <a:t>;</a:t>
            </a:r>
            <a:endParaRPr sz="1200" dirty="0">
              <a:latin typeface="Courier New"/>
              <a:cs typeface="Courier New"/>
            </a:endParaRPr>
          </a:p>
          <a:p>
            <a:pPr marL="208121">
              <a:lnSpc>
                <a:spcPts val="1433"/>
              </a:lnSpc>
              <a:spcBef>
                <a:spcPts val="71"/>
              </a:spcBef>
            </a:pPr>
            <a:r>
              <a:rPr sz="1200" dirty="0">
                <a:latin typeface="Courier New"/>
                <a:cs typeface="Courier New"/>
              </a:rPr>
              <a:t>mysql&gt;</a:t>
            </a:r>
            <a:r>
              <a:rPr sz="1200" spc="-23" dirty="0">
                <a:latin typeface="Courier New"/>
                <a:cs typeface="Courier New"/>
              </a:rPr>
              <a:t> </a:t>
            </a:r>
            <a:r>
              <a:rPr sz="1200" dirty="0">
                <a:latin typeface="Courier New"/>
                <a:cs typeface="Courier New"/>
              </a:rPr>
              <a:t>create</a:t>
            </a:r>
            <a:r>
              <a:rPr sz="1200" spc="-19" dirty="0">
                <a:latin typeface="Courier New"/>
                <a:cs typeface="Courier New"/>
              </a:rPr>
              <a:t> </a:t>
            </a:r>
            <a:r>
              <a:rPr sz="1200" dirty="0">
                <a:latin typeface="Courier New"/>
                <a:cs typeface="Courier New"/>
              </a:rPr>
              <a:t>trigger</a:t>
            </a:r>
            <a:r>
              <a:rPr sz="1200" spc="-19" dirty="0">
                <a:latin typeface="Courier New"/>
                <a:cs typeface="Courier New"/>
              </a:rPr>
              <a:t> </a:t>
            </a:r>
            <a:r>
              <a:rPr sz="1200" spc="-8" dirty="0">
                <a:latin typeface="Courier New"/>
                <a:cs typeface="Courier New"/>
              </a:rPr>
              <a:t>update_salary2</a:t>
            </a:r>
            <a:endParaRPr sz="1200" dirty="0">
              <a:latin typeface="Courier New"/>
              <a:cs typeface="Courier New"/>
            </a:endParaRPr>
          </a:p>
          <a:p>
            <a:pPr marL="574834">
              <a:lnSpc>
                <a:spcPts val="1421"/>
              </a:lnSpc>
            </a:pPr>
            <a:r>
              <a:rPr sz="1200" spc="-8" dirty="0">
                <a:latin typeface="Courier New"/>
                <a:cs typeface="Courier New"/>
              </a:rPr>
              <a:t>-</a:t>
            </a:r>
            <a:r>
              <a:rPr sz="1200" dirty="0">
                <a:latin typeface="Courier New"/>
                <a:cs typeface="Courier New"/>
              </a:rPr>
              <a:t>&gt;</a:t>
            </a:r>
            <a:r>
              <a:rPr sz="1200" spc="-19" dirty="0">
                <a:latin typeface="Courier New"/>
                <a:cs typeface="Courier New"/>
              </a:rPr>
              <a:t> </a:t>
            </a:r>
            <a:r>
              <a:rPr sz="1200" dirty="0">
                <a:latin typeface="Courier New"/>
                <a:cs typeface="Courier New"/>
              </a:rPr>
              <a:t>after</a:t>
            </a:r>
            <a:r>
              <a:rPr sz="1200" spc="-8" dirty="0">
                <a:latin typeface="Courier New"/>
                <a:cs typeface="Courier New"/>
              </a:rPr>
              <a:t> </a:t>
            </a:r>
            <a:r>
              <a:rPr sz="1200" dirty="0">
                <a:latin typeface="Courier New"/>
                <a:cs typeface="Courier New"/>
              </a:rPr>
              <a:t>update</a:t>
            </a:r>
            <a:r>
              <a:rPr sz="1200" spc="-8" dirty="0">
                <a:latin typeface="Courier New"/>
                <a:cs typeface="Courier New"/>
              </a:rPr>
              <a:t> </a:t>
            </a:r>
            <a:r>
              <a:rPr sz="1200" dirty="0">
                <a:latin typeface="Courier New"/>
                <a:cs typeface="Courier New"/>
              </a:rPr>
              <a:t>on</a:t>
            </a:r>
            <a:r>
              <a:rPr sz="1200" spc="-8" dirty="0">
                <a:latin typeface="Courier New"/>
                <a:cs typeface="Courier New"/>
              </a:rPr>
              <a:t> employee</a:t>
            </a:r>
            <a:endParaRPr sz="1200" dirty="0">
              <a:latin typeface="Courier New"/>
              <a:cs typeface="Courier New"/>
            </a:endParaRPr>
          </a:p>
          <a:p>
            <a:pPr marL="574834">
              <a:lnSpc>
                <a:spcPts val="1421"/>
              </a:lnSpc>
            </a:pPr>
            <a:r>
              <a:rPr sz="1200" spc="-8" dirty="0">
                <a:latin typeface="Courier New"/>
                <a:cs typeface="Courier New"/>
              </a:rPr>
              <a:t>-</a:t>
            </a:r>
            <a:r>
              <a:rPr sz="1200" dirty="0">
                <a:latin typeface="Courier New"/>
                <a:cs typeface="Courier New"/>
              </a:rPr>
              <a:t>&gt;</a:t>
            </a:r>
            <a:r>
              <a:rPr sz="1200" spc="-8" dirty="0">
                <a:latin typeface="Courier New"/>
                <a:cs typeface="Courier New"/>
              </a:rPr>
              <a:t> </a:t>
            </a:r>
            <a:r>
              <a:rPr sz="1200" dirty="0">
                <a:latin typeface="Courier New"/>
                <a:cs typeface="Courier New"/>
              </a:rPr>
              <a:t>for</a:t>
            </a:r>
            <a:r>
              <a:rPr sz="1200" spc="-4" dirty="0">
                <a:latin typeface="Courier New"/>
                <a:cs typeface="Courier New"/>
              </a:rPr>
              <a:t> </a:t>
            </a:r>
            <a:r>
              <a:rPr sz="1200" dirty="0">
                <a:latin typeface="Courier New"/>
                <a:cs typeface="Courier New"/>
              </a:rPr>
              <a:t>each</a:t>
            </a:r>
            <a:r>
              <a:rPr sz="1200" spc="-4" dirty="0">
                <a:latin typeface="Courier New"/>
                <a:cs typeface="Courier New"/>
              </a:rPr>
              <a:t> </a:t>
            </a:r>
            <a:r>
              <a:rPr sz="1200" spc="-19" dirty="0">
                <a:latin typeface="Courier New"/>
                <a:cs typeface="Courier New"/>
              </a:rPr>
              <a:t>row</a:t>
            </a:r>
            <a:endParaRPr sz="1200" dirty="0">
              <a:latin typeface="Courier New"/>
              <a:cs typeface="Courier New"/>
            </a:endParaRPr>
          </a:p>
          <a:p>
            <a:pPr marL="574834">
              <a:lnSpc>
                <a:spcPts val="1433"/>
              </a:lnSpc>
            </a:pPr>
            <a:r>
              <a:rPr sz="1200" spc="-8" dirty="0">
                <a:latin typeface="Courier New"/>
                <a:cs typeface="Courier New"/>
              </a:rPr>
              <a:t>-</a:t>
            </a:r>
            <a:r>
              <a:rPr sz="1200" dirty="0">
                <a:latin typeface="Courier New"/>
                <a:cs typeface="Courier New"/>
              </a:rPr>
              <a:t>&gt;</a:t>
            </a:r>
            <a:r>
              <a:rPr sz="1200" spc="-4" dirty="0">
                <a:latin typeface="Courier New"/>
                <a:cs typeface="Courier New"/>
              </a:rPr>
              <a:t> </a:t>
            </a:r>
            <a:r>
              <a:rPr sz="1200" spc="-8" dirty="0">
                <a:latin typeface="Courier New"/>
                <a:cs typeface="Courier New"/>
              </a:rPr>
              <a:t>begin</a:t>
            </a:r>
            <a:endParaRPr sz="1200" dirty="0">
              <a:latin typeface="Courier New"/>
              <a:cs typeface="Courier New"/>
            </a:endParaRPr>
          </a:p>
        </p:txBody>
      </p:sp>
      <p:sp>
        <p:nvSpPr>
          <p:cNvPr id="4" name="object 4"/>
          <p:cNvSpPr txBox="1"/>
          <p:nvPr/>
        </p:nvSpPr>
        <p:spPr>
          <a:xfrm>
            <a:off x="3190685" y="5673472"/>
            <a:ext cx="2762726" cy="148117"/>
          </a:xfrm>
          <a:prstGeom prst="rect">
            <a:avLst/>
          </a:prstGeom>
        </p:spPr>
        <p:txBody>
          <a:bodyPr vert="horz" wrap="square" lIns="0" tIns="9525" rIns="0" bIns="0" rtlCol="0">
            <a:spAutoFit/>
          </a:bodyPr>
          <a:lstStyle/>
          <a:p>
            <a:pPr marL="9525">
              <a:spcBef>
                <a:spcPts val="75"/>
              </a:spcBef>
            </a:pPr>
            <a:r>
              <a:rPr sz="900" spc="-8" dirty="0">
                <a:solidFill>
                  <a:srgbClr val="898989"/>
                </a:solidFill>
                <a:latin typeface="Calibri"/>
                <a:cs typeface="Calibri"/>
              </a:rPr>
              <a:t>Copyright</a:t>
            </a:r>
            <a:r>
              <a:rPr sz="900" spc="-11" dirty="0">
                <a:solidFill>
                  <a:srgbClr val="898989"/>
                </a:solidFill>
                <a:latin typeface="Calibri"/>
                <a:cs typeface="Calibri"/>
              </a:rPr>
              <a:t> </a:t>
            </a:r>
            <a:r>
              <a:rPr sz="900" dirty="0">
                <a:solidFill>
                  <a:srgbClr val="898989"/>
                </a:solidFill>
                <a:latin typeface="Calibri"/>
                <a:cs typeface="Calibri"/>
              </a:rPr>
              <a:t>©</a:t>
            </a:r>
            <a:r>
              <a:rPr sz="900" spc="-8" dirty="0">
                <a:solidFill>
                  <a:srgbClr val="898989"/>
                </a:solidFill>
                <a:latin typeface="Calibri"/>
                <a:cs typeface="Calibri"/>
              </a:rPr>
              <a:t> </a:t>
            </a:r>
            <a:r>
              <a:rPr sz="900" dirty="0">
                <a:solidFill>
                  <a:srgbClr val="898989"/>
                </a:solidFill>
                <a:latin typeface="Calibri"/>
                <a:cs typeface="Calibri"/>
              </a:rPr>
              <a:t>2016</a:t>
            </a:r>
            <a:r>
              <a:rPr sz="900" spc="-8" dirty="0">
                <a:solidFill>
                  <a:srgbClr val="898989"/>
                </a:solidFill>
                <a:latin typeface="Calibri"/>
                <a:cs typeface="Calibri"/>
              </a:rPr>
              <a:t> </a:t>
            </a:r>
            <a:r>
              <a:rPr sz="900" dirty="0">
                <a:solidFill>
                  <a:srgbClr val="898989"/>
                </a:solidFill>
                <a:latin typeface="Calibri"/>
                <a:cs typeface="Calibri"/>
              </a:rPr>
              <a:t>Ramez</a:t>
            </a:r>
            <a:r>
              <a:rPr sz="900" spc="-4" dirty="0">
                <a:solidFill>
                  <a:srgbClr val="898989"/>
                </a:solidFill>
                <a:latin typeface="Calibri"/>
                <a:cs typeface="Calibri"/>
              </a:rPr>
              <a:t> </a:t>
            </a:r>
            <a:r>
              <a:rPr sz="900" dirty="0">
                <a:solidFill>
                  <a:srgbClr val="898989"/>
                </a:solidFill>
                <a:latin typeface="Calibri"/>
                <a:cs typeface="Calibri"/>
              </a:rPr>
              <a:t>Elmasri</a:t>
            </a:r>
            <a:r>
              <a:rPr sz="900" spc="-11" dirty="0">
                <a:solidFill>
                  <a:srgbClr val="898989"/>
                </a:solidFill>
                <a:latin typeface="Calibri"/>
                <a:cs typeface="Calibri"/>
              </a:rPr>
              <a:t> </a:t>
            </a:r>
            <a:r>
              <a:rPr sz="900" dirty="0">
                <a:solidFill>
                  <a:srgbClr val="898989"/>
                </a:solidFill>
                <a:latin typeface="Calibri"/>
                <a:cs typeface="Calibri"/>
              </a:rPr>
              <a:t>and</a:t>
            </a:r>
            <a:r>
              <a:rPr sz="900" spc="-11" dirty="0">
                <a:solidFill>
                  <a:srgbClr val="898989"/>
                </a:solidFill>
                <a:latin typeface="Calibri"/>
                <a:cs typeface="Calibri"/>
              </a:rPr>
              <a:t> </a:t>
            </a:r>
            <a:r>
              <a:rPr sz="900" spc="-8" dirty="0">
                <a:solidFill>
                  <a:srgbClr val="898989"/>
                </a:solidFill>
                <a:latin typeface="Calibri"/>
                <a:cs typeface="Calibri"/>
              </a:rPr>
              <a:t>Shamkant</a:t>
            </a:r>
            <a:r>
              <a:rPr sz="900" spc="-11" dirty="0">
                <a:solidFill>
                  <a:srgbClr val="898989"/>
                </a:solidFill>
                <a:latin typeface="Calibri"/>
                <a:cs typeface="Calibri"/>
              </a:rPr>
              <a:t> </a:t>
            </a:r>
            <a:r>
              <a:rPr sz="900" dirty="0">
                <a:solidFill>
                  <a:srgbClr val="898989"/>
                </a:solidFill>
                <a:latin typeface="Calibri"/>
                <a:cs typeface="Calibri"/>
              </a:rPr>
              <a:t>B.</a:t>
            </a:r>
            <a:r>
              <a:rPr sz="900" spc="-8" dirty="0">
                <a:solidFill>
                  <a:srgbClr val="898989"/>
                </a:solidFill>
                <a:latin typeface="Calibri"/>
                <a:cs typeface="Calibri"/>
              </a:rPr>
              <a:t> Navathe</a:t>
            </a:r>
            <a:endParaRPr sz="900">
              <a:latin typeface="Calibri"/>
              <a:cs typeface="Calibri"/>
            </a:endParaRPr>
          </a:p>
        </p:txBody>
      </p:sp>
      <p:sp>
        <p:nvSpPr>
          <p:cNvPr id="5" name="object 5"/>
          <p:cNvSpPr txBox="1"/>
          <p:nvPr/>
        </p:nvSpPr>
        <p:spPr>
          <a:xfrm>
            <a:off x="8319612" y="5673472"/>
            <a:ext cx="135731" cy="148117"/>
          </a:xfrm>
          <a:prstGeom prst="rect">
            <a:avLst/>
          </a:prstGeom>
        </p:spPr>
        <p:txBody>
          <a:bodyPr vert="horz" wrap="square" lIns="0" tIns="9525" rIns="0" bIns="0" rtlCol="0">
            <a:spAutoFit/>
          </a:bodyPr>
          <a:lstStyle/>
          <a:p>
            <a:pPr marL="9525">
              <a:spcBef>
                <a:spcPts val="75"/>
              </a:spcBef>
            </a:pPr>
            <a:r>
              <a:rPr sz="900" spc="-19" dirty="0">
                <a:solidFill>
                  <a:srgbClr val="898989"/>
                </a:solidFill>
                <a:latin typeface="Calibri"/>
                <a:cs typeface="Calibri"/>
              </a:rPr>
              <a:t>52</a:t>
            </a:r>
            <a:endParaRPr sz="900">
              <a:latin typeface="Calibri"/>
              <a:cs typeface="Calibri"/>
            </a:endParaRPr>
          </a:p>
        </p:txBody>
      </p:sp>
      <p:sp>
        <p:nvSpPr>
          <p:cNvPr id="6" name="object 6"/>
          <p:cNvSpPr txBox="1"/>
          <p:nvPr/>
        </p:nvSpPr>
        <p:spPr>
          <a:xfrm>
            <a:off x="1721373" y="3536713"/>
            <a:ext cx="4034314" cy="1840247"/>
          </a:xfrm>
          <a:prstGeom prst="rect">
            <a:avLst/>
          </a:prstGeom>
        </p:spPr>
        <p:txBody>
          <a:bodyPr vert="horz" wrap="square" lIns="0" tIns="0" rIns="0" bIns="0" rtlCol="0">
            <a:spAutoFit/>
          </a:bodyPr>
          <a:lstStyle/>
          <a:p>
            <a:pPr>
              <a:lnSpc>
                <a:spcPts val="1354"/>
              </a:lnSpc>
            </a:pPr>
            <a:r>
              <a:rPr sz="1200" dirty="0">
                <a:latin typeface="Courier New"/>
                <a:cs typeface="Courier New"/>
              </a:rPr>
              <a:t>if</a:t>
            </a:r>
            <a:r>
              <a:rPr sz="1200" spc="-11" dirty="0">
                <a:latin typeface="Courier New"/>
                <a:cs typeface="Courier New"/>
              </a:rPr>
              <a:t> </a:t>
            </a:r>
            <a:r>
              <a:rPr sz="1200" dirty="0">
                <a:latin typeface="Courier New"/>
                <a:cs typeface="Courier New"/>
              </a:rPr>
              <a:t>old.dno</a:t>
            </a:r>
            <a:r>
              <a:rPr sz="1200" spc="-11" dirty="0">
                <a:latin typeface="Courier New"/>
                <a:cs typeface="Courier New"/>
              </a:rPr>
              <a:t> </a:t>
            </a:r>
            <a:r>
              <a:rPr sz="1200" dirty="0">
                <a:latin typeface="Courier New"/>
                <a:cs typeface="Courier New"/>
              </a:rPr>
              <a:t>is</a:t>
            </a:r>
            <a:r>
              <a:rPr sz="1200" spc="-8" dirty="0">
                <a:latin typeface="Courier New"/>
                <a:cs typeface="Courier New"/>
              </a:rPr>
              <a:t> </a:t>
            </a:r>
            <a:r>
              <a:rPr sz="1200" dirty="0">
                <a:latin typeface="Courier New"/>
                <a:cs typeface="Courier New"/>
              </a:rPr>
              <a:t>not</a:t>
            </a:r>
            <a:r>
              <a:rPr sz="1200" spc="-11" dirty="0">
                <a:latin typeface="Courier New"/>
                <a:cs typeface="Courier New"/>
              </a:rPr>
              <a:t> </a:t>
            </a:r>
            <a:r>
              <a:rPr sz="1200" dirty="0">
                <a:latin typeface="Courier New"/>
                <a:cs typeface="Courier New"/>
              </a:rPr>
              <a:t>null</a:t>
            </a:r>
            <a:r>
              <a:rPr sz="1200" spc="-8" dirty="0">
                <a:latin typeface="Courier New"/>
                <a:cs typeface="Courier New"/>
              </a:rPr>
              <a:t> </a:t>
            </a:r>
            <a:r>
              <a:rPr sz="1200" spc="-15" dirty="0">
                <a:latin typeface="Courier New"/>
                <a:cs typeface="Courier New"/>
              </a:rPr>
              <a:t>then</a:t>
            </a:r>
            <a:endParaRPr sz="1200">
              <a:latin typeface="Courier New"/>
              <a:cs typeface="Courier New"/>
            </a:endParaRPr>
          </a:p>
          <a:p>
            <a:pPr marL="183356">
              <a:lnSpc>
                <a:spcPts val="1433"/>
              </a:lnSpc>
              <a:spcBef>
                <a:spcPts val="71"/>
              </a:spcBef>
            </a:pPr>
            <a:r>
              <a:rPr sz="1200" dirty="0">
                <a:latin typeface="Courier New"/>
                <a:cs typeface="Courier New"/>
              </a:rPr>
              <a:t>update</a:t>
            </a:r>
            <a:r>
              <a:rPr sz="1200" spc="-19" dirty="0">
                <a:latin typeface="Courier New"/>
                <a:cs typeface="Courier New"/>
              </a:rPr>
              <a:t> </a:t>
            </a:r>
            <a:r>
              <a:rPr sz="1200" spc="-8" dirty="0">
                <a:latin typeface="Courier New"/>
                <a:cs typeface="Courier New"/>
              </a:rPr>
              <a:t>deptsal</a:t>
            </a:r>
            <a:endParaRPr sz="1200">
              <a:latin typeface="Courier New"/>
              <a:cs typeface="Courier New"/>
            </a:endParaRPr>
          </a:p>
          <a:p>
            <a:pPr marL="183356">
              <a:lnSpc>
                <a:spcPts val="1425"/>
              </a:lnSpc>
              <a:spcBef>
                <a:spcPts val="49"/>
              </a:spcBef>
            </a:pPr>
            <a:r>
              <a:rPr sz="1200" dirty="0">
                <a:latin typeface="Courier New"/>
                <a:cs typeface="Courier New"/>
              </a:rPr>
              <a:t>set</a:t>
            </a:r>
            <a:r>
              <a:rPr sz="1200" spc="-19" dirty="0">
                <a:latin typeface="Courier New"/>
                <a:cs typeface="Courier New"/>
              </a:rPr>
              <a:t> </a:t>
            </a:r>
            <a:r>
              <a:rPr sz="1200" dirty="0">
                <a:latin typeface="Courier New"/>
                <a:cs typeface="Courier New"/>
              </a:rPr>
              <a:t>totalsalary</a:t>
            </a:r>
            <a:r>
              <a:rPr sz="1200" spc="-15" dirty="0">
                <a:latin typeface="Courier New"/>
                <a:cs typeface="Courier New"/>
              </a:rPr>
              <a:t> </a:t>
            </a:r>
            <a:r>
              <a:rPr sz="1200" dirty="0">
                <a:latin typeface="Courier New"/>
                <a:cs typeface="Courier New"/>
              </a:rPr>
              <a:t>=</a:t>
            </a:r>
            <a:r>
              <a:rPr sz="1200" spc="-19" dirty="0">
                <a:latin typeface="Courier New"/>
                <a:cs typeface="Courier New"/>
              </a:rPr>
              <a:t> </a:t>
            </a:r>
            <a:r>
              <a:rPr sz="1200" dirty="0">
                <a:latin typeface="Courier New"/>
                <a:cs typeface="Courier New"/>
              </a:rPr>
              <a:t>totalsalary</a:t>
            </a:r>
            <a:r>
              <a:rPr sz="1200" spc="-15" dirty="0">
                <a:latin typeface="Courier New"/>
                <a:cs typeface="Courier New"/>
              </a:rPr>
              <a:t> </a:t>
            </a:r>
            <a:r>
              <a:rPr sz="1200" dirty="0">
                <a:latin typeface="Courier New"/>
                <a:cs typeface="Courier New"/>
              </a:rPr>
              <a:t>-</a:t>
            </a:r>
            <a:r>
              <a:rPr sz="1200" spc="-15" dirty="0">
                <a:latin typeface="Courier New"/>
                <a:cs typeface="Courier New"/>
              </a:rPr>
              <a:t> </a:t>
            </a:r>
            <a:r>
              <a:rPr sz="1200" spc="-8" dirty="0">
                <a:latin typeface="Courier New"/>
                <a:cs typeface="Courier New"/>
              </a:rPr>
              <a:t>old.salary </a:t>
            </a:r>
            <a:r>
              <a:rPr sz="1200" dirty="0">
                <a:latin typeface="Courier New"/>
                <a:cs typeface="Courier New"/>
              </a:rPr>
              <a:t>where</a:t>
            </a:r>
            <a:r>
              <a:rPr sz="1200" spc="-15" dirty="0">
                <a:latin typeface="Courier New"/>
                <a:cs typeface="Courier New"/>
              </a:rPr>
              <a:t> </a:t>
            </a:r>
            <a:r>
              <a:rPr sz="1200" dirty="0">
                <a:latin typeface="Courier New"/>
                <a:cs typeface="Courier New"/>
              </a:rPr>
              <a:t>dnumber</a:t>
            </a:r>
            <a:r>
              <a:rPr sz="1200" spc="-11" dirty="0">
                <a:latin typeface="Courier New"/>
                <a:cs typeface="Courier New"/>
              </a:rPr>
              <a:t> </a:t>
            </a:r>
            <a:r>
              <a:rPr sz="1200" dirty="0">
                <a:latin typeface="Courier New"/>
                <a:cs typeface="Courier New"/>
              </a:rPr>
              <a:t>=</a:t>
            </a:r>
            <a:r>
              <a:rPr sz="1200" spc="-11" dirty="0">
                <a:latin typeface="Courier New"/>
                <a:cs typeface="Courier New"/>
              </a:rPr>
              <a:t> </a:t>
            </a:r>
            <a:r>
              <a:rPr sz="1200" spc="-8" dirty="0">
                <a:latin typeface="Courier New"/>
                <a:cs typeface="Courier New"/>
              </a:rPr>
              <a:t>old.dno;</a:t>
            </a:r>
            <a:endParaRPr sz="1200">
              <a:latin typeface="Courier New"/>
              <a:cs typeface="Courier New"/>
            </a:endParaRPr>
          </a:p>
          <a:p>
            <a:pPr>
              <a:lnSpc>
                <a:spcPts val="1373"/>
              </a:lnSpc>
            </a:pPr>
            <a:r>
              <a:rPr sz="1200" dirty="0">
                <a:latin typeface="Courier New"/>
                <a:cs typeface="Courier New"/>
              </a:rPr>
              <a:t>end</a:t>
            </a:r>
            <a:r>
              <a:rPr sz="1200" spc="-8" dirty="0">
                <a:latin typeface="Courier New"/>
                <a:cs typeface="Courier New"/>
              </a:rPr>
              <a:t> </a:t>
            </a:r>
            <a:r>
              <a:rPr sz="1200" spc="-19" dirty="0">
                <a:latin typeface="Courier New"/>
                <a:cs typeface="Courier New"/>
              </a:rPr>
              <a:t>if;</a:t>
            </a:r>
            <a:endParaRPr sz="1200">
              <a:latin typeface="Courier New"/>
              <a:cs typeface="Courier New"/>
            </a:endParaRPr>
          </a:p>
          <a:p>
            <a:pPr>
              <a:spcBef>
                <a:spcPts val="195"/>
              </a:spcBef>
            </a:pPr>
            <a:endParaRPr sz="1200">
              <a:latin typeface="Courier New"/>
              <a:cs typeface="Courier New"/>
            </a:endParaRPr>
          </a:p>
          <a:p>
            <a:pPr marL="183356" marR="1552575" indent="-183356">
              <a:lnSpc>
                <a:spcPts val="1425"/>
              </a:lnSpc>
            </a:pPr>
            <a:r>
              <a:rPr sz="1200" dirty="0">
                <a:latin typeface="Courier New"/>
                <a:cs typeface="Courier New"/>
              </a:rPr>
              <a:t>if</a:t>
            </a:r>
            <a:r>
              <a:rPr sz="1200" spc="-11" dirty="0">
                <a:latin typeface="Courier New"/>
                <a:cs typeface="Courier New"/>
              </a:rPr>
              <a:t> </a:t>
            </a:r>
            <a:r>
              <a:rPr sz="1200" dirty="0">
                <a:latin typeface="Courier New"/>
                <a:cs typeface="Courier New"/>
              </a:rPr>
              <a:t>new.dno</a:t>
            </a:r>
            <a:r>
              <a:rPr sz="1200" spc="-11" dirty="0">
                <a:latin typeface="Courier New"/>
                <a:cs typeface="Courier New"/>
              </a:rPr>
              <a:t> </a:t>
            </a:r>
            <a:r>
              <a:rPr sz="1200" dirty="0">
                <a:latin typeface="Courier New"/>
                <a:cs typeface="Courier New"/>
              </a:rPr>
              <a:t>is</a:t>
            </a:r>
            <a:r>
              <a:rPr sz="1200" spc="-8" dirty="0">
                <a:latin typeface="Courier New"/>
                <a:cs typeface="Courier New"/>
              </a:rPr>
              <a:t> </a:t>
            </a:r>
            <a:r>
              <a:rPr sz="1200" dirty="0">
                <a:latin typeface="Courier New"/>
                <a:cs typeface="Courier New"/>
              </a:rPr>
              <a:t>not</a:t>
            </a:r>
            <a:r>
              <a:rPr sz="1200" spc="-11" dirty="0">
                <a:latin typeface="Courier New"/>
                <a:cs typeface="Courier New"/>
              </a:rPr>
              <a:t> </a:t>
            </a:r>
            <a:r>
              <a:rPr sz="1200" dirty="0">
                <a:latin typeface="Courier New"/>
                <a:cs typeface="Courier New"/>
              </a:rPr>
              <a:t>null</a:t>
            </a:r>
            <a:r>
              <a:rPr sz="1200" spc="-8" dirty="0">
                <a:latin typeface="Courier New"/>
                <a:cs typeface="Courier New"/>
              </a:rPr>
              <a:t> </a:t>
            </a:r>
            <a:r>
              <a:rPr sz="1200" spc="-15" dirty="0">
                <a:latin typeface="Courier New"/>
                <a:cs typeface="Courier New"/>
              </a:rPr>
              <a:t>then </a:t>
            </a:r>
            <a:r>
              <a:rPr sz="1200" dirty="0">
                <a:latin typeface="Courier New"/>
                <a:cs typeface="Courier New"/>
              </a:rPr>
              <a:t>update</a:t>
            </a:r>
            <a:r>
              <a:rPr sz="1200" spc="-19" dirty="0">
                <a:latin typeface="Courier New"/>
                <a:cs typeface="Courier New"/>
              </a:rPr>
              <a:t> </a:t>
            </a:r>
            <a:r>
              <a:rPr sz="1200" spc="-8" dirty="0">
                <a:latin typeface="Courier New"/>
                <a:cs typeface="Courier New"/>
              </a:rPr>
              <a:t>deptsal</a:t>
            </a:r>
            <a:endParaRPr sz="1200">
              <a:latin typeface="Courier New"/>
              <a:cs typeface="Courier New"/>
            </a:endParaRPr>
          </a:p>
          <a:p>
            <a:pPr marL="183356">
              <a:lnSpc>
                <a:spcPts val="1365"/>
              </a:lnSpc>
            </a:pPr>
            <a:r>
              <a:rPr sz="1200" dirty="0">
                <a:latin typeface="Courier New"/>
                <a:cs typeface="Courier New"/>
              </a:rPr>
              <a:t>set</a:t>
            </a:r>
            <a:r>
              <a:rPr sz="1200" spc="-19" dirty="0">
                <a:latin typeface="Courier New"/>
                <a:cs typeface="Courier New"/>
              </a:rPr>
              <a:t> </a:t>
            </a:r>
            <a:r>
              <a:rPr sz="1200" dirty="0">
                <a:latin typeface="Courier New"/>
                <a:cs typeface="Courier New"/>
              </a:rPr>
              <a:t>totalsalary</a:t>
            </a:r>
            <a:r>
              <a:rPr sz="1200" spc="-15" dirty="0">
                <a:latin typeface="Courier New"/>
                <a:cs typeface="Courier New"/>
              </a:rPr>
              <a:t> </a:t>
            </a:r>
            <a:r>
              <a:rPr sz="1200" dirty="0">
                <a:latin typeface="Courier New"/>
                <a:cs typeface="Courier New"/>
              </a:rPr>
              <a:t>=</a:t>
            </a:r>
            <a:r>
              <a:rPr sz="1200" spc="-19" dirty="0">
                <a:latin typeface="Courier New"/>
                <a:cs typeface="Courier New"/>
              </a:rPr>
              <a:t> </a:t>
            </a:r>
            <a:r>
              <a:rPr sz="1200" dirty="0">
                <a:latin typeface="Courier New"/>
                <a:cs typeface="Courier New"/>
              </a:rPr>
              <a:t>totalsalary</a:t>
            </a:r>
            <a:r>
              <a:rPr sz="1200" spc="-15" dirty="0">
                <a:latin typeface="Courier New"/>
                <a:cs typeface="Courier New"/>
              </a:rPr>
              <a:t> </a:t>
            </a:r>
            <a:r>
              <a:rPr sz="1200" dirty="0">
                <a:latin typeface="Courier New"/>
                <a:cs typeface="Courier New"/>
              </a:rPr>
              <a:t>+</a:t>
            </a:r>
            <a:r>
              <a:rPr sz="1200" spc="-15" dirty="0">
                <a:latin typeface="Courier New"/>
                <a:cs typeface="Courier New"/>
              </a:rPr>
              <a:t> </a:t>
            </a:r>
            <a:r>
              <a:rPr sz="1200" spc="-8" dirty="0">
                <a:latin typeface="Courier New"/>
                <a:cs typeface="Courier New"/>
              </a:rPr>
              <a:t>new.salary</a:t>
            </a:r>
            <a:endParaRPr sz="1200">
              <a:latin typeface="Courier New"/>
              <a:cs typeface="Courier New"/>
            </a:endParaRPr>
          </a:p>
          <a:p>
            <a:pPr marL="183356">
              <a:lnSpc>
                <a:spcPts val="1433"/>
              </a:lnSpc>
            </a:pPr>
            <a:r>
              <a:rPr sz="1200" dirty="0">
                <a:latin typeface="Courier New"/>
                <a:cs typeface="Courier New"/>
              </a:rPr>
              <a:t>where</a:t>
            </a:r>
            <a:r>
              <a:rPr sz="1200" spc="-15" dirty="0">
                <a:latin typeface="Courier New"/>
                <a:cs typeface="Courier New"/>
              </a:rPr>
              <a:t> </a:t>
            </a:r>
            <a:r>
              <a:rPr sz="1200" dirty="0">
                <a:latin typeface="Courier New"/>
                <a:cs typeface="Courier New"/>
              </a:rPr>
              <a:t>dnumber</a:t>
            </a:r>
            <a:r>
              <a:rPr sz="1200" spc="-11" dirty="0">
                <a:latin typeface="Courier New"/>
                <a:cs typeface="Courier New"/>
              </a:rPr>
              <a:t> </a:t>
            </a:r>
            <a:r>
              <a:rPr sz="1200" dirty="0">
                <a:latin typeface="Courier New"/>
                <a:cs typeface="Courier New"/>
              </a:rPr>
              <a:t>=</a:t>
            </a:r>
            <a:r>
              <a:rPr sz="1200" spc="-11" dirty="0">
                <a:latin typeface="Courier New"/>
                <a:cs typeface="Courier New"/>
              </a:rPr>
              <a:t> </a:t>
            </a:r>
            <a:r>
              <a:rPr sz="1200" spc="-8" dirty="0">
                <a:latin typeface="Courier New"/>
                <a:cs typeface="Courier New"/>
              </a:rPr>
              <a:t>new.dno;</a:t>
            </a:r>
            <a:endParaRPr sz="1200">
              <a:latin typeface="Courier New"/>
              <a:cs typeface="Courier New"/>
            </a:endParaRPr>
          </a:p>
        </p:txBody>
      </p:sp>
      <p:sp>
        <p:nvSpPr>
          <p:cNvPr id="7" name="object 7"/>
          <p:cNvSpPr txBox="1"/>
          <p:nvPr/>
        </p:nvSpPr>
        <p:spPr>
          <a:xfrm>
            <a:off x="1253457" y="3507106"/>
            <a:ext cx="1119664" cy="2025715"/>
          </a:xfrm>
          <a:prstGeom prst="rect">
            <a:avLst/>
          </a:prstGeom>
        </p:spPr>
        <p:txBody>
          <a:bodyPr vert="horz" wrap="square" lIns="0" tIns="18574" rIns="0" bIns="0" rtlCol="0">
            <a:spAutoFit/>
          </a:bodyPr>
          <a:lstStyle/>
          <a:p>
            <a:pPr marL="9525">
              <a:spcBef>
                <a:spcPts val="146"/>
              </a:spcBef>
            </a:pPr>
            <a:r>
              <a:rPr sz="1200" spc="-8" dirty="0">
                <a:latin typeface="Courier New"/>
                <a:cs typeface="Courier New"/>
              </a:rPr>
              <a:t>-</a:t>
            </a:r>
            <a:r>
              <a:rPr sz="1200" spc="-38" dirty="0">
                <a:latin typeface="Courier New"/>
                <a:cs typeface="Courier New"/>
              </a:rPr>
              <a:t>&gt;</a:t>
            </a:r>
            <a:endParaRPr sz="1200">
              <a:latin typeface="Courier New"/>
              <a:cs typeface="Courier New"/>
            </a:endParaRPr>
          </a:p>
          <a:p>
            <a:pPr marL="9525">
              <a:lnSpc>
                <a:spcPts val="1433"/>
              </a:lnSpc>
              <a:spcBef>
                <a:spcPts val="71"/>
              </a:spcBef>
            </a:pPr>
            <a:r>
              <a:rPr sz="1200" spc="-8" dirty="0">
                <a:latin typeface="Courier New"/>
                <a:cs typeface="Courier New"/>
              </a:rPr>
              <a:t>-</a:t>
            </a:r>
            <a:r>
              <a:rPr sz="1200" spc="-38" dirty="0">
                <a:latin typeface="Courier New"/>
                <a:cs typeface="Courier New"/>
              </a:rPr>
              <a:t>&gt;</a:t>
            </a:r>
            <a:endParaRPr sz="1200">
              <a:latin typeface="Courier New"/>
              <a:cs typeface="Courier New"/>
            </a:endParaRPr>
          </a:p>
          <a:p>
            <a:pPr marL="9525">
              <a:lnSpc>
                <a:spcPts val="1421"/>
              </a:lnSpc>
            </a:pPr>
            <a:r>
              <a:rPr sz="1200" spc="-8" dirty="0">
                <a:latin typeface="Courier New"/>
                <a:cs typeface="Courier New"/>
              </a:rPr>
              <a:t>-</a:t>
            </a:r>
            <a:r>
              <a:rPr sz="1200" spc="-38" dirty="0">
                <a:latin typeface="Courier New"/>
                <a:cs typeface="Courier New"/>
              </a:rPr>
              <a:t>&gt;</a:t>
            </a:r>
            <a:endParaRPr sz="1200">
              <a:latin typeface="Courier New"/>
              <a:cs typeface="Courier New"/>
            </a:endParaRPr>
          </a:p>
          <a:p>
            <a:pPr marL="9525">
              <a:lnSpc>
                <a:spcPts val="1421"/>
              </a:lnSpc>
            </a:pPr>
            <a:r>
              <a:rPr sz="1200" spc="-8" dirty="0">
                <a:latin typeface="Courier New"/>
                <a:cs typeface="Courier New"/>
              </a:rPr>
              <a:t>-</a:t>
            </a:r>
            <a:r>
              <a:rPr sz="1200" spc="-38" dirty="0">
                <a:latin typeface="Courier New"/>
                <a:cs typeface="Courier New"/>
              </a:rPr>
              <a:t>&gt;</a:t>
            </a:r>
            <a:endParaRPr sz="1200">
              <a:latin typeface="Courier New"/>
              <a:cs typeface="Courier New"/>
            </a:endParaRPr>
          </a:p>
          <a:p>
            <a:pPr marL="9525">
              <a:lnSpc>
                <a:spcPts val="1421"/>
              </a:lnSpc>
            </a:pPr>
            <a:r>
              <a:rPr sz="1200" spc="-8" dirty="0">
                <a:latin typeface="Courier New"/>
                <a:cs typeface="Courier New"/>
              </a:rPr>
              <a:t>-</a:t>
            </a:r>
            <a:r>
              <a:rPr sz="1200" spc="-38" dirty="0">
                <a:latin typeface="Courier New"/>
                <a:cs typeface="Courier New"/>
              </a:rPr>
              <a:t>&gt;</a:t>
            </a:r>
            <a:endParaRPr sz="1200">
              <a:latin typeface="Courier New"/>
              <a:cs typeface="Courier New"/>
            </a:endParaRPr>
          </a:p>
          <a:p>
            <a:pPr marL="9525">
              <a:lnSpc>
                <a:spcPts val="1433"/>
              </a:lnSpc>
            </a:pPr>
            <a:r>
              <a:rPr sz="1200" spc="-8" dirty="0">
                <a:latin typeface="Courier New"/>
                <a:cs typeface="Courier New"/>
              </a:rPr>
              <a:t>-</a:t>
            </a:r>
            <a:r>
              <a:rPr sz="1200" spc="-38" dirty="0">
                <a:latin typeface="Courier New"/>
                <a:cs typeface="Courier New"/>
              </a:rPr>
              <a:t>&gt;</a:t>
            </a:r>
            <a:endParaRPr sz="1200">
              <a:latin typeface="Courier New"/>
              <a:cs typeface="Courier New"/>
            </a:endParaRPr>
          </a:p>
          <a:p>
            <a:pPr marL="9525">
              <a:lnSpc>
                <a:spcPts val="1433"/>
              </a:lnSpc>
              <a:spcBef>
                <a:spcPts val="71"/>
              </a:spcBef>
            </a:pPr>
            <a:r>
              <a:rPr sz="1200" spc="-8" dirty="0">
                <a:latin typeface="Courier New"/>
                <a:cs typeface="Courier New"/>
              </a:rPr>
              <a:t>-</a:t>
            </a:r>
            <a:r>
              <a:rPr sz="1200" spc="-38" dirty="0">
                <a:latin typeface="Courier New"/>
                <a:cs typeface="Courier New"/>
              </a:rPr>
              <a:t>&gt;</a:t>
            </a:r>
            <a:endParaRPr sz="1200">
              <a:latin typeface="Courier New"/>
              <a:cs typeface="Courier New"/>
            </a:endParaRPr>
          </a:p>
          <a:p>
            <a:pPr marL="9525">
              <a:lnSpc>
                <a:spcPts val="1421"/>
              </a:lnSpc>
            </a:pPr>
            <a:r>
              <a:rPr sz="1200" spc="-8" dirty="0">
                <a:latin typeface="Courier New"/>
                <a:cs typeface="Courier New"/>
              </a:rPr>
              <a:t>-</a:t>
            </a:r>
            <a:r>
              <a:rPr sz="1200" spc="-38" dirty="0">
                <a:latin typeface="Courier New"/>
                <a:cs typeface="Courier New"/>
              </a:rPr>
              <a:t>&gt;</a:t>
            </a:r>
            <a:endParaRPr sz="1200">
              <a:latin typeface="Courier New"/>
              <a:cs typeface="Courier New"/>
            </a:endParaRPr>
          </a:p>
          <a:p>
            <a:pPr marL="9525">
              <a:lnSpc>
                <a:spcPts val="1421"/>
              </a:lnSpc>
            </a:pPr>
            <a:r>
              <a:rPr sz="1200" spc="-8" dirty="0">
                <a:latin typeface="Courier New"/>
                <a:cs typeface="Courier New"/>
              </a:rPr>
              <a:t>-</a:t>
            </a:r>
            <a:r>
              <a:rPr sz="1200" spc="-38" dirty="0">
                <a:latin typeface="Courier New"/>
                <a:cs typeface="Courier New"/>
              </a:rPr>
              <a:t>&gt;</a:t>
            </a:r>
            <a:endParaRPr sz="1200">
              <a:latin typeface="Courier New"/>
              <a:cs typeface="Courier New"/>
            </a:endParaRPr>
          </a:p>
          <a:p>
            <a:pPr marL="9525">
              <a:lnSpc>
                <a:spcPts val="1421"/>
              </a:lnSpc>
            </a:pPr>
            <a:r>
              <a:rPr sz="1200" spc="-8" dirty="0">
                <a:latin typeface="Courier New"/>
                <a:cs typeface="Courier New"/>
              </a:rPr>
              <a:t>-</a:t>
            </a:r>
            <a:r>
              <a:rPr sz="1200" spc="-38" dirty="0">
                <a:latin typeface="Courier New"/>
                <a:cs typeface="Courier New"/>
              </a:rPr>
              <a:t>&gt;</a:t>
            </a:r>
            <a:endParaRPr sz="1200">
              <a:latin typeface="Courier New"/>
              <a:cs typeface="Courier New"/>
            </a:endParaRPr>
          </a:p>
          <a:p>
            <a:pPr marL="9525">
              <a:lnSpc>
                <a:spcPts val="1433"/>
              </a:lnSpc>
              <a:tabLst>
                <a:tab pos="467678" algn="l"/>
              </a:tabLst>
            </a:pPr>
            <a:r>
              <a:rPr sz="1200" spc="-8" dirty="0">
                <a:latin typeface="Courier New"/>
                <a:cs typeface="Courier New"/>
              </a:rPr>
              <a:t>-</a:t>
            </a:r>
            <a:r>
              <a:rPr sz="1200" spc="-38" dirty="0">
                <a:latin typeface="Courier New"/>
                <a:cs typeface="Courier New"/>
              </a:rPr>
              <a:t>&gt;</a:t>
            </a:r>
            <a:r>
              <a:rPr sz="1200" dirty="0">
                <a:latin typeface="Courier New"/>
                <a:cs typeface="Courier New"/>
              </a:rPr>
              <a:t>	end</a:t>
            </a:r>
            <a:r>
              <a:rPr sz="1200" spc="-8" dirty="0">
                <a:latin typeface="Courier New"/>
                <a:cs typeface="Courier New"/>
              </a:rPr>
              <a:t> </a:t>
            </a:r>
            <a:r>
              <a:rPr sz="1200" spc="-19" dirty="0">
                <a:latin typeface="Courier New"/>
                <a:cs typeface="Courier New"/>
              </a:rPr>
              <a:t>if;</a:t>
            </a:r>
            <a:endParaRPr sz="1200">
              <a:latin typeface="Courier New"/>
              <a:cs typeface="Courier New"/>
            </a:endParaRPr>
          </a:p>
        </p:txBody>
      </p:sp>
      <p:sp>
        <p:nvSpPr>
          <p:cNvPr id="8" name="object 8"/>
          <p:cNvSpPr txBox="1"/>
          <p:nvPr/>
        </p:nvSpPr>
        <p:spPr>
          <a:xfrm>
            <a:off x="886745" y="5537073"/>
            <a:ext cx="1944529" cy="377667"/>
          </a:xfrm>
          <a:prstGeom prst="rect">
            <a:avLst/>
          </a:prstGeom>
        </p:spPr>
        <p:txBody>
          <a:bodyPr vert="horz" wrap="square" lIns="0" tIns="17145" rIns="0" bIns="0" rtlCol="0">
            <a:spAutoFit/>
          </a:bodyPr>
          <a:lstStyle/>
          <a:p>
            <a:pPr marL="9525" marR="3810" indent="366713">
              <a:lnSpc>
                <a:spcPts val="1425"/>
              </a:lnSpc>
              <a:spcBef>
                <a:spcPts val="135"/>
              </a:spcBef>
            </a:pPr>
            <a:r>
              <a:rPr sz="1200" spc="-8" dirty="0">
                <a:latin typeface="Courier New"/>
                <a:cs typeface="Courier New"/>
              </a:rPr>
              <a:t>-</a:t>
            </a:r>
            <a:r>
              <a:rPr sz="1200" dirty="0">
                <a:latin typeface="Courier New"/>
                <a:cs typeface="Courier New"/>
              </a:rPr>
              <a:t>&gt;</a:t>
            </a:r>
            <a:r>
              <a:rPr sz="1200" spc="-11" dirty="0">
                <a:latin typeface="Courier New"/>
                <a:cs typeface="Courier New"/>
              </a:rPr>
              <a:t> </a:t>
            </a:r>
            <a:r>
              <a:rPr sz="1200" dirty="0">
                <a:latin typeface="Courier New"/>
                <a:cs typeface="Courier New"/>
              </a:rPr>
              <a:t>end;</a:t>
            </a:r>
            <a:r>
              <a:rPr sz="1200" spc="-4" dirty="0">
                <a:latin typeface="Courier New"/>
                <a:cs typeface="Courier New"/>
              </a:rPr>
              <a:t> </a:t>
            </a:r>
            <a:r>
              <a:rPr sz="1200" spc="-19" dirty="0">
                <a:latin typeface="Courier New"/>
                <a:cs typeface="Courier New"/>
              </a:rPr>
              <a:t>$$</a:t>
            </a:r>
            <a:r>
              <a:rPr sz="1200" spc="375" dirty="0">
                <a:latin typeface="Courier New"/>
                <a:cs typeface="Courier New"/>
              </a:rPr>
              <a:t> </a:t>
            </a:r>
            <a:r>
              <a:rPr sz="1200" dirty="0">
                <a:latin typeface="Courier New"/>
                <a:cs typeface="Courier New"/>
              </a:rPr>
              <a:t>mysql&gt;</a:t>
            </a:r>
            <a:r>
              <a:rPr sz="1200" spc="-19" dirty="0">
                <a:latin typeface="Courier New"/>
                <a:cs typeface="Courier New"/>
              </a:rPr>
              <a:t> </a:t>
            </a:r>
            <a:r>
              <a:rPr sz="1200" dirty="0">
                <a:latin typeface="Courier New"/>
                <a:cs typeface="Courier New"/>
              </a:rPr>
              <a:t>delimiter</a:t>
            </a:r>
            <a:r>
              <a:rPr sz="1200" spc="-15" dirty="0">
                <a:latin typeface="Courier New"/>
                <a:cs typeface="Courier New"/>
              </a:rPr>
              <a:t> </a:t>
            </a:r>
            <a:r>
              <a:rPr sz="1200" dirty="0">
                <a:latin typeface="Courier New"/>
                <a:cs typeface="Courier New"/>
              </a:rPr>
              <a:t>;</a:t>
            </a:r>
            <a:r>
              <a:rPr sz="1200" spc="-15" dirty="0">
                <a:latin typeface="Courier New"/>
                <a:cs typeface="Courier New"/>
              </a:rPr>
              <a:t> </a:t>
            </a:r>
            <a:r>
              <a:rPr sz="1200" spc="-19" dirty="0">
                <a:latin typeface="Courier New"/>
                <a:cs typeface="Courier New"/>
              </a:rPr>
              <a:t>$$</a:t>
            </a:r>
            <a:endParaRPr sz="1200">
              <a:latin typeface="Courier New"/>
              <a:cs typeface="Courier New"/>
            </a:endParaRPr>
          </a:p>
        </p:txBody>
      </p:sp>
      <p:grpSp>
        <p:nvGrpSpPr>
          <p:cNvPr id="9" name="object 9"/>
          <p:cNvGrpSpPr/>
          <p:nvPr/>
        </p:nvGrpSpPr>
        <p:grpSpPr>
          <a:xfrm>
            <a:off x="1721560" y="3549972"/>
            <a:ext cx="5173028" cy="1821180"/>
            <a:chOff x="2295414" y="3590296"/>
            <a:chExt cx="6897370" cy="2428240"/>
          </a:xfrm>
        </p:grpSpPr>
        <p:sp>
          <p:nvSpPr>
            <p:cNvPr id="10" name="object 10"/>
            <p:cNvSpPr/>
            <p:nvPr/>
          </p:nvSpPr>
          <p:spPr>
            <a:xfrm>
              <a:off x="2301764" y="3596646"/>
              <a:ext cx="6884670" cy="2415540"/>
            </a:xfrm>
            <a:custGeom>
              <a:avLst/>
              <a:gdLst/>
              <a:ahLst/>
              <a:cxnLst/>
              <a:rect l="l" t="t" r="r" b="b"/>
              <a:pathLst>
                <a:path w="6884670" h="2415540">
                  <a:moveTo>
                    <a:pt x="6884276" y="0"/>
                  </a:moveTo>
                  <a:lnTo>
                    <a:pt x="0" y="0"/>
                  </a:lnTo>
                  <a:lnTo>
                    <a:pt x="0" y="2415271"/>
                  </a:lnTo>
                  <a:lnTo>
                    <a:pt x="6884276" y="2415271"/>
                  </a:lnTo>
                  <a:lnTo>
                    <a:pt x="6884276" y="0"/>
                  </a:lnTo>
                  <a:close/>
                </a:path>
              </a:pathLst>
            </a:custGeom>
            <a:solidFill>
              <a:srgbClr val="4472C4"/>
            </a:solidFill>
          </p:spPr>
          <p:txBody>
            <a:bodyPr wrap="square" lIns="0" tIns="0" rIns="0" bIns="0" rtlCol="0"/>
            <a:lstStyle/>
            <a:p>
              <a:endParaRPr sz="1800"/>
            </a:p>
          </p:txBody>
        </p:sp>
        <p:sp>
          <p:nvSpPr>
            <p:cNvPr id="11" name="object 11"/>
            <p:cNvSpPr/>
            <p:nvPr/>
          </p:nvSpPr>
          <p:spPr>
            <a:xfrm>
              <a:off x="2301764" y="3596646"/>
              <a:ext cx="6884670" cy="2415540"/>
            </a:xfrm>
            <a:custGeom>
              <a:avLst/>
              <a:gdLst/>
              <a:ahLst/>
              <a:cxnLst/>
              <a:rect l="l" t="t" r="r" b="b"/>
              <a:pathLst>
                <a:path w="6884670" h="2415540">
                  <a:moveTo>
                    <a:pt x="0" y="0"/>
                  </a:moveTo>
                  <a:lnTo>
                    <a:pt x="6884276" y="0"/>
                  </a:lnTo>
                  <a:lnTo>
                    <a:pt x="6884276" y="2415272"/>
                  </a:lnTo>
                  <a:lnTo>
                    <a:pt x="0" y="2415272"/>
                  </a:lnTo>
                  <a:lnTo>
                    <a:pt x="0" y="0"/>
                  </a:lnTo>
                  <a:close/>
                </a:path>
              </a:pathLst>
            </a:custGeom>
            <a:ln w="12700">
              <a:solidFill>
                <a:srgbClr val="2F528F"/>
              </a:solidFill>
            </a:ln>
          </p:spPr>
          <p:txBody>
            <a:bodyPr wrap="square" lIns="0" tIns="0" rIns="0" bIns="0" rtlCol="0"/>
            <a:lstStyle/>
            <a:p>
              <a:endParaRPr sz="1800"/>
            </a:p>
          </p:txBody>
        </p:sp>
      </p:grpSp>
      <p:sp>
        <p:nvSpPr>
          <p:cNvPr id="12" name="object 12"/>
          <p:cNvSpPr txBox="1"/>
          <p:nvPr/>
        </p:nvSpPr>
        <p:spPr>
          <a:xfrm>
            <a:off x="3508160" y="4338447"/>
            <a:ext cx="1599248" cy="217367"/>
          </a:xfrm>
          <a:prstGeom prst="rect">
            <a:avLst/>
          </a:prstGeom>
        </p:spPr>
        <p:txBody>
          <a:bodyPr vert="horz" wrap="square" lIns="0" tIns="9525" rIns="0" bIns="0" rtlCol="0">
            <a:spAutoFit/>
          </a:bodyPr>
          <a:lstStyle/>
          <a:p>
            <a:pPr marL="9525">
              <a:spcBef>
                <a:spcPts val="75"/>
              </a:spcBef>
            </a:pPr>
            <a:r>
              <a:rPr sz="1350" dirty="0">
                <a:solidFill>
                  <a:srgbClr val="FFFFFF"/>
                </a:solidFill>
                <a:latin typeface="Calibri"/>
                <a:cs typeface="Calibri"/>
              </a:rPr>
              <a:t>//</a:t>
            </a:r>
            <a:r>
              <a:rPr sz="1350" spc="-19" dirty="0">
                <a:solidFill>
                  <a:srgbClr val="FFFFFF"/>
                </a:solidFill>
                <a:latin typeface="Calibri"/>
                <a:cs typeface="Calibri"/>
              </a:rPr>
              <a:t> </a:t>
            </a:r>
            <a:r>
              <a:rPr sz="1350" dirty="0">
                <a:solidFill>
                  <a:srgbClr val="FFFFFF"/>
                </a:solidFill>
                <a:latin typeface="Calibri"/>
                <a:cs typeface="Calibri"/>
              </a:rPr>
              <a:t>Add</a:t>
            </a:r>
            <a:r>
              <a:rPr sz="1350" spc="-19" dirty="0">
                <a:solidFill>
                  <a:srgbClr val="FFFFFF"/>
                </a:solidFill>
                <a:latin typeface="Calibri"/>
                <a:cs typeface="Calibri"/>
              </a:rPr>
              <a:t> </a:t>
            </a:r>
            <a:r>
              <a:rPr sz="1350" dirty="0">
                <a:solidFill>
                  <a:srgbClr val="FFFFFF"/>
                </a:solidFill>
                <a:latin typeface="Calibri"/>
                <a:cs typeface="Calibri"/>
              </a:rPr>
              <a:t>your</a:t>
            </a:r>
            <a:r>
              <a:rPr sz="1350" spc="-23" dirty="0">
                <a:solidFill>
                  <a:srgbClr val="FFFFFF"/>
                </a:solidFill>
                <a:latin typeface="Calibri"/>
                <a:cs typeface="Calibri"/>
              </a:rPr>
              <a:t> </a:t>
            </a:r>
            <a:r>
              <a:rPr sz="1350" dirty="0">
                <a:solidFill>
                  <a:srgbClr val="FFFFFF"/>
                </a:solidFill>
                <a:latin typeface="Calibri"/>
                <a:cs typeface="Calibri"/>
              </a:rPr>
              <a:t>Code</a:t>
            </a:r>
            <a:r>
              <a:rPr sz="1350" spc="-19" dirty="0">
                <a:solidFill>
                  <a:srgbClr val="FFFFFF"/>
                </a:solidFill>
                <a:latin typeface="Calibri"/>
                <a:cs typeface="Calibri"/>
              </a:rPr>
              <a:t> </a:t>
            </a:r>
            <a:r>
              <a:rPr sz="1350" spc="-15" dirty="0">
                <a:solidFill>
                  <a:srgbClr val="FFFFFF"/>
                </a:solidFill>
                <a:latin typeface="Calibri"/>
                <a:cs typeface="Calibri"/>
              </a:rPr>
              <a:t>Here</a:t>
            </a:r>
            <a:endParaRPr sz="1350">
              <a:latin typeface="Calibri"/>
              <a:cs typeface="Calibri"/>
            </a:endParaRPr>
          </a:p>
        </p:txBody>
      </p:sp>
      <p:sp>
        <p:nvSpPr>
          <p:cNvPr id="13" name="object 13"/>
          <p:cNvSpPr txBox="1"/>
          <p:nvPr/>
        </p:nvSpPr>
        <p:spPr>
          <a:xfrm>
            <a:off x="7342724" y="1147191"/>
            <a:ext cx="461010" cy="217367"/>
          </a:xfrm>
          <a:prstGeom prst="rect">
            <a:avLst/>
          </a:prstGeom>
        </p:spPr>
        <p:txBody>
          <a:bodyPr vert="horz" wrap="square" lIns="0" tIns="9525" rIns="0" bIns="0" rtlCol="0">
            <a:spAutoFit/>
          </a:bodyPr>
          <a:lstStyle/>
          <a:p>
            <a:pPr marL="9525">
              <a:spcBef>
                <a:spcPts val="75"/>
              </a:spcBef>
            </a:pPr>
            <a:r>
              <a:rPr sz="1350" spc="-8" dirty="0">
                <a:latin typeface="Calibri"/>
                <a:cs typeface="Calibri"/>
              </a:rPr>
              <a:t>Q7.sql</a:t>
            </a:r>
            <a:endParaRPr sz="1350">
              <a:latin typeface="Calibri"/>
              <a:cs typeface="Calibri"/>
            </a:endParaRPr>
          </a:p>
        </p:txBody>
      </p:sp>
    </p:spTree>
    <p:extLst>
      <p:ext uri="{BB962C8B-B14F-4D97-AF65-F5344CB8AC3E}">
        <p14:creationId xmlns:p14="http://schemas.microsoft.com/office/powerpoint/2010/main" val="3458085507"/>
      </p:ext>
    </p:extLst>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45819" y="390505"/>
            <a:ext cx="5627164"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spc="-15" dirty="0"/>
              <a:t>Trigger2</a:t>
            </a:r>
            <a:r>
              <a:rPr spc="-75" dirty="0"/>
              <a:t> </a:t>
            </a:r>
            <a:r>
              <a:rPr dirty="0"/>
              <a:t>–</a:t>
            </a:r>
            <a:r>
              <a:rPr spc="-71" dirty="0"/>
              <a:t> </a:t>
            </a:r>
            <a:r>
              <a:rPr dirty="0"/>
              <a:t>Step</a:t>
            </a:r>
            <a:r>
              <a:rPr spc="-68" dirty="0"/>
              <a:t> </a:t>
            </a:r>
            <a:r>
              <a:rPr spc="-38" dirty="0"/>
              <a:t>2</a:t>
            </a:r>
          </a:p>
        </p:txBody>
      </p:sp>
      <p:sp>
        <p:nvSpPr>
          <p:cNvPr id="3" name="object 3"/>
          <p:cNvSpPr txBox="1"/>
          <p:nvPr/>
        </p:nvSpPr>
        <p:spPr>
          <a:xfrm>
            <a:off x="8319612" y="5673472"/>
            <a:ext cx="135731" cy="148117"/>
          </a:xfrm>
          <a:prstGeom prst="rect">
            <a:avLst/>
          </a:prstGeom>
        </p:spPr>
        <p:txBody>
          <a:bodyPr vert="horz" wrap="square" lIns="0" tIns="9525" rIns="0" bIns="0" rtlCol="0">
            <a:spAutoFit/>
          </a:bodyPr>
          <a:lstStyle/>
          <a:p>
            <a:pPr marL="9525">
              <a:spcBef>
                <a:spcPts val="75"/>
              </a:spcBef>
            </a:pPr>
            <a:r>
              <a:rPr sz="900" spc="-19" dirty="0">
                <a:solidFill>
                  <a:srgbClr val="898989"/>
                </a:solidFill>
                <a:latin typeface="Calibri"/>
                <a:cs typeface="Calibri"/>
              </a:rPr>
              <a:t>53</a:t>
            </a:r>
            <a:endParaRPr sz="900">
              <a:latin typeface="Calibri"/>
              <a:cs typeface="Calibri"/>
            </a:endParaRPr>
          </a:p>
        </p:txBody>
      </p:sp>
      <p:sp>
        <p:nvSpPr>
          <p:cNvPr id="4" name="object 4"/>
          <p:cNvSpPr txBox="1"/>
          <p:nvPr/>
        </p:nvSpPr>
        <p:spPr>
          <a:xfrm>
            <a:off x="524138" y="1677543"/>
            <a:ext cx="2091214"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mysql&gt;</a:t>
            </a:r>
            <a:r>
              <a:rPr sz="900" spc="-23" dirty="0">
                <a:latin typeface="Courier New"/>
                <a:cs typeface="Courier New"/>
              </a:rPr>
              <a:t> </a:t>
            </a:r>
            <a:r>
              <a:rPr sz="900" dirty="0">
                <a:latin typeface="Courier New"/>
                <a:cs typeface="Courier New"/>
              </a:rPr>
              <a:t>select</a:t>
            </a:r>
            <a:r>
              <a:rPr sz="900" spc="-19" dirty="0">
                <a:latin typeface="Courier New"/>
                <a:cs typeface="Courier New"/>
              </a:rPr>
              <a:t> </a:t>
            </a:r>
            <a:r>
              <a:rPr sz="900" dirty="0">
                <a:latin typeface="Courier New"/>
                <a:cs typeface="Courier New"/>
              </a:rPr>
              <a:t>*</a:t>
            </a:r>
            <a:r>
              <a:rPr sz="900" spc="-19" dirty="0">
                <a:latin typeface="Courier New"/>
                <a:cs typeface="Courier New"/>
              </a:rPr>
              <a:t> </a:t>
            </a:r>
            <a:r>
              <a:rPr sz="900" dirty="0">
                <a:latin typeface="Courier New"/>
                <a:cs typeface="Courier New"/>
              </a:rPr>
              <a:t>from</a:t>
            </a:r>
            <a:r>
              <a:rPr sz="900" spc="-19" dirty="0">
                <a:latin typeface="Courier New"/>
                <a:cs typeface="Courier New"/>
              </a:rPr>
              <a:t> </a:t>
            </a:r>
            <a:r>
              <a:rPr sz="900" spc="-8" dirty="0">
                <a:latin typeface="Courier New"/>
                <a:cs typeface="Courier New"/>
              </a:rPr>
              <a:t>employee;</a:t>
            </a:r>
            <a:endParaRPr sz="900">
              <a:latin typeface="Courier New"/>
              <a:cs typeface="Courier New"/>
            </a:endParaRPr>
          </a:p>
        </p:txBody>
      </p:sp>
      <p:sp>
        <p:nvSpPr>
          <p:cNvPr id="5" name="object 5"/>
          <p:cNvSpPr/>
          <p:nvPr/>
        </p:nvSpPr>
        <p:spPr>
          <a:xfrm>
            <a:off x="602719" y="1907381"/>
            <a:ext cx="691039" cy="0"/>
          </a:xfrm>
          <a:custGeom>
            <a:avLst/>
            <a:gdLst/>
            <a:ahLst/>
            <a:cxnLst/>
            <a:rect l="l" t="t" r="r" b="b"/>
            <a:pathLst>
              <a:path w="921385">
                <a:moveTo>
                  <a:pt x="0" y="0"/>
                </a:moveTo>
                <a:lnTo>
                  <a:pt x="920800" y="0"/>
                </a:lnTo>
              </a:path>
            </a:pathLst>
          </a:custGeom>
          <a:ln w="12649">
            <a:solidFill>
              <a:srgbClr val="000000"/>
            </a:solidFill>
            <a:prstDash val="dash"/>
          </a:ln>
        </p:spPr>
        <p:txBody>
          <a:bodyPr wrap="square" lIns="0" tIns="0" rIns="0" bIns="0" rtlCol="0"/>
          <a:lstStyle/>
          <a:p>
            <a:endParaRPr sz="1800"/>
          </a:p>
        </p:txBody>
      </p:sp>
      <p:sp>
        <p:nvSpPr>
          <p:cNvPr id="6" name="object 6"/>
          <p:cNvSpPr/>
          <p:nvPr/>
        </p:nvSpPr>
        <p:spPr>
          <a:xfrm>
            <a:off x="1362338" y="1907381"/>
            <a:ext cx="483870" cy="0"/>
          </a:xfrm>
          <a:custGeom>
            <a:avLst/>
            <a:gdLst/>
            <a:ahLst/>
            <a:cxnLst/>
            <a:rect l="l" t="t" r="r" b="b"/>
            <a:pathLst>
              <a:path w="645160">
                <a:moveTo>
                  <a:pt x="0" y="0"/>
                </a:moveTo>
                <a:lnTo>
                  <a:pt x="644560" y="0"/>
                </a:lnTo>
              </a:path>
            </a:pathLst>
          </a:custGeom>
          <a:ln w="12649">
            <a:solidFill>
              <a:srgbClr val="000000"/>
            </a:solidFill>
            <a:prstDash val="dash"/>
          </a:ln>
        </p:spPr>
        <p:txBody>
          <a:bodyPr wrap="square" lIns="0" tIns="0" rIns="0" bIns="0" rtlCol="0"/>
          <a:lstStyle/>
          <a:p>
            <a:endParaRPr sz="1800"/>
          </a:p>
        </p:txBody>
      </p:sp>
      <p:sp>
        <p:nvSpPr>
          <p:cNvPr id="7" name="object 7"/>
          <p:cNvSpPr/>
          <p:nvPr/>
        </p:nvSpPr>
        <p:spPr>
          <a:xfrm>
            <a:off x="1914787" y="1907381"/>
            <a:ext cx="621983" cy="0"/>
          </a:xfrm>
          <a:custGeom>
            <a:avLst/>
            <a:gdLst/>
            <a:ahLst/>
            <a:cxnLst/>
            <a:rect l="l" t="t" r="r" b="b"/>
            <a:pathLst>
              <a:path w="829310">
                <a:moveTo>
                  <a:pt x="0" y="0"/>
                </a:moveTo>
                <a:lnTo>
                  <a:pt x="828720" y="0"/>
                </a:lnTo>
              </a:path>
            </a:pathLst>
          </a:custGeom>
          <a:ln w="12649">
            <a:solidFill>
              <a:srgbClr val="000000"/>
            </a:solidFill>
            <a:prstDash val="dash"/>
          </a:ln>
        </p:spPr>
        <p:txBody>
          <a:bodyPr wrap="square" lIns="0" tIns="0" rIns="0" bIns="0" rtlCol="0"/>
          <a:lstStyle/>
          <a:p>
            <a:endParaRPr sz="1800"/>
          </a:p>
        </p:txBody>
      </p:sp>
      <p:sp>
        <p:nvSpPr>
          <p:cNvPr id="8" name="object 8"/>
          <p:cNvSpPr/>
          <p:nvPr/>
        </p:nvSpPr>
        <p:spPr>
          <a:xfrm>
            <a:off x="2605349" y="1907381"/>
            <a:ext cx="760095" cy="0"/>
          </a:xfrm>
          <a:custGeom>
            <a:avLst/>
            <a:gdLst/>
            <a:ahLst/>
            <a:cxnLst/>
            <a:rect l="l" t="t" r="r" b="b"/>
            <a:pathLst>
              <a:path w="1013460">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9" name="object 9"/>
          <p:cNvSpPr txBox="1"/>
          <p:nvPr/>
        </p:nvSpPr>
        <p:spPr>
          <a:xfrm>
            <a:off x="3355444" y="1819276"/>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10" name="object 10"/>
          <p:cNvSpPr/>
          <p:nvPr/>
        </p:nvSpPr>
        <p:spPr>
          <a:xfrm>
            <a:off x="3434025" y="1907381"/>
            <a:ext cx="829151" cy="0"/>
          </a:xfrm>
          <a:custGeom>
            <a:avLst/>
            <a:gdLst/>
            <a:ahLst/>
            <a:cxnLst/>
            <a:rect l="l" t="t" r="r" b="b"/>
            <a:pathLst>
              <a:path w="1105535">
                <a:moveTo>
                  <a:pt x="0" y="0"/>
                </a:moveTo>
                <a:lnTo>
                  <a:pt x="1104961" y="0"/>
                </a:lnTo>
              </a:path>
            </a:pathLst>
          </a:custGeom>
          <a:ln w="12649">
            <a:solidFill>
              <a:srgbClr val="000000"/>
            </a:solidFill>
            <a:prstDash val="dash"/>
          </a:ln>
        </p:spPr>
        <p:txBody>
          <a:bodyPr wrap="square" lIns="0" tIns="0" rIns="0" bIns="0" rtlCol="0"/>
          <a:lstStyle/>
          <a:p>
            <a:endParaRPr sz="1800"/>
          </a:p>
        </p:txBody>
      </p:sp>
      <p:sp>
        <p:nvSpPr>
          <p:cNvPr id="11" name="object 11"/>
          <p:cNvSpPr txBox="1"/>
          <p:nvPr/>
        </p:nvSpPr>
        <p:spPr>
          <a:xfrm>
            <a:off x="4253175" y="1819276"/>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12" name="object 12"/>
          <p:cNvSpPr/>
          <p:nvPr/>
        </p:nvSpPr>
        <p:spPr>
          <a:xfrm>
            <a:off x="4331756" y="1907381"/>
            <a:ext cx="1795939" cy="0"/>
          </a:xfrm>
          <a:custGeom>
            <a:avLst/>
            <a:gdLst/>
            <a:ahLst/>
            <a:cxnLst/>
            <a:rect l="l" t="t" r="r" b="b"/>
            <a:pathLst>
              <a:path w="2394584">
                <a:moveTo>
                  <a:pt x="0" y="0"/>
                </a:moveTo>
                <a:lnTo>
                  <a:pt x="2394082" y="0"/>
                </a:lnTo>
              </a:path>
            </a:pathLst>
          </a:custGeom>
          <a:ln w="12649">
            <a:solidFill>
              <a:srgbClr val="000000"/>
            </a:solidFill>
            <a:prstDash val="dash"/>
          </a:ln>
        </p:spPr>
        <p:txBody>
          <a:bodyPr wrap="square" lIns="0" tIns="0" rIns="0" bIns="0" rtlCol="0"/>
          <a:lstStyle/>
          <a:p>
            <a:endParaRPr sz="1800"/>
          </a:p>
        </p:txBody>
      </p:sp>
      <p:sp>
        <p:nvSpPr>
          <p:cNvPr id="13" name="object 13"/>
          <p:cNvSpPr txBox="1"/>
          <p:nvPr/>
        </p:nvSpPr>
        <p:spPr>
          <a:xfrm>
            <a:off x="6117694" y="1819276"/>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14" name="object 14"/>
          <p:cNvSpPr/>
          <p:nvPr/>
        </p:nvSpPr>
        <p:spPr>
          <a:xfrm>
            <a:off x="6196275" y="1907381"/>
            <a:ext cx="414814" cy="0"/>
          </a:xfrm>
          <a:custGeom>
            <a:avLst/>
            <a:gdLst/>
            <a:ahLst/>
            <a:cxnLst/>
            <a:rect l="l" t="t" r="r" b="b"/>
            <a:pathLst>
              <a:path w="553084">
                <a:moveTo>
                  <a:pt x="0" y="0"/>
                </a:moveTo>
                <a:lnTo>
                  <a:pt x="552480" y="0"/>
                </a:lnTo>
              </a:path>
            </a:pathLst>
          </a:custGeom>
          <a:ln w="12649">
            <a:solidFill>
              <a:srgbClr val="000000"/>
            </a:solidFill>
            <a:prstDash val="dash"/>
          </a:ln>
        </p:spPr>
        <p:txBody>
          <a:bodyPr wrap="square" lIns="0" tIns="0" rIns="0" bIns="0" rtlCol="0"/>
          <a:lstStyle/>
          <a:p>
            <a:endParaRPr sz="1800"/>
          </a:p>
        </p:txBody>
      </p:sp>
      <p:sp>
        <p:nvSpPr>
          <p:cNvPr id="15" name="object 15"/>
          <p:cNvSpPr/>
          <p:nvPr/>
        </p:nvSpPr>
        <p:spPr>
          <a:xfrm>
            <a:off x="6679669" y="1907381"/>
            <a:ext cx="552926" cy="0"/>
          </a:xfrm>
          <a:custGeom>
            <a:avLst/>
            <a:gdLst/>
            <a:ahLst/>
            <a:cxnLst/>
            <a:rect l="l" t="t" r="r" b="b"/>
            <a:pathLst>
              <a:path w="737234">
                <a:moveTo>
                  <a:pt x="0" y="0"/>
                </a:moveTo>
                <a:lnTo>
                  <a:pt x="736640" y="0"/>
                </a:lnTo>
              </a:path>
            </a:pathLst>
          </a:custGeom>
          <a:ln w="12649">
            <a:solidFill>
              <a:srgbClr val="000000"/>
            </a:solidFill>
            <a:prstDash val="dash"/>
          </a:ln>
        </p:spPr>
        <p:txBody>
          <a:bodyPr wrap="square" lIns="0" tIns="0" rIns="0" bIns="0" rtlCol="0"/>
          <a:lstStyle/>
          <a:p>
            <a:endParaRPr sz="1800"/>
          </a:p>
        </p:txBody>
      </p:sp>
      <p:sp>
        <p:nvSpPr>
          <p:cNvPr id="16" name="object 16"/>
          <p:cNvSpPr txBox="1"/>
          <p:nvPr/>
        </p:nvSpPr>
        <p:spPr>
          <a:xfrm>
            <a:off x="6601087" y="1819276"/>
            <a:ext cx="709613" cy="148117"/>
          </a:xfrm>
          <a:prstGeom prst="rect">
            <a:avLst/>
          </a:prstGeom>
        </p:spPr>
        <p:txBody>
          <a:bodyPr vert="horz" wrap="square" lIns="0" tIns="9525" rIns="0" bIns="0" rtlCol="0">
            <a:spAutoFit/>
          </a:bodyPr>
          <a:lstStyle/>
          <a:p>
            <a:pPr marL="9525">
              <a:spcBef>
                <a:spcPts val="75"/>
              </a:spcBef>
              <a:tabLst>
                <a:tab pos="630555"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17" name="object 17"/>
          <p:cNvSpPr/>
          <p:nvPr/>
        </p:nvSpPr>
        <p:spPr>
          <a:xfrm>
            <a:off x="7301174" y="1907381"/>
            <a:ext cx="760095" cy="0"/>
          </a:xfrm>
          <a:custGeom>
            <a:avLst/>
            <a:gdLst/>
            <a:ahLst/>
            <a:cxnLst/>
            <a:rect l="l" t="t" r="r" b="b"/>
            <a:pathLst>
              <a:path w="1013459">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18" name="object 18"/>
          <p:cNvSpPr/>
          <p:nvPr/>
        </p:nvSpPr>
        <p:spPr>
          <a:xfrm>
            <a:off x="8129850" y="1907381"/>
            <a:ext cx="345757" cy="0"/>
          </a:xfrm>
          <a:custGeom>
            <a:avLst/>
            <a:gdLst/>
            <a:ahLst/>
            <a:cxnLst/>
            <a:rect l="l" t="t" r="r" b="b"/>
            <a:pathLst>
              <a:path w="461009">
                <a:moveTo>
                  <a:pt x="0" y="0"/>
                </a:moveTo>
                <a:lnTo>
                  <a:pt x="460400" y="0"/>
                </a:lnTo>
              </a:path>
            </a:pathLst>
          </a:custGeom>
          <a:ln w="12649">
            <a:solidFill>
              <a:srgbClr val="000000"/>
            </a:solidFill>
            <a:prstDash val="dash"/>
          </a:ln>
        </p:spPr>
        <p:txBody>
          <a:bodyPr wrap="square" lIns="0" tIns="0" rIns="0" bIns="0" rtlCol="0"/>
          <a:lstStyle/>
          <a:p>
            <a:endParaRPr sz="1800"/>
          </a:p>
        </p:txBody>
      </p:sp>
      <p:sp>
        <p:nvSpPr>
          <p:cNvPr id="19" name="object 19"/>
          <p:cNvSpPr txBox="1"/>
          <p:nvPr/>
        </p:nvSpPr>
        <p:spPr>
          <a:xfrm>
            <a:off x="8051268" y="1819276"/>
            <a:ext cx="502444" cy="148117"/>
          </a:xfrm>
          <a:prstGeom prst="rect">
            <a:avLst/>
          </a:prstGeom>
        </p:spPr>
        <p:txBody>
          <a:bodyPr vert="horz" wrap="square" lIns="0" tIns="9525" rIns="0" bIns="0" rtlCol="0">
            <a:spAutoFit/>
          </a:bodyPr>
          <a:lstStyle/>
          <a:p>
            <a:pPr marL="9525">
              <a:spcBef>
                <a:spcPts val="75"/>
              </a:spcBef>
              <a:tabLst>
                <a:tab pos="423386"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20" name="object 20"/>
          <p:cNvSpPr txBox="1"/>
          <p:nvPr/>
        </p:nvSpPr>
        <p:spPr>
          <a:xfrm>
            <a:off x="524138" y="1819275"/>
            <a:ext cx="2367439" cy="291747"/>
          </a:xfrm>
          <a:prstGeom prst="rect">
            <a:avLst/>
          </a:prstGeom>
        </p:spPr>
        <p:txBody>
          <a:bodyPr vert="horz" wrap="square" lIns="0" tIns="9525" rIns="0" bIns="0" rtlCol="0">
            <a:spAutoFit/>
          </a:bodyPr>
          <a:lstStyle/>
          <a:p>
            <a:pPr marL="9525">
              <a:lnSpc>
                <a:spcPts val="1061"/>
              </a:lnSpc>
              <a:spcBef>
                <a:spcPts val="75"/>
              </a:spcBef>
              <a:tabLst>
                <a:tab pos="768668" algn="l"/>
                <a:tab pos="1321117" algn="l"/>
                <a:tab pos="2011680"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tabLst>
                <a:tab pos="768668" algn="l"/>
                <a:tab pos="2011680"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fname</a:t>
            </a:r>
            <a:r>
              <a:rPr sz="900" dirty="0">
                <a:latin typeface="Courier New"/>
                <a:cs typeface="Courier New"/>
              </a:rPr>
              <a:t>	|</a:t>
            </a:r>
            <a:r>
              <a:rPr sz="900" spc="-11" dirty="0">
                <a:latin typeface="Courier New"/>
                <a:cs typeface="Courier New"/>
              </a:rPr>
              <a:t> </a:t>
            </a:r>
            <a:r>
              <a:rPr sz="900" dirty="0">
                <a:latin typeface="Courier New"/>
                <a:cs typeface="Courier New"/>
              </a:rPr>
              <a:t>minit</a:t>
            </a:r>
            <a:r>
              <a:rPr sz="900" spc="-8" dirty="0">
                <a:latin typeface="Courier New"/>
                <a:cs typeface="Courier New"/>
              </a:rPr>
              <a:t> </a:t>
            </a:r>
            <a:r>
              <a:rPr sz="900" dirty="0">
                <a:latin typeface="Courier New"/>
                <a:cs typeface="Courier New"/>
              </a:rPr>
              <a:t>|</a:t>
            </a:r>
            <a:r>
              <a:rPr sz="900" spc="-11" dirty="0">
                <a:latin typeface="Courier New"/>
                <a:cs typeface="Courier New"/>
              </a:rPr>
              <a:t> </a:t>
            </a:r>
            <a:r>
              <a:rPr sz="900" spc="-8" dirty="0">
                <a:latin typeface="Courier New"/>
                <a:cs typeface="Courier New"/>
              </a:rPr>
              <a:t>lname</a:t>
            </a:r>
            <a:r>
              <a:rPr sz="900" dirty="0">
                <a:latin typeface="Courier New"/>
                <a:cs typeface="Courier New"/>
              </a:rPr>
              <a:t>	|</a:t>
            </a:r>
            <a:r>
              <a:rPr sz="900" spc="-4" dirty="0">
                <a:latin typeface="Courier New"/>
                <a:cs typeface="Courier New"/>
              </a:rPr>
              <a:t> </a:t>
            </a:r>
            <a:r>
              <a:rPr sz="900" spc="-19" dirty="0">
                <a:latin typeface="Courier New"/>
                <a:cs typeface="Courier New"/>
              </a:rPr>
              <a:t>ssn</a:t>
            </a:r>
            <a:endParaRPr sz="900">
              <a:latin typeface="Courier New"/>
              <a:cs typeface="Courier New"/>
            </a:endParaRPr>
          </a:p>
        </p:txBody>
      </p:sp>
      <p:sp>
        <p:nvSpPr>
          <p:cNvPr id="21" name="object 21"/>
          <p:cNvSpPr txBox="1"/>
          <p:nvPr/>
        </p:nvSpPr>
        <p:spPr>
          <a:xfrm>
            <a:off x="3355443" y="1951864"/>
            <a:ext cx="502920"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4" dirty="0">
                <a:latin typeface="Courier New"/>
                <a:cs typeface="Courier New"/>
              </a:rPr>
              <a:t> </a:t>
            </a:r>
            <a:r>
              <a:rPr sz="900" spc="-8" dirty="0">
                <a:latin typeface="Courier New"/>
                <a:cs typeface="Courier New"/>
              </a:rPr>
              <a:t>bdate</a:t>
            </a:r>
            <a:endParaRPr sz="900">
              <a:latin typeface="Courier New"/>
              <a:cs typeface="Courier New"/>
            </a:endParaRPr>
          </a:p>
        </p:txBody>
      </p:sp>
      <p:sp>
        <p:nvSpPr>
          <p:cNvPr id="22" name="object 22"/>
          <p:cNvSpPr txBox="1"/>
          <p:nvPr/>
        </p:nvSpPr>
        <p:spPr>
          <a:xfrm>
            <a:off x="4253174" y="1951864"/>
            <a:ext cx="641033"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4" dirty="0">
                <a:latin typeface="Courier New"/>
                <a:cs typeface="Courier New"/>
              </a:rPr>
              <a:t> </a:t>
            </a:r>
            <a:r>
              <a:rPr sz="900" spc="-8" dirty="0">
                <a:latin typeface="Courier New"/>
                <a:cs typeface="Courier New"/>
              </a:rPr>
              <a:t>address</a:t>
            </a:r>
            <a:endParaRPr sz="900">
              <a:latin typeface="Courier New"/>
              <a:cs typeface="Courier New"/>
            </a:endParaRPr>
          </a:p>
        </p:txBody>
      </p:sp>
      <p:sp>
        <p:nvSpPr>
          <p:cNvPr id="23" name="object 23"/>
          <p:cNvSpPr txBox="1"/>
          <p:nvPr/>
        </p:nvSpPr>
        <p:spPr>
          <a:xfrm>
            <a:off x="6117693" y="1951864"/>
            <a:ext cx="364807"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4" dirty="0">
                <a:latin typeface="Courier New"/>
                <a:cs typeface="Courier New"/>
              </a:rPr>
              <a:t> </a:t>
            </a:r>
            <a:r>
              <a:rPr sz="900" spc="-19" dirty="0">
                <a:latin typeface="Courier New"/>
                <a:cs typeface="Courier New"/>
              </a:rPr>
              <a:t>sex</a:t>
            </a:r>
            <a:endParaRPr sz="900">
              <a:latin typeface="Courier New"/>
              <a:cs typeface="Courier New"/>
            </a:endParaRPr>
          </a:p>
        </p:txBody>
      </p:sp>
      <p:sp>
        <p:nvSpPr>
          <p:cNvPr id="24" name="object 24"/>
          <p:cNvSpPr txBox="1"/>
          <p:nvPr/>
        </p:nvSpPr>
        <p:spPr>
          <a:xfrm>
            <a:off x="6601087" y="1951864"/>
            <a:ext cx="1952625"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19" dirty="0">
                <a:latin typeface="Courier New"/>
                <a:cs typeface="Courier New"/>
              </a:rPr>
              <a:t> </a:t>
            </a:r>
            <a:r>
              <a:rPr sz="900" dirty="0">
                <a:latin typeface="Courier New"/>
                <a:cs typeface="Courier New"/>
              </a:rPr>
              <a:t>salary</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super_ssn</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dno</a:t>
            </a:r>
            <a:r>
              <a:rPr sz="900" spc="-15"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25" name="object 25"/>
          <p:cNvSpPr/>
          <p:nvPr/>
        </p:nvSpPr>
        <p:spPr>
          <a:xfrm>
            <a:off x="602719" y="2183987"/>
            <a:ext cx="691039" cy="0"/>
          </a:xfrm>
          <a:custGeom>
            <a:avLst/>
            <a:gdLst/>
            <a:ahLst/>
            <a:cxnLst/>
            <a:rect l="l" t="t" r="r" b="b"/>
            <a:pathLst>
              <a:path w="921385">
                <a:moveTo>
                  <a:pt x="0" y="0"/>
                </a:moveTo>
                <a:lnTo>
                  <a:pt x="920800" y="0"/>
                </a:lnTo>
              </a:path>
            </a:pathLst>
          </a:custGeom>
          <a:ln w="12649">
            <a:solidFill>
              <a:srgbClr val="000000"/>
            </a:solidFill>
            <a:prstDash val="dash"/>
          </a:ln>
        </p:spPr>
        <p:txBody>
          <a:bodyPr wrap="square" lIns="0" tIns="0" rIns="0" bIns="0" rtlCol="0"/>
          <a:lstStyle/>
          <a:p>
            <a:endParaRPr sz="1800"/>
          </a:p>
        </p:txBody>
      </p:sp>
      <p:sp>
        <p:nvSpPr>
          <p:cNvPr id="26" name="object 26"/>
          <p:cNvSpPr/>
          <p:nvPr/>
        </p:nvSpPr>
        <p:spPr>
          <a:xfrm>
            <a:off x="1362338" y="2183987"/>
            <a:ext cx="483870" cy="0"/>
          </a:xfrm>
          <a:custGeom>
            <a:avLst/>
            <a:gdLst/>
            <a:ahLst/>
            <a:cxnLst/>
            <a:rect l="l" t="t" r="r" b="b"/>
            <a:pathLst>
              <a:path w="645160">
                <a:moveTo>
                  <a:pt x="0" y="0"/>
                </a:moveTo>
                <a:lnTo>
                  <a:pt x="644560" y="0"/>
                </a:lnTo>
              </a:path>
            </a:pathLst>
          </a:custGeom>
          <a:ln w="12649">
            <a:solidFill>
              <a:srgbClr val="000000"/>
            </a:solidFill>
            <a:prstDash val="dash"/>
          </a:ln>
        </p:spPr>
        <p:txBody>
          <a:bodyPr wrap="square" lIns="0" tIns="0" rIns="0" bIns="0" rtlCol="0"/>
          <a:lstStyle/>
          <a:p>
            <a:endParaRPr sz="1800"/>
          </a:p>
        </p:txBody>
      </p:sp>
      <p:sp>
        <p:nvSpPr>
          <p:cNvPr id="27" name="object 27"/>
          <p:cNvSpPr/>
          <p:nvPr/>
        </p:nvSpPr>
        <p:spPr>
          <a:xfrm>
            <a:off x="1914787" y="2183987"/>
            <a:ext cx="621983" cy="0"/>
          </a:xfrm>
          <a:custGeom>
            <a:avLst/>
            <a:gdLst/>
            <a:ahLst/>
            <a:cxnLst/>
            <a:rect l="l" t="t" r="r" b="b"/>
            <a:pathLst>
              <a:path w="829310">
                <a:moveTo>
                  <a:pt x="0" y="0"/>
                </a:moveTo>
                <a:lnTo>
                  <a:pt x="828720" y="0"/>
                </a:lnTo>
              </a:path>
            </a:pathLst>
          </a:custGeom>
          <a:ln w="12649">
            <a:solidFill>
              <a:srgbClr val="000000"/>
            </a:solidFill>
            <a:prstDash val="dash"/>
          </a:ln>
        </p:spPr>
        <p:txBody>
          <a:bodyPr wrap="square" lIns="0" tIns="0" rIns="0" bIns="0" rtlCol="0"/>
          <a:lstStyle/>
          <a:p>
            <a:endParaRPr sz="1800"/>
          </a:p>
        </p:txBody>
      </p:sp>
      <p:sp>
        <p:nvSpPr>
          <p:cNvPr id="28" name="object 28"/>
          <p:cNvSpPr txBox="1"/>
          <p:nvPr/>
        </p:nvSpPr>
        <p:spPr>
          <a:xfrm>
            <a:off x="524137" y="2095882"/>
            <a:ext cx="2090738" cy="148117"/>
          </a:xfrm>
          <a:prstGeom prst="rect">
            <a:avLst/>
          </a:prstGeom>
        </p:spPr>
        <p:txBody>
          <a:bodyPr vert="horz" wrap="square" lIns="0" tIns="9525" rIns="0" bIns="0" rtlCol="0">
            <a:spAutoFit/>
          </a:bodyPr>
          <a:lstStyle/>
          <a:p>
            <a:pPr marL="9525">
              <a:spcBef>
                <a:spcPts val="75"/>
              </a:spcBef>
              <a:tabLst>
                <a:tab pos="768668" algn="l"/>
                <a:tab pos="1321117" algn="l"/>
                <a:tab pos="2011680"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29" name="object 29"/>
          <p:cNvSpPr/>
          <p:nvPr/>
        </p:nvSpPr>
        <p:spPr>
          <a:xfrm>
            <a:off x="2605349" y="2183987"/>
            <a:ext cx="760095" cy="0"/>
          </a:xfrm>
          <a:custGeom>
            <a:avLst/>
            <a:gdLst/>
            <a:ahLst/>
            <a:cxnLst/>
            <a:rect l="l" t="t" r="r" b="b"/>
            <a:pathLst>
              <a:path w="1013460">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30" name="object 30"/>
          <p:cNvSpPr txBox="1"/>
          <p:nvPr/>
        </p:nvSpPr>
        <p:spPr>
          <a:xfrm>
            <a:off x="3355444" y="2095882"/>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31" name="object 31"/>
          <p:cNvSpPr/>
          <p:nvPr/>
        </p:nvSpPr>
        <p:spPr>
          <a:xfrm>
            <a:off x="3434025" y="2183987"/>
            <a:ext cx="829151" cy="0"/>
          </a:xfrm>
          <a:custGeom>
            <a:avLst/>
            <a:gdLst/>
            <a:ahLst/>
            <a:cxnLst/>
            <a:rect l="l" t="t" r="r" b="b"/>
            <a:pathLst>
              <a:path w="1105535">
                <a:moveTo>
                  <a:pt x="0" y="0"/>
                </a:moveTo>
                <a:lnTo>
                  <a:pt x="1104961" y="0"/>
                </a:lnTo>
              </a:path>
            </a:pathLst>
          </a:custGeom>
          <a:ln w="12649">
            <a:solidFill>
              <a:srgbClr val="000000"/>
            </a:solidFill>
            <a:prstDash val="dash"/>
          </a:ln>
        </p:spPr>
        <p:txBody>
          <a:bodyPr wrap="square" lIns="0" tIns="0" rIns="0" bIns="0" rtlCol="0"/>
          <a:lstStyle/>
          <a:p>
            <a:endParaRPr sz="1800"/>
          </a:p>
        </p:txBody>
      </p:sp>
      <p:sp>
        <p:nvSpPr>
          <p:cNvPr id="32" name="object 32"/>
          <p:cNvSpPr txBox="1"/>
          <p:nvPr/>
        </p:nvSpPr>
        <p:spPr>
          <a:xfrm>
            <a:off x="4253175" y="2095882"/>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33" name="object 33"/>
          <p:cNvSpPr/>
          <p:nvPr/>
        </p:nvSpPr>
        <p:spPr>
          <a:xfrm>
            <a:off x="4331756" y="2183987"/>
            <a:ext cx="1795939" cy="0"/>
          </a:xfrm>
          <a:custGeom>
            <a:avLst/>
            <a:gdLst/>
            <a:ahLst/>
            <a:cxnLst/>
            <a:rect l="l" t="t" r="r" b="b"/>
            <a:pathLst>
              <a:path w="2394584">
                <a:moveTo>
                  <a:pt x="0" y="0"/>
                </a:moveTo>
                <a:lnTo>
                  <a:pt x="2394082" y="0"/>
                </a:lnTo>
              </a:path>
            </a:pathLst>
          </a:custGeom>
          <a:ln w="12649">
            <a:solidFill>
              <a:srgbClr val="000000"/>
            </a:solidFill>
            <a:prstDash val="dash"/>
          </a:ln>
        </p:spPr>
        <p:txBody>
          <a:bodyPr wrap="square" lIns="0" tIns="0" rIns="0" bIns="0" rtlCol="0"/>
          <a:lstStyle/>
          <a:p>
            <a:endParaRPr sz="1800"/>
          </a:p>
        </p:txBody>
      </p:sp>
      <p:sp>
        <p:nvSpPr>
          <p:cNvPr id="34" name="object 34"/>
          <p:cNvSpPr txBox="1"/>
          <p:nvPr/>
        </p:nvSpPr>
        <p:spPr>
          <a:xfrm>
            <a:off x="6117694" y="2095882"/>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35" name="object 35"/>
          <p:cNvSpPr/>
          <p:nvPr/>
        </p:nvSpPr>
        <p:spPr>
          <a:xfrm>
            <a:off x="6196275" y="2183987"/>
            <a:ext cx="414814" cy="0"/>
          </a:xfrm>
          <a:custGeom>
            <a:avLst/>
            <a:gdLst/>
            <a:ahLst/>
            <a:cxnLst/>
            <a:rect l="l" t="t" r="r" b="b"/>
            <a:pathLst>
              <a:path w="553084">
                <a:moveTo>
                  <a:pt x="0" y="0"/>
                </a:moveTo>
                <a:lnTo>
                  <a:pt x="552480" y="0"/>
                </a:lnTo>
              </a:path>
            </a:pathLst>
          </a:custGeom>
          <a:ln w="12649">
            <a:solidFill>
              <a:srgbClr val="000000"/>
            </a:solidFill>
            <a:prstDash val="dash"/>
          </a:ln>
        </p:spPr>
        <p:txBody>
          <a:bodyPr wrap="square" lIns="0" tIns="0" rIns="0" bIns="0" rtlCol="0"/>
          <a:lstStyle/>
          <a:p>
            <a:endParaRPr sz="1800"/>
          </a:p>
        </p:txBody>
      </p:sp>
      <p:sp>
        <p:nvSpPr>
          <p:cNvPr id="36" name="object 36"/>
          <p:cNvSpPr txBox="1"/>
          <p:nvPr/>
        </p:nvSpPr>
        <p:spPr>
          <a:xfrm>
            <a:off x="6601087" y="2095882"/>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37" name="object 37"/>
          <p:cNvSpPr/>
          <p:nvPr/>
        </p:nvSpPr>
        <p:spPr>
          <a:xfrm>
            <a:off x="6679669" y="2183987"/>
            <a:ext cx="552926" cy="0"/>
          </a:xfrm>
          <a:custGeom>
            <a:avLst/>
            <a:gdLst/>
            <a:ahLst/>
            <a:cxnLst/>
            <a:rect l="l" t="t" r="r" b="b"/>
            <a:pathLst>
              <a:path w="737234">
                <a:moveTo>
                  <a:pt x="0" y="0"/>
                </a:moveTo>
                <a:lnTo>
                  <a:pt x="736640" y="0"/>
                </a:lnTo>
              </a:path>
            </a:pathLst>
          </a:custGeom>
          <a:ln w="12649">
            <a:solidFill>
              <a:srgbClr val="000000"/>
            </a:solidFill>
            <a:prstDash val="dash"/>
          </a:ln>
        </p:spPr>
        <p:txBody>
          <a:bodyPr wrap="square" lIns="0" tIns="0" rIns="0" bIns="0" rtlCol="0"/>
          <a:lstStyle/>
          <a:p>
            <a:endParaRPr sz="1800"/>
          </a:p>
        </p:txBody>
      </p:sp>
      <p:sp>
        <p:nvSpPr>
          <p:cNvPr id="38" name="object 38"/>
          <p:cNvSpPr txBox="1"/>
          <p:nvPr/>
        </p:nvSpPr>
        <p:spPr>
          <a:xfrm>
            <a:off x="7222594" y="2095882"/>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39" name="object 39"/>
          <p:cNvSpPr/>
          <p:nvPr/>
        </p:nvSpPr>
        <p:spPr>
          <a:xfrm>
            <a:off x="7301174" y="2183987"/>
            <a:ext cx="760095" cy="0"/>
          </a:xfrm>
          <a:custGeom>
            <a:avLst/>
            <a:gdLst/>
            <a:ahLst/>
            <a:cxnLst/>
            <a:rect l="l" t="t" r="r" b="b"/>
            <a:pathLst>
              <a:path w="1013459">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40" name="object 40"/>
          <p:cNvSpPr txBox="1"/>
          <p:nvPr/>
        </p:nvSpPr>
        <p:spPr>
          <a:xfrm>
            <a:off x="8051269" y="2095882"/>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41" name="object 41"/>
          <p:cNvSpPr/>
          <p:nvPr/>
        </p:nvSpPr>
        <p:spPr>
          <a:xfrm>
            <a:off x="8129850" y="2183987"/>
            <a:ext cx="345757" cy="0"/>
          </a:xfrm>
          <a:custGeom>
            <a:avLst/>
            <a:gdLst/>
            <a:ahLst/>
            <a:cxnLst/>
            <a:rect l="l" t="t" r="r" b="b"/>
            <a:pathLst>
              <a:path w="461009">
                <a:moveTo>
                  <a:pt x="0" y="0"/>
                </a:moveTo>
                <a:lnTo>
                  <a:pt x="460400" y="0"/>
                </a:lnTo>
              </a:path>
            </a:pathLst>
          </a:custGeom>
          <a:ln w="12649">
            <a:solidFill>
              <a:srgbClr val="000000"/>
            </a:solidFill>
            <a:prstDash val="dash"/>
          </a:ln>
        </p:spPr>
        <p:txBody>
          <a:bodyPr wrap="square" lIns="0" tIns="0" rIns="0" bIns="0" rtlCol="0"/>
          <a:lstStyle/>
          <a:p>
            <a:endParaRPr sz="1800"/>
          </a:p>
        </p:txBody>
      </p:sp>
      <p:sp>
        <p:nvSpPr>
          <p:cNvPr id="42" name="object 42"/>
          <p:cNvSpPr txBox="1"/>
          <p:nvPr/>
        </p:nvSpPr>
        <p:spPr>
          <a:xfrm>
            <a:off x="8465606" y="2095882"/>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43" name="object 43"/>
          <p:cNvSpPr txBox="1"/>
          <p:nvPr/>
        </p:nvSpPr>
        <p:spPr>
          <a:xfrm>
            <a:off x="524137" y="2228469"/>
            <a:ext cx="985838" cy="148117"/>
          </a:xfrm>
          <a:prstGeom prst="rect">
            <a:avLst/>
          </a:prstGeom>
        </p:spPr>
        <p:txBody>
          <a:bodyPr vert="horz" wrap="square" lIns="0" tIns="9525" rIns="0" bIns="0" rtlCol="0">
            <a:spAutoFit/>
          </a:bodyPr>
          <a:lstStyle/>
          <a:p>
            <a:pPr marL="9525">
              <a:spcBef>
                <a:spcPts val="75"/>
              </a:spcBef>
              <a:tabLst>
                <a:tab pos="768668" algn="l"/>
              </a:tabLst>
            </a:pPr>
            <a:r>
              <a:rPr sz="900" dirty="0">
                <a:latin typeface="Courier New"/>
                <a:cs typeface="Courier New"/>
              </a:rPr>
              <a:t>|</a:t>
            </a:r>
            <a:r>
              <a:rPr sz="900" spc="-4" dirty="0">
                <a:latin typeface="Courier New"/>
                <a:cs typeface="Courier New"/>
              </a:rPr>
              <a:t> </a:t>
            </a:r>
            <a:r>
              <a:rPr sz="900" spc="-15" dirty="0">
                <a:latin typeface="Courier New"/>
                <a:cs typeface="Courier New"/>
              </a:rPr>
              <a:t>JOHN</a:t>
            </a:r>
            <a:r>
              <a:rPr sz="900" dirty="0">
                <a:latin typeface="Courier New"/>
                <a:cs typeface="Courier New"/>
              </a:rPr>
              <a:t>	|</a:t>
            </a:r>
            <a:r>
              <a:rPr sz="900" spc="-4" dirty="0">
                <a:latin typeface="Courier New"/>
                <a:cs typeface="Courier New"/>
              </a:rPr>
              <a:t> </a:t>
            </a:r>
            <a:r>
              <a:rPr sz="900" spc="-38" dirty="0">
                <a:latin typeface="Courier New"/>
                <a:cs typeface="Courier New"/>
              </a:rPr>
              <a:t>B</a:t>
            </a:r>
            <a:endParaRPr sz="900">
              <a:latin typeface="Courier New"/>
              <a:cs typeface="Courier New"/>
            </a:endParaRPr>
          </a:p>
        </p:txBody>
      </p:sp>
      <p:sp>
        <p:nvSpPr>
          <p:cNvPr id="44" name="object 44"/>
          <p:cNvSpPr txBox="1"/>
          <p:nvPr/>
        </p:nvSpPr>
        <p:spPr>
          <a:xfrm>
            <a:off x="2526769" y="2228469"/>
            <a:ext cx="3817144"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15" dirty="0">
                <a:latin typeface="Courier New"/>
                <a:cs typeface="Courier New"/>
              </a:rPr>
              <a:t> </a:t>
            </a:r>
            <a:r>
              <a:rPr sz="900" dirty="0">
                <a:latin typeface="Courier New"/>
                <a:cs typeface="Courier New"/>
              </a:rPr>
              <a:t>123456789</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1" dirty="0">
                <a:latin typeface="Courier New"/>
                <a:cs typeface="Courier New"/>
              </a:rPr>
              <a:t> </a:t>
            </a:r>
            <a:r>
              <a:rPr sz="900" dirty="0">
                <a:latin typeface="Courier New"/>
                <a:cs typeface="Courier New"/>
              </a:rPr>
              <a:t>731</a:t>
            </a:r>
            <a:r>
              <a:rPr sz="900" spc="-15" dirty="0">
                <a:latin typeface="Courier New"/>
                <a:cs typeface="Courier New"/>
              </a:rPr>
              <a:t> </a:t>
            </a:r>
            <a:r>
              <a:rPr sz="900" dirty="0">
                <a:latin typeface="Courier New"/>
                <a:cs typeface="Courier New"/>
              </a:rPr>
              <a:t>FONDREN,</a:t>
            </a:r>
            <a:r>
              <a:rPr sz="900" spc="-15" dirty="0">
                <a:latin typeface="Courier New"/>
                <a:cs typeface="Courier New"/>
              </a:rPr>
              <a:t> </a:t>
            </a:r>
            <a:r>
              <a:rPr sz="900" dirty="0">
                <a:latin typeface="Courier New"/>
                <a:cs typeface="Courier New"/>
              </a:rPr>
              <a:t>HOUSTON,</a:t>
            </a:r>
            <a:r>
              <a:rPr sz="900" spc="-15" dirty="0">
                <a:latin typeface="Courier New"/>
                <a:cs typeface="Courier New"/>
              </a:rPr>
              <a:t> </a:t>
            </a:r>
            <a:r>
              <a:rPr sz="900" dirty="0">
                <a:latin typeface="Courier New"/>
                <a:cs typeface="Courier New"/>
              </a:rPr>
              <a:t>TX</a:t>
            </a:r>
            <a:r>
              <a:rPr sz="900" spc="-15" dirty="0">
                <a:latin typeface="Courier New"/>
                <a:cs typeface="Courier New"/>
              </a:rPr>
              <a:t> </a:t>
            </a:r>
            <a:r>
              <a:rPr sz="900" dirty="0">
                <a:latin typeface="Courier New"/>
                <a:cs typeface="Courier New"/>
              </a:rPr>
              <a:t>|</a:t>
            </a:r>
            <a:r>
              <a:rPr sz="900" spc="-11" dirty="0">
                <a:latin typeface="Courier New"/>
                <a:cs typeface="Courier New"/>
              </a:rPr>
              <a:t> </a:t>
            </a:r>
            <a:r>
              <a:rPr sz="900" spc="-38" dirty="0">
                <a:latin typeface="Courier New"/>
                <a:cs typeface="Courier New"/>
              </a:rPr>
              <a:t>M</a:t>
            </a:r>
            <a:endParaRPr sz="900">
              <a:latin typeface="Courier New"/>
              <a:cs typeface="Courier New"/>
            </a:endParaRPr>
          </a:p>
        </p:txBody>
      </p:sp>
      <p:sp>
        <p:nvSpPr>
          <p:cNvPr id="45" name="object 45"/>
          <p:cNvSpPr txBox="1"/>
          <p:nvPr/>
        </p:nvSpPr>
        <p:spPr>
          <a:xfrm>
            <a:off x="524137" y="2363343"/>
            <a:ext cx="985838"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15" dirty="0">
                <a:latin typeface="Courier New"/>
                <a:cs typeface="Courier New"/>
              </a:rPr>
              <a:t> </a:t>
            </a:r>
            <a:r>
              <a:rPr sz="900" dirty="0">
                <a:latin typeface="Courier New"/>
                <a:cs typeface="Courier New"/>
              </a:rPr>
              <a:t>FRANKLIN</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38" dirty="0">
                <a:latin typeface="Courier New"/>
                <a:cs typeface="Courier New"/>
              </a:rPr>
              <a:t>T</a:t>
            </a:r>
            <a:endParaRPr sz="900">
              <a:latin typeface="Courier New"/>
              <a:cs typeface="Courier New"/>
            </a:endParaRPr>
          </a:p>
        </p:txBody>
      </p:sp>
      <p:sp>
        <p:nvSpPr>
          <p:cNvPr id="46" name="object 46"/>
          <p:cNvSpPr txBox="1"/>
          <p:nvPr/>
        </p:nvSpPr>
        <p:spPr>
          <a:xfrm>
            <a:off x="1836207" y="2228468"/>
            <a:ext cx="571976" cy="430246"/>
          </a:xfrm>
          <a:prstGeom prst="rect">
            <a:avLst/>
          </a:prstGeom>
        </p:spPr>
        <p:txBody>
          <a:bodyPr vert="horz" wrap="square" lIns="0" tIns="9525" rIns="0" bIns="0" rtlCol="0">
            <a:spAutoFit/>
          </a:bodyPr>
          <a:lstStyle/>
          <a:p>
            <a:pPr marL="9525">
              <a:lnSpc>
                <a:spcPts val="1073"/>
              </a:lnSpc>
              <a:spcBef>
                <a:spcPts val="75"/>
              </a:spcBef>
            </a:pPr>
            <a:r>
              <a:rPr sz="900" dirty="0">
                <a:latin typeface="Courier New"/>
                <a:cs typeface="Courier New"/>
              </a:rPr>
              <a:t>|</a:t>
            </a:r>
            <a:r>
              <a:rPr sz="900" spc="-4" dirty="0">
                <a:latin typeface="Courier New"/>
                <a:cs typeface="Courier New"/>
              </a:rPr>
              <a:t> </a:t>
            </a:r>
            <a:r>
              <a:rPr sz="900" spc="-8" dirty="0">
                <a:latin typeface="Courier New"/>
                <a:cs typeface="Courier New"/>
              </a:rPr>
              <a:t>SMITH</a:t>
            </a:r>
            <a:endParaRPr sz="900">
              <a:latin typeface="Courier New"/>
              <a:cs typeface="Courier New"/>
            </a:endParaRPr>
          </a:p>
          <a:p>
            <a:pPr marL="9525">
              <a:lnSpc>
                <a:spcPts val="1073"/>
              </a:lnSpc>
            </a:pPr>
            <a:r>
              <a:rPr sz="900" dirty="0">
                <a:latin typeface="Courier New"/>
                <a:cs typeface="Courier New"/>
              </a:rPr>
              <a:t>|</a:t>
            </a:r>
            <a:r>
              <a:rPr sz="900" spc="-4" dirty="0">
                <a:latin typeface="Courier New"/>
                <a:cs typeface="Courier New"/>
              </a:rPr>
              <a:t> </a:t>
            </a:r>
            <a:r>
              <a:rPr sz="900" spc="-15" dirty="0">
                <a:latin typeface="Courier New"/>
                <a:cs typeface="Courier New"/>
              </a:rPr>
              <a:t>WONG</a:t>
            </a:r>
            <a:endParaRPr sz="900">
              <a:latin typeface="Courier New"/>
              <a:cs typeface="Courier New"/>
            </a:endParaRPr>
          </a:p>
          <a:p>
            <a:pPr marL="9525">
              <a:spcBef>
                <a:spcPts val="34"/>
              </a:spcBef>
            </a:pPr>
            <a:r>
              <a:rPr sz="900" dirty="0">
                <a:latin typeface="Courier New"/>
                <a:cs typeface="Courier New"/>
              </a:rPr>
              <a:t>|</a:t>
            </a:r>
            <a:r>
              <a:rPr sz="900" spc="-4" dirty="0">
                <a:latin typeface="Courier New"/>
                <a:cs typeface="Courier New"/>
              </a:rPr>
              <a:t> </a:t>
            </a:r>
            <a:r>
              <a:rPr sz="900" spc="-8" dirty="0">
                <a:latin typeface="Courier New"/>
                <a:cs typeface="Courier New"/>
              </a:rPr>
              <a:t>ZELAYA</a:t>
            </a:r>
            <a:endParaRPr sz="900">
              <a:latin typeface="Courier New"/>
              <a:cs typeface="Courier New"/>
            </a:endParaRPr>
          </a:p>
        </p:txBody>
      </p:sp>
      <p:sp>
        <p:nvSpPr>
          <p:cNvPr id="47" name="object 47"/>
          <p:cNvSpPr txBox="1"/>
          <p:nvPr/>
        </p:nvSpPr>
        <p:spPr>
          <a:xfrm>
            <a:off x="524137" y="2505075"/>
            <a:ext cx="985838" cy="291747"/>
          </a:xfrm>
          <a:prstGeom prst="rect">
            <a:avLst/>
          </a:prstGeom>
        </p:spPr>
        <p:txBody>
          <a:bodyPr vert="horz" wrap="square" lIns="0" tIns="9525" rIns="0" bIns="0" rtlCol="0">
            <a:spAutoFit/>
          </a:bodyPr>
          <a:lstStyle/>
          <a:p>
            <a:pPr marL="9525">
              <a:lnSpc>
                <a:spcPts val="1061"/>
              </a:lnSpc>
              <a:spcBef>
                <a:spcPts val="75"/>
              </a:spcBef>
              <a:tabLst>
                <a:tab pos="768668"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ALICIA</a:t>
            </a:r>
            <a:r>
              <a:rPr sz="900" dirty="0">
                <a:latin typeface="Courier New"/>
                <a:cs typeface="Courier New"/>
              </a:rPr>
              <a:t>	|</a:t>
            </a:r>
            <a:r>
              <a:rPr sz="900" spc="-4" dirty="0">
                <a:latin typeface="Courier New"/>
                <a:cs typeface="Courier New"/>
              </a:rPr>
              <a:t> </a:t>
            </a:r>
            <a:r>
              <a:rPr sz="900" spc="-38" dirty="0">
                <a:latin typeface="Courier New"/>
                <a:cs typeface="Courier New"/>
              </a:rPr>
              <a:t>J</a:t>
            </a:r>
            <a:endParaRPr sz="900">
              <a:latin typeface="Courier New"/>
              <a:cs typeface="Courier New"/>
            </a:endParaRPr>
          </a:p>
          <a:p>
            <a:pPr marL="9525">
              <a:lnSpc>
                <a:spcPts val="1061"/>
              </a:lnSpc>
            </a:pPr>
            <a:r>
              <a:rPr sz="900" dirty="0">
                <a:latin typeface="Courier New"/>
                <a:cs typeface="Courier New"/>
              </a:rPr>
              <a:t>|</a:t>
            </a:r>
            <a:r>
              <a:rPr sz="900" spc="-15" dirty="0">
                <a:latin typeface="Courier New"/>
                <a:cs typeface="Courier New"/>
              </a:rPr>
              <a:t> </a:t>
            </a:r>
            <a:r>
              <a:rPr sz="900" dirty="0">
                <a:latin typeface="Courier New"/>
                <a:cs typeface="Courier New"/>
              </a:rPr>
              <a:t>JENNIFER</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38" dirty="0">
                <a:latin typeface="Courier New"/>
                <a:cs typeface="Courier New"/>
              </a:rPr>
              <a:t>S</a:t>
            </a:r>
            <a:endParaRPr sz="900">
              <a:latin typeface="Courier New"/>
              <a:cs typeface="Courier New"/>
            </a:endParaRPr>
          </a:p>
        </p:txBody>
      </p:sp>
      <p:sp>
        <p:nvSpPr>
          <p:cNvPr id="48" name="object 48"/>
          <p:cNvSpPr txBox="1"/>
          <p:nvPr/>
        </p:nvSpPr>
        <p:spPr>
          <a:xfrm>
            <a:off x="1836207" y="2637664"/>
            <a:ext cx="4162901"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19" dirty="0">
                <a:latin typeface="Courier New"/>
                <a:cs typeface="Courier New"/>
              </a:rPr>
              <a:t> </a:t>
            </a:r>
            <a:r>
              <a:rPr sz="900" dirty="0">
                <a:latin typeface="Courier New"/>
                <a:cs typeface="Courier New"/>
              </a:rPr>
              <a:t>WALLACE</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dirty="0">
                <a:latin typeface="Courier New"/>
                <a:cs typeface="Courier New"/>
              </a:rPr>
              <a:t>987654321</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9"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291</a:t>
            </a:r>
            <a:r>
              <a:rPr sz="900" spc="-15" dirty="0">
                <a:latin typeface="Courier New"/>
                <a:cs typeface="Courier New"/>
              </a:rPr>
              <a:t> </a:t>
            </a:r>
            <a:r>
              <a:rPr sz="900" dirty="0">
                <a:latin typeface="Courier New"/>
                <a:cs typeface="Courier New"/>
              </a:rPr>
              <a:t>BERRY,</a:t>
            </a:r>
            <a:r>
              <a:rPr sz="900" spc="-19" dirty="0">
                <a:latin typeface="Courier New"/>
                <a:cs typeface="Courier New"/>
              </a:rPr>
              <a:t> </a:t>
            </a:r>
            <a:r>
              <a:rPr sz="900" dirty="0">
                <a:latin typeface="Courier New"/>
                <a:cs typeface="Courier New"/>
              </a:rPr>
              <a:t>BELLAIRE,</a:t>
            </a:r>
            <a:r>
              <a:rPr sz="900" spc="-15" dirty="0">
                <a:latin typeface="Courier New"/>
                <a:cs typeface="Courier New"/>
              </a:rPr>
              <a:t> </a:t>
            </a:r>
            <a:r>
              <a:rPr sz="900" spc="-19" dirty="0">
                <a:latin typeface="Courier New"/>
                <a:cs typeface="Courier New"/>
              </a:rPr>
              <a:t>TX</a:t>
            </a:r>
            <a:endParaRPr sz="900">
              <a:latin typeface="Courier New"/>
              <a:cs typeface="Courier New"/>
            </a:endParaRPr>
          </a:p>
        </p:txBody>
      </p:sp>
      <p:sp>
        <p:nvSpPr>
          <p:cNvPr id="49" name="object 49"/>
          <p:cNvSpPr txBox="1"/>
          <p:nvPr/>
        </p:nvSpPr>
        <p:spPr>
          <a:xfrm>
            <a:off x="2526769" y="2363342"/>
            <a:ext cx="3817144" cy="430246"/>
          </a:xfrm>
          <a:prstGeom prst="rect">
            <a:avLst/>
          </a:prstGeom>
        </p:spPr>
        <p:txBody>
          <a:bodyPr vert="horz" wrap="square" lIns="0" tIns="9525" rIns="0" bIns="0" rtlCol="0">
            <a:spAutoFit/>
          </a:bodyPr>
          <a:lstStyle/>
          <a:p>
            <a:pPr marR="3810" algn="r">
              <a:spcBef>
                <a:spcPts val="75"/>
              </a:spcBef>
              <a:tabLst>
                <a:tab pos="3590449" algn="l"/>
              </a:tabLst>
            </a:pPr>
            <a:r>
              <a:rPr sz="900" dirty="0">
                <a:latin typeface="Courier New"/>
                <a:cs typeface="Courier New"/>
              </a:rPr>
              <a:t>|</a:t>
            </a:r>
            <a:r>
              <a:rPr sz="900" spc="-19" dirty="0">
                <a:latin typeface="Courier New"/>
                <a:cs typeface="Courier New"/>
              </a:rPr>
              <a:t> </a:t>
            </a:r>
            <a:r>
              <a:rPr sz="900" dirty="0">
                <a:latin typeface="Courier New"/>
                <a:cs typeface="Courier New"/>
              </a:rPr>
              <a:t>333445555</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638</a:t>
            </a:r>
            <a:r>
              <a:rPr sz="900" spc="-19" dirty="0">
                <a:latin typeface="Courier New"/>
                <a:cs typeface="Courier New"/>
              </a:rPr>
              <a:t> </a:t>
            </a:r>
            <a:r>
              <a:rPr sz="900" dirty="0">
                <a:latin typeface="Courier New"/>
                <a:cs typeface="Courier New"/>
              </a:rPr>
              <a:t>VOSS,HOUSTON</a:t>
            </a:r>
            <a:r>
              <a:rPr sz="900" spc="-15" dirty="0">
                <a:latin typeface="Courier New"/>
                <a:cs typeface="Courier New"/>
              </a:rPr>
              <a:t> </a:t>
            </a:r>
            <a:r>
              <a:rPr sz="900" spc="-19" dirty="0">
                <a:latin typeface="Courier New"/>
                <a:cs typeface="Courier New"/>
              </a:rPr>
              <a:t>TX</a:t>
            </a:r>
            <a:r>
              <a:rPr sz="900" dirty="0">
                <a:latin typeface="Courier New"/>
                <a:cs typeface="Courier New"/>
              </a:rPr>
              <a:t>	|</a:t>
            </a:r>
            <a:r>
              <a:rPr sz="900" spc="-4" dirty="0">
                <a:latin typeface="Courier New"/>
                <a:cs typeface="Courier New"/>
              </a:rPr>
              <a:t> </a:t>
            </a:r>
            <a:r>
              <a:rPr sz="900" spc="-38" dirty="0">
                <a:latin typeface="Courier New"/>
                <a:cs typeface="Courier New"/>
              </a:rPr>
              <a:t>M</a:t>
            </a:r>
            <a:endParaRPr sz="900">
              <a:latin typeface="Courier New"/>
              <a:cs typeface="Courier New"/>
            </a:endParaRPr>
          </a:p>
          <a:p>
            <a:pPr marR="3810" algn="r">
              <a:lnSpc>
                <a:spcPts val="1061"/>
              </a:lnSpc>
              <a:spcBef>
                <a:spcPts val="34"/>
              </a:spcBef>
              <a:tabLst>
                <a:tab pos="3590449" algn="l"/>
              </a:tabLst>
            </a:pPr>
            <a:r>
              <a:rPr sz="900" dirty="0">
                <a:latin typeface="Courier New"/>
                <a:cs typeface="Courier New"/>
              </a:rPr>
              <a:t>|</a:t>
            </a:r>
            <a:r>
              <a:rPr sz="900" spc="-19" dirty="0">
                <a:latin typeface="Courier New"/>
                <a:cs typeface="Courier New"/>
              </a:rPr>
              <a:t> </a:t>
            </a:r>
            <a:r>
              <a:rPr sz="900" dirty="0">
                <a:latin typeface="Courier New"/>
                <a:cs typeface="Courier New"/>
              </a:rPr>
              <a:t>999887777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dirty="0">
                <a:latin typeface="Courier New"/>
                <a:cs typeface="Courier New"/>
              </a:rPr>
              <a:t>3321</a:t>
            </a:r>
            <a:r>
              <a:rPr sz="900" spc="-15" dirty="0">
                <a:latin typeface="Courier New"/>
                <a:cs typeface="Courier New"/>
              </a:rPr>
              <a:t> </a:t>
            </a:r>
            <a:r>
              <a:rPr sz="900" dirty="0">
                <a:latin typeface="Courier New"/>
                <a:cs typeface="Courier New"/>
              </a:rPr>
              <a:t>CASTLE,</a:t>
            </a:r>
            <a:r>
              <a:rPr sz="900" spc="-15" dirty="0">
                <a:latin typeface="Courier New"/>
                <a:cs typeface="Courier New"/>
              </a:rPr>
              <a:t> </a:t>
            </a:r>
            <a:r>
              <a:rPr sz="900" dirty="0">
                <a:latin typeface="Courier New"/>
                <a:cs typeface="Courier New"/>
              </a:rPr>
              <a:t>SPRING,</a:t>
            </a:r>
            <a:r>
              <a:rPr sz="900" spc="-15" dirty="0">
                <a:latin typeface="Courier New"/>
                <a:cs typeface="Courier New"/>
              </a:rPr>
              <a:t> </a:t>
            </a:r>
            <a:r>
              <a:rPr sz="900" spc="-19" dirty="0">
                <a:latin typeface="Courier New"/>
                <a:cs typeface="Courier New"/>
              </a:rPr>
              <a:t>TX</a:t>
            </a:r>
            <a:r>
              <a:rPr sz="900" dirty="0">
                <a:latin typeface="Courier New"/>
                <a:cs typeface="Courier New"/>
              </a:rPr>
              <a:t>	|</a:t>
            </a:r>
            <a:r>
              <a:rPr sz="900" spc="-4" dirty="0">
                <a:latin typeface="Courier New"/>
                <a:cs typeface="Courier New"/>
              </a:rPr>
              <a:t> </a:t>
            </a:r>
            <a:r>
              <a:rPr sz="900" spc="-38" dirty="0">
                <a:latin typeface="Courier New"/>
                <a:cs typeface="Courier New"/>
              </a:rPr>
              <a:t>F</a:t>
            </a:r>
            <a:endParaRPr sz="900">
              <a:latin typeface="Courier New"/>
              <a:cs typeface="Courier New"/>
            </a:endParaRPr>
          </a:p>
          <a:p>
            <a:pPr marR="3810" algn="r">
              <a:lnSpc>
                <a:spcPts val="1061"/>
              </a:lnSpc>
            </a:pPr>
            <a:r>
              <a:rPr sz="900" dirty="0">
                <a:latin typeface="Courier New"/>
                <a:cs typeface="Courier New"/>
              </a:rPr>
              <a:t>|</a:t>
            </a:r>
            <a:r>
              <a:rPr sz="900" spc="-4" dirty="0">
                <a:latin typeface="Courier New"/>
                <a:cs typeface="Courier New"/>
              </a:rPr>
              <a:t> </a:t>
            </a:r>
            <a:r>
              <a:rPr sz="900" spc="-38" dirty="0">
                <a:latin typeface="Courier New"/>
                <a:cs typeface="Courier New"/>
              </a:rPr>
              <a:t>F</a:t>
            </a:r>
            <a:endParaRPr sz="900">
              <a:latin typeface="Courier New"/>
              <a:cs typeface="Courier New"/>
            </a:endParaRPr>
          </a:p>
        </p:txBody>
      </p:sp>
      <p:sp>
        <p:nvSpPr>
          <p:cNvPr id="50" name="object 50"/>
          <p:cNvSpPr txBox="1"/>
          <p:nvPr/>
        </p:nvSpPr>
        <p:spPr>
          <a:xfrm>
            <a:off x="1836207" y="2781681"/>
            <a:ext cx="4507706" cy="291747"/>
          </a:xfrm>
          <a:prstGeom prst="rect">
            <a:avLst/>
          </a:prstGeom>
        </p:spPr>
        <p:txBody>
          <a:bodyPr vert="horz" wrap="square" lIns="0" tIns="9525" rIns="0" bIns="0" rtlCol="0">
            <a:spAutoFit/>
          </a:bodyPr>
          <a:lstStyle/>
          <a:p>
            <a:pPr marL="9525">
              <a:lnSpc>
                <a:spcPts val="1061"/>
              </a:lnSpc>
              <a:spcBef>
                <a:spcPts val="75"/>
              </a:spcBef>
            </a:pPr>
            <a:r>
              <a:rPr sz="900" dirty="0">
                <a:latin typeface="Courier New"/>
                <a:cs typeface="Courier New"/>
              </a:rPr>
              <a:t>|</a:t>
            </a:r>
            <a:r>
              <a:rPr sz="900" spc="-15" dirty="0">
                <a:latin typeface="Courier New"/>
                <a:cs typeface="Courier New"/>
              </a:rPr>
              <a:t> </a:t>
            </a:r>
            <a:r>
              <a:rPr sz="900" dirty="0">
                <a:latin typeface="Courier New"/>
                <a:cs typeface="Courier New"/>
              </a:rPr>
              <a:t>NARAYAN</a:t>
            </a:r>
            <a:r>
              <a:rPr sz="900" spc="-11"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666884444</a:t>
            </a:r>
            <a:r>
              <a:rPr sz="900" spc="-11"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1"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975</a:t>
            </a:r>
            <a:r>
              <a:rPr sz="900" spc="-11" dirty="0">
                <a:latin typeface="Courier New"/>
                <a:cs typeface="Courier New"/>
              </a:rPr>
              <a:t> </a:t>
            </a:r>
            <a:r>
              <a:rPr sz="900" dirty="0">
                <a:latin typeface="Courier New"/>
                <a:cs typeface="Courier New"/>
              </a:rPr>
              <a:t>FIRE</a:t>
            </a:r>
            <a:r>
              <a:rPr sz="900" spc="-15" dirty="0">
                <a:latin typeface="Courier New"/>
                <a:cs typeface="Courier New"/>
              </a:rPr>
              <a:t> </a:t>
            </a:r>
            <a:r>
              <a:rPr sz="900" dirty="0">
                <a:latin typeface="Courier New"/>
                <a:cs typeface="Courier New"/>
              </a:rPr>
              <a:t>OAK,</a:t>
            </a:r>
            <a:r>
              <a:rPr sz="900" spc="-11" dirty="0">
                <a:latin typeface="Courier New"/>
                <a:cs typeface="Courier New"/>
              </a:rPr>
              <a:t> </a:t>
            </a:r>
            <a:r>
              <a:rPr sz="900" dirty="0">
                <a:latin typeface="Courier New"/>
                <a:cs typeface="Courier New"/>
              </a:rPr>
              <a:t>HUMBLE,</a:t>
            </a:r>
            <a:r>
              <a:rPr sz="900" spc="-15" dirty="0">
                <a:latin typeface="Courier New"/>
                <a:cs typeface="Courier New"/>
              </a:rPr>
              <a:t> </a:t>
            </a:r>
            <a:r>
              <a:rPr sz="900" dirty="0">
                <a:latin typeface="Courier New"/>
                <a:cs typeface="Courier New"/>
              </a:rPr>
              <a:t>TX</a:t>
            </a:r>
            <a:r>
              <a:rPr sz="900" spc="-11" dirty="0">
                <a:latin typeface="Courier New"/>
                <a:cs typeface="Courier New"/>
              </a:rPr>
              <a:t> </a:t>
            </a:r>
            <a:r>
              <a:rPr sz="900" dirty="0">
                <a:latin typeface="Courier New"/>
                <a:cs typeface="Courier New"/>
              </a:rPr>
              <a:t>|</a:t>
            </a:r>
            <a:r>
              <a:rPr sz="900" spc="-11" dirty="0">
                <a:latin typeface="Courier New"/>
                <a:cs typeface="Courier New"/>
              </a:rPr>
              <a:t> </a:t>
            </a:r>
            <a:r>
              <a:rPr sz="900" spc="-38" dirty="0">
                <a:latin typeface="Courier New"/>
                <a:cs typeface="Courier New"/>
              </a:rPr>
              <a:t>M</a:t>
            </a:r>
            <a:endParaRPr sz="900">
              <a:latin typeface="Courier New"/>
              <a:cs typeface="Courier New"/>
            </a:endParaRPr>
          </a:p>
          <a:p>
            <a:pPr marL="9525">
              <a:lnSpc>
                <a:spcPts val="1061"/>
              </a:lnSpc>
              <a:tabLst>
                <a:tab pos="4290536" algn="l"/>
              </a:tabLst>
            </a:pPr>
            <a:r>
              <a:rPr sz="900" dirty="0">
                <a:latin typeface="Courier New"/>
                <a:cs typeface="Courier New"/>
              </a:rPr>
              <a:t>|</a:t>
            </a:r>
            <a:r>
              <a:rPr sz="900" spc="-19" dirty="0">
                <a:latin typeface="Courier New"/>
                <a:cs typeface="Courier New"/>
              </a:rPr>
              <a:t> </a:t>
            </a:r>
            <a:r>
              <a:rPr sz="900" dirty="0">
                <a:latin typeface="Courier New"/>
                <a:cs typeface="Courier New"/>
              </a:rPr>
              <a:t>ENGLISH</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453453453</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5631</a:t>
            </a:r>
            <a:r>
              <a:rPr sz="900" spc="-15" dirty="0">
                <a:latin typeface="Courier New"/>
                <a:cs typeface="Courier New"/>
              </a:rPr>
              <a:t> </a:t>
            </a:r>
            <a:r>
              <a:rPr sz="900" dirty="0">
                <a:latin typeface="Courier New"/>
                <a:cs typeface="Courier New"/>
              </a:rPr>
              <a:t>RICE,</a:t>
            </a:r>
            <a:r>
              <a:rPr sz="900" spc="-15" dirty="0">
                <a:latin typeface="Courier New"/>
                <a:cs typeface="Courier New"/>
              </a:rPr>
              <a:t> </a:t>
            </a:r>
            <a:r>
              <a:rPr sz="900" dirty="0">
                <a:latin typeface="Courier New"/>
                <a:cs typeface="Courier New"/>
              </a:rPr>
              <a:t>HOUSTON,</a:t>
            </a:r>
            <a:r>
              <a:rPr sz="900" spc="-19" dirty="0">
                <a:latin typeface="Courier New"/>
                <a:cs typeface="Courier New"/>
              </a:rPr>
              <a:t> TX</a:t>
            </a:r>
            <a:r>
              <a:rPr sz="900" dirty="0">
                <a:latin typeface="Courier New"/>
                <a:cs typeface="Courier New"/>
              </a:rPr>
              <a:t>	|</a:t>
            </a:r>
            <a:r>
              <a:rPr sz="900" spc="-4" dirty="0">
                <a:latin typeface="Courier New"/>
                <a:cs typeface="Courier New"/>
              </a:rPr>
              <a:t> </a:t>
            </a:r>
            <a:r>
              <a:rPr sz="900" spc="-38" dirty="0">
                <a:latin typeface="Courier New"/>
                <a:cs typeface="Courier New"/>
              </a:rPr>
              <a:t>F</a:t>
            </a:r>
            <a:endParaRPr sz="900">
              <a:latin typeface="Courier New"/>
              <a:cs typeface="Courier New"/>
            </a:endParaRPr>
          </a:p>
        </p:txBody>
      </p:sp>
      <p:sp>
        <p:nvSpPr>
          <p:cNvPr id="51" name="object 51"/>
          <p:cNvSpPr txBox="1"/>
          <p:nvPr/>
        </p:nvSpPr>
        <p:spPr>
          <a:xfrm>
            <a:off x="524137" y="2781681"/>
            <a:ext cx="985838" cy="714939"/>
          </a:xfrm>
          <a:prstGeom prst="rect">
            <a:avLst/>
          </a:prstGeom>
        </p:spPr>
        <p:txBody>
          <a:bodyPr vert="horz" wrap="square" lIns="0" tIns="9525" rIns="0" bIns="0" rtlCol="0">
            <a:spAutoFit/>
          </a:bodyPr>
          <a:lstStyle/>
          <a:p>
            <a:pPr marL="9525">
              <a:lnSpc>
                <a:spcPts val="1061"/>
              </a:lnSpc>
              <a:spcBef>
                <a:spcPts val="75"/>
              </a:spcBef>
              <a:tabLst>
                <a:tab pos="768668"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RAMESH</a:t>
            </a:r>
            <a:r>
              <a:rPr sz="900" dirty="0">
                <a:latin typeface="Courier New"/>
                <a:cs typeface="Courier New"/>
              </a:rPr>
              <a:t>	|</a:t>
            </a:r>
            <a:r>
              <a:rPr sz="900" spc="-4" dirty="0">
                <a:latin typeface="Courier New"/>
                <a:cs typeface="Courier New"/>
              </a:rPr>
              <a:t> </a:t>
            </a:r>
            <a:r>
              <a:rPr sz="900" spc="-38" dirty="0">
                <a:latin typeface="Courier New"/>
                <a:cs typeface="Courier New"/>
              </a:rPr>
              <a:t>K</a:t>
            </a:r>
            <a:endParaRPr sz="900">
              <a:latin typeface="Courier New"/>
              <a:cs typeface="Courier New"/>
            </a:endParaRPr>
          </a:p>
          <a:p>
            <a:pPr marL="9525">
              <a:lnSpc>
                <a:spcPts val="1054"/>
              </a:lnSpc>
              <a:tabLst>
                <a:tab pos="768668"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JOYCE</a:t>
            </a:r>
            <a:r>
              <a:rPr sz="900" dirty="0">
                <a:latin typeface="Courier New"/>
                <a:cs typeface="Courier New"/>
              </a:rPr>
              <a:t>	|</a:t>
            </a:r>
            <a:r>
              <a:rPr sz="900" spc="-4" dirty="0">
                <a:latin typeface="Courier New"/>
                <a:cs typeface="Courier New"/>
              </a:rPr>
              <a:t> </a:t>
            </a:r>
            <a:r>
              <a:rPr sz="900" spc="-38" dirty="0">
                <a:latin typeface="Courier New"/>
                <a:cs typeface="Courier New"/>
              </a:rPr>
              <a:t>A</a:t>
            </a:r>
            <a:endParaRPr sz="900">
              <a:latin typeface="Courier New"/>
              <a:cs typeface="Courier New"/>
            </a:endParaRPr>
          </a:p>
          <a:p>
            <a:pPr marL="9525">
              <a:lnSpc>
                <a:spcPts val="1073"/>
              </a:lnSpc>
              <a:tabLst>
                <a:tab pos="768668"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AHMAD</a:t>
            </a:r>
            <a:r>
              <a:rPr sz="900" dirty="0">
                <a:latin typeface="Courier New"/>
                <a:cs typeface="Courier New"/>
              </a:rPr>
              <a:t>	|</a:t>
            </a:r>
            <a:r>
              <a:rPr sz="900" spc="-4" dirty="0">
                <a:latin typeface="Courier New"/>
                <a:cs typeface="Courier New"/>
              </a:rPr>
              <a:t> </a:t>
            </a:r>
            <a:r>
              <a:rPr sz="900" spc="-38" dirty="0">
                <a:latin typeface="Courier New"/>
                <a:cs typeface="Courier New"/>
              </a:rPr>
              <a:t>V</a:t>
            </a:r>
            <a:endParaRPr sz="900">
              <a:latin typeface="Courier New"/>
              <a:cs typeface="Courier New"/>
            </a:endParaRPr>
          </a:p>
          <a:p>
            <a:pPr marL="9525">
              <a:lnSpc>
                <a:spcPts val="1061"/>
              </a:lnSpc>
              <a:spcBef>
                <a:spcPts val="34"/>
              </a:spcBef>
              <a:tabLst>
                <a:tab pos="768668"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JAMES</a:t>
            </a:r>
            <a:r>
              <a:rPr sz="900" dirty="0">
                <a:latin typeface="Courier New"/>
                <a:cs typeface="Courier New"/>
              </a:rPr>
              <a:t>	|</a:t>
            </a:r>
            <a:r>
              <a:rPr sz="900" spc="-4" dirty="0">
                <a:latin typeface="Courier New"/>
                <a:cs typeface="Courier New"/>
              </a:rPr>
              <a:t> </a:t>
            </a:r>
            <a:r>
              <a:rPr sz="900" spc="-38" dirty="0">
                <a:latin typeface="Courier New"/>
                <a:cs typeface="Courier New"/>
              </a:rPr>
              <a:t>E</a:t>
            </a:r>
            <a:endParaRPr sz="900">
              <a:latin typeface="Courier New"/>
              <a:cs typeface="Courier New"/>
            </a:endParaRPr>
          </a:p>
          <a:p>
            <a:pPr marL="9525">
              <a:lnSpc>
                <a:spcPts val="1061"/>
              </a:lnSpc>
              <a:tabLst>
                <a:tab pos="768668" algn="l"/>
              </a:tabLst>
            </a:pPr>
            <a:r>
              <a:rPr sz="900" dirty="0">
                <a:latin typeface="Courier New"/>
                <a:cs typeface="Courier New"/>
              </a:rPr>
              <a:t>|</a:t>
            </a:r>
            <a:r>
              <a:rPr sz="900" spc="-4" dirty="0">
                <a:latin typeface="Courier New"/>
                <a:cs typeface="Courier New"/>
              </a:rPr>
              <a:t> </a:t>
            </a:r>
            <a:r>
              <a:rPr sz="900" spc="-19" dirty="0">
                <a:latin typeface="Courier New"/>
                <a:cs typeface="Courier New"/>
              </a:rPr>
              <a:t>JAY</a:t>
            </a:r>
            <a:r>
              <a:rPr sz="900" dirty="0">
                <a:latin typeface="Courier New"/>
                <a:cs typeface="Courier New"/>
              </a:rPr>
              <a:t>	|</a:t>
            </a:r>
            <a:r>
              <a:rPr sz="900" spc="-4" dirty="0">
                <a:latin typeface="Courier New"/>
                <a:cs typeface="Courier New"/>
              </a:rPr>
              <a:t> </a:t>
            </a:r>
            <a:r>
              <a:rPr sz="900" spc="-38" dirty="0">
                <a:latin typeface="Courier New"/>
                <a:cs typeface="Courier New"/>
              </a:rPr>
              <a:t>K</a:t>
            </a:r>
            <a:endParaRPr sz="900">
              <a:latin typeface="Courier New"/>
              <a:cs typeface="Courier New"/>
            </a:endParaRPr>
          </a:p>
        </p:txBody>
      </p:sp>
      <p:sp>
        <p:nvSpPr>
          <p:cNvPr id="52" name="object 52"/>
          <p:cNvSpPr txBox="1"/>
          <p:nvPr/>
        </p:nvSpPr>
        <p:spPr>
          <a:xfrm>
            <a:off x="1836207" y="3049142"/>
            <a:ext cx="571976" cy="430246"/>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4" dirty="0">
                <a:latin typeface="Courier New"/>
                <a:cs typeface="Courier New"/>
              </a:rPr>
              <a:t> </a:t>
            </a:r>
            <a:r>
              <a:rPr sz="900" spc="-8" dirty="0">
                <a:latin typeface="Courier New"/>
                <a:cs typeface="Courier New"/>
              </a:rPr>
              <a:t>JABBAR</a:t>
            </a:r>
            <a:endParaRPr sz="900">
              <a:latin typeface="Courier New"/>
              <a:cs typeface="Courier New"/>
            </a:endParaRPr>
          </a:p>
          <a:p>
            <a:pPr marL="9525">
              <a:lnSpc>
                <a:spcPts val="1061"/>
              </a:lnSpc>
              <a:spcBef>
                <a:spcPts val="34"/>
              </a:spcBef>
            </a:pPr>
            <a:r>
              <a:rPr sz="900" dirty="0">
                <a:latin typeface="Courier New"/>
                <a:cs typeface="Courier New"/>
              </a:rPr>
              <a:t>|</a:t>
            </a:r>
            <a:r>
              <a:rPr sz="900" spc="-4" dirty="0">
                <a:latin typeface="Courier New"/>
                <a:cs typeface="Courier New"/>
              </a:rPr>
              <a:t> </a:t>
            </a:r>
            <a:r>
              <a:rPr sz="900" spc="-15" dirty="0">
                <a:latin typeface="Courier New"/>
                <a:cs typeface="Courier New"/>
              </a:rPr>
              <a:t>BORG</a:t>
            </a:r>
            <a:endParaRPr sz="900">
              <a:latin typeface="Courier New"/>
              <a:cs typeface="Courier New"/>
            </a:endParaRPr>
          </a:p>
          <a:p>
            <a:pPr marL="9525">
              <a:lnSpc>
                <a:spcPts val="1061"/>
              </a:lnSpc>
            </a:pPr>
            <a:r>
              <a:rPr sz="900" dirty="0">
                <a:latin typeface="Courier New"/>
                <a:cs typeface="Courier New"/>
              </a:rPr>
              <a:t>|</a:t>
            </a:r>
            <a:r>
              <a:rPr sz="900" spc="-4" dirty="0">
                <a:latin typeface="Courier New"/>
                <a:cs typeface="Courier New"/>
              </a:rPr>
              <a:t> </a:t>
            </a:r>
            <a:r>
              <a:rPr sz="900" spc="-19" dirty="0">
                <a:latin typeface="Courier New"/>
                <a:cs typeface="Courier New"/>
              </a:rPr>
              <a:t>LEE</a:t>
            </a:r>
            <a:endParaRPr sz="900">
              <a:latin typeface="Courier New"/>
              <a:cs typeface="Courier New"/>
            </a:endParaRPr>
          </a:p>
        </p:txBody>
      </p:sp>
      <p:sp>
        <p:nvSpPr>
          <p:cNvPr id="53" name="object 53"/>
          <p:cNvSpPr txBox="1"/>
          <p:nvPr/>
        </p:nvSpPr>
        <p:spPr>
          <a:xfrm>
            <a:off x="2526769" y="3049142"/>
            <a:ext cx="3817144" cy="430246"/>
          </a:xfrm>
          <a:prstGeom prst="rect">
            <a:avLst/>
          </a:prstGeom>
        </p:spPr>
        <p:txBody>
          <a:bodyPr vert="horz" wrap="square" lIns="0" tIns="9525" rIns="0" bIns="0" rtlCol="0">
            <a:spAutoFit/>
          </a:bodyPr>
          <a:lstStyle/>
          <a:p>
            <a:pPr marL="9525">
              <a:spcBef>
                <a:spcPts val="75"/>
              </a:spcBef>
              <a:tabLst>
                <a:tab pos="3599974" algn="l"/>
              </a:tabLst>
            </a:pPr>
            <a:r>
              <a:rPr sz="900" dirty="0">
                <a:latin typeface="Courier New"/>
                <a:cs typeface="Courier New"/>
              </a:rPr>
              <a:t>|</a:t>
            </a:r>
            <a:r>
              <a:rPr sz="900" spc="-19" dirty="0">
                <a:latin typeface="Courier New"/>
                <a:cs typeface="Courier New"/>
              </a:rPr>
              <a:t> </a:t>
            </a:r>
            <a:r>
              <a:rPr sz="900" dirty="0">
                <a:latin typeface="Courier New"/>
                <a:cs typeface="Courier New"/>
              </a:rPr>
              <a:t>987987987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dirty="0">
                <a:latin typeface="Courier New"/>
                <a:cs typeface="Courier New"/>
              </a:rPr>
              <a:t>980</a:t>
            </a:r>
            <a:r>
              <a:rPr sz="900" spc="-15" dirty="0">
                <a:latin typeface="Courier New"/>
                <a:cs typeface="Courier New"/>
              </a:rPr>
              <a:t> </a:t>
            </a:r>
            <a:r>
              <a:rPr sz="900" dirty="0">
                <a:latin typeface="Courier New"/>
                <a:cs typeface="Courier New"/>
              </a:rPr>
              <a:t>DALLAS,</a:t>
            </a:r>
            <a:r>
              <a:rPr sz="900" spc="-15" dirty="0">
                <a:latin typeface="Courier New"/>
                <a:cs typeface="Courier New"/>
              </a:rPr>
              <a:t> </a:t>
            </a:r>
            <a:r>
              <a:rPr sz="900" dirty="0">
                <a:latin typeface="Courier New"/>
                <a:cs typeface="Courier New"/>
              </a:rPr>
              <a:t>HOUSTON,</a:t>
            </a:r>
            <a:r>
              <a:rPr sz="900" spc="-15" dirty="0">
                <a:latin typeface="Courier New"/>
                <a:cs typeface="Courier New"/>
              </a:rPr>
              <a:t> </a:t>
            </a:r>
            <a:r>
              <a:rPr sz="900" spc="-19" dirty="0">
                <a:latin typeface="Courier New"/>
                <a:cs typeface="Courier New"/>
              </a:rPr>
              <a:t>TX</a:t>
            </a:r>
            <a:r>
              <a:rPr sz="900" dirty="0">
                <a:latin typeface="Courier New"/>
                <a:cs typeface="Courier New"/>
              </a:rPr>
              <a:t>	|</a:t>
            </a:r>
            <a:r>
              <a:rPr sz="900" spc="-4" dirty="0">
                <a:latin typeface="Courier New"/>
                <a:cs typeface="Courier New"/>
              </a:rPr>
              <a:t> </a:t>
            </a:r>
            <a:r>
              <a:rPr sz="900" spc="-38" dirty="0">
                <a:latin typeface="Courier New"/>
                <a:cs typeface="Courier New"/>
              </a:rPr>
              <a:t>M</a:t>
            </a:r>
            <a:endParaRPr sz="900">
              <a:latin typeface="Courier New"/>
              <a:cs typeface="Courier New"/>
            </a:endParaRPr>
          </a:p>
          <a:p>
            <a:pPr marL="9525">
              <a:lnSpc>
                <a:spcPts val="1061"/>
              </a:lnSpc>
              <a:spcBef>
                <a:spcPts val="34"/>
              </a:spcBef>
              <a:tabLst>
                <a:tab pos="3599974" algn="l"/>
              </a:tabLst>
            </a:pPr>
            <a:r>
              <a:rPr sz="900" dirty="0">
                <a:latin typeface="Courier New"/>
                <a:cs typeface="Courier New"/>
              </a:rPr>
              <a:t>|</a:t>
            </a:r>
            <a:r>
              <a:rPr sz="900" spc="-19" dirty="0">
                <a:latin typeface="Courier New"/>
                <a:cs typeface="Courier New"/>
              </a:rPr>
              <a:t> </a:t>
            </a:r>
            <a:r>
              <a:rPr sz="900" dirty="0">
                <a:latin typeface="Courier New"/>
                <a:cs typeface="Courier New"/>
              </a:rPr>
              <a:t>888665555</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450</a:t>
            </a:r>
            <a:r>
              <a:rPr sz="900" spc="-15" dirty="0">
                <a:latin typeface="Courier New"/>
                <a:cs typeface="Courier New"/>
              </a:rPr>
              <a:t> </a:t>
            </a:r>
            <a:r>
              <a:rPr sz="900" dirty="0">
                <a:latin typeface="Courier New"/>
                <a:cs typeface="Courier New"/>
              </a:rPr>
              <a:t>STONE,</a:t>
            </a:r>
            <a:r>
              <a:rPr sz="900" spc="-15" dirty="0">
                <a:latin typeface="Courier New"/>
                <a:cs typeface="Courier New"/>
              </a:rPr>
              <a:t> </a:t>
            </a:r>
            <a:r>
              <a:rPr sz="900" dirty="0">
                <a:latin typeface="Courier New"/>
                <a:cs typeface="Courier New"/>
              </a:rPr>
              <a:t>HOUSTON,</a:t>
            </a:r>
            <a:r>
              <a:rPr sz="900" spc="-15" dirty="0">
                <a:latin typeface="Courier New"/>
                <a:cs typeface="Courier New"/>
              </a:rPr>
              <a:t> </a:t>
            </a:r>
            <a:r>
              <a:rPr sz="900" spc="-19" dirty="0">
                <a:latin typeface="Courier New"/>
                <a:cs typeface="Courier New"/>
              </a:rPr>
              <a:t>TX</a:t>
            </a:r>
            <a:r>
              <a:rPr sz="900" dirty="0">
                <a:latin typeface="Courier New"/>
                <a:cs typeface="Courier New"/>
              </a:rPr>
              <a:t>	|</a:t>
            </a:r>
            <a:r>
              <a:rPr sz="900" spc="-4" dirty="0">
                <a:latin typeface="Courier New"/>
                <a:cs typeface="Courier New"/>
              </a:rPr>
              <a:t> </a:t>
            </a:r>
            <a:r>
              <a:rPr sz="900" spc="-38" dirty="0">
                <a:latin typeface="Courier New"/>
                <a:cs typeface="Courier New"/>
              </a:rPr>
              <a:t>M</a:t>
            </a:r>
            <a:endParaRPr sz="900">
              <a:latin typeface="Courier New"/>
              <a:cs typeface="Courier New"/>
            </a:endParaRPr>
          </a:p>
          <a:p>
            <a:pPr marL="9525">
              <a:lnSpc>
                <a:spcPts val="1061"/>
              </a:lnSpc>
              <a:tabLst>
                <a:tab pos="3599974" algn="l"/>
              </a:tabLst>
            </a:pPr>
            <a:r>
              <a:rPr sz="900" dirty="0">
                <a:latin typeface="Courier New"/>
                <a:cs typeface="Courier New"/>
              </a:rPr>
              <a:t>|</a:t>
            </a:r>
            <a:r>
              <a:rPr sz="900" spc="-15" dirty="0">
                <a:latin typeface="Courier New"/>
                <a:cs typeface="Courier New"/>
              </a:rPr>
              <a:t> </a:t>
            </a:r>
            <a:r>
              <a:rPr sz="900" dirty="0">
                <a:latin typeface="Courier New"/>
                <a:cs typeface="Courier New"/>
              </a:rPr>
              <a:t>222334444</a:t>
            </a:r>
            <a:r>
              <a:rPr sz="900" spc="-11" dirty="0">
                <a:latin typeface="Courier New"/>
                <a:cs typeface="Courier New"/>
              </a:rPr>
              <a:t> </a:t>
            </a:r>
            <a:r>
              <a:rPr sz="900" dirty="0">
                <a:latin typeface="Courier New"/>
                <a:cs typeface="Courier New"/>
              </a:rPr>
              <a:t>|</a:t>
            </a:r>
            <a:r>
              <a:rPr sz="900" spc="-11" dirty="0">
                <a:latin typeface="Courier New"/>
                <a:cs typeface="Courier New"/>
              </a:rPr>
              <a:t> </a:t>
            </a:r>
            <a:r>
              <a:rPr sz="900" spc="-8" dirty="0">
                <a:latin typeface="Courier New"/>
                <a:cs typeface="Courier New"/>
              </a:rPr>
              <a:t>2022-10-</a:t>
            </a:r>
            <a:r>
              <a:rPr sz="900" dirty="0">
                <a:latin typeface="Courier New"/>
                <a:cs typeface="Courier New"/>
              </a:rPr>
              <a:t>07</a:t>
            </a:r>
            <a:r>
              <a:rPr sz="900" spc="-11" dirty="0">
                <a:latin typeface="Courier New"/>
                <a:cs typeface="Courier New"/>
              </a:rPr>
              <a:t> </a:t>
            </a:r>
            <a:r>
              <a:rPr sz="900" dirty="0">
                <a:latin typeface="Courier New"/>
                <a:cs typeface="Courier New"/>
              </a:rPr>
              <a:t>|</a:t>
            </a:r>
            <a:r>
              <a:rPr sz="900" spc="-11" dirty="0">
                <a:latin typeface="Courier New"/>
                <a:cs typeface="Courier New"/>
              </a:rPr>
              <a:t> </a:t>
            </a:r>
            <a:r>
              <a:rPr sz="900" dirty="0">
                <a:latin typeface="Courier New"/>
                <a:cs typeface="Courier New"/>
              </a:rPr>
              <a:t>4N</a:t>
            </a:r>
            <a:r>
              <a:rPr sz="900" spc="-11" dirty="0">
                <a:latin typeface="Courier New"/>
                <a:cs typeface="Courier New"/>
              </a:rPr>
              <a:t> </a:t>
            </a:r>
            <a:r>
              <a:rPr sz="900" dirty="0">
                <a:latin typeface="Courier New"/>
                <a:cs typeface="Courier New"/>
              </a:rPr>
              <a:t>2ND,</a:t>
            </a:r>
            <a:r>
              <a:rPr sz="900" spc="-11" dirty="0">
                <a:latin typeface="Courier New"/>
                <a:cs typeface="Courier New"/>
              </a:rPr>
              <a:t> </a:t>
            </a:r>
            <a:r>
              <a:rPr sz="900" dirty="0">
                <a:latin typeface="Courier New"/>
                <a:cs typeface="Courier New"/>
              </a:rPr>
              <a:t>SAN</a:t>
            </a:r>
            <a:r>
              <a:rPr sz="900" spc="-11" dirty="0">
                <a:latin typeface="Courier New"/>
                <a:cs typeface="Courier New"/>
              </a:rPr>
              <a:t> </a:t>
            </a:r>
            <a:r>
              <a:rPr sz="900" dirty="0">
                <a:latin typeface="Courier New"/>
                <a:cs typeface="Courier New"/>
              </a:rPr>
              <a:t>JOSE,</a:t>
            </a:r>
            <a:r>
              <a:rPr sz="900" spc="-11" dirty="0">
                <a:latin typeface="Courier New"/>
                <a:cs typeface="Courier New"/>
              </a:rPr>
              <a:t> </a:t>
            </a:r>
            <a:r>
              <a:rPr sz="900" spc="-19" dirty="0">
                <a:latin typeface="Courier New"/>
                <a:cs typeface="Courier New"/>
              </a:rPr>
              <a:t>CA</a:t>
            </a:r>
            <a:r>
              <a:rPr sz="900" dirty="0">
                <a:latin typeface="Courier New"/>
                <a:cs typeface="Courier New"/>
              </a:rPr>
              <a:t>	|</a:t>
            </a:r>
            <a:r>
              <a:rPr sz="900" spc="-4" dirty="0">
                <a:latin typeface="Courier New"/>
                <a:cs typeface="Courier New"/>
              </a:rPr>
              <a:t> </a:t>
            </a:r>
            <a:r>
              <a:rPr sz="900" spc="-38" dirty="0">
                <a:latin typeface="Courier New"/>
                <a:cs typeface="Courier New"/>
              </a:rPr>
              <a:t>M</a:t>
            </a:r>
            <a:endParaRPr sz="900">
              <a:latin typeface="Courier New"/>
              <a:cs typeface="Courier New"/>
            </a:endParaRPr>
          </a:p>
        </p:txBody>
      </p:sp>
      <p:sp>
        <p:nvSpPr>
          <p:cNvPr id="54" name="object 54"/>
          <p:cNvSpPr/>
          <p:nvPr/>
        </p:nvSpPr>
        <p:spPr>
          <a:xfrm>
            <a:off x="602719" y="3555587"/>
            <a:ext cx="691039" cy="0"/>
          </a:xfrm>
          <a:custGeom>
            <a:avLst/>
            <a:gdLst/>
            <a:ahLst/>
            <a:cxnLst/>
            <a:rect l="l" t="t" r="r" b="b"/>
            <a:pathLst>
              <a:path w="921385">
                <a:moveTo>
                  <a:pt x="0" y="0"/>
                </a:moveTo>
                <a:lnTo>
                  <a:pt x="920800" y="0"/>
                </a:lnTo>
              </a:path>
            </a:pathLst>
          </a:custGeom>
          <a:ln w="12649">
            <a:solidFill>
              <a:srgbClr val="000000"/>
            </a:solidFill>
            <a:prstDash val="dash"/>
          </a:ln>
        </p:spPr>
        <p:txBody>
          <a:bodyPr wrap="square" lIns="0" tIns="0" rIns="0" bIns="0" rtlCol="0"/>
          <a:lstStyle/>
          <a:p>
            <a:endParaRPr sz="1800"/>
          </a:p>
        </p:txBody>
      </p:sp>
      <p:sp>
        <p:nvSpPr>
          <p:cNvPr id="55" name="object 55"/>
          <p:cNvSpPr/>
          <p:nvPr/>
        </p:nvSpPr>
        <p:spPr>
          <a:xfrm>
            <a:off x="1362338" y="3555587"/>
            <a:ext cx="483870" cy="0"/>
          </a:xfrm>
          <a:custGeom>
            <a:avLst/>
            <a:gdLst/>
            <a:ahLst/>
            <a:cxnLst/>
            <a:rect l="l" t="t" r="r" b="b"/>
            <a:pathLst>
              <a:path w="645160">
                <a:moveTo>
                  <a:pt x="0" y="0"/>
                </a:moveTo>
                <a:lnTo>
                  <a:pt x="644560" y="0"/>
                </a:lnTo>
              </a:path>
            </a:pathLst>
          </a:custGeom>
          <a:ln w="12649">
            <a:solidFill>
              <a:srgbClr val="000000"/>
            </a:solidFill>
            <a:prstDash val="dash"/>
          </a:ln>
        </p:spPr>
        <p:txBody>
          <a:bodyPr wrap="square" lIns="0" tIns="0" rIns="0" bIns="0" rtlCol="0"/>
          <a:lstStyle/>
          <a:p>
            <a:endParaRPr sz="1800"/>
          </a:p>
        </p:txBody>
      </p:sp>
      <p:sp>
        <p:nvSpPr>
          <p:cNvPr id="56" name="object 56"/>
          <p:cNvSpPr/>
          <p:nvPr/>
        </p:nvSpPr>
        <p:spPr>
          <a:xfrm>
            <a:off x="1914787" y="3555587"/>
            <a:ext cx="621983" cy="0"/>
          </a:xfrm>
          <a:custGeom>
            <a:avLst/>
            <a:gdLst/>
            <a:ahLst/>
            <a:cxnLst/>
            <a:rect l="l" t="t" r="r" b="b"/>
            <a:pathLst>
              <a:path w="829310">
                <a:moveTo>
                  <a:pt x="0" y="0"/>
                </a:moveTo>
                <a:lnTo>
                  <a:pt x="828720" y="0"/>
                </a:lnTo>
              </a:path>
            </a:pathLst>
          </a:custGeom>
          <a:ln w="12649">
            <a:solidFill>
              <a:srgbClr val="000000"/>
            </a:solidFill>
            <a:prstDash val="dash"/>
          </a:ln>
        </p:spPr>
        <p:txBody>
          <a:bodyPr wrap="square" lIns="0" tIns="0" rIns="0" bIns="0" rtlCol="0"/>
          <a:lstStyle/>
          <a:p>
            <a:endParaRPr sz="1800"/>
          </a:p>
        </p:txBody>
      </p:sp>
      <p:sp>
        <p:nvSpPr>
          <p:cNvPr id="57" name="object 57"/>
          <p:cNvSpPr/>
          <p:nvPr/>
        </p:nvSpPr>
        <p:spPr>
          <a:xfrm>
            <a:off x="2605349" y="3555587"/>
            <a:ext cx="760095" cy="0"/>
          </a:xfrm>
          <a:custGeom>
            <a:avLst/>
            <a:gdLst/>
            <a:ahLst/>
            <a:cxnLst/>
            <a:rect l="l" t="t" r="r" b="b"/>
            <a:pathLst>
              <a:path w="1013460">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58" name="object 58"/>
          <p:cNvSpPr/>
          <p:nvPr/>
        </p:nvSpPr>
        <p:spPr>
          <a:xfrm>
            <a:off x="3434025" y="3555587"/>
            <a:ext cx="829151" cy="0"/>
          </a:xfrm>
          <a:custGeom>
            <a:avLst/>
            <a:gdLst/>
            <a:ahLst/>
            <a:cxnLst/>
            <a:rect l="l" t="t" r="r" b="b"/>
            <a:pathLst>
              <a:path w="1105535">
                <a:moveTo>
                  <a:pt x="0" y="0"/>
                </a:moveTo>
                <a:lnTo>
                  <a:pt x="1104961" y="0"/>
                </a:lnTo>
              </a:path>
            </a:pathLst>
          </a:custGeom>
          <a:ln w="12649">
            <a:solidFill>
              <a:srgbClr val="000000"/>
            </a:solidFill>
            <a:prstDash val="dash"/>
          </a:ln>
        </p:spPr>
        <p:txBody>
          <a:bodyPr wrap="square" lIns="0" tIns="0" rIns="0" bIns="0" rtlCol="0"/>
          <a:lstStyle/>
          <a:p>
            <a:endParaRPr sz="1800"/>
          </a:p>
        </p:txBody>
      </p:sp>
      <p:sp>
        <p:nvSpPr>
          <p:cNvPr id="59" name="object 59"/>
          <p:cNvSpPr txBox="1"/>
          <p:nvPr/>
        </p:nvSpPr>
        <p:spPr>
          <a:xfrm>
            <a:off x="2526769" y="3467481"/>
            <a:ext cx="1814513" cy="148117"/>
          </a:xfrm>
          <a:prstGeom prst="rect">
            <a:avLst/>
          </a:prstGeom>
        </p:spPr>
        <p:txBody>
          <a:bodyPr vert="horz" wrap="square" lIns="0" tIns="9525" rIns="0" bIns="0" rtlCol="0">
            <a:spAutoFit/>
          </a:bodyPr>
          <a:lstStyle/>
          <a:p>
            <a:pPr marL="9525">
              <a:spcBef>
                <a:spcPts val="75"/>
              </a:spcBef>
              <a:tabLst>
                <a:tab pos="837724" algn="l"/>
                <a:tab pos="1735455"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60" name="object 60"/>
          <p:cNvSpPr/>
          <p:nvPr/>
        </p:nvSpPr>
        <p:spPr>
          <a:xfrm>
            <a:off x="4331756" y="3555587"/>
            <a:ext cx="1795939" cy="0"/>
          </a:xfrm>
          <a:custGeom>
            <a:avLst/>
            <a:gdLst/>
            <a:ahLst/>
            <a:cxnLst/>
            <a:rect l="l" t="t" r="r" b="b"/>
            <a:pathLst>
              <a:path w="2394584">
                <a:moveTo>
                  <a:pt x="0" y="0"/>
                </a:moveTo>
                <a:lnTo>
                  <a:pt x="2394082" y="0"/>
                </a:lnTo>
              </a:path>
            </a:pathLst>
          </a:custGeom>
          <a:ln w="12649">
            <a:solidFill>
              <a:srgbClr val="000000"/>
            </a:solidFill>
            <a:prstDash val="dash"/>
          </a:ln>
        </p:spPr>
        <p:txBody>
          <a:bodyPr wrap="square" lIns="0" tIns="0" rIns="0" bIns="0" rtlCol="0"/>
          <a:lstStyle/>
          <a:p>
            <a:endParaRPr sz="1800"/>
          </a:p>
        </p:txBody>
      </p:sp>
      <p:sp>
        <p:nvSpPr>
          <p:cNvPr id="61" name="object 61"/>
          <p:cNvSpPr txBox="1"/>
          <p:nvPr/>
        </p:nvSpPr>
        <p:spPr>
          <a:xfrm>
            <a:off x="6117694" y="3467481"/>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62" name="object 62"/>
          <p:cNvSpPr/>
          <p:nvPr/>
        </p:nvSpPr>
        <p:spPr>
          <a:xfrm>
            <a:off x="6196275" y="3555587"/>
            <a:ext cx="414814" cy="0"/>
          </a:xfrm>
          <a:custGeom>
            <a:avLst/>
            <a:gdLst/>
            <a:ahLst/>
            <a:cxnLst/>
            <a:rect l="l" t="t" r="r" b="b"/>
            <a:pathLst>
              <a:path w="553084">
                <a:moveTo>
                  <a:pt x="0" y="0"/>
                </a:moveTo>
                <a:lnTo>
                  <a:pt x="552480" y="0"/>
                </a:lnTo>
              </a:path>
            </a:pathLst>
          </a:custGeom>
          <a:ln w="12649">
            <a:solidFill>
              <a:srgbClr val="000000"/>
            </a:solidFill>
            <a:prstDash val="dash"/>
          </a:ln>
        </p:spPr>
        <p:txBody>
          <a:bodyPr wrap="square" lIns="0" tIns="0" rIns="0" bIns="0" rtlCol="0"/>
          <a:lstStyle/>
          <a:p>
            <a:endParaRPr sz="1800"/>
          </a:p>
        </p:txBody>
      </p:sp>
      <p:sp>
        <p:nvSpPr>
          <p:cNvPr id="63" name="object 63"/>
          <p:cNvSpPr/>
          <p:nvPr/>
        </p:nvSpPr>
        <p:spPr>
          <a:xfrm>
            <a:off x="6679669" y="3555587"/>
            <a:ext cx="552926" cy="0"/>
          </a:xfrm>
          <a:custGeom>
            <a:avLst/>
            <a:gdLst/>
            <a:ahLst/>
            <a:cxnLst/>
            <a:rect l="l" t="t" r="r" b="b"/>
            <a:pathLst>
              <a:path w="737234">
                <a:moveTo>
                  <a:pt x="0" y="0"/>
                </a:moveTo>
                <a:lnTo>
                  <a:pt x="736640" y="0"/>
                </a:lnTo>
              </a:path>
            </a:pathLst>
          </a:custGeom>
          <a:ln w="12649">
            <a:solidFill>
              <a:srgbClr val="000000"/>
            </a:solidFill>
            <a:prstDash val="dash"/>
          </a:ln>
        </p:spPr>
        <p:txBody>
          <a:bodyPr wrap="square" lIns="0" tIns="0" rIns="0" bIns="0" rtlCol="0"/>
          <a:lstStyle/>
          <a:p>
            <a:endParaRPr sz="1800"/>
          </a:p>
        </p:txBody>
      </p:sp>
      <p:sp>
        <p:nvSpPr>
          <p:cNvPr id="64" name="object 64"/>
          <p:cNvSpPr/>
          <p:nvPr/>
        </p:nvSpPr>
        <p:spPr>
          <a:xfrm>
            <a:off x="7301174" y="3555587"/>
            <a:ext cx="760095" cy="0"/>
          </a:xfrm>
          <a:custGeom>
            <a:avLst/>
            <a:gdLst/>
            <a:ahLst/>
            <a:cxnLst/>
            <a:rect l="l" t="t" r="r" b="b"/>
            <a:pathLst>
              <a:path w="1013459">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65" name="object 65"/>
          <p:cNvSpPr txBox="1"/>
          <p:nvPr/>
        </p:nvSpPr>
        <p:spPr>
          <a:xfrm>
            <a:off x="6808256" y="3190875"/>
            <a:ext cx="1331119" cy="443070"/>
          </a:xfrm>
          <a:prstGeom prst="rect">
            <a:avLst/>
          </a:prstGeom>
        </p:spPr>
        <p:txBody>
          <a:bodyPr vert="horz" wrap="square" lIns="0" tIns="9525" rIns="0" bIns="0" rtlCol="0">
            <a:spAutoFit/>
          </a:bodyPr>
          <a:lstStyle/>
          <a:p>
            <a:pPr marR="3810" algn="r">
              <a:lnSpc>
                <a:spcPts val="1061"/>
              </a:lnSpc>
              <a:spcBef>
                <a:spcPts val="75"/>
              </a:spcBef>
              <a:tabLst>
                <a:tab pos="1242536" algn="l"/>
              </a:tabLst>
            </a:pPr>
            <a:r>
              <a:rPr sz="900" dirty="0">
                <a:latin typeface="Courier New"/>
                <a:cs typeface="Courier New"/>
              </a:rPr>
              <a:t>60500</a:t>
            </a:r>
            <a:r>
              <a:rPr sz="900" spc="-26"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a:p>
            <a:pPr marR="3810" algn="r">
              <a:lnSpc>
                <a:spcPts val="1061"/>
              </a:lnSpc>
            </a:pPr>
            <a:r>
              <a:rPr sz="900" dirty="0">
                <a:latin typeface="Courier New"/>
                <a:cs typeface="Courier New"/>
              </a:rPr>
              <a:t>50000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123456789</a:t>
            </a:r>
            <a:r>
              <a:rPr sz="900" spc="-23" dirty="0">
                <a:latin typeface="Courier New"/>
                <a:cs typeface="Courier New"/>
              </a:rPr>
              <a:t> </a:t>
            </a:r>
            <a:r>
              <a:rPr sz="900" spc="-38" dirty="0">
                <a:latin typeface="Courier New"/>
                <a:cs typeface="Courier New"/>
              </a:rPr>
              <a:t>|</a:t>
            </a:r>
            <a:endParaRPr sz="900">
              <a:latin typeface="Courier New"/>
              <a:cs typeface="Courier New"/>
            </a:endParaRPr>
          </a:p>
          <a:p>
            <a:pPr marR="3810" algn="r">
              <a:spcBef>
                <a:spcPts val="53"/>
              </a:spcBef>
              <a:tabLst>
                <a:tab pos="828199"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66" name="object 66"/>
          <p:cNvSpPr/>
          <p:nvPr/>
        </p:nvSpPr>
        <p:spPr>
          <a:xfrm>
            <a:off x="8129850" y="3555587"/>
            <a:ext cx="345757" cy="0"/>
          </a:xfrm>
          <a:custGeom>
            <a:avLst/>
            <a:gdLst/>
            <a:ahLst/>
            <a:cxnLst/>
            <a:rect l="l" t="t" r="r" b="b"/>
            <a:pathLst>
              <a:path w="461009">
                <a:moveTo>
                  <a:pt x="0" y="0"/>
                </a:moveTo>
                <a:lnTo>
                  <a:pt x="460400" y="0"/>
                </a:lnTo>
              </a:path>
            </a:pathLst>
          </a:custGeom>
          <a:ln w="12649">
            <a:solidFill>
              <a:srgbClr val="000000"/>
            </a:solidFill>
            <a:prstDash val="dash"/>
          </a:ln>
        </p:spPr>
        <p:txBody>
          <a:bodyPr wrap="square" lIns="0" tIns="0" rIns="0" bIns="0" rtlCol="0"/>
          <a:lstStyle/>
          <a:p>
            <a:endParaRPr sz="1800"/>
          </a:p>
        </p:txBody>
      </p:sp>
      <p:sp>
        <p:nvSpPr>
          <p:cNvPr id="67" name="object 67"/>
          <p:cNvSpPr txBox="1"/>
          <p:nvPr/>
        </p:nvSpPr>
        <p:spPr>
          <a:xfrm>
            <a:off x="6601087" y="2228468"/>
            <a:ext cx="1952625" cy="1443344"/>
          </a:xfrm>
          <a:prstGeom prst="rect">
            <a:avLst/>
          </a:prstGeom>
        </p:spPr>
        <p:txBody>
          <a:bodyPr vert="horz" wrap="square" lIns="0" tIns="9525" rIns="0" bIns="0" rtlCol="0">
            <a:spAutoFit/>
          </a:bodyPr>
          <a:lstStyle/>
          <a:p>
            <a:pPr marL="9525">
              <a:lnSpc>
                <a:spcPts val="1073"/>
              </a:lnSpc>
              <a:spcBef>
                <a:spcPts val="75"/>
              </a:spcBef>
              <a:tabLst>
                <a:tab pos="216218" algn="l"/>
                <a:tab pos="1735455" algn="l"/>
              </a:tabLst>
            </a:pPr>
            <a:r>
              <a:rPr sz="900" spc="-38" dirty="0">
                <a:latin typeface="Courier New"/>
                <a:cs typeface="Courier New"/>
              </a:rPr>
              <a:t>|</a:t>
            </a:r>
            <a:r>
              <a:rPr sz="900" dirty="0">
                <a:latin typeface="Courier New"/>
                <a:cs typeface="Courier New"/>
              </a:rPr>
              <a:t>	33000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333445555</a:t>
            </a:r>
            <a:r>
              <a:rPr sz="900" spc="-23" dirty="0">
                <a:latin typeface="Courier New"/>
                <a:cs typeface="Courier New"/>
              </a:rPr>
              <a:t> </a:t>
            </a:r>
            <a:r>
              <a:rPr sz="900" spc="-38" dirty="0">
                <a:latin typeface="Courier New"/>
                <a:cs typeface="Courier New"/>
              </a:rPr>
              <a:t>|</a:t>
            </a:r>
            <a:r>
              <a:rPr sz="900" dirty="0">
                <a:latin typeface="Courier New"/>
                <a:cs typeface="Courier New"/>
              </a:rPr>
              <a:t>	5</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73"/>
              </a:lnSpc>
              <a:tabLst>
                <a:tab pos="216218" algn="l"/>
                <a:tab pos="1735455" algn="l"/>
              </a:tabLst>
            </a:pPr>
            <a:r>
              <a:rPr sz="900" spc="-38" dirty="0">
                <a:latin typeface="Courier New"/>
                <a:cs typeface="Courier New"/>
              </a:rPr>
              <a:t>|</a:t>
            </a:r>
            <a:r>
              <a:rPr sz="900" dirty="0">
                <a:latin typeface="Courier New"/>
                <a:cs typeface="Courier New"/>
              </a:rPr>
              <a:t>	44000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888665555</a:t>
            </a:r>
            <a:r>
              <a:rPr sz="900" spc="-23" dirty="0">
                <a:latin typeface="Courier New"/>
                <a:cs typeface="Courier New"/>
              </a:rPr>
              <a:t> </a:t>
            </a:r>
            <a:r>
              <a:rPr sz="900" spc="-38" dirty="0">
                <a:latin typeface="Courier New"/>
                <a:cs typeface="Courier New"/>
              </a:rPr>
              <a:t>|</a:t>
            </a:r>
            <a:r>
              <a:rPr sz="900" dirty="0">
                <a:latin typeface="Courier New"/>
                <a:cs typeface="Courier New"/>
              </a:rPr>
              <a:t>	5</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spcBef>
                <a:spcPts val="34"/>
              </a:spcBef>
              <a:tabLst>
                <a:tab pos="216218" algn="l"/>
                <a:tab pos="1735455" algn="l"/>
              </a:tabLst>
            </a:pPr>
            <a:r>
              <a:rPr sz="900" spc="-38" dirty="0">
                <a:latin typeface="Courier New"/>
                <a:cs typeface="Courier New"/>
              </a:rPr>
              <a:t>|</a:t>
            </a:r>
            <a:r>
              <a:rPr sz="900" dirty="0">
                <a:latin typeface="Courier New"/>
                <a:cs typeface="Courier New"/>
              </a:rPr>
              <a:t>	27500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987654321</a:t>
            </a:r>
            <a:r>
              <a:rPr sz="900" spc="-23" dirty="0">
                <a:latin typeface="Courier New"/>
                <a:cs typeface="Courier New"/>
              </a:rPr>
              <a:t> </a:t>
            </a:r>
            <a:r>
              <a:rPr sz="900" spc="-38" dirty="0">
                <a:latin typeface="Courier New"/>
                <a:cs typeface="Courier New"/>
              </a:rPr>
              <a:t>|</a:t>
            </a:r>
            <a:r>
              <a:rPr sz="900" dirty="0">
                <a:latin typeface="Courier New"/>
                <a:cs typeface="Courier New"/>
              </a:rPr>
              <a:t>	4</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tabLst>
                <a:tab pos="216218" algn="l"/>
                <a:tab pos="1735455" algn="l"/>
              </a:tabLst>
            </a:pPr>
            <a:r>
              <a:rPr sz="900" spc="-38" dirty="0">
                <a:latin typeface="Courier New"/>
                <a:cs typeface="Courier New"/>
              </a:rPr>
              <a:t>|</a:t>
            </a:r>
            <a:r>
              <a:rPr sz="900" dirty="0">
                <a:latin typeface="Courier New"/>
                <a:cs typeface="Courier New"/>
              </a:rPr>
              <a:t>	47300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888665555</a:t>
            </a:r>
            <a:r>
              <a:rPr sz="900" spc="-23" dirty="0">
                <a:latin typeface="Courier New"/>
                <a:cs typeface="Courier New"/>
              </a:rPr>
              <a:t> </a:t>
            </a:r>
            <a:r>
              <a:rPr sz="900" spc="-38" dirty="0">
                <a:latin typeface="Courier New"/>
                <a:cs typeface="Courier New"/>
              </a:rPr>
              <a:t>|</a:t>
            </a:r>
            <a:r>
              <a:rPr sz="900" dirty="0">
                <a:latin typeface="Courier New"/>
                <a:cs typeface="Courier New"/>
              </a:rPr>
              <a:t>	4</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spcBef>
                <a:spcPts val="56"/>
              </a:spcBef>
              <a:tabLst>
                <a:tab pos="216218" algn="l"/>
                <a:tab pos="1735455" algn="l"/>
              </a:tabLst>
            </a:pPr>
            <a:r>
              <a:rPr sz="900" spc="-38" dirty="0">
                <a:latin typeface="Courier New"/>
                <a:cs typeface="Courier New"/>
              </a:rPr>
              <a:t>|</a:t>
            </a:r>
            <a:r>
              <a:rPr sz="900" dirty="0">
                <a:latin typeface="Courier New"/>
                <a:cs typeface="Courier New"/>
              </a:rPr>
              <a:t>	41800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333445555</a:t>
            </a:r>
            <a:r>
              <a:rPr sz="900" spc="-23" dirty="0">
                <a:latin typeface="Courier New"/>
                <a:cs typeface="Courier New"/>
              </a:rPr>
              <a:t> </a:t>
            </a:r>
            <a:r>
              <a:rPr sz="900" spc="-38" dirty="0">
                <a:latin typeface="Courier New"/>
                <a:cs typeface="Courier New"/>
              </a:rPr>
              <a:t>|</a:t>
            </a:r>
            <a:r>
              <a:rPr sz="900" dirty="0">
                <a:latin typeface="Courier New"/>
                <a:cs typeface="Courier New"/>
              </a:rPr>
              <a:t>	5</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54"/>
              </a:lnSpc>
              <a:tabLst>
                <a:tab pos="216218" algn="l"/>
                <a:tab pos="1735455" algn="l"/>
              </a:tabLst>
            </a:pPr>
            <a:r>
              <a:rPr sz="900" spc="-38" dirty="0">
                <a:latin typeface="Courier New"/>
                <a:cs typeface="Courier New"/>
              </a:rPr>
              <a:t>|</a:t>
            </a:r>
            <a:r>
              <a:rPr sz="900" dirty="0">
                <a:latin typeface="Courier New"/>
                <a:cs typeface="Courier New"/>
              </a:rPr>
              <a:t>	27500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333445555</a:t>
            </a:r>
            <a:r>
              <a:rPr sz="900" spc="-23" dirty="0">
                <a:latin typeface="Courier New"/>
                <a:cs typeface="Courier New"/>
              </a:rPr>
              <a:t> </a:t>
            </a:r>
            <a:r>
              <a:rPr sz="900" spc="-38" dirty="0">
                <a:latin typeface="Courier New"/>
                <a:cs typeface="Courier New"/>
              </a:rPr>
              <a:t>|</a:t>
            </a:r>
            <a:r>
              <a:rPr sz="900" dirty="0">
                <a:latin typeface="Courier New"/>
                <a:cs typeface="Courier New"/>
              </a:rPr>
              <a:t>	5</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73"/>
              </a:lnSpc>
              <a:tabLst>
                <a:tab pos="216218" algn="l"/>
                <a:tab pos="1735455" algn="l"/>
              </a:tabLst>
            </a:pPr>
            <a:r>
              <a:rPr sz="900" spc="-38" dirty="0">
                <a:latin typeface="Courier New"/>
                <a:cs typeface="Courier New"/>
              </a:rPr>
              <a:t>|</a:t>
            </a:r>
            <a:r>
              <a:rPr sz="900" dirty="0">
                <a:latin typeface="Courier New"/>
                <a:cs typeface="Courier New"/>
              </a:rPr>
              <a:t>	27500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987654321</a:t>
            </a:r>
            <a:r>
              <a:rPr sz="900" spc="-23" dirty="0">
                <a:latin typeface="Courier New"/>
                <a:cs typeface="Courier New"/>
              </a:rPr>
              <a:t> </a:t>
            </a:r>
            <a:r>
              <a:rPr sz="900" spc="-38" dirty="0">
                <a:latin typeface="Courier New"/>
                <a:cs typeface="Courier New"/>
              </a:rPr>
              <a:t>|</a:t>
            </a:r>
            <a:r>
              <a:rPr sz="900" dirty="0">
                <a:latin typeface="Courier New"/>
                <a:cs typeface="Courier New"/>
              </a:rPr>
              <a:t>	4</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spcBef>
                <a:spcPts val="34"/>
              </a:spcBef>
              <a:tabLst>
                <a:tab pos="1735455" algn="l"/>
              </a:tabLst>
            </a:pPr>
            <a:r>
              <a:rPr sz="900" spc="-38" dirty="0">
                <a:latin typeface="Courier New"/>
                <a:cs typeface="Courier New"/>
              </a:rPr>
              <a:t>|</a:t>
            </a:r>
            <a:r>
              <a:rPr sz="900" dirty="0">
                <a:latin typeface="Courier New"/>
                <a:cs typeface="Courier New"/>
              </a:rPr>
              <a:t>	1</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tabLst>
                <a:tab pos="1735455" algn="l"/>
              </a:tabLst>
            </a:pPr>
            <a:r>
              <a:rPr sz="900" spc="-38" dirty="0">
                <a:latin typeface="Courier New"/>
                <a:cs typeface="Courier New"/>
              </a:rPr>
              <a:t>|</a:t>
            </a:r>
            <a:r>
              <a:rPr sz="900" dirty="0">
                <a:latin typeface="Courier New"/>
                <a:cs typeface="Courier New"/>
              </a:rPr>
              <a:t>	5</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spcBef>
                <a:spcPts val="56"/>
              </a:spcBef>
              <a:tabLst>
                <a:tab pos="1873568"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68" name="object 68"/>
          <p:cNvSpPr txBox="1"/>
          <p:nvPr/>
        </p:nvSpPr>
        <p:spPr>
          <a:xfrm>
            <a:off x="524138" y="3467480"/>
            <a:ext cx="2021681" cy="425116"/>
          </a:xfrm>
          <a:prstGeom prst="rect">
            <a:avLst/>
          </a:prstGeom>
        </p:spPr>
        <p:txBody>
          <a:bodyPr vert="horz" wrap="square" lIns="0" tIns="9525" rIns="0" bIns="0" rtlCol="0">
            <a:spAutoFit/>
          </a:bodyPr>
          <a:lstStyle/>
          <a:p>
            <a:pPr marL="9525">
              <a:spcBef>
                <a:spcPts val="75"/>
              </a:spcBef>
              <a:tabLst>
                <a:tab pos="768668" algn="l"/>
                <a:tab pos="1321117"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a:p>
            <a:pPr>
              <a:spcBef>
                <a:spcPts val="4"/>
              </a:spcBef>
            </a:pPr>
            <a:endParaRPr sz="900">
              <a:latin typeface="Courier New"/>
              <a:cs typeface="Courier New"/>
            </a:endParaRPr>
          </a:p>
          <a:p>
            <a:pPr marL="9525"/>
            <a:r>
              <a:rPr sz="900" dirty="0">
                <a:latin typeface="Courier New"/>
                <a:cs typeface="Courier New"/>
              </a:rPr>
              <a:t>mysql&gt;</a:t>
            </a:r>
            <a:r>
              <a:rPr sz="900" spc="-23" dirty="0">
                <a:latin typeface="Courier New"/>
                <a:cs typeface="Courier New"/>
              </a:rPr>
              <a:t> </a:t>
            </a:r>
            <a:r>
              <a:rPr sz="900" dirty="0">
                <a:latin typeface="Courier New"/>
                <a:cs typeface="Courier New"/>
              </a:rPr>
              <a:t>select</a:t>
            </a:r>
            <a:r>
              <a:rPr sz="900" spc="-19" dirty="0">
                <a:latin typeface="Courier New"/>
                <a:cs typeface="Courier New"/>
              </a:rPr>
              <a:t> </a:t>
            </a:r>
            <a:r>
              <a:rPr sz="900" dirty="0">
                <a:latin typeface="Courier New"/>
                <a:cs typeface="Courier New"/>
              </a:rPr>
              <a:t>*</a:t>
            </a:r>
            <a:r>
              <a:rPr sz="900" spc="-19" dirty="0">
                <a:latin typeface="Courier New"/>
                <a:cs typeface="Courier New"/>
              </a:rPr>
              <a:t> </a:t>
            </a:r>
            <a:r>
              <a:rPr sz="900" dirty="0">
                <a:latin typeface="Courier New"/>
                <a:cs typeface="Courier New"/>
              </a:rPr>
              <a:t>from</a:t>
            </a:r>
            <a:r>
              <a:rPr sz="900" spc="-19" dirty="0">
                <a:latin typeface="Courier New"/>
                <a:cs typeface="Courier New"/>
              </a:rPr>
              <a:t> </a:t>
            </a:r>
            <a:r>
              <a:rPr sz="900" spc="-8" dirty="0">
                <a:latin typeface="Courier New"/>
                <a:cs typeface="Courier New"/>
              </a:rPr>
              <a:t>deptsal;</a:t>
            </a:r>
            <a:endParaRPr sz="900">
              <a:latin typeface="Courier New"/>
              <a:cs typeface="Courier New"/>
            </a:endParaRPr>
          </a:p>
        </p:txBody>
      </p:sp>
      <p:sp>
        <p:nvSpPr>
          <p:cNvPr id="69" name="object 69"/>
          <p:cNvSpPr/>
          <p:nvPr/>
        </p:nvSpPr>
        <p:spPr>
          <a:xfrm>
            <a:off x="602719" y="3964781"/>
            <a:ext cx="621983" cy="0"/>
          </a:xfrm>
          <a:custGeom>
            <a:avLst/>
            <a:gdLst/>
            <a:ahLst/>
            <a:cxnLst/>
            <a:rect l="l" t="t" r="r" b="b"/>
            <a:pathLst>
              <a:path w="829310">
                <a:moveTo>
                  <a:pt x="0" y="0"/>
                </a:moveTo>
                <a:lnTo>
                  <a:pt x="828720" y="0"/>
                </a:lnTo>
              </a:path>
            </a:pathLst>
          </a:custGeom>
          <a:ln w="12649">
            <a:solidFill>
              <a:srgbClr val="000000"/>
            </a:solidFill>
            <a:prstDash val="dash"/>
          </a:ln>
        </p:spPr>
        <p:txBody>
          <a:bodyPr wrap="square" lIns="0" tIns="0" rIns="0" bIns="0" rtlCol="0"/>
          <a:lstStyle/>
          <a:p>
            <a:endParaRPr sz="1800"/>
          </a:p>
        </p:txBody>
      </p:sp>
      <p:sp>
        <p:nvSpPr>
          <p:cNvPr id="70" name="object 70"/>
          <p:cNvSpPr/>
          <p:nvPr/>
        </p:nvSpPr>
        <p:spPr>
          <a:xfrm>
            <a:off x="1293281" y="3964781"/>
            <a:ext cx="898208" cy="0"/>
          </a:xfrm>
          <a:custGeom>
            <a:avLst/>
            <a:gdLst/>
            <a:ahLst/>
            <a:cxnLst/>
            <a:rect l="l" t="t" r="r" b="b"/>
            <a:pathLst>
              <a:path w="1197610">
                <a:moveTo>
                  <a:pt x="0" y="0"/>
                </a:moveTo>
                <a:lnTo>
                  <a:pt x="1197041" y="0"/>
                </a:lnTo>
              </a:path>
            </a:pathLst>
          </a:custGeom>
          <a:ln w="12649">
            <a:solidFill>
              <a:srgbClr val="000000"/>
            </a:solidFill>
            <a:prstDash val="dash"/>
          </a:ln>
        </p:spPr>
        <p:txBody>
          <a:bodyPr wrap="square" lIns="0" tIns="0" rIns="0" bIns="0" rtlCol="0"/>
          <a:lstStyle/>
          <a:p>
            <a:endParaRPr sz="1800"/>
          </a:p>
        </p:txBody>
      </p:sp>
      <p:sp>
        <p:nvSpPr>
          <p:cNvPr id="71" name="object 71"/>
          <p:cNvSpPr txBox="1"/>
          <p:nvPr/>
        </p:nvSpPr>
        <p:spPr>
          <a:xfrm>
            <a:off x="524138" y="3876675"/>
            <a:ext cx="1745456" cy="291747"/>
          </a:xfrm>
          <a:prstGeom prst="rect">
            <a:avLst/>
          </a:prstGeom>
        </p:spPr>
        <p:txBody>
          <a:bodyPr vert="horz" wrap="square" lIns="0" tIns="9525" rIns="0" bIns="0" rtlCol="0">
            <a:spAutoFit/>
          </a:bodyPr>
          <a:lstStyle/>
          <a:p>
            <a:pPr marL="9525">
              <a:lnSpc>
                <a:spcPts val="1061"/>
              </a:lnSpc>
              <a:spcBef>
                <a:spcPts val="75"/>
              </a:spcBef>
              <a:tabLst>
                <a:tab pos="699611" algn="l"/>
                <a:tab pos="1666399"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pPr>
            <a:r>
              <a:rPr sz="900" dirty="0">
                <a:latin typeface="Courier New"/>
                <a:cs typeface="Courier New"/>
              </a:rPr>
              <a:t>|</a:t>
            </a:r>
            <a:r>
              <a:rPr sz="900" spc="-26" dirty="0">
                <a:latin typeface="Courier New"/>
                <a:cs typeface="Courier New"/>
              </a:rPr>
              <a:t> </a:t>
            </a:r>
            <a:r>
              <a:rPr sz="900" dirty="0">
                <a:latin typeface="Courier New"/>
                <a:cs typeface="Courier New"/>
              </a:rPr>
              <a:t>dnumber</a:t>
            </a:r>
            <a:r>
              <a:rPr sz="900" spc="-23"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totalsalary</a:t>
            </a:r>
            <a:r>
              <a:rPr sz="900" spc="-23"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72" name="object 72"/>
          <p:cNvSpPr/>
          <p:nvPr/>
        </p:nvSpPr>
        <p:spPr>
          <a:xfrm>
            <a:off x="602719" y="4241387"/>
            <a:ext cx="621983" cy="0"/>
          </a:xfrm>
          <a:custGeom>
            <a:avLst/>
            <a:gdLst/>
            <a:ahLst/>
            <a:cxnLst/>
            <a:rect l="l" t="t" r="r" b="b"/>
            <a:pathLst>
              <a:path w="829310">
                <a:moveTo>
                  <a:pt x="0" y="0"/>
                </a:moveTo>
                <a:lnTo>
                  <a:pt x="828720" y="0"/>
                </a:lnTo>
              </a:path>
            </a:pathLst>
          </a:custGeom>
          <a:ln w="12649">
            <a:solidFill>
              <a:srgbClr val="000000"/>
            </a:solidFill>
            <a:prstDash val="dash"/>
          </a:ln>
        </p:spPr>
        <p:txBody>
          <a:bodyPr wrap="square" lIns="0" tIns="0" rIns="0" bIns="0" rtlCol="0"/>
          <a:lstStyle/>
          <a:p>
            <a:endParaRPr sz="1800"/>
          </a:p>
        </p:txBody>
      </p:sp>
      <p:sp>
        <p:nvSpPr>
          <p:cNvPr id="73" name="object 73"/>
          <p:cNvSpPr/>
          <p:nvPr/>
        </p:nvSpPr>
        <p:spPr>
          <a:xfrm>
            <a:off x="1293281" y="4241387"/>
            <a:ext cx="898208" cy="0"/>
          </a:xfrm>
          <a:custGeom>
            <a:avLst/>
            <a:gdLst/>
            <a:ahLst/>
            <a:cxnLst/>
            <a:rect l="l" t="t" r="r" b="b"/>
            <a:pathLst>
              <a:path w="1197610">
                <a:moveTo>
                  <a:pt x="0" y="0"/>
                </a:moveTo>
                <a:lnTo>
                  <a:pt x="1197041" y="0"/>
                </a:lnTo>
              </a:path>
            </a:pathLst>
          </a:custGeom>
          <a:ln w="12649">
            <a:solidFill>
              <a:srgbClr val="000000"/>
            </a:solidFill>
            <a:prstDash val="dash"/>
          </a:ln>
        </p:spPr>
        <p:txBody>
          <a:bodyPr wrap="square" lIns="0" tIns="0" rIns="0" bIns="0" rtlCol="0"/>
          <a:lstStyle/>
          <a:p>
            <a:endParaRPr sz="1800"/>
          </a:p>
        </p:txBody>
      </p:sp>
      <p:sp>
        <p:nvSpPr>
          <p:cNvPr id="74" name="object 74"/>
          <p:cNvSpPr txBox="1"/>
          <p:nvPr/>
        </p:nvSpPr>
        <p:spPr>
          <a:xfrm>
            <a:off x="1214700" y="4153281"/>
            <a:ext cx="1054894" cy="148117"/>
          </a:xfrm>
          <a:prstGeom prst="rect">
            <a:avLst/>
          </a:prstGeom>
        </p:spPr>
        <p:txBody>
          <a:bodyPr vert="horz" wrap="square" lIns="0" tIns="9525" rIns="0" bIns="0" rtlCol="0">
            <a:spAutoFit/>
          </a:bodyPr>
          <a:lstStyle/>
          <a:p>
            <a:pPr marL="9525">
              <a:spcBef>
                <a:spcPts val="75"/>
              </a:spcBef>
              <a:tabLst>
                <a:tab pos="975836"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75" name="object 75"/>
          <p:cNvSpPr txBox="1"/>
          <p:nvPr/>
        </p:nvSpPr>
        <p:spPr>
          <a:xfrm>
            <a:off x="524138" y="4153280"/>
            <a:ext cx="88106" cy="571310"/>
          </a:xfrm>
          <a:prstGeom prst="rect">
            <a:avLst/>
          </a:prstGeom>
        </p:spPr>
        <p:txBody>
          <a:bodyPr vert="horz" wrap="square" lIns="0" tIns="9525" rIns="0" bIns="0" rtlCol="0">
            <a:spAutoFit/>
          </a:bodyPr>
          <a:lstStyle/>
          <a:p>
            <a:pPr marL="9525">
              <a:lnSpc>
                <a:spcPts val="1061"/>
              </a:lnSpc>
              <a:spcBef>
                <a:spcPts val="75"/>
              </a:spcBef>
            </a:pPr>
            <a:r>
              <a:rPr sz="900" spc="-38" dirty="0">
                <a:latin typeface="Courier New"/>
                <a:cs typeface="Courier New"/>
              </a:rPr>
              <a:t>+</a:t>
            </a:r>
            <a:endParaRPr sz="900">
              <a:latin typeface="Courier New"/>
              <a:cs typeface="Courier New"/>
            </a:endParaRPr>
          </a:p>
          <a:p>
            <a:pPr marL="9525">
              <a:lnSpc>
                <a:spcPts val="1054"/>
              </a:lnSpc>
            </a:pPr>
            <a:r>
              <a:rPr sz="900" spc="-38" dirty="0">
                <a:latin typeface="Courier New"/>
                <a:cs typeface="Courier New"/>
              </a:rPr>
              <a:t>|</a:t>
            </a:r>
            <a:endParaRPr sz="900">
              <a:latin typeface="Courier New"/>
              <a:cs typeface="Courier New"/>
            </a:endParaRPr>
          </a:p>
          <a:p>
            <a:pPr marL="9525">
              <a:lnSpc>
                <a:spcPts val="1073"/>
              </a:lnSpc>
            </a:pPr>
            <a:r>
              <a:rPr sz="900" spc="-38" dirty="0">
                <a:latin typeface="Courier New"/>
                <a:cs typeface="Courier New"/>
              </a:rPr>
              <a:t>|</a:t>
            </a:r>
            <a:endParaRPr sz="900">
              <a:latin typeface="Courier New"/>
              <a:cs typeface="Courier New"/>
            </a:endParaRPr>
          </a:p>
          <a:p>
            <a:pPr marL="9525">
              <a:spcBef>
                <a:spcPts val="34"/>
              </a:spcBef>
            </a:pPr>
            <a:r>
              <a:rPr sz="900" spc="-38" dirty="0">
                <a:latin typeface="Courier New"/>
                <a:cs typeface="Courier New"/>
              </a:rPr>
              <a:t>|</a:t>
            </a:r>
            <a:endParaRPr sz="900">
              <a:latin typeface="Courier New"/>
              <a:cs typeface="Courier New"/>
            </a:endParaRPr>
          </a:p>
        </p:txBody>
      </p:sp>
      <p:sp>
        <p:nvSpPr>
          <p:cNvPr id="76" name="object 76"/>
          <p:cNvSpPr txBox="1"/>
          <p:nvPr/>
        </p:nvSpPr>
        <p:spPr>
          <a:xfrm>
            <a:off x="1076588" y="4285869"/>
            <a:ext cx="226219" cy="430246"/>
          </a:xfrm>
          <a:prstGeom prst="rect">
            <a:avLst/>
          </a:prstGeom>
        </p:spPr>
        <p:txBody>
          <a:bodyPr vert="horz" wrap="square" lIns="0" tIns="9525" rIns="0" bIns="0" rtlCol="0">
            <a:spAutoFit/>
          </a:bodyPr>
          <a:lstStyle/>
          <a:p>
            <a:pPr marL="9525">
              <a:lnSpc>
                <a:spcPts val="1073"/>
              </a:lnSpc>
              <a:spcBef>
                <a:spcPts val="75"/>
              </a:spcBef>
            </a:pPr>
            <a:r>
              <a:rPr sz="900" dirty="0">
                <a:latin typeface="Courier New"/>
                <a:cs typeface="Courier New"/>
              </a:rPr>
              <a:t>5</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73"/>
              </a:lnSpc>
            </a:pPr>
            <a:r>
              <a:rPr sz="900" dirty="0">
                <a:latin typeface="Courier New"/>
                <a:cs typeface="Courier New"/>
              </a:rPr>
              <a:t>4</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spcBef>
                <a:spcPts val="34"/>
              </a:spcBef>
            </a:pPr>
            <a:r>
              <a:rPr sz="900" dirty="0">
                <a:latin typeface="Courier New"/>
                <a:cs typeface="Courier New"/>
              </a:rPr>
              <a:t>1</a:t>
            </a:r>
            <a:r>
              <a:rPr sz="900" spc="-4"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77" name="object 77"/>
          <p:cNvSpPr txBox="1"/>
          <p:nvPr/>
        </p:nvSpPr>
        <p:spPr>
          <a:xfrm>
            <a:off x="1698093" y="4285869"/>
            <a:ext cx="571500" cy="430246"/>
          </a:xfrm>
          <a:prstGeom prst="rect">
            <a:avLst/>
          </a:prstGeom>
        </p:spPr>
        <p:txBody>
          <a:bodyPr vert="horz" wrap="square" lIns="0" tIns="9525" rIns="0" bIns="0" rtlCol="0">
            <a:spAutoFit/>
          </a:bodyPr>
          <a:lstStyle/>
          <a:p>
            <a:pPr marR="3810" algn="r">
              <a:lnSpc>
                <a:spcPts val="1073"/>
              </a:lnSpc>
              <a:spcBef>
                <a:spcPts val="75"/>
              </a:spcBef>
            </a:pPr>
            <a:r>
              <a:rPr sz="900" dirty="0">
                <a:latin typeface="Courier New"/>
                <a:cs typeface="Courier New"/>
              </a:rPr>
              <a:t>183000</a:t>
            </a:r>
            <a:r>
              <a:rPr sz="900" spc="-30" dirty="0">
                <a:latin typeface="Courier New"/>
                <a:cs typeface="Courier New"/>
              </a:rPr>
              <a:t> </a:t>
            </a:r>
            <a:r>
              <a:rPr sz="900" spc="-45" dirty="0">
                <a:latin typeface="Courier New"/>
                <a:cs typeface="Courier New"/>
              </a:rPr>
              <a:t>|</a:t>
            </a:r>
            <a:endParaRPr sz="900">
              <a:latin typeface="Courier New"/>
              <a:cs typeface="Courier New"/>
            </a:endParaRPr>
          </a:p>
          <a:p>
            <a:pPr marR="3810" algn="r">
              <a:lnSpc>
                <a:spcPts val="1073"/>
              </a:lnSpc>
            </a:pPr>
            <a:r>
              <a:rPr sz="900" dirty="0">
                <a:latin typeface="Courier New"/>
                <a:cs typeface="Courier New"/>
              </a:rPr>
              <a:t>93000</a:t>
            </a:r>
            <a:r>
              <a:rPr sz="900" spc="-26" dirty="0">
                <a:latin typeface="Courier New"/>
                <a:cs typeface="Courier New"/>
              </a:rPr>
              <a:t> </a:t>
            </a:r>
            <a:r>
              <a:rPr sz="900" spc="-38" dirty="0">
                <a:latin typeface="Courier New"/>
                <a:cs typeface="Courier New"/>
              </a:rPr>
              <a:t>|</a:t>
            </a:r>
            <a:endParaRPr sz="900">
              <a:latin typeface="Courier New"/>
              <a:cs typeface="Courier New"/>
            </a:endParaRPr>
          </a:p>
          <a:p>
            <a:pPr marR="3810" algn="r">
              <a:spcBef>
                <a:spcPts val="34"/>
              </a:spcBef>
            </a:pPr>
            <a:r>
              <a:rPr sz="900" dirty="0">
                <a:latin typeface="Courier New"/>
                <a:cs typeface="Courier New"/>
              </a:rPr>
              <a:t>55000</a:t>
            </a:r>
            <a:r>
              <a:rPr sz="900" spc="-26"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78" name="object 78"/>
          <p:cNvSpPr txBox="1"/>
          <p:nvPr/>
        </p:nvSpPr>
        <p:spPr>
          <a:xfrm>
            <a:off x="524138" y="4688204"/>
            <a:ext cx="1745456" cy="306174"/>
          </a:xfrm>
          <a:prstGeom prst="rect">
            <a:avLst/>
          </a:prstGeom>
        </p:spPr>
        <p:txBody>
          <a:bodyPr vert="horz" wrap="square" lIns="0" tIns="16193" rIns="0" bIns="0" rtlCol="0">
            <a:spAutoFit/>
          </a:bodyPr>
          <a:lstStyle/>
          <a:p>
            <a:pPr marL="9525">
              <a:spcBef>
                <a:spcPts val="127"/>
              </a:spcBef>
            </a:pPr>
            <a:r>
              <a:rPr sz="900" spc="-8" dirty="0">
                <a:latin typeface="Courier New"/>
                <a:cs typeface="Courier New"/>
              </a:rPr>
              <a:t>+---------+-------------</a:t>
            </a:r>
            <a:r>
              <a:rPr sz="900" spc="-38" dirty="0">
                <a:latin typeface="Courier New"/>
                <a:cs typeface="Courier New"/>
              </a:rPr>
              <a:t>+</a:t>
            </a:r>
            <a:endParaRPr sz="900">
              <a:latin typeface="Courier New"/>
              <a:cs typeface="Courier New"/>
            </a:endParaRPr>
          </a:p>
          <a:p>
            <a:pPr marL="9525">
              <a:spcBef>
                <a:spcPts val="56"/>
              </a:spcBef>
            </a:pPr>
            <a:r>
              <a:rPr sz="900" dirty="0">
                <a:latin typeface="Courier New"/>
                <a:cs typeface="Courier New"/>
              </a:rPr>
              <a:t>3</a:t>
            </a:r>
            <a:r>
              <a:rPr sz="900" spc="-15" dirty="0">
                <a:latin typeface="Courier New"/>
                <a:cs typeface="Courier New"/>
              </a:rPr>
              <a:t> </a:t>
            </a:r>
            <a:r>
              <a:rPr sz="900" dirty="0">
                <a:latin typeface="Courier New"/>
                <a:cs typeface="Courier New"/>
              </a:rPr>
              <a:t>rows</a:t>
            </a:r>
            <a:r>
              <a:rPr sz="900" spc="-11" dirty="0">
                <a:latin typeface="Courier New"/>
                <a:cs typeface="Courier New"/>
              </a:rPr>
              <a:t> </a:t>
            </a:r>
            <a:r>
              <a:rPr sz="900" dirty="0">
                <a:latin typeface="Courier New"/>
                <a:cs typeface="Courier New"/>
              </a:rPr>
              <a:t>in</a:t>
            </a:r>
            <a:r>
              <a:rPr sz="900" spc="-15" dirty="0">
                <a:latin typeface="Courier New"/>
                <a:cs typeface="Courier New"/>
              </a:rPr>
              <a:t> </a:t>
            </a:r>
            <a:r>
              <a:rPr sz="900" dirty="0">
                <a:latin typeface="Courier New"/>
                <a:cs typeface="Courier New"/>
              </a:rPr>
              <a:t>set</a:t>
            </a:r>
            <a:r>
              <a:rPr sz="900" spc="-11" dirty="0">
                <a:latin typeface="Courier New"/>
                <a:cs typeface="Courier New"/>
              </a:rPr>
              <a:t> </a:t>
            </a:r>
            <a:r>
              <a:rPr sz="900" dirty="0">
                <a:latin typeface="Courier New"/>
                <a:cs typeface="Courier New"/>
              </a:rPr>
              <a:t>(0.00</a:t>
            </a:r>
            <a:r>
              <a:rPr sz="900" spc="-11" dirty="0">
                <a:latin typeface="Courier New"/>
                <a:cs typeface="Courier New"/>
              </a:rPr>
              <a:t> </a:t>
            </a:r>
            <a:r>
              <a:rPr sz="900" spc="-15" dirty="0">
                <a:latin typeface="Courier New"/>
                <a:cs typeface="Courier New"/>
              </a:rPr>
              <a:t>sec)</a:t>
            </a:r>
            <a:endParaRPr sz="900">
              <a:latin typeface="Courier New"/>
              <a:cs typeface="Courier New"/>
            </a:endParaRPr>
          </a:p>
        </p:txBody>
      </p:sp>
      <p:sp>
        <p:nvSpPr>
          <p:cNvPr id="79" name="object 79"/>
          <p:cNvSpPr txBox="1"/>
          <p:nvPr/>
        </p:nvSpPr>
        <p:spPr>
          <a:xfrm>
            <a:off x="524138" y="5248275"/>
            <a:ext cx="2436495" cy="443070"/>
          </a:xfrm>
          <a:prstGeom prst="rect">
            <a:avLst/>
          </a:prstGeom>
        </p:spPr>
        <p:txBody>
          <a:bodyPr vert="horz" wrap="square" lIns="0" tIns="9525" rIns="0" bIns="0" rtlCol="0">
            <a:spAutoFit/>
          </a:bodyPr>
          <a:lstStyle/>
          <a:p>
            <a:pPr marR="63341" algn="ctr">
              <a:lnSpc>
                <a:spcPts val="1061"/>
              </a:lnSpc>
              <a:spcBef>
                <a:spcPts val="75"/>
              </a:spcBef>
            </a:pPr>
            <a:r>
              <a:rPr sz="900" dirty="0">
                <a:latin typeface="Courier New"/>
                <a:cs typeface="Courier New"/>
              </a:rPr>
              <a:t>mysql&gt;</a:t>
            </a:r>
            <a:r>
              <a:rPr sz="900" spc="-23" dirty="0">
                <a:latin typeface="Courier New"/>
                <a:cs typeface="Courier New"/>
              </a:rPr>
              <a:t> </a:t>
            </a:r>
            <a:r>
              <a:rPr sz="900" dirty="0">
                <a:latin typeface="Courier New"/>
                <a:cs typeface="Courier New"/>
              </a:rPr>
              <a:t>update</a:t>
            </a:r>
            <a:r>
              <a:rPr sz="900" spc="-23" dirty="0">
                <a:latin typeface="Courier New"/>
                <a:cs typeface="Courier New"/>
              </a:rPr>
              <a:t> </a:t>
            </a:r>
            <a:r>
              <a:rPr sz="900" dirty="0">
                <a:latin typeface="Courier New"/>
                <a:cs typeface="Courier New"/>
              </a:rPr>
              <a:t>employee</a:t>
            </a:r>
            <a:r>
              <a:rPr sz="900" spc="-19" dirty="0">
                <a:latin typeface="Courier New"/>
                <a:cs typeface="Courier New"/>
              </a:rPr>
              <a:t> </a:t>
            </a:r>
            <a:r>
              <a:rPr sz="900" dirty="0">
                <a:latin typeface="Courier New"/>
                <a:cs typeface="Courier New"/>
              </a:rPr>
              <a:t>set</a:t>
            </a:r>
            <a:r>
              <a:rPr sz="900" spc="-23" dirty="0">
                <a:latin typeface="Courier New"/>
                <a:cs typeface="Courier New"/>
              </a:rPr>
              <a:t> </a:t>
            </a:r>
            <a:r>
              <a:rPr sz="900" dirty="0">
                <a:latin typeface="Courier New"/>
                <a:cs typeface="Courier New"/>
              </a:rPr>
              <a:t>dno</a:t>
            </a:r>
            <a:r>
              <a:rPr sz="900" spc="-19" dirty="0">
                <a:latin typeface="Courier New"/>
                <a:cs typeface="Courier New"/>
              </a:rPr>
              <a:t> </a:t>
            </a:r>
            <a:r>
              <a:rPr sz="900" dirty="0">
                <a:latin typeface="Courier New"/>
                <a:cs typeface="Courier New"/>
              </a:rPr>
              <a:t>=</a:t>
            </a:r>
            <a:r>
              <a:rPr sz="900" spc="-23" dirty="0">
                <a:latin typeface="Courier New"/>
                <a:cs typeface="Courier New"/>
              </a:rPr>
              <a:t> </a:t>
            </a:r>
            <a:r>
              <a:rPr sz="900" spc="-38" dirty="0">
                <a:latin typeface="Courier New"/>
                <a:cs typeface="Courier New"/>
              </a:rPr>
              <a:t>4</a:t>
            </a:r>
            <a:endParaRPr sz="900">
              <a:latin typeface="Courier New"/>
              <a:cs typeface="Courier New"/>
            </a:endParaRPr>
          </a:p>
          <a:p>
            <a:pPr algn="ctr">
              <a:lnSpc>
                <a:spcPts val="1061"/>
              </a:lnSpc>
            </a:pPr>
            <a:r>
              <a:rPr sz="900" spc="-8" dirty="0">
                <a:latin typeface="Courier New"/>
                <a:cs typeface="Courier New"/>
              </a:rPr>
              <a:t>-</a:t>
            </a:r>
            <a:r>
              <a:rPr sz="900" dirty="0">
                <a:latin typeface="Courier New"/>
                <a:cs typeface="Courier New"/>
              </a:rPr>
              <a:t>&gt;</a:t>
            </a:r>
            <a:r>
              <a:rPr sz="900" spc="-11" dirty="0">
                <a:latin typeface="Courier New"/>
                <a:cs typeface="Courier New"/>
              </a:rPr>
              <a:t> </a:t>
            </a:r>
            <a:r>
              <a:rPr sz="900" dirty="0">
                <a:latin typeface="Courier New"/>
                <a:cs typeface="Courier New"/>
              </a:rPr>
              <a:t>where</a:t>
            </a:r>
            <a:r>
              <a:rPr sz="900" spc="-8" dirty="0">
                <a:latin typeface="Courier New"/>
                <a:cs typeface="Courier New"/>
              </a:rPr>
              <a:t> </a:t>
            </a:r>
            <a:r>
              <a:rPr sz="900" dirty="0">
                <a:latin typeface="Courier New"/>
                <a:cs typeface="Courier New"/>
              </a:rPr>
              <a:t>ssn</a:t>
            </a:r>
            <a:r>
              <a:rPr sz="900" spc="-11" dirty="0">
                <a:latin typeface="Courier New"/>
                <a:cs typeface="Courier New"/>
              </a:rPr>
              <a:t> </a:t>
            </a:r>
            <a:r>
              <a:rPr sz="900" dirty="0">
                <a:latin typeface="Courier New"/>
                <a:cs typeface="Courier New"/>
              </a:rPr>
              <a:t>=</a:t>
            </a:r>
            <a:r>
              <a:rPr sz="900" spc="-8" dirty="0">
                <a:latin typeface="Courier New"/>
                <a:cs typeface="Courier New"/>
              </a:rPr>
              <a:t> '222334444';</a:t>
            </a:r>
            <a:endParaRPr sz="900">
              <a:latin typeface="Courier New"/>
              <a:cs typeface="Courier New"/>
            </a:endParaRPr>
          </a:p>
          <a:p>
            <a:pPr algn="ctr">
              <a:spcBef>
                <a:spcPts val="53"/>
              </a:spcBef>
            </a:pPr>
            <a:r>
              <a:rPr sz="900" dirty="0">
                <a:latin typeface="Courier New"/>
                <a:cs typeface="Courier New"/>
              </a:rPr>
              <a:t>Query</a:t>
            </a:r>
            <a:r>
              <a:rPr sz="900" spc="-23" dirty="0">
                <a:latin typeface="Courier New"/>
                <a:cs typeface="Courier New"/>
              </a:rPr>
              <a:t> </a:t>
            </a:r>
            <a:r>
              <a:rPr sz="900" dirty="0">
                <a:latin typeface="Courier New"/>
                <a:cs typeface="Courier New"/>
              </a:rPr>
              <a:t>OK,</a:t>
            </a:r>
            <a:r>
              <a:rPr sz="900" spc="-19" dirty="0">
                <a:latin typeface="Courier New"/>
                <a:cs typeface="Courier New"/>
              </a:rPr>
              <a:t> </a:t>
            </a:r>
            <a:r>
              <a:rPr sz="900" dirty="0">
                <a:latin typeface="Courier New"/>
                <a:cs typeface="Courier New"/>
              </a:rPr>
              <a:t>1</a:t>
            </a:r>
            <a:r>
              <a:rPr sz="900" spc="-19" dirty="0">
                <a:latin typeface="Courier New"/>
                <a:cs typeface="Courier New"/>
              </a:rPr>
              <a:t> </a:t>
            </a:r>
            <a:r>
              <a:rPr sz="900" dirty="0">
                <a:latin typeface="Courier New"/>
                <a:cs typeface="Courier New"/>
              </a:rPr>
              <a:t>row</a:t>
            </a:r>
            <a:r>
              <a:rPr sz="900" spc="-19" dirty="0">
                <a:latin typeface="Courier New"/>
                <a:cs typeface="Courier New"/>
              </a:rPr>
              <a:t> </a:t>
            </a:r>
            <a:r>
              <a:rPr sz="900" dirty="0">
                <a:latin typeface="Courier New"/>
                <a:cs typeface="Courier New"/>
              </a:rPr>
              <a:t>affected</a:t>
            </a:r>
            <a:r>
              <a:rPr sz="900" spc="-19" dirty="0">
                <a:latin typeface="Courier New"/>
                <a:cs typeface="Courier New"/>
              </a:rPr>
              <a:t> </a:t>
            </a:r>
            <a:r>
              <a:rPr sz="900" dirty="0">
                <a:latin typeface="Courier New"/>
                <a:cs typeface="Courier New"/>
              </a:rPr>
              <a:t>(0.01</a:t>
            </a:r>
            <a:r>
              <a:rPr sz="900" spc="-19" dirty="0">
                <a:latin typeface="Courier New"/>
                <a:cs typeface="Courier New"/>
              </a:rPr>
              <a:t> </a:t>
            </a:r>
            <a:r>
              <a:rPr sz="900" spc="-15" dirty="0">
                <a:latin typeface="Courier New"/>
                <a:cs typeface="Courier New"/>
              </a:rPr>
              <a:t>sec)</a:t>
            </a:r>
            <a:endParaRPr sz="900">
              <a:latin typeface="Courier New"/>
              <a:cs typeface="Courier New"/>
            </a:endParaRPr>
          </a:p>
        </p:txBody>
      </p:sp>
      <p:sp>
        <p:nvSpPr>
          <p:cNvPr id="80" name="object 80"/>
          <p:cNvSpPr txBox="1"/>
          <p:nvPr/>
        </p:nvSpPr>
        <p:spPr>
          <a:xfrm>
            <a:off x="524138" y="5657469"/>
            <a:ext cx="2781300" cy="148117"/>
          </a:xfrm>
          <a:prstGeom prst="rect">
            <a:avLst/>
          </a:prstGeom>
        </p:spPr>
        <p:txBody>
          <a:bodyPr vert="horz" wrap="square" lIns="0" tIns="9525" rIns="0" bIns="0" rtlCol="0">
            <a:spAutoFit/>
          </a:bodyPr>
          <a:lstStyle/>
          <a:p>
            <a:pPr marL="9525">
              <a:spcBef>
                <a:spcPts val="75"/>
              </a:spcBef>
              <a:tabLst>
                <a:tab pos="1183005" algn="l"/>
                <a:tab pos="2011680" algn="l"/>
              </a:tabLst>
            </a:pPr>
            <a:r>
              <a:rPr sz="900" dirty="0">
                <a:latin typeface="Courier New"/>
                <a:cs typeface="Courier New"/>
              </a:rPr>
              <a:t>Rows</a:t>
            </a:r>
            <a:r>
              <a:rPr sz="900" spc="-30" dirty="0">
                <a:latin typeface="Courier New"/>
                <a:cs typeface="Courier New"/>
              </a:rPr>
              <a:t> </a:t>
            </a:r>
            <a:r>
              <a:rPr sz="900" dirty="0">
                <a:latin typeface="Courier New"/>
                <a:cs typeface="Courier New"/>
              </a:rPr>
              <a:t>matched:</a:t>
            </a:r>
            <a:r>
              <a:rPr sz="900" spc="-30" dirty="0">
                <a:latin typeface="Courier New"/>
                <a:cs typeface="Courier New"/>
              </a:rPr>
              <a:t> </a:t>
            </a:r>
            <a:r>
              <a:rPr sz="900" spc="-38" dirty="0">
                <a:latin typeface="Courier New"/>
                <a:cs typeface="Courier New"/>
              </a:rPr>
              <a:t>1</a:t>
            </a:r>
            <a:r>
              <a:rPr sz="900" dirty="0">
                <a:latin typeface="Courier New"/>
                <a:cs typeface="Courier New"/>
              </a:rPr>
              <a:t>	Changed:</a:t>
            </a:r>
            <a:r>
              <a:rPr sz="900" spc="-41" dirty="0">
                <a:latin typeface="Courier New"/>
                <a:cs typeface="Courier New"/>
              </a:rPr>
              <a:t> </a:t>
            </a:r>
            <a:r>
              <a:rPr sz="900" spc="-38" dirty="0">
                <a:latin typeface="Courier New"/>
                <a:cs typeface="Courier New"/>
              </a:rPr>
              <a:t>1</a:t>
            </a:r>
            <a:r>
              <a:rPr sz="900" dirty="0">
                <a:latin typeface="Courier New"/>
                <a:cs typeface="Courier New"/>
              </a:rPr>
              <a:t>	Warnings:</a:t>
            </a:r>
            <a:r>
              <a:rPr sz="900" spc="-49" dirty="0">
                <a:latin typeface="Courier New"/>
                <a:cs typeface="Courier New"/>
              </a:rPr>
              <a:t> </a:t>
            </a:r>
            <a:r>
              <a:rPr sz="900" spc="-38" dirty="0">
                <a:latin typeface="Courier New"/>
                <a:cs typeface="Courier New"/>
              </a:rPr>
              <a:t>0</a:t>
            </a:r>
            <a:endParaRPr sz="900">
              <a:latin typeface="Courier New"/>
              <a:cs typeface="Courier New"/>
            </a:endParaRPr>
          </a:p>
        </p:txBody>
      </p:sp>
      <p:sp>
        <p:nvSpPr>
          <p:cNvPr id="81" name="object 81"/>
          <p:cNvSpPr txBox="1"/>
          <p:nvPr/>
        </p:nvSpPr>
        <p:spPr>
          <a:xfrm>
            <a:off x="5598852" y="4637913"/>
            <a:ext cx="2021681" cy="581569"/>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mysql&gt;</a:t>
            </a:r>
            <a:r>
              <a:rPr sz="900" spc="-23" dirty="0">
                <a:latin typeface="Courier New"/>
                <a:cs typeface="Courier New"/>
              </a:rPr>
              <a:t> </a:t>
            </a:r>
            <a:r>
              <a:rPr sz="900" dirty="0">
                <a:latin typeface="Courier New"/>
                <a:cs typeface="Courier New"/>
              </a:rPr>
              <a:t>select</a:t>
            </a:r>
            <a:r>
              <a:rPr sz="900" spc="-19" dirty="0">
                <a:latin typeface="Courier New"/>
                <a:cs typeface="Courier New"/>
              </a:rPr>
              <a:t> </a:t>
            </a:r>
            <a:r>
              <a:rPr sz="900" dirty="0">
                <a:latin typeface="Courier New"/>
                <a:cs typeface="Courier New"/>
              </a:rPr>
              <a:t>*</a:t>
            </a:r>
            <a:r>
              <a:rPr sz="900" spc="-19" dirty="0">
                <a:latin typeface="Courier New"/>
                <a:cs typeface="Courier New"/>
              </a:rPr>
              <a:t> </a:t>
            </a:r>
            <a:r>
              <a:rPr sz="900" dirty="0">
                <a:latin typeface="Courier New"/>
                <a:cs typeface="Courier New"/>
              </a:rPr>
              <a:t>from</a:t>
            </a:r>
            <a:r>
              <a:rPr sz="900" spc="-19" dirty="0">
                <a:latin typeface="Courier New"/>
                <a:cs typeface="Courier New"/>
              </a:rPr>
              <a:t> </a:t>
            </a:r>
            <a:r>
              <a:rPr sz="900" spc="-8" dirty="0">
                <a:latin typeface="Courier New"/>
                <a:cs typeface="Courier New"/>
              </a:rPr>
              <a:t>deptsal;</a:t>
            </a:r>
            <a:endParaRPr sz="900">
              <a:latin typeface="Courier New"/>
              <a:cs typeface="Courier New"/>
            </a:endParaRPr>
          </a:p>
          <a:p>
            <a:pPr marL="9525">
              <a:lnSpc>
                <a:spcPts val="1061"/>
              </a:lnSpc>
              <a:spcBef>
                <a:spcPts val="34"/>
              </a:spcBef>
            </a:pPr>
            <a:r>
              <a:rPr sz="900" spc="-8" dirty="0">
                <a:latin typeface="Courier New"/>
                <a:cs typeface="Courier New"/>
              </a:rPr>
              <a:t>+---------+-------------</a:t>
            </a:r>
            <a:r>
              <a:rPr sz="900" spc="-38" dirty="0">
                <a:latin typeface="Courier New"/>
                <a:cs typeface="Courier New"/>
              </a:rPr>
              <a:t>+</a:t>
            </a:r>
            <a:endParaRPr sz="900">
              <a:latin typeface="Courier New"/>
              <a:cs typeface="Courier New"/>
            </a:endParaRPr>
          </a:p>
          <a:p>
            <a:pPr marL="9525">
              <a:lnSpc>
                <a:spcPts val="1061"/>
              </a:lnSpc>
            </a:pPr>
            <a:r>
              <a:rPr sz="900" dirty="0">
                <a:latin typeface="Courier New"/>
                <a:cs typeface="Courier New"/>
              </a:rPr>
              <a:t>|</a:t>
            </a:r>
            <a:r>
              <a:rPr sz="900" spc="-26" dirty="0">
                <a:latin typeface="Courier New"/>
                <a:cs typeface="Courier New"/>
              </a:rPr>
              <a:t> </a:t>
            </a:r>
            <a:r>
              <a:rPr sz="900" dirty="0">
                <a:latin typeface="Courier New"/>
                <a:cs typeface="Courier New"/>
              </a:rPr>
              <a:t>dnumber</a:t>
            </a:r>
            <a:r>
              <a:rPr sz="900" spc="-23"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totalsalary</a:t>
            </a:r>
            <a:r>
              <a:rPr sz="900" spc="-23" dirty="0">
                <a:latin typeface="Courier New"/>
                <a:cs typeface="Courier New"/>
              </a:rPr>
              <a:t> </a:t>
            </a:r>
            <a:r>
              <a:rPr sz="900" spc="-38" dirty="0">
                <a:latin typeface="Courier New"/>
                <a:cs typeface="Courier New"/>
              </a:rPr>
              <a:t>|</a:t>
            </a:r>
            <a:endParaRPr sz="900">
              <a:latin typeface="Courier New"/>
              <a:cs typeface="Courier New"/>
            </a:endParaRPr>
          </a:p>
          <a:p>
            <a:pPr marL="9525">
              <a:spcBef>
                <a:spcPts val="56"/>
              </a:spcBef>
            </a:pPr>
            <a:r>
              <a:rPr sz="900" spc="-8" dirty="0">
                <a:latin typeface="Courier New"/>
                <a:cs typeface="Courier New"/>
              </a:rPr>
              <a:t>+---------+-------------</a:t>
            </a:r>
            <a:r>
              <a:rPr sz="900" spc="-38" dirty="0">
                <a:latin typeface="Courier New"/>
                <a:cs typeface="Courier New"/>
              </a:rPr>
              <a:t>+</a:t>
            </a:r>
            <a:endParaRPr sz="900">
              <a:latin typeface="Courier New"/>
              <a:cs typeface="Courier New"/>
            </a:endParaRPr>
          </a:p>
        </p:txBody>
      </p:sp>
      <p:sp>
        <p:nvSpPr>
          <p:cNvPr id="82" name="object 82"/>
          <p:cNvSpPr txBox="1"/>
          <p:nvPr/>
        </p:nvSpPr>
        <p:spPr>
          <a:xfrm>
            <a:off x="5598852" y="5188839"/>
            <a:ext cx="88106" cy="430246"/>
          </a:xfrm>
          <a:prstGeom prst="rect">
            <a:avLst/>
          </a:prstGeom>
        </p:spPr>
        <p:txBody>
          <a:bodyPr vert="horz" wrap="square" lIns="0" tIns="9525" rIns="0" bIns="0" rtlCol="0">
            <a:spAutoFit/>
          </a:bodyPr>
          <a:lstStyle/>
          <a:p>
            <a:pPr marL="9525">
              <a:lnSpc>
                <a:spcPts val="1073"/>
              </a:lnSpc>
              <a:spcBef>
                <a:spcPts val="75"/>
              </a:spcBef>
            </a:pPr>
            <a:r>
              <a:rPr sz="900" spc="-38" dirty="0">
                <a:latin typeface="Courier New"/>
                <a:cs typeface="Courier New"/>
              </a:rPr>
              <a:t>|</a:t>
            </a:r>
            <a:endParaRPr sz="900">
              <a:latin typeface="Courier New"/>
              <a:cs typeface="Courier New"/>
            </a:endParaRPr>
          </a:p>
          <a:p>
            <a:pPr marL="9525">
              <a:lnSpc>
                <a:spcPts val="1073"/>
              </a:lnSpc>
            </a:pPr>
            <a:r>
              <a:rPr sz="900" spc="-38" dirty="0">
                <a:latin typeface="Courier New"/>
                <a:cs typeface="Courier New"/>
              </a:rPr>
              <a:t>|</a:t>
            </a:r>
            <a:endParaRPr sz="900">
              <a:latin typeface="Courier New"/>
              <a:cs typeface="Courier New"/>
            </a:endParaRPr>
          </a:p>
          <a:p>
            <a:pPr marL="9525">
              <a:spcBef>
                <a:spcPts val="34"/>
              </a:spcBef>
            </a:pPr>
            <a:r>
              <a:rPr sz="900" spc="-38" dirty="0">
                <a:latin typeface="Courier New"/>
                <a:cs typeface="Courier New"/>
              </a:rPr>
              <a:t>|</a:t>
            </a:r>
            <a:endParaRPr sz="900">
              <a:latin typeface="Courier New"/>
              <a:cs typeface="Courier New"/>
            </a:endParaRPr>
          </a:p>
        </p:txBody>
      </p:sp>
      <p:sp>
        <p:nvSpPr>
          <p:cNvPr id="83" name="object 83"/>
          <p:cNvSpPr txBox="1"/>
          <p:nvPr/>
        </p:nvSpPr>
        <p:spPr>
          <a:xfrm>
            <a:off x="6151302" y="5188839"/>
            <a:ext cx="226219" cy="430246"/>
          </a:xfrm>
          <a:prstGeom prst="rect">
            <a:avLst/>
          </a:prstGeom>
        </p:spPr>
        <p:txBody>
          <a:bodyPr vert="horz" wrap="square" lIns="0" tIns="9525" rIns="0" bIns="0" rtlCol="0">
            <a:spAutoFit/>
          </a:bodyPr>
          <a:lstStyle/>
          <a:p>
            <a:pPr marL="9525">
              <a:lnSpc>
                <a:spcPts val="1073"/>
              </a:lnSpc>
              <a:spcBef>
                <a:spcPts val="75"/>
              </a:spcBef>
            </a:pPr>
            <a:r>
              <a:rPr sz="900" dirty="0">
                <a:latin typeface="Courier New"/>
                <a:cs typeface="Courier New"/>
              </a:rPr>
              <a:t>5</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73"/>
              </a:lnSpc>
            </a:pPr>
            <a:r>
              <a:rPr sz="900" dirty="0">
                <a:latin typeface="Courier New"/>
                <a:cs typeface="Courier New"/>
              </a:rPr>
              <a:t>4</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spcBef>
                <a:spcPts val="34"/>
              </a:spcBef>
            </a:pPr>
            <a:r>
              <a:rPr sz="900" dirty="0">
                <a:latin typeface="Courier New"/>
                <a:cs typeface="Courier New"/>
              </a:rPr>
              <a:t>1</a:t>
            </a:r>
            <a:r>
              <a:rPr sz="900" spc="-4"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84" name="object 84"/>
          <p:cNvSpPr txBox="1"/>
          <p:nvPr/>
        </p:nvSpPr>
        <p:spPr>
          <a:xfrm>
            <a:off x="6772808" y="5188839"/>
            <a:ext cx="571500" cy="430246"/>
          </a:xfrm>
          <a:prstGeom prst="rect">
            <a:avLst/>
          </a:prstGeom>
        </p:spPr>
        <p:txBody>
          <a:bodyPr vert="horz" wrap="square" lIns="0" tIns="9525" rIns="0" bIns="0" rtlCol="0">
            <a:spAutoFit/>
          </a:bodyPr>
          <a:lstStyle/>
          <a:p>
            <a:pPr marR="3810" algn="r">
              <a:lnSpc>
                <a:spcPts val="1073"/>
              </a:lnSpc>
              <a:spcBef>
                <a:spcPts val="75"/>
              </a:spcBef>
            </a:pPr>
            <a:r>
              <a:rPr sz="900" dirty="0">
                <a:latin typeface="Courier New"/>
                <a:cs typeface="Courier New"/>
              </a:rPr>
              <a:t>133000</a:t>
            </a:r>
            <a:r>
              <a:rPr sz="900" spc="-30" dirty="0">
                <a:latin typeface="Courier New"/>
                <a:cs typeface="Courier New"/>
              </a:rPr>
              <a:t> </a:t>
            </a:r>
            <a:r>
              <a:rPr sz="900" spc="-45" dirty="0">
                <a:latin typeface="Courier New"/>
                <a:cs typeface="Courier New"/>
              </a:rPr>
              <a:t>|</a:t>
            </a:r>
            <a:endParaRPr sz="900">
              <a:latin typeface="Courier New"/>
              <a:cs typeface="Courier New"/>
            </a:endParaRPr>
          </a:p>
          <a:p>
            <a:pPr marR="3810" algn="r">
              <a:lnSpc>
                <a:spcPts val="1073"/>
              </a:lnSpc>
            </a:pPr>
            <a:r>
              <a:rPr sz="900" dirty="0">
                <a:latin typeface="Courier New"/>
                <a:cs typeface="Courier New"/>
              </a:rPr>
              <a:t>143000</a:t>
            </a:r>
            <a:r>
              <a:rPr sz="900" spc="-30" dirty="0">
                <a:latin typeface="Courier New"/>
                <a:cs typeface="Courier New"/>
              </a:rPr>
              <a:t> </a:t>
            </a:r>
            <a:r>
              <a:rPr sz="900" spc="-45" dirty="0">
                <a:latin typeface="Courier New"/>
                <a:cs typeface="Courier New"/>
              </a:rPr>
              <a:t>|</a:t>
            </a:r>
            <a:endParaRPr sz="900">
              <a:latin typeface="Courier New"/>
              <a:cs typeface="Courier New"/>
            </a:endParaRPr>
          </a:p>
          <a:p>
            <a:pPr marR="3810" algn="r">
              <a:spcBef>
                <a:spcPts val="34"/>
              </a:spcBef>
            </a:pPr>
            <a:r>
              <a:rPr sz="900" dirty="0">
                <a:latin typeface="Courier New"/>
                <a:cs typeface="Courier New"/>
              </a:rPr>
              <a:t>55000</a:t>
            </a:r>
            <a:r>
              <a:rPr sz="900" spc="-26"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85" name="object 85"/>
          <p:cNvSpPr txBox="1"/>
          <p:nvPr/>
        </p:nvSpPr>
        <p:spPr>
          <a:xfrm>
            <a:off x="5598852" y="5598034"/>
            <a:ext cx="1745456" cy="148117"/>
          </a:xfrm>
          <a:prstGeom prst="rect">
            <a:avLst/>
          </a:prstGeom>
        </p:spPr>
        <p:txBody>
          <a:bodyPr vert="horz" wrap="square" lIns="0" tIns="9525" rIns="0" bIns="0" rtlCol="0">
            <a:spAutoFit/>
          </a:bodyPr>
          <a:lstStyle/>
          <a:p>
            <a:pPr marL="9525">
              <a:spcBef>
                <a:spcPts val="75"/>
              </a:spcBef>
            </a:pPr>
            <a:r>
              <a:rPr sz="900" spc="-8" dirty="0">
                <a:latin typeface="Courier New"/>
                <a:cs typeface="Courier New"/>
              </a:rPr>
              <a:t>+---------+-------------</a:t>
            </a:r>
            <a:r>
              <a:rPr sz="900" spc="-38" dirty="0">
                <a:latin typeface="Courier New"/>
                <a:cs typeface="Courier New"/>
              </a:rPr>
              <a:t>+</a:t>
            </a:r>
            <a:endParaRPr sz="900">
              <a:latin typeface="Courier New"/>
              <a:cs typeface="Courier New"/>
            </a:endParaRPr>
          </a:p>
        </p:txBody>
      </p:sp>
      <p:sp>
        <p:nvSpPr>
          <p:cNvPr id="86" name="object 86"/>
          <p:cNvSpPr txBox="1"/>
          <p:nvPr/>
        </p:nvSpPr>
        <p:spPr>
          <a:xfrm>
            <a:off x="3171635" y="5673472"/>
            <a:ext cx="4122896" cy="148117"/>
          </a:xfrm>
          <a:prstGeom prst="rect">
            <a:avLst/>
          </a:prstGeom>
        </p:spPr>
        <p:txBody>
          <a:bodyPr vert="horz" wrap="square" lIns="0" tIns="9525" rIns="0" bIns="0" rtlCol="0">
            <a:spAutoFit/>
          </a:bodyPr>
          <a:lstStyle/>
          <a:p>
            <a:pPr marL="28575">
              <a:spcBef>
                <a:spcPts val="75"/>
              </a:spcBef>
            </a:pPr>
            <a:r>
              <a:rPr sz="900" spc="-8" dirty="0">
                <a:solidFill>
                  <a:srgbClr val="898989"/>
                </a:solidFill>
                <a:latin typeface="Calibri"/>
                <a:cs typeface="Calibri"/>
              </a:rPr>
              <a:t>Copyright </a:t>
            </a:r>
            <a:r>
              <a:rPr sz="900" dirty="0">
                <a:solidFill>
                  <a:srgbClr val="898989"/>
                </a:solidFill>
                <a:latin typeface="Calibri"/>
                <a:cs typeface="Calibri"/>
              </a:rPr>
              <a:t>©</a:t>
            </a:r>
            <a:r>
              <a:rPr sz="900" spc="-8" dirty="0">
                <a:solidFill>
                  <a:srgbClr val="898989"/>
                </a:solidFill>
                <a:latin typeface="Calibri"/>
                <a:cs typeface="Calibri"/>
              </a:rPr>
              <a:t> </a:t>
            </a:r>
            <a:r>
              <a:rPr sz="900" dirty="0">
                <a:solidFill>
                  <a:srgbClr val="898989"/>
                </a:solidFill>
                <a:latin typeface="Calibri"/>
                <a:cs typeface="Calibri"/>
              </a:rPr>
              <a:t>2016 Ramez</a:t>
            </a:r>
            <a:r>
              <a:rPr sz="900" spc="-4" dirty="0">
                <a:solidFill>
                  <a:srgbClr val="898989"/>
                </a:solidFill>
                <a:latin typeface="Calibri"/>
                <a:cs typeface="Calibri"/>
              </a:rPr>
              <a:t> </a:t>
            </a:r>
            <a:r>
              <a:rPr sz="900" dirty="0">
                <a:solidFill>
                  <a:srgbClr val="898989"/>
                </a:solidFill>
                <a:latin typeface="Calibri"/>
                <a:cs typeface="Calibri"/>
              </a:rPr>
              <a:t>Elmasri</a:t>
            </a:r>
            <a:r>
              <a:rPr sz="900" spc="-4" dirty="0">
                <a:solidFill>
                  <a:srgbClr val="898989"/>
                </a:solidFill>
                <a:latin typeface="Calibri"/>
                <a:cs typeface="Calibri"/>
              </a:rPr>
              <a:t> </a:t>
            </a:r>
            <a:r>
              <a:rPr sz="900" dirty="0">
                <a:solidFill>
                  <a:srgbClr val="898989"/>
                </a:solidFill>
                <a:latin typeface="Calibri"/>
                <a:cs typeface="Calibri"/>
              </a:rPr>
              <a:t>and</a:t>
            </a:r>
            <a:r>
              <a:rPr sz="900" spc="-8" dirty="0">
                <a:solidFill>
                  <a:srgbClr val="898989"/>
                </a:solidFill>
                <a:latin typeface="Calibri"/>
                <a:cs typeface="Calibri"/>
              </a:rPr>
              <a:t> Shamkant </a:t>
            </a:r>
            <a:r>
              <a:rPr sz="900" dirty="0">
                <a:solidFill>
                  <a:srgbClr val="898989"/>
                </a:solidFill>
                <a:latin typeface="Calibri"/>
                <a:cs typeface="Calibri"/>
              </a:rPr>
              <a:t>B.</a:t>
            </a:r>
            <a:r>
              <a:rPr sz="900" spc="-4" dirty="0">
                <a:solidFill>
                  <a:srgbClr val="898989"/>
                </a:solidFill>
                <a:latin typeface="Calibri"/>
                <a:cs typeface="Calibri"/>
              </a:rPr>
              <a:t> </a:t>
            </a:r>
            <a:r>
              <a:rPr sz="900" spc="-203" dirty="0">
                <a:solidFill>
                  <a:srgbClr val="898989"/>
                </a:solidFill>
                <a:latin typeface="Calibri"/>
                <a:cs typeface="Calibri"/>
              </a:rPr>
              <a:t>N</a:t>
            </a:r>
            <a:r>
              <a:rPr sz="1350" spc="-539" baseline="-32407" dirty="0">
                <a:latin typeface="Courier New"/>
                <a:cs typeface="Courier New"/>
              </a:rPr>
              <a:t>3</a:t>
            </a:r>
            <a:r>
              <a:rPr sz="900" spc="-26" dirty="0">
                <a:solidFill>
                  <a:srgbClr val="898989"/>
                </a:solidFill>
                <a:latin typeface="Calibri"/>
                <a:cs typeface="Calibri"/>
              </a:rPr>
              <a:t>a</a:t>
            </a:r>
            <a:r>
              <a:rPr sz="900" spc="-23" dirty="0">
                <a:solidFill>
                  <a:srgbClr val="898989"/>
                </a:solidFill>
                <a:latin typeface="Calibri"/>
                <a:cs typeface="Calibri"/>
              </a:rPr>
              <a:t>v</a:t>
            </a:r>
            <a:r>
              <a:rPr sz="900" spc="-353" dirty="0">
                <a:solidFill>
                  <a:srgbClr val="898989"/>
                </a:solidFill>
                <a:latin typeface="Calibri"/>
                <a:cs typeface="Calibri"/>
              </a:rPr>
              <a:t>a</a:t>
            </a:r>
            <a:r>
              <a:rPr sz="1350" spc="-326" baseline="-32407" dirty="0">
                <a:latin typeface="Courier New"/>
                <a:cs typeface="Courier New"/>
              </a:rPr>
              <a:t>r</a:t>
            </a:r>
            <a:r>
              <a:rPr sz="900" spc="-98" dirty="0">
                <a:solidFill>
                  <a:srgbClr val="898989"/>
                </a:solidFill>
                <a:latin typeface="Calibri"/>
                <a:cs typeface="Calibri"/>
              </a:rPr>
              <a:t>t</a:t>
            </a:r>
            <a:r>
              <a:rPr sz="1350" spc="-698" baseline="-32407" dirty="0">
                <a:latin typeface="Courier New"/>
                <a:cs typeface="Courier New"/>
              </a:rPr>
              <a:t>o</a:t>
            </a:r>
            <a:r>
              <a:rPr sz="900" spc="-26" dirty="0">
                <a:solidFill>
                  <a:srgbClr val="898989"/>
                </a:solidFill>
                <a:latin typeface="Calibri"/>
                <a:cs typeface="Calibri"/>
              </a:rPr>
              <a:t>h</a:t>
            </a:r>
            <a:r>
              <a:rPr sz="1350" spc="-810" baseline="-32407" dirty="0">
                <a:latin typeface="Courier New"/>
                <a:cs typeface="Courier New"/>
              </a:rPr>
              <a:t>w</a:t>
            </a:r>
            <a:r>
              <a:rPr sz="900" spc="-4" dirty="0">
                <a:solidFill>
                  <a:srgbClr val="898989"/>
                </a:solidFill>
                <a:latin typeface="Calibri"/>
                <a:cs typeface="Calibri"/>
              </a:rPr>
              <a:t>e</a:t>
            </a:r>
            <a:r>
              <a:rPr sz="900" spc="-124" dirty="0">
                <a:solidFill>
                  <a:srgbClr val="898989"/>
                </a:solidFill>
                <a:latin typeface="Calibri"/>
                <a:cs typeface="Calibri"/>
              </a:rPr>
              <a:t> </a:t>
            </a:r>
            <a:r>
              <a:rPr sz="1350" baseline="-32407" dirty="0">
                <a:latin typeface="Courier New"/>
                <a:cs typeface="Courier New"/>
              </a:rPr>
              <a:t>s</a:t>
            </a:r>
            <a:r>
              <a:rPr sz="1350" spc="-17" baseline="-32407" dirty="0">
                <a:latin typeface="Courier New"/>
                <a:cs typeface="Courier New"/>
              </a:rPr>
              <a:t> </a:t>
            </a:r>
            <a:r>
              <a:rPr sz="1350" baseline="-32407" dirty="0">
                <a:latin typeface="Courier New"/>
                <a:cs typeface="Courier New"/>
              </a:rPr>
              <a:t>in</a:t>
            </a:r>
            <a:r>
              <a:rPr sz="1350" spc="-17" baseline="-32407" dirty="0">
                <a:latin typeface="Courier New"/>
                <a:cs typeface="Courier New"/>
              </a:rPr>
              <a:t> </a:t>
            </a:r>
            <a:r>
              <a:rPr sz="1350" baseline="-32407" dirty="0">
                <a:latin typeface="Courier New"/>
                <a:cs typeface="Courier New"/>
              </a:rPr>
              <a:t>set</a:t>
            </a:r>
            <a:r>
              <a:rPr sz="1350" spc="-11" baseline="-32407" dirty="0">
                <a:latin typeface="Courier New"/>
                <a:cs typeface="Courier New"/>
              </a:rPr>
              <a:t> </a:t>
            </a:r>
            <a:r>
              <a:rPr sz="1350" baseline="-32407" dirty="0">
                <a:latin typeface="Courier New"/>
                <a:cs typeface="Courier New"/>
              </a:rPr>
              <a:t>(0.00</a:t>
            </a:r>
            <a:r>
              <a:rPr sz="1350" spc="-17" baseline="-32407" dirty="0">
                <a:latin typeface="Courier New"/>
                <a:cs typeface="Courier New"/>
              </a:rPr>
              <a:t> </a:t>
            </a:r>
            <a:r>
              <a:rPr sz="1350" spc="-23" baseline="-32407" dirty="0">
                <a:latin typeface="Courier New"/>
                <a:cs typeface="Courier New"/>
              </a:rPr>
              <a:t>sec)</a:t>
            </a:r>
            <a:endParaRPr sz="1350" baseline="-32407">
              <a:latin typeface="Courier New"/>
              <a:cs typeface="Courier New"/>
            </a:endParaRPr>
          </a:p>
        </p:txBody>
      </p:sp>
      <p:sp>
        <p:nvSpPr>
          <p:cNvPr id="87" name="object 87"/>
          <p:cNvSpPr/>
          <p:nvPr/>
        </p:nvSpPr>
        <p:spPr>
          <a:xfrm>
            <a:off x="3673366" y="5402153"/>
            <a:ext cx="1774031" cy="85725"/>
          </a:xfrm>
          <a:custGeom>
            <a:avLst/>
            <a:gdLst/>
            <a:ahLst/>
            <a:cxnLst/>
            <a:rect l="l" t="t" r="r" b="b"/>
            <a:pathLst>
              <a:path w="2365375" h="114300">
                <a:moveTo>
                  <a:pt x="2250526" y="0"/>
                </a:moveTo>
                <a:lnTo>
                  <a:pt x="2250526" y="114299"/>
                </a:lnTo>
                <a:lnTo>
                  <a:pt x="2326726" y="76199"/>
                </a:lnTo>
                <a:lnTo>
                  <a:pt x="2269575" y="76199"/>
                </a:lnTo>
                <a:lnTo>
                  <a:pt x="2269575" y="38099"/>
                </a:lnTo>
                <a:lnTo>
                  <a:pt x="2326726" y="38099"/>
                </a:lnTo>
                <a:lnTo>
                  <a:pt x="2250526" y="0"/>
                </a:lnTo>
                <a:close/>
              </a:path>
              <a:path w="2365375" h="114300">
                <a:moveTo>
                  <a:pt x="2250526" y="38099"/>
                </a:moveTo>
                <a:lnTo>
                  <a:pt x="0" y="38099"/>
                </a:lnTo>
                <a:lnTo>
                  <a:pt x="0" y="76199"/>
                </a:lnTo>
                <a:lnTo>
                  <a:pt x="2250526" y="76199"/>
                </a:lnTo>
                <a:lnTo>
                  <a:pt x="2250526" y="38099"/>
                </a:lnTo>
                <a:close/>
              </a:path>
              <a:path w="2365375" h="114300">
                <a:moveTo>
                  <a:pt x="2326726" y="38099"/>
                </a:moveTo>
                <a:lnTo>
                  <a:pt x="2269575" y="38099"/>
                </a:lnTo>
                <a:lnTo>
                  <a:pt x="2269575" y="76199"/>
                </a:lnTo>
                <a:lnTo>
                  <a:pt x="2326726" y="76199"/>
                </a:lnTo>
                <a:lnTo>
                  <a:pt x="2364826" y="57149"/>
                </a:lnTo>
                <a:lnTo>
                  <a:pt x="2326726" y="38099"/>
                </a:lnTo>
                <a:close/>
              </a:path>
            </a:pathLst>
          </a:custGeom>
          <a:solidFill>
            <a:srgbClr val="FF0000"/>
          </a:solidFill>
        </p:spPr>
        <p:txBody>
          <a:bodyPr wrap="square" lIns="0" tIns="0" rIns="0" bIns="0" rtlCol="0"/>
          <a:lstStyle/>
          <a:p>
            <a:endParaRPr sz="1800"/>
          </a:p>
        </p:txBody>
      </p:sp>
      <p:sp>
        <p:nvSpPr>
          <p:cNvPr id="88" name="object 88"/>
          <p:cNvSpPr txBox="1"/>
          <p:nvPr/>
        </p:nvSpPr>
        <p:spPr>
          <a:xfrm>
            <a:off x="3649523" y="4896231"/>
            <a:ext cx="1720691" cy="425116"/>
          </a:xfrm>
          <a:prstGeom prst="rect">
            <a:avLst/>
          </a:prstGeom>
        </p:spPr>
        <p:txBody>
          <a:bodyPr vert="horz" wrap="square" lIns="0" tIns="9525" rIns="0" bIns="0" rtlCol="0">
            <a:spAutoFit/>
          </a:bodyPr>
          <a:lstStyle/>
          <a:p>
            <a:pPr marL="9525">
              <a:spcBef>
                <a:spcPts val="75"/>
              </a:spcBef>
            </a:pPr>
            <a:r>
              <a:rPr sz="1350" dirty="0">
                <a:solidFill>
                  <a:srgbClr val="FF0000"/>
                </a:solidFill>
                <a:latin typeface="Calibri"/>
                <a:cs typeface="Calibri"/>
              </a:rPr>
              <a:t>dnumber</a:t>
            </a:r>
            <a:r>
              <a:rPr sz="1350" spc="-26" dirty="0">
                <a:solidFill>
                  <a:srgbClr val="FF0000"/>
                </a:solidFill>
                <a:latin typeface="Calibri"/>
                <a:cs typeface="Calibri"/>
              </a:rPr>
              <a:t> </a:t>
            </a:r>
            <a:r>
              <a:rPr sz="1350" dirty="0">
                <a:solidFill>
                  <a:srgbClr val="FF0000"/>
                </a:solidFill>
                <a:latin typeface="Calibri"/>
                <a:cs typeface="Calibri"/>
              </a:rPr>
              <a:t>=</a:t>
            </a:r>
            <a:r>
              <a:rPr sz="1350" spc="-4" dirty="0">
                <a:solidFill>
                  <a:srgbClr val="FF0000"/>
                </a:solidFill>
                <a:latin typeface="Calibri"/>
                <a:cs typeface="Calibri"/>
              </a:rPr>
              <a:t> </a:t>
            </a:r>
            <a:r>
              <a:rPr sz="1350" dirty="0">
                <a:solidFill>
                  <a:srgbClr val="FF0000"/>
                </a:solidFill>
                <a:latin typeface="Calibri"/>
                <a:cs typeface="Calibri"/>
              </a:rPr>
              <a:t>4</a:t>
            </a:r>
            <a:r>
              <a:rPr sz="1350" spc="-8" dirty="0">
                <a:solidFill>
                  <a:srgbClr val="FF0000"/>
                </a:solidFill>
                <a:latin typeface="Calibri"/>
                <a:cs typeface="Calibri"/>
              </a:rPr>
              <a:t> </a:t>
            </a:r>
            <a:r>
              <a:rPr sz="1350" spc="-135" dirty="0">
                <a:solidFill>
                  <a:srgbClr val="FF0000"/>
                </a:solidFill>
                <a:latin typeface="Wingdings"/>
                <a:cs typeface="Wingdings"/>
              </a:rPr>
              <a:t></a:t>
            </a:r>
            <a:r>
              <a:rPr sz="1350" spc="-30" dirty="0">
                <a:solidFill>
                  <a:srgbClr val="FF0000"/>
                </a:solidFill>
                <a:latin typeface="Times New Roman"/>
                <a:cs typeface="Times New Roman"/>
              </a:rPr>
              <a:t> </a:t>
            </a:r>
            <a:r>
              <a:rPr sz="1350" dirty="0">
                <a:solidFill>
                  <a:srgbClr val="FF0000"/>
                </a:solidFill>
                <a:latin typeface="Calibri"/>
                <a:cs typeface="Calibri"/>
              </a:rPr>
              <a:t>+</a:t>
            </a:r>
            <a:r>
              <a:rPr sz="1350" spc="-8" dirty="0">
                <a:solidFill>
                  <a:srgbClr val="FF0000"/>
                </a:solidFill>
                <a:latin typeface="Calibri"/>
                <a:cs typeface="Calibri"/>
              </a:rPr>
              <a:t> 50000</a:t>
            </a:r>
            <a:endParaRPr sz="1350">
              <a:latin typeface="Calibri"/>
              <a:cs typeface="Calibri"/>
            </a:endParaRPr>
          </a:p>
          <a:p>
            <a:pPr marL="9525">
              <a:spcBef>
                <a:spcPts val="34"/>
              </a:spcBef>
            </a:pPr>
            <a:r>
              <a:rPr sz="1350" dirty="0">
                <a:solidFill>
                  <a:srgbClr val="FF0000"/>
                </a:solidFill>
                <a:latin typeface="Calibri"/>
                <a:cs typeface="Calibri"/>
              </a:rPr>
              <a:t>dnumber</a:t>
            </a:r>
            <a:r>
              <a:rPr sz="1350" spc="-23" dirty="0">
                <a:solidFill>
                  <a:srgbClr val="FF0000"/>
                </a:solidFill>
                <a:latin typeface="Calibri"/>
                <a:cs typeface="Calibri"/>
              </a:rPr>
              <a:t> </a:t>
            </a:r>
            <a:r>
              <a:rPr sz="1350" dirty="0">
                <a:solidFill>
                  <a:srgbClr val="FF0000"/>
                </a:solidFill>
                <a:latin typeface="Calibri"/>
                <a:cs typeface="Calibri"/>
              </a:rPr>
              <a:t>=</a:t>
            </a:r>
            <a:r>
              <a:rPr sz="1350" spc="-4" dirty="0">
                <a:solidFill>
                  <a:srgbClr val="FF0000"/>
                </a:solidFill>
                <a:latin typeface="Calibri"/>
                <a:cs typeface="Calibri"/>
              </a:rPr>
              <a:t> </a:t>
            </a:r>
            <a:r>
              <a:rPr sz="1350" dirty="0">
                <a:solidFill>
                  <a:srgbClr val="FF0000"/>
                </a:solidFill>
                <a:latin typeface="Calibri"/>
                <a:cs typeface="Calibri"/>
              </a:rPr>
              <a:t>5</a:t>
            </a:r>
            <a:r>
              <a:rPr sz="1350" spc="-8" dirty="0">
                <a:solidFill>
                  <a:srgbClr val="FF0000"/>
                </a:solidFill>
                <a:latin typeface="Calibri"/>
                <a:cs typeface="Calibri"/>
              </a:rPr>
              <a:t> </a:t>
            </a:r>
            <a:r>
              <a:rPr sz="1350" spc="-135" dirty="0">
                <a:solidFill>
                  <a:srgbClr val="FF0000"/>
                </a:solidFill>
                <a:latin typeface="Wingdings"/>
                <a:cs typeface="Wingdings"/>
              </a:rPr>
              <a:t></a:t>
            </a:r>
            <a:r>
              <a:rPr sz="1350" spc="-30" dirty="0">
                <a:solidFill>
                  <a:srgbClr val="FF0000"/>
                </a:solidFill>
                <a:latin typeface="Times New Roman"/>
                <a:cs typeface="Times New Roman"/>
              </a:rPr>
              <a:t> </a:t>
            </a:r>
            <a:r>
              <a:rPr sz="1350" dirty="0">
                <a:solidFill>
                  <a:srgbClr val="FF0000"/>
                </a:solidFill>
                <a:latin typeface="Calibri"/>
                <a:cs typeface="Calibri"/>
              </a:rPr>
              <a:t>-</a:t>
            </a:r>
            <a:r>
              <a:rPr sz="1350" spc="-8" dirty="0">
                <a:solidFill>
                  <a:srgbClr val="FF0000"/>
                </a:solidFill>
                <a:latin typeface="Calibri"/>
                <a:cs typeface="Calibri"/>
              </a:rPr>
              <a:t> 50000</a:t>
            </a:r>
            <a:endParaRPr sz="1350">
              <a:latin typeface="Calibri"/>
              <a:cs typeface="Calibri"/>
            </a:endParaRPr>
          </a:p>
        </p:txBody>
      </p:sp>
      <p:sp>
        <p:nvSpPr>
          <p:cNvPr id="89" name="object 89"/>
          <p:cNvSpPr txBox="1"/>
          <p:nvPr/>
        </p:nvSpPr>
        <p:spPr>
          <a:xfrm>
            <a:off x="7342724" y="1147191"/>
            <a:ext cx="461010" cy="217367"/>
          </a:xfrm>
          <a:prstGeom prst="rect">
            <a:avLst/>
          </a:prstGeom>
        </p:spPr>
        <p:txBody>
          <a:bodyPr vert="horz" wrap="square" lIns="0" tIns="9525" rIns="0" bIns="0" rtlCol="0">
            <a:spAutoFit/>
          </a:bodyPr>
          <a:lstStyle/>
          <a:p>
            <a:pPr marL="9525">
              <a:spcBef>
                <a:spcPts val="75"/>
              </a:spcBef>
            </a:pPr>
            <a:r>
              <a:rPr sz="1350" spc="-8" dirty="0">
                <a:latin typeface="Calibri"/>
                <a:cs typeface="Calibri"/>
              </a:rPr>
              <a:t>Q7.sql</a:t>
            </a:r>
            <a:endParaRPr sz="1350">
              <a:latin typeface="Calibri"/>
              <a:cs typeface="Calibri"/>
            </a:endParaRPr>
          </a:p>
        </p:txBody>
      </p:sp>
    </p:spTree>
    <p:extLst>
      <p:ext uri="{BB962C8B-B14F-4D97-AF65-F5344CB8AC3E}">
        <p14:creationId xmlns:p14="http://schemas.microsoft.com/office/powerpoint/2010/main" val="100311223"/>
      </p:ext>
    </p:extLst>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0" y="302805"/>
            <a:ext cx="5847160"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spc="-15" dirty="0"/>
              <a:t>Trigger3</a:t>
            </a:r>
            <a:r>
              <a:rPr spc="-75" dirty="0"/>
              <a:t> </a:t>
            </a:r>
            <a:r>
              <a:rPr dirty="0"/>
              <a:t>–</a:t>
            </a:r>
            <a:r>
              <a:rPr spc="-71" dirty="0"/>
              <a:t> </a:t>
            </a:r>
            <a:r>
              <a:rPr dirty="0"/>
              <a:t>Step</a:t>
            </a:r>
            <a:r>
              <a:rPr spc="-68" dirty="0"/>
              <a:t> </a:t>
            </a:r>
            <a:r>
              <a:rPr spc="-38" dirty="0"/>
              <a:t>1</a:t>
            </a:r>
          </a:p>
        </p:txBody>
      </p:sp>
      <p:sp>
        <p:nvSpPr>
          <p:cNvPr id="3" name="object 3"/>
          <p:cNvSpPr txBox="1"/>
          <p:nvPr/>
        </p:nvSpPr>
        <p:spPr>
          <a:xfrm>
            <a:off x="687705" y="2204085"/>
            <a:ext cx="6735604" cy="922688"/>
          </a:xfrm>
          <a:prstGeom prst="rect">
            <a:avLst/>
          </a:prstGeom>
        </p:spPr>
        <p:txBody>
          <a:bodyPr vert="horz" wrap="square" lIns="0" tIns="47625" rIns="0" bIns="0" rtlCol="0">
            <a:spAutoFit/>
          </a:bodyPr>
          <a:lstStyle/>
          <a:p>
            <a:pPr marL="180975" marR="3810" indent="-171450">
              <a:lnSpc>
                <a:spcPts val="2250"/>
              </a:lnSpc>
              <a:spcBef>
                <a:spcPts val="375"/>
              </a:spcBef>
              <a:buFont typeface="Arial"/>
              <a:buChar char="•"/>
              <a:tabLst>
                <a:tab pos="180975" algn="l"/>
              </a:tabLst>
            </a:pPr>
            <a:r>
              <a:rPr sz="2100" dirty="0">
                <a:latin typeface="Calibri"/>
                <a:cs typeface="Calibri"/>
              </a:rPr>
              <a:t>A</a:t>
            </a:r>
            <a:r>
              <a:rPr sz="2100" spc="-30" dirty="0">
                <a:latin typeface="Calibri"/>
                <a:cs typeface="Calibri"/>
              </a:rPr>
              <a:t> </a:t>
            </a:r>
            <a:r>
              <a:rPr sz="2100" dirty="0">
                <a:latin typeface="Calibri"/>
                <a:cs typeface="Calibri"/>
              </a:rPr>
              <a:t>trigger</a:t>
            </a:r>
            <a:r>
              <a:rPr sz="2100" spc="-30" dirty="0">
                <a:latin typeface="Calibri"/>
                <a:cs typeface="Calibri"/>
              </a:rPr>
              <a:t> </a:t>
            </a:r>
            <a:r>
              <a:rPr sz="2100" dirty="0">
                <a:latin typeface="Calibri"/>
                <a:cs typeface="Calibri"/>
              </a:rPr>
              <a:t>to</a:t>
            </a:r>
            <a:r>
              <a:rPr sz="2100" spc="-30" dirty="0">
                <a:latin typeface="Calibri"/>
                <a:cs typeface="Calibri"/>
              </a:rPr>
              <a:t> </a:t>
            </a:r>
            <a:r>
              <a:rPr sz="2100" dirty="0">
                <a:latin typeface="Calibri"/>
                <a:cs typeface="Calibri"/>
              </a:rPr>
              <a:t>update</a:t>
            </a:r>
            <a:r>
              <a:rPr sz="2100" spc="-34" dirty="0">
                <a:latin typeface="Calibri"/>
                <a:cs typeface="Calibri"/>
              </a:rPr>
              <a:t> </a:t>
            </a:r>
            <a:r>
              <a:rPr sz="2100" dirty="0">
                <a:latin typeface="Calibri"/>
                <a:cs typeface="Calibri"/>
              </a:rPr>
              <a:t>the</a:t>
            </a:r>
            <a:r>
              <a:rPr sz="2100" spc="-34" dirty="0">
                <a:latin typeface="Calibri"/>
                <a:cs typeface="Calibri"/>
              </a:rPr>
              <a:t> </a:t>
            </a:r>
            <a:r>
              <a:rPr sz="2100" dirty="0">
                <a:latin typeface="Calibri"/>
                <a:cs typeface="Calibri"/>
              </a:rPr>
              <a:t>total</a:t>
            </a:r>
            <a:r>
              <a:rPr sz="2100" spc="-38" dirty="0">
                <a:latin typeface="Calibri"/>
                <a:cs typeface="Calibri"/>
              </a:rPr>
              <a:t> </a:t>
            </a:r>
            <a:r>
              <a:rPr sz="2100" dirty="0">
                <a:latin typeface="Calibri"/>
                <a:cs typeface="Calibri"/>
              </a:rPr>
              <a:t>salary</a:t>
            </a:r>
            <a:r>
              <a:rPr sz="2100" spc="-34" dirty="0">
                <a:latin typeface="Calibri"/>
                <a:cs typeface="Calibri"/>
              </a:rPr>
              <a:t> </a:t>
            </a:r>
            <a:r>
              <a:rPr sz="2100" dirty="0">
                <a:latin typeface="Calibri"/>
                <a:cs typeface="Calibri"/>
              </a:rPr>
              <a:t>of</a:t>
            </a:r>
            <a:r>
              <a:rPr sz="2100" spc="-34" dirty="0">
                <a:latin typeface="Calibri"/>
                <a:cs typeface="Calibri"/>
              </a:rPr>
              <a:t> </a:t>
            </a:r>
            <a:r>
              <a:rPr sz="2100" dirty="0">
                <a:latin typeface="Calibri"/>
                <a:cs typeface="Calibri"/>
              </a:rPr>
              <a:t>a</a:t>
            </a:r>
            <a:r>
              <a:rPr sz="2100" spc="-34" dirty="0">
                <a:latin typeface="Calibri"/>
                <a:cs typeface="Calibri"/>
              </a:rPr>
              <a:t> </a:t>
            </a:r>
            <a:r>
              <a:rPr sz="2100" dirty="0">
                <a:latin typeface="Calibri"/>
                <a:cs typeface="Calibri"/>
              </a:rPr>
              <a:t>department</a:t>
            </a:r>
            <a:r>
              <a:rPr sz="2100" spc="-30" dirty="0">
                <a:latin typeface="Calibri"/>
                <a:cs typeface="Calibri"/>
              </a:rPr>
              <a:t> </a:t>
            </a:r>
            <a:r>
              <a:rPr sz="2100" dirty="0">
                <a:latin typeface="Calibri"/>
                <a:cs typeface="Calibri"/>
              </a:rPr>
              <a:t>when</a:t>
            </a:r>
            <a:r>
              <a:rPr sz="2100" spc="-26" dirty="0">
                <a:latin typeface="Calibri"/>
                <a:cs typeface="Calibri"/>
              </a:rPr>
              <a:t> </a:t>
            </a:r>
            <a:r>
              <a:rPr sz="2100" spc="-19" dirty="0">
                <a:latin typeface="Calibri"/>
                <a:cs typeface="Calibri"/>
              </a:rPr>
              <a:t>an </a:t>
            </a:r>
            <a:r>
              <a:rPr sz="2100" dirty="0">
                <a:latin typeface="Calibri"/>
                <a:cs typeface="Calibri"/>
              </a:rPr>
              <a:t>employee</a:t>
            </a:r>
            <a:r>
              <a:rPr sz="2100" spc="-49" dirty="0">
                <a:latin typeface="Calibri"/>
                <a:cs typeface="Calibri"/>
              </a:rPr>
              <a:t> </a:t>
            </a:r>
            <a:r>
              <a:rPr sz="2100" dirty="0">
                <a:latin typeface="Calibri"/>
                <a:cs typeface="Calibri"/>
              </a:rPr>
              <a:t>tuple</a:t>
            </a:r>
            <a:r>
              <a:rPr sz="2100" spc="-45" dirty="0">
                <a:latin typeface="Calibri"/>
                <a:cs typeface="Calibri"/>
              </a:rPr>
              <a:t> </a:t>
            </a:r>
            <a:r>
              <a:rPr sz="2100" dirty="0">
                <a:latin typeface="Calibri"/>
                <a:cs typeface="Calibri"/>
              </a:rPr>
              <a:t>is</a:t>
            </a:r>
            <a:r>
              <a:rPr sz="2100" spc="-41" dirty="0">
                <a:latin typeface="Calibri"/>
                <a:cs typeface="Calibri"/>
              </a:rPr>
              <a:t> </a:t>
            </a:r>
            <a:r>
              <a:rPr sz="2100" spc="-8" dirty="0">
                <a:latin typeface="Calibri"/>
                <a:cs typeface="Calibri"/>
              </a:rPr>
              <a:t>deleted:</a:t>
            </a:r>
            <a:endParaRPr sz="2100">
              <a:latin typeface="Calibri"/>
              <a:cs typeface="Calibri"/>
            </a:endParaRPr>
          </a:p>
          <a:p>
            <a:pPr marL="224314">
              <a:spcBef>
                <a:spcPts val="611"/>
              </a:spcBef>
            </a:pPr>
            <a:r>
              <a:rPr sz="1350" dirty="0">
                <a:latin typeface="Courier New"/>
                <a:cs typeface="Courier New"/>
              </a:rPr>
              <a:t>mysql&gt;</a:t>
            </a:r>
            <a:r>
              <a:rPr sz="1350" spc="8" dirty="0">
                <a:latin typeface="Courier New"/>
                <a:cs typeface="Courier New"/>
              </a:rPr>
              <a:t> </a:t>
            </a:r>
            <a:r>
              <a:rPr sz="1350" dirty="0">
                <a:latin typeface="Courier New"/>
                <a:cs typeface="Courier New"/>
              </a:rPr>
              <a:t>delimiter</a:t>
            </a:r>
            <a:r>
              <a:rPr sz="1350" spc="8" dirty="0">
                <a:latin typeface="Courier New"/>
                <a:cs typeface="Courier New"/>
              </a:rPr>
              <a:t> </a:t>
            </a:r>
            <a:r>
              <a:rPr sz="1350" dirty="0">
                <a:latin typeface="Courier New"/>
                <a:cs typeface="Courier New"/>
              </a:rPr>
              <a:t>$$</a:t>
            </a:r>
            <a:r>
              <a:rPr sz="1350" spc="8" dirty="0">
                <a:latin typeface="Courier New"/>
                <a:cs typeface="Courier New"/>
              </a:rPr>
              <a:t> </a:t>
            </a:r>
            <a:r>
              <a:rPr sz="1350" spc="-38" dirty="0">
                <a:latin typeface="Courier New"/>
                <a:cs typeface="Courier New"/>
              </a:rPr>
              <a:t>;</a:t>
            </a:r>
            <a:endParaRPr sz="1350">
              <a:latin typeface="Courier New"/>
              <a:cs typeface="Courier New"/>
            </a:endParaRPr>
          </a:p>
        </p:txBody>
      </p:sp>
      <p:sp>
        <p:nvSpPr>
          <p:cNvPr id="4" name="object 4"/>
          <p:cNvSpPr txBox="1"/>
          <p:nvPr/>
        </p:nvSpPr>
        <p:spPr>
          <a:xfrm>
            <a:off x="3190685" y="5673472"/>
            <a:ext cx="2762726" cy="148117"/>
          </a:xfrm>
          <a:prstGeom prst="rect">
            <a:avLst/>
          </a:prstGeom>
        </p:spPr>
        <p:txBody>
          <a:bodyPr vert="horz" wrap="square" lIns="0" tIns="9525" rIns="0" bIns="0" rtlCol="0">
            <a:spAutoFit/>
          </a:bodyPr>
          <a:lstStyle/>
          <a:p>
            <a:pPr marL="9525">
              <a:spcBef>
                <a:spcPts val="75"/>
              </a:spcBef>
            </a:pPr>
            <a:r>
              <a:rPr sz="900" spc="-8" dirty="0">
                <a:solidFill>
                  <a:srgbClr val="898989"/>
                </a:solidFill>
                <a:latin typeface="Calibri"/>
                <a:cs typeface="Calibri"/>
              </a:rPr>
              <a:t>Copyright</a:t>
            </a:r>
            <a:r>
              <a:rPr sz="900" spc="-11" dirty="0">
                <a:solidFill>
                  <a:srgbClr val="898989"/>
                </a:solidFill>
                <a:latin typeface="Calibri"/>
                <a:cs typeface="Calibri"/>
              </a:rPr>
              <a:t> </a:t>
            </a:r>
            <a:r>
              <a:rPr sz="900" dirty="0">
                <a:solidFill>
                  <a:srgbClr val="898989"/>
                </a:solidFill>
                <a:latin typeface="Calibri"/>
                <a:cs typeface="Calibri"/>
              </a:rPr>
              <a:t>©</a:t>
            </a:r>
            <a:r>
              <a:rPr sz="900" spc="-8" dirty="0">
                <a:solidFill>
                  <a:srgbClr val="898989"/>
                </a:solidFill>
                <a:latin typeface="Calibri"/>
                <a:cs typeface="Calibri"/>
              </a:rPr>
              <a:t> </a:t>
            </a:r>
            <a:r>
              <a:rPr sz="900" dirty="0">
                <a:solidFill>
                  <a:srgbClr val="898989"/>
                </a:solidFill>
                <a:latin typeface="Calibri"/>
                <a:cs typeface="Calibri"/>
              </a:rPr>
              <a:t>2016</a:t>
            </a:r>
            <a:r>
              <a:rPr sz="900" spc="-8" dirty="0">
                <a:solidFill>
                  <a:srgbClr val="898989"/>
                </a:solidFill>
                <a:latin typeface="Calibri"/>
                <a:cs typeface="Calibri"/>
              </a:rPr>
              <a:t> </a:t>
            </a:r>
            <a:r>
              <a:rPr sz="900" dirty="0">
                <a:solidFill>
                  <a:srgbClr val="898989"/>
                </a:solidFill>
                <a:latin typeface="Calibri"/>
                <a:cs typeface="Calibri"/>
              </a:rPr>
              <a:t>Ramez</a:t>
            </a:r>
            <a:r>
              <a:rPr sz="900" spc="-4" dirty="0">
                <a:solidFill>
                  <a:srgbClr val="898989"/>
                </a:solidFill>
                <a:latin typeface="Calibri"/>
                <a:cs typeface="Calibri"/>
              </a:rPr>
              <a:t> </a:t>
            </a:r>
            <a:r>
              <a:rPr sz="900" dirty="0">
                <a:solidFill>
                  <a:srgbClr val="898989"/>
                </a:solidFill>
                <a:latin typeface="Calibri"/>
                <a:cs typeface="Calibri"/>
              </a:rPr>
              <a:t>Elmasri</a:t>
            </a:r>
            <a:r>
              <a:rPr sz="900" spc="-11" dirty="0">
                <a:solidFill>
                  <a:srgbClr val="898989"/>
                </a:solidFill>
                <a:latin typeface="Calibri"/>
                <a:cs typeface="Calibri"/>
              </a:rPr>
              <a:t> </a:t>
            </a:r>
            <a:r>
              <a:rPr sz="900" dirty="0">
                <a:solidFill>
                  <a:srgbClr val="898989"/>
                </a:solidFill>
                <a:latin typeface="Calibri"/>
                <a:cs typeface="Calibri"/>
              </a:rPr>
              <a:t>and</a:t>
            </a:r>
            <a:r>
              <a:rPr sz="900" spc="-11" dirty="0">
                <a:solidFill>
                  <a:srgbClr val="898989"/>
                </a:solidFill>
                <a:latin typeface="Calibri"/>
                <a:cs typeface="Calibri"/>
              </a:rPr>
              <a:t> </a:t>
            </a:r>
            <a:r>
              <a:rPr sz="900" spc="-8" dirty="0">
                <a:solidFill>
                  <a:srgbClr val="898989"/>
                </a:solidFill>
                <a:latin typeface="Calibri"/>
                <a:cs typeface="Calibri"/>
              </a:rPr>
              <a:t>Shamkant</a:t>
            </a:r>
            <a:r>
              <a:rPr sz="900" spc="-11" dirty="0">
                <a:solidFill>
                  <a:srgbClr val="898989"/>
                </a:solidFill>
                <a:latin typeface="Calibri"/>
                <a:cs typeface="Calibri"/>
              </a:rPr>
              <a:t> </a:t>
            </a:r>
            <a:r>
              <a:rPr sz="900" dirty="0">
                <a:solidFill>
                  <a:srgbClr val="898989"/>
                </a:solidFill>
                <a:latin typeface="Calibri"/>
                <a:cs typeface="Calibri"/>
              </a:rPr>
              <a:t>B.</a:t>
            </a:r>
            <a:r>
              <a:rPr sz="900" spc="-8" dirty="0">
                <a:solidFill>
                  <a:srgbClr val="898989"/>
                </a:solidFill>
                <a:latin typeface="Calibri"/>
                <a:cs typeface="Calibri"/>
              </a:rPr>
              <a:t> Navathe</a:t>
            </a:r>
            <a:endParaRPr sz="900">
              <a:latin typeface="Calibri"/>
              <a:cs typeface="Calibri"/>
            </a:endParaRPr>
          </a:p>
        </p:txBody>
      </p:sp>
      <p:sp>
        <p:nvSpPr>
          <p:cNvPr id="5" name="object 5"/>
          <p:cNvSpPr txBox="1"/>
          <p:nvPr/>
        </p:nvSpPr>
        <p:spPr>
          <a:xfrm>
            <a:off x="8319612" y="5673472"/>
            <a:ext cx="135731" cy="148117"/>
          </a:xfrm>
          <a:prstGeom prst="rect">
            <a:avLst/>
          </a:prstGeom>
        </p:spPr>
        <p:txBody>
          <a:bodyPr vert="horz" wrap="square" lIns="0" tIns="9525" rIns="0" bIns="0" rtlCol="0">
            <a:spAutoFit/>
          </a:bodyPr>
          <a:lstStyle/>
          <a:p>
            <a:pPr marL="9525">
              <a:spcBef>
                <a:spcPts val="75"/>
              </a:spcBef>
            </a:pPr>
            <a:r>
              <a:rPr sz="900" spc="-19" dirty="0">
                <a:solidFill>
                  <a:srgbClr val="898989"/>
                </a:solidFill>
                <a:latin typeface="Calibri"/>
                <a:cs typeface="Calibri"/>
              </a:rPr>
              <a:t>54</a:t>
            </a:r>
            <a:endParaRPr sz="900">
              <a:latin typeface="Calibri"/>
              <a:cs typeface="Calibri"/>
            </a:endParaRPr>
          </a:p>
        </p:txBody>
      </p:sp>
      <p:sp>
        <p:nvSpPr>
          <p:cNvPr id="6" name="object 6"/>
          <p:cNvSpPr txBox="1"/>
          <p:nvPr/>
        </p:nvSpPr>
        <p:spPr>
          <a:xfrm>
            <a:off x="902510" y="3099435"/>
            <a:ext cx="640556" cy="2067233"/>
          </a:xfrm>
          <a:prstGeom prst="rect">
            <a:avLst/>
          </a:prstGeom>
        </p:spPr>
        <p:txBody>
          <a:bodyPr vert="horz" wrap="square" lIns="0" tIns="9525" rIns="0" bIns="0" rtlCol="0">
            <a:spAutoFit/>
          </a:bodyPr>
          <a:lstStyle/>
          <a:p>
            <a:pPr marR="3810" algn="r">
              <a:lnSpc>
                <a:spcPts val="1601"/>
              </a:lnSpc>
              <a:spcBef>
                <a:spcPts val="75"/>
              </a:spcBef>
            </a:pPr>
            <a:r>
              <a:rPr sz="1350" spc="-8" dirty="0">
                <a:latin typeface="Courier New"/>
                <a:cs typeface="Courier New"/>
              </a:rPr>
              <a:t>mysql&gt;</a:t>
            </a:r>
            <a:endParaRPr sz="1350">
              <a:latin typeface="Courier New"/>
              <a:cs typeface="Courier New"/>
            </a:endParaRPr>
          </a:p>
          <a:p>
            <a:pPr marR="3810" algn="r">
              <a:lnSpc>
                <a:spcPts val="1601"/>
              </a:lnSpc>
            </a:pPr>
            <a:r>
              <a:rPr sz="1350" dirty="0">
                <a:latin typeface="Courier New"/>
                <a:cs typeface="Courier New"/>
              </a:rPr>
              <a:t>-</a:t>
            </a:r>
            <a:r>
              <a:rPr sz="1350" spc="-38" dirty="0">
                <a:latin typeface="Courier New"/>
                <a:cs typeface="Courier New"/>
              </a:rPr>
              <a:t>&gt;</a:t>
            </a:r>
            <a:endParaRPr sz="1350">
              <a:latin typeface="Courier New"/>
              <a:cs typeface="Courier New"/>
            </a:endParaRPr>
          </a:p>
          <a:p>
            <a:pPr marR="3810" algn="r">
              <a:spcBef>
                <a:spcPts val="19"/>
              </a:spcBef>
            </a:pPr>
            <a:r>
              <a:rPr sz="1350" dirty="0">
                <a:latin typeface="Courier New"/>
                <a:cs typeface="Courier New"/>
              </a:rPr>
              <a:t>-</a:t>
            </a:r>
            <a:r>
              <a:rPr sz="1350" spc="-38" dirty="0">
                <a:latin typeface="Courier New"/>
                <a:cs typeface="Courier New"/>
              </a:rPr>
              <a:t>&gt;</a:t>
            </a:r>
            <a:endParaRPr sz="1350">
              <a:latin typeface="Courier New"/>
              <a:cs typeface="Courier New"/>
            </a:endParaRPr>
          </a:p>
          <a:p>
            <a:pPr marL="423386">
              <a:lnSpc>
                <a:spcPts val="1601"/>
              </a:lnSpc>
              <a:spcBef>
                <a:spcPts val="34"/>
              </a:spcBef>
            </a:pPr>
            <a:r>
              <a:rPr sz="1350" dirty="0">
                <a:latin typeface="Courier New"/>
                <a:cs typeface="Courier New"/>
              </a:rPr>
              <a:t>-</a:t>
            </a:r>
            <a:r>
              <a:rPr sz="1350" spc="-38" dirty="0">
                <a:latin typeface="Courier New"/>
                <a:cs typeface="Courier New"/>
              </a:rPr>
              <a:t>&gt;</a:t>
            </a:r>
            <a:endParaRPr sz="1350">
              <a:latin typeface="Courier New"/>
              <a:cs typeface="Courier New"/>
            </a:endParaRPr>
          </a:p>
          <a:p>
            <a:pPr marL="423386">
              <a:lnSpc>
                <a:spcPts val="1601"/>
              </a:lnSpc>
            </a:pPr>
            <a:r>
              <a:rPr sz="1350" dirty="0">
                <a:latin typeface="Courier New"/>
                <a:cs typeface="Courier New"/>
              </a:rPr>
              <a:t>-</a:t>
            </a:r>
            <a:r>
              <a:rPr sz="1350" spc="-38" dirty="0">
                <a:latin typeface="Courier New"/>
                <a:cs typeface="Courier New"/>
              </a:rPr>
              <a:t>&gt;</a:t>
            </a:r>
            <a:endParaRPr sz="1350">
              <a:latin typeface="Courier New"/>
              <a:cs typeface="Courier New"/>
            </a:endParaRPr>
          </a:p>
          <a:p>
            <a:pPr marL="423386">
              <a:lnSpc>
                <a:spcPts val="1601"/>
              </a:lnSpc>
              <a:spcBef>
                <a:spcPts val="19"/>
              </a:spcBef>
            </a:pPr>
            <a:r>
              <a:rPr sz="1350" dirty="0">
                <a:latin typeface="Courier New"/>
                <a:cs typeface="Courier New"/>
              </a:rPr>
              <a:t>-</a:t>
            </a:r>
            <a:r>
              <a:rPr sz="1350" spc="-38" dirty="0">
                <a:latin typeface="Courier New"/>
                <a:cs typeface="Courier New"/>
              </a:rPr>
              <a:t>&gt;</a:t>
            </a:r>
            <a:endParaRPr sz="1350">
              <a:latin typeface="Courier New"/>
              <a:cs typeface="Courier New"/>
            </a:endParaRPr>
          </a:p>
          <a:p>
            <a:pPr marL="423386">
              <a:lnSpc>
                <a:spcPts val="1601"/>
              </a:lnSpc>
            </a:pPr>
            <a:r>
              <a:rPr sz="1350" dirty="0">
                <a:latin typeface="Courier New"/>
                <a:cs typeface="Courier New"/>
              </a:rPr>
              <a:t>-</a:t>
            </a:r>
            <a:r>
              <a:rPr sz="1350" spc="-38" dirty="0">
                <a:latin typeface="Courier New"/>
                <a:cs typeface="Courier New"/>
              </a:rPr>
              <a:t>&gt;</a:t>
            </a:r>
            <a:endParaRPr sz="1350">
              <a:latin typeface="Courier New"/>
              <a:cs typeface="Courier New"/>
            </a:endParaRPr>
          </a:p>
          <a:p>
            <a:pPr marL="423386">
              <a:spcBef>
                <a:spcPts val="19"/>
              </a:spcBef>
            </a:pPr>
            <a:r>
              <a:rPr sz="1350" dirty="0">
                <a:latin typeface="Courier New"/>
                <a:cs typeface="Courier New"/>
              </a:rPr>
              <a:t>-</a:t>
            </a:r>
            <a:r>
              <a:rPr sz="1350" spc="-38" dirty="0">
                <a:latin typeface="Courier New"/>
                <a:cs typeface="Courier New"/>
              </a:rPr>
              <a:t>&gt;</a:t>
            </a:r>
            <a:endParaRPr sz="1350">
              <a:latin typeface="Courier New"/>
              <a:cs typeface="Courier New"/>
            </a:endParaRPr>
          </a:p>
          <a:p>
            <a:pPr marL="423386">
              <a:lnSpc>
                <a:spcPts val="1601"/>
              </a:lnSpc>
              <a:spcBef>
                <a:spcPts val="34"/>
              </a:spcBef>
            </a:pPr>
            <a:r>
              <a:rPr sz="1350" dirty="0">
                <a:latin typeface="Courier New"/>
                <a:cs typeface="Courier New"/>
              </a:rPr>
              <a:t>-</a:t>
            </a:r>
            <a:r>
              <a:rPr sz="1350" spc="-38" dirty="0">
                <a:latin typeface="Courier New"/>
                <a:cs typeface="Courier New"/>
              </a:rPr>
              <a:t>&gt;</a:t>
            </a:r>
            <a:endParaRPr sz="1350">
              <a:latin typeface="Courier New"/>
              <a:cs typeface="Courier New"/>
            </a:endParaRPr>
          </a:p>
          <a:p>
            <a:pPr marL="423386">
              <a:lnSpc>
                <a:spcPts val="1601"/>
              </a:lnSpc>
            </a:pPr>
            <a:r>
              <a:rPr sz="1350" dirty="0">
                <a:latin typeface="Courier New"/>
                <a:cs typeface="Courier New"/>
              </a:rPr>
              <a:t>-</a:t>
            </a:r>
            <a:r>
              <a:rPr sz="1350" spc="-38" dirty="0">
                <a:latin typeface="Courier New"/>
                <a:cs typeface="Courier New"/>
              </a:rPr>
              <a:t>&gt;</a:t>
            </a:r>
            <a:endParaRPr sz="1350">
              <a:latin typeface="Courier New"/>
              <a:cs typeface="Courier New"/>
            </a:endParaRPr>
          </a:p>
        </p:txBody>
      </p:sp>
      <p:sp>
        <p:nvSpPr>
          <p:cNvPr id="7" name="object 7"/>
          <p:cNvSpPr txBox="1"/>
          <p:nvPr/>
        </p:nvSpPr>
        <p:spPr>
          <a:xfrm>
            <a:off x="1637137" y="3121266"/>
            <a:ext cx="4765358" cy="2042867"/>
          </a:xfrm>
          <a:prstGeom prst="rect">
            <a:avLst/>
          </a:prstGeom>
        </p:spPr>
        <p:txBody>
          <a:bodyPr vert="horz" wrap="square" lIns="0" tIns="0" rIns="0" bIns="0" rtlCol="0">
            <a:spAutoFit/>
          </a:bodyPr>
          <a:lstStyle/>
          <a:p>
            <a:pPr>
              <a:lnSpc>
                <a:spcPts val="1504"/>
              </a:lnSpc>
            </a:pPr>
            <a:r>
              <a:rPr sz="1350" dirty="0">
                <a:latin typeface="Courier New"/>
                <a:cs typeface="Courier New"/>
              </a:rPr>
              <a:t>create</a:t>
            </a:r>
            <a:r>
              <a:rPr sz="1350" spc="8" dirty="0">
                <a:latin typeface="Courier New"/>
                <a:cs typeface="Courier New"/>
              </a:rPr>
              <a:t> </a:t>
            </a:r>
            <a:r>
              <a:rPr sz="1350" dirty="0">
                <a:latin typeface="Courier New"/>
                <a:cs typeface="Courier New"/>
              </a:rPr>
              <a:t>trigger</a:t>
            </a:r>
            <a:r>
              <a:rPr sz="1350" spc="8" dirty="0">
                <a:latin typeface="Courier New"/>
                <a:cs typeface="Courier New"/>
              </a:rPr>
              <a:t> </a:t>
            </a:r>
            <a:r>
              <a:rPr sz="1350" spc="-8" dirty="0">
                <a:latin typeface="Courier New"/>
                <a:cs typeface="Courier New"/>
              </a:rPr>
              <a:t>update_salary3</a:t>
            </a:r>
            <a:endParaRPr sz="1350">
              <a:latin typeface="Courier New"/>
              <a:cs typeface="Courier New"/>
            </a:endParaRPr>
          </a:p>
          <a:p>
            <a:pPr marR="2169319">
              <a:lnSpc>
                <a:spcPts val="1635"/>
              </a:lnSpc>
              <a:spcBef>
                <a:spcPts val="23"/>
              </a:spcBef>
            </a:pPr>
            <a:r>
              <a:rPr sz="1350" dirty="0">
                <a:latin typeface="Courier New"/>
                <a:cs typeface="Courier New"/>
              </a:rPr>
              <a:t>before</a:t>
            </a:r>
            <a:r>
              <a:rPr sz="1350" spc="8" dirty="0">
                <a:latin typeface="Courier New"/>
                <a:cs typeface="Courier New"/>
              </a:rPr>
              <a:t> </a:t>
            </a:r>
            <a:r>
              <a:rPr sz="1350" dirty="0">
                <a:latin typeface="Courier New"/>
                <a:cs typeface="Courier New"/>
              </a:rPr>
              <a:t>delete</a:t>
            </a:r>
            <a:r>
              <a:rPr sz="1350" spc="8" dirty="0">
                <a:latin typeface="Courier New"/>
                <a:cs typeface="Courier New"/>
              </a:rPr>
              <a:t> </a:t>
            </a:r>
            <a:r>
              <a:rPr sz="1350" dirty="0">
                <a:latin typeface="Courier New"/>
                <a:cs typeface="Courier New"/>
              </a:rPr>
              <a:t>on</a:t>
            </a:r>
            <a:r>
              <a:rPr sz="1350" spc="8" dirty="0">
                <a:latin typeface="Courier New"/>
                <a:cs typeface="Courier New"/>
              </a:rPr>
              <a:t> </a:t>
            </a:r>
            <a:r>
              <a:rPr sz="1350" spc="-8" dirty="0">
                <a:latin typeface="Courier New"/>
                <a:cs typeface="Courier New"/>
              </a:rPr>
              <a:t>employee </a:t>
            </a:r>
            <a:r>
              <a:rPr sz="1350" dirty="0">
                <a:latin typeface="Courier New"/>
                <a:cs typeface="Courier New"/>
              </a:rPr>
              <a:t>for</a:t>
            </a:r>
            <a:r>
              <a:rPr sz="1350" spc="8" dirty="0">
                <a:latin typeface="Courier New"/>
                <a:cs typeface="Courier New"/>
              </a:rPr>
              <a:t> </a:t>
            </a:r>
            <a:r>
              <a:rPr sz="1350" dirty="0">
                <a:latin typeface="Courier New"/>
                <a:cs typeface="Courier New"/>
              </a:rPr>
              <a:t>each</a:t>
            </a:r>
            <a:r>
              <a:rPr sz="1350" spc="8" dirty="0">
                <a:latin typeface="Courier New"/>
                <a:cs typeface="Courier New"/>
              </a:rPr>
              <a:t> </a:t>
            </a:r>
            <a:r>
              <a:rPr sz="1350" spc="-19" dirty="0">
                <a:latin typeface="Courier New"/>
                <a:cs typeface="Courier New"/>
              </a:rPr>
              <a:t>row</a:t>
            </a:r>
            <a:endParaRPr sz="1350">
              <a:latin typeface="Courier New"/>
              <a:cs typeface="Courier New"/>
            </a:endParaRPr>
          </a:p>
          <a:p>
            <a:pPr>
              <a:lnSpc>
                <a:spcPts val="1583"/>
              </a:lnSpc>
            </a:pPr>
            <a:r>
              <a:rPr sz="1350" spc="-8" dirty="0">
                <a:latin typeface="Courier New"/>
                <a:cs typeface="Courier New"/>
              </a:rPr>
              <a:t>begin</a:t>
            </a:r>
            <a:endParaRPr sz="1350">
              <a:latin typeface="Courier New"/>
              <a:cs typeface="Courier New"/>
            </a:endParaRPr>
          </a:p>
          <a:p>
            <a:pPr marL="413861" marR="1547813" indent="-207169">
              <a:lnSpc>
                <a:spcPts val="1635"/>
              </a:lnSpc>
              <a:spcBef>
                <a:spcPts val="23"/>
              </a:spcBef>
            </a:pPr>
            <a:r>
              <a:rPr sz="1350" dirty="0">
                <a:latin typeface="Courier New"/>
                <a:cs typeface="Courier New"/>
              </a:rPr>
              <a:t>if</a:t>
            </a:r>
            <a:r>
              <a:rPr sz="1350" spc="8" dirty="0">
                <a:latin typeface="Courier New"/>
                <a:cs typeface="Courier New"/>
              </a:rPr>
              <a:t> </a:t>
            </a:r>
            <a:r>
              <a:rPr sz="1350" dirty="0">
                <a:latin typeface="Courier New"/>
                <a:cs typeface="Courier New"/>
              </a:rPr>
              <a:t>(old.dno</a:t>
            </a:r>
            <a:r>
              <a:rPr sz="1350" spc="8" dirty="0">
                <a:latin typeface="Courier New"/>
                <a:cs typeface="Courier New"/>
              </a:rPr>
              <a:t> </a:t>
            </a:r>
            <a:r>
              <a:rPr sz="1350" dirty="0">
                <a:latin typeface="Courier New"/>
                <a:cs typeface="Courier New"/>
              </a:rPr>
              <a:t>is</a:t>
            </a:r>
            <a:r>
              <a:rPr sz="1350" spc="8" dirty="0">
                <a:latin typeface="Courier New"/>
                <a:cs typeface="Courier New"/>
              </a:rPr>
              <a:t> </a:t>
            </a:r>
            <a:r>
              <a:rPr sz="1350" dirty="0">
                <a:latin typeface="Courier New"/>
                <a:cs typeface="Courier New"/>
              </a:rPr>
              <a:t>not</a:t>
            </a:r>
            <a:r>
              <a:rPr sz="1350" spc="8" dirty="0">
                <a:latin typeface="Courier New"/>
                <a:cs typeface="Courier New"/>
              </a:rPr>
              <a:t> </a:t>
            </a:r>
            <a:r>
              <a:rPr sz="1350" dirty="0">
                <a:latin typeface="Courier New"/>
                <a:cs typeface="Courier New"/>
              </a:rPr>
              <a:t>null)</a:t>
            </a:r>
            <a:r>
              <a:rPr sz="1350" spc="8" dirty="0">
                <a:latin typeface="Courier New"/>
                <a:cs typeface="Courier New"/>
              </a:rPr>
              <a:t> </a:t>
            </a:r>
            <a:r>
              <a:rPr sz="1350" spc="-15" dirty="0">
                <a:latin typeface="Courier New"/>
                <a:cs typeface="Courier New"/>
              </a:rPr>
              <a:t>then </a:t>
            </a:r>
            <a:r>
              <a:rPr sz="1350" dirty="0">
                <a:latin typeface="Courier New"/>
                <a:cs typeface="Courier New"/>
              </a:rPr>
              <a:t>update</a:t>
            </a:r>
            <a:r>
              <a:rPr sz="1350" spc="8" dirty="0">
                <a:latin typeface="Courier New"/>
                <a:cs typeface="Courier New"/>
              </a:rPr>
              <a:t> </a:t>
            </a:r>
            <a:r>
              <a:rPr sz="1350" spc="-8" dirty="0">
                <a:latin typeface="Courier New"/>
                <a:cs typeface="Courier New"/>
              </a:rPr>
              <a:t>deptsal</a:t>
            </a:r>
            <a:endParaRPr sz="1350">
              <a:latin typeface="Courier New"/>
              <a:cs typeface="Courier New"/>
            </a:endParaRPr>
          </a:p>
          <a:p>
            <a:pPr marL="413861">
              <a:lnSpc>
                <a:spcPts val="1529"/>
              </a:lnSpc>
            </a:pPr>
            <a:r>
              <a:rPr sz="1350" dirty="0">
                <a:latin typeface="Courier New"/>
                <a:cs typeface="Courier New"/>
              </a:rPr>
              <a:t>set</a:t>
            </a:r>
            <a:r>
              <a:rPr sz="1350" spc="8" dirty="0">
                <a:latin typeface="Courier New"/>
                <a:cs typeface="Courier New"/>
              </a:rPr>
              <a:t> </a:t>
            </a:r>
            <a:r>
              <a:rPr sz="1350" dirty="0">
                <a:latin typeface="Courier New"/>
                <a:cs typeface="Courier New"/>
              </a:rPr>
              <a:t>totalsalary</a:t>
            </a:r>
            <a:r>
              <a:rPr sz="1350" spc="8" dirty="0">
                <a:latin typeface="Courier New"/>
                <a:cs typeface="Courier New"/>
              </a:rPr>
              <a:t> </a:t>
            </a:r>
            <a:r>
              <a:rPr sz="1350" dirty="0">
                <a:latin typeface="Courier New"/>
                <a:cs typeface="Courier New"/>
              </a:rPr>
              <a:t>=</a:t>
            </a:r>
            <a:r>
              <a:rPr sz="1350" spc="8" dirty="0">
                <a:latin typeface="Courier New"/>
                <a:cs typeface="Courier New"/>
              </a:rPr>
              <a:t> </a:t>
            </a:r>
            <a:r>
              <a:rPr sz="1350" dirty="0">
                <a:latin typeface="Courier New"/>
                <a:cs typeface="Courier New"/>
              </a:rPr>
              <a:t>totalsalary</a:t>
            </a:r>
            <a:r>
              <a:rPr sz="1350" spc="8" dirty="0">
                <a:latin typeface="Courier New"/>
                <a:cs typeface="Courier New"/>
              </a:rPr>
              <a:t> </a:t>
            </a:r>
            <a:r>
              <a:rPr sz="1350" dirty="0">
                <a:latin typeface="Courier New"/>
                <a:cs typeface="Courier New"/>
              </a:rPr>
              <a:t>-</a:t>
            </a:r>
            <a:r>
              <a:rPr sz="1350" spc="8" dirty="0">
                <a:latin typeface="Courier New"/>
                <a:cs typeface="Courier New"/>
              </a:rPr>
              <a:t> </a:t>
            </a:r>
            <a:r>
              <a:rPr sz="1350" spc="-8" dirty="0">
                <a:latin typeface="Courier New"/>
                <a:cs typeface="Courier New"/>
              </a:rPr>
              <a:t>old.salary</a:t>
            </a:r>
            <a:endParaRPr sz="1350">
              <a:latin typeface="Courier New"/>
              <a:cs typeface="Courier New"/>
            </a:endParaRPr>
          </a:p>
          <a:p>
            <a:pPr marL="206693" marR="1858804" indent="207169">
              <a:lnSpc>
                <a:spcPts val="1658"/>
              </a:lnSpc>
              <a:spcBef>
                <a:spcPts val="45"/>
              </a:spcBef>
            </a:pPr>
            <a:r>
              <a:rPr sz="1350" dirty="0">
                <a:latin typeface="Courier New"/>
                <a:cs typeface="Courier New"/>
              </a:rPr>
              <a:t>where</a:t>
            </a:r>
            <a:r>
              <a:rPr sz="1350" spc="8" dirty="0">
                <a:latin typeface="Courier New"/>
                <a:cs typeface="Courier New"/>
              </a:rPr>
              <a:t> </a:t>
            </a:r>
            <a:r>
              <a:rPr sz="1350" dirty="0">
                <a:latin typeface="Courier New"/>
                <a:cs typeface="Courier New"/>
              </a:rPr>
              <a:t>dnumber</a:t>
            </a:r>
            <a:r>
              <a:rPr sz="1350" spc="8" dirty="0">
                <a:latin typeface="Courier New"/>
                <a:cs typeface="Courier New"/>
              </a:rPr>
              <a:t> </a:t>
            </a:r>
            <a:r>
              <a:rPr sz="1350" dirty="0">
                <a:latin typeface="Courier New"/>
                <a:cs typeface="Courier New"/>
              </a:rPr>
              <a:t>=</a:t>
            </a:r>
            <a:r>
              <a:rPr sz="1350" spc="8" dirty="0">
                <a:latin typeface="Courier New"/>
                <a:cs typeface="Courier New"/>
              </a:rPr>
              <a:t> </a:t>
            </a:r>
            <a:r>
              <a:rPr sz="1350" spc="-8" dirty="0">
                <a:latin typeface="Courier New"/>
                <a:cs typeface="Courier New"/>
              </a:rPr>
              <a:t>old.dno; </a:t>
            </a:r>
            <a:r>
              <a:rPr sz="1350" dirty="0">
                <a:latin typeface="Courier New"/>
                <a:cs typeface="Courier New"/>
              </a:rPr>
              <a:t>end</a:t>
            </a:r>
            <a:r>
              <a:rPr sz="1350" spc="8" dirty="0">
                <a:latin typeface="Courier New"/>
                <a:cs typeface="Courier New"/>
              </a:rPr>
              <a:t> </a:t>
            </a:r>
            <a:r>
              <a:rPr sz="1350" spc="-19" dirty="0">
                <a:latin typeface="Courier New"/>
                <a:cs typeface="Courier New"/>
              </a:rPr>
              <a:t>if;</a:t>
            </a:r>
            <a:endParaRPr sz="1350">
              <a:latin typeface="Courier New"/>
              <a:cs typeface="Courier New"/>
            </a:endParaRPr>
          </a:p>
          <a:p>
            <a:pPr>
              <a:lnSpc>
                <a:spcPts val="1523"/>
              </a:lnSpc>
            </a:pPr>
            <a:r>
              <a:rPr sz="1350" dirty="0">
                <a:latin typeface="Courier New"/>
                <a:cs typeface="Courier New"/>
              </a:rPr>
              <a:t>end;</a:t>
            </a:r>
            <a:r>
              <a:rPr sz="1350" spc="8" dirty="0">
                <a:latin typeface="Courier New"/>
                <a:cs typeface="Courier New"/>
              </a:rPr>
              <a:t> </a:t>
            </a:r>
            <a:r>
              <a:rPr sz="1350" spc="-19" dirty="0">
                <a:latin typeface="Courier New"/>
                <a:cs typeface="Courier New"/>
              </a:rPr>
              <a:t>$$</a:t>
            </a:r>
            <a:endParaRPr sz="1350">
              <a:latin typeface="Courier New"/>
              <a:cs typeface="Courier New"/>
            </a:endParaRPr>
          </a:p>
        </p:txBody>
      </p:sp>
      <p:sp>
        <p:nvSpPr>
          <p:cNvPr id="8" name="object 8"/>
          <p:cNvSpPr txBox="1"/>
          <p:nvPr/>
        </p:nvSpPr>
        <p:spPr>
          <a:xfrm>
            <a:off x="902510" y="5156835"/>
            <a:ext cx="3748564" cy="217367"/>
          </a:xfrm>
          <a:prstGeom prst="rect">
            <a:avLst/>
          </a:prstGeom>
        </p:spPr>
        <p:txBody>
          <a:bodyPr vert="horz" wrap="square" lIns="0" tIns="9525" rIns="0" bIns="0" rtlCol="0">
            <a:spAutoFit/>
          </a:bodyPr>
          <a:lstStyle/>
          <a:p>
            <a:pPr marL="9525">
              <a:spcBef>
                <a:spcPts val="75"/>
              </a:spcBef>
            </a:pPr>
            <a:r>
              <a:rPr sz="1350" dirty="0">
                <a:latin typeface="Courier New"/>
                <a:cs typeface="Courier New"/>
              </a:rPr>
              <a:t>Query</a:t>
            </a:r>
            <a:r>
              <a:rPr sz="1350" spc="8" dirty="0">
                <a:latin typeface="Courier New"/>
                <a:cs typeface="Courier New"/>
              </a:rPr>
              <a:t> </a:t>
            </a:r>
            <a:r>
              <a:rPr sz="1350" dirty="0">
                <a:latin typeface="Courier New"/>
                <a:cs typeface="Courier New"/>
              </a:rPr>
              <a:t>OK,</a:t>
            </a:r>
            <a:r>
              <a:rPr sz="1350" spc="8" dirty="0">
                <a:latin typeface="Courier New"/>
                <a:cs typeface="Courier New"/>
              </a:rPr>
              <a:t> </a:t>
            </a:r>
            <a:r>
              <a:rPr sz="1350" dirty="0">
                <a:latin typeface="Courier New"/>
                <a:cs typeface="Courier New"/>
              </a:rPr>
              <a:t>0</a:t>
            </a:r>
            <a:r>
              <a:rPr sz="1350" spc="8" dirty="0">
                <a:latin typeface="Courier New"/>
                <a:cs typeface="Courier New"/>
              </a:rPr>
              <a:t> </a:t>
            </a:r>
            <a:r>
              <a:rPr sz="1350" dirty="0">
                <a:latin typeface="Courier New"/>
                <a:cs typeface="Courier New"/>
              </a:rPr>
              <a:t>rows</a:t>
            </a:r>
            <a:r>
              <a:rPr sz="1350" spc="8" dirty="0">
                <a:latin typeface="Courier New"/>
                <a:cs typeface="Courier New"/>
              </a:rPr>
              <a:t> </a:t>
            </a:r>
            <a:r>
              <a:rPr sz="1350" dirty="0">
                <a:latin typeface="Courier New"/>
                <a:cs typeface="Courier New"/>
              </a:rPr>
              <a:t>affected</a:t>
            </a:r>
            <a:r>
              <a:rPr sz="1350" spc="8" dirty="0">
                <a:latin typeface="Courier New"/>
                <a:cs typeface="Courier New"/>
              </a:rPr>
              <a:t> </a:t>
            </a:r>
            <a:r>
              <a:rPr sz="1350" dirty="0">
                <a:latin typeface="Courier New"/>
                <a:cs typeface="Courier New"/>
              </a:rPr>
              <a:t>(0.01</a:t>
            </a:r>
            <a:r>
              <a:rPr sz="1350" spc="8" dirty="0">
                <a:latin typeface="Courier New"/>
                <a:cs typeface="Courier New"/>
              </a:rPr>
              <a:t> </a:t>
            </a:r>
            <a:r>
              <a:rPr sz="1350" spc="-15" dirty="0">
                <a:latin typeface="Courier New"/>
                <a:cs typeface="Courier New"/>
              </a:rPr>
              <a:t>sec)</a:t>
            </a:r>
            <a:endParaRPr sz="1350">
              <a:latin typeface="Courier New"/>
              <a:cs typeface="Courier New"/>
            </a:endParaRPr>
          </a:p>
        </p:txBody>
      </p:sp>
      <p:sp>
        <p:nvSpPr>
          <p:cNvPr id="9" name="object 9"/>
          <p:cNvSpPr txBox="1"/>
          <p:nvPr/>
        </p:nvSpPr>
        <p:spPr>
          <a:xfrm>
            <a:off x="902510" y="5566029"/>
            <a:ext cx="2194560" cy="217367"/>
          </a:xfrm>
          <a:prstGeom prst="rect">
            <a:avLst/>
          </a:prstGeom>
        </p:spPr>
        <p:txBody>
          <a:bodyPr vert="horz" wrap="square" lIns="0" tIns="9525" rIns="0" bIns="0" rtlCol="0">
            <a:spAutoFit/>
          </a:bodyPr>
          <a:lstStyle/>
          <a:p>
            <a:pPr marL="9525">
              <a:spcBef>
                <a:spcPts val="75"/>
              </a:spcBef>
            </a:pPr>
            <a:r>
              <a:rPr sz="1350" dirty="0">
                <a:latin typeface="Courier New"/>
                <a:cs typeface="Courier New"/>
              </a:rPr>
              <a:t>mysql&gt;</a:t>
            </a:r>
            <a:r>
              <a:rPr sz="1350" spc="8" dirty="0">
                <a:latin typeface="Courier New"/>
                <a:cs typeface="Courier New"/>
              </a:rPr>
              <a:t> </a:t>
            </a:r>
            <a:r>
              <a:rPr sz="1350" dirty="0">
                <a:latin typeface="Courier New"/>
                <a:cs typeface="Courier New"/>
              </a:rPr>
              <a:t>delimiter</a:t>
            </a:r>
            <a:r>
              <a:rPr sz="1350" spc="8" dirty="0">
                <a:latin typeface="Courier New"/>
                <a:cs typeface="Courier New"/>
              </a:rPr>
              <a:t> </a:t>
            </a:r>
            <a:r>
              <a:rPr sz="1350" dirty="0">
                <a:latin typeface="Courier New"/>
                <a:cs typeface="Courier New"/>
              </a:rPr>
              <a:t>;</a:t>
            </a:r>
            <a:r>
              <a:rPr sz="1350" spc="8" dirty="0">
                <a:latin typeface="Courier New"/>
                <a:cs typeface="Courier New"/>
              </a:rPr>
              <a:t> </a:t>
            </a:r>
            <a:r>
              <a:rPr sz="1350" spc="-19" dirty="0">
                <a:latin typeface="Courier New"/>
                <a:cs typeface="Courier New"/>
              </a:rPr>
              <a:t>$$</a:t>
            </a:r>
            <a:endParaRPr sz="1350">
              <a:latin typeface="Courier New"/>
              <a:cs typeface="Courier New"/>
            </a:endParaRPr>
          </a:p>
        </p:txBody>
      </p:sp>
      <p:sp>
        <p:nvSpPr>
          <p:cNvPr id="10" name="object 10"/>
          <p:cNvSpPr txBox="1"/>
          <p:nvPr/>
        </p:nvSpPr>
        <p:spPr>
          <a:xfrm>
            <a:off x="1545021" y="3119601"/>
            <a:ext cx="5147786" cy="1154162"/>
          </a:xfrm>
          <a:prstGeom prst="rect">
            <a:avLst/>
          </a:prstGeom>
          <a:solidFill>
            <a:srgbClr val="4472C4"/>
          </a:solidFill>
          <a:ln w="12700">
            <a:solidFill>
              <a:srgbClr val="2F528F"/>
            </a:solidFill>
          </a:ln>
        </p:spPr>
        <p:txBody>
          <a:bodyPr vert="horz" wrap="square" lIns="0" tIns="0" rIns="0" bIns="0" rtlCol="0">
            <a:spAutoFit/>
          </a:bodyPr>
          <a:lstStyle/>
          <a:p>
            <a:pPr>
              <a:lnSpc>
                <a:spcPct val="100000"/>
              </a:lnSpc>
            </a:pPr>
            <a:endParaRPr sz="1350">
              <a:latin typeface="Times New Roman"/>
              <a:cs typeface="Times New Roman"/>
            </a:endParaRPr>
          </a:p>
          <a:p>
            <a:pPr>
              <a:lnSpc>
                <a:spcPct val="100000"/>
              </a:lnSpc>
            </a:pPr>
            <a:endParaRPr sz="1350">
              <a:latin typeface="Times New Roman"/>
              <a:cs typeface="Times New Roman"/>
            </a:endParaRPr>
          </a:p>
          <a:p>
            <a:pPr>
              <a:lnSpc>
                <a:spcPct val="100000"/>
              </a:lnSpc>
            </a:pPr>
            <a:endParaRPr sz="1350">
              <a:latin typeface="Times New Roman"/>
              <a:cs typeface="Times New Roman"/>
            </a:endParaRPr>
          </a:p>
          <a:p>
            <a:pPr>
              <a:spcBef>
                <a:spcPts val="941"/>
              </a:spcBef>
            </a:pPr>
            <a:endParaRPr sz="1350">
              <a:latin typeface="Times New Roman"/>
              <a:cs typeface="Times New Roman"/>
            </a:endParaRPr>
          </a:p>
          <a:p>
            <a:pPr algn="ctr">
              <a:lnSpc>
                <a:spcPct val="100000"/>
              </a:lnSpc>
            </a:pPr>
            <a:r>
              <a:rPr sz="1350" dirty="0">
                <a:solidFill>
                  <a:srgbClr val="FFFFFF"/>
                </a:solidFill>
                <a:latin typeface="Calibri"/>
                <a:cs typeface="Calibri"/>
              </a:rPr>
              <a:t>//</a:t>
            </a:r>
            <a:r>
              <a:rPr sz="1350" spc="-34" dirty="0">
                <a:solidFill>
                  <a:srgbClr val="FFFFFF"/>
                </a:solidFill>
                <a:latin typeface="Calibri"/>
                <a:cs typeface="Calibri"/>
              </a:rPr>
              <a:t> </a:t>
            </a:r>
            <a:r>
              <a:rPr sz="1350" dirty="0">
                <a:solidFill>
                  <a:srgbClr val="FFFFFF"/>
                </a:solidFill>
                <a:latin typeface="Calibri"/>
                <a:cs typeface="Calibri"/>
              </a:rPr>
              <a:t>Enter</a:t>
            </a:r>
            <a:r>
              <a:rPr sz="1350" spc="-38" dirty="0">
                <a:solidFill>
                  <a:srgbClr val="FFFFFF"/>
                </a:solidFill>
                <a:latin typeface="Calibri"/>
                <a:cs typeface="Calibri"/>
              </a:rPr>
              <a:t> </a:t>
            </a:r>
            <a:r>
              <a:rPr sz="1350" spc="-15" dirty="0">
                <a:solidFill>
                  <a:srgbClr val="FFFFFF"/>
                </a:solidFill>
                <a:latin typeface="Calibri"/>
                <a:cs typeface="Calibri"/>
              </a:rPr>
              <a:t>Your</a:t>
            </a:r>
            <a:r>
              <a:rPr sz="1350" spc="-34" dirty="0">
                <a:solidFill>
                  <a:srgbClr val="FFFFFF"/>
                </a:solidFill>
                <a:latin typeface="Calibri"/>
                <a:cs typeface="Calibri"/>
              </a:rPr>
              <a:t> </a:t>
            </a:r>
            <a:r>
              <a:rPr sz="1350" dirty="0">
                <a:solidFill>
                  <a:srgbClr val="FFFFFF"/>
                </a:solidFill>
                <a:latin typeface="Calibri"/>
                <a:cs typeface="Calibri"/>
              </a:rPr>
              <a:t>Code</a:t>
            </a:r>
            <a:r>
              <a:rPr sz="1350" spc="-34" dirty="0">
                <a:solidFill>
                  <a:srgbClr val="FFFFFF"/>
                </a:solidFill>
                <a:latin typeface="Calibri"/>
                <a:cs typeface="Calibri"/>
              </a:rPr>
              <a:t> </a:t>
            </a:r>
            <a:r>
              <a:rPr sz="1350" spc="-15" dirty="0">
                <a:solidFill>
                  <a:srgbClr val="FFFFFF"/>
                </a:solidFill>
                <a:latin typeface="Calibri"/>
                <a:cs typeface="Calibri"/>
              </a:rPr>
              <a:t>Here</a:t>
            </a:r>
            <a:endParaRPr sz="1350">
              <a:latin typeface="Calibri"/>
              <a:cs typeface="Calibri"/>
            </a:endParaRPr>
          </a:p>
        </p:txBody>
      </p:sp>
      <p:sp>
        <p:nvSpPr>
          <p:cNvPr id="11" name="object 11"/>
          <p:cNvSpPr txBox="1"/>
          <p:nvPr/>
        </p:nvSpPr>
        <p:spPr>
          <a:xfrm>
            <a:off x="7342724" y="1147191"/>
            <a:ext cx="461010" cy="217367"/>
          </a:xfrm>
          <a:prstGeom prst="rect">
            <a:avLst/>
          </a:prstGeom>
        </p:spPr>
        <p:txBody>
          <a:bodyPr vert="horz" wrap="square" lIns="0" tIns="9525" rIns="0" bIns="0" rtlCol="0">
            <a:spAutoFit/>
          </a:bodyPr>
          <a:lstStyle/>
          <a:p>
            <a:pPr marL="9525">
              <a:spcBef>
                <a:spcPts val="75"/>
              </a:spcBef>
            </a:pPr>
            <a:r>
              <a:rPr sz="1350" spc="-8" dirty="0">
                <a:latin typeface="Calibri"/>
                <a:cs typeface="Calibri"/>
              </a:rPr>
              <a:t>Q8.sql</a:t>
            </a:r>
            <a:endParaRPr sz="1350">
              <a:latin typeface="Calibri"/>
              <a:cs typeface="Calibri"/>
            </a:endParaRPr>
          </a:p>
        </p:txBody>
      </p:sp>
    </p:spTree>
    <p:extLst>
      <p:ext uri="{BB962C8B-B14F-4D97-AF65-F5344CB8AC3E}">
        <p14:creationId xmlns:p14="http://schemas.microsoft.com/office/powerpoint/2010/main" val="156294228"/>
      </p:ext>
    </p:extLst>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21769" y="355493"/>
            <a:ext cx="4786789"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spc="-15" dirty="0"/>
              <a:t>Trigger3</a:t>
            </a:r>
            <a:r>
              <a:rPr spc="-75" dirty="0"/>
              <a:t> </a:t>
            </a:r>
            <a:r>
              <a:rPr dirty="0"/>
              <a:t>–</a:t>
            </a:r>
            <a:r>
              <a:rPr spc="-71" dirty="0"/>
              <a:t> </a:t>
            </a:r>
            <a:r>
              <a:rPr dirty="0"/>
              <a:t>Step</a:t>
            </a:r>
            <a:r>
              <a:rPr spc="-68" dirty="0"/>
              <a:t> </a:t>
            </a:r>
            <a:r>
              <a:rPr spc="-38" dirty="0"/>
              <a:t>2</a:t>
            </a:r>
          </a:p>
        </p:txBody>
      </p:sp>
      <p:sp>
        <p:nvSpPr>
          <p:cNvPr id="3" name="object 3"/>
          <p:cNvSpPr txBox="1"/>
          <p:nvPr/>
        </p:nvSpPr>
        <p:spPr>
          <a:xfrm>
            <a:off x="3190685" y="5673472"/>
            <a:ext cx="2762726" cy="148117"/>
          </a:xfrm>
          <a:prstGeom prst="rect">
            <a:avLst/>
          </a:prstGeom>
        </p:spPr>
        <p:txBody>
          <a:bodyPr vert="horz" wrap="square" lIns="0" tIns="9525" rIns="0" bIns="0" rtlCol="0">
            <a:spAutoFit/>
          </a:bodyPr>
          <a:lstStyle/>
          <a:p>
            <a:pPr marL="9525">
              <a:spcBef>
                <a:spcPts val="75"/>
              </a:spcBef>
            </a:pPr>
            <a:r>
              <a:rPr sz="900" spc="-8" dirty="0">
                <a:solidFill>
                  <a:srgbClr val="898989"/>
                </a:solidFill>
                <a:latin typeface="Calibri"/>
                <a:cs typeface="Calibri"/>
              </a:rPr>
              <a:t>Copyright</a:t>
            </a:r>
            <a:r>
              <a:rPr sz="900" spc="-11" dirty="0">
                <a:solidFill>
                  <a:srgbClr val="898989"/>
                </a:solidFill>
                <a:latin typeface="Calibri"/>
                <a:cs typeface="Calibri"/>
              </a:rPr>
              <a:t> </a:t>
            </a:r>
            <a:r>
              <a:rPr sz="900" dirty="0">
                <a:solidFill>
                  <a:srgbClr val="898989"/>
                </a:solidFill>
                <a:latin typeface="Calibri"/>
                <a:cs typeface="Calibri"/>
              </a:rPr>
              <a:t>©</a:t>
            </a:r>
            <a:r>
              <a:rPr sz="900" spc="-8" dirty="0">
                <a:solidFill>
                  <a:srgbClr val="898989"/>
                </a:solidFill>
                <a:latin typeface="Calibri"/>
                <a:cs typeface="Calibri"/>
              </a:rPr>
              <a:t> </a:t>
            </a:r>
            <a:r>
              <a:rPr sz="900" dirty="0">
                <a:solidFill>
                  <a:srgbClr val="898989"/>
                </a:solidFill>
                <a:latin typeface="Calibri"/>
                <a:cs typeface="Calibri"/>
              </a:rPr>
              <a:t>2016</a:t>
            </a:r>
            <a:r>
              <a:rPr sz="900" spc="-8" dirty="0">
                <a:solidFill>
                  <a:srgbClr val="898989"/>
                </a:solidFill>
                <a:latin typeface="Calibri"/>
                <a:cs typeface="Calibri"/>
              </a:rPr>
              <a:t> </a:t>
            </a:r>
            <a:r>
              <a:rPr sz="900" dirty="0">
                <a:solidFill>
                  <a:srgbClr val="898989"/>
                </a:solidFill>
                <a:latin typeface="Calibri"/>
                <a:cs typeface="Calibri"/>
              </a:rPr>
              <a:t>Ramez</a:t>
            </a:r>
            <a:r>
              <a:rPr sz="900" spc="-4" dirty="0">
                <a:solidFill>
                  <a:srgbClr val="898989"/>
                </a:solidFill>
                <a:latin typeface="Calibri"/>
                <a:cs typeface="Calibri"/>
              </a:rPr>
              <a:t> </a:t>
            </a:r>
            <a:r>
              <a:rPr sz="900" dirty="0">
                <a:solidFill>
                  <a:srgbClr val="898989"/>
                </a:solidFill>
                <a:latin typeface="Calibri"/>
                <a:cs typeface="Calibri"/>
              </a:rPr>
              <a:t>Elmasri</a:t>
            </a:r>
            <a:r>
              <a:rPr sz="900" spc="-11" dirty="0">
                <a:solidFill>
                  <a:srgbClr val="898989"/>
                </a:solidFill>
                <a:latin typeface="Calibri"/>
                <a:cs typeface="Calibri"/>
              </a:rPr>
              <a:t> </a:t>
            </a:r>
            <a:r>
              <a:rPr sz="900" dirty="0">
                <a:solidFill>
                  <a:srgbClr val="898989"/>
                </a:solidFill>
                <a:latin typeface="Calibri"/>
                <a:cs typeface="Calibri"/>
              </a:rPr>
              <a:t>and</a:t>
            </a:r>
            <a:r>
              <a:rPr sz="900" spc="-11" dirty="0">
                <a:solidFill>
                  <a:srgbClr val="898989"/>
                </a:solidFill>
                <a:latin typeface="Calibri"/>
                <a:cs typeface="Calibri"/>
              </a:rPr>
              <a:t> </a:t>
            </a:r>
            <a:r>
              <a:rPr sz="900" spc="-8" dirty="0">
                <a:solidFill>
                  <a:srgbClr val="898989"/>
                </a:solidFill>
                <a:latin typeface="Calibri"/>
                <a:cs typeface="Calibri"/>
              </a:rPr>
              <a:t>Shamkant</a:t>
            </a:r>
            <a:r>
              <a:rPr sz="900" spc="-11" dirty="0">
                <a:solidFill>
                  <a:srgbClr val="898989"/>
                </a:solidFill>
                <a:latin typeface="Calibri"/>
                <a:cs typeface="Calibri"/>
              </a:rPr>
              <a:t> </a:t>
            </a:r>
            <a:r>
              <a:rPr sz="900" dirty="0">
                <a:solidFill>
                  <a:srgbClr val="898989"/>
                </a:solidFill>
                <a:latin typeface="Calibri"/>
                <a:cs typeface="Calibri"/>
              </a:rPr>
              <a:t>B.</a:t>
            </a:r>
            <a:r>
              <a:rPr sz="900" spc="-8" dirty="0">
                <a:solidFill>
                  <a:srgbClr val="898989"/>
                </a:solidFill>
                <a:latin typeface="Calibri"/>
                <a:cs typeface="Calibri"/>
              </a:rPr>
              <a:t> Navathe</a:t>
            </a:r>
            <a:endParaRPr sz="900">
              <a:latin typeface="Calibri"/>
              <a:cs typeface="Calibri"/>
            </a:endParaRPr>
          </a:p>
        </p:txBody>
      </p:sp>
      <p:sp>
        <p:nvSpPr>
          <p:cNvPr id="4" name="object 4"/>
          <p:cNvSpPr txBox="1"/>
          <p:nvPr/>
        </p:nvSpPr>
        <p:spPr>
          <a:xfrm>
            <a:off x="8319612" y="5673472"/>
            <a:ext cx="135731" cy="148117"/>
          </a:xfrm>
          <a:prstGeom prst="rect">
            <a:avLst/>
          </a:prstGeom>
        </p:spPr>
        <p:txBody>
          <a:bodyPr vert="horz" wrap="square" lIns="0" tIns="9525" rIns="0" bIns="0" rtlCol="0">
            <a:spAutoFit/>
          </a:bodyPr>
          <a:lstStyle/>
          <a:p>
            <a:pPr marL="9525">
              <a:spcBef>
                <a:spcPts val="75"/>
              </a:spcBef>
            </a:pPr>
            <a:r>
              <a:rPr sz="900" spc="-19" dirty="0">
                <a:solidFill>
                  <a:srgbClr val="898989"/>
                </a:solidFill>
                <a:latin typeface="Calibri"/>
                <a:cs typeface="Calibri"/>
              </a:rPr>
              <a:t>55</a:t>
            </a:r>
            <a:endParaRPr sz="900">
              <a:latin typeface="Calibri"/>
              <a:cs typeface="Calibri"/>
            </a:endParaRPr>
          </a:p>
        </p:txBody>
      </p:sp>
      <p:sp>
        <p:nvSpPr>
          <p:cNvPr id="5" name="object 5"/>
          <p:cNvSpPr/>
          <p:nvPr/>
        </p:nvSpPr>
        <p:spPr>
          <a:xfrm>
            <a:off x="788908" y="2178939"/>
            <a:ext cx="825341" cy="0"/>
          </a:xfrm>
          <a:custGeom>
            <a:avLst/>
            <a:gdLst/>
            <a:ahLst/>
            <a:cxnLst/>
            <a:rect l="l" t="t" r="r" b="b"/>
            <a:pathLst>
              <a:path w="1100455">
                <a:moveTo>
                  <a:pt x="0" y="0"/>
                </a:moveTo>
                <a:lnTo>
                  <a:pt x="1100206" y="0"/>
                </a:lnTo>
              </a:path>
            </a:pathLst>
          </a:custGeom>
          <a:ln w="16865">
            <a:solidFill>
              <a:srgbClr val="000000"/>
            </a:solidFill>
            <a:prstDash val="dash"/>
          </a:ln>
        </p:spPr>
        <p:txBody>
          <a:bodyPr wrap="square" lIns="0" tIns="0" rIns="0" bIns="0" rtlCol="0"/>
          <a:lstStyle/>
          <a:p>
            <a:endParaRPr sz="1800"/>
          </a:p>
        </p:txBody>
      </p:sp>
      <p:sp>
        <p:nvSpPr>
          <p:cNvPr id="6" name="object 6"/>
          <p:cNvSpPr/>
          <p:nvPr/>
        </p:nvSpPr>
        <p:spPr>
          <a:xfrm>
            <a:off x="1705689" y="2178939"/>
            <a:ext cx="1192054" cy="0"/>
          </a:xfrm>
          <a:custGeom>
            <a:avLst/>
            <a:gdLst/>
            <a:ahLst/>
            <a:cxnLst/>
            <a:rect l="l" t="t" r="r" b="b"/>
            <a:pathLst>
              <a:path w="1589404">
                <a:moveTo>
                  <a:pt x="0" y="0"/>
                </a:moveTo>
                <a:lnTo>
                  <a:pt x="1589186" y="0"/>
                </a:lnTo>
              </a:path>
            </a:pathLst>
          </a:custGeom>
          <a:ln w="16865">
            <a:solidFill>
              <a:srgbClr val="000000"/>
            </a:solidFill>
            <a:prstDash val="dash"/>
          </a:ln>
        </p:spPr>
        <p:txBody>
          <a:bodyPr wrap="square" lIns="0" tIns="0" rIns="0" bIns="0" rtlCol="0"/>
          <a:lstStyle/>
          <a:p>
            <a:endParaRPr sz="1800"/>
          </a:p>
        </p:txBody>
      </p:sp>
      <p:sp>
        <p:nvSpPr>
          <p:cNvPr id="7" name="object 7"/>
          <p:cNvSpPr/>
          <p:nvPr/>
        </p:nvSpPr>
        <p:spPr>
          <a:xfrm>
            <a:off x="788908" y="2540126"/>
            <a:ext cx="825341" cy="0"/>
          </a:xfrm>
          <a:custGeom>
            <a:avLst/>
            <a:gdLst/>
            <a:ahLst/>
            <a:cxnLst/>
            <a:rect l="l" t="t" r="r" b="b"/>
            <a:pathLst>
              <a:path w="1100455">
                <a:moveTo>
                  <a:pt x="0" y="0"/>
                </a:moveTo>
                <a:lnTo>
                  <a:pt x="1100206" y="0"/>
                </a:lnTo>
              </a:path>
            </a:pathLst>
          </a:custGeom>
          <a:ln w="16865">
            <a:solidFill>
              <a:srgbClr val="000000"/>
            </a:solidFill>
            <a:prstDash val="dash"/>
          </a:ln>
        </p:spPr>
        <p:txBody>
          <a:bodyPr wrap="square" lIns="0" tIns="0" rIns="0" bIns="0" rtlCol="0"/>
          <a:lstStyle/>
          <a:p>
            <a:endParaRPr sz="1800"/>
          </a:p>
        </p:txBody>
      </p:sp>
      <p:sp>
        <p:nvSpPr>
          <p:cNvPr id="8" name="object 8"/>
          <p:cNvSpPr/>
          <p:nvPr/>
        </p:nvSpPr>
        <p:spPr>
          <a:xfrm>
            <a:off x="1705689" y="2540126"/>
            <a:ext cx="1192054" cy="0"/>
          </a:xfrm>
          <a:custGeom>
            <a:avLst/>
            <a:gdLst/>
            <a:ahLst/>
            <a:cxnLst/>
            <a:rect l="l" t="t" r="r" b="b"/>
            <a:pathLst>
              <a:path w="1589404">
                <a:moveTo>
                  <a:pt x="0" y="0"/>
                </a:moveTo>
                <a:lnTo>
                  <a:pt x="1589186" y="0"/>
                </a:lnTo>
              </a:path>
            </a:pathLst>
          </a:custGeom>
          <a:ln w="16865">
            <a:solidFill>
              <a:srgbClr val="000000"/>
            </a:solidFill>
            <a:prstDash val="dash"/>
          </a:ln>
        </p:spPr>
        <p:txBody>
          <a:bodyPr wrap="square" lIns="0" tIns="0" rIns="0" bIns="0" rtlCol="0"/>
          <a:lstStyle/>
          <a:p>
            <a:endParaRPr sz="1800"/>
          </a:p>
        </p:txBody>
      </p:sp>
      <p:sp>
        <p:nvSpPr>
          <p:cNvPr id="9" name="object 9"/>
          <p:cNvSpPr txBox="1"/>
          <p:nvPr/>
        </p:nvSpPr>
        <p:spPr>
          <a:xfrm>
            <a:off x="687704" y="1863470"/>
            <a:ext cx="2677953" cy="756137"/>
          </a:xfrm>
          <a:prstGeom prst="rect">
            <a:avLst/>
          </a:prstGeom>
        </p:spPr>
        <p:txBody>
          <a:bodyPr vert="horz" wrap="square" lIns="0" tIns="18574" rIns="0" bIns="0" rtlCol="0">
            <a:spAutoFit/>
          </a:bodyPr>
          <a:lstStyle/>
          <a:p>
            <a:pPr marL="9525">
              <a:spcBef>
                <a:spcPts val="146"/>
              </a:spcBef>
            </a:pPr>
            <a:r>
              <a:rPr sz="1200" dirty="0">
                <a:latin typeface="Courier New"/>
                <a:cs typeface="Courier New"/>
              </a:rPr>
              <a:t>mysql&gt;</a:t>
            </a:r>
            <a:r>
              <a:rPr sz="1200" spc="-23" dirty="0">
                <a:latin typeface="Courier New"/>
                <a:cs typeface="Courier New"/>
              </a:rPr>
              <a:t> </a:t>
            </a:r>
            <a:r>
              <a:rPr sz="1200" dirty="0">
                <a:latin typeface="Courier New"/>
                <a:cs typeface="Courier New"/>
              </a:rPr>
              <a:t>select</a:t>
            </a:r>
            <a:r>
              <a:rPr sz="1200" spc="-11" dirty="0">
                <a:latin typeface="Courier New"/>
                <a:cs typeface="Courier New"/>
              </a:rPr>
              <a:t> </a:t>
            </a:r>
            <a:r>
              <a:rPr sz="1200" dirty="0">
                <a:latin typeface="Courier New"/>
                <a:cs typeface="Courier New"/>
              </a:rPr>
              <a:t>*</a:t>
            </a:r>
            <a:r>
              <a:rPr sz="1200" spc="-11" dirty="0">
                <a:latin typeface="Courier New"/>
                <a:cs typeface="Courier New"/>
              </a:rPr>
              <a:t> </a:t>
            </a:r>
            <a:r>
              <a:rPr sz="1200" dirty="0">
                <a:latin typeface="Courier New"/>
                <a:cs typeface="Courier New"/>
              </a:rPr>
              <a:t>from</a:t>
            </a:r>
            <a:r>
              <a:rPr sz="1200" spc="-11" dirty="0">
                <a:latin typeface="Courier New"/>
                <a:cs typeface="Courier New"/>
              </a:rPr>
              <a:t> </a:t>
            </a:r>
            <a:r>
              <a:rPr sz="1200" spc="-8" dirty="0">
                <a:latin typeface="Courier New"/>
                <a:cs typeface="Courier New"/>
              </a:rPr>
              <a:t>deptsal;</a:t>
            </a:r>
            <a:endParaRPr sz="1200">
              <a:latin typeface="Courier New"/>
              <a:cs typeface="Courier New"/>
            </a:endParaRPr>
          </a:p>
          <a:p>
            <a:pPr marL="9525">
              <a:lnSpc>
                <a:spcPts val="1433"/>
              </a:lnSpc>
              <a:spcBef>
                <a:spcPts val="71"/>
              </a:spcBef>
              <a:tabLst>
                <a:tab pos="925830" algn="l"/>
                <a:tab pos="2209324" algn="l"/>
              </a:tabLst>
            </a:pPr>
            <a:r>
              <a:rPr sz="1200" spc="-38" dirty="0">
                <a:latin typeface="Courier New"/>
                <a:cs typeface="Courier New"/>
              </a:rPr>
              <a:t>+</a:t>
            </a:r>
            <a:r>
              <a:rPr sz="1200" dirty="0">
                <a:latin typeface="Courier New"/>
                <a:cs typeface="Courier New"/>
              </a:rPr>
              <a:t>	</a:t>
            </a:r>
            <a:r>
              <a:rPr sz="1200" spc="-38" dirty="0">
                <a:latin typeface="Courier New"/>
                <a:cs typeface="Courier New"/>
              </a:rPr>
              <a:t>+</a:t>
            </a:r>
            <a:r>
              <a:rPr sz="1200" dirty="0">
                <a:latin typeface="Courier New"/>
                <a:cs typeface="Courier New"/>
              </a:rPr>
              <a:t>	</a:t>
            </a:r>
            <a:r>
              <a:rPr sz="1200" spc="-38" dirty="0">
                <a:latin typeface="Courier New"/>
                <a:cs typeface="Courier New"/>
              </a:rPr>
              <a:t>+</a:t>
            </a:r>
            <a:endParaRPr sz="1200">
              <a:latin typeface="Courier New"/>
              <a:cs typeface="Courier New"/>
            </a:endParaRPr>
          </a:p>
          <a:p>
            <a:pPr marL="9525">
              <a:lnSpc>
                <a:spcPts val="1421"/>
              </a:lnSpc>
            </a:pPr>
            <a:r>
              <a:rPr sz="1200" dirty="0">
                <a:latin typeface="Courier New"/>
                <a:cs typeface="Courier New"/>
              </a:rPr>
              <a:t>|</a:t>
            </a:r>
            <a:r>
              <a:rPr sz="1200" spc="-15" dirty="0">
                <a:latin typeface="Courier New"/>
                <a:cs typeface="Courier New"/>
              </a:rPr>
              <a:t> </a:t>
            </a:r>
            <a:r>
              <a:rPr sz="1200" dirty="0">
                <a:latin typeface="Courier New"/>
                <a:cs typeface="Courier New"/>
              </a:rPr>
              <a:t>dnumber</a:t>
            </a:r>
            <a:r>
              <a:rPr sz="1200" spc="-15" dirty="0">
                <a:latin typeface="Courier New"/>
                <a:cs typeface="Courier New"/>
              </a:rPr>
              <a:t> </a:t>
            </a:r>
            <a:r>
              <a:rPr sz="1200" dirty="0">
                <a:latin typeface="Courier New"/>
                <a:cs typeface="Courier New"/>
              </a:rPr>
              <a:t>|</a:t>
            </a:r>
            <a:r>
              <a:rPr sz="1200" spc="-15" dirty="0">
                <a:latin typeface="Courier New"/>
                <a:cs typeface="Courier New"/>
              </a:rPr>
              <a:t> </a:t>
            </a:r>
            <a:r>
              <a:rPr sz="1200" dirty="0">
                <a:latin typeface="Courier New"/>
                <a:cs typeface="Courier New"/>
              </a:rPr>
              <a:t>totalsalary</a:t>
            </a:r>
            <a:r>
              <a:rPr sz="1200" spc="-15" dirty="0">
                <a:latin typeface="Courier New"/>
                <a:cs typeface="Courier New"/>
              </a:rPr>
              <a:t> </a:t>
            </a:r>
            <a:r>
              <a:rPr sz="1200" spc="-38" dirty="0">
                <a:latin typeface="Courier New"/>
                <a:cs typeface="Courier New"/>
              </a:rPr>
              <a:t>|</a:t>
            </a:r>
            <a:endParaRPr sz="1200">
              <a:latin typeface="Courier New"/>
              <a:cs typeface="Courier New"/>
            </a:endParaRPr>
          </a:p>
          <a:p>
            <a:pPr marL="9525">
              <a:lnSpc>
                <a:spcPts val="1433"/>
              </a:lnSpc>
              <a:tabLst>
                <a:tab pos="925830" algn="l"/>
                <a:tab pos="2209324" algn="l"/>
              </a:tabLst>
            </a:pPr>
            <a:r>
              <a:rPr sz="1200" spc="-38" dirty="0">
                <a:latin typeface="Courier New"/>
                <a:cs typeface="Courier New"/>
              </a:rPr>
              <a:t>+</a:t>
            </a:r>
            <a:r>
              <a:rPr sz="1200" dirty="0">
                <a:latin typeface="Courier New"/>
                <a:cs typeface="Courier New"/>
              </a:rPr>
              <a:t>	</a:t>
            </a:r>
            <a:r>
              <a:rPr sz="1200" spc="-38" dirty="0">
                <a:latin typeface="Courier New"/>
                <a:cs typeface="Courier New"/>
              </a:rPr>
              <a:t>+</a:t>
            </a:r>
            <a:r>
              <a:rPr sz="1200" dirty="0">
                <a:latin typeface="Courier New"/>
                <a:cs typeface="Courier New"/>
              </a:rPr>
              <a:t>	</a:t>
            </a:r>
            <a:r>
              <a:rPr sz="1200" spc="-38" dirty="0">
                <a:latin typeface="Courier New"/>
                <a:cs typeface="Courier New"/>
              </a:rPr>
              <a:t>+</a:t>
            </a:r>
            <a:endParaRPr sz="1200">
              <a:latin typeface="Courier New"/>
              <a:cs typeface="Courier New"/>
            </a:endParaRPr>
          </a:p>
        </p:txBody>
      </p:sp>
      <p:sp>
        <p:nvSpPr>
          <p:cNvPr id="10" name="object 10"/>
          <p:cNvSpPr txBox="1"/>
          <p:nvPr/>
        </p:nvSpPr>
        <p:spPr>
          <a:xfrm>
            <a:off x="687705" y="2606421"/>
            <a:ext cx="110966" cy="741870"/>
          </a:xfrm>
          <a:prstGeom prst="rect">
            <a:avLst/>
          </a:prstGeom>
        </p:spPr>
        <p:txBody>
          <a:bodyPr vert="horz" wrap="square" lIns="0" tIns="9525" rIns="0" bIns="0" rtlCol="0">
            <a:spAutoFit/>
          </a:bodyPr>
          <a:lstStyle/>
          <a:p>
            <a:pPr marL="9525">
              <a:lnSpc>
                <a:spcPts val="1433"/>
              </a:lnSpc>
              <a:spcBef>
                <a:spcPts val="75"/>
              </a:spcBef>
            </a:pPr>
            <a:r>
              <a:rPr sz="1200" spc="-38" dirty="0">
                <a:latin typeface="Courier New"/>
                <a:cs typeface="Courier New"/>
              </a:rPr>
              <a:t>|</a:t>
            </a:r>
            <a:endParaRPr sz="1200">
              <a:latin typeface="Courier New"/>
              <a:cs typeface="Courier New"/>
            </a:endParaRPr>
          </a:p>
          <a:p>
            <a:pPr marL="9525">
              <a:lnSpc>
                <a:spcPts val="1433"/>
              </a:lnSpc>
            </a:pPr>
            <a:r>
              <a:rPr sz="1200" spc="-38" dirty="0">
                <a:latin typeface="Courier New"/>
                <a:cs typeface="Courier New"/>
              </a:rPr>
              <a:t>|</a:t>
            </a:r>
            <a:endParaRPr sz="1200">
              <a:latin typeface="Courier New"/>
              <a:cs typeface="Courier New"/>
            </a:endParaRPr>
          </a:p>
          <a:p>
            <a:pPr marL="9525">
              <a:lnSpc>
                <a:spcPts val="1433"/>
              </a:lnSpc>
              <a:spcBef>
                <a:spcPts val="71"/>
              </a:spcBef>
            </a:pPr>
            <a:r>
              <a:rPr sz="1200" spc="-38" dirty="0">
                <a:latin typeface="Courier New"/>
                <a:cs typeface="Courier New"/>
              </a:rPr>
              <a:t>|</a:t>
            </a:r>
            <a:endParaRPr sz="1200">
              <a:latin typeface="Courier New"/>
              <a:cs typeface="Courier New"/>
            </a:endParaRPr>
          </a:p>
          <a:p>
            <a:pPr marL="9525">
              <a:lnSpc>
                <a:spcPts val="1433"/>
              </a:lnSpc>
            </a:pPr>
            <a:r>
              <a:rPr sz="1200" spc="-38" dirty="0">
                <a:latin typeface="Courier New"/>
                <a:cs typeface="Courier New"/>
              </a:rPr>
              <a:t>+</a:t>
            </a:r>
            <a:endParaRPr sz="1200">
              <a:latin typeface="Courier New"/>
              <a:cs typeface="Courier New"/>
            </a:endParaRPr>
          </a:p>
        </p:txBody>
      </p:sp>
      <p:sp>
        <p:nvSpPr>
          <p:cNvPr id="11" name="object 11"/>
          <p:cNvSpPr/>
          <p:nvPr/>
        </p:nvSpPr>
        <p:spPr>
          <a:xfrm>
            <a:off x="788908" y="3273933"/>
            <a:ext cx="825341" cy="0"/>
          </a:xfrm>
          <a:custGeom>
            <a:avLst/>
            <a:gdLst/>
            <a:ahLst/>
            <a:cxnLst/>
            <a:rect l="l" t="t" r="r" b="b"/>
            <a:pathLst>
              <a:path w="1100455">
                <a:moveTo>
                  <a:pt x="0" y="0"/>
                </a:moveTo>
                <a:lnTo>
                  <a:pt x="1100206" y="0"/>
                </a:lnTo>
              </a:path>
            </a:pathLst>
          </a:custGeom>
          <a:ln w="16865">
            <a:solidFill>
              <a:srgbClr val="000000"/>
            </a:solidFill>
            <a:prstDash val="dash"/>
          </a:ln>
        </p:spPr>
        <p:txBody>
          <a:bodyPr wrap="square" lIns="0" tIns="0" rIns="0" bIns="0" rtlCol="0"/>
          <a:lstStyle/>
          <a:p>
            <a:endParaRPr sz="1800"/>
          </a:p>
        </p:txBody>
      </p:sp>
      <p:sp>
        <p:nvSpPr>
          <p:cNvPr id="12" name="object 12"/>
          <p:cNvSpPr txBox="1"/>
          <p:nvPr/>
        </p:nvSpPr>
        <p:spPr>
          <a:xfrm>
            <a:off x="1421129" y="2606421"/>
            <a:ext cx="294323" cy="741870"/>
          </a:xfrm>
          <a:prstGeom prst="rect">
            <a:avLst/>
          </a:prstGeom>
        </p:spPr>
        <p:txBody>
          <a:bodyPr vert="horz" wrap="square" lIns="0" tIns="9525" rIns="0" bIns="0" rtlCol="0">
            <a:spAutoFit/>
          </a:bodyPr>
          <a:lstStyle/>
          <a:p>
            <a:pPr marL="9525">
              <a:lnSpc>
                <a:spcPts val="1433"/>
              </a:lnSpc>
              <a:spcBef>
                <a:spcPts val="75"/>
              </a:spcBef>
            </a:pPr>
            <a:r>
              <a:rPr sz="1200" dirty="0">
                <a:latin typeface="Courier New"/>
                <a:cs typeface="Courier New"/>
              </a:rPr>
              <a:t>5 </a:t>
            </a:r>
            <a:r>
              <a:rPr sz="1200" spc="-38" dirty="0">
                <a:latin typeface="Courier New"/>
                <a:cs typeface="Courier New"/>
              </a:rPr>
              <a:t>|</a:t>
            </a:r>
            <a:endParaRPr sz="1200">
              <a:latin typeface="Courier New"/>
              <a:cs typeface="Courier New"/>
            </a:endParaRPr>
          </a:p>
          <a:p>
            <a:pPr marL="9525">
              <a:lnSpc>
                <a:spcPts val="1433"/>
              </a:lnSpc>
            </a:pPr>
            <a:r>
              <a:rPr sz="1200" dirty="0">
                <a:latin typeface="Courier New"/>
                <a:cs typeface="Courier New"/>
              </a:rPr>
              <a:t>4 </a:t>
            </a:r>
            <a:r>
              <a:rPr sz="1200" spc="-38" dirty="0">
                <a:latin typeface="Courier New"/>
                <a:cs typeface="Courier New"/>
              </a:rPr>
              <a:t>|</a:t>
            </a:r>
            <a:endParaRPr sz="1200">
              <a:latin typeface="Courier New"/>
              <a:cs typeface="Courier New"/>
            </a:endParaRPr>
          </a:p>
          <a:p>
            <a:pPr marL="9525">
              <a:lnSpc>
                <a:spcPts val="1433"/>
              </a:lnSpc>
              <a:spcBef>
                <a:spcPts val="71"/>
              </a:spcBef>
            </a:pPr>
            <a:r>
              <a:rPr sz="1200" dirty="0">
                <a:latin typeface="Courier New"/>
                <a:cs typeface="Courier New"/>
              </a:rPr>
              <a:t>1 </a:t>
            </a:r>
            <a:r>
              <a:rPr sz="1200" spc="-38" dirty="0">
                <a:latin typeface="Courier New"/>
                <a:cs typeface="Courier New"/>
              </a:rPr>
              <a:t>|</a:t>
            </a:r>
            <a:endParaRPr sz="1200">
              <a:latin typeface="Courier New"/>
              <a:cs typeface="Courier New"/>
            </a:endParaRPr>
          </a:p>
          <a:p>
            <a:pPr marL="192881">
              <a:lnSpc>
                <a:spcPts val="1433"/>
              </a:lnSpc>
            </a:pPr>
            <a:r>
              <a:rPr sz="1200" spc="-38" dirty="0">
                <a:latin typeface="Courier New"/>
                <a:cs typeface="Courier New"/>
              </a:rPr>
              <a:t>+</a:t>
            </a:r>
            <a:endParaRPr sz="1200">
              <a:latin typeface="Courier New"/>
              <a:cs typeface="Courier New"/>
            </a:endParaRPr>
          </a:p>
        </p:txBody>
      </p:sp>
      <p:sp>
        <p:nvSpPr>
          <p:cNvPr id="13" name="object 13"/>
          <p:cNvSpPr/>
          <p:nvPr/>
        </p:nvSpPr>
        <p:spPr>
          <a:xfrm>
            <a:off x="1705689" y="3273933"/>
            <a:ext cx="1192054" cy="0"/>
          </a:xfrm>
          <a:custGeom>
            <a:avLst/>
            <a:gdLst/>
            <a:ahLst/>
            <a:cxnLst/>
            <a:rect l="l" t="t" r="r" b="b"/>
            <a:pathLst>
              <a:path w="1589404">
                <a:moveTo>
                  <a:pt x="0" y="0"/>
                </a:moveTo>
                <a:lnTo>
                  <a:pt x="1589186" y="0"/>
                </a:lnTo>
              </a:path>
            </a:pathLst>
          </a:custGeom>
          <a:ln w="16865">
            <a:solidFill>
              <a:srgbClr val="000000"/>
            </a:solidFill>
            <a:prstDash val="dash"/>
          </a:ln>
        </p:spPr>
        <p:txBody>
          <a:bodyPr wrap="square" lIns="0" tIns="0" rIns="0" bIns="0" rtlCol="0"/>
          <a:lstStyle/>
          <a:p>
            <a:endParaRPr sz="1800"/>
          </a:p>
        </p:txBody>
      </p:sp>
      <p:sp>
        <p:nvSpPr>
          <p:cNvPr id="14" name="object 14"/>
          <p:cNvSpPr txBox="1"/>
          <p:nvPr/>
        </p:nvSpPr>
        <p:spPr>
          <a:xfrm>
            <a:off x="2246233" y="2606421"/>
            <a:ext cx="752951" cy="741870"/>
          </a:xfrm>
          <a:prstGeom prst="rect">
            <a:avLst/>
          </a:prstGeom>
        </p:spPr>
        <p:txBody>
          <a:bodyPr vert="horz" wrap="square" lIns="0" tIns="9525" rIns="0" bIns="0" rtlCol="0">
            <a:spAutoFit/>
          </a:bodyPr>
          <a:lstStyle/>
          <a:p>
            <a:pPr marR="3810" algn="r">
              <a:lnSpc>
                <a:spcPts val="1433"/>
              </a:lnSpc>
              <a:spcBef>
                <a:spcPts val="75"/>
              </a:spcBef>
            </a:pPr>
            <a:r>
              <a:rPr sz="1200" dirty="0">
                <a:latin typeface="Courier New"/>
                <a:cs typeface="Courier New"/>
              </a:rPr>
              <a:t>133000</a:t>
            </a:r>
            <a:r>
              <a:rPr sz="1200" spc="-19" dirty="0">
                <a:latin typeface="Courier New"/>
                <a:cs typeface="Courier New"/>
              </a:rPr>
              <a:t> </a:t>
            </a:r>
            <a:r>
              <a:rPr sz="1200" spc="-38" dirty="0">
                <a:latin typeface="Courier New"/>
                <a:cs typeface="Courier New"/>
              </a:rPr>
              <a:t>|</a:t>
            </a:r>
            <a:endParaRPr sz="1200">
              <a:latin typeface="Courier New"/>
              <a:cs typeface="Courier New"/>
            </a:endParaRPr>
          </a:p>
          <a:p>
            <a:pPr marR="3810" algn="r">
              <a:lnSpc>
                <a:spcPts val="1433"/>
              </a:lnSpc>
            </a:pPr>
            <a:r>
              <a:rPr sz="1200" dirty="0">
                <a:latin typeface="Courier New"/>
                <a:cs typeface="Courier New"/>
              </a:rPr>
              <a:t>143000</a:t>
            </a:r>
            <a:r>
              <a:rPr sz="1200" spc="-19" dirty="0">
                <a:latin typeface="Courier New"/>
                <a:cs typeface="Courier New"/>
              </a:rPr>
              <a:t> </a:t>
            </a:r>
            <a:r>
              <a:rPr sz="1200" spc="-38" dirty="0">
                <a:latin typeface="Courier New"/>
                <a:cs typeface="Courier New"/>
              </a:rPr>
              <a:t>|</a:t>
            </a:r>
            <a:endParaRPr sz="1200">
              <a:latin typeface="Courier New"/>
              <a:cs typeface="Courier New"/>
            </a:endParaRPr>
          </a:p>
          <a:p>
            <a:pPr marR="3810" algn="r">
              <a:lnSpc>
                <a:spcPts val="1433"/>
              </a:lnSpc>
              <a:spcBef>
                <a:spcPts val="71"/>
              </a:spcBef>
            </a:pPr>
            <a:r>
              <a:rPr sz="1200" dirty="0">
                <a:latin typeface="Courier New"/>
                <a:cs typeface="Courier New"/>
              </a:rPr>
              <a:t>55000</a:t>
            </a:r>
            <a:r>
              <a:rPr sz="1200" spc="-15" dirty="0">
                <a:latin typeface="Courier New"/>
                <a:cs typeface="Courier New"/>
              </a:rPr>
              <a:t> </a:t>
            </a:r>
            <a:r>
              <a:rPr sz="1200" spc="-38" dirty="0">
                <a:latin typeface="Courier New"/>
                <a:cs typeface="Courier New"/>
              </a:rPr>
              <a:t>|</a:t>
            </a:r>
            <a:endParaRPr sz="1200">
              <a:latin typeface="Courier New"/>
              <a:cs typeface="Courier New"/>
            </a:endParaRPr>
          </a:p>
          <a:p>
            <a:pPr marR="3810" algn="r">
              <a:lnSpc>
                <a:spcPts val="1433"/>
              </a:lnSpc>
            </a:pPr>
            <a:r>
              <a:rPr sz="1200" spc="-38" dirty="0">
                <a:latin typeface="Courier New"/>
                <a:cs typeface="Courier New"/>
              </a:rPr>
              <a:t>+</a:t>
            </a:r>
            <a:endParaRPr sz="1200">
              <a:latin typeface="Courier New"/>
              <a:cs typeface="Courier New"/>
            </a:endParaRPr>
          </a:p>
        </p:txBody>
      </p:sp>
      <p:sp>
        <p:nvSpPr>
          <p:cNvPr id="15" name="object 15"/>
          <p:cNvSpPr/>
          <p:nvPr/>
        </p:nvSpPr>
        <p:spPr>
          <a:xfrm>
            <a:off x="788908" y="4549521"/>
            <a:ext cx="825341" cy="0"/>
          </a:xfrm>
          <a:custGeom>
            <a:avLst/>
            <a:gdLst/>
            <a:ahLst/>
            <a:cxnLst/>
            <a:rect l="l" t="t" r="r" b="b"/>
            <a:pathLst>
              <a:path w="1100455">
                <a:moveTo>
                  <a:pt x="0" y="0"/>
                </a:moveTo>
                <a:lnTo>
                  <a:pt x="1100206" y="0"/>
                </a:lnTo>
              </a:path>
            </a:pathLst>
          </a:custGeom>
          <a:ln w="16865">
            <a:solidFill>
              <a:srgbClr val="000000"/>
            </a:solidFill>
            <a:prstDash val="dash"/>
          </a:ln>
        </p:spPr>
        <p:txBody>
          <a:bodyPr wrap="square" lIns="0" tIns="0" rIns="0" bIns="0" rtlCol="0"/>
          <a:lstStyle/>
          <a:p>
            <a:endParaRPr sz="1800"/>
          </a:p>
        </p:txBody>
      </p:sp>
      <p:sp>
        <p:nvSpPr>
          <p:cNvPr id="16" name="object 16"/>
          <p:cNvSpPr/>
          <p:nvPr/>
        </p:nvSpPr>
        <p:spPr>
          <a:xfrm>
            <a:off x="1705689" y="4549521"/>
            <a:ext cx="1192054" cy="0"/>
          </a:xfrm>
          <a:custGeom>
            <a:avLst/>
            <a:gdLst/>
            <a:ahLst/>
            <a:cxnLst/>
            <a:rect l="l" t="t" r="r" b="b"/>
            <a:pathLst>
              <a:path w="1589404">
                <a:moveTo>
                  <a:pt x="0" y="0"/>
                </a:moveTo>
                <a:lnTo>
                  <a:pt x="1589186" y="0"/>
                </a:lnTo>
              </a:path>
            </a:pathLst>
          </a:custGeom>
          <a:ln w="16865">
            <a:solidFill>
              <a:srgbClr val="000000"/>
            </a:solidFill>
            <a:prstDash val="dash"/>
          </a:ln>
        </p:spPr>
        <p:txBody>
          <a:bodyPr wrap="square" lIns="0" tIns="0" rIns="0" bIns="0" rtlCol="0"/>
          <a:lstStyle/>
          <a:p>
            <a:endParaRPr sz="1800"/>
          </a:p>
        </p:txBody>
      </p:sp>
      <p:sp>
        <p:nvSpPr>
          <p:cNvPr id="17" name="object 17"/>
          <p:cNvSpPr/>
          <p:nvPr/>
        </p:nvSpPr>
        <p:spPr>
          <a:xfrm>
            <a:off x="788908" y="4922139"/>
            <a:ext cx="825341" cy="0"/>
          </a:xfrm>
          <a:custGeom>
            <a:avLst/>
            <a:gdLst/>
            <a:ahLst/>
            <a:cxnLst/>
            <a:rect l="l" t="t" r="r" b="b"/>
            <a:pathLst>
              <a:path w="1100455">
                <a:moveTo>
                  <a:pt x="0" y="0"/>
                </a:moveTo>
                <a:lnTo>
                  <a:pt x="1100206" y="0"/>
                </a:lnTo>
              </a:path>
            </a:pathLst>
          </a:custGeom>
          <a:ln w="16865">
            <a:solidFill>
              <a:srgbClr val="000000"/>
            </a:solidFill>
            <a:prstDash val="dash"/>
          </a:ln>
        </p:spPr>
        <p:txBody>
          <a:bodyPr wrap="square" lIns="0" tIns="0" rIns="0" bIns="0" rtlCol="0"/>
          <a:lstStyle/>
          <a:p>
            <a:endParaRPr sz="1800"/>
          </a:p>
        </p:txBody>
      </p:sp>
      <p:sp>
        <p:nvSpPr>
          <p:cNvPr id="18" name="object 18"/>
          <p:cNvSpPr/>
          <p:nvPr/>
        </p:nvSpPr>
        <p:spPr>
          <a:xfrm>
            <a:off x="1705689" y="4922139"/>
            <a:ext cx="1192054" cy="0"/>
          </a:xfrm>
          <a:custGeom>
            <a:avLst/>
            <a:gdLst/>
            <a:ahLst/>
            <a:cxnLst/>
            <a:rect l="l" t="t" r="r" b="b"/>
            <a:pathLst>
              <a:path w="1589404">
                <a:moveTo>
                  <a:pt x="0" y="0"/>
                </a:moveTo>
                <a:lnTo>
                  <a:pt x="1589186" y="0"/>
                </a:lnTo>
              </a:path>
            </a:pathLst>
          </a:custGeom>
          <a:ln w="16865">
            <a:solidFill>
              <a:srgbClr val="000000"/>
            </a:solidFill>
            <a:prstDash val="dash"/>
          </a:ln>
        </p:spPr>
        <p:txBody>
          <a:bodyPr wrap="square" lIns="0" tIns="0" rIns="0" bIns="0" rtlCol="0"/>
          <a:lstStyle/>
          <a:p>
            <a:endParaRPr sz="1800"/>
          </a:p>
        </p:txBody>
      </p:sp>
      <p:sp>
        <p:nvSpPr>
          <p:cNvPr id="19" name="object 19"/>
          <p:cNvSpPr txBox="1"/>
          <p:nvPr/>
        </p:nvSpPr>
        <p:spPr>
          <a:xfrm>
            <a:off x="687705" y="3340226"/>
            <a:ext cx="4786789" cy="1669560"/>
          </a:xfrm>
          <a:prstGeom prst="rect">
            <a:avLst/>
          </a:prstGeom>
        </p:spPr>
        <p:txBody>
          <a:bodyPr vert="horz" wrap="square" lIns="0" tIns="9525" rIns="0" bIns="0" rtlCol="0">
            <a:spAutoFit/>
          </a:bodyPr>
          <a:lstStyle/>
          <a:p>
            <a:pPr marL="9525">
              <a:spcBef>
                <a:spcPts val="75"/>
              </a:spcBef>
            </a:pPr>
            <a:r>
              <a:rPr sz="1200" dirty="0">
                <a:latin typeface="Courier New"/>
                <a:cs typeface="Courier New"/>
              </a:rPr>
              <a:t>3</a:t>
            </a:r>
            <a:r>
              <a:rPr sz="1200" spc="-8" dirty="0">
                <a:latin typeface="Courier New"/>
                <a:cs typeface="Courier New"/>
              </a:rPr>
              <a:t> </a:t>
            </a:r>
            <a:r>
              <a:rPr sz="1200" dirty="0">
                <a:latin typeface="Courier New"/>
                <a:cs typeface="Courier New"/>
              </a:rPr>
              <a:t>rows</a:t>
            </a:r>
            <a:r>
              <a:rPr sz="1200" spc="-8" dirty="0">
                <a:latin typeface="Courier New"/>
                <a:cs typeface="Courier New"/>
              </a:rPr>
              <a:t> </a:t>
            </a:r>
            <a:r>
              <a:rPr sz="1200" dirty="0">
                <a:latin typeface="Courier New"/>
                <a:cs typeface="Courier New"/>
              </a:rPr>
              <a:t>in</a:t>
            </a:r>
            <a:r>
              <a:rPr sz="1200" spc="-8" dirty="0">
                <a:latin typeface="Courier New"/>
                <a:cs typeface="Courier New"/>
              </a:rPr>
              <a:t> </a:t>
            </a:r>
            <a:r>
              <a:rPr sz="1200" dirty="0">
                <a:latin typeface="Courier New"/>
                <a:cs typeface="Courier New"/>
              </a:rPr>
              <a:t>set</a:t>
            </a:r>
            <a:r>
              <a:rPr sz="1200" spc="-8" dirty="0">
                <a:latin typeface="Courier New"/>
                <a:cs typeface="Courier New"/>
              </a:rPr>
              <a:t> </a:t>
            </a:r>
            <a:r>
              <a:rPr sz="1200" dirty="0">
                <a:latin typeface="Courier New"/>
                <a:cs typeface="Courier New"/>
              </a:rPr>
              <a:t>(0.01</a:t>
            </a:r>
            <a:r>
              <a:rPr sz="1200" spc="-8" dirty="0">
                <a:latin typeface="Courier New"/>
                <a:cs typeface="Courier New"/>
              </a:rPr>
              <a:t> </a:t>
            </a:r>
            <a:r>
              <a:rPr sz="1200" spc="-15" dirty="0">
                <a:latin typeface="Courier New"/>
                <a:cs typeface="Courier New"/>
              </a:rPr>
              <a:t>sec)</a:t>
            </a:r>
            <a:endParaRPr sz="1200">
              <a:latin typeface="Courier New"/>
              <a:cs typeface="Courier New"/>
            </a:endParaRPr>
          </a:p>
          <a:p>
            <a:pPr marL="9525" marR="3810">
              <a:lnSpc>
                <a:spcPct val="105000"/>
              </a:lnSpc>
              <a:spcBef>
                <a:spcPts val="1331"/>
              </a:spcBef>
            </a:pPr>
            <a:r>
              <a:rPr sz="1200" dirty="0">
                <a:latin typeface="Courier New"/>
                <a:cs typeface="Courier New"/>
              </a:rPr>
              <a:t>mysql&gt;</a:t>
            </a:r>
            <a:r>
              <a:rPr sz="1200" spc="-23" dirty="0">
                <a:latin typeface="Courier New"/>
                <a:cs typeface="Courier New"/>
              </a:rPr>
              <a:t> </a:t>
            </a:r>
            <a:r>
              <a:rPr sz="1200" dirty="0">
                <a:latin typeface="Courier New"/>
                <a:cs typeface="Courier New"/>
              </a:rPr>
              <a:t>delete</a:t>
            </a:r>
            <a:r>
              <a:rPr sz="1200" spc="-15" dirty="0">
                <a:latin typeface="Courier New"/>
                <a:cs typeface="Courier New"/>
              </a:rPr>
              <a:t> </a:t>
            </a:r>
            <a:r>
              <a:rPr sz="1200" dirty="0">
                <a:latin typeface="Courier New"/>
                <a:cs typeface="Courier New"/>
              </a:rPr>
              <a:t>from</a:t>
            </a:r>
            <a:r>
              <a:rPr sz="1200" spc="-15" dirty="0">
                <a:latin typeface="Courier New"/>
                <a:cs typeface="Courier New"/>
              </a:rPr>
              <a:t> </a:t>
            </a:r>
            <a:r>
              <a:rPr sz="1200" dirty="0">
                <a:latin typeface="Courier New"/>
                <a:cs typeface="Courier New"/>
              </a:rPr>
              <a:t>employee</a:t>
            </a:r>
            <a:r>
              <a:rPr sz="1200" spc="-11" dirty="0">
                <a:latin typeface="Courier New"/>
                <a:cs typeface="Courier New"/>
              </a:rPr>
              <a:t> </a:t>
            </a:r>
            <a:r>
              <a:rPr sz="1200" dirty="0">
                <a:latin typeface="Courier New"/>
                <a:cs typeface="Courier New"/>
              </a:rPr>
              <a:t>where</a:t>
            </a:r>
            <a:r>
              <a:rPr sz="1200" spc="-15" dirty="0">
                <a:latin typeface="Courier New"/>
                <a:cs typeface="Courier New"/>
              </a:rPr>
              <a:t> </a:t>
            </a:r>
            <a:r>
              <a:rPr sz="1200" dirty="0">
                <a:latin typeface="Courier New"/>
                <a:cs typeface="Courier New"/>
              </a:rPr>
              <a:t>ssn</a:t>
            </a:r>
            <a:r>
              <a:rPr sz="1200" spc="-15" dirty="0">
                <a:latin typeface="Courier New"/>
                <a:cs typeface="Courier New"/>
              </a:rPr>
              <a:t> </a:t>
            </a:r>
            <a:r>
              <a:rPr sz="1200" dirty="0">
                <a:latin typeface="Courier New"/>
                <a:cs typeface="Courier New"/>
              </a:rPr>
              <a:t>=</a:t>
            </a:r>
            <a:r>
              <a:rPr sz="1200" spc="-11" dirty="0">
                <a:latin typeface="Courier New"/>
                <a:cs typeface="Courier New"/>
              </a:rPr>
              <a:t> </a:t>
            </a:r>
            <a:r>
              <a:rPr sz="1200" spc="-8" dirty="0">
                <a:latin typeface="Courier New"/>
                <a:cs typeface="Courier New"/>
              </a:rPr>
              <a:t>'222334444'; </a:t>
            </a:r>
            <a:r>
              <a:rPr sz="1200" dirty="0">
                <a:latin typeface="Courier New"/>
                <a:cs typeface="Courier New"/>
              </a:rPr>
              <a:t>Query</a:t>
            </a:r>
            <a:r>
              <a:rPr sz="1200" spc="-15" dirty="0">
                <a:latin typeface="Courier New"/>
                <a:cs typeface="Courier New"/>
              </a:rPr>
              <a:t> </a:t>
            </a:r>
            <a:r>
              <a:rPr sz="1200" dirty="0">
                <a:latin typeface="Courier New"/>
                <a:cs typeface="Courier New"/>
              </a:rPr>
              <a:t>OK,</a:t>
            </a:r>
            <a:r>
              <a:rPr sz="1200" spc="-11" dirty="0">
                <a:latin typeface="Courier New"/>
                <a:cs typeface="Courier New"/>
              </a:rPr>
              <a:t> </a:t>
            </a:r>
            <a:r>
              <a:rPr sz="1200" dirty="0">
                <a:latin typeface="Courier New"/>
                <a:cs typeface="Courier New"/>
              </a:rPr>
              <a:t>1</a:t>
            </a:r>
            <a:r>
              <a:rPr sz="1200" spc="-11" dirty="0">
                <a:latin typeface="Courier New"/>
                <a:cs typeface="Courier New"/>
              </a:rPr>
              <a:t> </a:t>
            </a:r>
            <a:r>
              <a:rPr sz="1200" dirty="0">
                <a:latin typeface="Courier New"/>
                <a:cs typeface="Courier New"/>
              </a:rPr>
              <a:t>row</a:t>
            </a:r>
            <a:r>
              <a:rPr sz="1200" spc="-11" dirty="0">
                <a:latin typeface="Courier New"/>
                <a:cs typeface="Courier New"/>
              </a:rPr>
              <a:t> </a:t>
            </a:r>
            <a:r>
              <a:rPr sz="1200" dirty="0">
                <a:latin typeface="Courier New"/>
                <a:cs typeface="Courier New"/>
              </a:rPr>
              <a:t>affected</a:t>
            </a:r>
            <a:r>
              <a:rPr sz="1200" spc="-11" dirty="0">
                <a:latin typeface="Courier New"/>
                <a:cs typeface="Courier New"/>
              </a:rPr>
              <a:t> </a:t>
            </a:r>
            <a:r>
              <a:rPr sz="1200" dirty="0">
                <a:latin typeface="Courier New"/>
                <a:cs typeface="Courier New"/>
              </a:rPr>
              <a:t>(0.00</a:t>
            </a:r>
            <a:r>
              <a:rPr sz="1200" spc="-11" dirty="0">
                <a:latin typeface="Courier New"/>
                <a:cs typeface="Courier New"/>
              </a:rPr>
              <a:t> </a:t>
            </a:r>
            <a:r>
              <a:rPr sz="1200" spc="-15" dirty="0">
                <a:latin typeface="Courier New"/>
                <a:cs typeface="Courier New"/>
              </a:rPr>
              <a:t>sec)</a:t>
            </a:r>
            <a:endParaRPr sz="1200">
              <a:latin typeface="Courier New"/>
              <a:cs typeface="Courier New"/>
            </a:endParaRPr>
          </a:p>
          <a:p>
            <a:pPr>
              <a:spcBef>
                <a:spcPts val="45"/>
              </a:spcBef>
            </a:pPr>
            <a:endParaRPr sz="1200">
              <a:latin typeface="Courier New"/>
              <a:cs typeface="Courier New"/>
            </a:endParaRPr>
          </a:p>
          <a:p>
            <a:pPr marL="9525">
              <a:lnSpc>
                <a:spcPts val="1433"/>
              </a:lnSpc>
            </a:pPr>
            <a:r>
              <a:rPr sz="1200" dirty="0">
                <a:latin typeface="Courier New"/>
                <a:cs typeface="Courier New"/>
              </a:rPr>
              <a:t>mysql&gt;</a:t>
            </a:r>
            <a:r>
              <a:rPr sz="1200" spc="-23" dirty="0">
                <a:latin typeface="Courier New"/>
                <a:cs typeface="Courier New"/>
              </a:rPr>
              <a:t> </a:t>
            </a:r>
            <a:r>
              <a:rPr sz="1200" dirty="0">
                <a:latin typeface="Courier New"/>
                <a:cs typeface="Courier New"/>
              </a:rPr>
              <a:t>select</a:t>
            </a:r>
            <a:r>
              <a:rPr sz="1200" spc="-11" dirty="0">
                <a:latin typeface="Courier New"/>
                <a:cs typeface="Courier New"/>
              </a:rPr>
              <a:t> </a:t>
            </a:r>
            <a:r>
              <a:rPr sz="1200" dirty="0">
                <a:latin typeface="Courier New"/>
                <a:cs typeface="Courier New"/>
              </a:rPr>
              <a:t>*</a:t>
            </a:r>
            <a:r>
              <a:rPr sz="1200" spc="-11" dirty="0">
                <a:latin typeface="Courier New"/>
                <a:cs typeface="Courier New"/>
              </a:rPr>
              <a:t> </a:t>
            </a:r>
            <a:r>
              <a:rPr sz="1200" dirty="0">
                <a:latin typeface="Courier New"/>
                <a:cs typeface="Courier New"/>
              </a:rPr>
              <a:t>from</a:t>
            </a:r>
            <a:r>
              <a:rPr sz="1200" spc="-11" dirty="0">
                <a:latin typeface="Courier New"/>
                <a:cs typeface="Courier New"/>
              </a:rPr>
              <a:t> </a:t>
            </a:r>
            <a:r>
              <a:rPr sz="1200" spc="-8" dirty="0">
                <a:latin typeface="Courier New"/>
                <a:cs typeface="Courier New"/>
              </a:rPr>
              <a:t>deptsal;</a:t>
            </a:r>
            <a:endParaRPr sz="1200">
              <a:latin typeface="Courier New"/>
              <a:cs typeface="Courier New"/>
            </a:endParaRPr>
          </a:p>
          <a:p>
            <a:pPr marL="9525">
              <a:lnSpc>
                <a:spcPts val="1421"/>
              </a:lnSpc>
              <a:tabLst>
                <a:tab pos="925830" algn="l"/>
                <a:tab pos="2209324" algn="l"/>
              </a:tabLst>
            </a:pPr>
            <a:r>
              <a:rPr sz="1200" spc="-38" dirty="0">
                <a:latin typeface="Courier New"/>
                <a:cs typeface="Courier New"/>
              </a:rPr>
              <a:t>+</a:t>
            </a:r>
            <a:r>
              <a:rPr sz="1200" dirty="0">
                <a:latin typeface="Courier New"/>
                <a:cs typeface="Courier New"/>
              </a:rPr>
              <a:t>	</a:t>
            </a:r>
            <a:r>
              <a:rPr sz="1200" spc="-38" dirty="0">
                <a:latin typeface="Courier New"/>
                <a:cs typeface="Courier New"/>
              </a:rPr>
              <a:t>+</a:t>
            </a:r>
            <a:r>
              <a:rPr sz="1200" dirty="0">
                <a:latin typeface="Courier New"/>
                <a:cs typeface="Courier New"/>
              </a:rPr>
              <a:t>	</a:t>
            </a:r>
            <a:r>
              <a:rPr sz="1200" spc="-38" dirty="0">
                <a:latin typeface="Courier New"/>
                <a:cs typeface="Courier New"/>
              </a:rPr>
              <a:t>+</a:t>
            </a:r>
            <a:endParaRPr sz="1200">
              <a:latin typeface="Courier New"/>
              <a:cs typeface="Courier New"/>
            </a:endParaRPr>
          </a:p>
          <a:p>
            <a:pPr marL="9525">
              <a:lnSpc>
                <a:spcPts val="1433"/>
              </a:lnSpc>
            </a:pPr>
            <a:r>
              <a:rPr sz="1200" dirty="0">
                <a:latin typeface="Courier New"/>
                <a:cs typeface="Courier New"/>
              </a:rPr>
              <a:t>|</a:t>
            </a:r>
            <a:r>
              <a:rPr sz="1200" spc="-15" dirty="0">
                <a:latin typeface="Courier New"/>
                <a:cs typeface="Courier New"/>
              </a:rPr>
              <a:t> </a:t>
            </a:r>
            <a:r>
              <a:rPr sz="1200" dirty="0">
                <a:latin typeface="Courier New"/>
                <a:cs typeface="Courier New"/>
              </a:rPr>
              <a:t>dnumber</a:t>
            </a:r>
            <a:r>
              <a:rPr sz="1200" spc="-15" dirty="0">
                <a:latin typeface="Courier New"/>
                <a:cs typeface="Courier New"/>
              </a:rPr>
              <a:t> </a:t>
            </a:r>
            <a:r>
              <a:rPr sz="1200" dirty="0">
                <a:latin typeface="Courier New"/>
                <a:cs typeface="Courier New"/>
              </a:rPr>
              <a:t>|</a:t>
            </a:r>
            <a:r>
              <a:rPr sz="1200" spc="-15" dirty="0">
                <a:latin typeface="Courier New"/>
                <a:cs typeface="Courier New"/>
              </a:rPr>
              <a:t> </a:t>
            </a:r>
            <a:r>
              <a:rPr sz="1200" dirty="0">
                <a:latin typeface="Courier New"/>
                <a:cs typeface="Courier New"/>
              </a:rPr>
              <a:t>totalsalary</a:t>
            </a:r>
            <a:r>
              <a:rPr sz="1200" spc="-15" dirty="0">
                <a:latin typeface="Courier New"/>
                <a:cs typeface="Courier New"/>
              </a:rPr>
              <a:t> </a:t>
            </a:r>
            <a:r>
              <a:rPr sz="1200" spc="-38" dirty="0">
                <a:latin typeface="Courier New"/>
                <a:cs typeface="Courier New"/>
              </a:rPr>
              <a:t>|</a:t>
            </a:r>
            <a:endParaRPr sz="1200">
              <a:latin typeface="Courier New"/>
              <a:cs typeface="Courier New"/>
            </a:endParaRPr>
          </a:p>
          <a:p>
            <a:pPr marL="9525">
              <a:spcBef>
                <a:spcPts val="71"/>
              </a:spcBef>
              <a:tabLst>
                <a:tab pos="925830" algn="l"/>
                <a:tab pos="2209324" algn="l"/>
              </a:tabLst>
            </a:pPr>
            <a:r>
              <a:rPr sz="1200" spc="-38" dirty="0">
                <a:latin typeface="Courier New"/>
                <a:cs typeface="Courier New"/>
              </a:rPr>
              <a:t>+</a:t>
            </a:r>
            <a:r>
              <a:rPr sz="1200" dirty="0">
                <a:latin typeface="Courier New"/>
                <a:cs typeface="Courier New"/>
              </a:rPr>
              <a:t>	</a:t>
            </a:r>
            <a:r>
              <a:rPr sz="1200" spc="-38" dirty="0">
                <a:latin typeface="Courier New"/>
                <a:cs typeface="Courier New"/>
              </a:rPr>
              <a:t>+</a:t>
            </a:r>
            <a:r>
              <a:rPr sz="1200" dirty="0">
                <a:latin typeface="Courier New"/>
                <a:cs typeface="Courier New"/>
              </a:rPr>
              <a:t>	</a:t>
            </a:r>
            <a:r>
              <a:rPr sz="1200" spc="-38" dirty="0">
                <a:latin typeface="Courier New"/>
                <a:cs typeface="Courier New"/>
              </a:rPr>
              <a:t>+</a:t>
            </a:r>
            <a:endParaRPr sz="1200">
              <a:latin typeface="Courier New"/>
              <a:cs typeface="Courier New"/>
            </a:endParaRPr>
          </a:p>
        </p:txBody>
      </p:sp>
      <p:sp>
        <p:nvSpPr>
          <p:cNvPr id="20" name="object 20"/>
          <p:cNvSpPr txBox="1"/>
          <p:nvPr/>
        </p:nvSpPr>
        <p:spPr>
          <a:xfrm>
            <a:off x="1421130" y="4988433"/>
            <a:ext cx="1577816" cy="194284"/>
          </a:xfrm>
          <a:prstGeom prst="rect">
            <a:avLst/>
          </a:prstGeom>
        </p:spPr>
        <p:txBody>
          <a:bodyPr vert="horz" wrap="square" lIns="0" tIns="9525" rIns="0" bIns="0" rtlCol="0">
            <a:spAutoFit/>
          </a:bodyPr>
          <a:lstStyle/>
          <a:p>
            <a:pPr marL="9525">
              <a:spcBef>
                <a:spcPts val="75"/>
              </a:spcBef>
              <a:tabLst>
                <a:tab pos="834390" algn="l"/>
              </a:tabLst>
            </a:pPr>
            <a:r>
              <a:rPr sz="1200" dirty="0">
                <a:latin typeface="Courier New"/>
                <a:cs typeface="Courier New"/>
              </a:rPr>
              <a:t>5 </a:t>
            </a:r>
            <a:r>
              <a:rPr sz="1200" spc="-38" dirty="0">
                <a:latin typeface="Courier New"/>
                <a:cs typeface="Courier New"/>
              </a:rPr>
              <a:t>|</a:t>
            </a:r>
            <a:r>
              <a:rPr sz="1200" dirty="0">
                <a:latin typeface="Courier New"/>
                <a:cs typeface="Courier New"/>
              </a:rPr>
              <a:t>	133000</a:t>
            </a:r>
            <a:r>
              <a:rPr sz="1200" spc="-19" dirty="0">
                <a:latin typeface="Courier New"/>
                <a:cs typeface="Courier New"/>
              </a:rPr>
              <a:t> </a:t>
            </a:r>
            <a:r>
              <a:rPr sz="1200" spc="-38" dirty="0">
                <a:latin typeface="Courier New"/>
                <a:cs typeface="Courier New"/>
              </a:rPr>
              <a:t>|</a:t>
            </a:r>
            <a:endParaRPr sz="1200">
              <a:latin typeface="Courier New"/>
              <a:cs typeface="Courier New"/>
            </a:endParaRPr>
          </a:p>
        </p:txBody>
      </p:sp>
      <p:sp>
        <p:nvSpPr>
          <p:cNvPr id="21" name="object 21"/>
          <p:cNvSpPr txBox="1"/>
          <p:nvPr/>
        </p:nvSpPr>
        <p:spPr>
          <a:xfrm>
            <a:off x="1221827" y="5161236"/>
            <a:ext cx="1807369" cy="201978"/>
          </a:xfrm>
          <a:prstGeom prst="rect">
            <a:avLst/>
          </a:prstGeom>
          <a:ln w="38100">
            <a:solidFill>
              <a:srgbClr val="FF0000"/>
            </a:solidFill>
          </a:ln>
        </p:spPr>
        <p:txBody>
          <a:bodyPr vert="horz" wrap="square" lIns="0" tIns="17145" rIns="0" bIns="0" rtlCol="0">
            <a:spAutoFit/>
          </a:bodyPr>
          <a:lstStyle/>
          <a:p>
            <a:pPr marL="208598">
              <a:spcBef>
                <a:spcPts val="135"/>
              </a:spcBef>
              <a:tabLst>
                <a:tab pos="1125379" algn="l"/>
              </a:tabLst>
            </a:pPr>
            <a:r>
              <a:rPr sz="1200" dirty="0">
                <a:latin typeface="Courier New"/>
                <a:cs typeface="Courier New"/>
              </a:rPr>
              <a:t>4 </a:t>
            </a:r>
            <a:r>
              <a:rPr sz="1200" spc="-38" dirty="0">
                <a:latin typeface="Courier New"/>
                <a:cs typeface="Courier New"/>
              </a:rPr>
              <a:t>|</a:t>
            </a:r>
            <a:r>
              <a:rPr sz="1200" dirty="0">
                <a:latin typeface="Courier New"/>
                <a:cs typeface="Courier New"/>
              </a:rPr>
              <a:t>	93000</a:t>
            </a:r>
            <a:r>
              <a:rPr sz="1200" spc="-15" dirty="0">
                <a:latin typeface="Courier New"/>
                <a:cs typeface="Courier New"/>
              </a:rPr>
              <a:t> </a:t>
            </a:r>
            <a:r>
              <a:rPr sz="1200" spc="-38" dirty="0">
                <a:latin typeface="Courier New"/>
                <a:cs typeface="Courier New"/>
              </a:rPr>
              <a:t>|</a:t>
            </a:r>
            <a:endParaRPr sz="1200">
              <a:latin typeface="Courier New"/>
              <a:cs typeface="Courier New"/>
            </a:endParaRPr>
          </a:p>
        </p:txBody>
      </p:sp>
      <p:sp>
        <p:nvSpPr>
          <p:cNvPr id="22" name="object 22"/>
          <p:cNvSpPr txBox="1"/>
          <p:nvPr/>
        </p:nvSpPr>
        <p:spPr>
          <a:xfrm>
            <a:off x="1421130" y="5349621"/>
            <a:ext cx="1577816" cy="194284"/>
          </a:xfrm>
          <a:prstGeom prst="rect">
            <a:avLst/>
          </a:prstGeom>
        </p:spPr>
        <p:txBody>
          <a:bodyPr vert="horz" wrap="square" lIns="0" tIns="9525" rIns="0" bIns="0" rtlCol="0">
            <a:spAutoFit/>
          </a:bodyPr>
          <a:lstStyle/>
          <a:p>
            <a:pPr marL="9525">
              <a:spcBef>
                <a:spcPts val="75"/>
              </a:spcBef>
              <a:tabLst>
                <a:tab pos="925830" algn="l"/>
              </a:tabLst>
            </a:pPr>
            <a:r>
              <a:rPr sz="1200" dirty="0">
                <a:latin typeface="Courier New"/>
                <a:cs typeface="Courier New"/>
              </a:rPr>
              <a:t>1 </a:t>
            </a:r>
            <a:r>
              <a:rPr sz="1200" spc="-38" dirty="0">
                <a:latin typeface="Courier New"/>
                <a:cs typeface="Courier New"/>
              </a:rPr>
              <a:t>|</a:t>
            </a:r>
            <a:r>
              <a:rPr sz="1200" dirty="0">
                <a:latin typeface="Courier New"/>
                <a:cs typeface="Courier New"/>
              </a:rPr>
              <a:t>	55000</a:t>
            </a:r>
            <a:r>
              <a:rPr sz="1200" spc="-15" dirty="0">
                <a:latin typeface="Courier New"/>
                <a:cs typeface="Courier New"/>
              </a:rPr>
              <a:t> </a:t>
            </a:r>
            <a:r>
              <a:rPr sz="1200" spc="-38" dirty="0">
                <a:latin typeface="Courier New"/>
                <a:cs typeface="Courier New"/>
              </a:rPr>
              <a:t>|</a:t>
            </a:r>
            <a:endParaRPr sz="1200">
              <a:latin typeface="Courier New"/>
              <a:cs typeface="Courier New"/>
            </a:endParaRPr>
          </a:p>
        </p:txBody>
      </p:sp>
      <p:sp>
        <p:nvSpPr>
          <p:cNvPr id="23" name="object 23"/>
          <p:cNvSpPr txBox="1"/>
          <p:nvPr/>
        </p:nvSpPr>
        <p:spPr>
          <a:xfrm>
            <a:off x="687705" y="4988433"/>
            <a:ext cx="110966" cy="729046"/>
          </a:xfrm>
          <a:prstGeom prst="rect">
            <a:avLst/>
          </a:prstGeom>
        </p:spPr>
        <p:txBody>
          <a:bodyPr vert="horz" wrap="square" lIns="0" tIns="9525" rIns="0" bIns="0" rtlCol="0">
            <a:spAutoFit/>
          </a:bodyPr>
          <a:lstStyle/>
          <a:p>
            <a:pPr marL="9525">
              <a:lnSpc>
                <a:spcPts val="1433"/>
              </a:lnSpc>
              <a:spcBef>
                <a:spcPts val="75"/>
              </a:spcBef>
            </a:pPr>
            <a:r>
              <a:rPr sz="1200" spc="-38" dirty="0">
                <a:latin typeface="Courier New"/>
                <a:cs typeface="Courier New"/>
              </a:rPr>
              <a:t>|</a:t>
            </a:r>
            <a:endParaRPr sz="1200">
              <a:latin typeface="Courier New"/>
              <a:cs typeface="Courier New"/>
            </a:endParaRPr>
          </a:p>
          <a:p>
            <a:pPr marL="9525">
              <a:lnSpc>
                <a:spcPts val="1421"/>
              </a:lnSpc>
            </a:pPr>
            <a:r>
              <a:rPr sz="1200" spc="-38" dirty="0">
                <a:latin typeface="Courier New"/>
                <a:cs typeface="Courier New"/>
              </a:rPr>
              <a:t>|</a:t>
            </a:r>
            <a:endParaRPr sz="1200">
              <a:latin typeface="Courier New"/>
              <a:cs typeface="Courier New"/>
            </a:endParaRPr>
          </a:p>
          <a:p>
            <a:pPr marL="9525">
              <a:lnSpc>
                <a:spcPts val="1421"/>
              </a:lnSpc>
            </a:pPr>
            <a:r>
              <a:rPr sz="1200" spc="-38" dirty="0">
                <a:latin typeface="Courier New"/>
                <a:cs typeface="Courier New"/>
              </a:rPr>
              <a:t>|</a:t>
            </a:r>
            <a:endParaRPr sz="1200">
              <a:latin typeface="Courier New"/>
              <a:cs typeface="Courier New"/>
            </a:endParaRPr>
          </a:p>
          <a:p>
            <a:pPr marL="9525">
              <a:lnSpc>
                <a:spcPts val="1433"/>
              </a:lnSpc>
            </a:pPr>
            <a:r>
              <a:rPr sz="1200" spc="-38" dirty="0">
                <a:latin typeface="Courier New"/>
                <a:cs typeface="Courier New"/>
              </a:rPr>
              <a:t>+</a:t>
            </a:r>
            <a:endParaRPr sz="1200">
              <a:latin typeface="Courier New"/>
              <a:cs typeface="Courier New"/>
            </a:endParaRPr>
          </a:p>
        </p:txBody>
      </p:sp>
      <p:sp>
        <p:nvSpPr>
          <p:cNvPr id="24" name="object 24"/>
          <p:cNvSpPr/>
          <p:nvPr/>
        </p:nvSpPr>
        <p:spPr>
          <a:xfrm>
            <a:off x="788908" y="5644515"/>
            <a:ext cx="825341" cy="0"/>
          </a:xfrm>
          <a:custGeom>
            <a:avLst/>
            <a:gdLst/>
            <a:ahLst/>
            <a:cxnLst/>
            <a:rect l="l" t="t" r="r" b="b"/>
            <a:pathLst>
              <a:path w="1100455">
                <a:moveTo>
                  <a:pt x="0" y="0"/>
                </a:moveTo>
                <a:lnTo>
                  <a:pt x="1100206" y="0"/>
                </a:lnTo>
              </a:path>
            </a:pathLst>
          </a:custGeom>
          <a:ln w="16865">
            <a:solidFill>
              <a:srgbClr val="000000"/>
            </a:solidFill>
            <a:prstDash val="dash"/>
          </a:ln>
        </p:spPr>
        <p:txBody>
          <a:bodyPr wrap="square" lIns="0" tIns="0" rIns="0" bIns="0" rtlCol="0"/>
          <a:lstStyle/>
          <a:p>
            <a:endParaRPr sz="1800"/>
          </a:p>
        </p:txBody>
      </p:sp>
      <p:sp>
        <p:nvSpPr>
          <p:cNvPr id="25" name="object 25"/>
          <p:cNvSpPr/>
          <p:nvPr/>
        </p:nvSpPr>
        <p:spPr>
          <a:xfrm>
            <a:off x="1705689" y="5644515"/>
            <a:ext cx="1192054" cy="0"/>
          </a:xfrm>
          <a:custGeom>
            <a:avLst/>
            <a:gdLst/>
            <a:ahLst/>
            <a:cxnLst/>
            <a:rect l="l" t="t" r="r" b="b"/>
            <a:pathLst>
              <a:path w="1589404">
                <a:moveTo>
                  <a:pt x="0" y="0"/>
                </a:moveTo>
                <a:lnTo>
                  <a:pt x="1589186" y="0"/>
                </a:lnTo>
              </a:path>
            </a:pathLst>
          </a:custGeom>
          <a:ln w="16865">
            <a:solidFill>
              <a:srgbClr val="000000"/>
            </a:solidFill>
            <a:prstDash val="dash"/>
          </a:ln>
        </p:spPr>
        <p:txBody>
          <a:bodyPr wrap="square" lIns="0" tIns="0" rIns="0" bIns="0" rtlCol="0"/>
          <a:lstStyle/>
          <a:p>
            <a:endParaRPr sz="1800"/>
          </a:p>
        </p:txBody>
      </p:sp>
      <p:sp>
        <p:nvSpPr>
          <p:cNvPr id="26" name="object 26"/>
          <p:cNvSpPr txBox="1"/>
          <p:nvPr/>
        </p:nvSpPr>
        <p:spPr>
          <a:xfrm>
            <a:off x="1604486" y="5530215"/>
            <a:ext cx="1394460" cy="194284"/>
          </a:xfrm>
          <a:prstGeom prst="rect">
            <a:avLst/>
          </a:prstGeom>
        </p:spPr>
        <p:txBody>
          <a:bodyPr vert="horz" wrap="square" lIns="0" tIns="9525" rIns="0" bIns="0" rtlCol="0">
            <a:spAutoFit/>
          </a:bodyPr>
          <a:lstStyle/>
          <a:p>
            <a:pPr marL="9525">
              <a:spcBef>
                <a:spcPts val="75"/>
              </a:spcBef>
              <a:tabLst>
                <a:tab pos="1292542" algn="l"/>
              </a:tabLst>
            </a:pPr>
            <a:r>
              <a:rPr sz="1200" spc="-38" dirty="0">
                <a:latin typeface="Courier New"/>
                <a:cs typeface="Courier New"/>
              </a:rPr>
              <a:t>+</a:t>
            </a:r>
            <a:r>
              <a:rPr sz="1200" dirty="0">
                <a:latin typeface="Courier New"/>
                <a:cs typeface="Courier New"/>
              </a:rPr>
              <a:t>	</a:t>
            </a:r>
            <a:r>
              <a:rPr sz="1200" spc="-38" dirty="0">
                <a:latin typeface="Courier New"/>
                <a:cs typeface="Courier New"/>
              </a:rPr>
              <a:t>+</a:t>
            </a:r>
            <a:endParaRPr sz="1200">
              <a:latin typeface="Courier New"/>
              <a:cs typeface="Courier New"/>
            </a:endParaRPr>
          </a:p>
        </p:txBody>
      </p:sp>
      <p:sp>
        <p:nvSpPr>
          <p:cNvPr id="27" name="object 27"/>
          <p:cNvSpPr txBox="1"/>
          <p:nvPr/>
        </p:nvSpPr>
        <p:spPr>
          <a:xfrm>
            <a:off x="687705" y="5722239"/>
            <a:ext cx="2219801" cy="194284"/>
          </a:xfrm>
          <a:prstGeom prst="rect">
            <a:avLst/>
          </a:prstGeom>
        </p:spPr>
        <p:txBody>
          <a:bodyPr vert="horz" wrap="square" lIns="0" tIns="9525" rIns="0" bIns="0" rtlCol="0">
            <a:spAutoFit/>
          </a:bodyPr>
          <a:lstStyle/>
          <a:p>
            <a:pPr marL="9525">
              <a:spcBef>
                <a:spcPts val="75"/>
              </a:spcBef>
            </a:pPr>
            <a:r>
              <a:rPr sz="1200" dirty="0">
                <a:latin typeface="Courier New"/>
                <a:cs typeface="Courier New"/>
              </a:rPr>
              <a:t>3</a:t>
            </a:r>
            <a:r>
              <a:rPr sz="1200" spc="-8" dirty="0">
                <a:latin typeface="Courier New"/>
                <a:cs typeface="Courier New"/>
              </a:rPr>
              <a:t> </a:t>
            </a:r>
            <a:r>
              <a:rPr sz="1200" dirty="0">
                <a:latin typeface="Courier New"/>
                <a:cs typeface="Courier New"/>
              </a:rPr>
              <a:t>rows</a:t>
            </a:r>
            <a:r>
              <a:rPr sz="1200" spc="-8" dirty="0">
                <a:latin typeface="Courier New"/>
                <a:cs typeface="Courier New"/>
              </a:rPr>
              <a:t> </a:t>
            </a:r>
            <a:r>
              <a:rPr sz="1200" dirty="0">
                <a:latin typeface="Courier New"/>
                <a:cs typeface="Courier New"/>
              </a:rPr>
              <a:t>in</a:t>
            </a:r>
            <a:r>
              <a:rPr sz="1200" spc="-8" dirty="0">
                <a:latin typeface="Courier New"/>
                <a:cs typeface="Courier New"/>
              </a:rPr>
              <a:t> </a:t>
            </a:r>
            <a:r>
              <a:rPr sz="1200" dirty="0">
                <a:latin typeface="Courier New"/>
                <a:cs typeface="Courier New"/>
              </a:rPr>
              <a:t>set</a:t>
            </a:r>
            <a:r>
              <a:rPr sz="1200" spc="-8" dirty="0">
                <a:latin typeface="Courier New"/>
                <a:cs typeface="Courier New"/>
              </a:rPr>
              <a:t> </a:t>
            </a:r>
            <a:r>
              <a:rPr sz="1200" dirty="0">
                <a:latin typeface="Courier New"/>
                <a:cs typeface="Courier New"/>
              </a:rPr>
              <a:t>(0.00</a:t>
            </a:r>
            <a:r>
              <a:rPr sz="1200" spc="-8" dirty="0">
                <a:latin typeface="Courier New"/>
                <a:cs typeface="Courier New"/>
              </a:rPr>
              <a:t> </a:t>
            </a:r>
            <a:r>
              <a:rPr sz="1200" spc="-15" dirty="0">
                <a:latin typeface="Courier New"/>
                <a:cs typeface="Courier New"/>
              </a:rPr>
              <a:t>sec)</a:t>
            </a:r>
            <a:endParaRPr sz="1200">
              <a:latin typeface="Courier New"/>
              <a:cs typeface="Courier New"/>
            </a:endParaRPr>
          </a:p>
        </p:txBody>
      </p:sp>
      <p:sp>
        <p:nvSpPr>
          <p:cNvPr id="28" name="object 28"/>
          <p:cNvSpPr txBox="1"/>
          <p:nvPr/>
        </p:nvSpPr>
        <p:spPr>
          <a:xfrm>
            <a:off x="7342724" y="1147191"/>
            <a:ext cx="461010" cy="217367"/>
          </a:xfrm>
          <a:prstGeom prst="rect">
            <a:avLst/>
          </a:prstGeom>
        </p:spPr>
        <p:txBody>
          <a:bodyPr vert="horz" wrap="square" lIns="0" tIns="9525" rIns="0" bIns="0" rtlCol="0">
            <a:spAutoFit/>
          </a:bodyPr>
          <a:lstStyle/>
          <a:p>
            <a:pPr marL="9525">
              <a:spcBef>
                <a:spcPts val="75"/>
              </a:spcBef>
            </a:pPr>
            <a:r>
              <a:rPr sz="1350" spc="-8" dirty="0">
                <a:latin typeface="Calibri"/>
                <a:cs typeface="Calibri"/>
              </a:rPr>
              <a:t>Q8.sql</a:t>
            </a:r>
            <a:endParaRPr sz="1350">
              <a:latin typeface="Calibri"/>
              <a:cs typeface="Calibri"/>
            </a:endParaRPr>
          </a:p>
        </p:txBody>
      </p:sp>
    </p:spTree>
    <p:extLst>
      <p:ext uri="{BB962C8B-B14F-4D97-AF65-F5344CB8AC3E}">
        <p14:creationId xmlns:p14="http://schemas.microsoft.com/office/powerpoint/2010/main" val="765885334"/>
      </p:ext>
    </p:extLst>
  </p:cSld>
  <p:clrMapOvr>
    <a:masterClrMapping/>
  </p:clrMapOvr>
  <p:transition spd="me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4254246" y="6428920"/>
            <a:ext cx="3683634"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9525">
              <a:spcBef>
                <a:spcPts val="30"/>
              </a:spcBef>
            </a:pPr>
            <a:r>
              <a:rPr lang="en-US" spc="-10"/>
              <a:t>Copyright</a:t>
            </a:r>
            <a:r>
              <a:rPr lang="en-US" spc="-15"/>
              <a:t> </a:t>
            </a:r>
            <a:r>
              <a:rPr lang="en-US"/>
              <a:t>©</a:t>
            </a:r>
            <a:r>
              <a:rPr lang="en-US" spc="-10"/>
              <a:t> </a:t>
            </a:r>
            <a:r>
              <a:rPr lang="en-US"/>
              <a:t>2016</a:t>
            </a:r>
            <a:r>
              <a:rPr lang="en-US" spc="-10"/>
              <a:t> </a:t>
            </a:r>
            <a:r>
              <a:rPr lang="en-US"/>
              <a:t>Ramez</a:t>
            </a:r>
            <a:r>
              <a:rPr lang="en-US" spc="-5"/>
              <a:t> </a:t>
            </a:r>
            <a:r>
              <a:rPr lang="en-US"/>
              <a:t>Elmasri</a:t>
            </a:r>
            <a:r>
              <a:rPr lang="en-US" spc="-15"/>
              <a:t> </a:t>
            </a:r>
            <a:r>
              <a:rPr lang="en-US"/>
              <a:t>and</a:t>
            </a:r>
            <a:r>
              <a:rPr lang="en-US" spc="-15"/>
              <a:t> </a:t>
            </a:r>
            <a:r>
              <a:rPr lang="en-US" spc="-10"/>
              <a:t>Shamkant</a:t>
            </a:r>
            <a:r>
              <a:rPr lang="en-US" spc="-15"/>
              <a:t> </a:t>
            </a:r>
            <a:r>
              <a:rPr lang="en-US"/>
              <a:t>B.</a:t>
            </a:r>
            <a:r>
              <a:rPr lang="en-US" spc="-10"/>
              <a:t> Navathe</a:t>
            </a:r>
            <a:endParaRPr spc="-8" dirty="0"/>
          </a:p>
        </p:txBody>
      </p:sp>
      <p:sp>
        <p:nvSpPr>
          <p:cNvPr id="5" name="object 5"/>
          <p:cNvSpPr txBox="1">
            <a:spLocks noGrp="1"/>
          </p:cNvSpPr>
          <p:nvPr>
            <p:ph type="sldNum" sz="quarter" idx="7"/>
          </p:nvPr>
        </p:nvSpPr>
        <p:spPr>
          <a:xfrm>
            <a:off x="11067415" y="6428920"/>
            <a:ext cx="2444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15570">
              <a:spcBef>
                <a:spcPts val="40"/>
              </a:spcBef>
            </a:pPr>
            <a:fld id="{81D60167-4931-47E6-BA6A-407CBD079E47}" type="slidenum">
              <a:rPr lang="en-US" spc="-50" smtClean="0"/>
              <a:pPr marL="115570">
                <a:spcBef>
                  <a:spcPts val="40"/>
                </a:spcBef>
              </a:pPr>
              <a:t>97</a:t>
            </a:fld>
            <a:endParaRPr spc="-19" dirty="0"/>
          </a:p>
        </p:txBody>
      </p:sp>
      <p:sp>
        <p:nvSpPr>
          <p:cNvPr id="2" name="object 2"/>
          <p:cNvSpPr txBox="1">
            <a:spLocks noGrp="1"/>
          </p:cNvSpPr>
          <p:nvPr>
            <p:ph type="title"/>
          </p:nvPr>
        </p:nvSpPr>
        <p:spPr>
          <a:xfrm>
            <a:off x="2090720" y="525350"/>
            <a:ext cx="5847160"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dirty="0"/>
              <a:t>A</a:t>
            </a:r>
            <a:r>
              <a:rPr spc="-53" dirty="0"/>
              <a:t> </a:t>
            </a:r>
            <a:r>
              <a:rPr dirty="0"/>
              <a:t>Few</a:t>
            </a:r>
            <a:r>
              <a:rPr spc="-49" dirty="0"/>
              <a:t> </a:t>
            </a:r>
            <a:r>
              <a:rPr dirty="0"/>
              <a:t>Things</a:t>
            </a:r>
            <a:r>
              <a:rPr spc="-49" dirty="0"/>
              <a:t> </a:t>
            </a:r>
            <a:r>
              <a:rPr dirty="0"/>
              <a:t>to</a:t>
            </a:r>
            <a:r>
              <a:rPr spc="-45" dirty="0"/>
              <a:t> </a:t>
            </a:r>
            <a:r>
              <a:rPr spc="-15" dirty="0"/>
              <a:t>Note</a:t>
            </a:r>
          </a:p>
        </p:txBody>
      </p:sp>
      <p:sp>
        <p:nvSpPr>
          <p:cNvPr id="3" name="object 3"/>
          <p:cNvSpPr txBox="1"/>
          <p:nvPr/>
        </p:nvSpPr>
        <p:spPr>
          <a:xfrm>
            <a:off x="687704" y="2144650"/>
            <a:ext cx="7606665" cy="2736518"/>
          </a:xfrm>
          <a:prstGeom prst="rect">
            <a:avLst/>
          </a:prstGeom>
        </p:spPr>
        <p:txBody>
          <a:bodyPr vert="horz" wrap="square" lIns="0" tIns="68580" rIns="0" bIns="0" rtlCol="0">
            <a:spAutoFit/>
          </a:bodyPr>
          <a:lstStyle/>
          <a:p>
            <a:pPr marL="180499" indent="-170974">
              <a:spcBef>
                <a:spcPts val="540"/>
              </a:spcBef>
              <a:buFont typeface="Arial"/>
              <a:buChar char="•"/>
              <a:tabLst>
                <a:tab pos="180499" algn="l"/>
              </a:tabLst>
            </a:pPr>
            <a:r>
              <a:rPr sz="2100" dirty="0">
                <a:latin typeface="Calibri"/>
                <a:cs typeface="Calibri"/>
              </a:rPr>
              <a:t>A</a:t>
            </a:r>
            <a:r>
              <a:rPr sz="2100" spc="-30" dirty="0">
                <a:latin typeface="Calibri"/>
                <a:cs typeface="Calibri"/>
              </a:rPr>
              <a:t> </a:t>
            </a:r>
            <a:r>
              <a:rPr sz="2100" dirty="0">
                <a:latin typeface="Calibri"/>
                <a:cs typeface="Calibri"/>
              </a:rPr>
              <a:t>given</a:t>
            </a:r>
            <a:r>
              <a:rPr sz="2100" spc="-26" dirty="0">
                <a:latin typeface="Calibri"/>
                <a:cs typeface="Calibri"/>
              </a:rPr>
              <a:t> </a:t>
            </a:r>
            <a:r>
              <a:rPr sz="2100" dirty="0">
                <a:latin typeface="Calibri"/>
                <a:cs typeface="Calibri"/>
              </a:rPr>
              <a:t>trigger</a:t>
            </a:r>
            <a:r>
              <a:rPr sz="2100" spc="-30" dirty="0">
                <a:latin typeface="Calibri"/>
                <a:cs typeface="Calibri"/>
              </a:rPr>
              <a:t> </a:t>
            </a:r>
            <a:r>
              <a:rPr sz="2100" dirty="0">
                <a:latin typeface="Calibri"/>
                <a:cs typeface="Calibri"/>
              </a:rPr>
              <a:t>can</a:t>
            </a:r>
            <a:r>
              <a:rPr sz="2100" spc="-26" dirty="0">
                <a:latin typeface="Calibri"/>
                <a:cs typeface="Calibri"/>
              </a:rPr>
              <a:t> </a:t>
            </a:r>
            <a:r>
              <a:rPr sz="2100" dirty="0">
                <a:latin typeface="Calibri"/>
                <a:cs typeface="Calibri"/>
              </a:rPr>
              <a:t>only</a:t>
            </a:r>
            <a:r>
              <a:rPr sz="2100" spc="-34" dirty="0">
                <a:latin typeface="Calibri"/>
                <a:cs typeface="Calibri"/>
              </a:rPr>
              <a:t> </a:t>
            </a:r>
            <a:r>
              <a:rPr sz="2100" dirty="0">
                <a:latin typeface="Calibri"/>
                <a:cs typeface="Calibri"/>
              </a:rPr>
              <a:t>have</a:t>
            </a:r>
            <a:r>
              <a:rPr sz="2100" spc="-34" dirty="0">
                <a:latin typeface="Calibri"/>
                <a:cs typeface="Calibri"/>
              </a:rPr>
              <a:t> </a:t>
            </a:r>
            <a:r>
              <a:rPr sz="2100" dirty="0">
                <a:latin typeface="Calibri"/>
                <a:cs typeface="Calibri"/>
              </a:rPr>
              <a:t>one</a:t>
            </a:r>
            <a:r>
              <a:rPr sz="2100" spc="-34" dirty="0">
                <a:latin typeface="Calibri"/>
                <a:cs typeface="Calibri"/>
              </a:rPr>
              <a:t> </a:t>
            </a:r>
            <a:r>
              <a:rPr sz="2100" spc="-8" dirty="0">
                <a:latin typeface="Calibri"/>
                <a:cs typeface="Calibri"/>
              </a:rPr>
              <a:t>event.</a:t>
            </a:r>
            <a:endParaRPr sz="2100">
              <a:latin typeface="Calibri"/>
              <a:cs typeface="Calibri"/>
            </a:endParaRPr>
          </a:p>
          <a:p>
            <a:pPr marL="180975" marR="238125" indent="-171450">
              <a:lnSpc>
                <a:spcPct val="91100"/>
              </a:lnSpc>
              <a:spcBef>
                <a:spcPts val="694"/>
              </a:spcBef>
              <a:buFont typeface="Arial"/>
              <a:buChar char="•"/>
              <a:tabLst>
                <a:tab pos="180975" algn="l"/>
              </a:tabLst>
            </a:pPr>
            <a:r>
              <a:rPr sz="2100" dirty="0">
                <a:latin typeface="Calibri"/>
                <a:cs typeface="Calibri"/>
              </a:rPr>
              <a:t>If</a:t>
            </a:r>
            <a:r>
              <a:rPr sz="2100" spc="-34" dirty="0">
                <a:latin typeface="Calibri"/>
                <a:cs typeface="Calibri"/>
              </a:rPr>
              <a:t> </a:t>
            </a:r>
            <a:r>
              <a:rPr sz="2100" dirty="0">
                <a:latin typeface="Calibri"/>
                <a:cs typeface="Calibri"/>
              </a:rPr>
              <a:t>you</a:t>
            </a:r>
            <a:r>
              <a:rPr sz="2100" spc="-26" dirty="0">
                <a:latin typeface="Calibri"/>
                <a:cs typeface="Calibri"/>
              </a:rPr>
              <a:t> </a:t>
            </a:r>
            <a:r>
              <a:rPr sz="2100" dirty="0">
                <a:latin typeface="Calibri"/>
                <a:cs typeface="Calibri"/>
              </a:rPr>
              <a:t>have</a:t>
            </a:r>
            <a:r>
              <a:rPr sz="2100" spc="-34" dirty="0">
                <a:latin typeface="Calibri"/>
                <a:cs typeface="Calibri"/>
              </a:rPr>
              <a:t> </a:t>
            </a:r>
            <a:r>
              <a:rPr sz="2100" dirty="0">
                <a:latin typeface="Calibri"/>
                <a:cs typeface="Calibri"/>
              </a:rPr>
              <a:t>the</a:t>
            </a:r>
            <a:r>
              <a:rPr sz="2100" spc="-34" dirty="0">
                <a:latin typeface="Calibri"/>
                <a:cs typeface="Calibri"/>
              </a:rPr>
              <a:t> </a:t>
            </a:r>
            <a:r>
              <a:rPr sz="2100" dirty="0">
                <a:latin typeface="Calibri"/>
                <a:cs typeface="Calibri"/>
              </a:rPr>
              <a:t>same</a:t>
            </a:r>
            <a:r>
              <a:rPr sz="2100" spc="-38" dirty="0">
                <a:latin typeface="Calibri"/>
                <a:cs typeface="Calibri"/>
              </a:rPr>
              <a:t> </a:t>
            </a:r>
            <a:r>
              <a:rPr sz="2100" dirty="0">
                <a:latin typeface="Calibri"/>
                <a:cs typeface="Calibri"/>
              </a:rPr>
              <a:t>or</a:t>
            </a:r>
            <a:r>
              <a:rPr sz="2100" spc="-30" dirty="0">
                <a:latin typeface="Calibri"/>
                <a:cs typeface="Calibri"/>
              </a:rPr>
              <a:t> </a:t>
            </a:r>
            <a:r>
              <a:rPr sz="2100" dirty="0">
                <a:latin typeface="Calibri"/>
                <a:cs typeface="Calibri"/>
              </a:rPr>
              <a:t>similar</a:t>
            </a:r>
            <a:r>
              <a:rPr sz="2100" spc="-30" dirty="0">
                <a:latin typeface="Calibri"/>
                <a:cs typeface="Calibri"/>
              </a:rPr>
              <a:t> </a:t>
            </a:r>
            <a:r>
              <a:rPr sz="2100" dirty="0">
                <a:latin typeface="Calibri"/>
                <a:cs typeface="Calibri"/>
              </a:rPr>
              <a:t>processing</a:t>
            </a:r>
            <a:r>
              <a:rPr sz="2100" spc="-30" dirty="0">
                <a:latin typeface="Calibri"/>
                <a:cs typeface="Calibri"/>
              </a:rPr>
              <a:t> </a:t>
            </a:r>
            <a:r>
              <a:rPr sz="2100" dirty="0">
                <a:latin typeface="Calibri"/>
                <a:cs typeface="Calibri"/>
              </a:rPr>
              <a:t>that</a:t>
            </a:r>
            <a:r>
              <a:rPr sz="2100" spc="-38" dirty="0">
                <a:latin typeface="Calibri"/>
                <a:cs typeface="Calibri"/>
              </a:rPr>
              <a:t> </a:t>
            </a:r>
            <a:r>
              <a:rPr sz="2100" dirty="0">
                <a:latin typeface="Calibri"/>
                <a:cs typeface="Calibri"/>
              </a:rPr>
              <a:t>has</a:t>
            </a:r>
            <a:r>
              <a:rPr sz="2100" spc="-30" dirty="0">
                <a:latin typeface="Calibri"/>
                <a:cs typeface="Calibri"/>
              </a:rPr>
              <a:t> </a:t>
            </a:r>
            <a:r>
              <a:rPr sz="2100" dirty="0">
                <a:latin typeface="Calibri"/>
                <a:cs typeface="Calibri"/>
              </a:rPr>
              <a:t>to</a:t>
            </a:r>
            <a:r>
              <a:rPr sz="2100" spc="-30" dirty="0">
                <a:latin typeface="Calibri"/>
                <a:cs typeface="Calibri"/>
              </a:rPr>
              <a:t> </a:t>
            </a:r>
            <a:r>
              <a:rPr sz="2100" dirty="0">
                <a:latin typeface="Calibri"/>
                <a:cs typeface="Calibri"/>
              </a:rPr>
              <a:t>go</a:t>
            </a:r>
            <a:r>
              <a:rPr sz="2100" spc="-30" dirty="0">
                <a:latin typeface="Calibri"/>
                <a:cs typeface="Calibri"/>
              </a:rPr>
              <a:t> </a:t>
            </a:r>
            <a:r>
              <a:rPr sz="2100" dirty="0">
                <a:latin typeface="Calibri"/>
                <a:cs typeface="Calibri"/>
              </a:rPr>
              <a:t>on</a:t>
            </a:r>
            <a:r>
              <a:rPr sz="2100" spc="-26" dirty="0">
                <a:latin typeface="Calibri"/>
                <a:cs typeface="Calibri"/>
              </a:rPr>
              <a:t> </a:t>
            </a:r>
            <a:r>
              <a:rPr sz="2100" spc="-8" dirty="0">
                <a:latin typeface="Calibri"/>
                <a:cs typeface="Calibri"/>
              </a:rPr>
              <a:t>during </a:t>
            </a:r>
            <a:r>
              <a:rPr sz="2100" dirty="0">
                <a:latin typeface="Calibri"/>
                <a:cs typeface="Calibri"/>
              </a:rPr>
              <a:t>insert</a:t>
            </a:r>
            <a:r>
              <a:rPr sz="2100" spc="-41" dirty="0">
                <a:latin typeface="Calibri"/>
                <a:cs typeface="Calibri"/>
              </a:rPr>
              <a:t> </a:t>
            </a:r>
            <a:r>
              <a:rPr sz="2100" dirty="0">
                <a:latin typeface="Calibri"/>
                <a:cs typeface="Calibri"/>
              </a:rPr>
              <a:t>and</a:t>
            </a:r>
            <a:r>
              <a:rPr sz="2100" spc="-41" dirty="0">
                <a:latin typeface="Calibri"/>
                <a:cs typeface="Calibri"/>
              </a:rPr>
              <a:t> </a:t>
            </a:r>
            <a:r>
              <a:rPr sz="2100" dirty="0">
                <a:latin typeface="Calibri"/>
                <a:cs typeface="Calibri"/>
              </a:rPr>
              <a:t>delete,</a:t>
            </a:r>
            <a:r>
              <a:rPr sz="2100" spc="-38" dirty="0">
                <a:latin typeface="Calibri"/>
                <a:cs typeface="Calibri"/>
              </a:rPr>
              <a:t> </a:t>
            </a:r>
            <a:r>
              <a:rPr sz="2100" dirty="0">
                <a:latin typeface="Calibri"/>
                <a:cs typeface="Calibri"/>
              </a:rPr>
              <a:t>then</a:t>
            </a:r>
            <a:r>
              <a:rPr sz="2100" spc="-38" dirty="0">
                <a:latin typeface="Calibri"/>
                <a:cs typeface="Calibri"/>
              </a:rPr>
              <a:t> </a:t>
            </a:r>
            <a:r>
              <a:rPr sz="2100" dirty="0">
                <a:latin typeface="Calibri"/>
                <a:cs typeface="Calibri"/>
              </a:rPr>
              <a:t>it’s</a:t>
            </a:r>
            <a:r>
              <a:rPr sz="2100" spc="-38" dirty="0">
                <a:latin typeface="Calibri"/>
                <a:cs typeface="Calibri"/>
              </a:rPr>
              <a:t> </a:t>
            </a:r>
            <a:r>
              <a:rPr sz="2100" dirty="0">
                <a:latin typeface="Calibri"/>
                <a:cs typeface="Calibri"/>
              </a:rPr>
              <a:t>best</a:t>
            </a:r>
            <a:r>
              <a:rPr sz="2100" spc="-41" dirty="0">
                <a:latin typeface="Calibri"/>
                <a:cs typeface="Calibri"/>
              </a:rPr>
              <a:t> </a:t>
            </a:r>
            <a:r>
              <a:rPr sz="2100" dirty="0">
                <a:latin typeface="Calibri"/>
                <a:cs typeface="Calibri"/>
              </a:rPr>
              <a:t>to</a:t>
            </a:r>
            <a:r>
              <a:rPr sz="2100" spc="-41" dirty="0">
                <a:latin typeface="Calibri"/>
                <a:cs typeface="Calibri"/>
              </a:rPr>
              <a:t> </a:t>
            </a:r>
            <a:r>
              <a:rPr sz="2100" dirty="0">
                <a:latin typeface="Calibri"/>
                <a:cs typeface="Calibri"/>
              </a:rPr>
              <a:t>have</a:t>
            </a:r>
            <a:r>
              <a:rPr sz="2100" spc="-45" dirty="0">
                <a:latin typeface="Calibri"/>
                <a:cs typeface="Calibri"/>
              </a:rPr>
              <a:t> </a:t>
            </a:r>
            <a:r>
              <a:rPr sz="2100" dirty="0">
                <a:latin typeface="Calibri"/>
                <a:cs typeface="Calibri"/>
              </a:rPr>
              <a:t>that</a:t>
            </a:r>
            <a:r>
              <a:rPr sz="2100" spc="-41" dirty="0">
                <a:latin typeface="Calibri"/>
                <a:cs typeface="Calibri"/>
              </a:rPr>
              <a:t> </a:t>
            </a:r>
            <a:r>
              <a:rPr sz="2100" dirty="0">
                <a:latin typeface="Calibri"/>
                <a:cs typeface="Calibri"/>
              </a:rPr>
              <a:t>in</a:t>
            </a:r>
            <a:r>
              <a:rPr sz="2100" spc="-38" dirty="0">
                <a:latin typeface="Calibri"/>
                <a:cs typeface="Calibri"/>
              </a:rPr>
              <a:t> </a:t>
            </a:r>
            <a:r>
              <a:rPr sz="2100" dirty="0">
                <a:latin typeface="Calibri"/>
                <a:cs typeface="Calibri"/>
              </a:rPr>
              <a:t>a</a:t>
            </a:r>
            <a:r>
              <a:rPr sz="2100" spc="-41" dirty="0">
                <a:latin typeface="Calibri"/>
                <a:cs typeface="Calibri"/>
              </a:rPr>
              <a:t> </a:t>
            </a:r>
            <a:r>
              <a:rPr sz="2100" spc="-8" dirty="0">
                <a:latin typeface="Calibri"/>
                <a:cs typeface="Calibri"/>
              </a:rPr>
              <a:t>procedure</a:t>
            </a:r>
            <a:r>
              <a:rPr sz="2100" spc="-45" dirty="0">
                <a:latin typeface="Calibri"/>
                <a:cs typeface="Calibri"/>
              </a:rPr>
              <a:t> </a:t>
            </a:r>
            <a:r>
              <a:rPr sz="2100" spc="-19" dirty="0">
                <a:latin typeface="Calibri"/>
                <a:cs typeface="Calibri"/>
              </a:rPr>
              <a:t>or </a:t>
            </a:r>
            <a:r>
              <a:rPr sz="2100" dirty="0">
                <a:latin typeface="Calibri"/>
                <a:cs typeface="Calibri"/>
              </a:rPr>
              <a:t>function</a:t>
            </a:r>
            <a:r>
              <a:rPr sz="2100" spc="-30" dirty="0">
                <a:latin typeface="Calibri"/>
                <a:cs typeface="Calibri"/>
              </a:rPr>
              <a:t> </a:t>
            </a:r>
            <a:r>
              <a:rPr sz="2100" dirty="0">
                <a:latin typeface="Calibri"/>
                <a:cs typeface="Calibri"/>
              </a:rPr>
              <a:t>and</a:t>
            </a:r>
            <a:r>
              <a:rPr sz="2100" spc="-26" dirty="0">
                <a:latin typeface="Calibri"/>
                <a:cs typeface="Calibri"/>
              </a:rPr>
              <a:t> </a:t>
            </a:r>
            <a:r>
              <a:rPr sz="2100" dirty="0">
                <a:latin typeface="Calibri"/>
                <a:cs typeface="Calibri"/>
              </a:rPr>
              <a:t>then</a:t>
            </a:r>
            <a:r>
              <a:rPr sz="2100" spc="-26" dirty="0">
                <a:latin typeface="Calibri"/>
                <a:cs typeface="Calibri"/>
              </a:rPr>
              <a:t> </a:t>
            </a:r>
            <a:r>
              <a:rPr sz="2100" dirty="0">
                <a:latin typeface="Calibri"/>
                <a:cs typeface="Calibri"/>
              </a:rPr>
              <a:t>call</a:t>
            </a:r>
            <a:r>
              <a:rPr sz="2100" spc="-34" dirty="0">
                <a:latin typeface="Calibri"/>
                <a:cs typeface="Calibri"/>
              </a:rPr>
              <a:t> </a:t>
            </a:r>
            <a:r>
              <a:rPr sz="2100" dirty="0">
                <a:latin typeface="Calibri"/>
                <a:cs typeface="Calibri"/>
              </a:rPr>
              <a:t>it</a:t>
            </a:r>
            <a:r>
              <a:rPr sz="2100" spc="-30" dirty="0">
                <a:latin typeface="Calibri"/>
                <a:cs typeface="Calibri"/>
              </a:rPr>
              <a:t> </a:t>
            </a:r>
            <a:r>
              <a:rPr sz="2100" dirty="0">
                <a:latin typeface="Calibri"/>
                <a:cs typeface="Calibri"/>
              </a:rPr>
              <a:t>from</a:t>
            </a:r>
            <a:r>
              <a:rPr sz="2100" spc="-26" dirty="0">
                <a:latin typeface="Calibri"/>
                <a:cs typeface="Calibri"/>
              </a:rPr>
              <a:t> </a:t>
            </a:r>
            <a:r>
              <a:rPr sz="2100" dirty="0">
                <a:latin typeface="Calibri"/>
                <a:cs typeface="Calibri"/>
              </a:rPr>
              <a:t>the</a:t>
            </a:r>
            <a:r>
              <a:rPr sz="2100" spc="-34" dirty="0">
                <a:latin typeface="Calibri"/>
                <a:cs typeface="Calibri"/>
              </a:rPr>
              <a:t> </a:t>
            </a:r>
            <a:r>
              <a:rPr sz="2100" spc="-8" dirty="0">
                <a:latin typeface="Calibri"/>
                <a:cs typeface="Calibri"/>
              </a:rPr>
              <a:t>trigger.</a:t>
            </a:r>
            <a:endParaRPr sz="2100">
              <a:latin typeface="Calibri"/>
              <a:cs typeface="Calibri"/>
            </a:endParaRPr>
          </a:p>
          <a:p>
            <a:pPr marL="180975" marR="191453" indent="-171450">
              <a:lnSpc>
                <a:spcPts val="2250"/>
              </a:lnSpc>
              <a:spcBef>
                <a:spcPts val="769"/>
              </a:spcBef>
              <a:buFont typeface="Arial"/>
              <a:buChar char="•"/>
              <a:tabLst>
                <a:tab pos="180975" algn="l"/>
              </a:tabLst>
            </a:pPr>
            <a:r>
              <a:rPr sz="2100" dirty="0">
                <a:latin typeface="Calibri"/>
                <a:cs typeface="Calibri"/>
              </a:rPr>
              <a:t>A</a:t>
            </a:r>
            <a:r>
              <a:rPr sz="2100" spc="-30" dirty="0">
                <a:latin typeface="Calibri"/>
                <a:cs typeface="Calibri"/>
              </a:rPr>
              <a:t> </a:t>
            </a:r>
            <a:r>
              <a:rPr sz="2100" dirty="0">
                <a:latin typeface="Calibri"/>
                <a:cs typeface="Calibri"/>
              </a:rPr>
              <a:t>good</a:t>
            </a:r>
            <a:r>
              <a:rPr sz="2100" spc="-30" dirty="0">
                <a:latin typeface="Calibri"/>
                <a:cs typeface="Calibri"/>
              </a:rPr>
              <a:t> </a:t>
            </a:r>
            <a:r>
              <a:rPr sz="2100" dirty="0">
                <a:latin typeface="Calibri"/>
                <a:cs typeface="Calibri"/>
              </a:rPr>
              <a:t>naming</a:t>
            </a:r>
            <a:r>
              <a:rPr sz="2100" spc="-34" dirty="0">
                <a:latin typeface="Calibri"/>
                <a:cs typeface="Calibri"/>
              </a:rPr>
              <a:t> </a:t>
            </a:r>
            <a:r>
              <a:rPr sz="2100" spc="-8" dirty="0">
                <a:latin typeface="Calibri"/>
                <a:cs typeface="Calibri"/>
              </a:rPr>
              <a:t>standard</a:t>
            </a:r>
            <a:r>
              <a:rPr sz="2100" spc="-30" dirty="0">
                <a:latin typeface="Calibri"/>
                <a:cs typeface="Calibri"/>
              </a:rPr>
              <a:t> </a:t>
            </a:r>
            <a:r>
              <a:rPr sz="2100" dirty="0">
                <a:latin typeface="Calibri"/>
                <a:cs typeface="Calibri"/>
              </a:rPr>
              <a:t>for</a:t>
            </a:r>
            <a:r>
              <a:rPr sz="2100" spc="-30" dirty="0">
                <a:latin typeface="Calibri"/>
                <a:cs typeface="Calibri"/>
              </a:rPr>
              <a:t> </a:t>
            </a:r>
            <a:r>
              <a:rPr sz="2100" dirty="0">
                <a:latin typeface="Calibri"/>
                <a:cs typeface="Calibri"/>
              </a:rPr>
              <a:t>a</a:t>
            </a:r>
            <a:r>
              <a:rPr sz="2100" spc="-38" dirty="0">
                <a:latin typeface="Calibri"/>
                <a:cs typeface="Calibri"/>
              </a:rPr>
              <a:t> </a:t>
            </a:r>
            <a:r>
              <a:rPr sz="2100" dirty="0">
                <a:latin typeface="Calibri"/>
                <a:cs typeface="Calibri"/>
              </a:rPr>
              <a:t>trigger</a:t>
            </a:r>
            <a:r>
              <a:rPr sz="2100" spc="-30" dirty="0">
                <a:latin typeface="Calibri"/>
                <a:cs typeface="Calibri"/>
              </a:rPr>
              <a:t> </a:t>
            </a:r>
            <a:r>
              <a:rPr sz="2100" dirty="0">
                <a:latin typeface="Calibri"/>
                <a:cs typeface="Calibri"/>
              </a:rPr>
              <a:t>is</a:t>
            </a:r>
            <a:r>
              <a:rPr sz="2100" spc="-26" dirty="0">
                <a:latin typeface="Calibri"/>
                <a:cs typeface="Calibri"/>
              </a:rPr>
              <a:t> </a:t>
            </a:r>
            <a:r>
              <a:rPr sz="2100" spc="-8" dirty="0">
                <a:latin typeface="Calibri"/>
                <a:cs typeface="Calibri"/>
              </a:rPr>
              <a:t>&lt;table_name&gt;_event</a:t>
            </a:r>
            <a:r>
              <a:rPr sz="2100" spc="-30" dirty="0">
                <a:latin typeface="Calibri"/>
                <a:cs typeface="Calibri"/>
              </a:rPr>
              <a:t> </a:t>
            </a:r>
            <a:r>
              <a:rPr sz="2100" dirty="0">
                <a:latin typeface="Calibri"/>
                <a:cs typeface="Calibri"/>
              </a:rPr>
              <a:t>if</a:t>
            </a:r>
            <a:r>
              <a:rPr sz="2100" spc="-30" dirty="0">
                <a:latin typeface="Calibri"/>
                <a:cs typeface="Calibri"/>
              </a:rPr>
              <a:t> </a:t>
            </a:r>
            <a:r>
              <a:rPr sz="2100" spc="-19" dirty="0">
                <a:latin typeface="Calibri"/>
                <a:cs typeface="Calibri"/>
              </a:rPr>
              <a:t>you </a:t>
            </a:r>
            <a:r>
              <a:rPr sz="2100" dirty="0">
                <a:latin typeface="Calibri"/>
                <a:cs typeface="Calibri"/>
              </a:rPr>
              <a:t>have</a:t>
            </a:r>
            <a:r>
              <a:rPr sz="2100" spc="-41" dirty="0">
                <a:latin typeface="Calibri"/>
                <a:cs typeface="Calibri"/>
              </a:rPr>
              <a:t> </a:t>
            </a:r>
            <a:r>
              <a:rPr sz="2100" dirty="0">
                <a:latin typeface="Calibri"/>
                <a:cs typeface="Calibri"/>
              </a:rPr>
              <a:t>the</a:t>
            </a:r>
            <a:r>
              <a:rPr sz="2100" spc="-41" dirty="0">
                <a:latin typeface="Calibri"/>
                <a:cs typeface="Calibri"/>
              </a:rPr>
              <a:t> </a:t>
            </a:r>
            <a:r>
              <a:rPr sz="2100" dirty="0">
                <a:latin typeface="Calibri"/>
                <a:cs typeface="Calibri"/>
              </a:rPr>
              <a:t>room</a:t>
            </a:r>
            <a:r>
              <a:rPr sz="2100" spc="-38" dirty="0">
                <a:latin typeface="Calibri"/>
                <a:cs typeface="Calibri"/>
              </a:rPr>
              <a:t> </a:t>
            </a:r>
            <a:r>
              <a:rPr sz="2100" dirty="0">
                <a:latin typeface="Calibri"/>
                <a:cs typeface="Calibri"/>
              </a:rPr>
              <a:t>for</a:t>
            </a:r>
            <a:r>
              <a:rPr sz="2100" spc="-38" dirty="0">
                <a:latin typeface="Calibri"/>
                <a:cs typeface="Calibri"/>
              </a:rPr>
              <a:t> </a:t>
            </a:r>
            <a:r>
              <a:rPr sz="2100" dirty="0">
                <a:latin typeface="Calibri"/>
                <a:cs typeface="Calibri"/>
              </a:rPr>
              <a:t>that</a:t>
            </a:r>
            <a:r>
              <a:rPr sz="2100" spc="-34" dirty="0">
                <a:latin typeface="Calibri"/>
                <a:cs typeface="Calibri"/>
              </a:rPr>
              <a:t> </a:t>
            </a:r>
            <a:r>
              <a:rPr sz="2100" dirty="0">
                <a:latin typeface="Calibri"/>
                <a:cs typeface="Calibri"/>
              </a:rPr>
              <a:t>in</a:t>
            </a:r>
            <a:r>
              <a:rPr sz="2100" spc="-34" dirty="0">
                <a:latin typeface="Calibri"/>
                <a:cs typeface="Calibri"/>
              </a:rPr>
              <a:t> </a:t>
            </a:r>
            <a:r>
              <a:rPr sz="2100" dirty="0">
                <a:latin typeface="Calibri"/>
                <a:cs typeface="Calibri"/>
              </a:rPr>
              <a:t>the</a:t>
            </a:r>
            <a:r>
              <a:rPr sz="2100" spc="-41" dirty="0">
                <a:latin typeface="Calibri"/>
                <a:cs typeface="Calibri"/>
              </a:rPr>
              <a:t> </a:t>
            </a:r>
            <a:r>
              <a:rPr sz="2100" spc="-8" dirty="0">
                <a:latin typeface="Calibri"/>
                <a:cs typeface="Calibri"/>
              </a:rPr>
              <a:t>name.</a:t>
            </a:r>
            <a:endParaRPr sz="2100">
              <a:latin typeface="Calibri"/>
              <a:cs typeface="Calibri"/>
            </a:endParaRPr>
          </a:p>
          <a:p>
            <a:pPr marL="180499" indent="-170974">
              <a:lnSpc>
                <a:spcPts val="2422"/>
              </a:lnSpc>
              <a:spcBef>
                <a:spcPts val="458"/>
              </a:spcBef>
              <a:buFont typeface="Arial"/>
              <a:buChar char="•"/>
              <a:tabLst>
                <a:tab pos="180499" algn="l"/>
              </a:tabLst>
            </a:pPr>
            <a:r>
              <a:rPr sz="2100" dirty="0">
                <a:latin typeface="Calibri"/>
                <a:cs typeface="Calibri"/>
              </a:rPr>
              <a:t>Just</a:t>
            </a:r>
            <a:r>
              <a:rPr sz="2100" spc="-30" dirty="0">
                <a:latin typeface="Calibri"/>
                <a:cs typeface="Calibri"/>
              </a:rPr>
              <a:t> </a:t>
            </a:r>
            <a:r>
              <a:rPr sz="2100" dirty="0">
                <a:latin typeface="Calibri"/>
                <a:cs typeface="Calibri"/>
              </a:rPr>
              <a:t>like</a:t>
            </a:r>
            <a:r>
              <a:rPr sz="2100" spc="-34" dirty="0">
                <a:latin typeface="Calibri"/>
                <a:cs typeface="Calibri"/>
              </a:rPr>
              <a:t> </a:t>
            </a:r>
            <a:r>
              <a:rPr sz="2100" dirty="0">
                <a:latin typeface="Calibri"/>
                <a:cs typeface="Calibri"/>
              </a:rPr>
              <a:t>a</a:t>
            </a:r>
            <a:r>
              <a:rPr sz="2100" spc="-26" dirty="0">
                <a:latin typeface="Calibri"/>
                <a:cs typeface="Calibri"/>
              </a:rPr>
              <a:t> </a:t>
            </a:r>
            <a:r>
              <a:rPr sz="2100" dirty="0">
                <a:latin typeface="Calibri"/>
                <a:cs typeface="Calibri"/>
              </a:rPr>
              <a:t>function</a:t>
            </a:r>
            <a:r>
              <a:rPr sz="2100" spc="-26" dirty="0">
                <a:latin typeface="Calibri"/>
                <a:cs typeface="Calibri"/>
              </a:rPr>
              <a:t> </a:t>
            </a:r>
            <a:r>
              <a:rPr sz="2100" dirty="0">
                <a:latin typeface="Calibri"/>
                <a:cs typeface="Calibri"/>
              </a:rPr>
              <a:t>or</a:t>
            </a:r>
            <a:r>
              <a:rPr sz="2100" spc="-26" dirty="0">
                <a:latin typeface="Calibri"/>
                <a:cs typeface="Calibri"/>
              </a:rPr>
              <a:t> </a:t>
            </a:r>
            <a:r>
              <a:rPr sz="2100" dirty="0">
                <a:latin typeface="Calibri"/>
                <a:cs typeface="Calibri"/>
              </a:rPr>
              <a:t>a</a:t>
            </a:r>
            <a:r>
              <a:rPr sz="2100" spc="-30" dirty="0">
                <a:latin typeface="Calibri"/>
                <a:cs typeface="Calibri"/>
              </a:rPr>
              <a:t> </a:t>
            </a:r>
            <a:r>
              <a:rPr sz="2100" spc="-8" dirty="0">
                <a:latin typeface="Calibri"/>
                <a:cs typeface="Calibri"/>
              </a:rPr>
              <a:t>procedure,</a:t>
            </a:r>
            <a:r>
              <a:rPr sz="2100" spc="-26" dirty="0">
                <a:latin typeface="Calibri"/>
                <a:cs typeface="Calibri"/>
              </a:rPr>
              <a:t> </a:t>
            </a:r>
            <a:r>
              <a:rPr sz="2100" dirty="0">
                <a:latin typeface="Calibri"/>
                <a:cs typeface="Calibri"/>
              </a:rPr>
              <a:t>the</a:t>
            </a:r>
            <a:r>
              <a:rPr sz="2100" spc="-30" dirty="0">
                <a:latin typeface="Calibri"/>
                <a:cs typeface="Calibri"/>
              </a:rPr>
              <a:t> </a:t>
            </a:r>
            <a:r>
              <a:rPr sz="2100" dirty="0">
                <a:latin typeface="Calibri"/>
                <a:cs typeface="Calibri"/>
              </a:rPr>
              <a:t>trigger</a:t>
            </a:r>
            <a:r>
              <a:rPr sz="2100" spc="-30" dirty="0">
                <a:latin typeface="Calibri"/>
                <a:cs typeface="Calibri"/>
              </a:rPr>
              <a:t> </a:t>
            </a:r>
            <a:r>
              <a:rPr sz="2100" dirty="0">
                <a:latin typeface="Calibri"/>
                <a:cs typeface="Calibri"/>
              </a:rPr>
              <a:t>body</a:t>
            </a:r>
            <a:r>
              <a:rPr sz="2100" spc="-30" dirty="0">
                <a:latin typeface="Calibri"/>
                <a:cs typeface="Calibri"/>
              </a:rPr>
              <a:t> </a:t>
            </a:r>
            <a:r>
              <a:rPr sz="2100" dirty="0">
                <a:latin typeface="Calibri"/>
                <a:cs typeface="Calibri"/>
              </a:rPr>
              <a:t>will</a:t>
            </a:r>
            <a:r>
              <a:rPr sz="2100" spc="-34" dirty="0">
                <a:latin typeface="Calibri"/>
                <a:cs typeface="Calibri"/>
              </a:rPr>
              <a:t> </a:t>
            </a:r>
            <a:r>
              <a:rPr sz="2100" dirty="0">
                <a:latin typeface="Calibri"/>
                <a:cs typeface="Calibri"/>
              </a:rPr>
              <a:t>need</a:t>
            </a:r>
            <a:r>
              <a:rPr sz="2100" spc="-23" dirty="0">
                <a:latin typeface="Calibri"/>
                <a:cs typeface="Calibri"/>
              </a:rPr>
              <a:t> </a:t>
            </a:r>
            <a:r>
              <a:rPr sz="2100" dirty="0">
                <a:latin typeface="Calibri"/>
                <a:cs typeface="Calibri"/>
              </a:rPr>
              <a:t>a</a:t>
            </a:r>
            <a:r>
              <a:rPr sz="2100" spc="-30" dirty="0">
                <a:latin typeface="Calibri"/>
                <a:cs typeface="Calibri"/>
              </a:rPr>
              <a:t> </a:t>
            </a:r>
            <a:r>
              <a:rPr sz="2100" spc="-8" dirty="0">
                <a:latin typeface="Calibri"/>
                <a:cs typeface="Calibri"/>
              </a:rPr>
              <a:t>begin</a:t>
            </a:r>
            <a:endParaRPr sz="2100">
              <a:latin typeface="Calibri"/>
              <a:cs typeface="Calibri"/>
            </a:endParaRPr>
          </a:p>
          <a:p>
            <a:pPr marL="180975">
              <a:lnSpc>
                <a:spcPts val="2422"/>
              </a:lnSpc>
            </a:pPr>
            <a:r>
              <a:rPr sz="2100" dirty="0">
                <a:latin typeface="Calibri"/>
                <a:cs typeface="Calibri"/>
              </a:rPr>
              <a:t>…</a:t>
            </a:r>
            <a:r>
              <a:rPr sz="2100" spc="-26" dirty="0">
                <a:latin typeface="Calibri"/>
                <a:cs typeface="Calibri"/>
              </a:rPr>
              <a:t> </a:t>
            </a:r>
            <a:r>
              <a:rPr sz="2100" dirty="0">
                <a:latin typeface="Calibri"/>
                <a:cs typeface="Calibri"/>
              </a:rPr>
              <a:t>end</a:t>
            </a:r>
            <a:r>
              <a:rPr sz="2100" spc="-23" dirty="0">
                <a:latin typeface="Calibri"/>
                <a:cs typeface="Calibri"/>
              </a:rPr>
              <a:t> </a:t>
            </a:r>
            <a:r>
              <a:rPr sz="2100" dirty="0">
                <a:latin typeface="Calibri"/>
                <a:cs typeface="Calibri"/>
              </a:rPr>
              <a:t>unless</a:t>
            </a:r>
            <a:r>
              <a:rPr sz="2100" spc="-23" dirty="0">
                <a:latin typeface="Calibri"/>
                <a:cs typeface="Calibri"/>
              </a:rPr>
              <a:t> </a:t>
            </a:r>
            <a:r>
              <a:rPr sz="2100" dirty="0">
                <a:latin typeface="Calibri"/>
                <a:cs typeface="Calibri"/>
              </a:rPr>
              <a:t>it</a:t>
            </a:r>
            <a:r>
              <a:rPr sz="2100" spc="-23" dirty="0">
                <a:latin typeface="Calibri"/>
                <a:cs typeface="Calibri"/>
              </a:rPr>
              <a:t> </a:t>
            </a:r>
            <a:r>
              <a:rPr sz="2100" dirty="0">
                <a:latin typeface="Calibri"/>
                <a:cs typeface="Calibri"/>
              </a:rPr>
              <a:t>is</a:t>
            </a:r>
            <a:r>
              <a:rPr sz="2100" spc="-23" dirty="0">
                <a:latin typeface="Calibri"/>
                <a:cs typeface="Calibri"/>
              </a:rPr>
              <a:t> </a:t>
            </a:r>
            <a:r>
              <a:rPr sz="2100" dirty="0">
                <a:latin typeface="Calibri"/>
                <a:cs typeface="Calibri"/>
              </a:rPr>
              <a:t>a</a:t>
            </a:r>
            <a:r>
              <a:rPr sz="2100" spc="-26" dirty="0">
                <a:latin typeface="Calibri"/>
                <a:cs typeface="Calibri"/>
              </a:rPr>
              <a:t> </a:t>
            </a:r>
            <a:r>
              <a:rPr sz="2100" dirty="0">
                <a:latin typeface="Calibri"/>
                <a:cs typeface="Calibri"/>
              </a:rPr>
              <a:t>single</a:t>
            </a:r>
            <a:r>
              <a:rPr sz="2100" spc="-30" dirty="0">
                <a:latin typeface="Calibri"/>
                <a:cs typeface="Calibri"/>
              </a:rPr>
              <a:t> </a:t>
            </a:r>
            <a:r>
              <a:rPr sz="2100" spc="-8" dirty="0">
                <a:latin typeface="Calibri"/>
                <a:cs typeface="Calibri"/>
              </a:rPr>
              <a:t>statement</a:t>
            </a:r>
            <a:r>
              <a:rPr sz="2100" spc="-26" dirty="0">
                <a:latin typeface="Calibri"/>
                <a:cs typeface="Calibri"/>
              </a:rPr>
              <a:t> </a:t>
            </a:r>
            <a:r>
              <a:rPr sz="2100" spc="-8" dirty="0">
                <a:latin typeface="Calibri"/>
                <a:cs typeface="Calibri"/>
              </a:rPr>
              <a:t>trigger.</a:t>
            </a:r>
            <a:endParaRPr sz="2100">
              <a:latin typeface="Calibri"/>
              <a:cs typeface="Calibri"/>
            </a:endParaRPr>
          </a:p>
        </p:txBody>
      </p:sp>
    </p:spTree>
    <p:extLst>
      <p:ext uri="{BB962C8B-B14F-4D97-AF65-F5344CB8AC3E}">
        <p14:creationId xmlns:p14="http://schemas.microsoft.com/office/powerpoint/2010/main" val="1185681797"/>
      </p:ext>
    </p:extLst>
  </p:cSld>
  <p:clrMapOvr>
    <a:masterClrMapping/>
  </p:clrMapOvr>
  <p:transition spd="me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4254246" y="6428920"/>
            <a:ext cx="3683634"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9525">
              <a:spcBef>
                <a:spcPts val="30"/>
              </a:spcBef>
            </a:pPr>
            <a:r>
              <a:rPr lang="en-US" spc="-10"/>
              <a:t>Copyright</a:t>
            </a:r>
            <a:r>
              <a:rPr lang="en-US" spc="-15"/>
              <a:t> </a:t>
            </a:r>
            <a:r>
              <a:rPr lang="en-US"/>
              <a:t>©</a:t>
            </a:r>
            <a:r>
              <a:rPr lang="en-US" spc="-10"/>
              <a:t> </a:t>
            </a:r>
            <a:r>
              <a:rPr lang="en-US"/>
              <a:t>2016</a:t>
            </a:r>
            <a:r>
              <a:rPr lang="en-US" spc="-10"/>
              <a:t> </a:t>
            </a:r>
            <a:r>
              <a:rPr lang="en-US"/>
              <a:t>Ramez</a:t>
            </a:r>
            <a:r>
              <a:rPr lang="en-US" spc="-5"/>
              <a:t> </a:t>
            </a:r>
            <a:r>
              <a:rPr lang="en-US"/>
              <a:t>Elmasri</a:t>
            </a:r>
            <a:r>
              <a:rPr lang="en-US" spc="-15"/>
              <a:t> </a:t>
            </a:r>
            <a:r>
              <a:rPr lang="en-US"/>
              <a:t>and</a:t>
            </a:r>
            <a:r>
              <a:rPr lang="en-US" spc="-15"/>
              <a:t> </a:t>
            </a:r>
            <a:r>
              <a:rPr lang="en-US" spc="-10"/>
              <a:t>Shamkant</a:t>
            </a:r>
            <a:r>
              <a:rPr lang="en-US" spc="-15"/>
              <a:t> </a:t>
            </a:r>
            <a:r>
              <a:rPr lang="en-US"/>
              <a:t>B.</a:t>
            </a:r>
            <a:r>
              <a:rPr lang="en-US" spc="-10"/>
              <a:t> Navathe</a:t>
            </a:r>
            <a:endParaRPr spc="-8" dirty="0"/>
          </a:p>
        </p:txBody>
      </p:sp>
      <p:sp>
        <p:nvSpPr>
          <p:cNvPr id="5" name="object 5"/>
          <p:cNvSpPr txBox="1">
            <a:spLocks noGrp="1"/>
          </p:cNvSpPr>
          <p:nvPr>
            <p:ph type="sldNum" sz="quarter" idx="7"/>
          </p:nvPr>
        </p:nvSpPr>
        <p:spPr>
          <a:xfrm>
            <a:off x="11067415" y="6428920"/>
            <a:ext cx="2444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15570">
              <a:spcBef>
                <a:spcPts val="40"/>
              </a:spcBef>
            </a:pPr>
            <a:fld id="{81D60167-4931-47E6-BA6A-407CBD079E47}" type="slidenum">
              <a:rPr lang="en-US" spc="-50" smtClean="0"/>
              <a:pPr marL="115570">
                <a:spcBef>
                  <a:spcPts val="40"/>
                </a:spcBef>
              </a:pPr>
              <a:t>98</a:t>
            </a:fld>
            <a:endParaRPr spc="-19" dirty="0"/>
          </a:p>
        </p:txBody>
      </p:sp>
      <p:sp>
        <p:nvSpPr>
          <p:cNvPr id="2" name="object 2"/>
          <p:cNvSpPr txBox="1">
            <a:spLocks noGrp="1"/>
          </p:cNvSpPr>
          <p:nvPr>
            <p:ph type="title"/>
          </p:nvPr>
        </p:nvSpPr>
        <p:spPr>
          <a:xfrm>
            <a:off x="1143952" y="492756"/>
            <a:ext cx="7296150"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dirty="0"/>
              <a:t>The</a:t>
            </a:r>
            <a:r>
              <a:rPr spc="-53" dirty="0"/>
              <a:t> </a:t>
            </a:r>
            <a:r>
              <a:rPr dirty="0"/>
              <a:t>Special</a:t>
            </a:r>
            <a:r>
              <a:rPr spc="-53" dirty="0"/>
              <a:t> </a:t>
            </a:r>
            <a:r>
              <a:rPr spc="-19" dirty="0"/>
              <a:t>Powers</a:t>
            </a:r>
            <a:r>
              <a:rPr spc="-56" dirty="0"/>
              <a:t> </a:t>
            </a:r>
            <a:r>
              <a:rPr dirty="0"/>
              <a:t>of</a:t>
            </a:r>
            <a:r>
              <a:rPr spc="-56" dirty="0"/>
              <a:t> </a:t>
            </a:r>
            <a:r>
              <a:rPr dirty="0"/>
              <a:t>a</a:t>
            </a:r>
            <a:r>
              <a:rPr spc="-53" dirty="0"/>
              <a:t> </a:t>
            </a:r>
            <a:r>
              <a:rPr spc="-8" dirty="0"/>
              <a:t>Trigger</a:t>
            </a:r>
          </a:p>
        </p:txBody>
      </p:sp>
      <p:sp>
        <p:nvSpPr>
          <p:cNvPr id="3" name="object 3"/>
          <p:cNvSpPr txBox="1"/>
          <p:nvPr/>
        </p:nvSpPr>
        <p:spPr>
          <a:xfrm>
            <a:off x="687704" y="2204084"/>
            <a:ext cx="7752398" cy="3077124"/>
          </a:xfrm>
          <a:prstGeom prst="rect">
            <a:avLst/>
          </a:prstGeom>
        </p:spPr>
        <p:txBody>
          <a:bodyPr vert="horz" wrap="square" lIns="0" tIns="47625" rIns="0" bIns="0" rtlCol="0">
            <a:spAutoFit/>
          </a:bodyPr>
          <a:lstStyle/>
          <a:p>
            <a:pPr marL="180975" marR="3810" indent="-171450">
              <a:lnSpc>
                <a:spcPts val="2250"/>
              </a:lnSpc>
              <a:spcBef>
                <a:spcPts val="375"/>
              </a:spcBef>
              <a:buFont typeface="Arial"/>
              <a:buChar char="•"/>
              <a:tabLst>
                <a:tab pos="180975" algn="l"/>
              </a:tabLst>
            </a:pPr>
            <a:r>
              <a:rPr sz="2100" dirty="0">
                <a:latin typeface="Calibri"/>
                <a:cs typeface="Calibri"/>
              </a:rPr>
              <a:t>While</a:t>
            </a:r>
            <a:r>
              <a:rPr sz="2100" spc="-38" dirty="0">
                <a:latin typeface="Calibri"/>
                <a:cs typeface="Calibri"/>
              </a:rPr>
              <a:t> </a:t>
            </a:r>
            <a:r>
              <a:rPr sz="2100" dirty="0">
                <a:latin typeface="Calibri"/>
                <a:cs typeface="Calibri"/>
              </a:rPr>
              <a:t>in</a:t>
            </a:r>
            <a:r>
              <a:rPr sz="2100" spc="-30" dirty="0">
                <a:latin typeface="Calibri"/>
                <a:cs typeface="Calibri"/>
              </a:rPr>
              <a:t> </a:t>
            </a:r>
            <a:r>
              <a:rPr sz="2100" dirty="0">
                <a:latin typeface="Calibri"/>
                <a:cs typeface="Calibri"/>
              </a:rPr>
              <a:t>the</a:t>
            </a:r>
            <a:r>
              <a:rPr sz="2100" spc="-38" dirty="0">
                <a:latin typeface="Calibri"/>
                <a:cs typeface="Calibri"/>
              </a:rPr>
              <a:t> </a:t>
            </a:r>
            <a:r>
              <a:rPr sz="2100" dirty="0">
                <a:latin typeface="Calibri"/>
                <a:cs typeface="Calibri"/>
              </a:rPr>
              <a:t>body</a:t>
            </a:r>
            <a:r>
              <a:rPr sz="2100" spc="-34" dirty="0">
                <a:latin typeface="Calibri"/>
                <a:cs typeface="Calibri"/>
              </a:rPr>
              <a:t> </a:t>
            </a:r>
            <a:r>
              <a:rPr sz="2100" dirty="0">
                <a:latin typeface="Calibri"/>
                <a:cs typeface="Calibri"/>
              </a:rPr>
              <a:t>of</a:t>
            </a:r>
            <a:r>
              <a:rPr sz="2100" spc="-34" dirty="0">
                <a:latin typeface="Calibri"/>
                <a:cs typeface="Calibri"/>
              </a:rPr>
              <a:t> </a:t>
            </a:r>
            <a:r>
              <a:rPr sz="2100" dirty="0">
                <a:latin typeface="Calibri"/>
                <a:cs typeface="Calibri"/>
              </a:rPr>
              <a:t>a</a:t>
            </a:r>
            <a:r>
              <a:rPr sz="2100" spc="-34" dirty="0">
                <a:latin typeface="Calibri"/>
                <a:cs typeface="Calibri"/>
              </a:rPr>
              <a:t> </a:t>
            </a:r>
            <a:r>
              <a:rPr sz="2100" spc="-19" dirty="0">
                <a:latin typeface="Calibri"/>
                <a:cs typeface="Calibri"/>
              </a:rPr>
              <a:t>trigger,</a:t>
            </a:r>
            <a:r>
              <a:rPr sz="2100" spc="-26" dirty="0">
                <a:latin typeface="Calibri"/>
                <a:cs typeface="Calibri"/>
              </a:rPr>
              <a:t> </a:t>
            </a:r>
            <a:r>
              <a:rPr sz="2100" dirty="0">
                <a:latin typeface="Calibri"/>
                <a:cs typeface="Calibri"/>
              </a:rPr>
              <a:t>there</a:t>
            </a:r>
            <a:r>
              <a:rPr sz="2100" spc="-38" dirty="0">
                <a:latin typeface="Calibri"/>
                <a:cs typeface="Calibri"/>
              </a:rPr>
              <a:t> </a:t>
            </a:r>
            <a:r>
              <a:rPr sz="2100" dirty="0">
                <a:latin typeface="Calibri"/>
                <a:cs typeface="Calibri"/>
              </a:rPr>
              <a:t>are</a:t>
            </a:r>
            <a:r>
              <a:rPr sz="2100" spc="-38" dirty="0">
                <a:latin typeface="Calibri"/>
                <a:cs typeface="Calibri"/>
              </a:rPr>
              <a:t> </a:t>
            </a:r>
            <a:r>
              <a:rPr sz="2100" dirty="0">
                <a:latin typeface="Calibri"/>
                <a:cs typeface="Calibri"/>
              </a:rPr>
              <a:t>potentially</a:t>
            </a:r>
            <a:r>
              <a:rPr sz="2100" spc="-34" dirty="0">
                <a:latin typeface="Calibri"/>
                <a:cs typeface="Calibri"/>
              </a:rPr>
              <a:t> </a:t>
            </a:r>
            <a:r>
              <a:rPr sz="2100" dirty="0">
                <a:latin typeface="Calibri"/>
                <a:cs typeface="Calibri"/>
              </a:rPr>
              <a:t>two</a:t>
            </a:r>
            <a:r>
              <a:rPr sz="2100" spc="-34" dirty="0">
                <a:latin typeface="Calibri"/>
                <a:cs typeface="Calibri"/>
              </a:rPr>
              <a:t> </a:t>
            </a:r>
            <a:r>
              <a:rPr sz="2100" dirty="0">
                <a:latin typeface="Calibri"/>
                <a:cs typeface="Calibri"/>
              </a:rPr>
              <a:t>sets</a:t>
            </a:r>
            <a:r>
              <a:rPr sz="2100" spc="-30" dirty="0">
                <a:latin typeface="Calibri"/>
                <a:cs typeface="Calibri"/>
              </a:rPr>
              <a:t> </a:t>
            </a:r>
            <a:r>
              <a:rPr sz="2100" spc="-19" dirty="0">
                <a:latin typeface="Calibri"/>
                <a:cs typeface="Calibri"/>
              </a:rPr>
              <a:t>of</a:t>
            </a:r>
            <a:r>
              <a:rPr sz="2100" spc="525" dirty="0">
                <a:latin typeface="Calibri"/>
                <a:cs typeface="Calibri"/>
              </a:rPr>
              <a:t> </a:t>
            </a:r>
            <a:r>
              <a:rPr sz="2100" dirty="0">
                <a:latin typeface="Calibri"/>
                <a:cs typeface="Calibri"/>
              </a:rPr>
              <a:t>column</a:t>
            </a:r>
            <a:r>
              <a:rPr sz="2100" spc="-56" dirty="0">
                <a:latin typeface="Calibri"/>
                <a:cs typeface="Calibri"/>
              </a:rPr>
              <a:t> </a:t>
            </a:r>
            <a:r>
              <a:rPr sz="2100" dirty="0">
                <a:latin typeface="Calibri"/>
                <a:cs typeface="Calibri"/>
              </a:rPr>
              <a:t>values</a:t>
            </a:r>
            <a:r>
              <a:rPr sz="2100" spc="-53" dirty="0">
                <a:latin typeface="Calibri"/>
                <a:cs typeface="Calibri"/>
              </a:rPr>
              <a:t> </a:t>
            </a:r>
            <a:r>
              <a:rPr sz="2100" dirty="0">
                <a:latin typeface="Calibri"/>
                <a:cs typeface="Calibri"/>
              </a:rPr>
              <a:t>available</a:t>
            </a:r>
            <a:r>
              <a:rPr sz="2100" spc="-60" dirty="0">
                <a:latin typeface="Calibri"/>
                <a:cs typeface="Calibri"/>
              </a:rPr>
              <a:t> </a:t>
            </a:r>
            <a:r>
              <a:rPr sz="2100" dirty="0">
                <a:latin typeface="Calibri"/>
                <a:cs typeface="Calibri"/>
              </a:rPr>
              <a:t>to</a:t>
            </a:r>
            <a:r>
              <a:rPr sz="2100" spc="-56" dirty="0">
                <a:latin typeface="Calibri"/>
                <a:cs typeface="Calibri"/>
              </a:rPr>
              <a:t> </a:t>
            </a:r>
            <a:r>
              <a:rPr sz="2100" dirty="0">
                <a:latin typeface="Calibri"/>
                <a:cs typeface="Calibri"/>
              </a:rPr>
              <a:t>you,</a:t>
            </a:r>
            <a:r>
              <a:rPr sz="2100" spc="-53" dirty="0">
                <a:latin typeface="Calibri"/>
                <a:cs typeface="Calibri"/>
              </a:rPr>
              <a:t> </a:t>
            </a:r>
            <a:r>
              <a:rPr sz="2100" dirty="0">
                <a:latin typeface="Calibri"/>
                <a:cs typeface="Calibri"/>
              </a:rPr>
              <a:t>with</a:t>
            </a:r>
            <a:r>
              <a:rPr sz="2100" spc="-53" dirty="0">
                <a:latin typeface="Calibri"/>
                <a:cs typeface="Calibri"/>
              </a:rPr>
              <a:t> </a:t>
            </a:r>
            <a:r>
              <a:rPr sz="2100" dirty="0">
                <a:latin typeface="Calibri"/>
                <a:cs typeface="Calibri"/>
              </a:rPr>
              <a:t>special</a:t>
            </a:r>
            <a:r>
              <a:rPr sz="2100" spc="-60" dirty="0">
                <a:latin typeface="Calibri"/>
                <a:cs typeface="Calibri"/>
              </a:rPr>
              <a:t> </a:t>
            </a:r>
            <a:r>
              <a:rPr sz="2100" spc="-8" dirty="0">
                <a:latin typeface="Calibri"/>
                <a:cs typeface="Calibri"/>
              </a:rPr>
              <a:t>syntax</a:t>
            </a:r>
            <a:r>
              <a:rPr sz="2100" spc="-56" dirty="0">
                <a:latin typeface="Calibri"/>
                <a:cs typeface="Calibri"/>
              </a:rPr>
              <a:t> </a:t>
            </a:r>
            <a:r>
              <a:rPr sz="2100" dirty="0">
                <a:latin typeface="Calibri"/>
                <a:cs typeface="Calibri"/>
              </a:rPr>
              <a:t>for</a:t>
            </a:r>
            <a:r>
              <a:rPr sz="2100" spc="-56" dirty="0">
                <a:latin typeface="Calibri"/>
                <a:cs typeface="Calibri"/>
              </a:rPr>
              <a:t> </a:t>
            </a:r>
            <a:r>
              <a:rPr sz="2100" dirty="0">
                <a:latin typeface="Calibri"/>
                <a:cs typeface="Calibri"/>
              </a:rPr>
              <a:t>denoting</a:t>
            </a:r>
            <a:r>
              <a:rPr sz="2100" spc="-60" dirty="0">
                <a:latin typeface="Calibri"/>
                <a:cs typeface="Calibri"/>
              </a:rPr>
              <a:t> </a:t>
            </a:r>
            <a:r>
              <a:rPr sz="2100" spc="-8" dirty="0">
                <a:latin typeface="Calibri"/>
                <a:cs typeface="Calibri"/>
              </a:rPr>
              <a:t>them.</a:t>
            </a:r>
            <a:endParaRPr sz="2100">
              <a:latin typeface="Calibri"/>
              <a:cs typeface="Calibri"/>
            </a:endParaRPr>
          </a:p>
          <a:p>
            <a:pPr marL="522923" marR="427673" lvl="1" indent="-170497">
              <a:lnSpc>
                <a:spcPts val="1943"/>
              </a:lnSpc>
              <a:spcBef>
                <a:spcPts val="390"/>
              </a:spcBef>
              <a:buFont typeface="Arial"/>
              <a:buChar char="•"/>
              <a:tabLst>
                <a:tab pos="523875" algn="l"/>
              </a:tabLst>
            </a:pPr>
            <a:r>
              <a:rPr sz="1800" dirty="0">
                <a:latin typeface="Calibri"/>
                <a:cs typeface="Calibri"/>
              </a:rPr>
              <a:t>old.&lt;column</a:t>
            </a:r>
            <a:r>
              <a:rPr sz="1800" spc="-45" dirty="0">
                <a:latin typeface="Calibri"/>
                <a:cs typeface="Calibri"/>
              </a:rPr>
              <a:t> </a:t>
            </a:r>
            <a:r>
              <a:rPr sz="1800" dirty="0">
                <a:latin typeface="Calibri"/>
                <a:cs typeface="Calibri"/>
              </a:rPr>
              <a:t>name&gt;</a:t>
            </a:r>
            <a:r>
              <a:rPr sz="1800" spc="-45" dirty="0">
                <a:latin typeface="Calibri"/>
                <a:cs typeface="Calibri"/>
              </a:rPr>
              <a:t> </a:t>
            </a:r>
            <a:r>
              <a:rPr sz="1800" dirty="0">
                <a:latin typeface="Calibri"/>
                <a:cs typeface="Calibri"/>
              </a:rPr>
              <a:t>will</a:t>
            </a:r>
            <a:r>
              <a:rPr sz="1800" spc="-45" dirty="0">
                <a:latin typeface="Calibri"/>
                <a:cs typeface="Calibri"/>
              </a:rPr>
              <a:t> </a:t>
            </a:r>
            <a:r>
              <a:rPr sz="1800" dirty="0">
                <a:latin typeface="Calibri"/>
                <a:cs typeface="Calibri"/>
              </a:rPr>
              <a:t>give</a:t>
            </a:r>
            <a:r>
              <a:rPr sz="1800" spc="-41" dirty="0">
                <a:latin typeface="Calibri"/>
                <a:cs typeface="Calibri"/>
              </a:rPr>
              <a:t> </a:t>
            </a:r>
            <a:r>
              <a:rPr sz="1800" dirty="0">
                <a:latin typeface="Calibri"/>
                <a:cs typeface="Calibri"/>
              </a:rPr>
              <a:t>you</a:t>
            </a:r>
            <a:r>
              <a:rPr sz="1800" spc="-41" dirty="0">
                <a:latin typeface="Calibri"/>
                <a:cs typeface="Calibri"/>
              </a:rPr>
              <a:t> </a:t>
            </a:r>
            <a:r>
              <a:rPr sz="1800" dirty="0">
                <a:latin typeface="Calibri"/>
                <a:cs typeface="Calibri"/>
              </a:rPr>
              <a:t>the</a:t>
            </a:r>
            <a:r>
              <a:rPr sz="1800" spc="-41" dirty="0">
                <a:latin typeface="Calibri"/>
                <a:cs typeface="Calibri"/>
              </a:rPr>
              <a:t> </a:t>
            </a:r>
            <a:r>
              <a:rPr sz="1800" dirty="0">
                <a:latin typeface="Calibri"/>
                <a:cs typeface="Calibri"/>
              </a:rPr>
              <a:t>value</a:t>
            </a:r>
            <a:r>
              <a:rPr sz="1800" spc="-41" dirty="0">
                <a:latin typeface="Calibri"/>
                <a:cs typeface="Calibri"/>
              </a:rPr>
              <a:t> </a:t>
            </a:r>
            <a:r>
              <a:rPr sz="1800" dirty="0">
                <a:latin typeface="Calibri"/>
                <a:cs typeface="Calibri"/>
              </a:rPr>
              <a:t>of</a:t>
            </a:r>
            <a:r>
              <a:rPr sz="1800" spc="-41" dirty="0">
                <a:latin typeface="Calibri"/>
                <a:cs typeface="Calibri"/>
              </a:rPr>
              <a:t> </a:t>
            </a:r>
            <a:r>
              <a:rPr sz="1800" dirty="0">
                <a:latin typeface="Calibri"/>
                <a:cs typeface="Calibri"/>
              </a:rPr>
              <a:t>the</a:t>
            </a:r>
            <a:r>
              <a:rPr sz="1800" spc="-41" dirty="0">
                <a:latin typeface="Calibri"/>
                <a:cs typeface="Calibri"/>
              </a:rPr>
              <a:t> </a:t>
            </a:r>
            <a:r>
              <a:rPr sz="1800" dirty="0">
                <a:latin typeface="Calibri"/>
                <a:cs typeface="Calibri"/>
              </a:rPr>
              <a:t>column</a:t>
            </a:r>
            <a:r>
              <a:rPr sz="1800" spc="-45" dirty="0">
                <a:latin typeface="Calibri"/>
                <a:cs typeface="Calibri"/>
              </a:rPr>
              <a:t> </a:t>
            </a:r>
            <a:r>
              <a:rPr sz="1800" spc="-8" dirty="0">
                <a:latin typeface="Calibri"/>
                <a:cs typeface="Calibri"/>
              </a:rPr>
              <a:t>before</a:t>
            </a:r>
            <a:r>
              <a:rPr sz="1800" spc="-38" dirty="0">
                <a:latin typeface="Calibri"/>
                <a:cs typeface="Calibri"/>
              </a:rPr>
              <a:t> </a:t>
            </a:r>
            <a:r>
              <a:rPr sz="1800" dirty="0">
                <a:latin typeface="Calibri"/>
                <a:cs typeface="Calibri"/>
              </a:rPr>
              <a:t>the</a:t>
            </a:r>
            <a:r>
              <a:rPr sz="1800" spc="-41" dirty="0">
                <a:latin typeface="Calibri"/>
                <a:cs typeface="Calibri"/>
              </a:rPr>
              <a:t> </a:t>
            </a:r>
            <a:r>
              <a:rPr sz="1800" spc="-19" dirty="0">
                <a:latin typeface="Calibri"/>
                <a:cs typeface="Calibri"/>
              </a:rPr>
              <a:t>DML 	</a:t>
            </a:r>
            <a:r>
              <a:rPr sz="1800" spc="-8" dirty="0">
                <a:latin typeface="Calibri"/>
                <a:cs typeface="Calibri"/>
              </a:rPr>
              <a:t>statement</a:t>
            </a:r>
            <a:r>
              <a:rPr sz="1800" spc="-86" dirty="0">
                <a:latin typeface="Calibri"/>
                <a:cs typeface="Calibri"/>
              </a:rPr>
              <a:t> </a:t>
            </a:r>
            <a:r>
              <a:rPr sz="1800" spc="-8" dirty="0">
                <a:latin typeface="Calibri"/>
                <a:cs typeface="Calibri"/>
              </a:rPr>
              <a:t>executed.</a:t>
            </a:r>
            <a:endParaRPr sz="1800">
              <a:latin typeface="Calibri"/>
              <a:cs typeface="Calibri"/>
            </a:endParaRPr>
          </a:p>
          <a:p>
            <a:pPr marL="522923" marR="419100" lvl="1" indent="-170497">
              <a:lnSpc>
                <a:spcPts val="1943"/>
              </a:lnSpc>
              <a:spcBef>
                <a:spcPts val="398"/>
              </a:spcBef>
              <a:buFont typeface="Arial"/>
              <a:buChar char="•"/>
              <a:tabLst>
                <a:tab pos="523875" algn="l"/>
              </a:tabLst>
            </a:pPr>
            <a:r>
              <a:rPr sz="1800" spc="-15" dirty="0">
                <a:latin typeface="Calibri"/>
                <a:cs typeface="Calibri"/>
              </a:rPr>
              <a:t>new.&lt;column</a:t>
            </a:r>
            <a:r>
              <a:rPr sz="1800" spc="-41" dirty="0">
                <a:latin typeface="Calibri"/>
                <a:cs typeface="Calibri"/>
              </a:rPr>
              <a:t> </a:t>
            </a:r>
            <a:r>
              <a:rPr sz="1800" dirty="0">
                <a:latin typeface="Calibri"/>
                <a:cs typeface="Calibri"/>
              </a:rPr>
              <a:t>name&gt;</a:t>
            </a:r>
            <a:r>
              <a:rPr sz="1800" spc="-38" dirty="0">
                <a:latin typeface="Calibri"/>
                <a:cs typeface="Calibri"/>
              </a:rPr>
              <a:t> </a:t>
            </a:r>
            <a:r>
              <a:rPr sz="1800" dirty="0">
                <a:latin typeface="Calibri"/>
                <a:cs typeface="Calibri"/>
              </a:rPr>
              <a:t>will</a:t>
            </a:r>
            <a:r>
              <a:rPr sz="1800" spc="-41" dirty="0">
                <a:latin typeface="Calibri"/>
                <a:cs typeface="Calibri"/>
              </a:rPr>
              <a:t> </a:t>
            </a:r>
            <a:r>
              <a:rPr sz="1800" dirty="0">
                <a:latin typeface="Calibri"/>
                <a:cs typeface="Calibri"/>
              </a:rPr>
              <a:t>give</a:t>
            </a:r>
            <a:r>
              <a:rPr sz="1800" spc="-38" dirty="0">
                <a:latin typeface="Calibri"/>
                <a:cs typeface="Calibri"/>
              </a:rPr>
              <a:t> </a:t>
            </a:r>
            <a:r>
              <a:rPr sz="1800" dirty="0">
                <a:latin typeface="Calibri"/>
                <a:cs typeface="Calibri"/>
              </a:rPr>
              <a:t>you</a:t>
            </a:r>
            <a:r>
              <a:rPr sz="1800" spc="-38" dirty="0">
                <a:latin typeface="Calibri"/>
                <a:cs typeface="Calibri"/>
              </a:rPr>
              <a:t> </a:t>
            </a:r>
            <a:r>
              <a:rPr sz="1800" dirty="0">
                <a:latin typeface="Calibri"/>
                <a:cs typeface="Calibri"/>
              </a:rPr>
              <a:t>the</a:t>
            </a:r>
            <a:r>
              <a:rPr sz="1800" spc="-38" dirty="0">
                <a:latin typeface="Calibri"/>
                <a:cs typeface="Calibri"/>
              </a:rPr>
              <a:t> </a:t>
            </a:r>
            <a:r>
              <a:rPr sz="1800" dirty="0">
                <a:latin typeface="Calibri"/>
                <a:cs typeface="Calibri"/>
              </a:rPr>
              <a:t>value</a:t>
            </a:r>
            <a:r>
              <a:rPr sz="1800" spc="-34" dirty="0">
                <a:latin typeface="Calibri"/>
                <a:cs typeface="Calibri"/>
              </a:rPr>
              <a:t> </a:t>
            </a:r>
            <a:r>
              <a:rPr sz="1800" dirty="0">
                <a:latin typeface="Calibri"/>
                <a:cs typeface="Calibri"/>
              </a:rPr>
              <a:t>of</a:t>
            </a:r>
            <a:r>
              <a:rPr sz="1800" spc="-38" dirty="0">
                <a:latin typeface="Calibri"/>
                <a:cs typeface="Calibri"/>
              </a:rPr>
              <a:t> </a:t>
            </a:r>
            <a:r>
              <a:rPr sz="1800" dirty="0">
                <a:latin typeface="Calibri"/>
                <a:cs typeface="Calibri"/>
              </a:rPr>
              <a:t>that</a:t>
            </a:r>
            <a:r>
              <a:rPr sz="1800" spc="-45" dirty="0">
                <a:latin typeface="Calibri"/>
                <a:cs typeface="Calibri"/>
              </a:rPr>
              <a:t> </a:t>
            </a:r>
            <a:r>
              <a:rPr sz="1800" dirty="0">
                <a:latin typeface="Calibri"/>
                <a:cs typeface="Calibri"/>
              </a:rPr>
              <a:t>column</a:t>
            </a:r>
            <a:r>
              <a:rPr sz="1800" spc="-38" dirty="0">
                <a:latin typeface="Calibri"/>
                <a:cs typeface="Calibri"/>
              </a:rPr>
              <a:t> </a:t>
            </a:r>
            <a:r>
              <a:rPr sz="1800" b="1" dirty="0">
                <a:latin typeface="Calibri"/>
                <a:cs typeface="Calibri"/>
              </a:rPr>
              <a:t>after</a:t>
            </a:r>
            <a:r>
              <a:rPr sz="1800" b="1" spc="-41" dirty="0">
                <a:latin typeface="Calibri"/>
                <a:cs typeface="Calibri"/>
              </a:rPr>
              <a:t> </a:t>
            </a:r>
            <a:r>
              <a:rPr sz="1800" dirty="0">
                <a:latin typeface="Calibri"/>
                <a:cs typeface="Calibri"/>
              </a:rPr>
              <a:t>the</a:t>
            </a:r>
            <a:r>
              <a:rPr sz="1800" spc="-38" dirty="0">
                <a:latin typeface="Calibri"/>
                <a:cs typeface="Calibri"/>
              </a:rPr>
              <a:t> </a:t>
            </a:r>
            <a:r>
              <a:rPr sz="1800" spc="-19" dirty="0">
                <a:latin typeface="Calibri"/>
                <a:cs typeface="Calibri"/>
              </a:rPr>
              <a:t>DML 	</a:t>
            </a:r>
            <a:r>
              <a:rPr sz="1800" spc="-8" dirty="0">
                <a:latin typeface="Calibri"/>
                <a:cs typeface="Calibri"/>
              </a:rPr>
              <a:t>statement</a:t>
            </a:r>
            <a:r>
              <a:rPr sz="1800" spc="-86" dirty="0">
                <a:latin typeface="Calibri"/>
                <a:cs typeface="Calibri"/>
              </a:rPr>
              <a:t> </a:t>
            </a:r>
            <a:r>
              <a:rPr sz="1800" spc="-8" dirty="0">
                <a:latin typeface="Calibri"/>
                <a:cs typeface="Calibri"/>
              </a:rPr>
              <a:t>executed.</a:t>
            </a:r>
            <a:endParaRPr sz="1800">
              <a:latin typeface="Calibri"/>
              <a:cs typeface="Calibri"/>
            </a:endParaRPr>
          </a:p>
          <a:p>
            <a:pPr marL="180975" marR="256699" indent="-171450">
              <a:lnSpc>
                <a:spcPts val="2250"/>
              </a:lnSpc>
              <a:spcBef>
                <a:spcPts val="731"/>
              </a:spcBef>
              <a:buFont typeface="Arial"/>
              <a:buChar char="•"/>
              <a:tabLst>
                <a:tab pos="180975" algn="l"/>
                <a:tab pos="5103019" algn="l"/>
              </a:tabLst>
            </a:pPr>
            <a:r>
              <a:rPr sz="2100" dirty="0">
                <a:latin typeface="Calibri"/>
                <a:cs typeface="Calibri"/>
              </a:rPr>
              <a:t>Insert</a:t>
            </a:r>
            <a:r>
              <a:rPr sz="2100" spc="-56" dirty="0">
                <a:latin typeface="Calibri"/>
                <a:cs typeface="Calibri"/>
              </a:rPr>
              <a:t> </a:t>
            </a:r>
            <a:r>
              <a:rPr sz="2100" dirty="0">
                <a:latin typeface="Calibri"/>
                <a:cs typeface="Calibri"/>
              </a:rPr>
              <a:t>triggers</a:t>
            </a:r>
            <a:r>
              <a:rPr sz="2100" spc="-53" dirty="0">
                <a:latin typeface="Calibri"/>
                <a:cs typeface="Calibri"/>
              </a:rPr>
              <a:t> </a:t>
            </a:r>
            <a:r>
              <a:rPr sz="2100" dirty="0">
                <a:latin typeface="Calibri"/>
                <a:cs typeface="Calibri"/>
              </a:rPr>
              <a:t>have</a:t>
            </a:r>
            <a:r>
              <a:rPr sz="2100" spc="-60" dirty="0">
                <a:latin typeface="Calibri"/>
                <a:cs typeface="Calibri"/>
              </a:rPr>
              <a:t> </a:t>
            </a:r>
            <a:r>
              <a:rPr sz="2100" dirty="0">
                <a:latin typeface="Calibri"/>
                <a:cs typeface="Calibri"/>
              </a:rPr>
              <a:t>no</a:t>
            </a:r>
            <a:r>
              <a:rPr sz="2100" spc="-56" dirty="0">
                <a:latin typeface="Calibri"/>
                <a:cs typeface="Calibri"/>
              </a:rPr>
              <a:t> </a:t>
            </a:r>
            <a:r>
              <a:rPr sz="2100" dirty="0">
                <a:latin typeface="Calibri"/>
                <a:cs typeface="Calibri"/>
              </a:rPr>
              <a:t>old</a:t>
            </a:r>
            <a:r>
              <a:rPr sz="2100" spc="-53" dirty="0">
                <a:latin typeface="Calibri"/>
                <a:cs typeface="Calibri"/>
              </a:rPr>
              <a:t> </a:t>
            </a:r>
            <a:r>
              <a:rPr sz="2100" dirty="0">
                <a:latin typeface="Calibri"/>
                <a:cs typeface="Calibri"/>
              </a:rPr>
              <a:t>values</a:t>
            </a:r>
            <a:r>
              <a:rPr sz="2100" spc="-53" dirty="0">
                <a:latin typeface="Calibri"/>
                <a:cs typeface="Calibri"/>
              </a:rPr>
              <a:t> </a:t>
            </a:r>
            <a:r>
              <a:rPr sz="2100" dirty="0">
                <a:latin typeface="Calibri"/>
                <a:cs typeface="Calibri"/>
              </a:rPr>
              <a:t>available,</a:t>
            </a:r>
            <a:r>
              <a:rPr sz="2100" spc="-53" dirty="0">
                <a:latin typeface="Calibri"/>
                <a:cs typeface="Calibri"/>
              </a:rPr>
              <a:t> </a:t>
            </a:r>
            <a:r>
              <a:rPr sz="2100" dirty="0">
                <a:latin typeface="Calibri"/>
                <a:cs typeface="Calibri"/>
              </a:rPr>
              <a:t>and</a:t>
            </a:r>
            <a:r>
              <a:rPr sz="2100" spc="-53" dirty="0">
                <a:latin typeface="Calibri"/>
                <a:cs typeface="Calibri"/>
              </a:rPr>
              <a:t> </a:t>
            </a:r>
            <a:r>
              <a:rPr sz="2100" dirty="0">
                <a:latin typeface="Calibri"/>
                <a:cs typeface="Calibri"/>
              </a:rPr>
              <a:t>delete</a:t>
            </a:r>
            <a:r>
              <a:rPr sz="2100" spc="-60" dirty="0">
                <a:latin typeface="Calibri"/>
                <a:cs typeface="Calibri"/>
              </a:rPr>
              <a:t> </a:t>
            </a:r>
            <a:r>
              <a:rPr sz="2100" dirty="0">
                <a:latin typeface="Calibri"/>
                <a:cs typeface="Calibri"/>
              </a:rPr>
              <a:t>triggers</a:t>
            </a:r>
            <a:r>
              <a:rPr sz="2100" spc="-53" dirty="0">
                <a:latin typeface="Calibri"/>
                <a:cs typeface="Calibri"/>
              </a:rPr>
              <a:t> </a:t>
            </a:r>
            <a:r>
              <a:rPr sz="2100" spc="-15" dirty="0">
                <a:latin typeface="Calibri"/>
                <a:cs typeface="Calibri"/>
              </a:rPr>
              <a:t>have </a:t>
            </a:r>
            <a:r>
              <a:rPr sz="2100" dirty="0">
                <a:latin typeface="Calibri"/>
                <a:cs typeface="Calibri"/>
              </a:rPr>
              <a:t>no</a:t>
            </a:r>
            <a:r>
              <a:rPr sz="2100" spc="-49" dirty="0">
                <a:latin typeface="Calibri"/>
                <a:cs typeface="Calibri"/>
              </a:rPr>
              <a:t> </a:t>
            </a:r>
            <a:r>
              <a:rPr sz="2100" dirty="0">
                <a:latin typeface="Calibri"/>
                <a:cs typeface="Calibri"/>
              </a:rPr>
              <a:t>new</a:t>
            </a:r>
            <a:r>
              <a:rPr sz="2100" spc="-49" dirty="0">
                <a:latin typeface="Calibri"/>
                <a:cs typeface="Calibri"/>
              </a:rPr>
              <a:t> </a:t>
            </a:r>
            <a:r>
              <a:rPr sz="2100" dirty="0">
                <a:latin typeface="Calibri"/>
                <a:cs typeface="Calibri"/>
              </a:rPr>
              <a:t>values</a:t>
            </a:r>
            <a:r>
              <a:rPr sz="2100" spc="-45" dirty="0">
                <a:latin typeface="Calibri"/>
                <a:cs typeface="Calibri"/>
              </a:rPr>
              <a:t> </a:t>
            </a:r>
            <a:r>
              <a:rPr sz="2100" dirty="0">
                <a:latin typeface="Calibri"/>
                <a:cs typeface="Calibri"/>
              </a:rPr>
              <a:t>available</a:t>
            </a:r>
            <a:r>
              <a:rPr sz="2100" spc="-49" dirty="0">
                <a:latin typeface="Calibri"/>
                <a:cs typeface="Calibri"/>
              </a:rPr>
              <a:t> </a:t>
            </a:r>
            <a:r>
              <a:rPr sz="2100" dirty="0">
                <a:latin typeface="Calibri"/>
                <a:cs typeface="Calibri"/>
              </a:rPr>
              <a:t>for</a:t>
            </a:r>
            <a:r>
              <a:rPr sz="2100" spc="-49" dirty="0">
                <a:latin typeface="Calibri"/>
                <a:cs typeface="Calibri"/>
              </a:rPr>
              <a:t> </a:t>
            </a:r>
            <a:r>
              <a:rPr sz="2100" dirty="0">
                <a:latin typeface="Calibri"/>
                <a:cs typeface="Calibri"/>
              </a:rPr>
              <a:t>obvious</a:t>
            </a:r>
            <a:r>
              <a:rPr sz="2100" spc="-45" dirty="0">
                <a:latin typeface="Calibri"/>
                <a:cs typeface="Calibri"/>
              </a:rPr>
              <a:t> </a:t>
            </a:r>
            <a:r>
              <a:rPr sz="2100" spc="-8" dirty="0">
                <a:latin typeface="Calibri"/>
                <a:cs typeface="Calibri"/>
              </a:rPr>
              <a:t>reasons.</a:t>
            </a:r>
            <a:r>
              <a:rPr sz="2100" dirty="0">
                <a:latin typeface="Calibri"/>
                <a:cs typeface="Calibri"/>
              </a:rPr>
              <a:t>	Only</a:t>
            </a:r>
            <a:r>
              <a:rPr sz="2100" spc="-49" dirty="0">
                <a:latin typeface="Calibri"/>
                <a:cs typeface="Calibri"/>
              </a:rPr>
              <a:t> </a:t>
            </a:r>
            <a:r>
              <a:rPr sz="2100" dirty="0">
                <a:latin typeface="Calibri"/>
                <a:cs typeface="Calibri"/>
              </a:rPr>
              <a:t>update</a:t>
            </a:r>
            <a:r>
              <a:rPr sz="2100" spc="-49" dirty="0">
                <a:latin typeface="Calibri"/>
                <a:cs typeface="Calibri"/>
              </a:rPr>
              <a:t> </a:t>
            </a:r>
            <a:r>
              <a:rPr sz="2100" spc="-8" dirty="0">
                <a:latin typeface="Calibri"/>
                <a:cs typeface="Calibri"/>
              </a:rPr>
              <a:t>triggers </a:t>
            </a:r>
            <a:r>
              <a:rPr sz="2100" dirty="0">
                <a:latin typeface="Calibri"/>
                <a:cs typeface="Calibri"/>
              </a:rPr>
              <a:t>have</a:t>
            </a:r>
            <a:r>
              <a:rPr sz="2100" spc="-34" dirty="0">
                <a:latin typeface="Calibri"/>
                <a:cs typeface="Calibri"/>
              </a:rPr>
              <a:t> </a:t>
            </a:r>
            <a:r>
              <a:rPr sz="2100" dirty="0">
                <a:latin typeface="Calibri"/>
                <a:cs typeface="Calibri"/>
              </a:rPr>
              <a:t>both</a:t>
            </a:r>
            <a:r>
              <a:rPr sz="2100" spc="-26" dirty="0">
                <a:latin typeface="Calibri"/>
                <a:cs typeface="Calibri"/>
              </a:rPr>
              <a:t> </a:t>
            </a:r>
            <a:r>
              <a:rPr sz="2100" dirty="0">
                <a:latin typeface="Calibri"/>
                <a:cs typeface="Calibri"/>
              </a:rPr>
              <a:t>the</a:t>
            </a:r>
            <a:r>
              <a:rPr sz="2100" spc="-30" dirty="0">
                <a:latin typeface="Calibri"/>
                <a:cs typeface="Calibri"/>
              </a:rPr>
              <a:t> </a:t>
            </a:r>
            <a:r>
              <a:rPr sz="2100" dirty="0">
                <a:latin typeface="Calibri"/>
                <a:cs typeface="Calibri"/>
              </a:rPr>
              <a:t>old</a:t>
            </a:r>
            <a:r>
              <a:rPr sz="2100" spc="-26" dirty="0">
                <a:latin typeface="Calibri"/>
                <a:cs typeface="Calibri"/>
              </a:rPr>
              <a:t> </a:t>
            </a:r>
            <a:r>
              <a:rPr sz="2100" dirty="0">
                <a:latin typeface="Calibri"/>
                <a:cs typeface="Calibri"/>
              </a:rPr>
              <a:t>and</a:t>
            </a:r>
            <a:r>
              <a:rPr sz="2100" spc="-26" dirty="0">
                <a:latin typeface="Calibri"/>
                <a:cs typeface="Calibri"/>
              </a:rPr>
              <a:t> </a:t>
            </a:r>
            <a:r>
              <a:rPr sz="2100" dirty="0">
                <a:latin typeface="Calibri"/>
                <a:cs typeface="Calibri"/>
              </a:rPr>
              <a:t>the</a:t>
            </a:r>
            <a:r>
              <a:rPr sz="2100" spc="-34" dirty="0">
                <a:latin typeface="Calibri"/>
                <a:cs typeface="Calibri"/>
              </a:rPr>
              <a:t> </a:t>
            </a:r>
            <a:r>
              <a:rPr sz="2100" dirty="0">
                <a:latin typeface="Calibri"/>
                <a:cs typeface="Calibri"/>
              </a:rPr>
              <a:t>new</a:t>
            </a:r>
            <a:r>
              <a:rPr sz="2100" spc="-26" dirty="0">
                <a:latin typeface="Calibri"/>
                <a:cs typeface="Calibri"/>
              </a:rPr>
              <a:t> </a:t>
            </a:r>
            <a:r>
              <a:rPr sz="2100" dirty="0">
                <a:latin typeface="Calibri"/>
                <a:cs typeface="Calibri"/>
              </a:rPr>
              <a:t>values</a:t>
            </a:r>
            <a:r>
              <a:rPr sz="2100" spc="-26" dirty="0">
                <a:latin typeface="Calibri"/>
                <a:cs typeface="Calibri"/>
              </a:rPr>
              <a:t> </a:t>
            </a:r>
            <a:r>
              <a:rPr sz="2100" spc="-8" dirty="0">
                <a:latin typeface="Calibri"/>
                <a:cs typeface="Calibri"/>
              </a:rPr>
              <a:t>available.</a:t>
            </a:r>
            <a:endParaRPr sz="2100">
              <a:latin typeface="Calibri"/>
              <a:cs typeface="Calibri"/>
            </a:endParaRPr>
          </a:p>
          <a:p>
            <a:pPr marL="180499" indent="-170974">
              <a:spcBef>
                <a:spcPts val="525"/>
              </a:spcBef>
              <a:buFont typeface="Arial"/>
              <a:buChar char="•"/>
              <a:tabLst>
                <a:tab pos="180499" algn="l"/>
              </a:tabLst>
            </a:pPr>
            <a:r>
              <a:rPr sz="2100" dirty="0">
                <a:latin typeface="Calibri"/>
                <a:cs typeface="Calibri"/>
              </a:rPr>
              <a:t>Only</a:t>
            </a:r>
            <a:r>
              <a:rPr sz="2100" spc="-45" dirty="0">
                <a:latin typeface="Calibri"/>
                <a:cs typeface="Calibri"/>
              </a:rPr>
              <a:t> </a:t>
            </a:r>
            <a:r>
              <a:rPr sz="2100" dirty="0">
                <a:latin typeface="Calibri"/>
                <a:cs typeface="Calibri"/>
              </a:rPr>
              <a:t>triggers</a:t>
            </a:r>
            <a:r>
              <a:rPr sz="2100" spc="-34" dirty="0">
                <a:latin typeface="Calibri"/>
                <a:cs typeface="Calibri"/>
              </a:rPr>
              <a:t> </a:t>
            </a:r>
            <a:r>
              <a:rPr sz="2100" dirty="0">
                <a:latin typeface="Calibri"/>
                <a:cs typeface="Calibri"/>
              </a:rPr>
              <a:t>can</a:t>
            </a:r>
            <a:r>
              <a:rPr sz="2100" spc="-41" dirty="0">
                <a:latin typeface="Calibri"/>
                <a:cs typeface="Calibri"/>
              </a:rPr>
              <a:t> </a:t>
            </a:r>
            <a:r>
              <a:rPr sz="2100" dirty="0">
                <a:latin typeface="Calibri"/>
                <a:cs typeface="Calibri"/>
              </a:rPr>
              <a:t>access</a:t>
            </a:r>
            <a:r>
              <a:rPr sz="2100" spc="-38" dirty="0">
                <a:latin typeface="Calibri"/>
                <a:cs typeface="Calibri"/>
              </a:rPr>
              <a:t> </a:t>
            </a:r>
            <a:r>
              <a:rPr sz="2100" dirty="0">
                <a:latin typeface="Calibri"/>
                <a:cs typeface="Calibri"/>
              </a:rPr>
              <a:t>these</a:t>
            </a:r>
            <a:r>
              <a:rPr sz="2100" spc="-41" dirty="0">
                <a:latin typeface="Calibri"/>
                <a:cs typeface="Calibri"/>
              </a:rPr>
              <a:t> </a:t>
            </a:r>
            <a:r>
              <a:rPr sz="2100" dirty="0">
                <a:latin typeface="Calibri"/>
                <a:cs typeface="Calibri"/>
              </a:rPr>
              <a:t>values</a:t>
            </a:r>
            <a:r>
              <a:rPr sz="2100" spc="-38" dirty="0">
                <a:latin typeface="Calibri"/>
                <a:cs typeface="Calibri"/>
              </a:rPr>
              <a:t> </a:t>
            </a:r>
            <a:r>
              <a:rPr sz="2100" dirty="0">
                <a:latin typeface="Calibri"/>
                <a:cs typeface="Calibri"/>
              </a:rPr>
              <a:t>this</a:t>
            </a:r>
            <a:r>
              <a:rPr sz="2100" spc="-34" dirty="0">
                <a:latin typeface="Calibri"/>
                <a:cs typeface="Calibri"/>
              </a:rPr>
              <a:t> </a:t>
            </a:r>
            <a:r>
              <a:rPr sz="2100" spc="-15" dirty="0">
                <a:latin typeface="Calibri"/>
                <a:cs typeface="Calibri"/>
              </a:rPr>
              <a:t>way.</a:t>
            </a:r>
            <a:endParaRPr sz="2100">
              <a:latin typeface="Calibri"/>
              <a:cs typeface="Calibri"/>
            </a:endParaRPr>
          </a:p>
        </p:txBody>
      </p:sp>
    </p:spTree>
    <p:extLst>
      <p:ext uri="{BB962C8B-B14F-4D97-AF65-F5344CB8AC3E}">
        <p14:creationId xmlns:p14="http://schemas.microsoft.com/office/powerpoint/2010/main" val="2567459854"/>
      </p:ext>
    </p:extLst>
  </p:cSld>
  <p:clrMapOvr>
    <a:masterClrMapping/>
  </p:clrMapOvr>
  <p:transition spd="me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EB26FBDA-A81B-1833-E65A-CF1213F746DB}"/>
              </a:ext>
            </a:extLst>
          </p:cNvPr>
          <p:cNvSpPr>
            <a:spLocks noGrp="1"/>
          </p:cNvSpPr>
          <p:nvPr>
            <p:ph type="title"/>
          </p:nvPr>
        </p:nvSpPr>
        <p:spPr/>
        <p:txBody>
          <a:bodyPr/>
          <a:lstStyle/>
          <a:p>
            <a:r>
              <a:rPr lang="en-US" altLang="en-US"/>
              <a:t>Views (Virtual Tables) in SQL</a:t>
            </a:r>
          </a:p>
        </p:txBody>
      </p:sp>
      <p:sp>
        <p:nvSpPr>
          <p:cNvPr id="50179" name="Content Placeholder 2">
            <a:extLst>
              <a:ext uri="{FF2B5EF4-FFF2-40B4-BE49-F238E27FC236}">
                <a16:creationId xmlns:a16="http://schemas.microsoft.com/office/drawing/2014/main" id="{D9988A69-DD9F-81C6-34CC-66352A8D8709}"/>
              </a:ext>
            </a:extLst>
          </p:cNvPr>
          <p:cNvSpPr>
            <a:spLocks noGrp="1"/>
          </p:cNvSpPr>
          <p:nvPr>
            <p:ph idx="1"/>
          </p:nvPr>
        </p:nvSpPr>
        <p:spPr/>
        <p:txBody>
          <a:bodyPr/>
          <a:lstStyle/>
          <a:p>
            <a:pPr>
              <a:defRPr/>
            </a:pPr>
            <a:r>
              <a:rPr lang="en-US" altLang="en-US" dirty="0"/>
              <a:t>Concept of a view in SQL</a:t>
            </a:r>
          </a:p>
          <a:p>
            <a:pPr lvl="1">
              <a:defRPr/>
            </a:pPr>
            <a:r>
              <a:rPr lang="en-US" altLang="en-US" dirty="0"/>
              <a:t>Single table derived from other tables called the </a:t>
            </a:r>
            <a:r>
              <a:rPr lang="en-US" altLang="en-US" b="1" dirty="0"/>
              <a:t>defining tables</a:t>
            </a:r>
          </a:p>
          <a:p>
            <a:pPr lvl="1">
              <a:defRPr/>
            </a:pPr>
            <a:r>
              <a:rPr lang="en-US" altLang="en-US" dirty="0"/>
              <a:t>Considered to be a virtual table that is not necessarily populated</a:t>
            </a:r>
          </a:p>
          <a:p>
            <a:pPr marL="457200" lvl="1" indent="0">
              <a:buFont typeface="Wingdings" panose="05000000000000000000" pitchFamily="2" charset="2"/>
              <a:buNone/>
              <a:defRPr/>
            </a:pPr>
            <a:endParaRPr lang="en-US" altLang="en-US" dirty="0"/>
          </a:p>
        </p:txBody>
      </p:sp>
      <p:sp>
        <p:nvSpPr>
          <p:cNvPr id="55300" name="Slide Number Placeholder 3">
            <a:extLst>
              <a:ext uri="{FF2B5EF4-FFF2-40B4-BE49-F238E27FC236}">
                <a16:creationId xmlns:a16="http://schemas.microsoft.com/office/drawing/2014/main" id="{EF0378D5-2540-E8D5-85A8-C0306116329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7- 45</a:t>
            </a:r>
            <a:endParaRPr lang="en-CA" altLang="en-US" sz="1400">
              <a:solidFill>
                <a:srgbClr val="990033"/>
              </a:solidFill>
            </a:endParaRPr>
          </a:p>
        </p:txBody>
      </p:sp>
    </p:spTree>
  </p:cSld>
  <p:clrMapOvr>
    <a:masterClrMapping/>
  </p:clrMapOvr>
  <p:transition spd="me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C906F16D-494E-2AAC-A58E-AE6C790B0B46}"/>
              </a:ext>
            </a:extLst>
          </p:cNvPr>
          <p:cNvSpPr>
            <a:spLocks noGrp="1"/>
          </p:cNvSpPr>
          <p:nvPr>
            <p:ph type="title"/>
          </p:nvPr>
        </p:nvSpPr>
        <p:spPr/>
        <p:txBody>
          <a:bodyPr/>
          <a:lstStyle/>
          <a:p>
            <a:r>
              <a:rPr lang="en-US" altLang="en-US"/>
              <a:t>Specification of Views in SQL</a:t>
            </a:r>
          </a:p>
        </p:txBody>
      </p:sp>
      <p:sp>
        <p:nvSpPr>
          <p:cNvPr id="56323" name="Content Placeholder 2">
            <a:extLst>
              <a:ext uri="{FF2B5EF4-FFF2-40B4-BE49-F238E27FC236}">
                <a16:creationId xmlns:a16="http://schemas.microsoft.com/office/drawing/2014/main" id="{D6460BC1-52B7-344F-7B0A-980E77E62CC2}"/>
              </a:ext>
            </a:extLst>
          </p:cNvPr>
          <p:cNvSpPr>
            <a:spLocks noGrp="1"/>
          </p:cNvSpPr>
          <p:nvPr>
            <p:ph idx="1"/>
          </p:nvPr>
        </p:nvSpPr>
        <p:spPr/>
        <p:txBody>
          <a:bodyPr/>
          <a:lstStyle/>
          <a:p>
            <a:r>
              <a:rPr lang="en-US" altLang="en-US" b="1">
                <a:latin typeface="Courier New" panose="02070309020205020404" pitchFamily="49" charset="0"/>
                <a:cs typeface="Courier New" panose="02070309020205020404" pitchFamily="49" charset="0"/>
              </a:rPr>
              <a:t>CREATE VIEW</a:t>
            </a:r>
            <a:r>
              <a:rPr lang="en-US" altLang="en-US"/>
              <a:t> command</a:t>
            </a:r>
          </a:p>
          <a:p>
            <a:pPr lvl="1"/>
            <a:r>
              <a:rPr lang="en-US" altLang="en-US" sz="2400"/>
              <a:t>Give table name, list of attribute names, and a query to specify the contents of the view</a:t>
            </a:r>
          </a:p>
          <a:p>
            <a:pPr lvl="1"/>
            <a:r>
              <a:rPr lang="en-US" altLang="en-US" sz="2400"/>
              <a:t>In V1, attributes retain the names from base tables. In V2, attributes are assigned names</a:t>
            </a:r>
          </a:p>
          <a:p>
            <a:pPr lvl="1"/>
            <a:endParaRPr lang="en-US" altLang="en-US" sz="2400"/>
          </a:p>
        </p:txBody>
      </p:sp>
      <p:pic>
        <p:nvPicPr>
          <p:cNvPr id="56324" name="Picture 2">
            <a:extLst>
              <a:ext uri="{FF2B5EF4-FFF2-40B4-BE49-F238E27FC236}">
                <a16:creationId xmlns:a16="http://schemas.microsoft.com/office/drawing/2014/main" id="{1B5A4542-020B-77B6-5679-04FC7BE760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788" y="3733800"/>
            <a:ext cx="657225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5" name="Slide Number Placeholder 3">
            <a:extLst>
              <a:ext uri="{FF2B5EF4-FFF2-40B4-BE49-F238E27FC236}">
                <a16:creationId xmlns:a16="http://schemas.microsoft.com/office/drawing/2014/main" id="{57E50E98-DF1C-83C0-224F-19483C95093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7- 46</a:t>
            </a:r>
            <a:endParaRPr lang="en-CA" altLang="en-US" sz="1400">
              <a:solidFill>
                <a:srgbClr val="990033"/>
              </a:solidFill>
            </a:endParaRPr>
          </a:p>
        </p:txBody>
      </p:sp>
    </p:spTree>
  </p:cSld>
  <p:clrMapOvr>
    <a:masterClrMapping/>
  </p:clrMapOvr>
  <p:transition spd="me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4">
            <a:extLst>
              <a:ext uri="{FF2B5EF4-FFF2-40B4-BE49-F238E27FC236}">
                <a16:creationId xmlns:a16="http://schemas.microsoft.com/office/drawing/2014/main" id="{03CDA3D3-867F-4DD2-FAB5-0C5406B74E23}"/>
              </a:ext>
            </a:extLst>
          </p:cNvPr>
          <p:cNvSpPr>
            <a:spLocks noGrp="1"/>
          </p:cNvSpPr>
          <p:nvPr>
            <p:ph type="title"/>
          </p:nvPr>
        </p:nvSpPr>
        <p:spPr/>
        <p:txBody>
          <a:bodyPr/>
          <a:lstStyle/>
          <a:p>
            <a:r>
              <a:rPr lang="en-US" altLang="en-US"/>
              <a:t>Specification of Views in SQL (cont’d.)</a:t>
            </a:r>
          </a:p>
        </p:txBody>
      </p:sp>
      <p:sp>
        <p:nvSpPr>
          <p:cNvPr id="57347" name="Content Placeholder 2">
            <a:extLst>
              <a:ext uri="{FF2B5EF4-FFF2-40B4-BE49-F238E27FC236}">
                <a16:creationId xmlns:a16="http://schemas.microsoft.com/office/drawing/2014/main" id="{C9F27BBA-215E-0147-9541-043C03E85F19}"/>
              </a:ext>
            </a:extLst>
          </p:cNvPr>
          <p:cNvSpPr>
            <a:spLocks noGrp="1"/>
          </p:cNvSpPr>
          <p:nvPr>
            <p:ph idx="1"/>
          </p:nvPr>
        </p:nvSpPr>
        <p:spPr/>
        <p:txBody>
          <a:bodyPr/>
          <a:lstStyle/>
          <a:p>
            <a:r>
              <a:rPr lang="en-US" altLang="en-US"/>
              <a:t>Once a View is defined, SQL queries can use the View relation in the FROM clause</a:t>
            </a:r>
          </a:p>
          <a:p>
            <a:r>
              <a:rPr lang="en-US" altLang="en-US"/>
              <a:t>View is always up-to-date</a:t>
            </a:r>
          </a:p>
          <a:p>
            <a:pPr lvl="1"/>
            <a:r>
              <a:rPr lang="en-US" altLang="en-US"/>
              <a:t>Responsibility of the DBMS and not the user </a:t>
            </a:r>
          </a:p>
          <a:p>
            <a:r>
              <a:rPr lang="en-US" altLang="en-US" b="1">
                <a:latin typeface="Courier New" panose="02070309020205020404" pitchFamily="49" charset="0"/>
                <a:cs typeface="Courier New" panose="02070309020205020404" pitchFamily="49" charset="0"/>
              </a:rPr>
              <a:t>DROP VIEW </a:t>
            </a:r>
            <a:r>
              <a:rPr lang="en-US" altLang="en-US"/>
              <a:t>command </a:t>
            </a:r>
          </a:p>
          <a:p>
            <a:pPr lvl="1"/>
            <a:r>
              <a:rPr lang="en-US" altLang="en-US"/>
              <a:t>Dispose of a view</a:t>
            </a:r>
          </a:p>
        </p:txBody>
      </p:sp>
      <p:sp>
        <p:nvSpPr>
          <p:cNvPr id="57348" name="Slide Number Placeholder 3">
            <a:extLst>
              <a:ext uri="{FF2B5EF4-FFF2-40B4-BE49-F238E27FC236}">
                <a16:creationId xmlns:a16="http://schemas.microsoft.com/office/drawing/2014/main" id="{69F4F0DD-D1A1-7B4C-8249-E5C9B3DA781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7- 47</a:t>
            </a:r>
            <a:endParaRPr lang="en-CA" altLang="en-US" sz="1400">
              <a:solidFill>
                <a:srgbClr val="990033"/>
              </a:solidFill>
            </a:endParaRPr>
          </a:p>
        </p:txBody>
      </p:sp>
    </p:spTree>
  </p:cSld>
  <p:clrMapOvr>
    <a:masterClrMapping/>
  </p:clrMapOvr>
  <p:transition spd="me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99A0D04C-8696-F241-F1E2-1E9232B10A54}"/>
              </a:ext>
            </a:extLst>
          </p:cNvPr>
          <p:cNvSpPr>
            <a:spLocks noGrp="1"/>
          </p:cNvSpPr>
          <p:nvPr>
            <p:ph type="title"/>
          </p:nvPr>
        </p:nvSpPr>
        <p:spPr/>
        <p:txBody>
          <a:bodyPr/>
          <a:lstStyle/>
          <a:p>
            <a:r>
              <a:rPr lang="en-US" altLang="en-US"/>
              <a:t>View Implementation, View Update, and Inline Views</a:t>
            </a:r>
          </a:p>
        </p:txBody>
      </p:sp>
      <p:sp>
        <p:nvSpPr>
          <p:cNvPr id="58371" name="Content Placeholder 2">
            <a:extLst>
              <a:ext uri="{FF2B5EF4-FFF2-40B4-BE49-F238E27FC236}">
                <a16:creationId xmlns:a16="http://schemas.microsoft.com/office/drawing/2014/main" id="{4BF34342-0EAE-4354-8457-C91B2C17730A}"/>
              </a:ext>
            </a:extLst>
          </p:cNvPr>
          <p:cNvSpPr>
            <a:spLocks noGrp="1"/>
          </p:cNvSpPr>
          <p:nvPr>
            <p:ph idx="1"/>
          </p:nvPr>
        </p:nvSpPr>
        <p:spPr/>
        <p:txBody>
          <a:bodyPr/>
          <a:lstStyle/>
          <a:p>
            <a:r>
              <a:rPr lang="en-US" altLang="en-US"/>
              <a:t>Complex problem of efficiently implementing a view for querying</a:t>
            </a:r>
          </a:p>
          <a:p>
            <a:r>
              <a:rPr lang="en-US" altLang="en-US" b="1"/>
              <a:t>Strategy1: Query modification	</a:t>
            </a:r>
            <a:r>
              <a:rPr lang="en-US" altLang="en-US"/>
              <a:t>approach</a:t>
            </a:r>
          </a:p>
          <a:p>
            <a:pPr lvl="1"/>
            <a:r>
              <a:rPr lang="en-US" altLang="en-US"/>
              <a:t>Compute the view as and when needed. Do not store permanently</a:t>
            </a:r>
          </a:p>
          <a:p>
            <a:pPr lvl="1"/>
            <a:r>
              <a:rPr lang="en-US" altLang="en-US"/>
              <a:t>Modify view query into a query on underlying base tables</a:t>
            </a:r>
          </a:p>
          <a:p>
            <a:pPr lvl="1"/>
            <a:r>
              <a:rPr lang="en-US" altLang="en-US"/>
              <a:t>Disadvantage: inefficient for views defined via complex queries that are time-consuming to execute</a:t>
            </a:r>
          </a:p>
        </p:txBody>
      </p:sp>
      <p:sp>
        <p:nvSpPr>
          <p:cNvPr id="58372" name="Slide Number Placeholder 3">
            <a:extLst>
              <a:ext uri="{FF2B5EF4-FFF2-40B4-BE49-F238E27FC236}">
                <a16:creationId xmlns:a16="http://schemas.microsoft.com/office/drawing/2014/main" id="{74202B1B-7300-EC7B-AFEC-F5572CB0895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7- 48</a:t>
            </a:r>
            <a:endParaRPr lang="en-CA" altLang="en-US" sz="1400">
              <a:solidFill>
                <a:srgbClr val="990033"/>
              </a:solidFill>
            </a:endParaRPr>
          </a:p>
        </p:txBody>
      </p:sp>
    </p:spTree>
  </p:cSld>
  <p:clrMapOvr>
    <a:masterClrMapping/>
  </p:clrMapOvr>
  <p:transition spd="me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4">
            <a:extLst>
              <a:ext uri="{FF2B5EF4-FFF2-40B4-BE49-F238E27FC236}">
                <a16:creationId xmlns:a16="http://schemas.microsoft.com/office/drawing/2014/main" id="{0FC8FC95-8792-D765-66D7-F1F6C1E53D34}"/>
              </a:ext>
            </a:extLst>
          </p:cNvPr>
          <p:cNvSpPr>
            <a:spLocks noGrp="1"/>
          </p:cNvSpPr>
          <p:nvPr>
            <p:ph type="title"/>
          </p:nvPr>
        </p:nvSpPr>
        <p:spPr/>
        <p:txBody>
          <a:bodyPr/>
          <a:lstStyle/>
          <a:p>
            <a:r>
              <a:rPr lang="en-US" altLang="en-US"/>
              <a:t>View Materialization</a:t>
            </a:r>
          </a:p>
        </p:txBody>
      </p:sp>
      <p:sp>
        <p:nvSpPr>
          <p:cNvPr id="59395" name="Content Placeholder 2">
            <a:extLst>
              <a:ext uri="{FF2B5EF4-FFF2-40B4-BE49-F238E27FC236}">
                <a16:creationId xmlns:a16="http://schemas.microsoft.com/office/drawing/2014/main" id="{7267FFF6-0E77-4F7A-2B96-DBEDE9AA6C69}"/>
              </a:ext>
            </a:extLst>
          </p:cNvPr>
          <p:cNvSpPr>
            <a:spLocks noGrp="1"/>
          </p:cNvSpPr>
          <p:nvPr>
            <p:ph idx="1"/>
          </p:nvPr>
        </p:nvSpPr>
        <p:spPr>
          <a:xfrm>
            <a:off x="239713" y="1600200"/>
            <a:ext cx="8523287" cy="4572000"/>
          </a:xfrm>
        </p:spPr>
        <p:txBody>
          <a:bodyPr/>
          <a:lstStyle/>
          <a:p>
            <a:r>
              <a:rPr lang="en-US" altLang="en-US" b="1" dirty="0"/>
              <a:t>Strategy 2: View materialization </a:t>
            </a:r>
          </a:p>
          <a:p>
            <a:pPr lvl="1"/>
            <a:r>
              <a:rPr lang="en-US" altLang="en-US" dirty="0"/>
              <a:t>Physically create a temporary view table when the view is first queried </a:t>
            </a:r>
          </a:p>
          <a:p>
            <a:pPr lvl="1"/>
            <a:r>
              <a:rPr lang="en-US" altLang="en-US" dirty="0"/>
              <a:t>Keep that table on the assumption that other queries on the view will follow</a:t>
            </a:r>
          </a:p>
          <a:p>
            <a:pPr lvl="1"/>
            <a:r>
              <a:rPr lang="en-US" altLang="en-US" dirty="0"/>
              <a:t>Requires efficient strategy for automatically updating the view table when the base tables are updated</a:t>
            </a:r>
          </a:p>
        </p:txBody>
      </p:sp>
      <p:sp>
        <p:nvSpPr>
          <p:cNvPr id="59396" name="Slide Number Placeholder 3">
            <a:extLst>
              <a:ext uri="{FF2B5EF4-FFF2-40B4-BE49-F238E27FC236}">
                <a16:creationId xmlns:a16="http://schemas.microsoft.com/office/drawing/2014/main" id="{116F3A11-B241-11CE-802A-0FBB155CDA5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7- 49</a:t>
            </a:r>
            <a:endParaRPr lang="en-CA" altLang="en-US" sz="1400">
              <a:solidFill>
                <a:srgbClr val="990033"/>
              </a:solidFill>
            </a:endParaRPr>
          </a:p>
        </p:txBody>
      </p:sp>
    </p:spTree>
  </p:cSld>
  <p:clrMapOvr>
    <a:masterClrMapping/>
  </p:clrMapOvr>
  <p:transition spd="me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27080E90-9D9E-7084-E6B8-F70CCEB1F733}"/>
              </a:ext>
            </a:extLst>
          </p:cNvPr>
          <p:cNvSpPr>
            <a:spLocks noGrp="1"/>
          </p:cNvSpPr>
          <p:nvPr>
            <p:ph type="title"/>
          </p:nvPr>
        </p:nvSpPr>
        <p:spPr/>
        <p:txBody>
          <a:bodyPr/>
          <a:lstStyle/>
          <a:p>
            <a:r>
              <a:rPr lang="en-US" altLang="en-US"/>
              <a:t>View Materialization (contd.)</a:t>
            </a:r>
          </a:p>
        </p:txBody>
      </p:sp>
      <p:sp>
        <p:nvSpPr>
          <p:cNvPr id="60419" name="Content Placeholder 2">
            <a:extLst>
              <a:ext uri="{FF2B5EF4-FFF2-40B4-BE49-F238E27FC236}">
                <a16:creationId xmlns:a16="http://schemas.microsoft.com/office/drawing/2014/main" id="{67CA9305-920F-660A-3CF8-DE395E44AE6A}"/>
              </a:ext>
            </a:extLst>
          </p:cNvPr>
          <p:cNvSpPr>
            <a:spLocks noGrp="1"/>
          </p:cNvSpPr>
          <p:nvPr>
            <p:ph idx="1"/>
          </p:nvPr>
        </p:nvSpPr>
        <p:spPr/>
        <p:txBody>
          <a:bodyPr/>
          <a:lstStyle/>
          <a:p>
            <a:r>
              <a:rPr lang="en-US" altLang="en-US"/>
              <a:t>Multiple ways to handle materialization:</a:t>
            </a:r>
          </a:p>
          <a:p>
            <a:pPr lvl="1"/>
            <a:r>
              <a:rPr lang="en-US" altLang="en-US" b="1"/>
              <a:t>immediate update </a:t>
            </a:r>
            <a:r>
              <a:rPr lang="en-US" altLang="en-US"/>
              <a:t>strategy updates a view as soon as the base tables are changed</a:t>
            </a:r>
          </a:p>
          <a:p>
            <a:pPr lvl="1"/>
            <a:r>
              <a:rPr lang="en-US" altLang="en-US" b="1"/>
              <a:t>lazy update </a:t>
            </a:r>
            <a:r>
              <a:rPr lang="en-US" altLang="en-US"/>
              <a:t>strategy updates the view when needed by a view query</a:t>
            </a:r>
          </a:p>
          <a:p>
            <a:pPr lvl="1"/>
            <a:r>
              <a:rPr lang="en-US" altLang="en-US" b="1"/>
              <a:t>periodic update </a:t>
            </a:r>
            <a:r>
              <a:rPr lang="en-US" altLang="en-US"/>
              <a:t>strategy updates the view periodically (in the latter strategy, a view query may get a result that is not up-to-date). This is commonly used in Banks, Retail store operations, etc.</a:t>
            </a:r>
          </a:p>
        </p:txBody>
      </p:sp>
      <p:sp>
        <p:nvSpPr>
          <p:cNvPr id="60420" name="Slide Number Placeholder 3">
            <a:extLst>
              <a:ext uri="{FF2B5EF4-FFF2-40B4-BE49-F238E27FC236}">
                <a16:creationId xmlns:a16="http://schemas.microsoft.com/office/drawing/2014/main" id="{2134A5BA-3324-2C0C-052B-405BBF42686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7- </a:t>
            </a:r>
            <a:fld id="{00B5AAED-9A93-42B8-AC1D-3522293AD39F}" type="slidenum">
              <a:rPr lang="en-US" altLang="en-US" sz="1400">
                <a:solidFill>
                  <a:srgbClr val="990033"/>
                </a:solidFill>
              </a:rPr>
              <a:pPr>
                <a:spcBef>
                  <a:spcPct val="0"/>
                </a:spcBef>
                <a:buClrTx/>
                <a:buSzTx/>
                <a:buFontTx/>
                <a:buNone/>
              </a:pPr>
              <a:t>104</a:t>
            </a:fld>
            <a:endParaRPr lang="en-CA" altLang="en-US" sz="1400">
              <a:solidFill>
                <a:srgbClr val="990033"/>
              </a:solidFill>
            </a:endParaRPr>
          </a:p>
        </p:txBody>
      </p:sp>
    </p:spTree>
  </p:cSld>
  <p:clrMapOvr>
    <a:masterClrMapping/>
  </p:clrMapOvr>
  <p:transition spd="me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4">
            <a:extLst>
              <a:ext uri="{FF2B5EF4-FFF2-40B4-BE49-F238E27FC236}">
                <a16:creationId xmlns:a16="http://schemas.microsoft.com/office/drawing/2014/main" id="{F43202F4-C2AD-8C7A-433E-C660DC7607D1}"/>
              </a:ext>
            </a:extLst>
          </p:cNvPr>
          <p:cNvSpPr>
            <a:spLocks noGrp="1"/>
          </p:cNvSpPr>
          <p:nvPr>
            <p:ph type="title"/>
          </p:nvPr>
        </p:nvSpPr>
        <p:spPr/>
        <p:txBody>
          <a:bodyPr/>
          <a:lstStyle/>
          <a:p>
            <a:r>
              <a:rPr lang="en-US" altLang="en-US"/>
              <a:t>View Update</a:t>
            </a:r>
          </a:p>
        </p:txBody>
      </p:sp>
      <p:sp>
        <p:nvSpPr>
          <p:cNvPr id="56323" name="Content Placeholder 2">
            <a:extLst>
              <a:ext uri="{FF2B5EF4-FFF2-40B4-BE49-F238E27FC236}">
                <a16:creationId xmlns:a16="http://schemas.microsoft.com/office/drawing/2014/main" id="{5AEBAD1E-3EAF-2D33-DBA3-7DBBEA5A5144}"/>
              </a:ext>
            </a:extLst>
          </p:cNvPr>
          <p:cNvSpPr>
            <a:spLocks noGrp="1"/>
          </p:cNvSpPr>
          <p:nvPr>
            <p:ph idx="1"/>
          </p:nvPr>
        </p:nvSpPr>
        <p:spPr/>
        <p:txBody>
          <a:bodyPr/>
          <a:lstStyle/>
          <a:p>
            <a:pPr>
              <a:defRPr/>
            </a:pPr>
            <a:r>
              <a:rPr lang="en-US" altLang="en-US" sz="2400" dirty="0"/>
              <a:t>Update on a view defined on a single table without any aggregate functions</a:t>
            </a:r>
          </a:p>
          <a:p>
            <a:pPr lvl="1">
              <a:defRPr/>
            </a:pPr>
            <a:r>
              <a:rPr lang="en-US" altLang="en-US" sz="2400" dirty="0"/>
              <a:t>Can be mapped to an update on underlying base table- possible if the primary key is preserved in the view</a:t>
            </a:r>
          </a:p>
          <a:p>
            <a:pPr>
              <a:defRPr/>
            </a:pPr>
            <a:r>
              <a:rPr lang="en-US" altLang="en-US" sz="2400" dirty="0"/>
              <a:t>Update not permitted on aggregate views. E.g.,</a:t>
            </a:r>
          </a:p>
          <a:p>
            <a:pPr marL="0" indent="0">
              <a:buFont typeface="Wingdings" panose="05000000000000000000" pitchFamily="2" charset="2"/>
              <a:buNone/>
              <a:defRPr/>
            </a:pPr>
            <a:r>
              <a:rPr lang="en-US" sz="2000" b="1" dirty="0">
                <a:solidFill>
                  <a:schemeClr val="bg2"/>
                </a:solidFill>
              </a:rPr>
              <a:t>	UV2:</a:t>
            </a:r>
            <a:r>
              <a:rPr lang="en-US" sz="2000" dirty="0">
                <a:solidFill>
                  <a:schemeClr val="bg2"/>
                </a:solidFill>
              </a:rPr>
              <a:t>	</a:t>
            </a:r>
            <a:r>
              <a:rPr lang="en-US" sz="2000" b="1" dirty="0">
                <a:solidFill>
                  <a:schemeClr val="bg2"/>
                </a:solidFill>
              </a:rPr>
              <a:t>UPDATE</a:t>
            </a:r>
            <a:r>
              <a:rPr lang="en-US" sz="2000" dirty="0">
                <a:solidFill>
                  <a:schemeClr val="bg2"/>
                </a:solidFill>
              </a:rPr>
              <a:t>		DEPT_INFO</a:t>
            </a:r>
          </a:p>
          <a:p>
            <a:pPr marL="0" indent="0">
              <a:buFont typeface="Wingdings" panose="05000000000000000000" pitchFamily="2" charset="2"/>
              <a:buNone/>
              <a:defRPr/>
            </a:pPr>
            <a:r>
              <a:rPr lang="en-US" sz="2000" dirty="0">
                <a:solidFill>
                  <a:schemeClr val="bg2"/>
                </a:solidFill>
              </a:rPr>
              <a:t>		</a:t>
            </a:r>
            <a:r>
              <a:rPr lang="en-US" sz="2000" b="1" dirty="0">
                <a:solidFill>
                  <a:schemeClr val="bg2"/>
                </a:solidFill>
              </a:rPr>
              <a:t>SET</a:t>
            </a:r>
            <a:r>
              <a:rPr lang="en-US" sz="2000" dirty="0">
                <a:solidFill>
                  <a:schemeClr val="bg2"/>
                </a:solidFill>
              </a:rPr>
              <a:t>			</a:t>
            </a:r>
            <a:r>
              <a:rPr lang="en-US" sz="2000" dirty="0" err="1">
                <a:solidFill>
                  <a:schemeClr val="bg2"/>
                </a:solidFill>
              </a:rPr>
              <a:t>Total_sal</a:t>
            </a:r>
            <a:r>
              <a:rPr lang="en-US" sz="2000" dirty="0">
                <a:solidFill>
                  <a:schemeClr val="bg2"/>
                </a:solidFill>
              </a:rPr>
              <a:t>=100000</a:t>
            </a:r>
          </a:p>
          <a:p>
            <a:pPr marL="0" indent="0">
              <a:buFont typeface="Wingdings" panose="05000000000000000000" pitchFamily="2" charset="2"/>
              <a:buNone/>
              <a:defRPr/>
            </a:pPr>
            <a:r>
              <a:rPr lang="en-US" sz="2000" dirty="0">
                <a:solidFill>
                  <a:schemeClr val="bg2"/>
                </a:solidFill>
              </a:rPr>
              <a:t>		</a:t>
            </a:r>
            <a:r>
              <a:rPr lang="en-US" sz="2000" b="1" dirty="0">
                <a:solidFill>
                  <a:schemeClr val="bg2"/>
                </a:solidFill>
              </a:rPr>
              <a:t>WHERE</a:t>
            </a:r>
            <a:r>
              <a:rPr lang="en-US" sz="2000" dirty="0">
                <a:solidFill>
                  <a:schemeClr val="bg2"/>
                </a:solidFill>
              </a:rPr>
              <a:t>		</a:t>
            </a:r>
            <a:r>
              <a:rPr lang="en-US" sz="2000" dirty="0" err="1">
                <a:solidFill>
                  <a:schemeClr val="bg2"/>
                </a:solidFill>
              </a:rPr>
              <a:t>Dname</a:t>
            </a:r>
            <a:r>
              <a:rPr lang="en-US" sz="2000" dirty="0">
                <a:solidFill>
                  <a:schemeClr val="bg2"/>
                </a:solidFill>
              </a:rPr>
              <a:t>=‘Research’;</a:t>
            </a:r>
          </a:p>
          <a:p>
            <a:pPr marL="0" indent="0">
              <a:buFont typeface="Wingdings" panose="05000000000000000000" pitchFamily="2" charset="2"/>
              <a:buNone/>
              <a:defRPr/>
            </a:pPr>
            <a:r>
              <a:rPr lang="en-US" altLang="en-US" sz="2400" dirty="0"/>
              <a:t>cannot be processed because </a:t>
            </a:r>
            <a:r>
              <a:rPr lang="en-US" altLang="en-US" sz="2400" dirty="0" err="1"/>
              <a:t>Total_sal</a:t>
            </a:r>
            <a:r>
              <a:rPr lang="en-US" altLang="en-US" sz="2400" dirty="0"/>
              <a:t> is a computed value in the view definition</a:t>
            </a:r>
          </a:p>
        </p:txBody>
      </p:sp>
      <p:sp>
        <p:nvSpPr>
          <p:cNvPr id="61444" name="Slide Number Placeholder 3">
            <a:extLst>
              <a:ext uri="{FF2B5EF4-FFF2-40B4-BE49-F238E27FC236}">
                <a16:creationId xmlns:a16="http://schemas.microsoft.com/office/drawing/2014/main" id="{63C1340D-F4EA-99FE-930A-FF5AFFA275F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7- 51</a:t>
            </a:r>
            <a:endParaRPr lang="en-CA" altLang="en-US" sz="1400">
              <a:solidFill>
                <a:srgbClr val="990033"/>
              </a:solidFill>
            </a:endParaRPr>
          </a:p>
        </p:txBody>
      </p:sp>
    </p:spTree>
  </p:cSld>
  <p:clrMapOvr>
    <a:masterClrMapping/>
  </p:clrMapOvr>
  <p:transition spd="me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Content Placeholder 2">
            <a:extLst>
              <a:ext uri="{FF2B5EF4-FFF2-40B4-BE49-F238E27FC236}">
                <a16:creationId xmlns:a16="http://schemas.microsoft.com/office/drawing/2014/main" id="{1BE5455B-B42E-D97D-3247-030D42D87065}"/>
              </a:ext>
            </a:extLst>
          </p:cNvPr>
          <p:cNvSpPr>
            <a:spLocks noGrp="1"/>
          </p:cNvSpPr>
          <p:nvPr>
            <p:ph idx="1"/>
          </p:nvPr>
        </p:nvSpPr>
        <p:spPr>
          <a:xfrm>
            <a:off x="457200" y="1600200"/>
            <a:ext cx="8228013" cy="3919538"/>
          </a:xfrm>
        </p:spPr>
        <p:txBody>
          <a:bodyPr/>
          <a:lstStyle/>
          <a:p>
            <a:r>
              <a:rPr lang="en-US" altLang="en-US"/>
              <a:t>View involving joins</a:t>
            </a:r>
          </a:p>
          <a:p>
            <a:pPr lvl="1"/>
            <a:r>
              <a:rPr lang="en-US" altLang="en-US"/>
              <a:t>Often not possible for DBMS to determine which of the updates is intended</a:t>
            </a:r>
          </a:p>
          <a:p>
            <a:r>
              <a:rPr lang="en-US" altLang="en-US"/>
              <a:t>Clause </a:t>
            </a:r>
            <a:r>
              <a:rPr lang="en-US" altLang="en-US" b="1">
                <a:latin typeface="Courier New" panose="02070309020205020404" pitchFamily="49" charset="0"/>
                <a:cs typeface="Courier New" panose="02070309020205020404" pitchFamily="49" charset="0"/>
              </a:rPr>
              <a:t>WITH CHECK OPTION </a:t>
            </a:r>
          </a:p>
          <a:p>
            <a:pPr lvl="1"/>
            <a:r>
              <a:rPr lang="en-US" altLang="en-US"/>
              <a:t>Must be added at the end of the view definition if a view is to be updated to make sure that tuples being updated stay in the view</a:t>
            </a:r>
          </a:p>
          <a:p>
            <a:r>
              <a:rPr lang="en-US" altLang="en-US" b="1"/>
              <a:t>In-line view</a:t>
            </a:r>
          </a:p>
          <a:p>
            <a:pPr lvl="1"/>
            <a:r>
              <a:rPr lang="en-US" altLang="en-US"/>
              <a:t>Defined in the </a:t>
            </a:r>
            <a:r>
              <a:rPr lang="en-US" altLang="en-US">
                <a:latin typeface="Courier New" panose="02070309020205020404" pitchFamily="49" charset="0"/>
                <a:cs typeface="Courier New" panose="02070309020205020404" pitchFamily="49" charset="0"/>
              </a:rPr>
              <a:t>FROM</a:t>
            </a:r>
            <a:r>
              <a:rPr lang="en-US" altLang="en-US"/>
              <a:t> clause of an SQL query (e.g., we saw its used in the WITH example)</a:t>
            </a:r>
          </a:p>
        </p:txBody>
      </p:sp>
      <p:sp>
        <p:nvSpPr>
          <p:cNvPr id="62467" name="Title 4">
            <a:extLst>
              <a:ext uri="{FF2B5EF4-FFF2-40B4-BE49-F238E27FC236}">
                <a16:creationId xmlns:a16="http://schemas.microsoft.com/office/drawing/2014/main" id="{C3B69070-5615-610C-3E47-E8A6A80A805C}"/>
              </a:ext>
            </a:extLst>
          </p:cNvPr>
          <p:cNvSpPr>
            <a:spLocks noGrp="1"/>
          </p:cNvSpPr>
          <p:nvPr>
            <p:ph type="title"/>
          </p:nvPr>
        </p:nvSpPr>
        <p:spPr/>
        <p:txBody>
          <a:bodyPr/>
          <a:lstStyle/>
          <a:p>
            <a:r>
              <a:rPr lang="en-US" altLang="en-US"/>
              <a:t>View Update and Inline Views</a:t>
            </a:r>
          </a:p>
        </p:txBody>
      </p:sp>
      <p:sp>
        <p:nvSpPr>
          <p:cNvPr id="62468" name="Slide Number Placeholder 3">
            <a:extLst>
              <a:ext uri="{FF2B5EF4-FFF2-40B4-BE49-F238E27FC236}">
                <a16:creationId xmlns:a16="http://schemas.microsoft.com/office/drawing/2014/main" id="{546D6F26-505C-D752-DB79-21B6EA3A205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7- </a:t>
            </a:r>
            <a:fld id="{D524D175-AD57-4A4C-A711-3F43064A586F}" type="slidenum">
              <a:rPr lang="en-US" altLang="en-US" sz="1400">
                <a:solidFill>
                  <a:srgbClr val="990033"/>
                </a:solidFill>
              </a:rPr>
              <a:pPr>
                <a:spcBef>
                  <a:spcPct val="0"/>
                </a:spcBef>
                <a:buClrTx/>
                <a:buSzTx/>
                <a:buFontTx/>
                <a:buNone/>
              </a:pPr>
              <a:t>106</a:t>
            </a:fld>
            <a:endParaRPr lang="en-CA" altLang="en-US" sz="1400">
              <a:solidFill>
                <a:srgbClr val="990033"/>
              </a:solidFill>
            </a:endParaRPr>
          </a:p>
        </p:txBody>
      </p:sp>
    </p:spTree>
  </p:cSld>
  <p:clrMapOvr>
    <a:masterClrMapping/>
  </p:clrMapOvr>
  <p:transition spd="me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4042768C-B619-42F4-A9FF-4AB4F71A7280}"/>
              </a:ext>
            </a:extLst>
          </p:cNvPr>
          <p:cNvSpPr>
            <a:spLocks noGrp="1"/>
          </p:cNvSpPr>
          <p:nvPr>
            <p:ph type="title"/>
          </p:nvPr>
        </p:nvSpPr>
        <p:spPr/>
        <p:txBody>
          <a:bodyPr/>
          <a:lstStyle/>
          <a:p>
            <a:r>
              <a:rPr lang="en-US" altLang="en-US"/>
              <a:t>Views as authorization mechanism</a:t>
            </a:r>
          </a:p>
        </p:txBody>
      </p:sp>
      <p:sp>
        <p:nvSpPr>
          <p:cNvPr id="63491" name="Content Placeholder 2">
            <a:extLst>
              <a:ext uri="{FF2B5EF4-FFF2-40B4-BE49-F238E27FC236}">
                <a16:creationId xmlns:a16="http://schemas.microsoft.com/office/drawing/2014/main" id="{CEBD506D-90CB-38A6-456C-69E357E348D2}"/>
              </a:ext>
            </a:extLst>
          </p:cNvPr>
          <p:cNvSpPr>
            <a:spLocks noGrp="1"/>
          </p:cNvSpPr>
          <p:nvPr>
            <p:ph idx="1"/>
          </p:nvPr>
        </p:nvSpPr>
        <p:spPr>
          <a:xfrm>
            <a:off x="239713" y="1447800"/>
            <a:ext cx="8294687" cy="4724400"/>
          </a:xfrm>
        </p:spPr>
        <p:txBody>
          <a:bodyPr/>
          <a:lstStyle/>
          <a:p>
            <a:r>
              <a:rPr lang="en-US" altLang="en-US"/>
              <a:t>SQL query authorization statements (GRANT and REVOKE) are described in detail in Chapter 30</a:t>
            </a:r>
          </a:p>
          <a:p>
            <a:r>
              <a:rPr lang="en-US" altLang="en-US"/>
              <a:t>Views can be used to hide certain attributes or tuples from unauthorized users</a:t>
            </a:r>
          </a:p>
          <a:p>
            <a:r>
              <a:rPr lang="en-US" altLang="en-US"/>
              <a:t>E.g., For a user who is only allowed to see employee information for those who work for department 5, he may only access the view </a:t>
            </a:r>
            <a:r>
              <a:rPr lang="en-US" altLang="en-US" sz="2400">
                <a:solidFill>
                  <a:srgbClr val="800000"/>
                </a:solidFill>
              </a:rPr>
              <a:t>DEPT5EMP</a:t>
            </a:r>
            <a:r>
              <a:rPr lang="en-US" altLang="en-US" sz="2400"/>
              <a:t>:</a:t>
            </a:r>
            <a:endParaRPr lang="en-US" altLang="en-US"/>
          </a:p>
          <a:p>
            <a:pPr marL="457200" lvl="1" indent="0">
              <a:buFont typeface="Wingdings" panose="05000000000000000000" pitchFamily="2" charset="2"/>
              <a:buNone/>
            </a:pPr>
            <a:r>
              <a:rPr lang="en-US" altLang="en-US" sz="1800" b="1"/>
              <a:t>CREATE VIEW</a:t>
            </a:r>
            <a:r>
              <a:rPr lang="en-US" altLang="en-US" sz="1800"/>
              <a:t>	DEPT5EMP   </a:t>
            </a:r>
            <a:r>
              <a:rPr lang="en-US" altLang="en-US" sz="1800" b="1"/>
              <a:t>AS</a:t>
            </a:r>
            <a:endParaRPr lang="en-US" altLang="en-US" sz="1800"/>
          </a:p>
          <a:p>
            <a:pPr marL="457200" lvl="1" indent="0">
              <a:buFont typeface="Wingdings" panose="05000000000000000000" pitchFamily="2" charset="2"/>
              <a:buNone/>
            </a:pPr>
            <a:r>
              <a:rPr lang="en-US" altLang="en-US" sz="1800" b="1"/>
              <a:t>SELECT</a:t>
            </a:r>
            <a:r>
              <a:rPr lang="en-US" altLang="en-US" sz="1800"/>
              <a:t>		*</a:t>
            </a:r>
          </a:p>
          <a:p>
            <a:pPr marL="457200" lvl="1" indent="0">
              <a:buFont typeface="Wingdings" panose="05000000000000000000" pitchFamily="2" charset="2"/>
              <a:buNone/>
            </a:pPr>
            <a:r>
              <a:rPr lang="en-US" altLang="en-US" sz="1800" b="1"/>
              <a:t>FROM</a:t>
            </a:r>
            <a:r>
              <a:rPr lang="en-US" altLang="en-US" sz="1800"/>
              <a:t>		EMPLOYEE</a:t>
            </a:r>
          </a:p>
          <a:p>
            <a:pPr marL="457200" lvl="1" indent="0">
              <a:buFont typeface="Wingdings" panose="05000000000000000000" pitchFamily="2" charset="2"/>
              <a:buNone/>
            </a:pPr>
            <a:r>
              <a:rPr lang="en-US" altLang="en-US" sz="1800" b="1"/>
              <a:t>WHERE</a:t>
            </a:r>
            <a:r>
              <a:rPr lang="en-US" altLang="en-US" sz="1800"/>
              <a:t>		Dno = 5;</a:t>
            </a:r>
          </a:p>
          <a:p>
            <a:endParaRPr lang="en-US" altLang="en-US"/>
          </a:p>
        </p:txBody>
      </p:sp>
      <p:sp>
        <p:nvSpPr>
          <p:cNvPr id="63492" name="Slide Number Placeholder 3">
            <a:extLst>
              <a:ext uri="{FF2B5EF4-FFF2-40B4-BE49-F238E27FC236}">
                <a16:creationId xmlns:a16="http://schemas.microsoft.com/office/drawing/2014/main" id="{7EF7EA8A-0DC4-DD38-C4DD-6FC6266E29B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7- </a:t>
            </a:r>
            <a:fld id="{8384E33A-B420-41F7-9706-F87E5013C09A}" type="slidenum">
              <a:rPr lang="en-US" altLang="en-US" sz="1400">
                <a:solidFill>
                  <a:srgbClr val="990033"/>
                </a:solidFill>
              </a:rPr>
              <a:pPr>
                <a:spcBef>
                  <a:spcPct val="0"/>
                </a:spcBef>
                <a:buClrTx/>
                <a:buSzTx/>
                <a:buFontTx/>
                <a:buNone/>
              </a:pPr>
              <a:t>107</a:t>
            </a:fld>
            <a:endParaRPr lang="en-CA" altLang="en-US" sz="1400">
              <a:solidFill>
                <a:srgbClr val="990033"/>
              </a:solidFill>
            </a:endParaRPr>
          </a:p>
        </p:txBody>
      </p:sp>
    </p:spTree>
  </p:cSld>
  <p:clrMapOvr>
    <a:masterClrMapping/>
  </p:clrMapOvr>
  <p:transition spd="me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2A097C46-08C2-B35B-4103-9F2DE5FCE0E9}"/>
              </a:ext>
            </a:extLst>
          </p:cNvPr>
          <p:cNvSpPr>
            <a:spLocks noGrp="1"/>
          </p:cNvSpPr>
          <p:nvPr>
            <p:ph type="title"/>
          </p:nvPr>
        </p:nvSpPr>
        <p:spPr/>
        <p:txBody>
          <a:bodyPr/>
          <a:lstStyle/>
          <a:p>
            <a:r>
              <a:rPr lang="en-US" altLang="en-US"/>
              <a:t>Schema Change Statements in SQL</a:t>
            </a:r>
          </a:p>
        </p:txBody>
      </p:sp>
      <p:sp>
        <p:nvSpPr>
          <p:cNvPr id="64515" name="Content Placeholder 2">
            <a:extLst>
              <a:ext uri="{FF2B5EF4-FFF2-40B4-BE49-F238E27FC236}">
                <a16:creationId xmlns:a16="http://schemas.microsoft.com/office/drawing/2014/main" id="{E01D1944-A4C0-8320-EB6F-860054A161ED}"/>
              </a:ext>
            </a:extLst>
          </p:cNvPr>
          <p:cNvSpPr>
            <a:spLocks noGrp="1"/>
          </p:cNvSpPr>
          <p:nvPr>
            <p:ph idx="1"/>
          </p:nvPr>
        </p:nvSpPr>
        <p:spPr/>
        <p:txBody>
          <a:bodyPr/>
          <a:lstStyle/>
          <a:p>
            <a:r>
              <a:rPr lang="en-US" altLang="en-US" b="1"/>
              <a:t>Schema evolution commands </a:t>
            </a:r>
          </a:p>
          <a:p>
            <a:pPr lvl="1"/>
            <a:r>
              <a:rPr lang="en-US" altLang="en-US"/>
              <a:t>DBA may want to change the schema while the database is operational </a:t>
            </a:r>
          </a:p>
          <a:p>
            <a:pPr lvl="1"/>
            <a:r>
              <a:rPr lang="en-US" altLang="en-US"/>
              <a:t>Does not require recompilation of the database schema</a:t>
            </a:r>
          </a:p>
        </p:txBody>
      </p:sp>
      <p:sp>
        <p:nvSpPr>
          <p:cNvPr id="64516" name="Slide Number Placeholder 3">
            <a:extLst>
              <a:ext uri="{FF2B5EF4-FFF2-40B4-BE49-F238E27FC236}">
                <a16:creationId xmlns:a16="http://schemas.microsoft.com/office/drawing/2014/main" id="{33A965C7-4CA1-0CDC-58B1-3D156623765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7- 54</a:t>
            </a:r>
            <a:endParaRPr lang="en-CA" altLang="en-US" sz="1400">
              <a:solidFill>
                <a:srgbClr val="990033"/>
              </a:solidFill>
            </a:endParaRPr>
          </a:p>
        </p:txBody>
      </p:sp>
    </p:spTree>
  </p:cSld>
  <p:clrMapOvr>
    <a:masterClrMapping/>
  </p:clrMapOvr>
  <p:transition spd="me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E3DF1C26-BC33-1C93-1D9C-587267376EFA}"/>
              </a:ext>
            </a:extLst>
          </p:cNvPr>
          <p:cNvSpPr>
            <a:spLocks noGrp="1"/>
          </p:cNvSpPr>
          <p:nvPr>
            <p:ph type="title"/>
          </p:nvPr>
        </p:nvSpPr>
        <p:spPr/>
        <p:txBody>
          <a:bodyPr/>
          <a:lstStyle/>
          <a:p>
            <a:r>
              <a:rPr lang="en-US" altLang="en-US"/>
              <a:t>The DROP Command</a:t>
            </a:r>
          </a:p>
        </p:txBody>
      </p:sp>
      <p:sp>
        <p:nvSpPr>
          <p:cNvPr id="59395" name="Content Placeholder 2">
            <a:extLst>
              <a:ext uri="{FF2B5EF4-FFF2-40B4-BE49-F238E27FC236}">
                <a16:creationId xmlns:a16="http://schemas.microsoft.com/office/drawing/2014/main" id="{477C9E60-1743-9F4E-BAF2-75F68CB7F7BD}"/>
              </a:ext>
            </a:extLst>
          </p:cNvPr>
          <p:cNvSpPr>
            <a:spLocks noGrp="1"/>
          </p:cNvSpPr>
          <p:nvPr>
            <p:ph idx="1"/>
          </p:nvPr>
        </p:nvSpPr>
        <p:spPr/>
        <p:txBody>
          <a:bodyPr/>
          <a:lstStyle/>
          <a:p>
            <a:pPr>
              <a:defRPr/>
            </a:pPr>
            <a:r>
              <a:rPr lang="en-US" altLang="en-US" dirty="0">
                <a:latin typeface="Courier New" panose="02070309020205020404" pitchFamily="49" charset="0"/>
                <a:cs typeface="Courier New" panose="02070309020205020404" pitchFamily="49" charset="0"/>
              </a:rPr>
              <a:t>DROP </a:t>
            </a:r>
            <a:r>
              <a:rPr lang="en-US" altLang="en-US" dirty="0"/>
              <a:t>command </a:t>
            </a:r>
          </a:p>
          <a:p>
            <a:pPr lvl="1">
              <a:defRPr/>
            </a:pPr>
            <a:r>
              <a:rPr lang="en-US" altLang="en-US" dirty="0"/>
              <a:t>Used to drop named schema elements, such as tables, domains, or constraint</a:t>
            </a:r>
          </a:p>
          <a:p>
            <a:pPr>
              <a:defRPr/>
            </a:pPr>
            <a:r>
              <a:rPr lang="en-US" altLang="en-US" dirty="0"/>
              <a:t>Drop behavior options: </a:t>
            </a:r>
          </a:p>
          <a:p>
            <a:pPr lvl="1">
              <a:defRPr/>
            </a:pPr>
            <a:r>
              <a:rPr lang="en-US" altLang="en-US" dirty="0">
                <a:latin typeface="Courier New" panose="02070309020205020404" pitchFamily="49" charset="0"/>
                <a:cs typeface="Courier New" panose="02070309020205020404" pitchFamily="49" charset="0"/>
              </a:rPr>
              <a:t>CASCADE </a:t>
            </a:r>
            <a:r>
              <a:rPr lang="en-US" altLang="en-US" dirty="0"/>
              <a:t>and </a:t>
            </a:r>
            <a:r>
              <a:rPr lang="en-US" altLang="en-US" dirty="0">
                <a:latin typeface="Courier New" panose="02070309020205020404" pitchFamily="49" charset="0"/>
                <a:cs typeface="Courier New" panose="02070309020205020404" pitchFamily="49" charset="0"/>
              </a:rPr>
              <a:t>RESTRICT</a:t>
            </a:r>
          </a:p>
          <a:p>
            <a:pPr>
              <a:defRPr/>
            </a:pPr>
            <a:r>
              <a:rPr lang="en-US" altLang="en-US" dirty="0"/>
              <a:t>Example:</a:t>
            </a:r>
          </a:p>
          <a:p>
            <a:pPr lvl="1">
              <a:defRPr/>
            </a:pPr>
            <a:r>
              <a:rPr lang="en-US" altLang="en-US" dirty="0">
                <a:latin typeface="Courier New" panose="02070309020205020404" pitchFamily="49" charset="0"/>
                <a:cs typeface="Courier New" panose="02070309020205020404" pitchFamily="49" charset="0"/>
              </a:rPr>
              <a:t>DROP SCHEMA COMPANY CASCADE;</a:t>
            </a:r>
          </a:p>
          <a:p>
            <a:pPr lvl="1">
              <a:defRPr/>
            </a:pPr>
            <a:r>
              <a:rPr lang="en-US" altLang="en-US" sz="2800" dirty="0">
                <a:solidFill>
                  <a:schemeClr val="tx2"/>
                </a:solidFill>
                <a:cs typeface="+mn-cs"/>
              </a:rPr>
              <a:t>This removes the schema and all its elements including tables, views, constraints, etc.</a:t>
            </a:r>
          </a:p>
        </p:txBody>
      </p:sp>
      <p:sp>
        <p:nvSpPr>
          <p:cNvPr id="65540" name="Slide Number Placeholder 3">
            <a:extLst>
              <a:ext uri="{FF2B5EF4-FFF2-40B4-BE49-F238E27FC236}">
                <a16:creationId xmlns:a16="http://schemas.microsoft.com/office/drawing/2014/main" id="{9E23E56B-2D1D-AAC8-9FA1-5A19C04245F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7- 55</a:t>
            </a:r>
            <a:endParaRPr lang="en-CA" altLang="en-US" sz="1400">
              <a:solidFill>
                <a:srgbClr val="990033"/>
              </a:solidFill>
            </a:endParaRPr>
          </a:p>
        </p:txBody>
      </p:sp>
    </p:spTree>
  </p:cSld>
  <p:clrMapOvr>
    <a:masterClrMapping/>
  </p:clrMapOvr>
  <p:transition spd="me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7C72A4B0-4E7F-BD0F-B59B-FA5E85B32FA8}"/>
              </a:ext>
            </a:extLst>
          </p:cNvPr>
          <p:cNvSpPr>
            <a:spLocks noGrp="1"/>
          </p:cNvSpPr>
          <p:nvPr>
            <p:ph type="title"/>
          </p:nvPr>
        </p:nvSpPr>
        <p:spPr/>
        <p:txBody>
          <a:bodyPr/>
          <a:lstStyle/>
          <a:p>
            <a:r>
              <a:rPr lang="en-US" altLang="en-US"/>
              <a:t>The ALTER table command</a:t>
            </a:r>
          </a:p>
        </p:txBody>
      </p:sp>
      <p:sp>
        <p:nvSpPr>
          <p:cNvPr id="66563" name="Content Placeholder 2">
            <a:extLst>
              <a:ext uri="{FF2B5EF4-FFF2-40B4-BE49-F238E27FC236}">
                <a16:creationId xmlns:a16="http://schemas.microsoft.com/office/drawing/2014/main" id="{A77FFAC3-7320-CF94-37C2-A84AFFABC52C}"/>
              </a:ext>
            </a:extLst>
          </p:cNvPr>
          <p:cNvSpPr>
            <a:spLocks noGrp="1"/>
          </p:cNvSpPr>
          <p:nvPr>
            <p:ph idx="1"/>
          </p:nvPr>
        </p:nvSpPr>
        <p:spPr>
          <a:xfrm>
            <a:off x="315913" y="1524000"/>
            <a:ext cx="8294687" cy="4572000"/>
          </a:xfrm>
        </p:spPr>
        <p:txBody>
          <a:bodyPr/>
          <a:lstStyle/>
          <a:p>
            <a:r>
              <a:rPr lang="en-US" altLang="en-US" b="1"/>
              <a:t>Alter table actions </a:t>
            </a:r>
            <a:r>
              <a:rPr lang="en-US" altLang="en-US"/>
              <a:t>include:</a:t>
            </a:r>
          </a:p>
          <a:p>
            <a:pPr lvl="1"/>
            <a:r>
              <a:rPr lang="en-US" altLang="en-US"/>
              <a:t>Adding or dropping a column (attribute)</a:t>
            </a:r>
          </a:p>
          <a:p>
            <a:pPr lvl="1"/>
            <a:r>
              <a:rPr lang="en-US" altLang="en-US"/>
              <a:t>Changing a column definition</a:t>
            </a:r>
          </a:p>
          <a:p>
            <a:pPr lvl="1"/>
            <a:r>
              <a:rPr lang="en-US" altLang="en-US"/>
              <a:t>Adding or dropping table constraints</a:t>
            </a:r>
          </a:p>
          <a:p>
            <a:r>
              <a:rPr lang="en-US" altLang="en-US">
                <a:cs typeface="Courier New" panose="02070309020205020404" pitchFamily="49" charset="0"/>
              </a:rPr>
              <a:t>Example:</a:t>
            </a:r>
          </a:p>
          <a:p>
            <a:pPr lvl="1"/>
            <a:r>
              <a:rPr lang="en-US" altLang="en-US">
                <a:latin typeface="Courier New" panose="02070309020205020404" pitchFamily="49" charset="0"/>
                <a:cs typeface="Courier New" panose="02070309020205020404" pitchFamily="49" charset="0"/>
              </a:rPr>
              <a:t>ALTER TABLE COMPANY.EMPLOYEE ADD COLUMN Job VARCHAR(12);</a:t>
            </a:r>
          </a:p>
          <a:p>
            <a:pPr lvl="1"/>
            <a:endParaRPr lang="en-US" altLang="en-US">
              <a:latin typeface="Courier New" panose="02070309020205020404" pitchFamily="49" charset="0"/>
              <a:cs typeface="Courier New" panose="02070309020205020404" pitchFamily="49" charset="0"/>
            </a:endParaRPr>
          </a:p>
        </p:txBody>
      </p:sp>
      <p:sp>
        <p:nvSpPr>
          <p:cNvPr id="66564" name="Slide Number Placeholder 3">
            <a:extLst>
              <a:ext uri="{FF2B5EF4-FFF2-40B4-BE49-F238E27FC236}">
                <a16:creationId xmlns:a16="http://schemas.microsoft.com/office/drawing/2014/main" id="{61DAD2FA-089E-90B1-A4B7-19659E60D15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7- 56</a:t>
            </a:r>
            <a:endParaRPr lang="en-CA" altLang="en-US" sz="1400">
              <a:solidFill>
                <a:srgbClr val="990033"/>
              </a:solidFill>
            </a:endParaRPr>
          </a:p>
        </p:txBody>
      </p:sp>
    </p:spTree>
  </p:cSld>
  <p:clrMapOvr>
    <a:masterClrMapping/>
  </p:clrMapOvr>
  <p:transition spd="me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218E3B76-0432-E79F-1E33-18BAEFE2F339}"/>
              </a:ext>
            </a:extLst>
          </p:cNvPr>
          <p:cNvSpPr>
            <a:spLocks noGrp="1"/>
          </p:cNvSpPr>
          <p:nvPr>
            <p:ph type="title"/>
          </p:nvPr>
        </p:nvSpPr>
        <p:spPr/>
        <p:txBody>
          <a:bodyPr/>
          <a:lstStyle/>
          <a:p>
            <a:r>
              <a:rPr lang="en-US" altLang="en-US"/>
              <a:t>Adding and Dropping Constraints</a:t>
            </a:r>
          </a:p>
        </p:txBody>
      </p:sp>
      <p:sp>
        <p:nvSpPr>
          <p:cNvPr id="67587" name="Content Placeholder 2">
            <a:extLst>
              <a:ext uri="{FF2B5EF4-FFF2-40B4-BE49-F238E27FC236}">
                <a16:creationId xmlns:a16="http://schemas.microsoft.com/office/drawing/2014/main" id="{BE5E4548-2910-DAE1-9B49-185BD72D3528}"/>
              </a:ext>
            </a:extLst>
          </p:cNvPr>
          <p:cNvSpPr>
            <a:spLocks noGrp="1"/>
          </p:cNvSpPr>
          <p:nvPr>
            <p:ph idx="1"/>
          </p:nvPr>
        </p:nvSpPr>
        <p:spPr/>
        <p:txBody>
          <a:bodyPr/>
          <a:lstStyle/>
          <a:p>
            <a:r>
              <a:rPr lang="en-US" altLang="en-US"/>
              <a:t>Change constraints specified on a table </a:t>
            </a:r>
          </a:p>
          <a:p>
            <a:pPr lvl="1"/>
            <a:r>
              <a:rPr lang="en-US" altLang="en-US"/>
              <a:t>Add or drop a named constraint</a:t>
            </a:r>
          </a:p>
          <a:p>
            <a:endParaRPr lang="en-US" altLang="en-US"/>
          </a:p>
        </p:txBody>
      </p:sp>
      <p:pic>
        <p:nvPicPr>
          <p:cNvPr id="67588" name="Picture 2">
            <a:extLst>
              <a:ext uri="{FF2B5EF4-FFF2-40B4-BE49-F238E27FC236}">
                <a16:creationId xmlns:a16="http://schemas.microsoft.com/office/drawing/2014/main" id="{C27C50CE-3A8F-B9B8-4142-A0DE5023F2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906713"/>
            <a:ext cx="60039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9" name="Slide Number Placeholder 3">
            <a:extLst>
              <a:ext uri="{FF2B5EF4-FFF2-40B4-BE49-F238E27FC236}">
                <a16:creationId xmlns:a16="http://schemas.microsoft.com/office/drawing/2014/main" id="{CF9860BE-AE21-9A71-EC81-D4EBC378871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7- 57</a:t>
            </a:r>
            <a:endParaRPr lang="en-CA" altLang="en-US" sz="1400">
              <a:solidFill>
                <a:srgbClr val="990033"/>
              </a:solidFill>
            </a:endParaRPr>
          </a:p>
        </p:txBody>
      </p:sp>
    </p:spTree>
  </p:cSld>
  <p:clrMapOvr>
    <a:masterClrMapping/>
  </p:clrMapOvr>
  <p:transition spd="me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320F2F2D-540B-DEC3-4983-69CC47437D61}"/>
              </a:ext>
            </a:extLst>
          </p:cNvPr>
          <p:cNvSpPr>
            <a:spLocks noGrp="1"/>
          </p:cNvSpPr>
          <p:nvPr>
            <p:ph type="title"/>
          </p:nvPr>
        </p:nvSpPr>
        <p:spPr/>
        <p:txBody>
          <a:bodyPr/>
          <a:lstStyle/>
          <a:p>
            <a:r>
              <a:rPr lang="en-US" altLang="en-US"/>
              <a:t>Dropping Columns, Default Values</a:t>
            </a:r>
          </a:p>
        </p:txBody>
      </p:sp>
      <p:sp>
        <p:nvSpPr>
          <p:cNvPr id="3" name="Content Placeholder 2">
            <a:extLst>
              <a:ext uri="{FF2B5EF4-FFF2-40B4-BE49-F238E27FC236}">
                <a16:creationId xmlns:a16="http://schemas.microsoft.com/office/drawing/2014/main" id="{44703560-3FE0-9DB5-628D-330999767968}"/>
              </a:ext>
            </a:extLst>
          </p:cNvPr>
          <p:cNvSpPr>
            <a:spLocks noGrp="1"/>
          </p:cNvSpPr>
          <p:nvPr>
            <p:ph idx="1"/>
          </p:nvPr>
        </p:nvSpPr>
        <p:spPr/>
        <p:txBody>
          <a:bodyPr/>
          <a:lstStyle/>
          <a:p>
            <a:pPr>
              <a:defRPr/>
            </a:pPr>
            <a:r>
              <a:rPr lang="en-US" altLang="en-US" dirty="0"/>
              <a:t>To drop a column</a:t>
            </a:r>
          </a:p>
          <a:p>
            <a:pPr lvl="1">
              <a:defRPr/>
            </a:pPr>
            <a:r>
              <a:rPr lang="en-US" altLang="en-US" dirty="0"/>
              <a:t>Choose either </a:t>
            </a:r>
            <a:r>
              <a:rPr lang="en-US" altLang="en-US" dirty="0">
                <a:latin typeface="Courier New" panose="02070309020205020404" pitchFamily="49" charset="0"/>
                <a:cs typeface="Courier New" panose="02070309020205020404" pitchFamily="49" charset="0"/>
              </a:rPr>
              <a:t>CASCADE</a:t>
            </a:r>
            <a:r>
              <a:rPr lang="en-US" altLang="en-US" dirty="0"/>
              <a:t> or </a:t>
            </a:r>
            <a:r>
              <a:rPr lang="en-US" altLang="en-US" dirty="0">
                <a:latin typeface="Courier New" panose="02070309020205020404" pitchFamily="49" charset="0"/>
                <a:cs typeface="Courier New" panose="02070309020205020404" pitchFamily="49" charset="0"/>
              </a:rPr>
              <a:t>RESTRICT</a:t>
            </a:r>
          </a:p>
          <a:p>
            <a:pPr lvl="1">
              <a:defRPr/>
            </a:pPr>
            <a:r>
              <a:rPr lang="en-US" altLang="en-US" dirty="0">
                <a:latin typeface="Courier New" panose="02070309020205020404" pitchFamily="49" charset="0"/>
                <a:cs typeface="Courier New" panose="02070309020205020404" pitchFamily="49" charset="0"/>
              </a:rPr>
              <a:t>CASCADE </a:t>
            </a:r>
            <a:r>
              <a:rPr lang="en-US" altLang="en-US" dirty="0">
                <a:solidFill>
                  <a:schemeClr val="tx2"/>
                </a:solidFill>
                <a:cs typeface="Courier New" panose="02070309020205020404" pitchFamily="49" charset="0"/>
              </a:rPr>
              <a:t>would drop the column from views etc. </a:t>
            </a:r>
            <a:r>
              <a:rPr lang="en-US" altLang="en-US" dirty="0">
                <a:latin typeface="Courier New" panose="02070309020205020404" pitchFamily="49" charset="0"/>
                <a:cs typeface="Courier New" panose="02070309020205020404" pitchFamily="49" charset="0"/>
              </a:rPr>
              <a:t>RESTRICT </a:t>
            </a:r>
            <a:r>
              <a:rPr lang="en-US" altLang="en-US" dirty="0">
                <a:solidFill>
                  <a:schemeClr val="tx2"/>
                </a:solidFill>
                <a:cs typeface="Courier New" panose="02070309020205020404" pitchFamily="49" charset="0"/>
              </a:rPr>
              <a:t>is possible if no views refer to it.</a:t>
            </a:r>
          </a:p>
          <a:p>
            <a:pPr marL="0" indent="0">
              <a:buFont typeface="Wingdings" panose="05000000000000000000" pitchFamily="2" charset="2"/>
              <a:buNone/>
              <a:defRPr/>
            </a:pPr>
            <a:r>
              <a:rPr lang="en-US" sz="2000" b="1" dirty="0">
                <a:solidFill>
                  <a:schemeClr val="bg2"/>
                </a:solidFill>
              </a:rPr>
              <a:t>	ALTER TABLE</a:t>
            </a:r>
            <a:r>
              <a:rPr lang="en-US" sz="2000" dirty="0">
                <a:solidFill>
                  <a:schemeClr val="bg2"/>
                </a:solidFill>
              </a:rPr>
              <a:t> COMPANY.EMPLOYEE </a:t>
            </a:r>
            <a:r>
              <a:rPr lang="en-US" sz="2000" b="1" dirty="0">
                <a:solidFill>
                  <a:schemeClr val="bg2"/>
                </a:solidFill>
              </a:rPr>
              <a:t>DROP COLUMN</a:t>
            </a:r>
            <a:r>
              <a:rPr lang="en-US" sz="2000" dirty="0">
                <a:solidFill>
                  <a:schemeClr val="bg2"/>
                </a:solidFill>
              </a:rPr>
              <a:t> 	Address </a:t>
            </a:r>
            <a:r>
              <a:rPr lang="en-US" sz="2000" b="1" dirty="0">
                <a:solidFill>
                  <a:schemeClr val="bg2"/>
                </a:solidFill>
              </a:rPr>
              <a:t>CASCADE</a:t>
            </a:r>
            <a:r>
              <a:rPr lang="en-US" sz="2000" dirty="0">
                <a:solidFill>
                  <a:schemeClr val="bg2"/>
                </a:solidFill>
              </a:rPr>
              <a:t>;</a:t>
            </a:r>
          </a:p>
          <a:p>
            <a:pPr>
              <a:defRPr/>
            </a:pPr>
            <a:r>
              <a:rPr lang="en-US" dirty="0"/>
              <a:t>Default values can be dropped and altered :</a:t>
            </a:r>
          </a:p>
          <a:p>
            <a:pPr marL="400050" lvl="1" indent="0">
              <a:buFont typeface="Wingdings" panose="05000000000000000000" pitchFamily="2" charset="2"/>
              <a:buNone/>
              <a:defRPr/>
            </a:pPr>
            <a:r>
              <a:rPr lang="en-US" sz="1800" b="1" dirty="0">
                <a:solidFill>
                  <a:schemeClr val="bg2"/>
                </a:solidFill>
              </a:rPr>
              <a:t>ALTER TABLE</a:t>
            </a:r>
            <a:r>
              <a:rPr lang="en-US" sz="1800" dirty="0">
                <a:solidFill>
                  <a:schemeClr val="bg2"/>
                </a:solidFill>
              </a:rPr>
              <a:t> COMPANY.DEPARTMENT </a:t>
            </a:r>
            <a:r>
              <a:rPr lang="en-US" sz="1800" b="1" dirty="0">
                <a:solidFill>
                  <a:schemeClr val="bg2"/>
                </a:solidFill>
              </a:rPr>
              <a:t>ALTER COLUMN</a:t>
            </a:r>
            <a:r>
              <a:rPr lang="en-US" sz="1800" dirty="0">
                <a:solidFill>
                  <a:schemeClr val="bg2"/>
                </a:solidFill>
              </a:rPr>
              <a:t> </a:t>
            </a:r>
            <a:r>
              <a:rPr lang="en-US" sz="1800" dirty="0" err="1">
                <a:solidFill>
                  <a:schemeClr val="bg2"/>
                </a:solidFill>
              </a:rPr>
              <a:t>Mgr_ssn</a:t>
            </a:r>
            <a:r>
              <a:rPr lang="en-US" sz="1800" dirty="0">
                <a:solidFill>
                  <a:schemeClr val="bg2"/>
                </a:solidFill>
              </a:rPr>
              <a:t> </a:t>
            </a:r>
            <a:r>
              <a:rPr lang="en-US" sz="1800" b="1" dirty="0">
                <a:solidFill>
                  <a:schemeClr val="bg2"/>
                </a:solidFill>
              </a:rPr>
              <a:t>DROP DEFAULT</a:t>
            </a:r>
            <a:r>
              <a:rPr lang="en-US" sz="1800" dirty="0">
                <a:solidFill>
                  <a:schemeClr val="bg2"/>
                </a:solidFill>
              </a:rPr>
              <a:t>;</a:t>
            </a:r>
          </a:p>
          <a:p>
            <a:pPr marL="400050" lvl="1" indent="0">
              <a:buFont typeface="Wingdings" panose="05000000000000000000" pitchFamily="2" charset="2"/>
              <a:buNone/>
              <a:defRPr/>
            </a:pPr>
            <a:r>
              <a:rPr lang="en-US" sz="1800" b="1" dirty="0">
                <a:solidFill>
                  <a:schemeClr val="bg2"/>
                </a:solidFill>
              </a:rPr>
              <a:t>ALTER TABLE</a:t>
            </a:r>
            <a:r>
              <a:rPr lang="en-US" sz="1800" dirty="0">
                <a:solidFill>
                  <a:schemeClr val="bg2"/>
                </a:solidFill>
              </a:rPr>
              <a:t> COMPANY.DEPARTMENT </a:t>
            </a:r>
            <a:r>
              <a:rPr lang="en-US" sz="1800" b="1" dirty="0">
                <a:solidFill>
                  <a:schemeClr val="bg2"/>
                </a:solidFill>
              </a:rPr>
              <a:t>ALTER COLUMN</a:t>
            </a:r>
            <a:r>
              <a:rPr lang="en-US" sz="1800" dirty="0">
                <a:solidFill>
                  <a:schemeClr val="bg2"/>
                </a:solidFill>
              </a:rPr>
              <a:t> </a:t>
            </a:r>
            <a:r>
              <a:rPr lang="en-US" sz="1800" dirty="0" err="1">
                <a:solidFill>
                  <a:schemeClr val="bg2"/>
                </a:solidFill>
              </a:rPr>
              <a:t>Mgr_ssn</a:t>
            </a:r>
            <a:r>
              <a:rPr lang="en-US" sz="1800" dirty="0">
                <a:solidFill>
                  <a:schemeClr val="bg2"/>
                </a:solidFill>
              </a:rPr>
              <a:t> </a:t>
            </a:r>
            <a:r>
              <a:rPr lang="en-US" sz="1800" b="1" dirty="0">
                <a:solidFill>
                  <a:schemeClr val="bg2"/>
                </a:solidFill>
              </a:rPr>
              <a:t>SET DEFAULT</a:t>
            </a:r>
            <a:r>
              <a:rPr lang="en-US" sz="1800" dirty="0">
                <a:solidFill>
                  <a:schemeClr val="bg2"/>
                </a:solidFill>
              </a:rPr>
              <a:t> ‘333445555’;</a:t>
            </a:r>
          </a:p>
          <a:p>
            <a:pPr>
              <a:defRPr/>
            </a:pPr>
            <a:endParaRPr lang="en-US" sz="2000" dirty="0"/>
          </a:p>
          <a:p>
            <a:pPr>
              <a:defRPr/>
            </a:pPr>
            <a:endParaRPr lang="en-US" dirty="0"/>
          </a:p>
        </p:txBody>
      </p:sp>
      <p:sp>
        <p:nvSpPr>
          <p:cNvPr id="68612" name="Slide Number Placeholder 3">
            <a:extLst>
              <a:ext uri="{FF2B5EF4-FFF2-40B4-BE49-F238E27FC236}">
                <a16:creationId xmlns:a16="http://schemas.microsoft.com/office/drawing/2014/main" id="{A28AA326-19DD-2F08-F6C3-6B49093C215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7- </a:t>
            </a:r>
            <a:fld id="{8B04B1A6-7578-41A3-94C1-B2EF06AD5A76}" type="slidenum">
              <a:rPr lang="en-US" altLang="en-US" sz="1400">
                <a:solidFill>
                  <a:srgbClr val="990033"/>
                </a:solidFill>
              </a:rPr>
              <a:pPr>
                <a:spcBef>
                  <a:spcPct val="0"/>
                </a:spcBef>
                <a:buClrTx/>
                <a:buSzTx/>
                <a:buFontTx/>
                <a:buNone/>
              </a:pPr>
              <a:t>112</a:t>
            </a:fld>
            <a:endParaRPr lang="en-CA" altLang="en-US" sz="1400">
              <a:solidFill>
                <a:srgbClr val="990033"/>
              </a:solidFill>
            </a:endParaRPr>
          </a:p>
        </p:txBody>
      </p:sp>
    </p:spTree>
  </p:cSld>
  <p:clrMapOvr>
    <a:masterClrMapping/>
  </p:clrMapOvr>
  <p:transition spd="me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
            <a:extLst>
              <a:ext uri="{FF2B5EF4-FFF2-40B4-BE49-F238E27FC236}">
                <a16:creationId xmlns:a16="http://schemas.microsoft.com/office/drawing/2014/main" id="{A93E1274-7E88-5554-871D-CDB24BC9FC45}"/>
              </a:ext>
            </a:extLst>
          </p:cNvPr>
          <p:cNvSpPr>
            <a:spLocks noGrp="1" noChangeArrowheads="1"/>
          </p:cNvSpPr>
          <p:nvPr>
            <p:ph type="title"/>
          </p:nvPr>
        </p:nvSpPr>
        <p:spPr/>
        <p:txBody>
          <a:bodyPr/>
          <a:lstStyle/>
          <a:p>
            <a:r>
              <a:rPr lang="en-US" altLang="en-US"/>
              <a:t>Chapter 10 Outline</a:t>
            </a:r>
          </a:p>
        </p:txBody>
      </p:sp>
      <p:sp>
        <p:nvSpPr>
          <p:cNvPr id="15363" name="Rectangle 2">
            <a:extLst>
              <a:ext uri="{FF2B5EF4-FFF2-40B4-BE49-F238E27FC236}">
                <a16:creationId xmlns:a16="http://schemas.microsoft.com/office/drawing/2014/main" id="{5253D82D-753A-AA3B-B205-A1D5D606833B}"/>
              </a:ext>
            </a:extLst>
          </p:cNvPr>
          <p:cNvSpPr>
            <a:spLocks noGrp="1" noChangeArrowheads="1"/>
          </p:cNvSpPr>
          <p:nvPr>
            <p:ph idx="1"/>
          </p:nvPr>
        </p:nvSpPr>
        <p:spPr/>
        <p:txBody>
          <a:bodyPr/>
          <a:lstStyle/>
          <a:p>
            <a:r>
              <a:rPr lang="en-US" altLang="en-US" strike="sngStrike" dirty="0"/>
              <a:t>Database Programming: Techniques and Issues</a:t>
            </a:r>
          </a:p>
          <a:p>
            <a:r>
              <a:rPr lang="en-US" altLang="en-US" strike="sngStrike" dirty="0"/>
              <a:t>Embedded SQL, Dynamic SQL, and SQLJ</a:t>
            </a:r>
          </a:p>
          <a:p>
            <a:r>
              <a:rPr lang="en-US" altLang="en-US" strike="sngStrike" dirty="0"/>
              <a:t>Database Programming with Function Calls: SQL/CLI and JDBC</a:t>
            </a:r>
          </a:p>
          <a:p>
            <a:r>
              <a:rPr lang="en-US" altLang="en-US" dirty="0"/>
              <a:t>Database Stored Procedures</a:t>
            </a:r>
            <a:br>
              <a:rPr lang="en-US" altLang="en-US" dirty="0"/>
            </a:br>
            <a:r>
              <a:rPr lang="en-US" altLang="en-US" dirty="0"/>
              <a:t>and SQL/PSM</a:t>
            </a:r>
          </a:p>
          <a:p>
            <a:r>
              <a:rPr lang="en-US" altLang="en-US" dirty="0"/>
              <a:t>Comparing the Three Approaches</a:t>
            </a:r>
          </a:p>
        </p:txBody>
      </p:sp>
      <p:sp>
        <p:nvSpPr>
          <p:cNvPr id="15364" name="Slide Number Placeholder 3">
            <a:extLst>
              <a:ext uri="{FF2B5EF4-FFF2-40B4-BE49-F238E27FC236}">
                <a16:creationId xmlns:a16="http://schemas.microsoft.com/office/drawing/2014/main" id="{F4345257-FBC1-0484-E10D-039AF0E2754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10- 2</a:t>
            </a:r>
            <a:endParaRPr lang="en-CA" altLang="en-US" sz="1400">
              <a:solidFill>
                <a:srgbClr val="990033"/>
              </a:solidFill>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A804E60B-DBDA-328C-DC97-BDE79DB94EB0}"/>
              </a:ext>
            </a:extLst>
          </p:cNvPr>
          <p:cNvSpPr>
            <a:spLocks noGrp="1"/>
          </p:cNvSpPr>
          <p:nvPr>
            <p:ph type="title"/>
          </p:nvPr>
        </p:nvSpPr>
        <p:spPr/>
        <p:txBody>
          <a:bodyPr/>
          <a:lstStyle/>
          <a:p>
            <a:r>
              <a:rPr lang="en-US" altLang="en-US"/>
              <a:t>Introduction to SQL</a:t>
            </a:r>
            <a:br>
              <a:rPr lang="en-US" altLang="en-US"/>
            </a:br>
            <a:r>
              <a:rPr lang="en-US" altLang="en-US"/>
              <a:t>Programming Techniques</a:t>
            </a:r>
          </a:p>
        </p:txBody>
      </p:sp>
      <p:sp>
        <p:nvSpPr>
          <p:cNvPr id="17411" name="Content Placeholder 2">
            <a:extLst>
              <a:ext uri="{FF2B5EF4-FFF2-40B4-BE49-F238E27FC236}">
                <a16:creationId xmlns:a16="http://schemas.microsoft.com/office/drawing/2014/main" id="{F4005804-B304-861B-6EBA-5CBC55963DCF}"/>
              </a:ext>
            </a:extLst>
          </p:cNvPr>
          <p:cNvSpPr>
            <a:spLocks noGrp="1"/>
          </p:cNvSpPr>
          <p:nvPr>
            <p:ph idx="1"/>
          </p:nvPr>
        </p:nvSpPr>
        <p:spPr/>
        <p:txBody>
          <a:bodyPr/>
          <a:lstStyle/>
          <a:p>
            <a:r>
              <a:rPr lang="en-US" altLang="en-US" b="1"/>
              <a:t>Database applications</a:t>
            </a:r>
          </a:p>
          <a:p>
            <a:pPr lvl="1"/>
            <a:r>
              <a:rPr lang="en-US" altLang="en-US"/>
              <a:t>Host language</a:t>
            </a:r>
          </a:p>
          <a:p>
            <a:pPr lvl="2"/>
            <a:r>
              <a:rPr lang="en-US" altLang="en-US"/>
              <a:t>Java, C/C++/C#, COBOL, or some other programming language</a:t>
            </a:r>
          </a:p>
          <a:p>
            <a:pPr lvl="1"/>
            <a:r>
              <a:rPr lang="en-US" altLang="en-US"/>
              <a:t>Data sublanguage</a:t>
            </a:r>
          </a:p>
          <a:p>
            <a:pPr lvl="2"/>
            <a:r>
              <a:rPr lang="en-US" altLang="en-US"/>
              <a:t>SQL</a:t>
            </a:r>
          </a:p>
          <a:p>
            <a:r>
              <a:rPr lang="en-US" altLang="en-US"/>
              <a:t>SQL standards</a:t>
            </a:r>
          </a:p>
          <a:p>
            <a:pPr lvl="1"/>
            <a:r>
              <a:rPr lang="en-US" altLang="en-US"/>
              <a:t>Continually evolving</a:t>
            </a:r>
          </a:p>
          <a:p>
            <a:pPr lvl="1"/>
            <a:r>
              <a:rPr lang="en-US" altLang="en-US"/>
              <a:t>Each DBMS vendor may have some variations from standard</a:t>
            </a:r>
          </a:p>
        </p:txBody>
      </p:sp>
      <p:sp>
        <p:nvSpPr>
          <p:cNvPr id="17412" name="Slide Number Placeholder 3">
            <a:extLst>
              <a:ext uri="{FF2B5EF4-FFF2-40B4-BE49-F238E27FC236}">
                <a16:creationId xmlns:a16="http://schemas.microsoft.com/office/drawing/2014/main" id="{352B347C-F863-8F29-93B2-BA5D19D1E5E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10- 3</a:t>
            </a:r>
            <a:endParaRPr lang="en-CA" altLang="en-US" sz="1400">
              <a:solidFill>
                <a:srgbClr val="990033"/>
              </a:solidFill>
            </a:endParaRPr>
          </a:p>
        </p:txBody>
      </p:sp>
    </p:spTree>
  </p:cSld>
  <p:clrMapOvr>
    <a:masterClrMapping/>
  </p:clrMapOvr>
  <p:transition spd="med"/>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CC28A9C1-B89C-06BC-037C-A7432D8E7D1C}"/>
              </a:ext>
            </a:extLst>
          </p:cNvPr>
          <p:cNvSpPr>
            <a:spLocks noGrp="1"/>
          </p:cNvSpPr>
          <p:nvPr>
            <p:ph type="title"/>
          </p:nvPr>
        </p:nvSpPr>
        <p:spPr/>
        <p:txBody>
          <a:bodyPr/>
          <a:lstStyle/>
          <a:p>
            <a:r>
              <a:rPr lang="en-US" altLang="en-US" dirty="0"/>
              <a:t>Database Programming: </a:t>
            </a:r>
            <a:br>
              <a:rPr lang="en-US" altLang="en-US" dirty="0"/>
            </a:br>
            <a:r>
              <a:rPr lang="en-US" altLang="en-US" dirty="0"/>
              <a:t>Techniques and Issues</a:t>
            </a:r>
          </a:p>
        </p:txBody>
      </p:sp>
      <p:sp>
        <p:nvSpPr>
          <p:cNvPr id="18435" name="Content Placeholder 2">
            <a:extLst>
              <a:ext uri="{FF2B5EF4-FFF2-40B4-BE49-F238E27FC236}">
                <a16:creationId xmlns:a16="http://schemas.microsoft.com/office/drawing/2014/main" id="{579DF6F7-7BE8-E345-FDEC-1F81879DC592}"/>
              </a:ext>
            </a:extLst>
          </p:cNvPr>
          <p:cNvSpPr>
            <a:spLocks noGrp="1"/>
          </p:cNvSpPr>
          <p:nvPr>
            <p:ph idx="1"/>
          </p:nvPr>
        </p:nvSpPr>
        <p:spPr/>
        <p:txBody>
          <a:bodyPr/>
          <a:lstStyle/>
          <a:p>
            <a:r>
              <a:rPr lang="en-US" altLang="en-US" b="1"/>
              <a:t>Interactive interface </a:t>
            </a:r>
          </a:p>
          <a:p>
            <a:pPr lvl="1"/>
            <a:r>
              <a:rPr lang="en-US" altLang="en-US"/>
              <a:t>SQL commands typed directly into a monitor</a:t>
            </a:r>
          </a:p>
          <a:p>
            <a:r>
              <a:rPr lang="en-US" altLang="en-US"/>
              <a:t>Execute </a:t>
            </a:r>
            <a:r>
              <a:rPr lang="en-US" altLang="en-US" b="1"/>
              <a:t>file of commands </a:t>
            </a:r>
          </a:p>
          <a:p>
            <a:pPr lvl="1"/>
            <a:r>
              <a:rPr lang="en-US" altLang="en-US" i="1"/>
              <a:t>@&lt;filename&gt;</a:t>
            </a:r>
          </a:p>
          <a:p>
            <a:r>
              <a:rPr lang="en-US" altLang="en-US" b="1"/>
              <a:t>Application programs </a:t>
            </a:r>
            <a:r>
              <a:rPr lang="en-US" altLang="en-US"/>
              <a:t>or</a:t>
            </a:r>
            <a:r>
              <a:rPr lang="en-US" altLang="en-US" b="1"/>
              <a:t> database applications</a:t>
            </a:r>
          </a:p>
          <a:p>
            <a:pPr lvl="1"/>
            <a:r>
              <a:rPr lang="en-US" altLang="en-US"/>
              <a:t>Used as canned transactions by the end users access a database </a:t>
            </a:r>
          </a:p>
          <a:p>
            <a:pPr lvl="1"/>
            <a:r>
              <a:rPr lang="en-US" altLang="en-US"/>
              <a:t>May have </a:t>
            </a:r>
            <a:r>
              <a:rPr lang="en-US" altLang="en-US" b="1"/>
              <a:t>Web interface</a:t>
            </a:r>
          </a:p>
        </p:txBody>
      </p:sp>
      <p:sp>
        <p:nvSpPr>
          <p:cNvPr id="18436" name="Slide Number Placeholder 3">
            <a:extLst>
              <a:ext uri="{FF2B5EF4-FFF2-40B4-BE49-F238E27FC236}">
                <a16:creationId xmlns:a16="http://schemas.microsoft.com/office/drawing/2014/main" id="{106BC702-3EA0-5E2D-9064-6B3A4914861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10- 4</a:t>
            </a:r>
            <a:endParaRPr lang="en-CA" altLang="en-US" sz="1400">
              <a:solidFill>
                <a:srgbClr val="990033"/>
              </a:solidFill>
            </a:endParaRPr>
          </a:p>
        </p:txBody>
      </p:sp>
    </p:spTree>
  </p:cSld>
  <p:clrMapOvr>
    <a:masterClrMapping/>
  </p:clrMapOvr>
  <p:transition spd="med"/>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E0A2CBE8-9238-5E07-E873-364B65AA52D4}"/>
              </a:ext>
            </a:extLst>
          </p:cNvPr>
          <p:cNvSpPr>
            <a:spLocks noGrp="1"/>
          </p:cNvSpPr>
          <p:nvPr>
            <p:ph type="title"/>
          </p:nvPr>
        </p:nvSpPr>
        <p:spPr/>
        <p:txBody>
          <a:bodyPr/>
          <a:lstStyle/>
          <a:p>
            <a:r>
              <a:rPr lang="en-US" altLang="en-US"/>
              <a:t>Approaches to Database Programming</a:t>
            </a:r>
          </a:p>
        </p:txBody>
      </p:sp>
      <p:sp>
        <p:nvSpPr>
          <p:cNvPr id="19459" name="Content Placeholder 2">
            <a:extLst>
              <a:ext uri="{FF2B5EF4-FFF2-40B4-BE49-F238E27FC236}">
                <a16:creationId xmlns:a16="http://schemas.microsoft.com/office/drawing/2014/main" id="{FFF1C2D5-8864-A98B-5098-C6969F9B01FD}"/>
              </a:ext>
            </a:extLst>
          </p:cNvPr>
          <p:cNvSpPr>
            <a:spLocks noGrp="1"/>
          </p:cNvSpPr>
          <p:nvPr>
            <p:ph idx="1"/>
          </p:nvPr>
        </p:nvSpPr>
        <p:spPr/>
        <p:txBody>
          <a:bodyPr/>
          <a:lstStyle/>
          <a:p>
            <a:r>
              <a:rPr lang="en-US" altLang="en-US" b="1"/>
              <a:t>Embedding</a:t>
            </a:r>
            <a:r>
              <a:rPr lang="en-US" altLang="en-US"/>
              <a:t> database commands in a general-purpose programming language</a:t>
            </a:r>
          </a:p>
          <a:p>
            <a:pPr lvl="1"/>
            <a:r>
              <a:rPr lang="en-US" altLang="en-US"/>
              <a:t>Database statements identified by a special prefix</a:t>
            </a:r>
          </a:p>
          <a:p>
            <a:pPr lvl="1"/>
            <a:r>
              <a:rPr lang="en-US" altLang="en-US" b="1"/>
              <a:t>Precompiler</a:t>
            </a:r>
            <a:r>
              <a:rPr lang="en-US" altLang="en-US"/>
              <a:t> or </a:t>
            </a:r>
            <a:r>
              <a:rPr lang="en-US" altLang="en-US" b="1"/>
              <a:t>preprocessor</a:t>
            </a:r>
            <a:r>
              <a:rPr lang="en-US" altLang="en-US"/>
              <a:t> scans the source program code </a:t>
            </a:r>
          </a:p>
          <a:p>
            <a:pPr lvl="2"/>
            <a:r>
              <a:rPr lang="en-US" altLang="en-US"/>
              <a:t>Identify database statements and extract them for processing by the DBMS</a:t>
            </a:r>
          </a:p>
          <a:p>
            <a:pPr lvl="1"/>
            <a:r>
              <a:rPr lang="en-US" altLang="en-US"/>
              <a:t>Called </a:t>
            </a:r>
            <a:r>
              <a:rPr lang="en-US" altLang="en-US" b="1"/>
              <a:t>embedded SQL</a:t>
            </a:r>
          </a:p>
        </p:txBody>
      </p:sp>
      <p:sp>
        <p:nvSpPr>
          <p:cNvPr id="19460" name="Slide Number Placeholder 3">
            <a:extLst>
              <a:ext uri="{FF2B5EF4-FFF2-40B4-BE49-F238E27FC236}">
                <a16:creationId xmlns:a16="http://schemas.microsoft.com/office/drawing/2014/main" id="{3C7029E2-D012-66CF-7BED-FB75E04D1E7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10- 5</a:t>
            </a:r>
            <a:endParaRPr lang="en-CA" altLang="en-US" sz="1400">
              <a:solidFill>
                <a:srgbClr val="990033"/>
              </a:solidFill>
            </a:endParaRPr>
          </a:p>
        </p:txBody>
      </p:sp>
    </p:spTree>
  </p:cSld>
  <p:clrMapOvr>
    <a:masterClrMapping/>
  </p:clrMapOvr>
  <p:transition spd="med"/>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0B089F46-94DB-0B11-9A56-EC6A91F44726}"/>
              </a:ext>
            </a:extLst>
          </p:cNvPr>
          <p:cNvSpPr>
            <a:spLocks noGrp="1"/>
          </p:cNvSpPr>
          <p:nvPr>
            <p:ph type="title"/>
          </p:nvPr>
        </p:nvSpPr>
        <p:spPr/>
        <p:txBody>
          <a:bodyPr/>
          <a:lstStyle/>
          <a:p>
            <a:r>
              <a:rPr lang="en-US" altLang="en-US"/>
              <a:t>Impedance Mismatch</a:t>
            </a:r>
          </a:p>
        </p:txBody>
      </p:sp>
      <p:sp>
        <p:nvSpPr>
          <p:cNvPr id="21507" name="Content Placeholder 2">
            <a:extLst>
              <a:ext uri="{FF2B5EF4-FFF2-40B4-BE49-F238E27FC236}">
                <a16:creationId xmlns:a16="http://schemas.microsoft.com/office/drawing/2014/main" id="{B64DA251-06C3-2DD7-D9DF-3F43EF876188}"/>
              </a:ext>
            </a:extLst>
          </p:cNvPr>
          <p:cNvSpPr>
            <a:spLocks noGrp="1"/>
          </p:cNvSpPr>
          <p:nvPr>
            <p:ph idx="1"/>
          </p:nvPr>
        </p:nvSpPr>
        <p:spPr>
          <a:xfrm>
            <a:off x="239713" y="1752600"/>
            <a:ext cx="8294687" cy="4953000"/>
          </a:xfrm>
        </p:spPr>
        <p:txBody>
          <a:bodyPr>
            <a:normAutofit fontScale="85000" lnSpcReduction="20000"/>
          </a:bodyPr>
          <a:lstStyle/>
          <a:p>
            <a:r>
              <a:rPr lang="en-US" altLang="en-US" dirty="0"/>
              <a:t>Differences between database model and programming language model</a:t>
            </a:r>
          </a:p>
          <a:p>
            <a:r>
              <a:rPr lang="en-US" altLang="en-US" b="1" dirty="0"/>
              <a:t>Binding</a:t>
            </a:r>
            <a:r>
              <a:rPr lang="en-US" altLang="en-US" dirty="0"/>
              <a:t> for each host programming language </a:t>
            </a:r>
          </a:p>
          <a:p>
            <a:pPr lvl="1"/>
            <a:r>
              <a:rPr lang="en-US" altLang="en-US" dirty="0"/>
              <a:t>Specifies for each attribute type the compatible programming language types</a:t>
            </a:r>
          </a:p>
          <a:p>
            <a:r>
              <a:rPr lang="en-US" altLang="en-US" dirty="0"/>
              <a:t>Cursor or iterator variable</a:t>
            </a:r>
          </a:p>
          <a:p>
            <a:pPr lvl="1"/>
            <a:r>
              <a:rPr lang="en-US" altLang="en-US" dirty="0"/>
              <a:t>Loop over the tuples in a query result</a:t>
            </a:r>
          </a:p>
          <a:p>
            <a:r>
              <a:rPr lang="en-US" altLang="en-US" dirty="0"/>
              <a:t>Using a library of database functions</a:t>
            </a:r>
          </a:p>
          <a:p>
            <a:pPr lvl="1"/>
            <a:r>
              <a:rPr lang="en-US" altLang="en-US" b="1" dirty="0"/>
              <a:t>Library of functions </a:t>
            </a:r>
            <a:r>
              <a:rPr lang="en-US" altLang="en-US" dirty="0"/>
              <a:t>available to the host programming language </a:t>
            </a:r>
          </a:p>
          <a:p>
            <a:pPr lvl="1"/>
            <a:r>
              <a:rPr lang="en-US" altLang="en-US" b="1" dirty="0"/>
              <a:t>Application programming interface (API)</a:t>
            </a:r>
          </a:p>
          <a:p>
            <a:r>
              <a:rPr lang="en-US" altLang="en-US" dirty="0"/>
              <a:t>Designing a brand-new language</a:t>
            </a:r>
          </a:p>
          <a:p>
            <a:pPr lvl="1"/>
            <a:r>
              <a:rPr lang="en-US" altLang="en-US" b="1" dirty="0"/>
              <a:t>Database programming language </a:t>
            </a:r>
            <a:r>
              <a:rPr lang="en-US" altLang="en-US" dirty="0"/>
              <a:t>designed from scratch </a:t>
            </a:r>
          </a:p>
          <a:p>
            <a:r>
              <a:rPr lang="en-US" altLang="en-US" dirty="0"/>
              <a:t>First two approaches are more common</a:t>
            </a:r>
          </a:p>
        </p:txBody>
      </p:sp>
      <p:sp>
        <p:nvSpPr>
          <p:cNvPr id="21508" name="Slide Number Placeholder 3">
            <a:extLst>
              <a:ext uri="{FF2B5EF4-FFF2-40B4-BE49-F238E27FC236}">
                <a16:creationId xmlns:a16="http://schemas.microsoft.com/office/drawing/2014/main" id="{4E8EECAB-6609-C983-D84A-EADE82A87CC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10- 7</a:t>
            </a:r>
            <a:endParaRPr lang="en-CA" altLang="en-US" sz="1400">
              <a:solidFill>
                <a:srgbClr val="990033"/>
              </a:solidFill>
            </a:endParaRPr>
          </a:p>
        </p:txBody>
      </p:sp>
    </p:spTree>
  </p:cSld>
  <p:clrMapOvr>
    <a:masterClrMapping/>
  </p:clrMapOvr>
  <p:transition spd="med"/>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AF9FD036-3CBA-4603-4104-F220E9425956}"/>
              </a:ext>
            </a:extLst>
          </p:cNvPr>
          <p:cNvSpPr>
            <a:spLocks noGrp="1"/>
          </p:cNvSpPr>
          <p:nvPr>
            <p:ph type="title"/>
          </p:nvPr>
        </p:nvSpPr>
        <p:spPr/>
        <p:txBody>
          <a:bodyPr/>
          <a:lstStyle/>
          <a:p>
            <a:r>
              <a:rPr lang="en-US" altLang="en-US"/>
              <a:t>Typical Sequence of Interaction in Database Programming</a:t>
            </a:r>
          </a:p>
        </p:txBody>
      </p:sp>
      <p:sp>
        <p:nvSpPr>
          <p:cNvPr id="22531" name="Content Placeholder 2">
            <a:extLst>
              <a:ext uri="{FF2B5EF4-FFF2-40B4-BE49-F238E27FC236}">
                <a16:creationId xmlns:a16="http://schemas.microsoft.com/office/drawing/2014/main" id="{02A40972-3766-8F18-6189-A66677141BAE}"/>
              </a:ext>
            </a:extLst>
          </p:cNvPr>
          <p:cNvSpPr>
            <a:spLocks noGrp="1"/>
          </p:cNvSpPr>
          <p:nvPr>
            <p:ph idx="1"/>
          </p:nvPr>
        </p:nvSpPr>
        <p:spPr/>
        <p:txBody>
          <a:bodyPr/>
          <a:lstStyle/>
          <a:p>
            <a:r>
              <a:rPr lang="en-US" altLang="en-US"/>
              <a:t>Open a connection to database server</a:t>
            </a:r>
          </a:p>
          <a:p>
            <a:r>
              <a:rPr lang="en-US" altLang="en-US"/>
              <a:t>Interact with database by submitting queries, updates, and other database commands</a:t>
            </a:r>
          </a:p>
          <a:p>
            <a:r>
              <a:rPr lang="en-US" altLang="en-US"/>
              <a:t>Terminate or close connection to database</a:t>
            </a:r>
          </a:p>
        </p:txBody>
      </p:sp>
      <p:sp>
        <p:nvSpPr>
          <p:cNvPr id="22532" name="Slide Number Placeholder 3">
            <a:extLst>
              <a:ext uri="{FF2B5EF4-FFF2-40B4-BE49-F238E27FC236}">
                <a16:creationId xmlns:a16="http://schemas.microsoft.com/office/drawing/2014/main" id="{572BA302-1297-6D55-A977-47DBBB73E67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10- 8</a:t>
            </a:r>
            <a:endParaRPr lang="en-CA" altLang="en-US" sz="1400">
              <a:solidFill>
                <a:srgbClr val="990033"/>
              </a:solidFill>
            </a:endParaRPr>
          </a:p>
        </p:txBody>
      </p:sp>
    </p:spTree>
  </p:cSld>
  <p:clrMapOvr>
    <a:masterClrMapping/>
  </p:clrMapOvr>
  <p:transition spd="med"/>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FA912CD8-996C-C461-6602-6F65DF1F941F}"/>
              </a:ext>
            </a:extLst>
          </p:cNvPr>
          <p:cNvSpPr>
            <a:spLocks noGrp="1"/>
          </p:cNvSpPr>
          <p:nvPr>
            <p:ph type="title"/>
          </p:nvPr>
        </p:nvSpPr>
        <p:spPr/>
        <p:txBody>
          <a:bodyPr/>
          <a:lstStyle/>
          <a:p>
            <a:r>
              <a:rPr lang="en-US" altLang="en-US"/>
              <a:t>Embedded SQL, Dynamic SQL, and SQLJ</a:t>
            </a:r>
          </a:p>
        </p:txBody>
      </p:sp>
      <p:sp>
        <p:nvSpPr>
          <p:cNvPr id="23555" name="Content Placeholder 2">
            <a:extLst>
              <a:ext uri="{FF2B5EF4-FFF2-40B4-BE49-F238E27FC236}">
                <a16:creationId xmlns:a16="http://schemas.microsoft.com/office/drawing/2014/main" id="{13929486-EB21-E0EF-279C-58D1A1E0A7A0}"/>
              </a:ext>
            </a:extLst>
          </p:cNvPr>
          <p:cNvSpPr>
            <a:spLocks noGrp="1"/>
          </p:cNvSpPr>
          <p:nvPr>
            <p:ph idx="1"/>
          </p:nvPr>
        </p:nvSpPr>
        <p:spPr/>
        <p:txBody>
          <a:bodyPr/>
          <a:lstStyle/>
          <a:p>
            <a:r>
              <a:rPr lang="en-US" altLang="en-US" b="1"/>
              <a:t>Embedded SQL</a:t>
            </a:r>
          </a:p>
          <a:p>
            <a:pPr lvl="1"/>
            <a:r>
              <a:rPr lang="en-US" altLang="en-US"/>
              <a:t>C language</a:t>
            </a:r>
          </a:p>
          <a:p>
            <a:r>
              <a:rPr lang="en-US" altLang="en-US" b="1"/>
              <a:t>SQLJ</a:t>
            </a:r>
          </a:p>
          <a:p>
            <a:pPr lvl="1"/>
            <a:r>
              <a:rPr lang="en-US" altLang="en-US"/>
              <a:t>Java language</a:t>
            </a:r>
          </a:p>
          <a:p>
            <a:r>
              <a:rPr lang="en-US" altLang="en-US"/>
              <a:t>Programming language called </a:t>
            </a:r>
            <a:r>
              <a:rPr lang="en-US" altLang="en-US" b="1"/>
              <a:t>host language</a:t>
            </a:r>
          </a:p>
        </p:txBody>
      </p:sp>
      <p:sp>
        <p:nvSpPr>
          <p:cNvPr id="23556" name="Slide Number Placeholder 3">
            <a:extLst>
              <a:ext uri="{FF2B5EF4-FFF2-40B4-BE49-F238E27FC236}">
                <a16:creationId xmlns:a16="http://schemas.microsoft.com/office/drawing/2014/main" id="{EF54B6B1-1706-DFAA-DF65-4266C0B6FAD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10- 9</a:t>
            </a:r>
            <a:endParaRPr lang="en-CA" altLang="en-US" sz="1400">
              <a:solidFill>
                <a:srgbClr val="990033"/>
              </a:solidFill>
            </a:endParaRPr>
          </a:p>
        </p:txBody>
      </p:sp>
    </p:spTree>
  </p:cSld>
  <p:clrMapOvr>
    <a:masterClrMapping/>
  </p:clrMapOvr>
  <p:transition spd="med"/>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F9C85EF7-EFF6-B368-5276-925D4354657F}"/>
              </a:ext>
            </a:extLst>
          </p:cNvPr>
          <p:cNvSpPr>
            <a:spLocks noGrp="1"/>
          </p:cNvSpPr>
          <p:nvPr>
            <p:ph type="title"/>
          </p:nvPr>
        </p:nvSpPr>
        <p:spPr/>
        <p:txBody>
          <a:bodyPr/>
          <a:lstStyle/>
          <a:p>
            <a:r>
              <a:rPr lang="en-US" altLang="en-US"/>
              <a:t>Retrieving Single Tuples with Embedded SQL</a:t>
            </a:r>
          </a:p>
        </p:txBody>
      </p:sp>
      <p:sp>
        <p:nvSpPr>
          <p:cNvPr id="24579" name="Content Placeholder 2">
            <a:extLst>
              <a:ext uri="{FF2B5EF4-FFF2-40B4-BE49-F238E27FC236}">
                <a16:creationId xmlns:a16="http://schemas.microsoft.com/office/drawing/2014/main" id="{009CDFAD-BDCE-E6D8-A4A0-BD2F7C7DFD5E}"/>
              </a:ext>
            </a:extLst>
          </p:cNvPr>
          <p:cNvSpPr>
            <a:spLocks noGrp="1"/>
          </p:cNvSpPr>
          <p:nvPr>
            <p:ph idx="1"/>
          </p:nvPr>
        </p:nvSpPr>
        <p:spPr/>
        <p:txBody>
          <a:bodyPr/>
          <a:lstStyle/>
          <a:p>
            <a:r>
              <a:rPr lang="en-US" altLang="en-US">
                <a:latin typeface="Courier New" panose="02070309020205020404" pitchFamily="49" charset="0"/>
                <a:cs typeface="Courier New" panose="02070309020205020404" pitchFamily="49" charset="0"/>
              </a:rPr>
              <a:t>EXEC SQL</a:t>
            </a:r>
          </a:p>
          <a:p>
            <a:pPr lvl="1"/>
            <a:r>
              <a:rPr lang="en-US" altLang="en-US"/>
              <a:t>Prefix</a:t>
            </a:r>
          </a:p>
          <a:p>
            <a:pPr lvl="1"/>
            <a:r>
              <a:rPr lang="en-US" altLang="en-US" b="1"/>
              <a:t>Preprocessor</a:t>
            </a:r>
            <a:r>
              <a:rPr lang="en-US" altLang="en-US"/>
              <a:t> separates embedded SQL statements from host language code</a:t>
            </a:r>
          </a:p>
          <a:p>
            <a:pPr lvl="1"/>
            <a:r>
              <a:rPr lang="en-US" altLang="en-US"/>
              <a:t>Terminated by a matching </a:t>
            </a:r>
            <a:r>
              <a:rPr lang="en-US" altLang="en-US">
                <a:latin typeface="Courier New" panose="02070309020205020404" pitchFamily="49" charset="0"/>
                <a:cs typeface="Courier New" panose="02070309020205020404" pitchFamily="49" charset="0"/>
              </a:rPr>
              <a:t>END-EXEC </a:t>
            </a:r>
          </a:p>
          <a:p>
            <a:pPr lvl="2"/>
            <a:r>
              <a:rPr lang="en-US" altLang="en-US"/>
              <a:t>Or by a semicolon (;)</a:t>
            </a:r>
          </a:p>
          <a:p>
            <a:r>
              <a:rPr lang="en-US" altLang="en-US" b="1"/>
              <a:t>Shared variables </a:t>
            </a:r>
          </a:p>
          <a:p>
            <a:pPr lvl="1"/>
            <a:r>
              <a:rPr lang="en-US" altLang="en-US"/>
              <a:t>Used in both the C program and the embedded SQL statements </a:t>
            </a:r>
          </a:p>
          <a:p>
            <a:pPr lvl="1"/>
            <a:r>
              <a:rPr lang="en-US" altLang="en-US"/>
              <a:t>Prefixed by a colon (:) in SQL statement</a:t>
            </a:r>
          </a:p>
        </p:txBody>
      </p:sp>
      <p:sp>
        <p:nvSpPr>
          <p:cNvPr id="24580" name="Slide Number Placeholder 3">
            <a:extLst>
              <a:ext uri="{FF2B5EF4-FFF2-40B4-BE49-F238E27FC236}">
                <a16:creationId xmlns:a16="http://schemas.microsoft.com/office/drawing/2014/main" id="{203F3256-CADC-17F1-2E19-AF7E78B30F9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10- 10</a:t>
            </a:r>
            <a:endParaRPr lang="en-CA" altLang="en-US" sz="1400">
              <a:solidFill>
                <a:srgbClr val="990033"/>
              </a:solidFill>
            </a:endParaRPr>
          </a:p>
        </p:txBody>
      </p:sp>
    </p:spTree>
  </p:cSld>
  <p:clrMapOvr>
    <a:masterClrMapping/>
  </p:clrMapOvr>
  <p:transition spd="med"/>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13AE43AA-D5E8-1E29-C8F7-2E72E54D65F1}"/>
              </a:ext>
            </a:extLst>
          </p:cNvPr>
          <p:cNvSpPr>
            <a:spLocks noGrp="1"/>
          </p:cNvSpPr>
          <p:nvPr>
            <p:ph type="title"/>
          </p:nvPr>
        </p:nvSpPr>
        <p:spPr/>
        <p:txBody>
          <a:bodyPr/>
          <a:lstStyle/>
          <a:p>
            <a:r>
              <a:rPr lang="en-US" altLang="en-US" sz="1800" b="1">
                <a:latin typeface="Verdana" panose="020B0604030504040204" pitchFamily="34" charset="0"/>
              </a:rPr>
              <a:t>Figure 10.1   </a:t>
            </a:r>
            <a:r>
              <a:rPr lang="en-US" altLang="en-US" sz="1800">
                <a:latin typeface="Verdana" panose="020B0604030504040204" pitchFamily="34" charset="0"/>
              </a:rPr>
              <a:t>C program variables used in the embedded SQL examples E1 and E2.</a:t>
            </a:r>
            <a:endParaRPr lang="en-US" altLang="en-US" sz="1800" i="1">
              <a:latin typeface="Verdana" panose="020B0604030504040204" pitchFamily="34" charset="0"/>
            </a:endParaRPr>
          </a:p>
        </p:txBody>
      </p:sp>
      <p:pic>
        <p:nvPicPr>
          <p:cNvPr id="25603" name="Picture 2" descr="fig10_01.jpg">
            <a:extLst>
              <a:ext uri="{FF2B5EF4-FFF2-40B4-BE49-F238E27FC236}">
                <a16:creationId xmlns:a16="http://schemas.microsoft.com/office/drawing/2014/main" id="{CAFF688E-3458-F554-831E-73B27C9B62B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390775"/>
            <a:ext cx="8229600"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Slide Number Placeholder 3">
            <a:extLst>
              <a:ext uri="{FF2B5EF4-FFF2-40B4-BE49-F238E27FC236}">
                <a16:creationId xmlns:a16="http://schemas.microsoft.com/office/drawing/2014/main" id="{B389F199-D74F-55E2-602A-546B9184FA0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10- 11</a:t>
            </a:r>
            <a:endParaRPr lang="en-CA" altLang="en-US" sz="1400">
              <a:solidFill>
                <a:srgbClr val="990033"/>
              </a:solidFill>
            </a:endParaRPr>
          </a:p>
        </p:txBody>
      </p:sp>
    </p:spTree>
  </p:cSld>
  <p:clrMapOvr>
    <a:masterClrMapping/>
  </p:clrMapOvr>
  <p:transition spd="med" advTm="0"/>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Title 7">
            <a:extLst>
              <a:ext uri="{FF2B5EF4-FFF2-40B4-BE49-F238E27FC236}">
                <a16:creationId xmlns:a16="http://schemas.microsoft.com/office/drawing/2014/main" id="{04ECAE1F-0C85-CDF0-5E2B-1A7CECE0938D}"/>
              </a:ext>
            </a:extLst>
          </p:cNvPr>
          <p:cNvSpPr>
            <a:spLocks noGrp="1"/>
          </p:cNvSpPr>
          <p:nvPr>
            <p:ph type="title"/>
          </p:nvPr>
        </p:nvSpPr>
        <p:spPr/>
        <p:txBody>
          <a:bodyPr/>
          <a:lstStyle/>
          <a:p>
            <a:r>
              <a:rPr lang="en-US" altLang="en-US"/>
              <a:t>Retrieving Single Tuples with Embedded SQL (cont’d.)</a:t>
            </a:r>
          </a:p>
        </p:txBody>
      </p:sp>
      <p:sp>
        <p:nvSpPr>
          <p:cNvPr id="27651" name="Content Placeholder 5">
            <a:extLst>
              <a:ext uri="{FF2B5EF4-FFF2-40B4-BE49-F238E27FC236}">
                <a16:creationId xmlns:a16="http://schemas.microsoft.com/office/drawing/2014/main" id="{E91CB865-F800-06DE-627C-4770678D88C7}"/>
              </a:ext>
            </a:extLst>
          </p:cNvPr>
          <p:cNvSpPr>
            <a:spLocks noGrp="1"/>
          </p:cNvSpPr>
          <p:nvPr>
            <p:ph idx="1"/>
          </p:nvPr>
        </p:nvSpPr>
        <p:spPr/>
        <p:txBody>
          <a:bodyPr/>
          <a:lstStyle/>
          <a:p>
            <a:r>
              <a:rPr lang="en-US" altLang="en-US"/>
              <a:t>Connecting to the database</a:t>
            </a:r>
          </a:p>
          <a:p>
            <a:pPr lvl="1">
              <a:buFont typeface="Wingdings" panose="05000000000000000000" pitchFamily="2" charset="2"/>
              <a:buNone/>
            </a:pPr>
            <a:r>
              <a:rPr lang="en-US" altLang="en-US" sz="2000">
                <a:latin typeface="Courier New" panose="02070309020205020404" pitchFamily="49" charset="0"/>
                <a:cs typeface="Courier New" panose="02070309020205020404" pitchFamily="49" charset="0"/>
              </a:rPr>
              <a:t>CONNECT TO &lt;server name&gt;AS &lt;connection name&gt;</a:t>
            </a:r>
          </a:p>
          <a:p>
            <a:pPr lvl="1">
              <a:buFont typeface="Wingdings" panose="05000000000000000000" pitchFamily="2" charset="2"/>
              <a:buNone/>
            </a:pPr>
            <a:r>
              <a:rPr lang="en-US" altLang="en-US" sz="2000">
                <a:latin typeface="Courier New" panose="02070309020205020404" pitchFamily="49" charset="0"/>
                <a:cs typeface="Courier New" panose="02070309020205020404" pitchFamily="49" charset="0"/>
              </a:rPr>
              <a:t>AUTHORIZATION &lt;user account name and password&gt; ;</a:t>
            </a:r>
          </a:p>
          <a:p>
            <a:r>
              <a:rPr lang="en-US" altLang="en-US"/>
              <a:t>Change connection </a:t>
            </a:r>
          </a:p>
          <a:p>
            <a:pPr lvl="1">
              <a:buFont typeface="Wingdings" panose="05000000000000000000" pitchFamily="2" charset="2"/>
              <a:buNone/>
            </a:pPr>
            <a:r>
              <a:rPr lang="en-US" altLang="en-US" sz="2000">
                <a:latin typeface="Courier New" panose="02070309020205020404" pitchFamily="49" charset="0"/>
                <a:cs typeface="Courier New" panose="02070309020205020404" pitchFamily="49" charset="0"/>
              </a:rPr>
              <a:t>SET CONNECTION &lt;connection name&gt; ;</a:t>
            </a:r>
          </a:p>
          <a:p>
            <a:r>
              <a:rPr lang="en-US" altLang="en-US"/>
              <a:t>Terminate connection</a:t>
            </a:r>
          </a:p>
          <a:p>
            <a:pPr lvl="1">
              <a:buFont typeface="Wingdings" panose="05000000000000000000" pitchFamily="2" charset="2"/>
              <a:buNone/>
            </a:pPr>
            <a:r>
              <a:rPr lang="en-US" altLang="en-US" sz="2000">
                <a:latin typeface="Courier New" panose="02070309020205020404" pitchFamily="49" charset="0"/>
                <a:cs typeface="Courier New" panose="02070309020205020404" pitchFamily="49" charset="0"/>
              </a:rPr>
              <a:t>DISCONNECT &lt;connection name&gt; ;</a:t>
            </a:r>
          </a:p>
        </p:txBody>
      </p:sp>
      <p:sp>
        <p:nvSpPr>
          <p:cNvPr id="27652" name="Slide Number Placeholder 3">
            <a:extLst>
              <a:ext uri="{FF2B5EF4-FFF2-40B4-BE49-F238E27FC236}">
                <a16:creationId xmlns:a16="http://schemas.microsoft.com/office/drawing/2014/main" id="{5126F615-8CA6-6A71-2246-9263537403C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10- 12</a:t>
            </a:r>
            <a:endParaRPr lang="en-CA" altLang="en-US" sz="1400">
              <a:solidFill>
                <a:srgbClr val="990033"/>
              </a:solidFill>
            </a:endParaRPr>
          </a:p>
        </p:txBody>
      </p:sp>
    </p:spTree>
  </p:cSld>
  <p:clrMapOvr>
    <a:masterClrMapping/>
  </p:clrMapOvr>
  <p:transition spd="med"/>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Title 4">
            <a:extLst>
              <a:ext uri="{FF2B5EF4-FFF2-40B4-BE49-F238E27FC236}">
                <a16:creationId xmlns:a16="http://schemas.microsoft.com/office/drawing/2014/main" id="{A68C8FD2-8690-2E32-3E45-7AA0FF4C4941}"/>
              </a:ext>
            </a:extLst>
          </p:cNvPr>
          <p:cNvSpPr>
            <a:spLocks noGrp="1"/>
          </p:cNvSpPr>
          <p:nvPr>
            <p:ph type="title"/>
          </p:nvPr>
        </p:nvSpPr>
        <p:spPr/>
        <p:txBody>
          <a:bodyPr/>
          <a:lstStyle/>
          <a:p>
            <a:r>
              <a:rPr lang="en-US" altLang="en-US"/>
              <a:t>Retrieving Single Tuples with Embedded SQL (cont’d.)</a:t>
            </a:r>
          </a:p>
        </p:txBody>
      </p:sp>
      <p:sp>
        <p:nvSpPr>
          <p:cNvPr id="28675" name="Content Placeholder 2">
            <a:extLst>
              <a:ext uri="{FF2B5EF4-FFF2-40B4-BE49-F238E27FC236}">
                <a16:creationId xmlns:a16="http://schemas.microsoft.com/office/drawing/2014/main" id="{FD68BDF7-1F58-F006-C12B-9A09F35C6018}"/>
              </a:ext>
            </a:extLst>
          </p:cNvPr>
          <p:cNvSpPr>
            <a:spLocks noGrp="1"/>
          </p:cNvSpPr>
          <p:nvPr>
            <p:ph idx="1"/>
          </p:nvPr>
        </p:nvSpPr>
        <p:spPr/>
        <p:txBody>
          <a:bodyPr/>
          <a:lstStyle/>
          <a:p>
            <a:r>
              <a:rPr lang="en-US" altLang="en-US" b="1"/>
              <a:t>SQLCODE</a:t>
            </a:r>
            <a:r>
              <a:rPr lang="en-US" altLang="en-US"/>
              <a:t> and </a:t>
            </a:r>
            <a:r>
              <a:rPr lang="en-US" altLang="en-US" b="1"/>
              <a:t>SQLSTATE</a:t>
            </a:r>
            <a:r>
              <a:rPr lang="en-US" altLang="en-US"/>
              <a:t> communication variables </a:t>
            </a:r>
          </a:p>
          <a:p>
            <a:pPr lvl="1"/>
            <a:r>
              <a:rPr lang="en-US" altLang="en-US"/>
              <a:t>Used by DBMS to communicate exception or error conditions</a:t>
            </a:r>
          </a:p>
          <a:p>
            <a:r>
              <a:rPr lang="en-US" altLang="en-US"/>
              <a:t>SQLCODE variable</a:t>
            </a:r>
          </a:p>
          <a:p>
            <a:pPr lvl="1"/>
            <a:r>
              <a:rPr lang="en-US" altLang="en-US"/>
              <a:t>0 = statement executed successfully</a:t>
            </a:r>
          </a:p>
          <a:p>
            <a:pPr lvl="1"/>
            <a:r>
              <a:rPr lang="en-US" altLang="en-US"/>
              <a:t>100 = no more data available in query result</a:t>
            </a:r>
          </a:p>
          <a:p>
            <a:pPr lvl="1"/>
            <a:r>
              <a:rPr lang="en-US" altLang="en-US"/>
              <a:t>&lt; 0 = indicates some error has occurred</a:t>
            </a:r>
          </a:p>
        </p:txBody>
      </p:sp>
      <p:sp>
        <p:nvSpPr>
          <p:cNvPr id="28676" name="Slide Number Placeholder 3">
            <a:extLst>
              <a:ext uri="{FF2B5EF4-FFF2-40B4-BE49-F238E27FC236}">
                <a16:creationId xmlns:a16="http://schemas.microsoft.com/office/drawing/2014/main" id="{762E6CA5-6BB9-AEB6-2039-F78B197DC41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10- 13</a:t>
            </a:r>
            <a:endParaRPr lang="en-CA" altLang="en-US" sz="1400">
              <a:solidFill>
                <a:srgbClr val="990033"/>
              </a:solidFill>
            </a:endParaRPr>
          </a:p>
        </p:txBody>
      </p:sp>
    </p:spTree>
  </p:cSld>
  <p:clrMapOvr>
    <a:masterClrMapping/>
  </p:clrMapOvr>
  <p:transition spd="med"/>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98" name="Title 4">
            <a:extLst>
              <a:ext uri="{FF2B5EF4-FFF2-40B4-BE49-F238E27FC236}">
                <a16:creationId xmlns:a16="http://schemas.microsoft.com/office/drawing/2014/main" id="{5D3F12FC-E01C-E27A-A1A4-6CA9DF87C648}"/>
              </a:ext>
            </a:extLst>
          </p:cNvPr>
          <p:cNvSpPr>
            <a:spLocks noGrp="1"/>
          </p:cNvSpPr>
          <p:nvPr>
            <p:ph type="title"/>
          </p:nvPr>
        </p:nvSpPr>
        <p:spPr/>
        <p:txBody>
          <a:bodyPr/>
          <a:lstStyle/>
          <a:p>
            <a:r>
              <a:rPr lang="en-US" altLang="en-US"/>
              <a:t>Retrieving Single Tuples with Embedded SQL (cont’d.)</a:t>
            </a:r>
          </a:p>
        </p:txBody>
      </p:sp>
      <p:sp>
        <p:nvSpPr>
          <p:cNvPr id="29699" name="Content Placeholder 2">
            <a:extLst>
              <a:ext uri="{FF2B5EF4-FFF2-40B4-BE49-F238E27FC236}">
                <a16:creationId xmlns:a16="http://schemas.microsoft.com/office/drawing/2014/main" id="{C630C8BF-2009-258E-74A4-38E9E56E2C83}"/>
              </a:ext>
            </a:extLst>
          </p:cNvPr>
          <p:cNvSpPr>
            <a:spLocks noGrp="1"/>
          </p:cNvSpPr>
          <p:nvPr>
            <p:ph idx="1"/>
          </p:nvPr>
        </p:nvSpPr>
        <p:spPr/>
        <p:txBody>
          <a:bodyPr/>
          <a:lstStyle/>
          <a:p>
            <a:r>
              <a:rPr lang="en-US" altLang="en-US"/>
              <a:t>SQLSTATE</a:t>
            </a:r>
          </a:p>
          <a:p>
            <a:pPr lvl="1"/>
            <a:r>
              <a:rPr lang="en-US" altLang="en-US"/>
              <a:t>String of five characters</a:t>
            </a:r>
          </a:p>
          <a:p>
            <a:pPr lvl="1"/>
            <a:r>
              <a:rPr lang="en-US" altLang="en-US"/>
              <a:t>‘00000’ = no error or exception</a:t>
            </a:r>
          </a:p>
          <a:p>
            <a:pPr lvl="1"/>
            <a:r>
              <a:rPr lang="en-US" altLang="en-US"/>
              <a:t>Other values indicate various errors or exceptions</a:t>
            </a:r>
          </a:p>
          <a:p>
            <a:pPr lvl="1"/>
            <a:r>
              <a:rPr lang="en-US" altLang="en-US"/>
              <a:t>For example, ‘02000’ indicates ‘no more data’ when using SQLSTATE</a:t>
            </a:r>
          </a:p>
        </p:txBody>
      </p:sp>
      <p:sp>
        <p:nvSpPr>
          <p:cNvPr id="29700" name="Slide Number Placeholder 3">
            <a:extLst>
              <a:ext uri="{FF2B5EF4-FFF2-40B4-BE49-F238E27FC236}">
                <a16:creationId xmlns:a16="http://schemas.microsoft.com/office/drawing/2014/main" id="{F861978E-B9B1-9B19-333F-BDC7B57840C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10- 14</a:t>
            </a:r>
            <a:endParaRPr lang="en-CA" altLang="en-US" sz="1400">
              <a:solidFill>
                <a:srgbClr val="990033"/>
              </a:solidFill>
            </a:endParaRPr>
          </a:p>
        </p:txBody>
      </p:sp>
    </p:spTree>
  </p:cSld>
  <p:clrMapOvr>
    <a:masterClrMapping/>
  </p:clrMapOvr>
  <p:transition spd="med"/>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B39E0D1A-4D41-D4E6-466D-A3D9A9240A75}"/>
              </a:ext>
            </a:extLst>
          </p:cNvPr>
          <p:cNvSpPr>
            <a:spLocks noGrp="1"/>
          </p:cNvSpPr>
          <p:nvPr>
            <p:ph type="title"/>
          </p:nvPr>
        </p:nvSpPr>
        <p:spPr/>
        <p:txBody>
          <a:bodyPr/>
          <a:lstStyle/>
          <a:p>
            <a:r>
              <a:rPr lang="en-US" altLang="en-US" sz="1800" b="1">
                <a:latin typeface="Verdana" panose="020B0604030504040204" pitchFamily="34" charset="0"/>
              </a:rPr>
              <a:t>Figure 10.2</a:t>
            </a:r>
            <a:r>
              <a:rPr lang="en-US" altLang="en-US" sz="1800">
                <a:latin typeface="Verdana" panose="020B0604030504040204" pitchFamily="34" charset="0"/>
              </a:rPr>
              <a:t>   Program segment E1, a C program segment with embedded SQL.</a:t>
            </a:r>
          </a:p>
        </p:txBody>
      </p:sp>
      <p:pic>
        <p:nvPicPr>
          <p:cNvPr id="30723" name="Picture 2" descr="fig10_02.jpg">
            <a:extLst>
              <a:ext uri="{FF2B5EF4-FFF2-40B4-BE49-F238E27FC236}">
                <a16:creationId xmlns:a16="http://schemas.microsoft.com/office/drawing/2014/main" id="{1D62D5F2-AE8C-0AC8-FB41-AC63F16D0F4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220913"/>
            <a:ext cx="8229600" cy="272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Slide Number Placeholder 3">
            <a:extLst>
              <a:ext uri="{FF2B5EF4-FFF2-40B4-BE49-F238E27FC236}">
                <a16:creationId xmlns:a16="http://schemas.microsoft.com/office/drawing/2014/main" id="{75047068-C51C-7859-EF57-F7960A9F4B6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10- 15</a:t>
            </a:r>
            <a:endParaRPr lang="en-CA" altLang="en-US" sz="1400">
              <a:solidFill>
                <a:srgbClr val="990033"/>
              </a:solidFill>
            </a:endParaRPr>
          </a:p>
        </p:txBody>
      </p:sp>
    </p:spTree>
  </p:cSld>
  <p:clrMapOvr>
    <a:masterClrMapping/>
  </p:clrMapOvr>
  <p:transition spd="med" advTm="0"/>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80982263-FA2F-D82D-88AA-43D285316D8F}"/>
              </a:ext>
            </a:extLst>
          </p:cNvPr>
          <p:cNvSpPr>
            <a:spLocks noGrp="1"/>
          </p:cNvSpPr>
          <p:nvPr>
            <p:ph type="title"/>
          </p:nvPr>
        </p:nvSpPr>
        <p:spPr/>
        <p:txBody>
          <a:bodyPr/>
          <a:lstStyle/>
          <a:p>
            <a:r>
              <a:rPr lang="en-US" altLang="en-US"/>
              <a:t>Retrieving Multiple Tuples with Embedded SQL Using Cursors</a:t>
            </a:r>
          </a:p>
        </p:txBody>
      </p:sp>
      <p:sp>
        <p:nvSpPr>
          <p:cNvPr id="31747" name="Content Placeholder 2">
            <a:extLst>
              <a:ext uri="{FF2B5EF4-FFF2-40B4-BE49-F238E27FC236}">
                <a16:creationId xmlns:a16="http://schemas.microsoft.com/office/drawing/2014/main" id="{C0E4D193-F2EE-DC6B-4A58-B8D1CC393B3B}"/>
              </a:ext>
            </a:extLst>
          </p:cNvPr>
          <p:cNvSpPr>
            <a:spLocks noGrp="1"/>
          </p:cNvSpPr>
          <p:nvPr>
            <p:ph idx="1"/>
          </p:nvPr>
        </p:nvSpPr>
        <p:spPr/>
        <p:txBody>
          <a:bodyPr/>
          <a:lstStyle/>
          <a:p>
            <a:r>
              <a:rPr lang="en-US" altLang="en-US"/>
              <a:t>Cursor </a:t>
            </a:r>
          </a:p>
          <a:p>
            <a:pPr lvl="1"/>
            <a:r>
              <a:rPr lang="en-US" altLang="en-US"/>
              <a:t>Points to a single tuple (row) from result of query</a:t>
            </a:r>
          </a:p>
          <a:p>
            <a:r>
              <a:rPr lang="en-US" altLang="en-US" b="1">
                <a:latin typeface="Courier New" panose="02070309020205020404" pitchFamily="49" charset="0"/>
                <a:cs typeface="Courier New" panose="02070309020205020404" pitchFamily="49" charset="0"/>
              </a:rPr>
              <a:t>OPEN</a:t>
            </a:r>
            <a:r>
              <a:rPr lang="en-US" altLang="en-US" b="1"/>
              <a:t> </a:t>
            </a:r>
            <a:r>
              <a:rPr lang="en-US" altLang="en-US" b="1">
                <a:latin typeface="Courier New" panose="02070309020205020404" pitchFamily="49" charset="0"/>
                <a:cs typeface="Courier New" panose="02070309020205020404" pitchFamily="49" charset="0"/>
              </a:rPr>
              <a:t>CURSOR</a:t>
            </a:r>
            <a:r>
              <a:rPr lang="en-US" altLang="en-US"/>
              <a:t> command </a:t>
            </a:r>
          </a:p>
          <a:p>
            <a:pPr lvl="1"/>
            <a:r>
              <a:rPr lang="en-US" altLang="en-US"/>
              <a:t>Fetches query result and sets cursor to a position before first row in result</a:t>
            </a:r>
          </a:p>
          <a:p>
            <a:pPr lvl="1"/>
            <a:r>
              <a:rPr lang="en-US" altLang="en-US"/>
              <a:t>Becomes current row for cursor </a:t>
            </a:r>
          </a:p>
          <a:p>
            <a:r>
              <a:rPr lang="en-US" altLang="en-US" b="1">
                <a:latin typeface="Courier New" panose="02070309020205020404" pitchFamily="49" charset="0"/>
                <a:cs typeface="Courier New" panose="02070309020205020404" pitchFamily="49" charset="0"/>
              </a:rPr>
              <a:t>FETCH</a:t>
            </a:r>
            <a:r>
              <a:rPr lang="en-US" altLang="en-US"/>
              <a:t> commands</a:t>
            </a:r>
          </a:p>
          <a:p>
            <a:pPr lvl="1"/>
            <a:r>
              <a:rPr lang="en-US" altLang="en-US"/>
              <a:t>Moves cursor to next row in result of query</a:t>
            </a:r>
          </a:p>
        </p:txBody>
      </p:sp>
      <p:sp>
        <p:nvSpPr>
          <p:cNvPr id="31748" name="Slide Number Placeholder 3">
            <a:extLst>
              <a:ext uri="{FF2B5EF4-FFF2-40B4-BE49-F238E27FC236}">
                <a16:creationId xmlns:a16="http://schemas.microsoft.com/office/drawing/2014/main" id="{4B4193DB-546A-1D1D-0155-7E2BCB66450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10- 16</a:t>
            </a:r>
            <a:endParaRPr lang="en-CA" altLang="en-US" sz="1400">
              <a:solidFill>
                <a:srgbClr val="990033"/>
              </a:solidFill>
            </a:endParaRPr>
          </a:p>
        </p:txBody>
      </p:sp>
    </p:spTree>
  </p:cSld>
  <p:clrMapOvr>
    <a:masterClrMapping/>
  </p:clrMapOvr>
  <p:transition spd="med"/>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3736B880-4D17-F706-0371-933C68D3BB0C}"/>
              </a:ext>
            </a:extLst>
          </p:cNvPr>
          <p:cNvSpPr>
            <a:spLocks noGrp="1"/>
          </p:cNvSpPr>
          <p:nvPr>
            <p:ph type="title"/>
          </p:nvPr>
        </p:nvSpPr>
        <p:spPr/>
        <p:txBody>
          <a:bodyPr/>
          <a:lstStyle/>
          <a:p>
            <a:r>
              <a:rPr lang="en-US" altLang="en-US" sz="1400" b="1">
                <a:latin typeface="Verdana" panose="020B0604030504040204" pitchFamily="34" charset="0"/>
              </a:rPr>
              <a:t>Figure 10.3</a:t>
            </a:r>
            <a:r>
              <a:rPr lang="en-US" altLang="en-US" sz="1400">
                <a:latin typeface="Verdana" panose="020B0604030504040204" pitchFamily="34" charset="0"/>
              </a:rPr>
              <a:t>   Program segment E2, a C program segment that uses cursors with embedded SQL for update purposes.</a:t>
            </a:r>
          </a:p>
        </p:txBody>
      </p:sp>
      <p:pic>
        <p:nvPicPr>
          <p:cNvPr id="32771" name="Picture 2" descr="fig10_03.jpg">
            <a:extLst>
              <a:ext uri="{FF2B5EF4-FFF2-40B4-BE49-F238E27FC236}">
                <a16:creationId xmlns:a16="http://schemas.microsoft.com/office/drawing/2014/main" id="{BD3B31BB-656B-ED4E-7043-1DDA6B4B63B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1500" y="1525587"/>
            <a:ext cx="8001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2" name="Slide Number Placeholder 3">
            <a:extLst>
              <a:ext uri="{FF2B5EF4-FFF2-40B4-BE49-F238E27FC236}">
                <a16:creationId xmlns:a16="http://schemas.microsoft.com/office/drawing/2014/main" id="{361C4492-6820-0F24-9211-DF0CAC54998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10- 17</a:t>
            </a:r>
            <a:endParaRPr lang="en-CA" altLang="en-US" sz="1400">
              <a:solidFill>
                <a:srgbClr val="990033"/>
              </a:solidFill>
            </a:endParaRPr>
          </a:p>
        </p:txBody>
      </p:sp>
    </p:spTree>
  </p:cSld>
  <p:clrMapOvr>
    <a:masterClrMapping/>
  </p:clrMapOvr>
  <p:transition spd="med" advTm="0"/>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4" name="Title 5">
            <a:extLst>
              <a:ext uri="{FF2B5EF4-FFF2-40B4-BE49-F238E27FC236}">
                <a16:creationId xmlns:a16="http://schemas.microsoft.com/office/drawing/2014/main" id="{3CB08457-4258-2259-CF0B-596BA28E591F}"/>
              </a:ext>
            </a:extLst>
          </p:cNvPr>
          <p:cNvSpPr>
            <a:spLocks noGrp="1"/>
          </p:cNvSpPr>
          <p:nvPr>
            <p:ph type="title"/>
          </p:nvPr>
        </p:nvSpPr>
        <p:spPr>
          <a:xfrm>
            <a:off x="342106" y="157162"/>
            <a:ext cx="8458200" cy="1143000"/>
          </a:xfrm>
        </p:spPr>
        <p:txBody>
          <a:bodyPr/>
          <a:lstStyle/>
          <a:p>
            <a:r>
              <a:rPr lang="en-US" altLang="en-US" dirty="0"/>
              <a:t>Retrieving Multiple Tuples with Embedded SQL Using Cursors (cont’d.)</a:t>
            </a:r>
          </a:p>
        </p:txBody>
      </p:sp>
      <p:sp>
        <p:nvSpPr>
          <p:cNvPr id="33795" name="Content Placeholder 2">
            <a:extLst>
              <a:ext uri="{FF2B5EF4-FFF2-40B4-BE49-F238E27FC236}">
                <a16:creationId xmlns:a16="http://schemas.microsoft.com/office/drawing/2014/main" id="{302BD874-CDD0-2F9C-BF1F-F6CCFE41FA4B}"/>
              </a:ext>
            </a:extLst>
          </p:cNvPr>
          <p:cNvSpPr>
            <a:spLocks noGrp="1"/>
          </p:cNvSpPr>
          <p:nvPr>
            <p:ph idx="1"/>
          </p:nvPr>
        </p:nvSpPr>
        <p:spPr>
          <a:xfrm>
            <a:off x="457200" y="1981200"/>
            <a:ext cx="8228013" cy="4148138"/>
          </a:xfrm>
        </p:spPr>
        <p:txBody>
          <a:bodyPr/>
          <a:lstStyle/>
          <a:p>
            <a:r>
              <a:rPr lang="en-US" altLang="en-US" b="1">
                <a:latin typeface="Courier New" panose="02070309020205020404" pitchFamily="49" charset="0"/>
                <a:cs typeface="Courier New" panose="02070309020205020404" pitchFamily="49" charset="0"/>
              </a:rPr>
              <a:t>FOR UPDATE OF </a:t>
            </a:r>
          </a:p>
          <a:p>
            <a:pPr lvl="1"/>
            <a:r>
              <a:rPr lang="en-US" altLang="en-US"/>
              <a:t>List the names of any attributes that will be updated by the program</a:t>
            </a:r>
          </a:p>
          <a:p>
            <a:r>
              <a:rPr lang="en-US" altLang="en-US"/>
              <a:t>Fetch orientation </a:t>
            </a:r>
          </a:p>
          <a:p>
            <a:pPr lvl="1"/>
            <a:r>
              <a:rPr lang="en-US" altLang="en-US"/>
              <a:t>Added using value: </a:t>
            </a:r>
            <a:r>
              <a:rPr lang="en-US" altLang="en-US">
                <a:latin typeface="Courier New" panose="02070309020205020404" pitchFamily="49" charset="0"/>
                <a:cs typeface="Courier New" panose="02070309020205020404" pitchFamily="49" charset="0"/>
              </a:rPr>
              <a:t>NEXT</a:t>
            </a:r>
            <a:r>
              <a:rPr lang="en-US" altLang="en-US"/>
              <a:t>, </a:t>
            </a:r>
            <a:r>
              <a:rPr lang="en-US" altLang="en-US">
                <a:latin typeface="Courier New" panose="02070309020205020404" pitchFamily="49" charset="0"/>
                <a:cs typeface="Courier New" panose="02070309020205020404" pitchFamily="49" charset="0"/>
              </a:rPr>
              <a:t>PRIOR</a:t>
            </a:r>
            <a:r>
              <a:rPr lang="en-US" altLang="en-US"/>
              <a:t>, </a:t>
            </a:r>
            <a:r>
              <a:rPr lang="en-US" altLang="en-US">
                <a:latin typeface="Courier New" panose="02070309020205020404" pitchFamily="49" charset="0"/>
                <a:cs typeface="Courier New" panose="02070309020205020404" pitchFamily="49" charset="0"/>
              </a:rPr>
              <a:t>FIRST</a:t>
            </a:r>
            <a:r>
              <a:rPr lang="en-US" altLang="en-US"/>
              <a:t>, </a:t>
            </a:r>
            <a:r>
              <a:rPr lang="en-US" altLang="en-US">
                <a:latin typeface="Courier New" panose="02070309020205020404" pitchFamily="49" charset="0"/>
                <a:cs typeface="Courier New" panose="02070309020205020404" pitchFamily="49" charset="0"/>
              </a:rPr>
              <a:t>LAST</a:t>
            </a:r>
            <a:r>
              <a:rPr lang="en-US" altLang="en-US"/>
              <a:t>, </a:t>
            </a:r>
            <a:r>
              <a:rPr lang="en-US" altLang="en-US">
                <a:latin typeface="Courier New" panose="02070309020205020404" pitchFamily="49" charset="0"/>
                <a:cs typeface="Courier New" panose="02070309020205020404" pitchFamily="49" charset="0"/>
              </a:rPr>
              <a:t>ABSOLUTE</a:t>
            </a:r>
            <a:r>
              <a:rPr lang="en-US" altLang="en-US"/>
              <a:t> </a:t>
            </a:r>
            <a:r>
              <a:rPr lang="en-US" altLang="en-US" i="1">
                <a:latin typeface="Courier New" panose="02070309020205020404" pitchFamily="49" charset="0"/>
                <a:cs typeface="Courier New" panose="02070309020205020404" pitchFamily="49" charset="0"/>
              </a:rPr>
              <a:t>i</a:t>
            </a:r>
            <a:r>
              <a:rPr lang="en-US" altLang="en-US"/>
              <a:t>, and </a:t>
            </a:r>
            <a:r>
              <a:rPr lang="en-US" altLang="en-US">
                <a:latin typeface="Courier New" panose="02070309020205020404" pitchFamily="49" charset="0"/>
                <a:cs typeface="Courier New" panose="02070309020205020404" pitchFamily="49" charset="0"/>
              </a:rPr>
              <a:t>RELATIVE</a:t>
            </a:r>
            <a:r>
              <a:rPr lang="en-US" altLang="en-US"/>
              <a:t> </a:t>
            </a:r>
            <a:r>
              <a:rPr lang="en-US" altLang="en-US" i="1">
                <a:latin typeface="Courier New" panose="02070309020205020404" pitchFamily="49" charset="0"/>
                <a:cs typeface="Courier New" panose="02070309020205020404" pitchFamily="49" charset="0"/>
              </a:rPr>
              <a:t>i</a:t>
            </a:r>
          </a:p>
        </p:txBody>
      </p:sp>
      <p:pic>
        <p:nvPicPr>
          <p:cNvPr id="33796" name="Picture 2">
            <a:extLst>
              <a:ext uri="{FF2B5EF4-FFF2-40B4-BE49-F238E27FC236}">
                <a16:creationId xmlns:a16="http://schemas.microsoft.com/office/drawing/2014/main" id="{A5D167F6-101D-0D02-AF9D-70B26E9EFA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3800" y="5029200"/>
            <a:ext cx="6426200" cy="127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7" name="Slide Number Placeholder 3">
            <a:extLst>
              <a:ext uri="{FF2B5EF4-FFF2-40B4-BE49-F238E27FC236}">
                <a16:creationId xmlns:a16="http://schemas.microsoft.com/office/drawing/2014/main" id="{14A17041-10DD-9773-0A1F-3B430A5F2E1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10- 18</a:t>
            </a:r>
            <a:endParaRPr lang="en-CA" altLang="en-US" sz="1400">
              <a:solidFill>
                <a:srgbClr val="990033"/>
              </a:solidFill>
            </a:endParaRPr>
          </a:p>
        </p:txBody>
      </p:sp>
    </p:spTree>
  </p:cSld>
  <p:clrMapOvr>
    <a:masterClrMapping/>
  </p:clrMapOvr>
  <p:transition spd="med"/>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B6109B1E-39A3-8494-9181-D3D8253C0111}"/>
              </a:ext>
            </a:extLst>
          </p:cNvPr>
          <p:cNvSpPr>
            <a:spLocks noGrp="1"/>
          </p:cNvSpPr>
          <p:nvPr>
            <p:ph type="title"/>
          </p:nvPr>
        </p:nvSpPr>
        <p:spPr/>
        <p:txBody>
          <a:bodyPr/>
          <a:lstStyle/>
          <a:p>
            <a:r>
              <a:rPr lang="en-US" altLang="en-US"/>
              <a:t>Specifying Queries at Runtime Using Dynamic SQL</a:t>
            </a:r>
          </a:p>
        </p:txBody>
      </p:sp>
      <p:sp>
        <p:nvSpPr>
          <p:cNvPr id="34819" name="Content Placeholder 2">
            <a:extLst>
              <a:ext uri="{FF2B5EF4-FFF2-40B4-BE49-F238E27FC236}">
                <a16:creationId xmlns:a16="http://schemas.microsoft.com/office/drawing/2014/main" id="{39FBD0C3-973D-BE0C-325A-9A74E9CE0A00}"/>
              </a:ext>
            </a:extLst>
          </p:cNvPr>
          <p:cNvSpPr>
            <a:spLocks noGrp="1"/>
          </p:cNvSpPr>
          <p:nvPr>
            <p:ph idx="1"/>
          </p:nvPr>
        </p:nvSpPr>
        <p:spPr/>
        <p:txBody>
          <a:bodyPr/>
          <a:lstStyle/>
          <a:p>
            <a:r>
              <a:rPr lang="en-US" altLang="en-US" b="1"/>
              <a:t>Dynamic SQL</a:t>
            </a:r>
          </a:p>
          <a:p>
            <a:pPr lvl="1"/>
            <a:r>
              <a:rPr lang="en-US" altLang="en-US"/>
              <a:t>Execute different SQL queries or updates dynamically at runtime</a:t>
            </a:r>
          </a:p>
          <a:p>
            <a:r>
              <a:rPr lang="en-US" altLang="en-US"/>
              <a:t>Dynamic update </a:t>
            </a:r>
          </a:p>
          <a:p>
            <a:r>
              <a:rPr lang="en-US" altLang="en-US"/>
              <a:t>Dynamic query</a:t>
            </a:r>
          </a:p>
          <a:p>
            <a:endParaRPr lang="en-US" altLang="en-US"/>
          </a:p>
        </p:txBody>
      </p:sp>
      <p:sp>
        <p:nvSpPr>
          <p:cNvPr id="34820" name="Slide Number Placeholder 3">
            <a:extLst>
              <a:ext uri="{FF2B5EF4-FFF2-40B4-BE49-F238E27FC236}">
                <a16:creationId xmlns:a16="http://schemas.microsoft.com/office/drawing/2014/main" id="{A26FEEB4-A090-A86E-79ED-E3DE215EFD6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10- 19</a:t>
            </a:r>
            <a:endParaRPr lang="en-CA" altLang="en-US" sz="1400">
              <a:solidFill>
                <a:srgbClr val="990033"/>
              </a:solidFill>
            </a:endParaRPr>
          </a:p>
        </p:txBody>
      </p:sp>
    </p:spTree>
  </p:cSld>
  <p:clrMapOvr>
    <a:masterClrMapping/>
  </p:clrMapOvr>
  <p:transition spd="med"/>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B38FC611-C31D-EDB7-D739-EA6C42B140C1}"/>
              </a:ext>
            </a:extLst>
          </p:cNvPr>
          <p:cNvSpPr>
            <a:spLocks noGrp="1"/>
          </p:cNvSpPr>
          <p:nvPr>
            <p:ph type="title"/>
          </p:nvPr>
        </p:nvSpPr>
        <p:spPr/>
        <p:txBody>
          <a:bodyPr/>
          <a:lstStyle/>
          <a:p>
            <a:r>
              <a:rPr lang="en-US" altLang="en-US" sz="1400" b="1">
                <a:latin typeface="Verdana" panose="020B0604030504040204" pitchFamily="34" charset="0"/>
              </a:rPr>
              <a:t>Figure 10.4</a:t>
            </a:r>
            <a:r>
              <a:rPr lang="en-US" altLang="en-US" sz="1400">
                <a:latin typeface="Verdana" panose="020B0604030504040204" pitchFamily="34" charset="0"/>
              </a:rPr>
              <a:t>   Program segment E3, a C program segment that uses dynamic SQL for updating a table.</a:t>
            </a:r>
          </a:p>
        </p:txBody>
      </p:sp>
      <p:pic>
        <p:nvPicPr>
          <p:cNvPr id="35843" name="Picture 2" descr="fig10_04.jpg">
            <a:extLst>
              <a:ext uri="{FF2B5EF4-FFF2-40B4-BE49-F238E27FC236}">
                <a16:creationId xmlns:a16="http://schemas.microsoft.com/office/drawing/2014/main" id="{CF4C8DEA-6803-B8D2-30F1-09543FE1A9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155825"/>
            <a:ext cx="8229600" cy="285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4" name="Slide Number Placeholder 3">
            <a:extLst>
              <a:ext uri="{FF2B5EF4-FFF2-40B4-BE49-F238E27FC236}">
                <a16:creationId xmlns:a16="http://schemas.microsoft.com/office/drawing/2014/main" id="{E81FB0AC-0DF8-0A67-E4C4-FB4BBE1EDB2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10- 20</a:t>
            </a:r>
            <a:endParaRPr lang="en-CA" altLang="en-US" sz="1400">
              <a:solidFill>
                <a:srgbClr val="990033"/>
              </a:solidFill>
            </a:endParaRPr>
          </a:p>
        </p:txBody>
      </p:sp>
    </p:spTree>
  </p:cSld>
  <p:clrMapOvr>
    <a:masterClrMapping/>
  </p:clrMapOvr>
  <p:transition spd="med" advTm="0"/>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D28985ED-6B7B-169D-50BC-C36E1C77A5BB}"/>
              </a:ext>
            </a:extLst>
          </p:cNvPr>
          <p:cNvSpPr>
            <a:spLocks noGrp="1"/>
          </p:cNvSpPr>
          <p:nvPr>
            <p:ph type="title"/>
          </p:nvPr>
        </p:nvSpPr>
        <p:spPr/>
        <p:txBody>
          <a:bodyPr/>
          <a:lstStyle/>
          <a:p>
            <a:r>
              <a:rPr lang="en-US" altLang="en-US"/>
              <a:t>SQLJ: Embedding SQL Commands in Java</a:t>
            </a:r>
          </a:p>
        </p:txBody>
      </p:sp>
      <p:sp>
        <p:nvSpPr>
          <p:cNvPr id="36867" name="Content Placeholder 2">
            <a:extLst>
              <a:ext uri="{FF2B5EF4-FFF2-40B4-BE49-F238E27FC236}">
                <a16:creationId xmlns:a16="http://schemas.microsoft.com/office/drawing/2014/main" id="{87C6F5A8-A450-5477-0533-20146866F446}"/>
              </a:ext>
            </a:extLst>
          </p:cNvPr>
          <p:cNvSpPr>
            <a:spLocks noGrp="1"/>
          </p:cNvSpPr>
          <p:nvPr>
            <p:ph idx="1"/>
          </p:nvPr>
        </p:nvSpPr>
        <p:spPr/>
        <p:txBody>
          <a:bodyPr/>
          <a:lstStyle/>
          <a:p>
            <a:r>
              <a:rPr lang="en-US" altLang="en-US"/>
              <a:t>Standard adopted by several vendors for embedding SQL in Java</a:t>
            </a:r>
          </a:p>
          <a:p>
            <a:r>
              <a:rPr lang="en-US" altLang="en-US"/>
              <a:t>Import several class libraries</a:t>
            </a:r>
          </a:p>
          <a:p>
            <a:r>
              <a:rPr lang="en-US" altLang="en-US" b="1"/>
              <a:t>Default context</a:t>
            </a:r>
          </a:p>
          <a:p>
            <a:r>
              <a:rPr lang="en-US" altLang="en-US"/>
              <a:t>Uses </a:t>
            </a:r>
            <a:r>
              <a:rPr lang="en-US" altLang="en-US" b="1"/>
              <a:t>exceptions</a:t>
            </a:r>
            <a:r>
              <a:rPr lang="en-US" altLang="en-US"/>
              <a:t> for error handling</a:t>
            </a:r>
          </a:p>
          <a:p>
            <a:pPr lvl="1"/>
            <a:r>
              <a:rPr lang="en-US" altLang="en-US">
                <a:latin typeface="Courier New" panose="02070309020205020404" pitchFamily="49" charset="0"/>
                <a:cs typeface="Courier New" panose="02070309020205020404" pitchFamily="49" charset="0"/>
              </a:rPr>
              <a:t>SQLException</a:t>
            </a:r>
            <a:r>
              <a:rPr lang="en-US" altLang="en-US"/>
              <a:t> is used to return errors or exception conditions</a:t>
            </a:r>
          </a:p>
        </p:txBody>
      </p:sp>
      <p:sp>
        <p:nvSpPr>
          <p:cNvPr id="36868" name="Slide Number Placeholder 3">
            <a:extLst>
              <a:ext uri="{FF2B5EF4-FFF2-40B4-BE49-F238E27FC236}">
                <a16:creationId xmlns:a16="http://schemas.microsoft.com/office/drawing/2014/main" id="{57618BF1-6D12-8D2D-F49B-8BDF6474E59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10- 21</a:t>
            </a:r>
            <a:endParaRPr lang="en-CA" altLang="en-US" sz="1400">
              <a:solidFill>
                <a:srgbClr val="990033"/>
              </a:solidFill>
            </a:endParaRPr>
          </a:p>
        </p:txBody>
      </p:sp>
    </p:spTree>
  </p:cSld>
  <p:clrMapOvr>
    <a:masterClrMapping/>
  </p:clrMapOvr>
  <p:transition spd="med"/>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9BBE0175-840D-D643-1929-B7AF06C92A18}"/>
              </a:ext>
            </a:extLst>
          </p:cNvPr>
          <p:cNvSpPr>
            <a:spLocks noGrp="1"/>
          </p:cNvSpPr>
          <p:nvPr>
            <p:ph type="title"/>
          </p:nvPr>
        </p:nvSpPr>
        <p:spPr/>
        <p:txBody>
          <a:bodyPr/>
          <a:lstStyle/>
          <a:p>
            <a:r>
              <a:rPr lang="en-US" altLang="en-US" sz="1400" b="1">
                <a:latin typeface="Verdana" panose="020B0604030504040204" pitchFamily="34" charset="0"/>
              </a:rPr>
              <a:t>Figure 10.5</a:t>
            </a:r>
            <a:r>
              <a:rPr lang="en-US" altLang="en-US" sz="1400">
                <a:latin typeface="Verdana" panose="020B0604030504040204" pitchFamily="34" charset="0"/>
              </a:rPr>
              <a:t>   Importing classes needed for including SQLJ in Java programs in Oracle, and establishing a connection and default context.</a:t>
            </a:r>
          </a:p>
        </p:txBody>
      </p:sp>
      <p:pic>
        <p:nvPicPr>
          <p:cNvPr id="37891" name="Picture 2" descr="fig10_05.jpg">
            <a:extLst>
              <a:ext uri="{FF2B5EF4-FFF2-40B4-BE49-F238E27FC236}">
                <a16:creationId xmlns:a16="http://schemas.microsoft.com/office/drawing/2014/main" id="{D19E6210-9C1D-1073-5589-88A2489F2A8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354263"/>
            <a:ext cx="8229600" cy="245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Slide Number Placeholder 3">
            <a:extLst>
              <a:ext uri="{FF2B5EF4-FFF2-40B4-BE49-F238E27FC236}">
                <a16:creationId xmlns:a16="http://schemas.microsoft.com/office/drawing/2014/main" id="{F3FBD2C0-C143-13F3-D8C5-B9E9F54A028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10- 22</a:t>
            </a:r>
            <a:endParaRPr lang="en-CA" altLang="en-US" sz="1400">
              <a:solidFill>
                <a:srgbClr val="990033"/>
              </a:solidFill>
            </a:endParaRPr>
          </a:p>
        </p:txBody>
      </p:sp>
    </p:spTree>
  </p:cSld>
  <p:clrMapOvr>
    <a:masterClrMapping/>
  </p:clrMapOvr>
  <p:transition spd="med" advTm="0"/>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D84FB191-DA93-643F-535C-26C622E31ACD}"/>
              </a:ext>
            </a:extLst>
          </p:cNvPr>
          <p:cNvSpPr>
            <a:spLocks noGrp="1"/>
          </p:cNvSpPr>
          <p:nvPr>
            <p:ph type="title"/>
          </p:nvPr>
        </p:nvSpPr>
        <p:spPr/>
        <p:txBody>
          <a:bodyPr/>
          <a:lstStyle/>
          <a:p>
            <a:r>
              <a:rPr lang="en-US" altLang="en-US" sz="1400" b="1">
                <a:latin typeface="Verdana" panose="020B0604030504040204" pitchFamily="34" charset="0"/>
              </a:rPr>
              <a:t>Figure 10.6</a:t>
            </a:r>
            <a:r>
              <a:rPr lang="en-US" altLang="en-US" sz="1400">
                <a:latin typeface="Verdana" panose="020B0604030504040204" pitchFamily="34" charset="0"/>
              </a:rPr>
              <a:t>   Java program variables used in SQLJ examples J1 and J2.</a:t>
            </a:r>
          </a:p>
        </p:txBody>
      </p:sp>
      <p:pic>
        <p:nvPicPr>
          <p:cNvPr id="38915" name="Picture 2" descr="fig10_06.jpg">
            <a:extLst>
              <a:ext uri="{FF2B5EF4-FFF2-40B4-BE49-F238E27FC236}">
                <a16:creationId xmlns:a16="http://schemas.microsoft.com/office/drawing/2014/main" id="{76C7837E-5C21-8876-58AC-63495528747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501900"/>
            <a:ext cx="8229600"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Slide Number Placeholder 3">
            <a:extLst>
              <a:ext uri="{FF2B5EF4-FFF2-40B4-BE49-F238E27FC236}">
                <a16:creationId xmlns:a16="http://schemas.microsoft.com/office/drawing/2014/main" id="{53C84605-3E90-33D6-5935-7539C24BE24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10- 23</a:t>
            </a:r>
            <a:endParaRPr lang="en-CA" altLang="en-US" sz="1400">
              <a:solidFill>
                <a:srgbClr val="990033"/>
              </a:solidFill>
            </a:endParaRPr>
          </a:p>
        </p:txBody>
      </p:sp>
    </p:spTree>
  </p:cSld>
  <p:clrMapOvr>
    <a:masterClrMapping/>
  </p:clrMapOvr>
  <p:transition spd="med" advTm="0"/>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9BA6943C-DBF7-7FD1-B8D4-D1EEBF87E3EE}"/>
              </a:ext>
            </a:extLst>
          </p:cNvPr>
          <p:cNvSpPr>
            <a:spLocks noGrp="1"/>
          </p:cNvSpPr>
          <p:nvPr>
            <p:ph type="title"/>
          </p:nvPr>
        </p:nvSpPr>
        <p:spPr/>
        <p:txBody>
          <a:bodyPr/>
          <a:lstStyle/>
          <a:p>
            <a:r>
              <a:rPr lang="en-US" altLang="en-US" sz="1400" b="1">
                <a:latin typeface="Verdana" panose="020B0604030504040204" pitchFamily="34" charset="0"/>
              </a:rPr>
              <a:t>Figure 10.7</a:t>
            </a:r>
            <a:r>
              <a:rPr lang="en-US" altLang="en-US" sz="1400">
                <a:latin typeface="Verdana" panose="020B0604030504040204" pitchFamily="34" charset="0"/>
              </a:rPr>
              <a:t>   Program segment J1, a Java program segment with SQLJ.</a:t>
            </a:r>
          </a:p>
        </p:txBody>
      </p:sp>
      <p:pic>
        <p:nvPicPr>
          <p:cNvPr id="39939" name="Picture 2" descr="fig10_07.jpg">
            <a:extLst>
              <a:ext uri="{FF2B5EF4-FFF2-40B4-BE49-F238E27FC236}">
                <a16:creationId xmlns:a16="http://schemas.microsoft.com/office/drawing/2014/main" id="{80952C75-24CA-1340-AACC-C7593BF6C6B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154238"/>
            <a:ext cx="8229600" cy="285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Slide Number Placeholder 3">
            <a:extLst>
              <a:ext uri="{FF2B5EF4-FFF2-40B4-BE49-F238E27FC236}">
                <a16:creationId xmlns:a16="http://schemas.microsoft.com/office/drawing/2014/main" id="{9A97ADEB-17A1-0109-AFA9-B4943249E7A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10- 24</a:t>
            </a:r>
            <a:endParaRPr lang="en-CA" altLang="en-US" sz="1400">
              <a:solidFill>
                <a:srgbClr val="990033"/>
              </a:solidFill>
            </a:endParaRPr>
          </a:p>
        </p:txBody>
      </p:sp>
    </p:spTree>
  </p:cSld>
  <p:clrMapOvr>
    <a:masterClrMapping/>
  </p:clrMapOvr>
  <p:transition spd="med" advTm="0"/>
</p:sld>
</file>

<file path=ppt/slides/slide1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3D271BCD-FA77-8432-2B96-63E27BAE9E28}"/>
              </a:ext>
            </a:extLst>
          </p:cNvPr>
          <p:cNvSpPr>
            <a:spLocks noGrp="1"/>
          </p:cNvSpPr>
          <p:nvPr>
            <p:ph type="title"/>
          </p:nvPr>
        </p:nvSpPr>
        <p:spPr/>
        <p:txBody>
          <a:bodyPr/>
          <a:lstStyle/>
          <a:p>
            <a:r>
              <a:rPr lang="en-US" altLang="en-US"/>
              <a:t>Retrieving Multiple Tuples in SQLJ Using Iterators</a:t>
            </a:r>
          </a:p>
        </p:txBody>
      </p:sp>
      <p:sp>
        <p:nvSpPr>
          <p:cNvPr id="40963" name="Content Placeholder 2">
            <a:extLst>
              <a:ext uri="{FF2B5EF4-FFF2-40B4-BE49-F238E27FC236}">
                <a16:creationId xmlns:a16="http://schemas.microsoft.com/office/drawing/2014/main" id="{BE2A21E4-EF2A-97B3-2B8D-40DEDA8502C9}"/>
              </a:ext>
            </a:extLst>
          </p:cNvPr>
          <p:cNvSpPr>
            <a:spLocks noGrp="1"/>
          </p:cNvSpPr>
          <p:nvPr>
            <p:ph idx="1"/>
          </p:nvPr>
        </p:nvSpPr>
        <p:spPr/>
        <p:txBody>
          <a:bodyPr/>
          <a:lstStyle/>
          <a:p>
            <a:r>
              <a:rPr lang="en-US" altLang="en-US" b="1"/>
              <a:t>Iterator </a:t>
            </a:r>
          </a:p>
          <a:p>
            <a:pPr lvl="1"/>
            <a:r>
              <a:rPr lang="en-US" altLang="en-US"/>
              <a:t>Object associated with a collection (set or multiset) of records in a query result</a:t>
            </a:r>
          </a:p>
          <a:p>
            <a:r>
              <a:rPr lang="en-US" altLang="en-US" b="1"/>
              <a:t>Named iterator </a:t>
            </a:r>
          </a:p>
          <a:p>
            <a:pPr lvl="1"/>
            <a:r>
              <a:rPr lang="en-US" altLang="en-US"/>
              <a:t>Associated with a query result by listing attribute names and types in query result</a:t>
            </a:r>
          </a:p>
          <a:p>
            <a:r>
              <a:rPr lang="en-US" altLang="en-US" b="1"/>
              <a:t>Positional</a:t>
            </a:r>
            <a:r>
              <a:rPr lang="en-US" altLang="en-US"/>
              <a:t> </a:t>
            </a:r>
            <a:r>
              <a:rPr lang="en-US" altLang="en-US" b="1"/>
              <a:t>iterator </a:t>
            </a:r>
          </a:p>
          <a:p>
            <a:pPr lvl="1"/>
            <a:r>
              <a:rPr lang="en-US" altLang="en-US"/>
              <a:t>Lists only attribute types in query result</a:t>
            </a:r>
          </a:p>
        </p:txBody>
      </p:sp>
      <p:sp>
        <p:nvSpPr>
          <p:cNvPr id="40964" name="Slide Number Placeholder 3">
            <a:extLst>
              <a:ext uri="{FF2B5EF4-FFF2-40B4-BE49-F238E27FC236}">
                <a16:creationId xmlns:a16="http://schemas.microsoft.com/office/drawing/2014/main" id="{79E9A272-4599-66EC-3480-D22667280AC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10- 25</a:t>
            </a:r>
            <a:endParaRPr lang="en-CA" altLang="en-US" sz="1400">
              <a:solidFill>
                <a:srgbClr val="990033"/>
              </a:solidFill>
            </a:endParaRPr>
          </a:p>
        </p:txBody>
      </p:sp>
    </p:spTree>
  </p:cSld>
  <p:clrMapOvr>
    <a:masterClrMapping/>
  </p:clrMapOvr>
  <p:transition spd="med"/>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4733733A-AF32-C65C-982F-58948ED7CE18}"/>
              </a:ext>
            </a:extLst>
          </p:cNvPr>
          <p:cNvSpPr>
            <a:spLocks noGrp="1"/>
          </p:cNvSpPr>
          <p:nvPr>
            <p:ph type="title"/>
          </p:nvPr>
        </p:nvSpPr>
        <p:spPr/>
        <p:txBody>
          <a:bodyPr/>
          <a:lstStyle/>
          <a:p>
            <a:r>
              <a:rPr lang="en-US" altLang="en-US" sz="1400" b="1">
                <a:latin typeface="Verdana" panose="020B0604030504040204" pitchFamily="34" charset="0"/>
              </a:rPr>
              <a:t>Figure 10.8</a:t>
            </a:r>
            <a:r>
              <a:rPr lang="en-US" altLang="en-US" sz="1400">
                <a:latin typeface="Verdana" panose="020B0604030504040204" pitchFamily="34" charset="0"/>
              </a:rPr>
              <a:t>   Program segment J2A, a Java program segment that uses a </a:t>
            </a:r>
            <a:r>
              <a:rPr lang="en-US" altLang="en-US" sz="1400" b="1">
                <a:latin typeface="Verdana" panose="020B0604030504040204" pitchFamily="34" charset="0"/>
              </a:rPr>
              <a:t>named iterator </a:t>
            </a:r>
            <a:r>
              <a:rPr lang="en-US" altLang="en-US" sz="1400">
                <a:latin typeface="Verdana" panose="020B0604030504040204" pitchFamily="34" charset="0"/>
              </a:rPr>
              <a:t>to print employee information in a particular department.</a:t>
            </a:r>
          </a:p>
        </p:txBody>
      </p:sp>
      <p:pic>
        <p:nvPicPr>
          <p:cNvPr id="41987" name="Picture 2" descr="fig10_08.jpg">
            <a:extLst>
              <a:ext uri="{FF2B5EF4-FFF2-40B4-BE49-F238E27FC236}">
                <a16:creationId xmlns:a16="http://schemas.microsoft.com/office/drawing/2014/main" id="{56C015A1-BAE4-9CAB-5D99-13E9B3041A1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38300"/>
            <a:ext cx="8229600" cy="491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Slide Number Placeholder 3">
            <a:extLst>
              <a:ext uri="{FF2B5EF4-FFF2-40B4-BE49-F238E27FC236}">
                <a16:creationId xmlns:a16="http://schemas.microsoft.com/office/drawing/2014/main" id="{E41DCC48-44ED-BA0E-A2D8-E45EFAEA06E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10- 26</a:t>
            </a:r>
            <a:endParaRPr lang="en-CA" altLang="en-US" sz="1400">
              <a:solidFill>
                <a:srgbClr val="990033"/>
              </a:solidFill>
            </a:endParaRPr>
          </a:p>
        </p:txBody>
      </p:sp>
    </p:spTree>
  </p:cSld>
  <p:clrMapOvr>
    <a:masterClrMapping/>
  </p:clrMapOvr>
  <p:transition spd="med" advTm="0"/>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85645200-2EA9-C4AD-C19F-711ABD0F1D5F}"/>
              </a:ext>
            </a:extLst>
          </p:cNvPr>
          <p:cNvSpPr>
            <a:spLocks noGrp="1"/>
          </p:cNvSpPr>
          <p:nvPr>
            <p:ph type="title"/>
          </p:nvPr>
        </p:nvSpPr>
        <p:spPr/>
        <p:txBody>
          <a:bodyPr/>
          <a:lstStyle/>
          <a:p>
            <a:r>
              <a:rPr lang="en-US" altLang="en-US" sz="1400" b="1">
                <a:latin typeface="Verdana" panose="020B0604030504040204" pitchFamily="34" charset="0"/>
              </a:rPr>
              <a:t>Figure 10.9</a:t>
            </a:r>
            <a:r>
              <a:rPr lang="en-US" altLang="en-US" sz="1400">
                <a:latin typeface="Verdana" panose="020B0604030504040204" pitchFamily="34" charset="0"/>
              </a:rPr>
              <a:t>   Program segment J2B, a Java program segment that uses a </a:t>
            </a:r>
            <a:r>
              <a:rPr lang="en-US" altLang="en-US" sz="1400" b="1">
                <a:latin typeface="Verdana" panose="020B0604030504040204" pitchFamily="34" charset="0"/>
              </a:rPr>
              <a:t>positional iterator</a:t>
            </a:r>
            <a:r>
              <a:rPr lang="en-US" altLang="en-US" sz="1400">
                <a:latin typeface="Verdana" panose="020B0604030504040204" pitchFamily="34" charset="0"/>
              </a:rPr>
              <a:t> to print employee information in a particular department.</a:t>
            </a:r>
          </a:p>
        </p:txBody>
      </p:sp>
      <p:pic>
        <p:nvPicPr>
          <p:cNvPr id="43011" name="Picture 2" descr="fig10_09.jpg">
            <a:extLst>
              <a:ext uri="{FF2B5EF4-FFF2-40B4-BE49-F238E27FC236}">
                <a16:creationId xmlns:a16="http://schemas.microsoft.com/office/drawing/2014/main" id="{06E6788B-711B-A876-F5EA-35B0FEF9B77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503362"/>
            <a:ext cx="8229600" cy="468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Slide Number Placeholder 3">
            <a:extLst>
              <a:ext uri="{FF2B5EF4-FFF2-40B4-BE49-F238E27FC236}">
                <a16:creationId xmlns:a16="http://schemas.microsoft.com/office/drawing/2014/main" id="{0BC40FB2-C16D-787A-A662-6537089DAA2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10- 27</a:t>
            </a:r>
            <a:endParaRPr lang="en-CA" altLang="en-US" sz="1400">
              <a:solidFill>
                <a:srgbClr val="990033"/>
              </a:solidFill>
            </a:endParaRPr>
          </a:p>
        </p:txBody>
      </p:sp>
    </p:spTree>
  </p:cSld>
  <p:clrMapOvr>
    <a:masterClrMapping/>
  </p:clrMapOvr>
  <p:transition spd="med" advTm="0"/>
</p:sld>
</file>

<file path=ppt/slides/slide1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7F9151D9-B94E-94B2-7DC6-6453422140FE}"/>
              </a:ext>
            </a:extLst>
          </p:cNvPr>
          <p:cNvSpPr>
            <a:spLocks noGrp="1"/>
          </p:cNvSpPr>
          <p:nvPr>
            <p:ph type="title"/>
          </p:nvPr>
        </p:nvSpPr>
        <p:spPr>
          <a:xfrm>
            <a:off x="457200" y="304800"/>
            <a:ext cx="8228013" cy="1143000"/>
          </a:xfrm>
        </p:spPr>
        <p:txBody>
          <a:bodyPr/>
          <a:lstStyle/>
          <a:p>
            <a:r>
              <a:rPr lang="en-US" altLang="en-US"/>
              <a:t>Database Programming with Function Calls: SQL/CLI &amp; JDBC</a:t>
            </a:r>
          </a:p>
        </p:txBody>
      </p:sp>
      <p:sp>
        <p:nvSpPr>
          <p:cNvPr id="44035" name="Content Placeholder 2">
            <a:extLst>
              <a:ext uri="{FF2B5EF4-FFF2-40B4-BE49-F238E27FC236}">
                <a16:creationId xmlns:a16="http://schemas.microsoft.com/office/drawing/2014/main" id="{46746BBD-B896-99B9-D9A9-D9B3164A45D3}"/>
              </a:ext>
            </a:extLst>
          </p:cNvPr>
          <p:cNvSpPr>
            <a:spLocks noGrp="1"/>
          </p:cNvSpPr>
          <p:nvPr>
            <p:ph idx="1"/>
          </p:nvPr>
        </p:nvSpPr>
        <p:spPr>
          <a:xfrm>
            <a:off x="457200" y="1676400"/>
            <a:ext cx="8228013" cy="3843338"/>
          </a:xfrm>
        </p:spPr>
        <p:txBody>
          <a:bodyPr/>
          <a:lstStyle/>
          <a:p>
            <a:r>
              <a:rPr lang="en-US" altLang="en-US"/>
              <a:t>Use of function calls</a:t>
            </a:r>
          </a:p>
          <a:p>
            <a:pPr lvl="1"/>
            <a:r>
              <a:rPr lang="en-US" altLang="en-US" b="1"/>
              <a:t>Dynamic</a:t>
            </a:r>
            <a:r>
              <a:rPr lang="en-US" altLang="en-US"/>
              <a:t> approach for database programming</a:t>
            </a:r>
          </a:p>
          <a:p>
            <a:r>
              <a:rPr lang="en-US" altLang="en-US"/>
              <a:t>Library of functions</a:t>
            </a:r>
          </a:p>
          <a:p>
            <a:pPr lvl="1"/>
            <a:r>
              <a:rPr lang="en-US" altLang="en-US"/>
              <a:t>Also known as </a:t>
            </a:r>
            <a:r>
              <a:rPr lang="en-US" altLang="en-US" b="1"/>
              <a:t>application programming interface (API)</a:t>
            </a:r>
          </a:p>
          <a:p>
            <a:pPr lvl="1"/>
            <a:r>
              <a:rPr lang="en-US" altLang="en-US"/>
              <a:t>Used to access database</a:t>
            </a:r>
          </a:p>
          <a:p>
            <a:r>
              <a:rPr lang="en-US" altLang="en-US" b="1"/>
              <a:t>SQL Call Level Interface (SQL/CLI)</a:t>
            </a:r>
          </a:p>
          <a:p>
            <a:pPr lvl="1"/>
            <a:r>
              <a:rPr lang="en-US" altLang="en-US"/>
              <a:t>Part of SQL standard</a:t>
            </a:r>
          </a:p>
        </p:txBody>
      </p:sp>
      <p:sp>
        <p:nvSpPr>
          <p:cNvPr id="44036" name="Slide Number Placeholder 3">
            <a:extLst>
              <a:ext uri="{FF2B5EF4-FFF2-40B4-BE49-F238E27FC236}">
                <a16:creationId xmlns:a16="http://schemas.microsoft.com/office/drawing/2014/main" id="{BA15AD09-5BF9-CF91-131D-0D9D45B0CA9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10- 28</a:t>
            </a:r>
            <a:endParaRPr lang="en-CA" altLang="en-US" sz="1400">
              <a:solidFill>
                <a:srgbClr val="990033"/>
              </a:solidFill>
            </a:endParaRPr>
          </a:p>
        </p:txBody>
      </p:sp>
    </p:spTree>
  </p:cSld>
  <p:clrMapOvr>
    <a:masterClrMapping/>
  </p:clrMapOvr>
  <p:transition spd="med"/>
</p:sld>
</file>

<file path=ppt/slides/slide1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A22283AF-4CE9-39BA-D1C7-02A03F1E0B2B}"/>
              </a:ext>
            </a:extLst>
          </p:cNvPr>
          <p:cNvSpPr>
            <a:spLocks noGrp="1"/>
          </p:cNvSpPr>
          <p:nvPr>
            <p:ph type="title"/>
          </p:nvPr>
        </p:nvSpPr>
        <p:spPr/>
        <p:txBody>
          <a:bodyPr/>
          <a:lstStyle/>
          <a:p>
            <a:r>
              <a:rPr lang="en-US" altLang="en-US"/>
              <a:t>SQL/CLI: Using C</a:t>
            </a:r>
            <a:br>
              <a:rPr lang="en-US" altLang="en-US"/>
            </a:br>
            <a:r>
              <a:rPr lang="en-US" altLang="en-US"/>
              <a:t>as the Host Language</a:t>
            </a:r>
          </a:p>
        </p:txBody>
      </p:sp>
      <p:sp>
        <p:nvSpPr>
          <p:cNvPr id="45059" name="Content Placeholder 2">
            <a:extLst>
              <a:ext uri="{FF2B5EF4-FFF2-40B4-BE49-F238E27FC236}">
                <a16:creationId xmlns:a16="http://schemas.microsoft.com/office/drawing/2014/main" id="{2F474549-50E6-A7AE-A76E-40D6BC829587}"/>
              </a:ext>
            </a:extLst>
          </p:cNvPr>
          <p:cNvSpPr>
            <a:spLocks noGrp="1"/>
          </p:cNvSpPr>
          <p:nvPr>
            <p:ph idx="1"/>
          </p:nvPr>
        </p:nvSpPr>
        <p:spPr/>
        <p:txBody>
          <a:bodyPr/>
          <a:lstStyle/>
          <a:p>
            <a:r>
              <a:rPr lang="en-US" altLang="en-US" b="1"/>
              <a:t>Environment record </a:t>
            </a:r>
          </a:p>
          <a:p>
            <a:pPr lvl="1"/>
            <a:r>
              <a:rPr lang="en-US" altLang="en-US"/>
              <a:t>Track one or more database connections </a:t>
            </a:r>
          </a:p>
          <a:p>
            <a:pPr lvl="1"/>
            <a:r>
              <a:rPr lang="en-US" altLang="en-US"/>
              <a:t>Set environment information</a:t>
            </a:r>
          </a:p>
          <a:p>
            <a:r>
              <a:rPr lang="en-US" altLang="en-US" b="1"/>
              <a:t>Connection record </a:t>
            </a:r>
          </a:p>
          <a:p>
            <a:pPr lvl="1"/>
            <a:r>
              <a:rPr lang="en-US" altLang="en-US"/>
              <a:t>Keeps track of information needed for a particular database connection</a:t>
            </a:r>
          </a:p>
          <a:p>
            <a:r>
              <a:rPr lang="en-US" altLang="en-US" b="1"/>
              <a:t>Statement record</a:t>
            </a:r>
          </a:p>
          <a:p>
            <a:pPr lvl="1"/>
            <a:r>
              <a:rPr lang="en-US" altLang="en-US"/>
              <a:t>Keeps track of the information needed for one SQL statement</a:t>
            </a:r>
          </a:p>
        </p:txBody>
      </p:sp>
      <p:sp>
        <p:nvSpPr>
          <p:cNvPr id="45060" name="Slide Number Placeholder 3">
            <a:extLst>
              <a:ext uri="{FF2B5EF4-FFF2-40B4-BE49-F238E27FC236}">
                <a16:creationId xmlns:a16="http://schemas.microsoft.com/office/drawing/2014/main" id="{121C7CE0-A5C4-98BE-095A-35DAE8CED87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10- 29</a:t>
            </a:r>
            <a:endParaRPr lang="en-CA" altLang="en-US" sz="1400">
              <a:solidFill>
                <a:srgbClr val="990033"/>
              </a:solidFill>
            </a:endParaRPr>
          </a:p>
        </p:txBody>
      </p:sp>
    </p:spTree>
  </p:cSld>
  <p:clrMapOvr>
    <a:masterClrMapping/>
  </p:clrMapOvr>
  <p:transition spd="med"/>
</p:sld>
</file>

<file path=ppt/slides/slide1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2EF1777A-685C-5BD4-815A-E66A3344921B}"/>
              </a:ext>
            </a:extLst>
          </p:cNvPr>
          <p:cNvSpPr>
            <a:spLocks noGrp="1"/>
          </p:cNvSpPr>
          <p:nvPr>
            <p:ph type="title"/>
          </p:nvPr>
        </p:nvSpPr>
        <p:spPr/>
        <p:txBody>
          <a:bodyPr/>
          <a:lstStyle/>
          <a:p>
            <a:r>
              <a:rPr lang="en-US" altLang="en-US"/>
              <a:t>SQL/CLI: Using C</a:t>
            </a:r>
            <a:br>
              <a:rPr lang="en-US" altLang="en-US"/>
            </a:br>
            <a:r>
              <a:rPr lang="en-US" altLang="en-US"/>
              <a:t>as the Host Language (cont’d.)</a:t>
            </a:r>
          </a:p>
        </p:txBody>
      </p:sp>
      <p:sp>
        <p:nvSpPr>
          <p:cNvPr id="46083" name="Content Placeholder 2">
            <a:extLst>
              <a:ext uri="{FF2B5EF4-FFF2-40B4-BE49-F238E27FC236}">
                <a16:creationId xmlns:a16="http://schemas.microsoft.com/office/drawing/2014/main" id="{932E5E2B-417D-E6E7-74BA-B9A6BD78E3BC}"/>
              </a:ext>
            </a:extLst>
          </p:cNvPr>
          <p:cNvSpPr>
            <a:spLocks noGrp="1"/>
          </p:cNvSpPr>
          <p:nvPr>
            <p:ph idx="1"/>
          </p:nvPr>
        </p:nvSpPr>
        <p:spPr/>
        <p:txBody>
          <a:bodyPr/>
          <a:lstStyle/>
          <a:p>
            <a:r>
              <a:rPr lang="en-US" altLang="en-US" b="1"/>
              <a:t>Description record </a:t>
            </a:r>
          </a:p>
          <a:p>
            <a:pPr lvl="1"/>
            <a:r>
              <a:rPr lang="en-US" altLang="en-US"/>
              <a:t>Keeps track of information about tuples or parameters</a:t>
            </a:r>
          </a:p>
          <a:p>
            <a:r>
              <a:rPr lang="en-US" altLang="en-US" b="1"/>
              <a:t>Handle</a:t>
            </a:r>
            <a:r>
              <a:rPr lang="en-US" altLang="en-US"/>
              <a:t> to the record</a:t>
            </a:r>
          </a:p>
          <a:p>
            <a:pPr lvl="1"/>
            <a:r>
              <a:rPr lang="en-US" altLang="en-US"/>
              <a:t>C pointer variable makes record accessible to program</a:t>
            </a:r>
          </a:p>
        </p:txBody>
      </p:sp>
      <p:sp>
        <p:nvSpPr>
          <p:cNvPr id="46084" name="Slide Number Placeholder 3">
            <a:extLst>
              <a:ext uri="{FF2B5EF4-FFF2-40B4-BE49-F238E27FC236}">
                <a16:creationId xmlns:a16="http://schemas.microsoft.com/office/drawing/2014/main" id="{C9751688-2DFB-FFEA-9A40-FE84B45D414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10- 30</a:t>
            </a:r>
            <a:endParaRPr lang="en-CA" altLang="en-US" sz="1400">
              <a:solidFill>
                <a:srgbClr val="990033"/>
              </a:solidFill>
            </a:endParaRPr>
          </a:p>
        </p:txBody>
      </p:sp>
    </p:spTree>
  </p:cSld>
  <p:clrMapOvr>
    <a:masterClrMapping/>
  </p:clrMapOvr>
  <p:transition spd="med"/>
</p:sld>
</file>

<file path=ppt/slides/slide1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C99D39F1-958C-8541-B0F8-A5195C30C5EB}"/>
              </a:ext>
            </a:extLst>
          </p:cNvPr>
          <p:cNvSpPr>
            <a:spLocks noGrp="1"/>
          </p:cNvSpPr>
          <p:nvPr>
            <p:ph type="title"/>
          </p:nvPr>
        </p:nvSpPr>
        <p:spPr/>
        <p:txBody>
          <a:bodyPr/>
          <a:lstStyle/>
          <a:p>
            <a:r>
              <a:rPr lang="en-US" altLang="en-US" sz="1400" b="1">
                <a:latin typeface="Verdana" panose="020B0604030504040204" pitchFamily="34" charset="0"/>
              </a:rPr>
              <a:t>Figure 10.10</a:t>
            </a:r>
            <a:r>
              <a:rPr lang="en-US" altLang="en-US" sz="1400">
                <a:latin typeface="Verdana" panose="020B0604030504040204" pitchFamily="34" charset="0"/>
              </a:rPr>
              <a:t>   Program segment CLI1, a C program segment with SQL/CLI.</a:t>
            </a:r>
          </a:p>
        </p:txBody>
      </p:sp>
      <p:pic>
        <p:nvPicPr>
          <p:cNvPr id="47107" name="Picture 2" descr="fig10_10.jpg">
            <a:extLst>
              <a:ext uri="{FF2B5EF4-FFF2-40B4-BE49-F238E27FC236}">
                <a16:creationId xmlns:a16="http://schemas.microsoft.com/office/drawing/2014/main" id="{F43CE56A-EC5F-BDD6-B234-3FA63F3763C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12923" y="1531449"/>
            <a:ext cx="7229475"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Slide Number Placeholder 3">
            <a:extLst>
              <a:ext uri="{FF2B5EF4-FFF2-40B4-BE49-F238E27FC236}">
                <a16:creationId xmlns:a16="http://schemas.microsoft.com/office/drawing/2014/main" id="{21D991C9-4635-7F3B-6605-2450E02C78E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10- 31</a:t>
            </a:r>
            <a:endParaRPr lang="en-CA" altLang="en-US" sz="1400">
              <a:solidFill>
                <a:srgbClr val="990033"/>
              </a:solidFill>
            </a:endParaRPr>
          </a:p>
        </p:txBody>
      </p:sp>
    </p:spTree>
  </p:cSld>
  <p:clrMapOvr>
    <a:masterClrMapping/>
  </p:clrMapOvr>
  <p:transition spd="med" advTm="0"/>
</p:sld>
</file>

<file path=ppt/slides/slide1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BD828CC1-D866-7B34-D075-E1697023673A}"/>
              </a:ext>
            </a:extLst>
          </p:cNvPr>
          <p:cNvSpPr>
            <a:spLocks noGrp="1"/>
          </p:cNvSpPr>
          <p:nvPr>
            <p:ph type="title"/>
          </p:nvPr>
        </p:nvSpPr>
        <p:spPr/>
        <p:txBody>
          <a:bodyPr/>
          <a:lstStyle/>
          <a:p>
            <a:r>
              <a:rPr lang="en-US" altLang="en-US" sz="1200" b="1">
                <a:latin typeface="Verdana" panose="020B0604030504040204" pitchFamily="34" charset="0"/>
              </a:rPr>
              <a:t>Figure 10.11</a:t>
            </a:r>
            <a:r>
              <a:rPr lang="en-US" altLang="en-US" sz="1200">
                <a:latin typeface="Verdana" panose="020B0604030504040204" pitchFamily="34" charset="0"/>
              </a:rPr>
              <a:t>   Program segment CLI2, a C program segment that uses SQL/CLI for a query with a </a:t>
            </a:r>
            <a:r>
              <a:rPr lang="en-US" altLang="en-US" sz="1200" b="1">
                <a:latin typeface="Verdana" panose="020B0604030504040204" pitchFamily="34" charset="0"/>
              </a:rPr>
              <a:t>collection of tuples </a:t>
            </a:r>
            <a:r>
              <a:rPr lang="en-US" altLang="en-US" sz="1200">
                <a:latin typeface="Verdana" panose="020B0604030504040204" pitchFamily="34" charset="0"/>
              </a:rPr>
              <a:t>in its result.</a:t>
            </a:r>
          </a:p>
        </p:txBody>
      </p:sp>
      <p:pic>
        <p:nvPicPr>
          <p:cNvPr id="48131" name="Picture 2" descr="fig10_11.jpg">
            <a:extLst>
              <a:ext uri="{FF2B5EF4-FFF2-40B4-BE49-F238E27FC236}">
                <a16:creationId xmlns:a16="http://schemas.microsoft.com/office/drawing/2014/main" id="{FCF6EC92-5A5F-2CFF-1DBD-B0C17EF988C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49363" y="1600200"/>
            <a:ext cx="6645275"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Slide Number Placeholder 3">
            <a:extLst>
              <a:ext uri="{FF2B5EF4-FFF2-40B4-BE49-F238E27FC236}">
                <a16:creationId xmlns:a16="http://schemas.microsoft.com/office/drawing/2014/main" id="{AD5C864C-1CA8-1F3F-DA98-40E07AF291C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10- 32</a:t>
            </a:r>
            <a:endParaRPr lang="en-CA" altLang="en-US" sz="1400">
              <a:solidFill>
                <a:srgbClr val="990033"/>
              </a:solidFill>
            </a:endParaRPr>
          </a:p>
        </p:txBody>
      </p:sp>
    </p:spTree>
  </p:cSld>
  <p:clrMapOvr>
    <a:masterClrMapping/>
  </p:clrMapOvr>
  <p:transition spd="med" advTm="0"/>
</p:sld>
</file>

<file path=ppt/slides/slide1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F8461F6C-7357-150C-F9E9-7A645514A6FE}"/>
              </a:ext>
            </a:extLst>
          </p:cNvPr>
          <p:cNvSpPr>
            <a:spLocks noGrp="1"/>
          </p:cNvSpPr>
          <p:nvPr>
            <p:ph type="title"/>
          </p:nvPr>
        </p:nvSpPr>
        <p:spPr/>
        <p:txBody>
          <a:bodyPr/>
          <a:lstStyle/>
          <a:p>
            <a:r>
              <a:rPr lang="en-US" altLang="en-US"/>
              <a:t>JDBC: SQL Function Calls for Java Programming</a:t>
            </a:r>
          </a:p>
        </p:txBody>
      </p:sp>
      <p:sp>
        <p:nvSpPr>
          <p:cNvPr id="49155" name="Content Placeholder 2">
            <a:extLst>
              <a:ext uri="{FF2B5EF4-FFF2-40B4-BE49-F238E27FC236}">
                <a16:creationId xmlns:a16="http://schemas.microsoft.com/office/drawing/2014/main" id="{3F8066A7-021A-101D-86D5-20B878077E9F}"/>
              </a:ext>
            </a:extLst>
          </p:cNvPr>
          <p:cNvSpPr>
            <a:spLocks noGrp="1"/>
          </p:cNvSpPr>
          <p:nvPr>
            <p:ph idx="1"/>
          </p:nvPr>
        </p:nvSpPr>
        <p:spPr/>
        <p:txBody>
          <a:bodyPr/>
          <a:lstStyle/>
          <a:p>
            <a:r>
              <a:rPr lang="en-US" altLang="en-US"/>
              <a:t>JDBC</a:t>
            </a:r>
          </a:p>
          <a:p>
            <a:pPr lvl="1"/>
            <a:r>
              <a:rPr lang="en-US" altLang="en-US"/>
              <a:t>Java function libraries</a:t>
            </a:r>
          </a:p>
          <a:p>
            <a:r>
              <a:rPr lang="en-US" altLang="en-US"/>
              <a:t>Single Java program can connect to several different databases</a:t>
            </a:r>
          </a:p>
          <a:p>
            <a:pPr lvl="1"/>
            <a:r>
              <a:rPr lang="en-US" altLang="en-US"/>
              <a:t>Called data sources accessed by the Java program</a:t>
            </a:r>
          </a:p>
          <a:p>
            <a:r>
              <a:rPr lang="en-US" altLang="en-US" sz="2000">
                <a:latin typeface="Courier New" panose="02070309020205020404" pitchFamily="49" charset="0"/>
                <a:cs typeface="Courier New" panose="02070309020205020404" pitchFamily="49" charset="0"/>
              </a:rPr>
              <a:t>Class.forName("oracle.jdbc.driver.OracleDriver")</a:t>
            </a:r>
          </a:p>
          <a:p>
            <a:pPr lvl="1"/>
            <a:r>
              <a:rPr lang="en-US" altLang="en-US"/>
              <a:t>Load a </a:t>
            </a:r>
            <a:r>
              <a:rPr lang="en-US" altLang="en-US" b="1"/>
              <a:t>JDBC driver </a:t>
            </a:r>
            <a:r>
              <a:rPr lang="en-US" altLang="en-US"/>
              <a:t>explicitly</a:t>
            </a:r>
          </a:p>
        </p:txBody>
      </p:sp>
      <p:sp>
        <p:nvSpPr>
          <p:cNvPr id="49156" name="Slide Number Placeholder 3">
            <a:extLst>
              <a:ext uri="{FF2B5EF4-FFF2-40B4-BE49-F238E27FC236}">
                <a16:creationId xmlns:a16="http://schemas.microsoft.com/office/drawing/2014/main" id="{F36C6A1F-1956-DD3B-42DF-259D2007623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10- 33</a:t>
            </a:r>
            <a:endParaRPr lang="en-CA" altLang="en-US" sz="1400">
              <a:solidFill>
                <a:srgbClr val="990033"/>
              </a:solidFill>
            </a:endParaRPr>
          </a:p>
        </p:txBody>
      </p:sp>
    </p:spTree>
  </p:cSld>
  <p:clrMapOvr>
    <a:masterClrMapping/>
  </p:clrMapOvr>
  <p:transition spd="med"/>
</p:sld>
</file>

<file path=ppt/slides/slide1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178" name="Title 4">
            <a:extLst>
              <a:ext uri="{FF2B5EF4-FFF2-40B4-BE49-F238E27FC236}">
                <a16:creationId xmlns:a16="http://schemas.microsoft.com/office/drawing/2014/main" id="{7EC5598D-D7E5-D4EB-B880-8316ED5E62E7}"/>
              </a:ext>
            </a:extLst>
          </p:cNvPr>
          <p:cNvSpPr>
            <a:spLocks noGrp="1"/>
          </p:cNvSpPr>
          <p:nvPr>
            <p:ph type="title"/>
          </p:nvPr>
        </p:nvSpPr>
        <p:spPr/>
        <p:txBody>
          <a:bodyPr/>
          <a:lstStyle/>
          <a:p>
            <a:r>
              <a:rPr lang="en-US" altLang="en-US"/>
              <a:t>JDBC: SQL Function Calls for Java Programming</a:t>
            </a:r>
          </a:p>
        </p:txBody>
      </p:sp>
      <p:sp>
        <p:nvSpPr>
          <p:cNvPr id="50179" name="Content Placeholder 2">
            <a:extLst>
              <a:ext uri="{FF2B5EF4-FFF2-40B4-BE49-F238E27FC236}">
                <a16:creationId xmlns:a16="http://schemas.microsoft.com/office/drawing/2014/main" id="{6AFFBAB1-6A85-AACC-7439-014B37DCFB18}"/>
              </a:ext>
            </a:extLst>
          </p:cNvPr>
          <p:cNvSpPr>
            <a:spLocks noGrp="1"/>
          </p:cNvSpPr>
          <p:nvPr>
            <p:ph idx="1"/>
          </p:nvPr>
        </p:nvSpPr>
        <p:spPr/>
        <p:txBody>
          <a:bodyPr/>
          <a:lstStyle/>
          <a:p>
            <a:r>
              <a:rPr lang="en-US" altLang="en-US" b="1">
                <a:latin typeface="Courier New" panose="02070309020205020404" pitchFamily="49" charset="0"/>
                <a:cs typeface="Courier New" panose="02070309020205020404" pitchFamily="49" charset="0"/>
              </a:rPr>
              <a:t>Connection</a:t>
            </a:r>
            <a:r>
              <a:rPr lang="en-US" altLang="en-US" b="1"/>
              <a:t> object </a:t>
            </a:r>
          </a:p>
          <a:p>
            <a:r>
              <a:rPr lang="en-US" altLang="en-US" b="1">
                <a:latin typeface="Courier New" panose="02070309020205020404" pitchFamily="49" charset="0"/>
                <a:cs typeface="Courier New" panose="02070309020205020404" pitchFamily="49" charset="0"/>
              </a:rPr>
              <a:t>Statement</a:t>
            </a:r>
            <a:r>
              <a:rPr lang="en-US" altLang="en-US" b="1"/>
              <a:t> object </a:t>
            </a:r>
            <a:r>
              <a:rPr lang="en-US" altLang="en-US"/>
              <a:t>has two subclasses:</a:t>
            </a:r>
          </a:p>
          <a:p>
            <a:pPr lvl="1"/>
            <a:r>
              <a:rPr lang="en-US" altLang="en-US">
                <a:latin typeface="Courier New" panose="02070309020205020404" pitchFamily="49" charset="0"/>
                <a:cs typeface="Courier New" panose="02070309020205020404" pitchFamily="49" charset="0"/>
              </a:rPr>
              <a:t>PreparedStatement</a:t>
            </a:r>
            <a:r>
              <a:rPr lang="en-US" altLang="en-US"/>
              <a:t> and </a:t>
            </a:r>
            <a:r>
              <a:rPr lang="en-US" altLang="en-US">
                <a:latin typeface="Courier New" panose="02070309020205020404" pitchFamily="49" charset="0"/>
                <a:cs typeface="Courier New" panose="02070309020205020404" pitchFamily="49" charset="0"/>
              </a:rPr>
              <a:t>CallableStatement</a:t>
            </a:r>
          </a:p>
          <a:p>
            <a:r>
              <a:rPr lang="en-US" altLang="en-US"/>
              <a:t>Question mark (</a:t>
            </a:r>
            <a:r>
              <a:rPr lang="en-US" altLang="en-US">
                <a:latin typeface="Courier New" panose="02070309020205020404" pitchFamily="49" charset="0"/>
                <a:cs typeface="Courier New" panose="02070309020205020404" pitchFamily="49" charset="0"/>
              </a:rPr>
              <a:t>?</a:t>
            </a:r>
            <a:r>
              <a:rPr lang="en-US" altLang="en-US"/>
              <a:t>) symbol </a:t>
            </a:r>
          </a:p>
          <a:p>
            <a:pPr lvl="1"/>
            <a:r>
              <a:rPr lang="en-US" altLang="en-US"/>
              <a:t>Represents a statement parameter</a:t>
            </a:r>
          </a:p>
          <a:p>
            <a:pPr lvl="1"/>
            <a:r>
              <a:rPr lang="en-US" altLang="en-US"/>
              <a:t>Determined at runtime</a:t>
            </a:r>
          </a:p>
          <a:p>
            <a:r>
              <a:rPr lang="en-US" altLang="en-US" b="1">
                <a:latin typeface="Courier New" panose="02070309020205020404" pitchFamily="49" charset="0"/>
                <a:cs typeface="Courier New" panose="02070309020205020404" pitchFamily="49" charset="0"/>
              </a:rPr>
              <a:t>ResultSet </a:t>
            </a:r>
            <a:r>
              <a:rPr lang="en-US" altLang="en-US" b="1">
                <a:cs typeface="Courier New" panose="02070309020205020404" pitchFamily="49" charset="0"/>
              </a:rPr>
              <a:t>object</a:t>
            </a:r>
            <a:endParaRPr lang="en-US" altLang="en-US" b="1">
              <a:latin typeface="Courier New" panose="02070309020205020404" pitchFamily="49" charset="0"/>
              <a:cs typeface="Courier New" panose="02070309020205020404" pitchFamily="49" charset="0"/>
            </a:endParaRPr>
          </a:p>
          <a:p>
            <a:pPr lvl="1"/>
            <a:r>
              <a:rPr lang="en-US" altLang="en-US"/>
              <a:t>Holds results of query</a:t>
            </a:r>
          </a:p>
        </p:txBody>
      </p:sp>
      <p:sp>
        <p:nvSpPr>
          <p:cNvPr id="50180" name="Slide Number Placeholder 3">
            <a:extLst>
              <a:ext uri="{FF2B5EF4-FFF2-40B4-BE49-F238E27FC236}">
                <a16:creationId xmlns:a16="http://schemas.microsoft.com/office/drawing/2014/main" id="{31D56D45-FAEE-1265-D3B6-0019EED0822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10- 34</a:t>
            </a:r>
            <a:endParaRPr lang="en-CA" altLang="en-US" sz="1400">
              <a:solidFill>
                <a:srgbClr val="990033"/>
              </a:solidFill>
            </a:endParaRPr>
          </a:p>
        </p:txBody>
      </p:sp>
    </p:spTree>
  </p:cSld>
  <p:clrMapOvr>
    <a:masterClrMapping/>
  </p:clrMapOvr>
  <p:transition spd="med"/>
</p:sld>
</file>

<file path=ppt/slides/slide1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64C6EFD7-4F24-DDA8-DBEE-1EEE957C7887}"/>
              </a:ext>
            </a:extLst>
          </p:cNvPr>
          <p:cNvSpPr>
            <a:spLocks noGrp="1"/>
          </p:cNvSpPr>
          <p:nvPr>
            <p:ph type="title"/>
          </p:nvPr>
        </p:nvSpPr>
        <p:spPr/>
        <p:txBody>
          <a:bodyPr/>
          <a:lstStyle/>
          <a:p>
            <a:r>
              <a:rPr lang="en-US" altLang="en-US" sz="1400" b="1">
                <a:latin typeface="Verdana" panose="020B0604030504040204" pitchFamily="34" charset="0"/>
              </a:rPr>
              <a:t>Figure 10.12</a:t>
            </a:r>
            <a:r>
              <a:rPr lang="en-US" altLang="en-US" sz="1400">
                <a:latin typeface="Verdana" panose="020B0604030504040204" pitchFamily="34" charset="0"/>
              </a:rPr>
              <a:t>   Program segment JDBC1, a Java program segment with JDBC.</a:t>
            </a:r>
          </a:p>
        </p:txBody>
      </p:sp>
      <p:pic>
        <p:nvPicPr>
          <p:cNvPr id="51203" name="Picture 2" descr="fig10_12.jpg">
            <a:extLst>
              <a:ext uri="{FF2B5EF4-FFF2-40B4-BE49-F238E27FC236}">
                <a16:creationId xmlns:a16="http://schemas.microsoft.com/office/drawing/2014/main" id="{7C15BAF9-BF6F-9E36-74F4-FA4F90A12DF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01750" y="1525587"/>
            <a:ext cx="658495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4" name="Slide Number Placeholder 3">
            <a:extLst>
              <a:ext uri="{FF2B5EF4-FFF2-40B4-BE49-F238E27FC236}">
                <a16:creationId xmlns:a16="http://schemas.microsoft.com/office/drawing/2014/main" id="{081C1752-F89B-678D-39C4-AD0E34C42F6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10- 35</a:t>
            </a:r>
            <a:endParaRPr lang="en-CA" altLang="en-US" sz="1400">
              <a:solidFill>
                <a:srgbClr val="990033"/>
              </a:solidFill>
            </a:endParaRPr>
          </a:p>
        </p:txBody>
      </p:sp>
    </p:spTree>
  </p:cSld>
  <p:clrMapOvr>
    <a:masterClrMapping/>
  </p:clrMapOvr>
  <p:transition spd="med" advTm="0"/>
</p:sld>
</file>

<file path=ppt/slides/slide1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4BDFC0A7-833E-B1CA-940A-829F23E94340}"/>
              </a:ext>
            </a:extLst>
          </p:cNvPr>
          <p:cNvSpPr>
            <a:spLocks noGrp="1"/>
          </p:cNvSpPr>
          <p:nvPr>
            <p:ph type="title"/>
          </p:nvPr>
        </p:nvSpPr>
        <p:spPr/>
        <p:txBody>
          <a:bodyPr/>
          <a:lstStyle/>
          <a:p>
            <a:r>
              <a:rPr lang="en-US" altLang="en-US" sz="1400" b="1">
                <a:latin typeface="Verdana" panose="020B0604030504040204" pitchFamily="34" charset="0"/>
              </a:rPr>
              <a:t>Figure 10.13</a:t>
            </a:r>
            <a:r>
              <a:rPr lang="en-US" altLang="en-US" sz="1400">
                <a:latin typeface="Verdana" panose="020B0604030504040204" pitchFamily="34" charset="0"/>
              </a:rPr>
              <a:t>   Program segment JDBC2, a Java program segment that uses JDBC for a query with a </a:t>
            </a:r>
            <a:r>
              <a:rPr lang="en-US" altLang="en-US" sz="1400" b="1">
                <a:latin typeface="Verdana" panose="020B0604030504040204" pitchFamily="34" charset="0"/>
              </a:rPr>
              <a:t>collection of tuples </a:t>
            </a:r>
            <a:r>
              <a:rPr lang="en-US" altLang="en-US" sz="1400">
                <a:latin typeface="Verdana" panose="020B0604030504040204" pitchFamily="34" charset="0"/>
              </a:rPr>
              <a:t>in its result.</a:t>
            </a:r>
          </a:p>
        </p:txBody>
      </p:sp>
      <p:pic>
        <p:nvPicPr>
          <p:cNvPr id="52227" name="Picture 2" descr="fig10_13.jpg">
            <a:extLst>
              <a:ext uri="{FF2B5EF4-FFF2-40B4-BE49-F238E27FC236}">
                <a16:creationId xmlns:a16="http://schemas.microsoft.com/office/drawing/2014/main" id="{16DEAF23-EF52-CC69-5BAF-64BF0F264D9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549033"/>
            <a:ext cx="56769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Slide Number Placeholder 3">
            <a:extLst>
              <a:ext uri="{FF2B5EF4-FFF2-40B4-BE49-F238E27FC236}">
                <a16:creationId xmlns:a16="http://schemas.microsoft.com/office/drawing/2014/main" id="{E60DD667-7320-A9FC-6880-81857F7F34D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10- 36</a:t>
            </a:r>
            <a:endParaRPr lang="en-CA" altLang="en-US" sz="1400">
              <a:solidFill>
                <a:srgbClr val="990033"/>
              </a:solidFill>
            </a:endParaRPr>
          </a:p>
        </p:txBody>
      </p:sp>
    </p:spTree>
  </p:cSld>
  <p:clrMapOvr>
    <a:masterClrMapping/>
  </p:clrMapOvr>
  <p:transition spd="med" advTm="0"/>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9633FF6F-4E81-5897-62B1-DC1AE485EAE6}"/>
              </a:ext>
            </a:extLst>
          </p:cNvPr>
          <p:cNvSpPr>
            <a:spLocks noGrp="1"/>
          </p:cNvSpPr>
          <p:nvPr>
            <p:ph type="title"/>
          </p:nvPr>
        </p:nvSpPr>
        <p:spPr/>
        <p:txBody>
          <a:bodyPr/>
          <a:lstStyle/>
          <a:p>
            <a:r>
              <a:rPr lang="en-US" altLang="en-US"/>
              <a:t>Database Stored Procedures</a:t>
            </a:r>
            <a:br>
              <a:rPr lang="en-US" altLang="en-US"/>
            </a:br>
            <a:r>
              <a:rPr lang="en-US" altLang="en-US"/>
              <a:t>and SQL/PSM</a:t>
            </a:r>
          </a:p>
        </p:txBody>
      </p:sp>
      <p:sp>
        <p:nvSpPr>
          <p:cNvPr id="53251" name="Content Placeholder 2">
            <a:extLst>
              <a:ext uri="{FF2B5EF4-FFF2-40B4-BE49-F238E27FC236}">
                <a16:creationId xmlns:a16="http://schemas.microsoft.com/office/drawing/2014/main" id="{F3E8251A-DCAE-EEC3-C18A-2EA3AC3BFD94}"/>
              </a:ext>
            </a:extLst>
          </p:cNvPr>
          <p:cNvSpPr>
            <a:spLocks noGrp="1"/>
          </p:cNvSpPr>
          <p:nvPr>
            <p:ph idx="1"/>
          </p:nvPr>
        </p:nvSpPr>
        <p:spPr>
          <a:xfrm>
            <a:off x="239713" y="1600199"/>
            <a:ext cx="8294687" cy="4954587"/>
          </a:xfrm>
        </p:spPr>
        <p:txBody>
          <a:bodyPr>
            <a:normAutofit fontScale="85000" lnSpcReduction="10000"/>
          </a:bodyPr>
          <a:lstStyle/>
          <a:p>
            <a:r>
              <a:rPr lang="en-US" altLang="en-US" b="1" dirty="0"/>
              <a:t>Stored procedures</a:t>
            </a:r>
          </a:p>
          <a:p>
            <a:pPr lvl="1"/>
            <a:r>
              <a:rPr lang="en-US" altLang="en-US" dirty="0"/>
              <a:t>Program modules stored by the DBMS at the database server</a:t>
            </a:r>
          </a:p>
          <a:p>
            <a:pPr lvl="1"/>
            <a:r>
              <a:rPr lang="en-US" altLang="en-US" dirty="0"/>
              <a:t>Can be functions or procedures</a:t>
            </a:r>
          </a:p>
          <a:p>
            <a:r>
              <a:rPr lang="en-US" altLang="en-US" dirty="0"/>
              <a:t>SQL/PSM (</a:t>
            </a:r>
            <a:r>
              <a:rPr lang="en-US" altLang="en-US" b="1" dirty="0"/>
              <a:t>SQL/Persistent Stored Modules</a:t>
            </a:r>
            <a:r>
              <a:rPr lang="en-US" altLang="en-US" dirty="0"/>
              <a:t>)</a:t>
            </a:r>
          </a:p>
          <a:p>
            <a:pPr lvl="1"/>
            <a:r>
              <a:rPr lang="en-US" altLang="en-US" dirty="0"/>
              <a:t>The standardized language framework</a:t>
            </a:r>
          </a:p>
          <a:p>
            <a:pPr lvl="1"/>
            <a:r>
              <a:rPr lang="en-US" altLang="en-US" dirty="0"/>
              <a:t>Extensions to SQL </a:t>
            </a:r>
          </a:p>
          <a:p>
            <a:pPr lvl="1"/>
            <a:r>
              <a:rPr lang="en-US" altLang="en-US" dirty="0"/>
              <a:t>Include general-purpose programming constructs in SQL</a:t>
            </a:r>
          </a:p>
          <a:p>
            <a:r>
              <a:rPr lang="en-US" altLang="en-US" dirty="0"/>
              <a:t>Useful:</a:t>
            </a:r>
          </a:p>
          <a:p>
            <a:pPr lvl="1"/>
            <a:r>
              <a:rPr lang="en-US" altLang="en-US" dirty="0"/>
              <a:t>When database program is needed by several applications</a:t>
            </a:r>
          </a:p>
          <a:p>
            <a:pPr lvl="1"/>
            <a:r>
              <a:rPr lang="en-US" altLang="en-US" dirty="0"/>
              <a:t>To reduce data transfer and communication cost between client and server in certain situations</a:t>
            </a:r>
          </a:p>
          <a:p>
            <a:pPr lvl="1"/>
            <a:r>
              <a:rPr lang="en-US" altLang="en-US" dirty="0"/>
              <a:t>To enhance modeling power provided by views</a:t>
            </a:r>
          </a:p>
          <a:p>
            <a:pPr lvl="1"/>
            <a:endParaRPr lang="en-US" altLang="en-US" dirty="0"/>
          </a:p>
        </p:txBody>
      </p:sp>
      <p:sp>
        <p:nvSpPr>
          <p:cNvPr id="53252" name="Slide Number Placeholder 3">
            <a:extLst>
              <a:ext uri="{FF2B5EF4-FFF2-40B4-BE49-F238E27FC236}">
                <a16:creationId xmlns:a16="http://schemas.microsoft.com/office/drawing/2014/main" id="{42ADFB95-FAF5-F585-172F-1E9DA9CF25A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10- 37</a:t>
            </a:r>
            <a:endParaRPr lang="en-CA" altLang="en-US" sz="1400">
              <a:solidFill>
                <a:srgbClr val="990033"/>
              </a:solidFill>
            </a:endParaRPr>
          </a:p>
        </p:txBody>
      </p:sp>
    </p:spTree>
  </p:cSld>
  <p:clrMapOvr>
    <a:masterClrMapping/>
  </p:clrMapOvr>
  <p:transition spd="med"/>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8BD15DB1-729D-CBE9-8B69-32BBC9A1C9D3}"/>
              </a:ext>
            </a:extLst>
          </p:cNvPr>
          <p:cNvSpPr>
            <a:spLocks noGrp="1"/>
          </p:cNvSpPr>
          <p:nvPr>
            <p:ph type="title"/>
          </p:nvPr>
        </p:nvSpPr>
        <p:spPr>
          <a:xfrm>
            <a:off x="0" y="303213"/>
            <a:ext cx="9144000" cy="992187"/>
          </a:xfrm>
        </p:spPr>
        <p:txBody>
          <a:bodyPr/>
          <a:lstStyle/>
          <a:p>
            <a:r>
              <a:rPr lang="en-US" altLang="en-US" dirty="0"/>
              <a:t>Database Stored Procedures and Functions (cont’d.)</a:t>
            </a:r>
          </a:p>
        </p:txBody>
      </p:sp>
      <p:sp>
        <p:nvSpPr>
          <p:cNvPr id="55299" name="Content Placeholder 2">
            <a:extLst>
              <a:ext uri="{FF2B5EF4-FFF2-40B4-BE49-F238E27FC236}">
                <a16:creationId xmlns:a16="http://schemas.microsoft.com/office/drawing/2014/main" id="{0CFED965-1F4C-C504-7778-C600D012DA8C}"/>
              </a:ext>
            </a:extLst>
          </p:cNvPr>
          <p:cNvSpPr>
            <a:spLocks noGrp="1"/>
          </p:cNvSpPr>
          <p:nvPr>
            <p:ph idx="1"/>
          </p:nvPr>
        </p:nvSpPr>
        <p:spPr/>
        <p:txBody>
          <a:bodyPr/>
          <a:lstStyle/>
          <a:p>
            <a:r>
              <a:rPr lang="en-US" altLang="en-US" dirty="0"/>
              <a:t>Declaring stored procedures:</a:t>
            </a:r>
          </a:p>
          <a:p>
            <a:pPr lvl="1">
              <a:buFont typeface="Wingdings" panose="05000000000000000000" pitchFamily="2" charset="2"/>
              <a:buNone/>
            </a:pPr>
            <a:r>
              <a:rPr lang="en-US" altLang="en-US" sz="2000" dirty="0">
                <a:latin typeface="Courier New" panose="02070309020205020404" pitchFamily="49" charset="0"/>
                <a:cs typeface="Courier New" panose="02070309020205020404" pitchFamily="49" charset="0"/>
              </a:rPr>
              <a:t>CREATE PROCEDURE &lt;procedure name&gt; (&lt;parameters&gt;)</a:t>
            </a:r>
          </a:p>
          <a:p>
            <a:pPr lvl="1">
              <a:buFont typeface="Wingdings" panose="05000000000000000000" pitchFamily="2" charset="2"/>
              <a:buNone/>
            </a:pPr>
            <a:r>
              <a:rPr lang="en-US" altLang="en-US" sz="2000" dirty="0">
                <a:latin typeface="Courier New" panose="02070309020205020404" pitchFamily="49" charset="0"/>
                <a:cs typeface="Courier New" panose="02070309020205020404" pitchFamily="49" charset="0"/>
              </a:rPr>
              <a:t>&lt;local declarations&gt;</a:t>
            </a:r>
          </a:p>
          <a:p>
            <a:pPr lvl="1">
              <a:buFont typeface="Wingdings" panose="05000000000000000000" pitchFamily="2" charset="2"/>
              <a:buNone/>
            </a:pPr>
            <a:r>
              <a:rPr lang="en-US" altLang="en-US" sz="2000" dirty="0">
                <a:latin typeface="Courier New" panose="02070309020205020404" pitchFamily="49" charset="0"/>
                <a:cs typeface="Courier New" panose="02070309020205020404" pitchFamily="49" charset="0"/>
              </a:rPr>
              <a:t>&lt;procedure body&gt; ;</a:t>
            </a:r>
          </a:p>
          <a:p>
            <a:r>
              <a:rPr lang="en-US" altLang="en-US" sz="3000" dirty="0">
                <a:solidFill>
                  <a:schemeClr val="tx2"/>
                </a:solidFill>
              </a:rPr>
              <a:t>Declaring a function</a:t>
            </a:r>
            <a:r>
              <a:rPr lang="en-US" altLang="en-US" sz="2200" dirty="0">
                <a:latin typeface="Courier New" panose="02070309020205020404" pitchFamily="49" charset="0"/>
                <a:cs typeface="Courier New" panose="02070309020205020404" pitchFamily="49" charset="0"/>
              </a:rPr>
              <a:t>, a return type is necessary, so the declaration form is</a:t>
            </a:r>
          </a:p>
          <a:p>
            <a:pPr lvl="1">
              <a:buFont typeface="Wingdings" panose="05000000000000000000" pitchFamily="2" charset="2"/>
              <a:buNone/>
            </a:pPr>
            <a:r>
              <a:rPr lang="en-US" altLang="en-US" sz="2000" dirty="0">
                <a:latin typeface="Courier New" panose="02070309020205020404" pitchFamily="49" charset="0"/>
                <a:cs typeface="Courier New" panose="02070309020205020404" pitchFamily="49" charset="0"/>
              </a:rPr>
              <a:t>CREATE FUNCTION &lt;function name&gt; (&lt;parameters&gt;)</a:t>
            </a:r>
          </a:p>
          <a:p>
            <a:pPr lvl="1">
              <a:buFont typeface="Wingdings" panose="05000000000000000000" pitchFamily="2" charset="2"/>
              <a:buNone/>
            </a:pPr>
            <a:r>
              <a:rPr lang="en-US" altLang="en-US" sz="2000" dirty="0">
                <a:latin typeface="Courier New" panose="02070309020205020404" pitchFamily="49" charset="0"/>
                <a:cs typeface="Courier New" panose="02070309020205020404" pitchFamily="49" charset="0"/>
              </a:rPr>
              <a:t>RETURNS &lt;return type&gt;</a:t>
            </a:r>
          </a:p>
          <a:p>
            <a:pPr lvl="1">
              <a:buFont typeface="Wingdings" panose="05000000000000000000" pitchFamily="2" charset="2"/>
              <a:buNone/>
            </a:pPr>
            <a:r>
              <a:rPr lang="en-US" altLang="en-US" sz="2000" dirty="0">
                <a:latin typeface="Courier New" panose="02070309020205020404" pitchFamily="49" charset="0"/>
                <a:cs typeface="Courier New" panose="02070309020205020404" pitchFamily="49" charset="0"/>
              </a:rPr>
              <a:t>&lt;local declarations&gt;</a:t>
            </a:r>
          </a:p>
          <a:p>
            <a:pPr lvl="1">
              <a:buFont typeface="Wingdings" panose="05000000000000000000" pitchFamily="2" charset="2"/>
              <a:buNone/>
            </a:pPr>
            <a:r>
              <a:rPr lang="en-US" altLang="en-US" sz="2000" dirty="0">
                <a:latin typeface="Courier New" panose="02070309020205020404" pitchFamily="49" charset="0"/>
                <a:cs typeface="Courier New" panose="02070309020205020404" pitchFamily="49" charset="0"/>
              </a:rPr>
              <a:t>&lt;function body&gt; ;</a:t>
            </a:r>
          </a:p>
        </p:txBody>
      </p:sp>
      <p:sp>
        <p:nvSpPr>
          <p:cNvPr id="55300" name="Slide Number Placeholder 3">
            <a:extLst>
              <a:ext uri="{FF2B5EF4-FFF2-40B4-BE49-F238E27FC236}">
                <a16:creationId xmlns:a16="http://schemas.microsoft.com/office/drawing/2014/main" id="{04BA39D4-5B0B-779C-EA58-0A8A7E1864B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10- 39</a:t>
            </a:r>
            <a:endParaRPr lang="en-CA" altLang="en-US" sz="1400">
              <a:solidFill>
                <a:srgbClr val="990033"/>
              </a:solidFill>
            </a:endParaRPr>
          </a:p>
        </p:txBody>
      </p:sp>
    </p:spTree>
  </p:cSld>
  <p:clrMapOvr>
    <a:masterClrMapping/>
  </p:clrMapOvr>
  <p:transition spd="med"/>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4">
            <a:extLst>
              <a:ext uri="{FF2B5EF4-FFF2-40B4-BE49-F238E27FC236}">
                <a16:creationId xmlns:a16="http://schemas.microsoft.com/office/drawing/2014/main" id="{B49271CE-5098-B593-093F-D8442BBE692A}"/>
              </a:ext>
            </a:extLst>
          </p:cNvPr>
          <p:cNvSpPr>
            <a:spLocks noGrp="1"/>
          </p:cNvSpPr>
          <p:nvPr>
            <p:ph type="title"/>
          </p:nvPr>
        </p:nvSpPr>
        <p:spPr/>
        <p:txBody>
          <a:bodyPr/>
          <a:lstStyle/>
          <a:p>
            <a:r>
              <a:rPr lang="en-US" altLang="en-US"/>
              <a:t>Database Stored Procedures and Functions (cont’d.)</a:t>
            </a:r>
          </a:p>
        </p:txBody>
      </p:sp>
      <p:sp>
        <p:nvSpPr>
          <p:cNvPr id="39939" name="Content Placeholder 2">
            <a:extLst>
              <a:ext uri="{FF2B5EF4-FFF2-40B4-BE49-F238E27FC236}">
                <a16:creationId xmlns:a16="http://schemas.microsoft.com/office/drawing/2014/main" id="{9D051BF5-DCC3-CC74-498D-6D10297DC27E}"/>
              </a:ext>
            </a:extLst>
          </p:cNvPr>
          <p:cNvSpPr>
            <a:spLocks noGrp="1"/>
          </p:cNvSpPr>
          <p:nvPr>
            <p:ph idx="1"/>
          </p:nvPr>
        </p:nvSpPr>
        <p:spPr>
          <a:xfrm>
            <a:off x="81756" y="1524000"/>
            <a:ext cx="8980487" cy="5257800"/>
          </a:xfrm>
        </p:spPr>
        <p:txBody>
          <a:bodyPr>
            <a:normAutofit fontScale="92500" lnSpcReduction="10000"/>
          </a:bodyPr>
          <a:lstStyle/>
          <a:p>
            <a:pPr>
              <a:defRPr/>
            </a:pPr>
            <a:r>
              <a:rPr lang="en-US" dirty="0"/>
              <a:t>Each parameter has parameter type </a:t>
            </a:r>
          </a:p>
          <a:p>
            <a:pPr lvl="1">
              <a:defRPr/>
            </a:pPr>
            <a:r>
              <a:rPr lang="en-US" b="1" dirty="0"/>
              <a:t>Parameter type</a:t>
            </a:r>
            <a:r>
              <a:rPr lang="en-US" dirty="0"/>
              <a:t>: one of the SQL data types</a:t>
            </a:r>
          </a:p>
          <a:p>
            <a:pPr lvl="1">
              <a:defRPr/>
            </a:pPr>
            <a:r>
              <a:rPr lang="en-US" b="1" dirty="0"/>
              <a:t>Parameter mode</a:t>
            </a:r>
            <a:r>
              <a:rPr lang="en-US" dirty="0"/>
              <a:t>:</a:t>
            </a:r>
            <a:r>
              <a:rPr lang="en-US" b="1" dirty="0"/>
              <a:t> </a:t>
            </a:r>
            <a:r>
              <a:rPr lang="en-US" dirty="0">
                <a:latin typeface="Courier New" pitchFamily="49" charset="0"/>
                <a:cs typeface="Courier New" pitchFamily="49" charset="0"/>
              </a:rPr>
              <a:t>IN</a:t>
            </a:r>
            <a:r>
              <a:rPr lang="en-US" dirty="0"/>
              <a:t>, </a:t>
            </a:r>
            <a:r>
              <a:rPr lang="en-US" dirty="0">
                <a:latin typeface="Courier New" pitchFamily="49" charset="0"/>
                <a:cs typeface="Courier New" pitchFamily="49" charset="0"/>
              </a:rPr>
              <a:t>OUT</a:t>
            </a:r>
            <a:r>
              <a:rPr lang="en-US" dirty="0"/>
              <a:t>, or </a:t>
            </a:r>
            <a:r>
              <a:rPr lang="en-US" dirty="0">
                <a:latin typeface="Courier New" pitchFamily="49" charset="0"/>
                <a:cs typeface="Courier New" pitchFamily="49" charset="0"/>
              </a:rPr>
              <a:t>INOUT</a:t>
            </a:r>
          </a:p>
          <a:p>
            <a:pPr>
              <a:defRPr/>
            </a:pPr>
            <a:r>
              <a:rPr lang="en-US" dirty="0"/>
              <a:t>Calling a stored procedure:</a:t>
            </a:r>
          </a:p>
          <a:p>
            <a:pPr marL="400050" lvl="1" indent="0">
              <a:buNone/>
              <a:defRPr/>
            </a:pPr>
            <a:r>
              <a:rPr lang="en-US" sz="2000" dirty="0">
                <a:latin typeface="Courier New" pitchFamily="49" charset="0"/>
                <a:cs typeface="Courier New" pitchFamily="49" charset="0"/>
              </a:rPr>
              <a:t>CALL &lt;procedure or function name&gt; (&lt;argument list&gt;) ;</a:t>
            </a:r>
          </a:p>
          <a:p>
            <a:pPr>
              <a:defRPr/>
            </a:pPr>
            <a:r>
              <a:rPr lang="en-US" dirty="0"/>
              <a:t>You can declare variables in stored procedures</a:t>
            </a:r>
          </a:p>
          <a:p>
            <a:pPr>
              <a:defRPr/>
            </a:pPr>
            <a:r>
              <a:rPr lang="en-US" dirty="0"/>
              <a:t>Can have any number of parameters.</a:t>
            </a:r>
          </a:p>
          <a:p>
            <a:pPr>
              <a:defRPr/>
            </a:pPr>
            <a:r>
              <a:rPr lang="en-US" dirty="0"/>
              <a:t>varchar declarations for the parameters have to specify the</a:t>
            </a:r>
          </a:p>
          <a:p>
            <a:pPr>
              <a:defRPr/>
            </a:pPr>
            <a:r>
              <a:rPr lang="en-US" dirty="0"/>
              <a:t>maximum length.</a:t>
            </a:r>
          </a:p>
          <a:p>
            <a:pPr>
              <a:defRPr/>
            </a:pPr>
            <a:r>
              <a:rPr lang="en-US" dirty="0"/>
              <a:t>flow control (IF-THEN-ELSE) or loops (WHILE and REPEAT) statements can be used in a procedure or function</a:t>
            </a:r>
          </a:p>
        </p:txBody>
      </p:sp>
      <p:sp>
        <p:nvSpPr>
          <p:cNvPr id="56324" name="Slide Number Placeholder 3">
            <a:extLst>
              <a:ext uri="{FF2B5EF4-FFF2-40B4-BE49-F238E27FC236}">
                <a16:creationId xmlns:a16="http://schemas.microsoft.com/office/drawing/2014/main" id="{C3E67CD7-4964-C77C-0FCE-F0792F1386E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10- 40</a:t>
            </a:r>
            <a:endParaRPr lang="en-CA" altLang="en-US" sz="1400">
              <a:solidFill>
                <a:srgbClr val="990033"/>
              </a:solidFill>
            </a:endParaRPr>
          </a:p>
        </p:txBody>
      </p:sp>
    </p:spTree>
  </p:cSld>
  <p:clrMapOvr>
    <a:masterClrMapping/>
  </p:clrMapOvr>
  <p:transition spd="med"/>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4AA42CFE-38B2-E842-39B7-9F56C5D0B991}"/>
              </a:ext>
            </a:extLst>
          </p:cNvPr>
          <p:cNvSpPr>
            <a:spLocks noGrp="1"/>
          </p:cNvSpPr>
          <p:nvPr>
            <p:ph type="title"/>
          </p:nvPr>
        </p:nvSpPr>
        <p:spPr>
          <a:xfrm>
            <a:off x="0" y="457200"/>
            <a:ext cx="9144000" cy="1143000"/>
          </a:xfrm>
        </p:spPr>
        <p:txBody>
          <a:bodyPr/>
          <a:lstStyle/>
          <a:p>
            <a:r>
              <a:rPr lang="en-US" altLang="en-US" dirty="0"/>
              <a:t>SQL/PSM: Extending SQL for Specifying Persistent Stored Modules</a:t>
            </a:r>
          </a:p>
        </p:txBody>
      </p:sp>
      <p:sp>
        <p:nvSpPr>
          <p:cNvPr id="57347" name="Content Placeholder 2">
            <a:extLst>
              <a:ext uri="{FF2B5EF4-FFF2-40B4-BE49-F238E27FC236}">
                <a16:creationId xmlns:a16="http://schemas.microsoft.com/office/drawing/2014/main" id="{0F32A929-C823-F28B-212B-6A83EA2F9B98}"/>
              </a:ext>
            </a:extLst>
          </p:cNvPr>
          <p:cNvSpPr>
            <a:spLocks noGrp="1"/>
          </p:cNvSpPr>
          <p:nvPr>
            <p:ph idx="1"/>
          </p:nvPr>
        </p:nvSpPr>
        <p:spPr>
          <a:xfrm>
            <a:off x="457200" y="2133600"/>
            <a:ext cx="8228013" cy="3995738"/>
          </a:xfrm>
        </p:spPr>
        <p:txBody>
          <a:bodyPr/>
          <a:lstStyle/>
          <a:p>
            <a:r>
              <a:rPr lang="en-US" altLang="en-US"/>
              <a:t>Conditional branching statement:</a:t>
            </a:r>
          </a:p>
          <a:p>
            <a:pPr lvl="1">
              <a:buFont typeface="Wingdings" panose="05000000000000000000" pitchFamily="2" charset="2"/>
              <a:buNone/>
            </a:pPr>
            <a:r>
              <a:rPr lang="en-US" altLang="en-US" sz="2400">
                <a:latin typeface="Courier New" panose="02070309020205020404" pitchFamily="49" charset="0"/>
                <a:cs typeface="Courier New" panose="02070309020205020404" pitchFamily="49" charset="0"/>
              </a:rPr>
              <a:t>IF &lt;condition&gt; THEN &lt;statement list&gt;</a:t>
            </a:r>
          </a:p>
          <a:p>
            <a:pPr lvl="1">
              <a:buFont typeface="Wingdings" panose="05000000000000000000" pitchFamily="2" charset="2"/>
              <a:buNone/>
            </a:pPr>
            <a:r>
              <a:rPr lang="en-US" altLang="en-US" sz="2400">
                <a:latin typeface="Courier New" panose="02070309020205020404" pitchFamily="49" charset="0"/>
                <a:cs typeface="Courier New" panose="02070309020205020404" pitchFamily="49" charset="0"/>
              </a:rPr>
              <a:t>ELSEIF &lt;condition&gt; THEN &lt;statement list&gt;</a:t>
            </a:r>
          </a:p>
          <a:p>
            <a:pPr lvl="1">
              <a:buFont typeface="Wingdings" panose="05000000000000000000" pitchFamily="2" charset="2"/>
              <a:buNone/>
            </a:pPr>
            <a:r>
              <a:rPr lang="en-US" altLang="en-US" sz="2400">
                <a:latin typeface="Courier New" panose="02070309020205020404" pitchFamily="49" charset="0"/>
                <a:cs typeface="Courier New" panose="02070309020205020404" pitchFamily="49" charset="0"/>
              </a:rPr>
              <a:t>...</a:t>
            </a:r>
          </a:p>
          <a:p>
            <a:pPr lvl="1">
              <a:buFont typeface="Wingdings" panose="05000000000000000000" pitchFamily="2" charset="2"/>
              <a:buNone/>
            </a:pPr>
            <a:r>
              <a:rPr lang="en-US" altLang="en-US" sz="2400">
                <a:latin typeface="Courier New" panose="02070309020205020404" pitchFamily="49" charset="0"/>
                <a:cs typeface="Courier New" panose="02070309020205020404" pitchFamily="49" charset="0"/>
              </a:rPr>
              <a:t>ELSEIF &lt;condition&gt; THEN &lt;statement list&gt;</a:t>
            </a:r>
          </a:p>
          <a:p>
            <a:pPr lvl="1">
              <a:buFont typeface="Wingdings" panose="05000000000000000000" pitchFamily="2" charset="2"/>
              <a:buNone/>
            </a:pPr>
            <a:r>
              <a:rPr lang="en-US" altLang="en-US" sz="2400">
                <a:latin typeface="Courier New" panose="02070309020205020404" pitchFamily="49" charset="0"/>
                <a:cs typeface="Courier New" panose="02070309020205020404" pitchFamily="49" charset="0"/>
              </a:rPr>
              <a:t>ELSE &lt;statement list&gt;</a:t>
            </a:r>
          </a:p>
          <a:p>
            <a:pPr lvl="1">
              <a:buFont typeface="Wingdings" panose="05000000000000000000" pitchFamily="2" charset="2"/>
              <a:buNone/>
            </a:pPr>
            <a:r>
              <a:rPr lang="en-US" altLang="en-US" sz="2400">
                <a:latin typeface="Courier New" panose="02070309020205020404" pitchFamily="49" charset="0"/>
                <a:cs typeface="Courier New" panose="02070309020205020404" pitchFamily="49" charset="0"/>
              </a:rPr>
              <a:t>END IF ;</a:t>
            </a:r>
          </a:p>
        </p:txBody>
      </p:sp>
      <p:sp>
        <p:nvSpPr>
          <p:cNvPr id="57348" name="Slide Number Placeholder 3">
            <a:extLst>
              <a:ext uri="{FF2B5EF4-FFF2-40B4-BE49-F238E27FC236}">
                <a16:creationId xmlns:a16="http://schemas.microsoft.com/office/drawing/2014/main" id="{EE20ED1D-AE8D-3DCA-8B7D-4C5164B9094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10- 41</a:t>
            </a:r>
            <a:endParaRPr lang="en-CA" altLang="en-US" sz="1400">
              <a:solidFill>
                <a:srgbClr val="990033"/>
              </a:solidFill>
            </a:endParaRPr>
          </a:p>
        </p:txBody>
      </p:sp>
    </p:spTree>
  </p:cSld>
  <p:clrMapOvr>
    <a:masterClrMapping/>
  </p:clrMapOvr>
  <p:transition spd="med"/>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F5A2C202-BA04-5934-F801-E6663E8F8E8B}"/>
              </a:ext>
            </a:extLst>
          </p:cNvPr>
          <p:cNvSpPr>
            <a:spLocks noGrp="1"/>
          </p:cNvSpPr>
          <p:nvPr>
            <p:ph type="title"/>
          </p:nvPr>
        </p:nvSpPr>
        <p:spPr/>
        <p:txBody>
          <a:bodyPr/>
          <a:lstStyle/>
          <a:p>
            <a:r>
              <a:rPr lang="en-US" altLang="en-US" sz="1800" b="1">
                <a:latin typeface="Verdana" panose="020B0604030504040204" pitchFamily="34" charset="0"/>
              </a:rPr>
              <a:t>Figure 10.14   </a:t>
            </a:r>
            <a:r>
              <a:rPr lang="en-US" altLang="en-US" sz="1800">
                <a:latin typeface="Verdana" panose="020B0604030504040204" pitchFamily="34" charset="0"/>
              </a:rPr>
              <a:t>Declaring a function in SQL/PSM.</a:t>
            </a:r>
          </a:p>
        </p:txBody>
      </p:sp>
      <p:pic>
        <p:nvPicPr>
          <p:cNvPr id="59395" name="Picture 3" descr="fig10_14.jpg">
            <a:extLst>
              <a:ext uri="{FF2B5EF4-FFF2-40B4-BE49-F238E27FC236}">
                <a16:creationId xmlns:a16="http://schemas.microsoft.com/office/drawing/2014/main" id="{6EDD6C2B-D8A7-1675-1D91-869114ACAEA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716088"/>
            <a:ext cx="7315200" cy="373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Slide Number Placeholder 3">
            <a:extLst>
              <a:ext uri="{FF2B5EF4-FFF2-40B4-BE49-F238E27FC236}">
                <a16:creationId xmlns:a16="http://schemas.microsoft.com/office/drawing/2014/main" id="{59D46614-3E8B-EEA0-ED63-9FD31B973BA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10- 43</a:t>
            </a:r>
            <a:endParaRPr lang="en-CA" altLang="en-US" sz="1400">
              <a:solidFill>
                <a:srgbClr val="990033"/>
              </a:solidFill>
            </a:endParaRPr>
          </a:p>
        </p:txBody>
      </p:sp>
      <p:sp>
        <p:nvSpPr>
          <p:cNvPr id="2" name="Rectangle 1">
            <a:extLst>
              <a:ext uri="{FF2B5EF4-FFF2-40B4-BE49-F238E27FC236}">
                <a16:creationId xmlns:a16="http://schemas.microsoft.com/office/drawing/2014/main" id="{4A7E0234-D2BB-8FBD-8DDB-7744575D1380}"/>
              </a:ext>
            </a:extLst>
          </p:cNvPr>
          <p:cNvSpPr/>
          <p:nvPr/>
        </p:nvSpPr>
        <p:spPr bwMode="auto">
          <a:xfrm>
            <a:off x="1371600" y="3733800"/>
            <a:ext cx="6653213" cy="1712913"/>
          </a:xfrm>
          <a:prstGeom prst="rect">
            <a:avLst/>
          </a:prstGeom>
          <a:solidFill>
            <a:srgbClr val="FFFF00">
              <a:alpha val="16000"/>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Tree>
  </p:cSld>
  <p:clrMapOvr>
    <a:masterClrMapping/>
  </p:clrMapOvr>
  <p:transition spd="med" advTm="0"/>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E6D3CC-07AC-586C-CD8B-2E982B96E065}"/>
              </a:ext>
            </a:extLst>
          </p:cNvPr>
          <p:cNvSpPr>
            <a:spLocks noGrp="1"/>
          </p:cNvSpPr>
          <p:nvPr>
            <p:ph type="title"/>
          </p:nvPr>
        </p:nvSpPr>
        <p:spPr/>
        <p:txBody>
          <a:bodyPr/>
          <a:lstStyle/>
          <a:p>
            <a:r>
              <a:rPr lang="en-US" dirty="0"/>
              <a:t>Case Statement</a:t>
            </a:r>
          </a:p>
        </p:txBody>
      </p:sp>
      <p:sp>
        <p:nvSpPr>
          <p:cNvPr id="3" name="Slide Number Placeholder 2">
            <a:extLst>
              <a:ext uri="{FF2B5EF4-FFF2-40B4-BE49-F238E27FC236}">
                <a16:creationId xmlns:a16="http://schemas.microsoft.com/office/drawing/2014/main" id="{36D83916-D8DB-55E0-57E3-998B15EC2EDB}"/>
              </a:ext>
            </a:extLst>
          </p:cNvPr>
          <p:cNvSpPr>
            <a:spLocks noGrp="1"/>
          </p:cNvSpPr>
          <p:nvPr>
            <p:ph type="sldNum" sz="quarter" idx="10"/>
          </p:nvPr>
        </p:nvSpPr>
        <p:spPr/>
        <p:txBody>
          <a:bodyPr/>
          <a:lstStyle/>
          <a:p>
            <a:r>
              <a:rPr lang="en-US" altLang="en-US"/>
              <a:t>Slide 3- </a:t>
            </a:r>
            <a:fld id="{6D11F7FA-F962-4577-ADCF-9A3DA7313C6D}" type="slidenum">
              <a:rPr lang="en-US" altLang="en-US" smtClean="0"/>
              <a:pPr/>
              <a:t>152</a:t>
            </a:fld>
            <a:endParaRPr lang="en-CA" altLang="en-US"/>
          </a:p>
        </p:txBody>
      </p:sp>
      <p:pic>
        <p:nvPicPr>
          <p:cNvPr id="6" name="Picture 5">
            <a:extLst>
              <a:ext uri="{FF2B5EF4-FFF2-40B4-BE49-F238E27FC236}">
                <a16:creationId xmlns:a16="http://schemas.microsoft.com/office/drawing/2014/main" id="{B1EB16C0-42A2-F35B-2364-E39332225EE2}"/>
              </a:ext>
            </a:extLst>
          </p:cNvPr>
          <p:cNvPicPr>
            <a:picLocks noChangeAspect="1"/>
          </p:cNvPicPr>
          <p:nvPr/>
        </p:nvPicPr>
        <p:blipFill>
          <a:blip r:embed="rId2"/>
          <a:stretch>
            <a:fillRect/>
          </a:stretch>
        </p:blipFill>
        <p:spPr>
          <a:xfrm>
            <a:off x="0" y="2286000"/>
            <a:ext cx="8837151" cy="3429000"/>
          </a:xfrm>
          <a:prstGeom prst="rect">
            <a:avLst/>
          </a:prstGeom>
        </p:spPr>
      </p:pic>
    </p:spTree>
    <p:extLst>
      <p:ext uri="{BB962C8B-B14F-4D97-AF65-F5344CB8AC3E}">
        <p14:creationId xmlns:p14="http://schemas.microsoft.com/office/powerpoint/2010/main" val="1153695222"/>
      </p:ext>
    </p:extLst>
  </p:cSld>
  <p:clrMapOvr>
    <a:masterClrMapping/>
  </p:clrMapOvr>
  <p:transition spd="med"/>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80EE6679-F75D-475D-A225-D3343270ACF6}"/>
              </a:ext>
            </a:extLst>
          </p:cNvPr>
          <p:cNvSpPr>
            <a:spLocks noGrp="1"/>
          </p:cNvSpPr>
          <p:nvPr>
            <p:ph type="title"/>
          </p:nvPr>
        </p:nvSpPr>
        <p:spPr/>
        <p:txBody>
          <a:bodyPr/>
          <a:lstStyle/>
          <a:p>
            <a:r>
              <a:rPr lang="en-US" altLang="en-US"/>
              <a:t>SQL/PSM (cont’d.)</a:t>
            </a:r>
          </a:p>
        </p:txBody>
      </p:sp>
      <p:sp>
        <p:nvSpPr>
          <p:cNvPr id="58371" name="Content Placeholder 2">
            <a:extLst>
              <a:ext uri="{FF2B5EF4-FFF2-40B4-BE49-F238E27FC236}">
                <a16:creationId xmlns:a16="http://schemas.microsoft.com/office/drawing/2014/main" id="{A6582364-91F6-06D4-C0FE-A4CB583264C7}"/>
              </a:ext>
            </a:extLst>
          </p:cNvPr>
          <p:cNvSpPr>
            <a:spLocks noGrp="1"/>
          </p:cNvSpPr>
          <p:nvPr>
            <p:ph idx="1"/>
          </p:nvPr>
        </p:nvSpPr>
        <p:spPr/>
        <p:txBody>
          <a:bodyPr/>
          <a:lstStyle/>
          <a:p>
            <a:r>
              <a:rPr lang="en-US" altLang="en-US" dirty="0"/>
              <a:t>Constructs for looping</a:t>
            </a:r>
          </a:p>
        </p:txBody>
      </p:sp>
      <p:pic>
        <p:nvPicPr>
          <p:cNvPr id="58373" name="Picture 4">
            <a:extLst>
              <a:ext uri="{FF2B5EF4-FFF2-40B4-BE49-F238E27FC236}">
                <a16:creationId xmlns:a16="http://schemas.microsoft.com/office/drawing/2014/main" id="{C1754B0A-9B0C-7643-35E6-EB328F21C8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018" y="4800600"/>
            <a:ext cx="74580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4" name="Slide Number Placeholder 3">
            <a:extLst>
              <a:ext uri="{FF2B5EF4-FFF2-40B4-BE49-F238E27FC236}">
                <a16:creationId xmlns:a16="http://schemas.microsoft.com/office/drawing/2014/main" id="{525689F4-52A2-27E0-4728-19B9ADFC80B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10- 42</a:t>
            </a:r>
            <a:endParaRPr lang="en-CA" altLang="en-US" sz="1400">
              <a:solidFill>
                <a:srgbClr val="990033"/>
              </a:solidFill>
            </a:endParaRPr>
          </a:p>
        </p:txBody>
      </p:sp>
      <p:sp>
        <p:nvSpPr>
          <p:cNvPr id="3" name="TextBox 2">
            <a:extLst>
              <a:ext uri="{FF2B5EF4-FFF2-40B4-BE49-F238E27FC236}">
                <a16:creationId xmlns:a16="http://schemas.microsoft.com/office/drawing/2014/main" id="{0D104D48-319C-F65B-F6AC-B4B2948A343B}"/>
              </a:ext>
            </a:extLst>
          </p:cNvPr>
          <p:cNvSpPr txBox="1"/>
          <p:nvPr/>
        </p:nvSpPr>
        <p:spPr>
          <a:xfrm>
            <a:off x="4795780" y="1587868"/>
            <a:ext cx="4082253" cy="1569660"/>
          </a:xfrm>
          <a:prstGeom prst="rect">
            <a:avLst/>
          </a:prstGeom>
          <a:noFill/>
        </p:spPr>
        <p:txBody>
          <a:bodyPr wrap="square">
            <a:spAutoFit/>
          </a:bodyPr>
          <a:lstStyle/>
          <a:p>
            <a:pPr algn="l"/>
            <a:r>
              <a:rPr lang="en-US" sz="2400" b="1" i="0" u="none" strike="noStrike" baseline="0" dirty="0">
                <a:latin typeface="CourierNewPSMT"/>
              </a:rPr>
              <a:t>[label]: REPEAT</a:t>
            </a:r>
          </a:p>
          <a:p>
            <a:pPr algn="l"/>
            <a:r>
              <a:rPr lang="en-US" sz="2400" b="1" i="0" u="none" strike="noStrike" baseline="0" dirty="0">
                <a:latin typeface="CourierNewPSMT"/>
              </a:rPr>
              <a:t>    &lt;statement list&gt;</a:t>
            </a:r>
          </a:p>
          <a:p>
            <a:pPr algn="l"/>
            <a:r>
              <a:rPr lang="en-US" sz="2400" b="1" i="0" u="none" strike="noStrike" baseline="0" dirty="0">
                <a:latin typeface="CourierNewPSMT"/>
              </a:rPr>
              <a:t>UNTIL &lt;condition&gt;</a:t>
            </a:r>
          </a:p>
          <a:p>
            <a:pPr algn="l"/>
            <a:r>
              <a:rPr lang="en-US" sz="2400" b="1" i="0" u="none" strike="noStrike" baseline="0" dirty="0">
                <a:latin typeface="CourierNewPSMT"/>
              </a:rPr>
              <a:t>END REPEAT [label];</a:t>
            </a:r>
          </a:p>
        </p:txBody>
      </p:sp>
      <p:grpSp>
        <p:nvGrpSpPr>
          <p:cNvPr id="6" name="Group 4">
            <a:extLst>
              <a:ext uri="{FF2B5EF4-FFF2-40B4-BE49-F238E27FC236}">
                <a16:creationId xmlns:a16="http://schemas.microsoft.com/office/drawing/2014/main" id="{06AFFD4B-EC0B-936D-FE5C-37062207ABE9}"/>
              </a:ext>
            </a:extLst>
          </p:cNvPr>
          <p:cNvGrpSpPr>
            <a:grpSpLocks noChangeAspect="1"/>
          </p:cNvGrpSpPr>
          <p:nvPr/>
        </p:nvGrpSpPr>
        <p:grpSpPr bwMode="auto">
          <a:xfrm>
            <a:off x="1478488" y="3328194"/>
            <a:ext cx="5296436" cy="1116012"/>
            <a:chOff x="186" y="1601"/>
            <a:chExt cx="2577" cy="543"/>
          </a:xfrm>
        </p:grpSpPr>
        <p:sp>
          <p:nvSpPr>
            <p:cNvPr id="7" name="AutoShape 3">
              <a:extLst>
                <a:ext uri="{FF2B5EF4-FFF2-40B4-BE49-F238E27FC236}">
                  <a16:creationId xmlns:a16="http://schemas.microsoft.com/office/drawing/2014/main" id="{7010C077-20CA-D460-8032-B6809885B953}"/>
                </a:ext>
              </a:extLst>
            </p:cNvPr>
            <p:cNvSpPr>
              <a:spLocks noChangeAspect="1" noChangeArrowheads="1" noTextEdit="1"/>
            </p:cNvSpPr>
            <p:nvPr/>
          </p:nvSpPr>
          <p:spPr bwMode="auto">
            <a:xfrm>
              <a:off x="186" y="1601"/>
              <a:ext cx="2577"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9" name="Picture 5">
              <a:extLst>
                <a:ext uri="{FF2B5EF4-FFF2-40B4-BE49-F238E27FC236}">
                  <a16:creationId xmlns:a16="http://schemas.microsoft.com/office/drawing/2014/main" id="{8370D9FE-405A-C038-D43A-516D48A0155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186" y="1601"/>
              <a:ext cx="2583" cy="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spd="me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20B77B-DAB5-6C30-C509-E761D6DA99FC}"/>
              </a:ext>
            </a:extLst>
          </p:cNvPr>
          <p:cNvPicPr>
            <a:picLocks noChangeAspect="1"/>
          </p:cNvPicPr>
          <p:nvPr/>
        </p:nvPicPr>
        <p:blipFill>
          <a:blip r:embed="rId2"/>
          <a:srcRect b="4546"/>
          <a:stretch/>
        </p:blipFill>
        <p:spPr>
          <a:xfrm>
            <a:off x="41213" y="1428750"/>
            <a:ext cx="8613552" cy="4000500"/>
          </a:xfrm>
          <a:prstGeom prst="rect">
            <a:avLst/>
          </a:prstGeom>
        </p:spPr>
      </p:pic>
      <p:sp>
        <p:nvSpPr>
          <p:cNvPr id="8" name="Content Placeholder 7">
            <a:extLst>
              <a:ext uri="{FF2B5EF4-FFF2-40B4-BE49-F238E27FC236}">
                <a16:creationId xmlns:a16="http://schemas.microsoft.com/office/drawing/2014/main" id="{DEAD4E9E-BD9A-2103-5305-E872954B9ACC}"/>
              </a:ext>
            </a:extLst>
          </p:cNvPr>
          <p:cNvSpPr>
            <a:spLocks noGrp="1"/>
          </p:cNvSpPr>
          <p:nvPr>
            <p:ph idx="1"/>
          </p:nvPr>
        </p:nvSpPr>
        <p:spPr>
          <a:xfrm>
            <a:off x="239713" y="5334000"/>
            <a:ext cx="8294687" cy="1066800"/>
          </a:xfrm>
        </p:spPr>
        <p:txBody>
          <a:bodyPr/>
          <a:lstStyle/>
          <a:p>
            <a:r>
              <a:rPr lang="en-US" dirty="0"/>
              <a:t>DELIMITER $$</a:t>
            </a:r>
          </a:p>
          <a:p>
            <a:r>
              <a:rPr lang="en-US" dirty="0"/>
              <a:t>NO SQL</a:t>
            </a:r>
          </a:p>
        </p:txBody>
      </p:sp>
      <p:sp>
        <p:nvSpPr>
          <p:cNvPr id="3" name="Slide Number Placeholder 2">
            <a:extLst>
              <a:ext uri="{FF2B5EF4-FFF2-40B4-BE49-F238E27FC236}">
                <a16:creationId xmlns:a16="http://schemas.microsoft.com/office/drawing/2014/main" id="{F0086151-90EB-D75A-3CE9-5C8A9A0A48A3}"/>
              </a:ext>
            </a:extLst>
          </p:cNvPr>
          <p:cNvSpPr>
            <a:spLocks noGrp="1"/>
          </p:cNvSpPr>
          <p:nvPr>
            <p:ph type="sldNum" sz="quarter" idx="10"/>
          </p:nvPr>
        </p:nvSpPr>
        <p:spPr/>
        <p:txBody>
          <a:bodyPr/>
          <a:lstStyle/>
          <a:p>
            <a:r>
              <a:rPr lang="en-US" altLang="en-US"/>
              <a:t>Slide 3- </a:t>
            </a:r>
            <a:fld id="{6D11F7FA-F962-4577-ADCF-9A3DA7313C6D}" type="slidenum">
              <a:rPr lang="en-US" altLang="en-US" smtClean="0"/>
              <a:pPr/>
              <a:t>154</a:t>
            </a:fld>
            <a:endParaRPr lang="en-CA" altLang="en-US"/>
          </a:p>
        </p:txBody>
      </p:sp>
      <p:sp>
        <p:nvSpPr>
          <p:cNvPr id="5" name="Title 4">
            <a:extLst>
              <a:ext uri="{FF2B5EF4-FFF2-40B4-BE49-F238E27FC236}">
                <a16:creationId xmlns:a16="http://schemas.microsoft.com/office/drawing/2014/main" id="{CAAB7858-F28F-04D1-C338-73EB87842AAA}"/>
              </a:ext>
            </a:extLst>
          </p:cNvPr>
          <p:cNvSpPr>
            <a:spLocks noGrp="1"/>
          </p:cNvSpPr>
          <p:nvPr>
            <p:ph type="title"/>
          </p:nvPr>
        </p:nvSpPr>
        <p:spPr/>
        <p:txBody>
          <a:bodyPr/>
          <a:lstStyle/>
          <a:p>
            <a:r>
              <a:rPr lang="en-US" dirty="0"/>
              <a:t>Repeat Until Example</a:t>
            </a:r>
          </a:p>
        </p:txBody>
      </p:sp>
    </p:spTree>
    <p:extLst>
      <p:ext uri="{BB962C8B-B14F-4D97-AF65-F5344CB8AC3E}">
        <p14:creationId xmlns:p14="http://schemas.microsoft.com/office/powerpoint/2010/main" val="3224625649"/>
      </p:ext>
    </p:extLst>
  </p:cSld>
  <p:clrMapOvr>
    <a:masterClrMapping/>
  </p:clrMapOvr>
  <p:transition spd="med"/>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E7D62-FA4B-3C34-A932-DA08B167AEA2}"/>
              </a:ext>
            </a:extLst>
          </p:cNvPr>
          <p:cNvSpPr>
            <a:spLocks noGrp="1"/>
          </p:cNvSpPr>
          <p:nvPr>
            <p:ph type="title"/>
          </p:nvPr>
        </p:nvSpPr>
        <p:spPr/>
        <p:txBody>
          <a:bodyPr/>
          <a:lstStyle/>
          <a:p>
            <a:r>
              <a:rPr lang="en-US" dirty="0"/>
              <a:t>Loop Flow Control</a:t>
            </a:r>
          </a:p>
        </p:txBody>
      </p:sp>
      <p:sp>
        <p:nvSpPr>
          <p:cNvPr id="3" name="Slide Number Placeholder 2">
            <a:extLst>
              <a:ext uri="{FF2B5EF4-FFF2-40B4-BE49-F238E27FC236}">
                <a16:creationId xmlns:a16="http://schemas.microsoft.com/office/drawing/2014/main" id="{6CAC6621-9162-5C9C-E27B-E044886EB3E5}"/>
              </a:ext>
            </a:extLst>
          </p:cNvPr>
          <p:cNvSpPr>
            <a:spLocks noGrp="1"/>
          </p:cNvSpPr>
          <p:nvPr>
            <p:ph type="sldNum" sz="quarter" idx="10"/>
          </p:nvPr>
        </p:nvSpPr>
        <p:spPr/>
        <p:txBody>
          <a:bodyPr/>
          <a:lstStyle/>
          <a:p>
            <a:r>
              <a:rPr lang="en-US" altLang="en-US"/>
              <a:t>Slide 3- </a:t>
            </a:r>
            <a:fld id="{9228F43B-1751-4133-BFDC-FCBB34AB8CDD}" type="slidenum">
              <a:rPr lang="en-US" altLang="en-US" smtClean="0"/>
              <a:pPr/>
              <a:t>155</a:t>
            </a:fld>
            <a:endParaRPr lang="en-CA" altLang="en-US"/>
          </a:p>
        </p:txBody>
      </p:sp>
      <p:pic>
        <p:nvPicPr>
          <p:cNvPr id="5" name="Picture 4">
            <a:extLst>
              <a:ext uri="{FF2B5EF4-FFF2-40B4-BE49-F238E27FC236}">
                <a16:creationId xmlns:a16="http://schemas.microsoft.com/office/drawing/2014/main" id="{45BB3E0A-17B5-9854-C5C4-DC3212BA4492}"/>
              </a:ext>
            </a:extLst>
          </p:cNvPr>
          <p:cNvPicPr>
            <a:picLocks noChangeAspect="1"/>
          </p:cNvPicPr>
          <p:nvPr/>
        </p:nvPicPr>
        <p:blipFill>
          <a:blip r:embed="rId2"/>
          <a:stretch>
            <a:fillRect/>
          </a:stretch>
        </p:blipFill>
        <p:spPr>
          <a:xfrm>
            <a:off x="248841" y="2303585"/>
            <a:ext cx="8406120" cy="3124199"/>
          </a:xfrm>
          <a:prstGeom prst="rect">
            <a:avLst/>
          </a:prstGeom>
        </p:spPr>
      </p:pic>
    </p:spTree>
    <p:extLst>
      <p:ext uri="{BB962C8B-B14F-4D97-AF65-F5344CB8AC3E}">
        <p14:creationId xmlns:p14="http://schemas.microsoft.com/office/powerpoint/2010/main" val="3364805785"/>
      </p:ext>
    </p:extLst>
  </p:cSld>
  <p:clrMapOvr>
    <a:masterClrMapping/>
  </p:clrMapOvr>
  <p:transition spd="med"/>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5AAF5-642F-A7DC-E6B9-98336E849E8E}"/>
              </a:ext>
            </a:extLst>
          </p:cNvPr>
          <p:cNvSpPr>
            <a:spLocks noGrp="1"/>
          </p:cNvSpPr>
          <p:nvPr>
            <p:ph type="title"/>
          </p:nvPr>
        </p:nvSpPr>
        <p:spPr>
          <a:xfrm>
            <a:off x="0" y="303213"/>
            <a:ext cx="9144000" cy="992187"/>
          </a:xfrm>
        </p:spPr>
        <p:txBody>
          <a:bodyPr/>
          <a:lstStyle/>
          <a:p>
            <a:r>
              <a:rPr lang="en-US" dirty="0"/>
              <a:t>Example: </a:t>
            </a:r>
            <a:br>
              <a:rPr lang="en-US" dirty="0"/>
            </a:br>
            <a:r>
              <a:rPr lang="en-US" sz="2400" dirty="0"/>
              <a:t>write a procedure to update ”TOTALSALARY” in the </a:t>
            </a:r>
            <a:r>
              <a:rPr lang="en-US" sz="2400" dirty="0" err="1"/>
              <a:t>deptsal</a:t>
            </a:r>
            <a:r>
              <a:rPr lang="en-US" sz="2400" dirty="0"/>
              <a:t> table</a:t>
            </a:r>
            <a:endParaRPr lang="en-US" dirty="0"/>
          </a:p>
        </p:txBody>
      </p:sp>
      <p:sp>
        <p:nvSpPr>
          <p:cNvPr id="3" name="Slide Number Placeholder 2">
            <a:extLst>
              <a:ext uri="{FF2B5EF4-FFF2-40B4-BE49-F238E27FC236}">
                <a16:creationId xmlns:a16="http://schemas.microsoft.com/office/drawing/2014/main" id="{F3D0B478-370C-E9E3-7F06-046CA303E5F7}"/>
              </a:ext>
            </a:extLst>
          </p:cNvPr>
          <p:cNvSpPr>
            <a:spLocks noGrp="1"/>
          </p:cNvSpPr>
          <p:nvPr>
            <p:ph type="sldNum" sz="quarter" idx="10"/>
          </p:nvPr>
        </p:nvSpPr>
        <p:spPr/>
        <p:txBody>
          <a:bodyPr/>
          <a:lstStyle/>
          <a:p>
            <a:r>
              <a:rPr lang="en-US" altLang="en-US"/>
              <a:t>Slide 3- </a:t>
            </a:r>
            <a:fld id="{9228F43B-1751-4133-BFDC-FCBB34AB8CDD}" type="slidenum">
              <a:rPr lang="en-US" altLang="en-US" smtClean="0"/>
              <a:pPr/>
              <a:t>156</a:t>
            </a:fld>
            <a:endParaRPr lang="en-CA" altLang="en-US"/>
          </a:p>
        </p:txBody>
      </p:sp>
      <p:pic>
        <p:nvPicPr>
          <p:cNvPr id="5" name="Picture 4">
            <a:extLst>
              <a:ext uri="{FF2B5EF4-FFF2-40B4-BE49-F238E27FC236}">
                <a16:creationId xmlns:a16="http://schemas.microsoft.com/office/drawing/2014/main" id="{9C88745B-5B44-23B6-6D17-C20374F96758}"/>
              </a:ext>
            </a:extLst>
          </p:cNvPr>
          <p:cNvPicPr>
            <a:picLocks noChangeAspect="1"/>
          </p:cNvPicPr>
          <p:nvPr/>
        </p:nvPicPr>
        <p:blipFill>
          <a:blip r:embed="rId2"/>
          <a:srcRect l="-1224" t="1" r="2747" b="37845"/>
          <a:stretch/>
        </p:blipFill>
        <p:spPr>
          <a:xfrm>
            <a:off x="228600" y="1446214"/>
            <a:ext cx="8479586" cy="2286000"/>
          </a:xfrm>
          <a:prstGeom prst="rect">
            <a:avLst/>
          </a:prstGeom>
        </p:spPr>
      </p:pic>
      <p:pic>
        <p:nvPicPr>
          <p:cNvPr id="7" name="Picture 6">
            <a:extLst>
              <a:ext uri="{FF2B5EF4-FFF2-40B4-BE49-F238E27FC236}">
                <a16:creationId xmlns:a16="http://schemas.microsoft.com/office/drawing/2014/main" id="{870D06D6-CDD6-DCBF-6DA5-4911FD06CDA1}"/>
              </a:ext>
            </a:extLst>
          </p:cNvPr>
          <p:cNvPicPr>
            <a:picLocks noChangeAspect="1"/>
          </p:cNvPicPr>
          <p:nvPr/>
        </p:nvPicPr>
        <p:blipFill>
          <a:blip r:embed="rId3"/>
          <a:srcRect t="37472" r="62338"/>
          <a:stretch/>
        </p:blipFill>
        <p:spPr>
          <a:xfrm>
            <a:off x="5562600" y="4378881"/>
            <a:ext cx="3048000" cy="1910240"/>
          </a:xfrm>
          <a:prstGeom prst="rect">
            <a:avLst/>
          </a:prstGeom>
        </p:spPr>
      </p:pic>
      <p:pic>
        <p:nvPicPr>
          <p:cNvPr id="8" name="Picture 7">
            <a:extLst>
              <a:ext uri="{FF2B5EF4-FFF2-40B4-BE49-F238E27FC236}">
                <a16:creationId xmlns:a16="http://schemas.microsoft.com/office/drawing/2014/main" id="{376A9ADC-9F9E-FBFC-58D7-784A134783ED}"/>
              </a:ext>
            </a:extLst>
          </p:cNvPr>
          <p:cNvPicPr>
            <a:picLocks noChangeAspect="1"/>
          </p:cNvPicPr>
          <p:nvPr/>
        </p:nvPicPr>
        <p:blipFill>
          <a:blip r:embed="rId2"/>
          <a:srcRect t="62154" r="50443"/>
          <a:stretch/>
        </p:blipFill>
        <p:spPr>
          <a:xfrm>
            <a:off x="316523" y="3590273"/>
            <a:ext cx="4267200" cy="1391956"/>
          </a:xfrm>
          <a:prstGeom prst="rect">
            <a:avLst/>
          </a:prstGeom>
        </p:spPr>
      </p:pic>
      <p:pic>
        <p:nvPicPr>
          <p:cNvPr id="9" name="Picture 8">
            <a:extLst>
              <a:ext uri="{FF2B5EF4-FFF2-40B4-BE49-F238E27FC236}">
                <a16:creationId xmlns:a16="http://schemas.microsoft.com/office/drawing/2014/main" id="{3E1F4F2F-3530-688C-CD57-3A816A9C7434}"/>
              </a:ext>
            </a:extLst>
          </p:cNvPr>
          <p:cNvPicPr>
            <a:picLocks noChangeAspect="1"/>
          </p:cNvPicPr>
          <p:nvPr/>
        </p:nvPicPr>
        <p:blipFill>
          <a:blip r:embed="rId3"/>
          <a:srcRect r="28784" b="69935"/>
          <a:stretch/>
        </p:blipFill>
        <p:spPr>
          <a:xfrm>
            <a:off x="316523" y="5257800"/>
            <a:ext cx="5093677" cy="811729"/>
          </a:xfrm>
          <a:prstGeom prst="rect">
            <a:avLst/>
          </a:prstGeom>
        </p:spPr>
      </p:pic>
    </p:spTree>
    <p:extLst>
      <p:ext uri="{BB962C8B-B14F-4D97-AF65-F5344CB8AC3E}">
        <p14:creationId xmlns:p14="http://schemas.microsoft.com/office/powerpoint/2010/main" val="1628598778"/>
      </p:ext>
    </p:extLst>
  </p:cSld>
  <p:clrMapOvr>
    <a:masterClrMapping/>
  </p:clrMapOvr>
  <p:transition spd="med"/>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C2DC07-4245-A8F1-6279-9880FC21C494}"/>
              </a:ext>
            </a:extLst>
          </p:cNvPr>
          <p:cNvSpPr>
            <a:spLocks noGrp="1"/>
          </p:cNvSpPr>
          <p:nvPr>
            <p:ph idx="1"/>
          </p:nvPr>
        </p:nvSpPr>
        <p:spPr/>
        <p:txBody>
          <a:bodyPr>
            <a:normAutofit fontScale="77500" lnSpcReduction="20000"/>
          </a:bodyPr>
          <a:lstStyle/>
          <a:p>
            <a:r>
              <a:rPr lang="en-US" dirty="0"/>
              <a:t>DELIMITER $$</a:t>
            </a:r>
          </a:p>
          <a:p>
            <a:endParaRPr lang="en-US" dirty="0"/>
          </a:p>
          <a:p>
            <a:r>
              <a:rPr lang="en-US" dirty="0"/>
              <a:t>CREATE PROCEDURE </a:t>
            </a:r>
            <a:r>
              <a:rPr lang="en-US" dirty="0" err="1"/>
              <a:t>UpdateDeptSalary</a:t>
            </a:r>
            <a:r>
              <a:rPr lang="en-US" dirty="0"/>
              <a:t>()</a:t>
            </a:r>
          </a:p>
          <a:p>
            <a:r>
              <a:rPr lang="en-US" dirty="0"/>
              <a:t>BEGIN</a:t>
            </a:r>
          </a:p>
          <a:p>
            <a:r>
              <a:rPr lang="en-US" dirty="0"/>
              <a:t>    UPDATE </a:t>
            </a:r>
            <a:r>
              <a:rPr lang="en-US" dirty="0" err="1"/>
              <a:t>deptsal</a:t>
            </a:r>
            <a:r>
              <a:rPr lang="en-US" dirty="0"/>
              <a:t> d</a:t>
            </a:r>
          </a:p>
          <a:p>
            <a:r>
              <a:rPr lang="en-US" dirty="0"/>
              <a:t>    SET </a:t>
            </a:r>
            <a:r>
              <a:rPr lang="en-US" dirty="0" err="1"/>
              <a:t>totalsalary</a:t>
            </a:r>
            <a:r>
              <a:rPr lang="en-US" dirty="0"/>
              <a:t> = (</a:t>
            </a:r>
          </a:p>
          <a:p>
            <a:r>
              <a:rPr lang="en-US" dirty="0"/>
              <a:t>        SELECT IFNULL(SUM(</a:t>
            </a:r>
            <a:r>
              <a:rPr lang="en-US" dirty="0" err="1"/>
              <a:t>e.salary</a:t>
            </a:r>
            <a:r>
              <a:rPr lang="en-US" dirty="0"/>
              <a:t>), 0)</a:t>
            </a:r>
          </a:p>
          <a:p>
            <a:r>
              <a:rPr lang="en-US" dirty="0"/>
              <a:t>        FROM employee e</a:t>
            </a:r>
          </a:p>
          <a:p>
            <a:r>
              <a:rPr lang="en-US" dirty="0"/>
              <a:t>        WHERE </a:t>
            </a:r>
            <a:r>
              <a:rPr lang="en-US" dirty="0" err="1"/>
              <a:t>e.dno</a:t>
            </a:r>
            <a:r>
              <a:rPr lang="en-US" dirty="0"/>
              <a:t> = </a:t>
            </a:r>
            <a:r>
              <a:rPr lang="en-US" dirty="0" err="1"/>
              <a:t>d.dnumber</a:t>
            </a:r>
            <a:endParaRPr lang="en-US" dirty="0"/>
          </a:p>
          <a:p>
            <a:r>
              <a:rPr lang="en-US" dirty="0"/>
              <a:t>    );</a:t>
            </a:r>
          </a:p>
          <a:p>
            <a:r>
              <a:rPr lang="en-US" dirty="0"/>
              <a:t>END$$</a:t>
            </a:r>
          </a:p>
          <a:p>
            <a:endParaRPr lang="en-US" dirty="0"/>
          </a:p>
          <a:p>
            <a:r>
              <a:rPr lang="en-US" dirty="0"/>
              <a:t>DELIMITER ;</a:t>
            </a:r>
          </a:p>
        </p:txBody>
      </p:sp>
      <p:sp>
        <p:nvSpPr>
          <p:cNvPr id="3" name="Slide Number Placeholder 2">
            <a:extLst>
              <a:ext uri="{FF2B5EF4-FFF2-40B4-BE49-F238E27FC236}">
                <a16:creationId xmlns:a16="http://schemas.microsoft.com/office/drawing/2014/main" id="{9EDC49F4-0DA9-7720-DEC4-66D5F62B2444}"/>
              </a:ext>
            </a:extLst>
          </p:cNvPr>
          <p:cNvSpPr>
            <a:spLocks noGrp="1"/>
          </p:cNvSpPr>
          <p:nvPr>
            <p:ph type="sldNum" sz="quarter" idx="10"/>
          </p:nvPr>
        </p:nvSpPr>
        <p:spPr/>
        <p:txBody>
          <a:bodyPr/>
          <a:lstStyle/>
          <a:p>
            <a:r>
              <a:rPr lang="en-US" altLang="en-US"/>
              <a:t>Slide 3- </a:t>
            </a:r>
            <a:fld id="{6D11F7FA-F962-4577-ADCF-9A3DA7313C6D}" type="slidenum">
              <a:rPr lang="en-US" altLang="en-US" smtClean="0"/>
              <a:pPr/>
              <a:t>157</a:t>
            </a:fld>
            <a:endParaRPr lang="en-CA" altLang="en-US"/>
          </a:p>
        </p:txBody>
      </p:sp>
      <p:sp>
        <p:nvSpPr>
          <p:cNvPr id="4" name="Title 3">
            <a:extLst>
              <a:ext uri="{FF2B5EF4-FFF2-40B4-BE49-F238E27FC236}">
                <a16:creationId xmlns:a16="http://schemas.microsoft.com/office/drawing/2014/main" id="{9C34A046-935C-D9EE-14F9-AAD3A66F7482}"/>
              </a:ext>
            </a:extLst>
          </p:cNvPr>
          <p:cNvSpPr>
            <a:spLocks noGrp="1"/>
          </p:cNvSpPr>
          <p:nvPr>
            <p:ph type="title"/>
          </p:nvPr>
        </p:nvSpPr>
        <p:spPr/>
        <p:txBody>
          <a:bodyPr/>
          <a:lstStyle/>
          <a:p>
            <a:r>
              <a:rPr lang="en-US" dirty="0"/>
              <a:t>Simple and Efficient Version</a:t>
            </a:r>
          </a:p>
        </p:txBody>
      </p:sp>
    </p:spTree>
    <p:extLst>
      <p:ext uri="{BB962C8B-B14F-4D97-AF65-F5344CB8AC3E}">
        <p14:creationId xmlns:p14="http://schemas.microsoft.com/office/powerpoint/2010/main" val="3792363025"/>
      </p:ext>
    </p:extLst>
  </p:cSld>
  <p:clrMapOvr>
    <a:masterClrMapping/>
  </p:clrMapOvr>
  <p:transition spd="me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C2DC07-4245-A8F1-6279-9880FC21C494}"/>
              </a:ext>
            </a:extLst>
          </p:cNvPr>
          <p:cNvSpPr>
            <a:spLocks noGrp="1"/>
          </p:cNvSpPr>
          <p:nvPr>
            <p:ph idx="1"/>
          </p:nvPr>
        </p:nvSpPr>
        <p:spPr/>
        <p:txBody>
          <a:bodyPr>
            <a:normAutofit fontScale="70000" lnSpcReduction="20000"/>
          </a:bodyPr>
          <a:lstStyle/>
          <a:p>
            <a:r>
              <a:rPr lang="en-US" dirty="0"/>
              <a:t>DELIMITER $$</a:t>
            </a:r>
          </a:p>
          <a:p>
            <a:endParaRPr lang="en-US" dirty="0"/>
          </a:p>
          <a:p>
            <a:r>
              <a:rPr lang="en-US" dirty="0"/>
              <a:t>CREATE PROCEDURE </a:t>
            </a:r>
            <a:r>
              <a:rPr lang="en-US" dirty="0" err="1"/>
              <a:t>UpdateDeptSalary</a:t>
            </a:r>
            <a:r>
              <a:rPr lang="en-US" dirty="0"/>
              <a:t>()</a:t>
            </a:r>
          </a:p>
          <a:p>
            <a:r>
              <a:rPr lang="en-US" dirty="0"/>
              <a:t>BEGIN</a:t>
            </a:r>
          </a:p>
          <a:p>
            <a:r>
              <a:rPr lang="en-US" dirty="0"/>
              <a:t>    UPDATE </a:t>
            </a:r>
            <a:r>
              <a:rPr lang="en-US" dirty="0" err="1"/>
              <a:t>deptsal</a:t>
            </a:r>
            <a:r>
              <a:rPr lang="en-US" dirty="0"/>
              <a:t> d</a:t>
            </a:r>
          </a:p>
          <a:p>
            <a:r>
              <a:rPr lang="en-US" dirty="0"/>
              <a:t>    LEFT JOIN (</a:t>
            </a:r>
          </a:p>
          <a:p>
            <a:r>
              <a:rPr lang="en-US" dirty="0"/>
              <a:t>        SELECT </a:t>
            </a:r>
            <a:r>
              <a:rPr lang="en-US" dirty="0" err="1"/>
              <a:t>dno</a:t>
            </a:r>
            <a:r>
              <a:rPr lang="en-US" dirty="0"/>
              <a:t>, SUM(salary) AS total</a:t>
            </a:r>
          </a:p>
          <a:p>
            <a:r>
              <a:rPr lang="en-US" dirty="0"/>
              <a:t>        FROM employee</a:t>
            </a:r>
          </a:p>
          <a:p>
            <a:r>
              <a:rPr lang="en-US" dirty="0"/>
              <a:t>        GROUP BY </a:t>
            </a:r>
            <a:r>
              <a:rPr lang="en-US" dirty="0" err="1"/>
              <a:t>dno</a:t>
            </a:r>
            <a:endParaRPr lang="en-US" dirty="0"/>
          </a:p>
          <a:p>
            <a:r>
              <a:rPr lang="en-US" dirty="0"/>
              <a:t>    ) e ON </a:t>
            </a:r>
            <a:r>
              <a:rPr lang="en-US" dirty="0" err="1"/>
              <a:t>e.dno</a:t>
            </a:r>
            <a:r>
              <a:rPr lang="en-US" dirty="0"/>
              <a:t> = </a:t>
            </a:r>
            <a:r>
              <a:rPr lang="en-US" dirty="0" err="1"/>
              <a:t>d.dnumber</a:t>
            </a:r>
            <a:r>
              <a:rPr lang="en-US" dirty="0"/>
              <a:t> </a:t>
            </a:r>
          </a:p>
          <a:p>
            <a:r>
              <a:rPr lang="en-US" dirty="0"/>
              <a:t>    SET </a:t>
            </a:r>
            <a:r>
              <a:rPr lang="en-US" dirty="0" err="1"/>
              <a:t>d.totalsalary</a:t>
            </a:r>
            <a:r>
              <a:rPr lang="en-US" dirty="0"/>
              <a:t> = IFNULL(</a:t>
            </a:r>
            <a:r>
              <a:rPr lang="en-US" dirty="0" err="1"/>
              <a:t>e.total</a:t>
            </a:r>
            <a:r>
              <a:rPr lang="en-US" dirty="0"/>
              <a:t>, 0);</a:t>
            </a:r>
          </a:p>
          <a:p>
            <a:r>
              <a:rPr lang="en-US" dirty="0"/>
              <a:t>END$$</a:t>
            </a:r>
          </a:p>
          <a:p>
            <a:endParaRPr lang="en-US" dirty="0"/>
          </a:p>
          <a:p>
            <a:r>
              <a:rPr lang="en-US" dirty="0"/>
              <a:t>DELIMITER ;</a:t>
            </a:r>
          </a:p>
        </p:txBody>
      </p:sp>
      <p:sp>
        <p:nvSpPr>
          <p:cNvPr id="3" name="Slide Number Placeholder 2">
            <a:extLst>
              <a:ext uri="{FF2B5EF4-FFF2-40B4-BE49-F238E27FC236}">
                <a16:creationId xmlns:a16="http://schemas.microsoft.com/office/drawing/2014/main" id="{9EDC49F4-0DA9-7720-DEC4-66D5F62B2444}"/>
              </a:ext>
            </a:extLst>
          </p:cNvPr>
          <p:cNvSpPr>
            <a:spLocks noGrp="1"/>
          </p:cNvSpPr>
          <p:nvPr>
            <p:ph type="sldNum" sz="quarter" idx="10"/>
          </p:nvPr>
        </p:nvSpPr>
        <p:spPr/>
        <p:txBody>
          <a:bodyPr/>
          <a:lstStyle/>
          <a:p>
            <a:r>
              <a:rPr lang="en-US" altLang="en-US"/>
              <a:t>Slide 3- </a:t>
            </a:r>
            <a:fld id="{6D11F7FA-F962-4577-ADCF-9A3DA7313C6D}" type="slidenum">
              <a:rPr lang="en-US" altLang="en-US" smtClean="0"/>
              <a:pPr/>
              <a:t>158</a:t>
            </a:fld>
            <a:endParaRPr lang="en-CA" altLang="en-US"/>
          </a:p>
        </p:txBody>
      </p:sp>
      <p:sp>
        <p:nvSpPr>
          <p:cNvPr id="4" name="Title 3">
            <a:extLst>
              <a:ext uri="{FF2B5EF4-FFF2-40B4-BE49-F238E27FC236}">
                <a16:creationId xmlns:a16="http://schemas.microsoft.com/office/drawing/2014/main" id="{9C34A046-935C-D9EE-14F9-AAD3A66F7482}"/>
              </a:ext>
            </a:extLst>
          </p:cNvPr>
          <p:cNvSpPr>
            <a:spLocks noGrp="1"/>
          </p:cNvSpPr>
          <p:nvPr>
            <p:ph type="title"/>
          </p:nvPr>
        </p:nvSpPr>
        <p:spPr/>
        <p:txBody>
          <a:bodyPr/>
          <a:lstStyle/>
          <a:p>
            <a:r>
              <a:rPr lang="en-US" dirty="0"/>
              <a:t>Alternative Version</a:t>
            </a:r>
          </a:p>
        </p:txBody>
      </p:sp>
    </p:spTree>
    <p:extLst>
      <p:ext uri="{BB962C8B-B14F-4D97-AF65-F5344CB8AC3E}">
        <p14:creationId xmlns:p14="http://schemas.microsoft.com/office/powerpoint/2010/main" val="3597674965"/>
      </p:ext>
    </p:extLst>
  </p:cSld>
  <p:clrMapOvr>
    <a:masterClrMapping/>
  </p:clrMapOvr>
  <p:transition spd="med"/>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592A3E-8B78-5377-4514-C6F9F9856173}"/>
              </a:ext>
            </a:extLst>
          </p:cNvPr>
          <p:cNvSpPr>
            <a:spLocks noGrp="1"/>
          </p:cNvSpPr>
          <p:nvPr>
            <p:ph idx="1"/>
          </p:nvPr>
        </p:nvSpPr>
        <p:spPr>
          <a:xfrm>
            <a:off x="239713" y="3886200"/>
            <a:ext cx="8294687" cy="2286000"/>
          </a:xfrm>
        </p:spPr>
        <p:txBody>
          <a:bodyPr/>
          <a:lstStyle/>
          <a:p>
            <a:r>
              <a:rPr lang="en-US" dirty="0"/>
              <a:t>Change </a:t>
            </a:r>
          </a:p>
          <a:p>
            <a:pPr lvl="1"/>
            <a:r>
              <a:rPr lang="en-US" dirty="0"/>
              <a:t>Create procedure </a:t>
            </a:r>
            <a:r>
              <a:rPr lang="en-US" dirty="0" err="1"/>
              <a:t>updateSalary</a:t>
            </a:r>
            <a:r>
              <a:rPr lang="en-US" dirty="0"/>
              <a:t> (IN param1 </a:t>
            </a:r>
            <a:r>
              <a:rPr lang="en-US" dirty="0" err="1"/>
              <a:t>intt</a:t>
            </a:r>
            <a:r>
              <a:rPr lang="en-US" dirty="0"/>
              <a:t>)</a:t>
            </a:r>
          </a:p>
          <a:p>
            <a:pPr lvl="1"/>
            <a:r>
              <a:rPr lang="en-US" dirty="0" err="1"/>
              <a:t>d.dnumber</a:t>
            </a:r>
            <a:r>
              <a:rPr lang="en-US" dirty="0"/>
              <a:t> to param1</a:t>
            </a:r>
          </a:p>
        </p:txBody>
      </p:sp>
      <p:sp>
        <p:nvSpPr>
          <p:cNvPr id="3" name="Slide Number Placeholder 2">
            <a:extLst>
              <a:ext uri="{FF2B5EF4-FFF2-40B4-BE49-F238E27FC236}">
                <a16:creationId xmlns:a16="http://schemas.microsoft.com/office/drawing/2014/main" id="{A8236449-6F69-D0C0-C149-56F666FB43AB}"/>
              </a:ext>
            </a:extLst>
          </p:cNvPr>
          <p:cNvSpPr>
            <a:spLocks noGrp="1"/>
          </p:cNvSpPr>
          <p:nvPr>
            <p:ph type="sldNum" sz="quarter" idx="10"/>
          </p:nvPr>
        </p:nvSpPr>
        <p:spPr/>
        <p:txBody>
          <a:bodyPr/>
          <a:lstStyle/>
          <a:p>
            <a:r>
              <a:rPr lang="en-US" altLang="en-US"/>
              <a:t>Slide 3- </a:t>
            </a:r>
            <a:fld id="{6D11F7FA-F962-4577-ADCF-9A3DA7313C6D}" type="slidenum">
              <a:rPr lang="en-US" altLang="en-US" smtClean="0"/>
              <a:pPr/>
              <a:t>159</a:t>
            </a:fld>
            <a:endParaRPr lang="en-CA" altLang="en-US"/>
          </a:p>
        </p:txBody>
      </p:sp>
      <p:sp>
        <p:nvSpPr>
          <p:cNvPr id="4" name="Title 3">
            <a:extLst>
              <a:ext uri="{FF2B5EF4-FFF2-40B4-BE49-F238E27FC236}">
                <a16:creationId xmlns:a16="http://schemas.microsoft.com/office/drawing/2014/main" id="{9E9CFCEA-81F3-E27D-F313-802160C19E4B}"/>
              </a:ext>
            </a:extLst>
          </p:cNvPr>
          <p:cNvSpPr>
            <a:spLocks noGrp="1"/>
          </p:cNvSpPr>
          <p:nvPr>
            <p:ph type="title"/>
          </p:nvPr>
        </p:nvSpPr>
        <p:spPr>
          <a:xfrm>
            <a:off x="228600" y="303213"/>
            <a:ext cx="8763000" cy="992187"/>
          </a:xfrm>
        </p:spPr>
        <p:txBody>
          <a:bodyPr/>
          <a:lstStyle/>
          <a:p>
            <a:r>
              <a:rPr lang="en-US" dirty="0"/>
              <a:t>Modify so that procedure updates only department number passed as argument</a:t>
            </a:r>
          </a:p>
        </p:txBody>
      </p:sp>
      <p:pic>
        <p:nvPicPr>
          <p:cNvPr id="6" name="Picture 5">
            <a:extLst>
              <a:ext uri="{FF2B5EF4-FFF2-40B4-BE49-F238E27FC236}">
                <a16:creationId xmlns:a16="http://schemas.microsoft.com/office/drawing/2014/main" id="{C3B77E0B-287C-7259-55CA-1C58871CDD0A}"/>
              </a:ext>
            </a:extLst>
          </p:cNvPr>
          <p:cNvPicPr>
            <a:picLocks noChangeAspect="1"/>
          </p:cNvPicPr>
          <p:nvPr/>
        </p:nvPicPr>
        <p:blipFill>
          <a:blip r:embed="rId2"/>
          <a:stretch>
            <a:fillRect/>
          </a:stretch>
        </p:blipFill>
        <p:spPr>
          <a:xfrm>
            <a:off x="609600" y="1617784"/>
            <a:ext cx="3775182" cy="2039815"/>
          </a:xfrm>
          <a:prstGeom prst="rect">
            <a:avLst/>
          </a:prstGeom>
        </p:spPr>
      </p:pic>
      <p:pic>
        <p:nvPicPr>
          <p:cNvPr id="8" name="Picture 7">
            <a:extLst>
              <a:ext uri="{FF2B5EF4-FFF2-40B4-BE49-F238E27FC236}">
                <a16:creationId xmlns:a16="http://schemas.microsoft.com/office/drawing/2014/main" id="{C6517CF7-FA52-6362-8A82-C76A9DAC90A1}"/>
              </a:ext>
            </a:extLst>
          </p:cNvPr>
          <p:cNvPicPr>
            <a:picLocks noChangeAspect="1"/>
          </p:cNvPicPr>
          <p:nvPr/>
        </p:nvPicPr>
        <p:blipFill>
          <a:blip r:embed="rId3"/>
          <a:stretch>
            <a:fillRect/>
          </a:stretch>
        </p:blipFill>
        <p:spPr>
          <a:xfrm>
            <a:off x="4953000" y="1676400"/>
            <a:ext cx="3175000" cy="1930742"/>
          </a:xfrm>
          <a:prstGeom prst="rect">
            <a:avLst/>
          </a:prstGeom>
        </p:spPr>
      </p:pic>
    </p:spTree>
    <p:extLst>
      <p:ext uri="{BB962C8B-B14F-4D97-AF65-F5344CB8AC3E}">
        <p14:creationId xmlns:p14="http://schemas.microsoft.com/office/powerpoint/2010/main" val="218183451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5AAF5-642F-A7DC-E6B9-98336E849E8E}"/>
              </a:ext>
            </a:extLst>
          </p:cNvPr>
          <p:cNvSpPr>
            <a:spLocks noGrp="1"/>
          </p:cNvSpPr>
          <p:nvPr>
            <p:ph type="title"/>
          </p:nvPr>
        </p:nvSpPr>
        <p:spPr>
          <a:xfrm>
            <a:off x="0" y="303213"/>
            <a:ext cx="9144000" cy="687387"/>
          </a:xfrm>
        </p:spPr>
        <p:txBody>
          <a:bodyPr/>
          <a:lstStyle/>
          <a:p>
            <a:r>
              <a:rPr lang="en-US" dirty="0"/>
              <a:t>Example: </a:t>
            </a:r>
            <a:br>
              <a:rPr lang="en-US" dirty="0"/>
            </a:br>
            <a:r>
              <a:rPr lang="en-US" sz="2800" dirty="0"/>
              <a:t>write a function that returns increased salary by amount</a:t>
            </a:r>
            <a:endParaRPr lang="en-US" sz="2400" dirty="0"/>
          </a:p>
        </p:txBody>
      </p:sp>
      <p:sp>
        <p:nvSpPr>
          <p:cNvPr id="3" name="Slide Number Placeholder 2">
            <a:extLst>
              <a:ext uri="{FF2B5EF4-FFF2-40B4-BE49-F238E27FC236}">
                <a16:creationId xmlns:a16="http://schemas.microsoft.com/office/drawing/2014/main" id="{F3D0B478-370C-E9E3-7F06-046CA303E5F7}"/>
              </a:ext>
            </a:extLst>
          </p:cNvPr>
          <p:cNvSpPr>
            <a:spLocks noGrp="1"/>
          </p:cNvSpPr>
          <p:nvPr>
            <p:ph type="sldNum" sz="quarter" idx="10"/>
          </p:nvPr>
        </p:nvSpPr>
        <p:spPr/>
        <p:txBody>
          <a:bodyPr/>
          <a:lstStyle/>
          <a:p>
            <a:r>
              <a:rPr lang="en-US" altLang="en-US"/>
              <a:t>Slide 3- </a:t>
            </a:r>
            <a:fld id="{9228F43B-1751-4133-BFDC-FCBB34AB8CDD}" type="slidenum">
              <a:rPr lang="en-US" altLang="en-US" smtClean="0"/>
              <a:pPr/>
              <a:t>160</a:t>
            </a:fld>
            <a:endParaRPr lang="en-CA" altLang="en-US"/>
          </a:p>
        </p:txBody>
      </p:sp>
      <p:pic>
        <p:nvPicPr>
          <p:cNvPr id="6" name="Picture 5">
            <a:extLst>
              <a:ext uri="{FF2B5EF4-FFF2-40B4-BE49-F238E27FC236}">
                <a16:creationId xmlns:a16="http://schemas.microsoft.com/office/drawing/2014/main" id="{14F4AD99-BA1A-09C4-ADA5-309181213189}"/>
              </a:ext>
            </a:extLst>
          </p:cNvPr>
          <p:cNvPicPr>
            <a:picLocks noChangeAspect="1"/>
          </p:cNvPicPr>
          <p:nvPr/>
        </p:nvPicPr>
        <p:blipFill>
          <a:blip r:embed="rId2"/>
          <a:stretch>
            <a:fillRect/>
          </a:stretch>
        </p:blipFill>
        <p:spPr>
          <a:xfrm>
            <a:off x="914399" y="1018674"/>
            <a:ext cx="7125335" cy="3096126"/>
          </a:xfrm>
          <a:prstGeom prst="rect">
            <a:avLst/>
          </a:prstGeom>
        </p:spPr>
      </p:pic>
      <p:sp>
        <p:nvSpPr>
          <p:cNvPr id="11" name="TextBox 10">
            <a:extLst>
              <a:ext uri="{FF2B5EF4-FFF2-40B4-BE49-F238E27FC236}">
                <a16:creationId xmlns:a16="http://schemas.microsoft.com/office/drawing/2014/main" id="{223AD10C-4442-4024-AD69-440D62AEC7B8}"/>
              </a:ext>
            </a:extLst>
          </p:cNvPr>
          <p:cNvSpPr txBox="1"/>
          <p:nvPr/>
        </p:nvSpPr>
        <p:spPr>
          <a:xfrm>
            <a:off x="0" y="4114800"/>
            <a:ext cx="8839200" cy="2622727"/>
          </a:xfrm>
          <a:prstGeom prst="rect">
            <a:avLst/>
          </a:prstGeom>
          <a:noFill/>
        </p:spPr>
        <p:txBody>
          <a:bodyPr wrap="square">
            <a:normAutofit/>
          </a:bodyPr>
          <a:lstStyle/>
          <a:p>
            <a:r>
              <a:rPr lang="en-US" sz="1800" dirty="0"/>
              <a:t>DELIMITER $$</a:t>
            </a:r>
          </a:p>
          <a:p>
            <a:r>
              <a:rPr lang="en-US" sz="1800" dirty="0"/>
              <a:t>CREATE FUNCTION </a:t>
            </a:r>
            <a:r>
              <a:rPr lang="en-US" sz="1800" dirty="0" err="1"/>
              <a:t>giveRaise</a:t>
            </a:r>
            <a:r>
              <a:rPr lang="en-US" sz="1800" dirty="0"/>
              <a:t>(</a:t>
            </a:r>
            <a:r>
              <a:rPr lang="en-US" sz="1800" dirty="0" err="1"/>
              <a:t>current_salary</a:t>
            </a:r>
            <a:r>
              <a:rPr lang="en-US" sz="1800" dirty="0"/>
              <a:t> DECIMAL(10,2), </a:t>
            </a:r>
          </a:p>
          <a:p>
            <a:r>
              <a:rPr lang="en-US" sz="1800" dirty="0"/>
              <a:t>                                   </a:t>
            </a:r>
            <a:r>
              <a:rPr lang="en-US" sz="1800" dirty="0" err="1"/>
              <a:t>raise_percent</a:t>
            </a:r>
            <a:r>
              <a:rPr lang="en-US" sz="1800" dirty="0"/>
              <a:t> DECIMAL(5,2) )</a:t>
            </a:r>
          </a:p>
          <a:p>
            <a:r>
              <a:rPr lang="en-US" sz="1800" dirty="0"/>
              <a:t>RETURNS DECIMAL(12,2)</a:t>
            </a:r>
          </a:p>
          <a:p>
            <a:r>
              <a:rPr lang="en-US" sz="1800" dirty="0"/>
              <a:t>DETERMINISTIC</a:t>
            </a:r>
          </a:p>
          <a:p>
            <a:r>
              <a:rPr lang="en-US" sz="1800" dirty="0"/>
              <a:t>BEGIN</a:t>
            </a:r>
          </a:p>
          <a:p>
            <a:r>
              <a:rPr lang="en-US" sz="1800" dirty="0"/>
              <a:t>    RETURN </a:t>
            </a:r>
            <a:r>
              <a:rPr lang="en-US" sz="1800" dirty="0" err="1"/>
              <a:t>current_salary</a:t>
            </a:r>
            <a:r>
              <a:rPr lang="en-US" sz="1800" dirty="0"/>
              <a:t> * (1 + </a:t>
            </a:r>
            <a:r>
              <a:rPr lang="en-US" sz="1800" dirty="0" err="1"/>
              <a:t>raise_percent</a:t>
            </a:r>
            <a:r>
              <a:rPr lang="en-US" sz="1800" dirty="0"/>
              <a:t>);</a:t>
            </a:r>
          </a:p>
          <a:p>
            <a:r>
              <a:rPr lang="en-US" sz="1800" dirty="0"/>
              <a:t>END$$</a:t>
            </a:r>
          </a:p>
          <a:p>
            <a:r>
              <a:rPr lang="en-US" sz="1800" dirty="0"/>
              <a:t>DELIMITER ;</a:t>
            </a:r>
          </a:p>
        </p:txBody>
      </p:sp>
    </p:spTree>
    <p:extLst>
      <p:ext uri="{BB962C8B-B14F-4D97-AF65-F5344CB8AC3E}">
        <p14:creationId xmlns:p14="http://schemas.microsoft.com/office/powerpoint/2010/main" val="3839717120"/>
      </p:ext>
    </p:extLst>
  </p:cSld>
  <p:clrMapOvr>
    <a:masterClrMapping/>
  </p:clrMapOvr>
  <p:transition spd="med"/>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F67196B-7310-C87B-FF50-D4B8818F8B2B}"/>
              </a:ext>
            </a:extLst>
          </p:cNvPr>
          <p:cNvSpPr>
            <a:spLocks noGrp="1"/>
          </p:cNvSpPr>
          <p:nvPr>
            <p:ph type="title"/>
          </p:nvPr>
        </p:nvSpPr>
        <p:spPr/>
        <p:txBody>
          <a:bodyPr/>
          <a:lstStyle/>
          <a:p>
            <a:r>
              <a:rPr lang="en-US" dirty="0"/>
              <a:t>Show and Drop </a:t>
            </a:r>
          </a:p>
        </p:txBody>
      </p:sp>
      <p:sp>
        <p:nvSpPr>
          <p:cNvPr id="3" name="Slide Number Placeholder 2">
            <a:extLst>
              <a:ext uri="{FF2B5EF4-FFF2-40B4-BE49-F238E27FC236}">
                <a16:creationId xmlns:a16="http://schemas.microsoft.com/office/drawing/2014/main" id="{C975A595-5E0C-85C6-2BB0-A8EFDA1D3E69}"/>
              </a:ext>
            </a:extLst>
          </p:cNvPr>
          <p:cNvSpPr>
            <a:spLocks noGrp="1"/>
          </p:cNvSpPr>
          <p:nvPr>
            <p:ph type="sldNum" sz="quarter" idx="10"/>
          </p:nvPr>
        </p:nvSpPr>
        <p:spPr/>
        <p:txBody>
          <a:bodyPr/>
          <a:lstStyle/>
          <a:p>
            <a:r>
              <a:rPr lang="en-US" altLang="en-US"/>
              <a:t>Slide 3- </a:t>
            </a:r>
            <a:fld id="{6D11F7FA-F962-4577-ADCF-9A3DA7313C6D}" type="slidenum">
              <a:rPr lang="en-US" altLang="en-US" smtClean="0"/>
              <a:pPr/>
              <a:t>161</a:t>
            </a:fld>
            <a:endParaRPr lang="en-CA" altLang="en-US"/>
          </a:p>
        </p:txBody>
      </p:sp>
      <p:pic>
        <p:nvPicPr>
          <p:cNvPr id="7" name="Picture 6">
            <a:extLst>
              <a:ext uri="{FF2B5EF4-FFF2-40B4-BE49-F238E27FC236}">
                <a16:creationId xmlns:a16="http://schemas.microsoft.com/office/drawing/2014/main" id="{78310A48-92F3-6B11-BFDC-B04916751532}"/>
              </a:ext>
            </a:extLst>
          </p:cNvPr>
          <p:cNvPicPr>
            <a:picLocks noChangeAspect="1"/>
          </p:cNvPicPr>
          <p:nvPr/>
        </p:nvPicPr>
        <p:blipFill>
          <a:blip r:embed="rId2"/>
          <a:stretch>
            <a:fillRect/>
          </a:stretch>
        </p:blipFill>
        <p:spPr>
          <a:xfrm>
            <a:off x="4011" y="1676400"/>
            <a:ext cx="8645433" cy="2895600"/>
          </a:xfrm>
          <a:prstGeom prst="rect">
            <a:avLst/>
          </a:prstGeom>
        </p:spPr>
      </p:pic>
      <p:pic>
        <p:nvPicPr>
          <p:cNvPr id="9" name="Picture 8">
            <a:extLst>
              <a:ext uri="{FF2B5EF4-FFF2-40B4-BE49-F238E27FC236}">
                <a16:creationId xmlns:a16="http://schemas.microsoft.com/office/drawing/2014/main" id="{D2F52B79-7E5E-CA93-3EEB-C49F0AA3DAAE}"/>
              </a:ext>
            </a:extLst>
          </p:cNvPr>
          <p:cNvPicPr>
            <a:picLocks noChangeAspect="1"/>
          </p:cNvPicPr>
          <p:nvPr/>
        </p:nvPicPr>
        <p:blipFill>
          <a:blip r:embed="rId3"/>
          <a:stretch>
            <a:fillRect/>
          </a:stretch>
        </p:blipFill>
        <p:spPr>
          <a:xfrm>
            <a:off x="228600" y="4572000"/>
            <a:ext cx="8420844" cy="1956474"/>
          </a:xfrm>
          <a:prstGeom prst="rect">
            <a:avLst/>
          </a:prstGeom>
        </p:spPr>
      </p:pic>
    </p:spTree>
    <p:extLst>
      <p:ext uri="{BB962C8B-B14F-4D97-AF65-F5344CB8AC3E}">
        <p14:creationId xmlns:p14="http://schemas.microsoft.com/office/powerpoint/2010/main" val="4093802240"/>
      </p:ext>
    </p:extLst>
  </p:cSld>
  <p:clrMapOvr>
    <a:masterClrMapping/>
  </p:clrMapOvr>
  <p:transition spd="med"/>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2E4EB2B-73AB-A7DF-E16A-291AB26033DB}"/>
              </a:ext>
            </a:extLst>
          </p:cNvPr>
          <p:cNvSpPr>
            <a:spLocks noGrp="1"/>
          </p:cNvSpPr>
          <p:nvPr>
            <p:ph idx="1"/>
          </p:nvPr>
        </p:nvSpPr>
        <p:spPr/>
        <p:txBody>
          <a:bodyPr/>
          <a:lstStyle/>
          <a:p>
            <a:r>
              <a:rPr lang="en-US" dirty="0"/>
              <a:t>Condition: like an exception</a:t>
            </a:r>
          </a:p>
          <a:p>
            <a:pPr lvl="1"/>
            <a:r>
              <a:rPr lang="en-US" dirty="0"/>
              <a:t>You can declare your own conditions</a:t>
            </a:r>
          </a:p>
          <a:p>
            <a:pPr lvl="1"/>
            <a:r>
              <a:rPr lang="en-US" dirty="0"/>
              <a:t>Beyond the scope of the course</a:t>
            </a:r>
          </a:p>
          <a:p>
            <a:r>
              <a:rPr lang="en-US" dirty="0"/>
              <a:t>Handler: like the catch block </a:t>
            </a:r>
            <a:r>
              <a:rPr lang="en-US" dirty="0" err="1"/>
              <a:t>ina</a:t>
            </a:r>
            <a:r>
              <a:rPr lang="en-US" dirty="0"/>
              <a:t> try/catch construct</a:t>
            </a:r>
          </a:p>
          <a:p>
            <a:pPr lvl="1"/>
            <a:r>
              <a:rPr lang="en-US" dirty="0"/>
              <a:t>MySQL’s own handlers are enough </a:t>
            </a:r>
            <a:r>
              <a:rPr lang="en-US" dirty="0" err="1"/>
              <a:t>fo</a:t>
            </a:r>
            <a:r>
              <a:rPr lang="en-US" dirty="0"/>
              <a:t> the purposes of this course.</a:t>
            </a:r>
          </a:p>
        </p:txBody>
      </p:sp>
      <p:sp>
        <p:nvSpPr>
          <p:cNvPr id="3" name="Slide Number Placeholder 2">
            <a:extLst>
              <a:ext uri="{FF2B5EF4-FFF2-40B4-BE49-F238E27FC236}">
                <a16:creationId xmlns:a16="http://schemas.microsoft.com/office/drawing/2014/main" id="{E14575B3-9F6F-6C21-6422-44AE91A60A08}"/>
              </a:ext>
            </a:extLst>
          </p:cNvPr>
          <p:cNvSpPr>
            <a:spLocks noGrp="1"/>
          </p:cNvSpPr>
          <p:nvPr>
            <p:ph type="sldNum" sz="quarter" idx="10"/>
          </p:nvPr>
        </p:nvSpPr>
        <p:spPr/>
        <p:txBody>
          <a:bodyPr/>
          <a:lstStyle/>
          <a:p>
            <a:r>
              <a:rPr lang="en-US" altLang="en-US"/>
              <a:t>Slide 3- </a:t>
            </a:r>
            <a:fld id="{9228F43B-1751-4133-BFDC-FCBB34AB8CDD}" type="slidenum">
              <a:rPr lang="en-US" altLang="en-US" smtClean="0"/>
              <a:pPr/>
              <a:t>162</a:t>
            </a:fld>
            <a:endParaRPr lang="en-CA" altLang="en-US"/>
          </a:p>
        </p:txBody>
      </p:sp>
      <p:sp>
        <p:nvSpPr>
          <p:cNvPr id="2" name="Title 1">
            <a:extLst>
              <a:ext uri="{FF2B5EF4-FFF2-40B4-BE49-F238E27FC236}">
                <a16:creationId xmlns:a16="http://schemas.microsoft.com/office/drawing/2014/main" id="{9F7823B3-91EE-60E3-A5C1-76ECF224DD5F}"/>
              </a:ext>
            </a:extLst>
          </p:cNvPr>
          <p:cNvSpPr>
            <a:spLocks noGrp="1"/>
          </p:cNvSpPr>
          <p:nvPr>
            <p:ph type="title"/>
          </p:nvPr>
        </p:nvSpPr>
        <p:spPr/>
        <p:txBody>
          <a:bodyPr/>
          <a:lstStyle/>
          <a:p>
            <a:r>
              <a:rPr lang="en-US" dirty="0"/>
              <a:t>Conditions and Handlers</a:t>
            </a:r>
          </a:p>
        </p:txBody>
      </p:sp>
    </p:spTree>
    <p:extLst>
      <p:ext uri="{BB962C8B-B14F-4D97-AF65-F5344CB8AC3E}">
        <p14:creationId xmlns:p14="http://schemas.microsoft.com/office/powerpoint/2010/main" val="2805409210"/>
      </p:ext>
    </p:extLst>
  </p:cSld>
  <p:clrMapOvr>
    <a:masterClrMapping/>
  </p:clrMapOvr>
  <p:transition spd="med"/>
</p:sld>
</file>

<file path=ppt/slides/slide1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5437EA24-A334-5A33-A59F-3A94868B00D2}"/>
              </a:ext>
            </a:extLst>
          </p:cNvPr>
          <p:cNvSpPr>
            <a:spLocks noGrp="1"/>
          </p:cNvSpPr>
          <p:nvPr>
            <p:ph type="title"/>
          </p:nvPr>
        </p:nvSpPr>
        <p:spPr/>
        <p:txBody>
          <a:bodyPr/>
          <a:lstStyle/>
          <a:p>
            <a:r>
              <a:rPr lang="en-US" altLang="en-US"/>
              <a:t>Comparing the Three Approaches</a:t>
            </a:r>
          </a:p>
        </p:txBody>
      </p:sp>
      <p:sp>
        <p:nvSpPr>
          <p:cNvPr id="60419" name="Content Placeholder 2">
            <a:extLst>
              <a:ext uri="{FF2B5EF4-FFF2-40B4-BE49-F238E27FC236}">
                <a16:creationId xmlns:a16="http://schemas.microsoft.com/office/drawing/2014/main" id="{3002AE3B-1B72-36FC-4333-49A748C86840}"/>
              </a:ext>
            </a:extLst>
          </p:cNvPr>
          <p:cNvSpPr>
            <a:spLocks noGrp="1"/>
          </p:cNvSpPr>
          <p:nvPr>
            <p:ph idx="1"/>
          </p:nvPr>
        </p:nvSpPr>
        <p:spPr/>
        <p:txBody>
          <a:bodyPr/>
          <a:lstStyle/>
          <a:p>
            <a:r>
              <a:rPr lang="en-US" altLang="en-US"/>
              <a:t>Embedded SQL Approach	</a:t>
            </a:r>
          </a:p>
          <a:p>
            <a:pPr lvl="1"/>
            <a:r>
              <a:rPr lang="en-US" altLang="en-US"/>
              <a:t>Query text checked for syntax errors and validated against database schema at compile time</a:t>
            </a:r>
          </a:p>
          <a:p>
            <a:pPr lvl="1"/>
            <a:r>
              <a:rPr lang="en-US" altLang="en-US"/>
              <a:t>For complex applications where queries have to be generated at runtime</a:t>
            </a:r>
          </a:p>
          <a:p>
            <a:pPr lvl="2"/>
            <a:r>
              <a:rPr lang="en-US" altLang="en-US"/>
              <a:t>Function call approach more suitable</a:t>
            </a:r>
          </a:p>
        </p:txBody>
      </p:sp>
      <p:sp>
        <p:nvSpPr>
          <p:cNvPr id="60420" name="Slide Number Placeholder 3">
            <a:extLst>
              <a:ext uri="{FF2B5EF4-FFF2-40B4-BE49-F238E27FC236}">
                <a16:creationId xmlns:a16="http://schemas.microsoft.com/office/drawing/2014/main" id="{E0423C68-42B6-EF09-D323-432AB445A2C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10- 44</a:t>
            </a:r>
            <a:endParaRPr lang="en-CA" altLang="en-US" sz="1400">
              <a:solidFill>
                <a:srgbClr val="990033"/>
              </a:solidFill>
            </a:endParaRPr>
          </a:p>
        </p:txBody>
      </p:sp>
    </p:spTree>
  </p:cSld>
  <p:clrMapOvr>
    <a:masterClrMapping/>
  </p:clrMapOvr>
  <p:transition spd="med"/>
</p:sld>
</file>

<file path=ppt/slides/slide1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42" name="Title 4">
            <a:extLst>
              <a:ext uri="{FF2B5EF4-FFF2-40B4-BE49-F238E27FC236}">
                <a16:creationId xmlns:a16="http://schemas.microsoft.com/office/drawing/2014/main" id="{72C5ABBB-7FC2-7356-A8CF-6F98EABC501A}"/>
              </a:ext>
            </a:extLst>
          </p:cNvPr>
          <p:cNvSpPr>
            <a:spLocks noGrp="1"/>
          </p:cNvSpPr>
          <p:nvPr>
            <p:ph type="title"/>
          </p:nvPr>
        </p:nvSpPr>
        <p:spPr/>
        <p:txBody>
          <a:bodyPr/>
          <a:lstStyle/>
          <a:p>
            <a:r>
              <a:rPr lang="en-US" altLang="en-US"/>
              <a:t>Comparing the Three Approaches (cont’d.)</a:t>
            </a:r>
          </a:p>
        </p:txBody>
      </p:sp>
      <p:sp>
        <p:nvSpPr>
          <p:cNvPr id="61443" name="Content Placeholder 2">
            <a:extLst>
              <a:ext uri="{FF2B5EF4-FFF2-40B4-BE49-F238E27FC236}">
                <a16:creationId xmlns:a16="http://schemas.microsoft.com/office/drawing/2014/main" id="{21E569E3-55F2-EE3C-C878-DB3E58A79B4B}"/>
              </a:ext>
            </a:extLst>
          </p:cNvPr>
          <p:cNvSpPr>
            <a:spLocks noGrp="1"/>
          </p:cNvSpPr>
          <p:nvPr>
            <p:ph idx="1"/>
          </p:nvPr>
        </p:nvSpPr>
        <p:spPr/>
        <p:txBody>
          <a:bodyPr/>
          <a:lstStyle/>
          <a:p>
            <a:r>
              <a:rPr lang="en-US" altLang="en-US"/>
              <a:t>Library of Function Calls Approach</a:t>
            </a:r>
          </a:p>
          <a:p>
            <a:pPr lvl="1"/>
            <a:r>
              <a:rPr lang="en-US" altLang="en-US"/>
              <a:t>More flexibility</a:t>
            </a:r>
          </a:p>
          <a:p>
            <a:pPr lvl="1"/>
            <a:r>
              <a:rPr lang="en-US" altLang="en-US"/>
              <a:t>More complex programming</a:t>
            </a:r>
          </a:p>
          <a:p>
            <a:pPr lvl="1"/>
            <a:r>
              <a:rPr lang="en-US" altLang="en-US"/>
              <a:t>No checking of syntax done at compile time</a:t>
            </a:r>
          </a:p>
          <a:p>
            <a:r>
              <a:rPr lang="en-US" altLang="en-US"/>
              <a:t>Database Programming Language Approach</a:t>
            </a:r>
          </a:p>
          <a:p>
            <a:pPr lvl="1"/>
            <a:r>
              <a:rPr lang="en-US" altLang="en-US"/>
              <a:t>Does not suffer from the impedance mismatch problem</a:t>
            </a:r>
          </a:p>
          <a:p>
            <a:pPr lvl="1"/>
            <a:r>
              <a:rPr lang="en-US" altLang="en-US"/>
              <a:t>Programmers must learn a new language</a:t>
            </a:r>
          </a:p>
          <a:p>
            <a:pPr lvl="1"/>
            <a:endParaRPr lang="en-US" altLang="en-US"/>
          </a:p>
        </p:txBody>
      </p:sp>
      <p:sp>
        <p:nvSpPr>
          <p:cNvPr id="61444" name="Slide Number Placeholder 3">
            <a:extLst>
              <a:ext uri="{FF2B5EF4-FFF2-40B4-BE49-F238E27FC236}">
                <a16:creationId xmlns:a16="http://schemas.microsoft.com/office/drawing/2014/main" id="{14360703-2BBC-6978-0C6E-1A12EE51803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10- 45</a:t>
            </a:r>
            <a:endParaRPr lang="en-CA" altLang="en-US" sz="1400">
              <a:solidFill>
                <a:srgbClr val="990033"/>
              </a:solidFill>
            </a:endParaRPr>
          </a:p>
        </p:txBody>
      </p:sp>
    </p:spTree>
  </p:cSld>
  <p:clrMapOvr>
    <a:masterClrMapping/>
  </p:clrMapOvr>
  <p:transition spd="med"/>
</p:sld>
</file>

<file path=ppt/slides/slide1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F4D0DEA9-34A8-7FC5-4460-03B6C6D2CD9A}"/>
              </a:ext>
            </a:extLst>
          </p:cNvPr>
          <p:cNvSpPr>
            <a:spLocks noGrp="1"/>
          </p:cNvSpPr>
          <p:nvPr>
            <p:ph type="title"/>
          </p:nvPr>
        </p:nvSpPr>
        <p:spPr/>
        <p:txBody>
          <a:bodyPr/>
          <a:lstStyle/>
          <a:p>
            <a:r>
              <a:rPr lang="en-US" altLang="en-US"/>
              <a:t>Summary</a:t>
            </a:r>
          </a:p>
        </p:txBody>
      </p:sp>
      <p:sp>
        <p:nvSpPr>
          <p:cNvPr id="62467" name="Content Placeholder 2">
            <a:extLst>
              <a:ext uri="{FF2B5EF4-FFF2-40B4-BE49-F238E27FC236}">
                <a16:creationId xmlns:a16="http://schemas.microsoft.com/office/drawing/2014/main" id="{18EA42B5-9C69-5BFC-FBD2-D86AE7604503}"/>
              </a:ext>
            </a:extLst>
          </p:cNvPr>
          <p:cNvSpPr>
            <a:spLocks noGrp="1"/>
          </p:cNvSpPr>
          <p:nvPr>
            <p:ph idx="1"/>
          </p:nvPr>
        </p:nvSpPr>
        <p:spPr/>
        <p:txBody>
          <a:bodyPr/>
          <a:lstStyle/>
          <a:p>
            <a:r>
              <a:rPr lang="en-US" altLang="en-US"/>
              <a:t>Techniques for database programming</a:t>
            </a:r>
          </a:p>
          <a:p>
            <a:pPr lvl="1"/>
            <a:r>
              <a:rPr lang="en-US" altLang="en-US"/>
              <a:t>Embedded SQL</a:t>
            </a:r>
          </a:p>
          <a:p>
            <a:pPr lvl="1"/>
            <a:r>
              <a:rPr lang="en-US" altLang="en-US"/>
              <a:t>SQLJ </a:t>
            </a:r>
          </a:p>
          <a:p>
            <a:pPr lvl="1"/>
            <a:r>
              <a:rPr lang="en-US" altLang="en-US"/>
              <a:t>Function call libraries </a:t>
            </a:r>
          </a:p>
          <a:p>
            <a:pPr lvl="1"/>
            <a:r>
              <a:rPr lang="en-US" altLang="en-US"/>
              <a:t>SQL/CLI standard</a:t>
            </a:r>
          </a:p>
          <a:p>
            <a:pPr lvl="1"/>
            <a:r>
              <a:rPr lang="en-US" altLang="en-US"/>
              <a:t>JDBC class library</a:t>
            </a:r>
          </a:p>
          <a:p>
            <a:pPr lvl="1"/>
            <a:r>
              <a:rPr lang="en-US" altLang="en-US"/>
              <a:t>Stored procedures</a:t>
            </a:r>
          </a:p>
          <a:p>
            <a:pPr lvl="1"/>
            <a:r>
              <a:rPr lang="en-US" altLang="en-US"/>
              <a:t>SQL/PSM</a:t>
            </a:r>
          </a:p>
        </p:txBody>
      </p:sp>
      <p:sp>
        <p:nvSpPr>
          <p:cNvPr id="62468" name="Slide Number Placeholder 3">
            <a:extLst>
              <a:ext uri="{FF2B5EF4-FFF2-40B4-BE49-F238E27FC236}">
                <a16:creationId xmlns:a16="http://schemas.microsoft.com/office/drawing/2014/main" id="{2C02F70E-C593-8FB7-265F-5F1A1376C95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a:solidFill>
                  <a:srgbClr val="990033"/>
                </a:solidFill>
              </a:rPr>
              <a:t>Slide 10- 46</a:t>
            </a:r>
            <a:endParaRPr lang="en-CA" altLang="en-US" sz="1400">
              <a:solidFill>
                <a:srgbClr val="990033"/>
              </a:solidFill>
            </a:endParaRPr>
          </a:p>
        </p:txBody>
      </p:sp>
    </p:spTree>
  </p:cSld>
  <p:clrMapOvr>
    <a:masterClrMapping/>
  </p:clrMapOvr>
  <p:transition spd="med"/>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xfrm>
            <a:off x="11092815" y="6428920"/>
            <a:ext cx="2190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2700">
              <a:spcBef>
                <a:spcPts val="40"/>
              </a:spcBef>
            </a:pPr>
            <a:fld id="{81D60167-4931-47E6-BA6A-407CBD079E47}" type="slidenum">
              <a:rPr lang="en-US" spc="-25" smtClean="0"/>
              <a:pPr marL="12700">
                <a:spcBef>
                  <a:spcPts val="40"/>
                </a:spcBef>
              </a:pPr>
              <a:t>166</a:t>
            </a:fld>
            <a:endParaRPr spc="-19" dirty="0"/>
          </a:p>
        </p:txBody>
      </p:sp>
      <p:sp>
        <p:nvSpPr>
          <p:cNvPr id="2" name="object 2"/>
          <p:cNvSpPr txBox="1">
            <a:spLocks noGrp="1"/>
          </p:cNvSpPr>
          <p:nvPr>
            <p:ph type="title"/>
          </p:nvPr>
        </p:nvSpPr>
        <p:spPr>
          <a:xfrm>
            <a:off x="628651" y="2714826"/>
            <a:ext cx="8175308" cy="702115"/>
          </a:xfrm>
          <a:prstGeom prst="rect">
            <a:avLst/>
          </a:prstGeom>
        </p:spPr>
        <p:txBody>
          <a:bodyPr vert="horz" wrap="square" lIns="0" tIns="9525" rIns="0" bIns="0" numCol="1" rtlCol="0" anchor="b" anchorCtr="0" compatLnSpc="1">
            <a:prstTxWarp prst="textNoShape">
              <a:avLst/>
            </a:prstTxWarp>
            <a:spAutoFit/>
          </a:bodyPr>
          <a:lstStyle/>
          <a:p>
            <a:pPr marL="9525" algn="ctr">
              <a:spcBef>
                <a:spcPts val="75"/>
              </a:spcBef>
            </a:pPr>
            <a:r>
              <a:rPr lang="en-US" sz="4500" dirty="0"/>
              <a:t>Is it 6:05 yet?</a:t>
            </a:r>
            <a:endParaRPr sz="4500" dirty="0"/>
          </a:p>
        </p:txBody>
      </p:sp>
    </p:spTree>
    <p:extLst>
      <p:ext uri="{BB962C8B-B14F-4D97-AF65-F5344CB8AC3E}">
        <p14:creationId xmlns:p14="http://schemas.microsoft.com/office/powerpoint/2010/main" val="4229915814"/>
      </p:ext>
    </p:extLst>
  </p:cSld>
  <p:clrMapOvr>
    <a:masterClrMapping/>
  </p:clrMapOvr>
  <p:transition spd="med"/>
</p:sld>
</file>

<file path=ppt/slides/slide1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xfrm>
            <a:off x="0" y="857250"/>
            <a:ext cx="0" cy="6374822"/>
          </a:xfrm>
          <a:prstGeom prst="rect">
            <a:avLst/>
          </a:prstGeom>
        </p:spPr>
        <p:txBody>
          <a:bodyPr vert="horz" wrap="square" lIns="0" tIns="3810" rIns="0" bIns="0" rtlCol="0">
            <a:spAutoFit/>
          </a:bodyPr>
          <a:lstStyle/>
          <a:p>
            <a:pPr marL="9525">
              <a:spcBef>
                <a:spcPts val="30"/>
              </a:spcBef>
            </a:pPr>
            <a:r>
              <a:rPr spc="-8" dirty="0"/>
              <a:t>Copyright</a:t>
            </a:r>
            <a:r>
              <a:rPr spc="-11" dirty="0"/>
              <a:t> </a:t>
            </a:r>
            <a:r>
              <a:rPr dirty="0"/>
              <a:t>©</a:t>
            </a:r>
            <a:r>
              <a:rPr spc="-8" dirty="0"/>
              <a:t> </a:t>
            </a:r>
            <a:r>
              <a:rPr dirty="0"/>
              <a:t>2016</a:t>
            </a:r>
            <a:r>
              <a:rPr spc="-8" dirty="0"/>
              <a:t> </a:t>
            </a:r>
            <a:r>
              <a:rPr dirty="0"/>
              <a:t>Ramez</a:t>
            </a:r>
            <a:r>
              <a:rPr spc="-4" dirty="0"/>
              <a:t> </a:t>
            </a:r>
            <a:r>
              <a:rPr dirty="0"/>
              <a:t>Elmasri</a:t>
            </a:r>
            <a:r>
              <a:rPr spc="-11" dirty="0"/>
              <a:t> </a:t>
            </a:r>
            <a:r>
              <a:rPr dirty="0"/>
              <a:t>and</a:t>
            </a:r>
            <a:r>
              <a:rPr spc="-11" dirty="0"/>
              <a:t> </a:t>
            </a:r>
            <a:r>
              <a:rPr spc="-8" dirty="0"/>
              <a:t>Shamkant</a:t>
            </a:r>
            <a:r>
              <a:rPr spc="-11" dirty="0"/>
              <a:t> </a:t>
            </a:r>
            <a:r>
              <a:rPr dirty="0"/>
              <a:t>B.</a:t>
            </a:r>
            <a:r>
              <a:rPr spc="-8" dirty="0"/>
              <a:t> Navathe</a:t>
            </a:r>
          </a:p>
        </p:txBody>
      </p:sp>
      <p:sp>
        <p:nvSpPr>
          <p:cNvPr id="4" name="object 4"/>
          <p:cNvSpPr txBox="1">
            <a:spLocks noGrp="1"/>
          </p:cNvSpPr>
          <p:nvPr>
            <p:ph type="sldNum" sz="quarter" idx="7"/>
          </p:nvPr>
        </p:nvSpPr>
        <p:spPr>
          <a:xfrm>
            <a:off x="5200650" y="5858404"/>
            <a:ext cx="1428750" cy="142347"/>
          </a:xfrm>
          <a:prstGeom prst="rect">
            <a:avLst/>
          </a:prstGeom>
        </p:spPr>
        <p:txBody>
          <a:bodyPr vert="horz" wrap="square" lIns="0" tIns="3810" rIns="0" bIns="0" numCol="1" rtlCol="0" anchor="b" anchorCtr="0" compatLnSpc="1">
            <a:prstTxWarp prst="textNoShape">
              <a:avLst/>
            </a:prstTxWarp>
            <a:spAutoFit/>
          </a:bodyPr>
          <a:lstStyle/>
          <a:p>
            <a:pPr marL="28575">
              <a:spcBef>
                <a:spcPts val="30"/>
              </a:spcBef>
            </a:pPr>
            <a:fld id="{81D60167-4931-47E6-BA6A-407CBD079E47}" type="slidenum">
              <a:rPr spc="-19" dirty="0"/>
              <a:pPr marL="28575">
                <a:spcBef>
                  <a:spcPts val="30"/>
                </a:spcBef>
              </a:pPr>
              <a:t>167</a:t>
            </a:fld>
            <a:endParaRPr spc="-19" dirty="0"/>
          </a:p>
        </p:txBody>
      </p:sp>
      <p:sp>
        <p:nvSpPr>
          <p:cNvPr id="2" name="object 2"/>
          <p:cNvSpPr txBox="1"/>
          <p:nvPr/>
        </p:nvSpPr>
        <p:spPr>
          <a:xfrm>
            <a:off x="682942" y="3296030"/>
            <a:ext cx="1732121" cy="1288173"/>
          </a:xfrm>
          <a:prstGeom prst="rect">
            <a:avLst/>
          </a:prstGeom>
        </p:spPr>
        <p:txBody>
          <a:bodyPr vert="horz" wrap="square" lIns="0" tIns="226695" rIns="0" bIns="0" rtlCol="0">
            <a:spAutoFit/>
          </a:bodyPr>
          <a:lstStyle/>
          <a:p>
            <a:pPr marL="9525">
              <a:spcBef>
                <a:spcPts val="1785"/>
              </a:spcBef>
            </a:pPr>
            <a:r>
              <a:rPr sz="4500" spc="-26" dirty="0">
                <a:latin typeface="Calibri Light"/>
                <a:cs typeface="Calibri Light"/>
              </a:rPr>
              <a:t>Cursors</a:t>
            </a:r>
            <a:endParaRPr sz="4500">
              <a:latin typeface="Calibri Light"/>
              <a:cs typeface="Calibri Light"/>
            </a:endParaRPr>
          </a:p>
          <a:p>
            <a:pPr marL="9525">
              <a:spcBef>
                <a:spcPts val="683"/>
              </a:spcBef>
            </a:pPr>
            <a:r>
              <a:rPr sz="1800" dirty="0">
                <a:solidFill>
                  <a:srgbClr val="898989"/>
                </a:solidFill>
                <a:latin typeface="Calibri"/>
                <a:cs typeface="Calibri"/>
              </a:rPr>
              <a:t>Optional</a:t>
            </a:r>
            <a:r>
              <a:rPr sz="1800" spc="-45" dirty="0">
                <a:solidFill>
                  <a:srgbClr val="898989"/>
                </a:solidFill>
                <a:latin typeface="Calibri"/>
                <a:cs typeface="Calibri"/>
              </a:rPr>
              <a:t> </a:t>
            </a:r>
            <a:r>
              <a:rPr sz="1800" spc="-8" dirty="0">
                <a:solidFill>
                  <a:srgbClr val="898989"/>
                </a:solidFill>
                <a:latin typeface="Calibri"/>
                <a:cs typeface="Calibri"/>
              </a:rPr>
              <a:t>reading</a:t>
            </a:r>
            <a:endParaRPr sz="1800">
              <a:latin typeface="Calibri"/>
              <a:cs typeface="Calibri"/>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object 6"/>
          <p:cNvSpPr txBox="1">
            <a:spLocks noGrp="1"/>
          </p:cNvSpPr>
          <p:nvPr>
            <p:ph type="ftr" sz="quarter" idx="5"/>
          </p:nvPr>
        </p:nvSpPr>
        <p:spPr>
          <a:xfrm>
            <a:off x="4254246" y="6428920"/>
            <a:ext cx="3683634"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9525">
              <a:spcBef>
                <a:spcPts val="30"/>
              </a:spcBef>
            </a:pPr>
            <a:r>
              <a:rPr lang="en-US" spc="-10"/>
              <a:t>Copyright</a:t>
            </a:r>
            <a:r>
              <a:rPr lang="en-US" spc="-15"/>
              <a:t> </a:t>
            </a:r>
            <a:r>
              <a:rPr lang="en-US"/>
              <a:t>©</a:t>
            </a:r>
            <a:r>
              <a:rPr lang="en-US" spc="-10"/>
              <a:t> </a:t>
            </a:r>
            <a:r>
              <a:rPr lang="en-US"/>
              <a:t>2016</a:t>
            </a:r>
            <a:r>
              <a:rPr lang="en-US" spc="-10"/>
              <a:t> </a:t>
            </a:r>
            <a:r>
              <a:rPr lang="en-US"/>
              <a:t>Ramez</a:t>
            </a:r>
            <a:r>
              <a:rPr lang="en-US" spc="-5"/>
              <a:t> </a:t>
            </a:r>
            <a:r>
              <a:rPr lang="en-US"/>
              <a:t>Elmasri</a:t>
            </a:r>
            <a:r>
              <a:rPr lang="en-US" spc="-15"/>
              <a:t> </a:t>
            </a:r>
            <a:r>
              <a:rPr lang="en-US"/>
              <a:t>and</a:t>
            </a:r>
            <a:r>
              <a:rPr lang="en-US" spc="-15"/>
              <a:t> </a:t>
            </a:r>
            <a:r>
              <a:rPr lang="en-US" spc="-10"/>
              <a:t>Shamkant</a:t>
            </a:r>
            <a:r>
              <a:rPr lang="en-US" spc="-15"/>
              <a:t> </a:t>
            </a:r>
            <a:r>
              <a:rPr lang="en-US"/>
              <a:t>B.</a:t>
            </a:r>
            <a:r>
              <a:rPr lang="en-US" spc="-10"/>
              <a:t> Navathe</a:t>
            </a:r>
            <a:endParaRPr spc="-8" dirty="0"/>
          </a:p>
        </p:txBody>
      </p:sp>
      <p:sp>
        <p:nvSpPr>
          <p:cNvPr id="7" name="object 7"/>
          <p:cNvSpPr txBox="1">
            <a:spLocks noGrp="1"/>
          </p:cNvSpPr>
          <p:nvPr>
            <p:ph type="sldNum" sz="quarter" idx="7"/>
          </p:nvPr>
        </p:nvSpPr>
        <p:spPr>
          <a:xfrm>
            <a:off x="11067415" y="6428920"/>
            <a:ext cx="2444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15570">
              <a:spcBef>
                <a:spcPts val="40"/>
              </a:spcBef>
            </a:pPr>
            <a:fld id="{81D60167-4931-47E6-BA6A-407CBD079E47}" type="slidenum">
              <a:rPr lang="en-US" spc="-50" smtClean="0"/>
              <a:pPr marL="115570">
                <a:spcBef>
                  <a:spcPts val="40"/>
                </a:spcBef>
              </a:pPr>
              <a:t>168</a:t>
            </a:fld>
            <a:endParaRPr spc="-19" dirty="0"/>
          </a:p>
        </p:txBody>
      </p:sp>
      <p:sp>
        <p:nvSpPr>
          <p:cNvPr id="2" name="object 2"/>
          <p:cNvSpPr txBox="1">
            <a:spLocks noGrp="1"/>
          </p:cNvSpPr>
          <p:nvPr>
            <p:ph type="title"/>
          </p:nvPr>
        </p:nvSpPr>
        <p:spPr>
          <a:xfrm>
            <a:off x="3429000" y="422911"/>
            <a:ext cx="4114800"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spc="-19" dirty="0"/>
              <a:t>Cursors</a:t>
            </a:r>
          </a:p>
        </p:txBody>
      </p:sp>
      <p:sp>
        <p:nvSpPr>
          <p:cNvPr id="3" name="object 3"/>
          <p:cNvSpPr txBox="1"/>
          <p:nvPr/>
        </p:nvSpPr>
        <p:spPr>
          <a:xfrm>
            <a:off x="687705" y="2212466"/>
            <a:ext cx="7768114" cy="1482938"/>
          </a:xfrm>
          <a:prstGeom prst="rect">
            <a:avLst/>
          </a:prstGeom>
        </p:spPr>
        <p:txBody>
          <a:bodyPr vert="horz" wrap="square" lIns="0" tIns="38576" rIns="0" bIns="0" rtlCol="0">
            <a:spAutoFit/>
          </a:bodyPr>
          <a:lstStyle/>
          <a:p>
            <a:pPr marL="180022" marR="3810" indent="-170497">
              <a:lnSpc>
                <a:spcPts val="1965"/>
              </a:lnSpc>
              <a:spcBef>
                <a:spcPts val="304"/>
              </a:spcBef>
              <a:buFont typeface="Arial"/>
              <a:buChar char="•"/>
              <a:tabLst>
                <a:tab pos="180975" algn="l"/>
              </a:tabLst>
            </a:pPr>
            <a:r>
              <a:rPr sz="1800" dirty="0">
                <a:latin typeface="Calibri"/>
                <a:cs typeface="Calibri"/>
              </a:rPr>
              <a:t>When</a:t>
            </a:r>
            <a:r>
              <a:rPr sz="1800" spc="41" dirty="0">
                <a:latin typeface="Calibri"/>
                <a:cs typeface="Calibri"/>
              </a:rPr>
              <a:t> </a:t>
            </a:r>
            <a:r>
              <a:rPr sz="1800" dirty="0">
                <a:latin typeface="Calibri"/>
                <a:cs typeface="Calibri"/>
              </a:rPr>
              <a:t>we</a:t>
            </a:r>
            <a:r>
              <a:rPr sz="1800" spc="45" dirty="0">
                <a:latin typeface="Calibri"/>
                <a:cs typeface="Calibri"/>
              </a:rPr>
              <a:t> </a:t>
            </a:r>
            <a:r>
              <a:rPr sz="1800" dirty="0">
                <a:latin typeface="Calibri"/>
                <a:cs typeface="Calibri"/>
              </a:rPr>
              <a:t>execute</a:t>
            </a:r>
            <a:r>
              <a:rPr sz="1800" spc="49" dirty="0">
                <a:latin typeface="Calibri"/>
                <a:cs typeface="Calibri"/>
              </a:rPr>
              <a:t> </a:t>
            </a:r>
            <a:r>
              <a:rPr sz="1800" dirty="0">
                <a:latin typeface="Calibri"/>
                <a:cs typeface="Calibri"/>
              </a:rPr>
              <a:t>a</a:t>
            </a:r>
            <a:r>
              <a:rPr sz="1800" spc="41" dirty="0">
                <a:latin typeface="Calibri"/>
                <a:cs typeface="Calibri"/>
              </a:rPr>
              <a:t> </a:t>
            </a:r>
            <a:r>
              <a:rPr sz="1800" dirty="0">
                <a:latin typeface="Calibri"/>
                <a:cs typeface="Calibri"/>
              </a:rPr>
              <a:t>statement,</a:t>
            </a:r>
            <a:r>
              <a:rPr sz="1800" spc="45" dirty="0">
                <a:latin typeface="Calibri"/>
                <a:cs typeface="Calibri"/>
              </a:rPr>
              <a:t> </a:t>
            </a:r>
            <a:r>
              <a:rPr sz="1800" dirty="0">
                <a:latin typeface="Calibri"/>
                <a:cs typeface="Calibri"/>
              </a:rPr>
              <a:t>a</a:t>
            </a:r>
            <a:r>
              <a:rPr sz="1800" spc="41" dirty="0">
                <a:latin typeface="Calibri"/>
                <a:cs typeface="Calibri"/>
              </a:rPr>
              <a:t> </a:t>
            </a:r>
            <a:r>
              <a:rPr sz="1800" dirty="0">
                <a:latin typeface="Calibri"/>
                <a:cs typeface="Calibri"/>
              </a:rPr>
              <a:t>relation</a:t>
            </a:r>
            <a:r>
              <a:rPr sz="1800" spc="49" dirty="0">
                <a:latin typeface="Calibri"/>
                <a:cs typeface="Calibri"/>
              </a:rPr>
              <a:t> </a:t>
            </a:r>
            <a:r>
              <a:rPr sz="1800" dirty="0">
                <a:latin typeface="Calibri"/>
                <a:cs typeface="Calibri"/>
              </a:rPr>
              <a:t>is</a:t>
            </a:r>
            <a:r>
              <a:rPr sz="1800" spc="38" dirty="0">
                <a:latin typeface="Calibri"/>
                <a:cs typeface="Calibri"/>
              </a:rPr>
              <a:t> </a:t>
            </a:r>
            <a:r>
              <a:rPr sz="1800" dirty="0">
                <a:latin typeface="Calibri"/>
                <a:cs typeface="Calibri"/>
              </a:rPr>
              <a:t>returned.</a:t>
            </a:r>
            <a:r>
              <a:rPr sz="1800" spc="41" dirty="0">
                <a:latin typeface="Calibri"/>
                <a:cs typeface="Calibri"/>
              </a:rPr>
              <a:t> </a:t>
            </a:r>
            <a:r>
              <a:rPr sz="1800" dirty="0">
                <a:latin typeface="Calibri"/>
                <a:cs typeface="Calibri"/>
              </a:rPr>
              <a:t>It</a:t>
            </a:r>
            <a:r>
              <a:rPr sz="1800" spc="38" dirty="0">
                <a:latin typeface="Calibri"/>
                <a:cs typeface="Calibri"/>
              </a:rPr>
              <a:t> </a:t>
            </a:r>
            <a:r>
              <a:rPr sz="1800" dirty="0">
                <a:latin typeface="Calibri"/>
                <a:cs typeface="Calibri"/>
              </a:rPr>
              <a:t>is</a:t>
            </a:r>
            <a:r>
              <a:rPr sz="1800" spc="41" dirty="0">
                <a:latin typeface="Calibri"/>
                <a:cs typeface="Calibri"/>
              </a:rPr>
              <a:t> </a:t>
            </a:r>
            <a:r>
              <a:rPr sz="1800" dirty="0">
                <a:latin typeface="Calibri"/>
                <a:cs typeface="Calibri"/>
              </a:rPr>
              <a:t>stored</a:t>
            </a:r>
            <a:r>
              <a:rPr sz="1800" spc="45" dirty="0">
                <a:latin typeface="Calibri"/>
                <a:cs typeface="Calibri"/>
              </a:rPr>
              <a:t> </a:t>
            </a:r>
            <a:r>
              <a:rPr sz="1800" dirty="0">
                <a:latin typeface="Calibri"/>
                <a:cs typeface="Calibri"/>
              </a:rPr>
              <a:t>in</a:t>
            </a:r>
            <a:r>
              <a:rPr sz="1800" spc="41" dirty="0">
                <a:latin typeface="Calibri"/>
                <a:cs typeface="Calibri"/>
              </a:rPr>
              <a:t> </a:t>
            </a:r>
            <a:r>
              <a:rPr sz="1800" dirty="0">
                <a:latin typeface="Calibri"/>
                <a:cs typeface="Calibri"/>
              </a:rPr>
              <a:t>private</a:t>
            </a:r>
            <a:r>
              <a:rPr sz="1800" spc="45" dirty="0">
                <a:latin typeface="Calibri"/>
                <a:cs typeface="Calibri"/>
              </a:rPr>
              <a:t> </a:t>
            </a:r>
            <a:r>
              <a:rPr sz="1800" spc="-15" dirty="0">
                <a:latin typeface="Calibri"/>
                <a:cs typeface="Calibri"/>
              </a:rPr>
              <a:t>work 	</a:t>
            </a:r>
            <a:r>
              <a:rPr sz="1800" dirty="0">
                <a:latin typeface="Calibri"/>
                <a:cs typeface="Calibri"/>
              </a:rPr>
              <a:t>area</a:t>
            </a:r>
            <a:r>
              <a:rPr sz="1800" spc="-45" dirty="0">
                <a:latin typeface="Calibri"/>
                <a:cs typeface="Calibri"/>
              </a:rPr>
              <a:t> </a:t>
            </a:r>
            <a:r>
              <a:rPr sz="1800" dirty="0">
                <a:latin typeface="Calibri"/>
                <a:cs typeface="Calibri"/>
              </a:rPr>
              <a:t>for</a:t>
            </a:r>
            <a:r>
              <a:rPr sz="1800" spc="-41" dirty="0">
                <a:latin typeface="Calibri"/>
                <a:cs typeface="Calibri"/>
              </a:rPr>
              <a:t> </a:t>
            </a:r>
            <a:r>
              <a:rPr sz="1800" dirty="0">
                <a:latin typeface="Calibri"/>
                <a:cs typeface="Calibri"/>
              </a:rPr>
              <a:t>the</a:t>
            </a:r>
            <a:r>
              <a:rPr sz="1800" spc="-41" dirty="0">
                <a:latin typeface="Calibri"/>
                <a:cs typeface="Calibri"/>
              </a:rPr>
              <a:t> </a:t>
            </a:r>
            <a:r>
              <a:rPr sz="1800" spc="-8" dirty="0">
                <a:latin typeface="Calibri"/>
                <a:cs typeface="Calibri"/>
              </a:rPr>
              <a:t>statement.</a:t>
            </a:r>
            <a:r>
              <a:rPr sz="1800" spc="-45" dirty="0">
                <a:latin typeface="Calibri"/>
                <a:cs typeface="Calibri"/>
              </a:rPr>
              <a:t> </a:t>
            </a:r>
            <a:r>
              <a:rPr sz="1800" dirty="0">
                <a:latin typeface="Calibri"/>
                <a:cs typeface="Calibri"/>
              </a:rPr>
              <a:t>Cursor</a:t>
            </a:r>
            <a:r>
              <a:rPr sz="1800" spc="-41" dirty="0">
                <a:latin typeface="Calibri"/>
                <a:cs typeface="Calibri"/>
              </a:rPr>
              <a:t> </a:t>
            </a:r>
            <a:r>
              <a:rPr sz="1800" dirty="0">
                <a:latin typeface="Calibri"/>
                <a:cs typeface="Calibri"/>
              </a:rPr>
              <a:t>is</a:t>
            </a:r>
            <a:r>
              <a:rPr sz="1800" spc="-45" dirty="0">
                <a:latin typeface="Calibri"/>
                <a:cs typeface="Calibri"/>
              </a:rPr>
              <a:t> </a:t>
            </a:r>
            <a:r>
              <a:rPr sz="1800" dirty="0">
                <a:latin typeface="Calibri"/>
                <a:cs typeface="Calibri"/>
              </a:rPr>
              <a:t>a</a:t>
            </a:r>
            <a:r>
              <a:rPr sz="1800" spc="-41" dirty="0">
                <a:latin typeface="Calibri"/>
                <a:cs typeface="Calibri"/>
              </a:rPr>
              <a:t> </a:t>
            </a:r>
            <a:r>
              <a:rPr sz="1800" dirty="0">
                <a:latin typeface="Calibri"/>
                <a:cs typeface="Calibri"/>
              </a:rPr>
              <a:t>pointer</a:t>
            </a:r>
            <a:r>
              <a:rPr sz="1800" spc="-41" dirty="0">
                <a:latin typeface="Calibri"/>
                <a:cs typeface="Calibri"/>
              </a:rPr>
              <a:t> </a:t>
            </a:r>
            <a:r>
              <a:rPr sz="1800" dirty="0">
                <a:latin typeface="Calibri"/>
                <a:cs typeface="Calibri"/>
              </a:rPr>
              <a:t>to</a:t>
            </a:r>
            <a:r>
              <a:rPr sz="1800" spc="-45" dirty="0">
                <a:latin typeface="Calibri"/>
                <a:cs typeface="Calibri"/>
              </a:rPr>
              <a:t> </a:t>
            </a:r>
            <a:r>
              <a:rPr sz="1800" dirty="0">
                <a:latin typeface="Calibri"/>
                <a:cs typeface="Calibri"/>
              </a:rPr>
              <a:t>this</a:t>
            </a:r>
            <a:r>
              <a:rPr sz="1800" spc="-45" dirty="0">
                <a:latin typeface="Calibri"/>
                <a:cs typeface="Calibri"/>
              </a:rPr>
              <a:t> </a:t>
            </a:r>
            <a:r>
              <a:rPr sz="1800" spc="-8" dirty="0">
                <a:latin typeface="Calibri"/>
                <a:cs typeface="Calibri"/>
              </a:rPr>
              <a:t>area.</a:t>
            </a:r>
            <a:endParaRPr sz="1800" dirty="0">
              <a:latin typeface="Calibri"/>
              <a:cs typeface="Calibri"/>
            </a:endParaRPr>
          </a:p>
          <a:p>
            <a:pPr marL="180022" marR="6668" indent="-170497">
              <a:lnSpc>
                <a:spcPts val="1965"/>
              </a:lnSpc>
              <a:spcBef>
                <a:spcPts val="641"/>
              </a:spcBef>
              <a:buFont typeface="Arial"/>
              <a:buChar char="•"/>
              <a:tabLst>
                <a:tab pos="180975" algn="l"/>
              </a:tabLst>
            </a:pPr>
            <a:r>
              <a:rPr sz="1800" dirty="0">
                <a:latin typeface="Calibri"/>
                <a:cs typeface="Calibri"/>
              </a:rPr>
              <a:t>A</a:t>
            </a:r>
            <a:r>
              <a:rPr sz="1800" spc="86" dirty="0">
                <a:latin typeface="Calibri"/>
                <a:cs typeface="Calibri"/>
              </a:rPr>
              <a:t> </a:t>
            </a:r>
            <a:r>
              <a:rPr sz="1800" dirty="0">
                <a:latin typeface="Calibri"/>
                <a:cs typeface="Calibri"/>
              </a:rPr>
              <a:t>cursor</a:t>
            </a:r>
            <a:r>
              <a:rPr sz="1800" spc="86" dirty="0">
                <a:latin typeface="Calibri"/>
                <a:cs typeface="Calibri"/>
              </a:rPr>
              <a:t> </a:t>
            </a:r>
            <a:r>
              <a:rPr sz="1800" dirty="0">
                <a:latin typeface="Calibri"/>
                <a:cs typeface="Calibri"/>
              </a:rPr>
              <a:t>is</a:t>
            </a:r>
            <a:r>
              <a:rPr sz="1800" spc="86" dirty="0">
                <a:latin typeface="Calibri"/>
                <a:cs typeface="Calibri"/>
              </a:rPr>
              <a:t> </a:t>
            </a:r>
            <a:r>
              <a:rPr sz="1800" dirty="0">
                <a:latin typeface="Calibri"/>
                <a:cs typeface="Calibri"/>
              </a:rPr>
              <a:t>used</a:t>
            </a:r>
            <a:r>
              <a:rPr sz="1800" spc="86" dirty="0">
                <a:latin typeface="Calibri"/>
                <a:cs typeface="Calibri"/>
              </a:rPr>
              <a:t> </a:t>
            </a:r>
            <a:r>
              <a:rPr sz="1800" dirty="0">
                <a:latin typeface="Calibri"/>
                <a:cs typeface="Calibri"/>
              </a:rPr>
              <a:t>to</a:t>
            </a:r>
            <a:r>
              <a:rPr sz="1800" spc="90" dirty="0">
                <a:latin typeface="Calibri"/>
                <a:cs typeface="Calibri"/>
              </a:rPr>
              <a:t> </a:t>
            </a:r>
            <a:r>
              <a:rPr sz="1800" dirty="0">
                <a:latin typeface="Calibri"/>
                <a:cs typeface="Calibri"/>
              </a:rPr>
              <a:t>iterate</a:t>
            </a:r>
            <a:r>
              <a:rPr sz="1800" spc="90" dirty="0">
                <a:latin typeface="Calibri"/>
                <a:cs typeface="Calibri"/>
              </a:rPr>
              <a:t> </a:t>
            </a:r>
            <a:r>
              <a:rPr sz="1800" dirty="0">
                <a:latin typeface="Calibri"/>
                <a:cs typeface="Calibri"/>
              </a:rPr>
              <a:t>through</a:t>
            </a:r>
            <a:r>
              <a:rPr sz="1800" spc="86" dirty="0">
                <a:latin typeface="Calibri"/>
                <a:cs typeface="Calibri"/>
              </a:rPr>
              <a:t> </a:t>
            </a:r>
            <a:r>
              <a:rPr sz="1800" dirty="0">
                <a:latin typeface="Calibri"/>
                <a:cs typeface="Calibri"/>
              </a:rPr>
              <a:t>a</a:t>
            </a:r>
            <a:r>
              <a:rPr sz="1800" spc="86" dirty="0">
                <a:latin typeface="Calibri"/>
                <a:cs typeface="Calibri"/>
              </a:rPr>
              <a:t> </a:t>
            </a:r>
            <a:r>
              <a:rPr sz="1800" dirty="0">
                <a:latin typeface="Calibri"/>
                <a:cs typeface="Calibri"/>
              </a:rPr>
              <a:t>set</a:t>
            </a:r>
            <a:r>
              <a:rPr sz="1800" spc="83" dirty="0">
                <a:latin typeface="Calibri"/>
                <a:cs typeface="Calibri"/>
              </a:rPr>
              <a:t> </a:t>
            </a:r>
            <a:r>
              <a:rPr sz="1800" dirty="0">
                <a:latin typeface="Calibri"/>
                <a:cs typeface="Calibri"/>
              </a:rPr>
              <a:t>of</a:t>
            </a:r>
            <a:r>
              <a:rPr sz="1800" spc="94" dirty="0">
                <a:latin typeface="Calibri"/>
                <a:cs typeface="Calibri"/>
              </a:rPr>
              <a:t> </a:t>
            </a:r>
            <a:r>
              <a:rPr sz="1800" dirty="0">
                <a:latin typeface="Calibri"/>
                <a:cs typeface="Calibri"/>
              </a:rPr>
              <a:t>rows</a:t>
            </a:r>
            <a:r>
              <a:rPr sz="1800" spc="86" dirty="0">
                <a:latin typeface="Calibri"/>
                <a:cs typeface="Calibri"/>
              </a:rPr>
              <a:t> </a:t>
            </a:r>
            <a:r>
              <a:rPr sz="1800" dirty="0">
                <a:latin typeface="Calibri"/>
                <a:cs typeface="Calibri"/>
              </a:rPr>
              <a:t>returned</a:t>
            </a:r>
            <a:r>
              <a:rPr sz="1800" spc="90" dirty="0">
                <a:latin typeface="Calibri"/>
                <a:cs typeface="Calibri"/>
              </a:rPr>
              <a:t> </a:t>
            </a:r>
            <a:r>
              <a:rPr sz="1800" dirty="0">
                <a:latin typeface="Calibri"/>
                <a:cs typeface="Calibri"/>
              </a:rPr>
              <a:t>by</a:t>
            </a:r>
            <a:r>
              <a:rPr sz="1800" spc="86" dirty="0">
                <a:latin typeface="Calibri"/>
                <a:cs typeface="Calibri"/>
              </a:rPr>
              <a:t> </a:t>
            </a:r>
            <a:r>
              <a:rPr sz="1800" dirty="0">
                <a:latin typeface="Calibri"/>
                <a:cs typeface="Calibri"/>
              </a:rPr>
              <a:t>a</a:t>
            </a:r>
            <a:r>
              <a:rPr sz="1800" spc="86" dirty="0">
                <a:latin typeface="Calibri"/>
                <a:cs typeface="Calibri"/>
              </a:rPr>
              <a:t> </a:t>
            </a:r>
            <a:r>
              <a:rPr sz="1800" dirty="0">
                <a:latin typeface="Calibri"/>
                <a:cs typeface="Calibri"/>
              </a:rPr>
              <a:t>query</a:t>
            </a:r>
            <a:r>
              <a:rPr sz="1800" spc="86" dirty="0">
                <a:latin typeface="Calibri"/>
                <a:cs typeface="Calibri"/>
              </a:rPr>
              <a:t> </a:t>
            </a:r>
            <a:r>
              <a:rPr sz="1800" dirty="0">
                <a:latin typeface="Calibri"/>
                <a:cs typeface="Calibri"/>
              </a:rPr>
              <a:t>so</a:t>
            </a:r>
            <a:r>
              <a:rPr sz="1800" spc="86" dirty="0">
                <a:latin typeface="Calibri"/>
                <a:cs typeface="Calibri"/>
              </a:rPr>
              <a:t> </a:t>
            </a:r>
            <a:r>
              <a:rPr sz="1800" dirty="0">
                <a:latin typeface="Calibri"/>
                <a:cs typeface="Calibri"/>
              </a:rPr>
              <a:t>that</a:t>
            </a:r>
            <a:r>
              <a:rPr sz="1800" spc="83" dirty="0">
                <a:latin typeface="Calibri"/>
                <a:cs typeface="Calibri"/>
              </a:rPr>
              <a:t> </a:t>
            </a:r>
            <a:r>
              <a:rPr sz="1800" spc="-19" dirty="0">
                <a:latin typeface="Calibri"/>
                <a:cs typeface="Calibri"/>
              </a:rPr>
              <a:t>we 	</a:t>
            </a:r>
            <a:r>
              <a:rPr sz="1800" dirty="0">
                <a:latin typeface="Calibri"/>
                <a:cs typeface="Calibri"/>
              </a:rPr>
              <a:t>can</a:t>
            </a:r>
            <a:r>
              <a:rPr sz="1800" spc="-53" dirty="0">
                <a:latin typeface="Calibri"/>
                <a:cs typeface="Calibri"/>
              </a:rPr>
              <a:t> </a:t>
            </a:r>
            <a:r>
              <a:rPr sz="1800" dirty="0">
                <a:latin typeface="Calibri"/>
                <a:cs typeface="Calibri"/>
              </a:rPr>
              <a:t>process</a:t>
            </a:r>
            <a:r>
              <a:rPr sz="1800" spc="-56" dirty="0">
                <a:latin typeface="Calibri"/>
                <a:cs typeface="Calibri"/>
              </a:rPr>
              <a:t> </a:t>
            </a:r>
            <a:r>
              <a:rPr sz="1800" dirty="0">
                <a:latin typeface="Calibri"/>
                <a:cs typeface="Calibri"/>
              </a:rPr>
              <a:t>each</a:t>
            </a:r>
            <a:r>
              <a:rPr sz="1800" spc="-53" dirty="0">
                <a:latin typeface="Calibri"/>
                <a:cs typeface="Calibri"/>
              </a:rPr>
              <a:t> </a:t>
            </a:r>
            <a:r>
              <a:rPr sz="1800" dirty="0">
                <a:latin typeface="Calibri"/>
                <a:cs typeface="Calibri"/>
              </a:rPr>
              <a:t>individual</a:t>
            </a:r>
            <a:r>
              <a:rPr sz="1800" spc="-53" dirty="0">
                <a:latin typeface="Calibri"/>
                <a:cs typeface="Calibri"/>
              </a:rPr>
              <a:t> </a:t>
            </a:r>
            <a:r>
              <a:rPr sz="1800" spc="-15" dirty="0">
                <a:latin typeface="Calibri"/>
                <a:cs typeface="Calibri"/>
              </a:rPr>
              <a:t>row.</a:t>
            </a:r>
            <a:endParaRPr sz="1800" dirty="0">
              <a:latin typeface="Calibri"/>
              <a:cs typeface="Calibri"/>
            </a:endParaRPr>
          </a:p>
          <a:p>
            <a:pPr marL="180022" indent="-170497">
              <a:spcBef>
                <a:spcPts val="503"/>
              </a:spcBef>
              <a:buFont typeface="Arial"/>
              <a:buChar char="•"/>
              <a:tabLst>
                <a:tab pos="180022" algn="l"/>
              </a:tabLst>
            </a:pPr>
            <a:r>
              <a:rPr sz="1800" spc="-86" dirty="0">
                <a:latin typeface="Calibri"/>
                <a:cs typeface="Calibri"/>
              </a:rPr>
              <a:t>To</a:t>
            </a:r>
            <a:r>
              <a:rPr sz="1800" spc="-15" dirty="0">
                <a:latin typeface="Calibri"/>
                <a:cs typeface="Calibri"/>
              </a:rPr>
              <a:t> </a:t>
            </a:r>
            <a:r>
              <a:rPr sz="1800" dirty="0">
                <a:latin typeface="Calibri"/>
                <a:cs typeface="Calibri"/>
              </a:rPr>
              <a:t>create</a:t>
            </a:r>
            <a:r>
              <a:rPr sz="1800" spc="-68" dirty="0">
                <a:latin typeface="Calibri"/>
                <a:cs typeface="Calibri"/>
              </a:rPr>
              <a:t> </a:t>
            </a:r>
            <a:r>
              <a:rPr sz="1800" dirty="0">
                <a:latin typeface="Calibri"/>
                <a:cs typeface="Calibri"/>
              </a:rPr>
              <a:t>a</a:t>
            </a:r>
            <a:r>
              <a:rPr sz="1800" spc="-41" dirty="0">
                <a:latin typeface="Calibri"/>
                <a:cs typeface="Calibri"/>
              </a:rPr>
              <a:t> </a:t>
            </a:r>
            <a:r>
              <a:rPr sz="1800" spc="-8" dirty="0">
                <a:latin typeface="Calibri"/>
                <a:cs typeface="Calibri"/>
              </a:rPr>
              <a:t>cursor</a:t>
            </a:r>
            <a:endParaRPr sz="1800" dirty="0">
              <a:latin typeface="Calibri"/>
              <a:cs typeface="Calibri"/>
            </a:endParaRPr>
          </a:p>
        </p:txBody>
      </p:sp>
      <p:sp>
        <p:nvSpPr>
          <p:cNvPr id="4" name="object 4"/>
          <p:cNvSpPr txBox="1"/>
          <p:nvPr/>
        </p:nvSpPr>
        <p:spPr>
          <a:xfrm>
            <a:off x="1221826" y="3702927"/>
            <a:ext cx="7131368" cy="274114"/>
          </a:xfrm>
          <a:prstGeom prst="rect">
            <a:avLst/>
          </a:prstGeom>
          <a:ln w="38100">
            <a:solidFill>
              <a:srgbClr val="2F528F"/>
            </a:solidFill>
          </a:ln>
        </p:spPr>
        <p:txBody>
          <a:bodyPr vert="horz" wrap="square" lIns="0" tIns="42863" rIns="0" bIns="0" rtlCol="0">
            <a:spAutoFit/>
          </a:bodyPr>
          <a:lstStyle/>
          <a:p>
            <a:pPr marL="160972">
              <a:spcBef>
                <a:spcPts val="338"/>
              </a:spcBef>
            </a:pPr>
            <a:r>
              <a:rPr sz="1500" dirty="0">
                <a:latin typeface="Courier New"/>
                <a:cs typeface="Courier New"/>
              </a:rPr>
              <a:t>declare</a:t>
            </a:r>
            <a:r>
              <a:rPr sz="1500" spc="-23" dirty="0">
                <a:latin typeface="Courier New"/>
                <a:cs typeface="Courier New"/>
              </a:rPr>
              <a:t> </a:t>
            </a:r>
            <a:r>
              <a:rPr sz="1500" dirty="0" err="1">
                <a:latin typeface="Courier New"/>
                <a:cs typeface="Courier New"/>
              </a:rPr>
              <a:t>c_customers</a:t>
            </a:r>
            <a:r>
              <a:rPr sz="1500" spc="-23" dirty="0">
                <a:latin typeface="Courier New"/>
                <a:cs typeface="Courier New"/>
              </a:rPr>
              <a:t> </a:t>
            </a:r>
            <a:r>
              <a:rPr sz="1500" dirty="0">
                <a:latin typeface="Courier New"/>
                <a:cs typeface="Courier New"/>
              </a:rPr>
              <a:t>CURSOR</a:t>
            </a:r>
            <a:r>
              <a:rPr sz="1500" spc="-19" dirty="0">
                <a:latin typeface="Courier New"/>
                <a:cs typeface="Courier New"/>
              </a:rPr>
              <a:t> </a:t>
            </a:r>
            <a:r>
              <a:rPr sz="1500" dirty="0">
                <a:latin typeface="Courier New"/>
                <a:cs typeface="Courier New"/>
              </a:rPr>
              <a:t>for</a:t>
            </a:r>
            <a:r>
              <a:rPr sz="1500" spc="-23" dirty="0">
                <a:latin typeface="Courier New"/>
                <a:cs typeface="Courier New"/>
              </a:rPr>
              <a:t> </a:t>
            </a:r>
            <a:r>
              <a:rPr sz="1500" dirty="0">
                <a:latin typeface="Courier New"/>
                <a:cs typeface="Courier New"/>
              </a:rPr>
              <a:t>SELECT</a:t>
            </a:r>
            <a:r>
              <a:rPr sz="1500" spc="-19" dirty="0">
                <a:latin typeface="Courier New"/>
                <a:cs typeface="Courier New"/>
              </a:rPr>
              <a:t> </a:t>
            </a:r>
            <a:r>
              <a:rPr sz="1500" dirty="0">
                <a:latin typeface="Courier New"/>
                <a:cs typeface="Courier New"/>
              </a:rPr>
              <a:t>*</a:t>
            </a:r>
            <a:r>
              <a:rPr sz="1500" spc="-23" dirty="0">
                <a:latin typeface="Courier New"/>
                <a:cs typeface="Courier New"/>
              </a:rPr>
              <a:t> </a:t>
            </a:r>
            <a:r>
              <a:rPr sz="1500" dirty="0">
                <a:latin typeface="Courier New"/>
                <a:cs typeface="Courier New"/>
              </a:rPr>
              <a:t>from</a:t>
            </a:r>
            <a:r>
              <a:rPr sz="1500" spc="-19" dirty="0">
                <a:latin typeface="Courier New"/>
                <a:cs typeface="Courier New"/>
              </a:rPr>
              <a:t> </a:t>
            </a:r>
            <a:r>
              <a:rPr sz="1500" spc="-8" dirty="0">
                <a:latin typeface="Courier New"/>
                <a:cs typeface="Courier New"/>
              </a:rPr>
              <a:t>CUSTOMERS;</a:t>
            </a:r>
            <a:endParaRPr sz="1500" dirty="0">
              <a:latin typeface="Courier New"/>
              <a:cs typeface="Courier New"/>
            </a:endParaRPr>
          </a:p>
        </p:txBody>
      </p:sp>
      <p:sp>
        <p:nvSpPr>
          <p:cNvPr id="5" name="object 5"/>
          <p:cNvSpPr txBox="1"/>
          <p:nvPr/>
        </p:nvSpPr>
        <p:spPr>
          <a:xfrm>
            <a:off x="687704" y="4059555"/>
            <a:ext cx="7160895" cy="1215237"/>
          </a:xfrm>
          <a:prstGeom prst="rect">
            <a:avLst/>
          </a:prstGeom>
        </p:spPr>
        <p:txBody>
          <a:bodyPr vert="horz" wrap="square" lIns="0" tIns="30004" rIns="0" bIns="0" rtlCol="0">
            <a:spAutoFit/>
          </a:bodyPr>
          <a:lstStyle/>
          <a:p>
            <a:pPr marL="180022" indent="-170497">
              <a:spcBef>
                <a:spcPts val="236"/>
              </a:spcBef>
              <a:buFont typeface="Arial"/>
              <a:buChar char="•"/>
              <a:tabLst>
                <a:tab pos="180022" algn="l"/>
              </a:tabLst>
            </a:pPr>
            <a:r>
              <a:rPr sz="1800" spc="-90" dirty="0">
                <a:latin typeface="Calibri"/>
                <a:cs typeface="Calibri"/>
              </a:rPr>
              <a:t>To</a:t>
            </a:r>
            <a:r>
              <a:rPr sz="1800" spc="-11" dirty="0">
                <a:latin typeface="Calibri"/>
                <a:cs typeface="Calibri"/>
              </a:rPr>
              <a:t> </a:t>
            </a:r>
            <a:r>
              <a:rPr sz="1800" dirty="0">
                <a:latin typeface="Calibri"/>
                <a:cs typeface="Calibri"/>
              </a:rPr>
              <a:t>use</a:t>
            </a:r>
            <a:r>
              <a:rPr sz="1800" spc="-23" dirty="0">
                <a:latin typeface="Calibri"/>
                <a:cs typeface="Calibri"/>
              </a:rPr>
              <a:t> </a:t>
            </a:r>
            <a:r>
              <a:rPr sz="1800" dirty="0">
                <a:latin typeface="Calibri"/>
                <a:cs typeface="Calibri"/>
              </a:rPr>
              <a:t>a</a:t>
            </a:r>
            <a:r>
              <a:rPr sz="1800" spc="-15" dirty="0">
                <a:latin typeface="Calibri"/>
                <a:cs typeface="Calibri"/>
              </a:rPr>
              <a:t> </a:t>
            </a:r>
            <a:r>
              <a:rPr sz="1800" spc="-8" dirty="0">
                <a:latin typeface="Calibri"/>
                <a:cs typeface="Calibri"/>
              </a:rPr>
              <a:t>cursor</a:t>
            </a:r>
            <a:endParaRPr sz="1800">
              <a:latin typeface="Calibri"/>
              <a:cs typeface="Calibri"/>
            </a:endParaRPr>
          </a:p>
          <a:p>
            <a:pPr marL="694849" lvl="1" indent="-342424">
              <a:spcBef>
                <a:spcPts val="161"/>
              </a:spcBef>
              <a:buAutoNum type="arabicPeriod"/>
              <a:tabLst>
                <a:tab pos="694849" algn="l"/>
                <a:tab pos="3438049" algn="l"/>
              </a:tabLst>
            </a:pPr>
            <a:r>
              <a:rPr sz="1800" b="1" dirty="0">
                <a:solidFill>
                  <a:srgbClr val="4472C4"/>
                </a:solidFill>
                <a:latin typeface="Calibri"/>
                <a:cs typeface="Calibri"/>
              </a:rPr>
              <a:t>Open</a:t>
            </a:r>
            <a:r>
              <a:rPr sz="1800" b="1" spc="-38" dirty="0">
                <a:solidFill>
                  <a:srgbClr val="4472C4"/>
                </a:solidFill>
                <a:latin typeface="Calibri"/>
                <a:cs typeface="Calibri"/>
              </a:rPr>
              <a:t> </a:t>
            </a:r>
            <a:r>
              <a:rPr sz="1800" dirty="0">
                <a:latin typeface="Calibri"/>
                <a:cs typeface="Calibri"/>
              </a:rPr>
              <a:t>the</a:t>
            </a:r>
            <a:r>
              <a:rPr sz="1800" spc="-30" dirty="0">
                <a:latin typeface="Calibri"/>
                <a:cs typeface="Calibri"/>
              </a:rPr>
              <a:t> </a:t>
            </a:r>
            <a:r>
              <a:rPr sz="1800" spc="-8" dirty="0">
                <a:latin typeface="Calibri"/>
                <a:cs typeface="Calibri"/>
              </a:rPr>
              <a:t>cursor:</a:t>
            </a:r>
            <a:r>
              <a:rPr sz="1800" dirty="0">
                <a:latin typeface="Calibri"/>
                <a:cs typeface="Calibri"/>
              </a:rPr>
              <a:t>	</a:t>
            </a:r>
            <a:r>
              <a:rPr sz="1800" b="1" dirty="0">
                <a:latin typeface="Calibri"/>
                <a:cs typeface="Calibri"/>
              </a:rPr>
              <a:t>OPEN</a:t>
            </a:r>
            <a:r>
              <a:rPr sz="1800" b="1" spc="-23" dirty="0">
                <a:latin typeface="Calibri"/>
                <a:cs typeface="Calibri"/>
              </a:rPr>
              <a:t> </a:t>
            </a:r>
            <a:r>
              <a:rPr sz="1800" spc="-8" dirty="0">
                <a:latin typeface="Calibri"/>
                <a:cs typeface="Calibri"/>
              </a:rPr>
              <a:t>c_customers;</a:t>
            </a:r>
            <a:endParaRPr sz="1800">
              <a:latin typeface="Calibri"/>
              <a:cs typeface="Calibri"/>
            </a:endParaRPr>
          </a:p>
          <a:p>
            <a:pPr marL="694849" lvl="1" indent="-342424">
              <a:spcBef>
                <a:spcPts val="161"/>
              </a:spcBef>
              <a:buAutoNum type="arabicPeriod"/>
              <a:tabLst>
                <a:tab pos="694849" algn="l"/>
                <a:tab pos="3438049" algn="l"/>
              </a:tabLst>
            </a:pPr>
            <a:r>
              <a:rPr sz="1800" b="1" dirty="0">
                <a:solidFill>
                  <a:srgbClr val="4472C4"/>
                </a:solidFill>
                <a:latin typeface="Calibri"/>
                <a:cs typeface="Calibri"/>
              </a:rPr>
              <a:t>Select</a:t>
            </a:r>
            <a:r>
              <a:rPr sz="1800" b="1" spc="-45" dirty="0">
                <a:solidFill>
                  <a:srgbClr val="4472C4"/>
                </a:solidFill>
                <a:latin typeface="Calibri"/>
                <a:cs typeface="Calibri"/>
              </a:rPr>
              <a:t> </a:t>
            </a:r>
            <a:r>
              <a:rPr sz="1800" dirty="0">
                <a:latin typeface="Calibri"/>
                <a:cs typeface="Calibri"/>
              </a:rPr>
              <a:t>data</a:t>
            </a:r>
            <a:r>
              <a:rPr sz="1800" spc="-49" dirty="0">
                <a:latin typeface="Calibri"/>
                <a:cs typeface="Calibri"/>
              </a:rPr>
              <a:t> </a:t>
            </a:r>
            <a:r>
              <a:rPr sz="1800" dirty="0">
                <a:latin typeface="Calibri"/>
                <a:cs typeface="Calibri"/>
              </a:rPr>
              <a:t>from</a:t>
            </a:r>
            <a:r>
              <a:rPr sz="1800" spc="-53" dirty="0">
                <a:latin typeface="Calibri"/>
                <a:cs typeface="Calibri"/>
              </a:rPr>
              <a:t> </a:t>
            </a:r>
            <a:r>
              <a:rPr sz="1800" dirty="0">
                <a:latin typeface="Calibri"/>
                <a:cs typeface="Calibri"/>
              </a:rPr>
              <a:t>the</a:t>
            </a:r>
            <a:r>
              <a:rPr sz="1800" spc="-41" dirty="0">
                <a:latin typeface="Calibri"/>
                <a:cs typeface="Calibri"/>
              </a:rPr>
              <a:t> </a:t>
            </a:r>
            <a:r>
              <a:rPr sz="1800" spc="-8" dirty="0">
                <a:latin typeface="Calibri"/>
                <a:cs typeface="Calibri"/>
              </a:rPr>
              <a:t>cursor:</a:t>
            </a:r>
            <a:r>
              <a:rPr sz="1800" dirty="0">
                <a:latin typeface="Calibri"/>
                <a:cs typeface="Calibri"/>
              </a:rPr>
              <a:t>	</a:t>
            </a:r>
            <a:r>
              <a:rPr sz="1800" b="1" dirty="0">
                <a:latin typeface="Calibri"/>
                <a:cs typeface="Calibri"/>
              </a:rPr>
              <a:t>FETCH</a:t>
            </a:r>
            <a:r>
              <a:rPr sz="1800" b="1" spc="-60" dirty="0">
                <a:latin typeface="Calibri"/>
                <a:cs typeface="Calibri"/>
              </a:rPr>
              <a:t> </a:t>
            </a:r>
            <a:r>
              <a:rPr sz="1800" spc="-8" dirty="0">
                <a:latin typeface="Calibri"/>
                <a:cs typeface="Calibri"/>
              </a:rPr>
              <a:t>c_customers</a:t>
            </a:r>
            <a:r>
              <a:rPr sz="1800" spc="-56" dirty="0">
                <a:latin typeface="Calibri"/>
                <a:cs typeface="Calibri"/>
              </a:rPr>
              <a:t> </a:t>
            </a:r>
            <a:r>
              <a:rPr sz="1800" b="1" dirty="0">
                <a:latin typeface="Calibri"/>
                <a:cs typeface="Calibri"/>
              </a:rPr>
              <a:t>into</a:t>
            </a:r>
            <a:r>
              <a:rPr sz="1800" b="1" spc="-60" dirty="0">
                <a:latin typeface="Calibri"/>
                <a:cs typeface="Calibri"/>
              </a:rPr>
              <a:t> </a:t>
            </a:r>
            <a:r>
              <a:rPr sz="1800" spc="-8" dirty="0">
                <a:latin typeface="Calibri"/>
                <a:cs typeface="Calibri"/>
              </a:rPr>
              <a:t>customers_rec;</a:t>
            </a:r>
            <a:endParaRPr sz="1800">
              <a:latin typeface="Calibri"/>
              <a:cs typeface="Calibri"/>
            </a:endParaRPr>
          </a:p>
          <a:p>
            <a:pPr marL="694849" lvl="1" indent="-342424">
              <a:spcBef>
                <a:spcPts val="164"/>
              </a:spcBef>
              <a:buAutoNum type="arabicPeriod"/>
              <a:tabLst>
                <a:tab pos="694849" algn="l"/>
              </a:tabLst>
            </a:pPr>
            <a:r>
              <a:rPr sz="1800" dirty="0">
                <a:latin typeface="Calibri"/>
                <a:cs typeface="Calibri"/>
              </a:rPr>
              <a:t>And</a:t>
            </a:r>
            <a:r>
              <a:rPr sz="1800" spc="-41" dirty="0">
                <a:latin typeface="Calibri"/>
                <a:cs typeface="Calibri"/>
              </a:rPr>
              <a:t> </a:t>
            </a:r>
            <a:r>
              <a:rPr sz="1800" dirty="0">
                <a:latin typeface="Calibri"/>
                <a:cs typeface="Calibri"/>
              </a:rPr>
              <a:t>we</a:t>
            </a:r>
            <a:r>
              <a:rPr sz="1800" spc="-38" dirty="0">
                <a:latin typeface="Calibri"/>
                <a:cs typeface="Calibri"/>
              </a:rPr>
              <a:t> </a:t>
            </a:r>
            <a:r>
              <a:rPr sz="1800" dirty="0">
                <a:latin typeface="Calibri"/>
                <a:cs typeface="Calibri"/>
              </a:rPr>
              <a:t>can</a:t>
            </a:r>
            <a:r>
              <a:rPr sz="1800" spc="-41" dirty="0">
                <a:latin typeface="Calibri"/>
                <a:cs typeface="Calibri"/>
              </a:rPr>
              <a:t> </a:t>
            </a:r>
            <a:r>
              <a:rPr sz="1800" b="1" dirty="0">
                <a:solidFill>
                  <a:srgbClr val="4472C4"/>
                </a:solidFill>
                <a:latin typeface="Calibri"/>
                <a:cs typeface="Calibri"/>
              </a:rPr>
              <a:t>close</a:t>
            </a:r>
            <a:r>
              <a:rPr sz="1800" b="1" spc="-41" dirty="0">
                <a:solidFill>
                  <a:srgbClr val="4472C4"/>
                </a:solidFill>
                <a:latin typeface="Calibri"/>
                <a:cs typeface="Calibri"/>
              </a:rPr>
              <a:t> </a:t>
            </a:r>
            <a:r>
              <a:rPr sz="1800" dirty="0">
                <a:latin typeface="Calibri"/>
                <a:cs typeface="Calibri"/>
              </a:rPr>
              <a:t>the</a:t>
            </a:r>
            <a:r>
              <a:rPr sz="1800" spc="-38" dirty="0">
                <a:latin typeface="Calibri"/>
                <a:cs typeface="Calibri"/>
              </a:rPr>
              <a:t> </a:t>
            </a:r>
            <a:r>
              <a:rPr sz="1800" dirty="0">
                <a:latin typeface="Calibri"/>
                <a:cs typeface="Calibri"/>
              </a:rPr>
              <a:t>cursor:</a:t>
            </a:r>
            <a:r>
              <a:rPr sz="1800" spc="158" dirty="0">
                <a:latin typeface="Calibri"/>
                <a:cs typeface="Calibri"/>
              </a:rPr>
              <a:t> </a:t>
            </a:r>
            <a:r>
              <a:rPr sz="1800" b="1" dirty="0">
                <a:latin typeface="Calibri"/>
                <a:cs typeface="Calibri"/>
              </a:rPr>
              <a:t>CLOSE</a:t>
            </a:r>
            <a:r>
              <a:rPr sz="1800" b="1" spc="-41" dirty="0">
                <a:latin typeface="Calibri"/>
                <a:cs typeface="Calibri"/>
              </a:rPr>
              <a:t> </a:t>
            </a:r>
            <a:r>
              <a:rPr sz="1800" spc="-8" dirty="0">
                <a:latin typeface="Calibri"/>
                <a:cs typeface="Calibri"/>
              </a:rPr>
              <a:t>c_customers;</a:t>
            </a:r>
            <a:endParaRPr sz="1800">
              <a:latin typeface="Calibri"/>
              <a:cs typeface="Calibri"/>
            </a:endParaRPr>
          </a:p>
        </p:txBody>
      </p:sp>
    </p:spTree>
  </p:cSld>
  <p:clrMapOvr>
    <a:masterClrMapping/>
  </p:clrMapOvr>
  <p:transition spd="med"/>
</p:sld>
</file>

<file path=ppt/slides/slide1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4625" y="464729"/>
            <a:ext cx="3714750"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dirty="0"/>
              <a:t>Cursor1</a:t>
            </a:r>
            <a:r>
              <a:rPr spc="-64" dirty="0"/>
              <a:t> </a:t>
            </a:r>
            <a:r>
              <a:rPr dirty="0"/>
              <a:t>–</a:t>
            </a:r>
            <a:r>
              <a:rPr spc="-60" dirty="0"/>
              <a:t> </a:t>
            </a:r>
            <a:r>
              <a:rPr dirty="0"/>
              <a:t>Step</a:t>
            </a:r>
            <a:r>
              <a:rPr spc="-56" dirty="0"/>
              <a:t> </a:t>
            </a:r>
            <a:r>
              <a:rPr spc="-38" dirty="0"/>
              <a:t>1</a:t>
            </a:r>
          </a:p>
        </p:txBody>
      </p:sp>
      <p:sp>
        <p:nvSpPr>
          <p:cNvPr id="3" name="object 3"/>
          <p:cNvSpPr txBox="1"/>
          <p:nvPr/>
        </p:nvSpPr>
        <p:spPr>
          <a:xfrm>
            <a:off x="1324894" y="5635371"/>
            <a:ext cx="4647248" cy="194284"/>
          </a:xfrm>
          <a:prstGeom prst="rect">
            <a:avLst/>
          </a:prstGeom>
        </p:spPr>
        <p:txBody>
          <a:bodyPr vert="horz" wrap="square" lIns="0" tIns="9525" rIns="0" bIns="0" rtlCol="0">
            <a:spAutoFit/>
          </a:bodyPr>
          <a:lstStyle/>
          <a:p>
            <a:pPr marL="28575">
              <a:spcBef>
                <a:spcPts val="75"/>
              </a:spcBef>
            </a:pPr>
            <a:r>
              <a:rPr sz="1800" spc="-11" baseline="26041" dirty="0">
                <a:latin typeface="Courier New"/>
                <a:cs typeface="Courier New"/>
              </a:rPr>
              <a:t>+---------+---------</a:t>
            </a:r>
            <a:r>
              <a:rPr sz="1800" spc="-934" baseline="26041" dirty="0">
                <a:latin typeface="Courier New"/>
                <a:cs typeface="Courier New"/>
              </a:rPr>
              <a:t>-</a:t>
            </a:r>
            <a:r>
              <a:rPr sz="900" spc="-8" dirty="0">
                <a:solidFill>
                  <a:srgbClr val="898989"/>
                </a:solidFill>
                <a:latin typeface="Calibri"/>
                <a:cs typeface="Calibri"/>
              </a:rPr>
              <a:t>C</a:t>
            </a:r>
            <a:r>
              <a:rPr sz="900" spc="-344" dirty="0">
                <a:solidFill>
                  <a:srgbClr val="898989"/>
                </a:solidFill>
                <a:latin typeface="Calibri"/>
                <a:cs typeface="Calibri"/>
              </a:rPr>
              <a:t>o</a:t>
            </a:r>
            <a:r>
              <a:rPr sz="1800" spc="-585" baseline="26041" dirty="0">
                <a:latin typeface="Courier New"/>
                <a:cs typeface="Courier New"/>
              </a:rPr>
              <a:t>-</a:t>
            </a:r>
            <a:r>
              <a:rPr sz="900" spc="-90" dirty="0">
                <a:solidFill>
                  <a:srgbClr val="898989"/>
                </a:solidFill>
                <a:latin typeface="Calibri"/>
                <a:cs typeface="Calibri"/>
              </a:rPr>
              <a:t>p</a:t>
            </a:r>
            <a:r>
              <a:rPr sz="1800" spc="-967" baseline="26041" dirty="0">
                <a:latin typeface="Courier New"/>
                <a:cs typeface="Courier New"/>
              </a:rPr>
              <a:t>-</a:t>
            </a:r>
            <a:r>
              <a:rPr sz="900" spc="-11" dirty="0">
                <a:solidFill>
                  <a:srgbClr val="898989"/>
                </a:solidFill>
                <a:latin typeface="Calibri"/>
                <a:cs typeface="Calibri"/>
              </a:rPr>
              <a:t>y</a:t>
            </a:r>
            <a:r>
              <a:rPr sz="900" spc="-83" dirty="0">
                <a:solidFill>
                  <a:srgbClr val="898989"/>
                </a:solidFill>
                <a:latin typeface="Calibri"/>
                <a:cs typeface="Calibri"/>
              </a:rPr>
              <a:t>r</a:t>
            </a:r>
            <a:r>
              <a:rPr sz="1800" spc="-984" baseline="26041" dirty="0">
                <a:latin typeface="Courier New"/>
                <a:cs typeface="Courier New"/>
              </a:rPr>
              <a:t>-</a:t>
            </a:r>
            <a:r>
              <a:rPr sz="900" spc="-4" dirty="0">
                <a:solidFill>
                  <a:srgbClr val="898989"/>
                </a:solidFill>
                <a:latin typeface="Calibri"/>
                <a:cs typeface="Calibri"/>
              </a:rPr>
              <a:t>ig</a:t>
            </a:r>
            <a:r>
              <a:rPr sz="900" spc="-450" dirty="0">
                <a:solidFill>
                  <a:srgbClr val="898989"/>
                </a:solidFill>
                <a:latin typeface="Calibri"/>
                <a:cs typeface="Calibri"/>
              </a:rPr>
              <a:t>h</a:t>
            </a:r>
            <a:r>
              <a:rPr sz="1800" spc="-433" baseline="26041" dirty="0">
                <a:latin typeface="Courier New"/>
                <a:cs typeface="Courier New"/>
              </a:rPr>
              <a:t>+</a:t>
            </a:r>
            <a:r>
              <a:rPr sz="900" dirty="0">
                <a:solidFill>
                  <a:srgbClr val="898989"/>
                </a:solidFill>
                <a:latin typeface="Calibri"/>
                <a:cs typeface="Calibri"/>
              </a:rPr>
              <a:t>t ©</a:t>
            </a:r>
            <a:r>
              <a:rPr sz="900" spc="4" dirty="0">
                <a:solidFill>
                  <a:srgbClr val="898989"/>
                </a:solidFill>
                <a:latin typeface="Calibri"/>
                <a:cs typeface="Calibri"/>
              </a:rPr>
              <a:t> </a:t>
            </a:r>
            <a:r>
              <a:rPr sz="900" dirty="0">
                <a:solidFill>
                  <a:srgbClr val="898989"/>
                </a:solidFill>
                <a:latin typeface="Calibri"/>
                <a:cs typeface="Calibri"/>
              </a:rPr>
              <a:t>2016</a:t>
            </a:r>
            <a:r>
              <a:rPr sz="900" spc="4" dirty="0">
                <a:solidFill>
                  <a:srgbClr val="898989"/>
                </a:solidFill>
                <a:latin typeface="Calibri"/>
                <a:cs typeface="Calibri"/>
              </a:rPr>
              <a:t> </a:t>
            </a:r>
            <a:r>
              <a:rPr sz="900" dirty="0">
                <a:solidFill>
                  <a:srgbClr val="898989"/>
                </a:solidFill>
                <a:latin typeface="Calibri"/>
                <a:cs typeface="Calibri"/>
              </a:rPr>
              <a:t>Ramez</a:t>
            </a:r>
            <a:r>
              <a:rPr sz="900" spc="8" dirty="0">
                <a:solidFill>
                  <a:srgbClr val="898989"/>
                </a:solidFill>
                <a:latin typeface="Calibri"/>
                <a:cs typeface="Calibri"/>
              </a:rPr>
              <a:t> </a:t>
            </a:r>
            <a:r>
              <a:rPr sz="900" dirty="0">
                <a:solidFill>
                  <a:srgbClr val="898989"/>
                </a:solidFill>
                <a:latin typeface="Calibri"/>
                <a:cs typeface="Calibri"/>
              </a:rPr>
              <a:t>Elmasri and </a:t>
            </a:r>
            <a:r>
              <a:rPr sz="900" spc="-8" dirty="0">
                <a:solidFill>
                  <a:srgbClr val="898989"/>
                </a:solidFill>
                <a:latin typeface="Calibri"/>
                <a:cs typeface="Calibri"/>
              </a:rPr>
              <a:t>Shamkant</a:t>
            </a:r>
            <a:r>
              <a:rPr sz="900" spc="4" dirty="0">
                <a:solidFill>
                  <a:srgbClr val="898989"/>
                </a:solidFill>
                <a:latin typeface="Calibri"/>
                <a:cs typeface="Calibri"/>
              </a:rPr>
              <a:t> </a:t>
            </a:r>
            <a:r>
              <a:rPr sz="900" dirty="0">
                <a:solidFill>
                  <a:srgbClr val="898989"/>
                </a:solidFill>
                <a:latin typeface="Calibri"/>
                <a:cs typeface="Calibri"/>
              </a:rPr>
              <a:t>B. </a:t>
            </a:r>
            <a:r>
              <a:rPr sz="900" spc="-8" dirty="0">
                <a:solidFill>
                  <a:srgbClr val="898989"/>
                </a:solidFill>
                <a:latin typeface="Calibri"/>
                <a:cs typeface="Calibri"/>
              </a:rPr>
              <a:t>Navathe</a:t>
            </a:r>
            <a:endParaRPr sz="900">
              <a:latin typeface="Calibri"/>
              <a:cs typeface="Calibri"/>
            </a:endParaRPr>
          </a:p>
        </p:txBody>
      </p:sp>
      <p:sp>
        <p:nvSpPr>
          <p:cNvPr id="4" name="object 4"/>
          <p:cNvSpPr txBox="1"/>
          <p:nvPr/>
        </p:nvSpPr>
        <p:spPr>
          <a:xfrm>
            <a:off x="8319612" y="5673472"/>
            <a:ext cx="135731" cy="148117"/>
          </a:xfrm>
          <a:prstGeom prst="rect">
            <a:avLst/>
          </a:prstGeom>
        </p:spPr>
        <p:txBody>
          <a:bodyPr vert="horz" wrap="square" lIns="0" tIns="9525" rIns="0" bIns="0" rtlCol="0">
            <a:spAutoFit/>
          </a:bodyPr>
          <a:lstStyle/>
          <a:p>
            <a:pPr marL="9525">
              <a:spcBef>
                <a:spcPts val="75"/>
              </a:spcBef>
            </a:pPr>
            <a:r>
              <a:rPr sz="900" spc="-19" dirty="0">
                <a:solidFill>
                  <a:srgbClr val="898989"/>
                </a:solidFill>
                <a:latin typeface="Calibri"/>
                <a:cs typeface="Calibri"/>
              </a:rPr>
              <a:t>35</a:t>
            </a:r>
            <a:endParaRPr sz="900">
              <a:latin typeface="Calibri"/>
              <a:cs typeface="Calibri"/>
            </a:endParaRPr>
          </a:p>
        </p:txBody>
      </p:sp>
      <p:sp>
        <p:nvSpPr>
          <p:cNvPr id="5" name="object 5"/>
          <p:cNvSpPr/>
          <p:nvPr/>
        </p:nvSpPr>
        <p:spPr>
          <a:xfrm>
            <a:off x="1445148" y="4574666"/>
            <a:ext cx="825341" cy="0"/>
          </a:xfrm>
          <a:custGeom>
            <a:avLst/>
            <a:gdLst/>
            <a:ahLst/>
            <a:cxnLst/>
            <a:rect l="l" t="t" r="r" b="b"/>
            <a:pathLst>
              <a:path w="1100455">
                <a:moveTo>
                  <a:pt x="0" y="0"/>
                </a:moveTo>
                <a:lnTo>
                  <a:pt x="1100206" y="0"/>
                </a:lnTo>
              </a:path>
            </a:pathLst>
          </a:custGeom>
          <a:ln w="16865">
            <a:solidFill>
              <a:srgbClr val="000000"/>
            </a:solidFill>
            <a:prstDash val="dash"/>
          </a:ln>
        </p:spPr>
        <p:txBody>
          <a:bodyPr wrap="square" lIns="0" tIns="0" rIns="0" bIns="0" rtlCol="0"/>
          <a:lstStyle/>
          <a:p>
            <a:endParaRPr sz="1800"/>
          </a:p>
        </p:txBody>
      </p:sp>
      <p:sp>
        <p:nvSpPr>
          <p:cNvPr id="6" name="object 6"/>
          <p:cNvSpPr/>
          <p:nvPr/>
        </p:nvSpPr>
        <p:spPr>
          <a:xfrm>
            <a:off x="2361929" y="4574666"/>
            <a:ext cx="1192054" cy="0"/>
          </a:xfrm>
          <a:custGeom>
            <a:avLst/>
            <a:gdLst/>
            <a:ahLst/>
            <a:cxnLst/>
            <a:rect l="l" t="t" r="r" b="b"/>
            <a:pathLst>
              <a:path w="1589404">
                <a:moveTo>
                  <a:pt x="0" y="0"/>
                </a:moveTo>
                <a:lnTo>
                  <a:pt x="1589186" y="0"/>
                </a:lnTo>
              </a:path>
            </a:pathLst>
          </a:custGeom>
          <a:ln w="16865">
            <a:solidFill>
              <a:srgbClr val="000000"/>
            </a:solidFill>
            <a:prstDash val="dash"/>
          </a:ln>
        </p:spPr>
        <p:txBody>
          <a:bodyPr wrap="square" lIns="0" tIns="0" rIns="0" bIns="0" rtlCol="0"/>
          <a:lstStyle/>
          <a:p>
            <a:endParaRPr sz="1800"/>
          </a:p>
        </p:txBody>
      </p:sp>
      <p:sp>
        <p:nvSpPr>
          <p:cNvPr id="7" name="object 7"/>
          <p:cNvSpPr/>
          <p:nvPr/>
        </p:nvSpPr>
        <p:spPr>
          <a:xfrm>
            <a:off x="1445148" y="4947284"/>
            <a:ext cx="825341" cy="0"/>
          </a:xfrm>
          <a:custGeom>
            <a:avLst/>
            <a:gdLst/>
            <a:ahLst/>
            <a:cxnLst/>
            <a:rect l="l" t="t" r="r" b="b"/>
            <a:pathLst>
              <a:path w="1100455">
                <a:moveTo>
                  <a:pt x="0" y="0"/>
                </a:moveTo>
                <a:lnTo>
                  <a:pt x="1100206" y="0"/>
                </a:lnTo>
              </a:path>
            </a:pathLst>
          </a:custGeom>
          <a:ln w="16865">
            <a:solidFill>
              <a:srgbClr val="000000"/>
            </a:solidFill>
            <a:prstDash val="dash"/>
          </a:ln>
        </p:spPr>
        <p:txBody>
          <a:bodyPr wrap="square" lIns="0" tIns="0" rIns="0" bIns="0" rtlCol="0"/>
          <a:lstStyle/>
          <a:p>
            <a:endParaRPr sz="1800"/>
          </a:p>
        </p:txBody>
      </p:sp>
      <p:sp>
        <p:nvSpPr>
          <p:cNvPr id="8" name="object 8"/>
          <p:cNvSpPr/>
          <p:nvPr/>
        </p:nvSpPr>
        <p:spPr>
          <a:xfrm>
            <a:off x="2361929" y="4947284"/>
            <a:ext cx="1192054" cy="0"/>
          </a:xfrm>
          <a:custGeom>
            <a:avLst/>
            <a:gdLst/>
            <a:ahLst/>
            <a:cxnLst/>
            <a:rect l="l" t="t" r="r" b="b"/>
            <a:pathLst>
              <a:path w="1589404">
                <a:moveTo>
                  <a:pt x="0" y="0"/>
                </a:moveTo>
                <a:lnTo>
                  <a:pt x="1589186" y="0"/>
                </a:lnTo>
              </a:path>
            </a:pathLst>
          </a:custGeom>
          <a:ln w="16865">
            <a:solidFill>
              <a:srgbClr val="000000"/>
            </a:solidFill>
            <a:prstDash val="dash"/>
          </a:ln>
        </p:spPr>
        <p:txBody>
          <a:bodyPr wrap="square" lIns="0" tIns="0" rIns="0" bIns="0" rtlCol="0"/>
          <a:lstStyle/>
          <a:p>
            <a:endParaRPr sz="1800"/>
          </a:p>
        </p:txBody>
      </p:sp>
      <p:sp>
        <p:nvSpPr>
          <p:cNvPr id="9" name="object 9"/>
          <p:cNvSpPr txBox="1"/>
          <p:nvPr/>
        </p:nvSpPr>
        <p:spPr>
          <a:xfrm>
            <a:off x="687705" y="2204085"/>
            <a:ext cx="7414736" cy="2219838"/>
          </a:xfrm>
          <a:prstGeom prst="rect">
            <a:avLst/>
          </a:prstGeom>
        </p:spPr>
        <p:txBody>
          <a:bodyPr vert="horz" wrap="square" lIns="0" tIns="47625" rIns="0" bIns="0" rtlCol="0">
            <a:spAutoFit/>
          </a:bodyPr>
          <a:lstStyle/>
          <a:p>
            <a:pPr marL="180499" indent="-170974">
              <a:spcBef>
                <a:spcPts val="439"/>
              </a:spcBef>
              <a:buFont typeface="Arial"/>
              <a:buChar char="•"/>
              <a:tabLst>
                <a:tab pos="180499" algn="l"/>
              </a:tabLst>
            </a:pPr>
            <a:r>
              <a:rPr sz="2100" dirty="0">
                <a:latin typeface="Calibri"/>
                <a:cs typeface="Calibri"/>
              </a:rPr>
              <a:t>Suppose</a:t>
            </a:r>
            <a:r>
              <a:rPr sz="2100" spc="-45" dirty="0">
                <a:latin typeface="Calibri"/>
                <a:cs typeface="Calibri"/>
              </a:rPr>
              <a:t> </a:t>
            </a:r>
            <a:r>
              <a:rPr sz="2100" dirty="0">
                <a:latin typeface="Calibri"/>
                <a:cs typeface="Calibri"/>
              </a:rPr>
              <a:t>we</a:t>
            </a:r>
            <a:r>
              <a:rPr sz="2100" spc="-45" dirty="0">
                <a:latin typeface="Calibri"/>
                <a:cs typeface="Calibri"/>
              </a:rPr>
              <a:t> </a:t>
            </a:r>
            <a:r>
              <a:rPr sz="2100" dirty="0">
                <a:latin typeface="Calibri"/>
                <a:cs typeface="Calibri"/>
              </a:rPr>
              <a:t>want</a:t>
            </a:r>
            <a:r>
              <a:rPr sz="2100" spc="-41" dirty="0">
                <a:latin typeface="Calibri"/>
                <a:cs typeface="Calibri"/>
              </a:rPr>
              <a:t> </a:t>
            </a:r>
            <a:r>
              <a:rPr sz="2100" dirty="0">
                <a:latin typeface="Calibri"/>
                <a:cs typeface="Calibri"/>
              </a:rPr>
              <a:t>to</a:t>
            </a:r>
            <a:r>
              <a:rPr sz="2100" spc="-38" dirty="0">
                <a:latin typeface="Calibri"/>
                <a:cs typeface="Calibri"/>
              </a:rPr>
              <a:t> </a:t>
            </a:r>
            <a:r>
              <a:rPr sz="2100" dirty="0">
                <a:latin typeface="Calibri"/>
                <a:cs typeface="Calibri"/>
              </a:rPr>
              <a:t>update</a:t>
            </a:r>
            <a:r>
              <a:rPr sz="2100" spc="-45" dirty="0">
                <a:latin typeface="Calibri"/>
                <a:cs typeface="Calibri"/>
              </a:rPr>
              <a:t> </a:t>
            </a:r>
            <a:r>
              <a:rPr sz="2100" dirty="0">
                <a:latin typeface="Calibri"/>
                <a:cs typeface="Calibri"/>
              </a:rPr>
              <a:t>all</a:t>
            </a:r>
            <a:r>
              <a:rPr sz="2100" spc="-41" dirty="0">
                <a:latin typeface="Calibri"/>
                <a:cs typeface="Calibri"/>
              </a:rPr>
              <a:t> </a:t>
            </a:r>
            <a:r>
              <a:rPr sz="2100" dirty="0">
                <a:latin typeface="Calibri"/>
                <a:cs typeface="Calibri"/>
              </a:rPr>
              <a:t>the</a:t>
            </a:r>
            <a:r>
              <a:rPr sz="2100" spc="-45" dirty="0">
                <a:latin typeface="Calibri"/>
                <a:cs typeface="Calibri"/>
              </a:rPr>
              <a:t> </a:t>
            </a:r>
            <a:r>
              <a:rPr sz="2100" dirty="0">
                <a:latin typeface="Calibri"/>
                <a:cs typeface="Calibri"/>
              </a:rPr>
              <a:t>rows</a:t>
            </a:r>
            <a:r>
              <a:rPr sz="2100" spc="-34" dirty="0">
                <a:latin typeface="Calibri"/>
                <a:cs typeface="Calibri"/>
              </a:rPr>
              <a:t> </a:t>
            </a:r>
            <a:r>
              <a:rPr sz="2100" dirty="0">
                <a:latin typeface="Calibri"/>
                <a:cs typeface="Calibri"/>
              </a:rPr>
              <a:t>in</a:t>
            </a:r>
            <a:r>
              <a:rPr sz="2100" spc="-41" dirty="0">
                <a:latin typeface="Calibri"/>
                <a:cs typeface="Calibri"/>
              </a:rPr>
              <a:t> </a:t>
            </a:r>
            <a:r>
              <a:rPr sz="2100" dirty="0">
                <a:latin typeface="Calibri"/>
                <a:cs typeface="Calibri"/>
              </a:rPr>
              <a:t>deptsal</a:t>
            </a:r>
            <a:r>
              <a:rPr sz="2100" spc="-45" dirty="0">
                <a:latin typeface="Calibri"/>
                <a:cs typeface="Calibri"/>
              </a:rPr>
              <a:t> </a:t>
            </a:r>
            <a:r>
              <a:rPr sz="2100" spc="-8" dirty="0">
                <a:latin typeface="Calibri"/>
                <a:cs typeface="Calibri"/>
              </a:rPr>
              <a:t>simultaneously</a:t>
            </a:r>
            <a:endParaRPr sz="2100" dirty="0">
              <a:latin typeface="Calibri"/>
              <a:cs typeface="Calibri"/>
            </a:endParaRPr>
          </a:p>
          <a:p>
            <a:pPr marL="522923" lvl="1" indent="-170497">
              <a:spcBef>
                <a:spcPts val="191"/>
              </a:spcBef>
              <a:buFont typeface="Arial"/>
              <a:buChar char="•"/>
              <a:tabLst>
                <a:tab pos="522923" algn="l"/>
              </a:tabLst>
            </a:pPr>
            <a:r>
              <a:rPr sz="1800" dirty="0">
                <a:latin typeface="Calibri"/>
                <a:cs typeface="Calibri"/>
              </a:rPr>
              <a:t>First,</a:t>
            </a:r>
            <a:r>
              <a:rPr sz="1800" spc="-64" dirty="0">
                <a:latin typeface="Calibri"/>
                <a:cs typeface="Calibri"/>
              </a:rPr>
              <a:t> </a:t>
            </a:r>
            <a:r>
              <a:rPr sz="1800" dirty="0">
                <a:latin typeface="Calibri"/>
                <a:cs typeface="Calibri"/>
              </a:rPr>
              <a:t>let’s</a:t>
            </a:r>
            <a:r>
              <a:rPr sz="1800" spc="-60" dirty="0">
                <a:latin typeface="Calibri"/>
                <a:cs typeface="Calibri"/>
              </a:rPr>
              <a:t> </a:t>
            </a:r>
            <a:r>
              <a:rPr sz="1800" dirty="0">
                <a:latin typeface="Calibri"/>
                <a:cs typeface="Calibri"/>
              </a:rPr>
              <a:t>reset</a:t>
            </a:r>
            <a:r>
              <a:rPr sz="1800" spc="-60" dirty="0">
                <a:latin typeface="Calibri"/>
                <a:cs typeface="Calibri"/>
              </a:rPr>
              <a:t> </a:t>
            </a:r>
            <a:r>
              <a:rPr sz="1800" dirty="0">
                <a:latin typeface="Calibri"/>
                <a:cs typeface="Calibri"/>
              </a:rPr>
              <a:t>the</a:t>
            </a:r>
            <a:r>
              <a:rPr sz="1800" spc="-53" dirty="0">
                <a:latin typeface="Calibri"/>
                <a:cs typeface="Calibri"/>
              </a:rPr>
              <a:t> </a:t>
            </a:r>
            <a:r>
              <a:rPr sz="1800" dirty="0">
                <a:latin typeface="Calibri"/>
                <a:cs typeface="Calibri"/>
              </a:rPr>
              <a:t>totalsalary</a:t>
            </a:r>
            <a:r>
              <a:rPr sz="1800" spc="-60" dirty="0">
                <a:latin typeface="Calibri"/>
                <a:cs typeface="Calibri"/>
              </a:rPr>
              <a:t> </a:t>
            </a:r>
            <a:r>
              <a:rPr sz="1800" dirty="0">
                <a:latin typeface="Calibri"/>
                <a:cs typeface="Calibri"/>
              </a:rPr>
              <a:t>in</a:t>
            </a:r>
            <a:r>
              <a:rPr sz="1800" spc="-56" dirty="0">
                <a:latin typeface="Calibri"/>
                <a:cs typeface="Calibri"/>
              </a:rPr>
              <a:t> </a:t>
            </a:r>
            <a:r>
              <a:rPr sz="1800" dirty="0">
                <a:latin typeface="Calibri"/>
                <a:cs typeface="Calibri"/>
              </a:rPr>
              <a:t>deptsal</a:t>
            </a:r>
            <a:r>
              <a:rPr sz="1800" spc="-60" dirty="0">
                <a:latin typeface="Calibri"/>
                <a:cs typeface="Calibri"/>
              </a:rPr>
              <a:t> </a:t>
            </a:r>
            <a:r>
              <a:rPr sz="1800" dirty="0">
                <a:latin typeface="Calibri"/>
                <a:cs typeface="Calibri"/>
              </a:rPr>
              <a:t>to</a:t>
            </a:r>
            <a:r>
              <a:rPr sz="1800" spc="-56" dirty="0">
                <a:latin typeface="Calibri"/>
                <a:cs typeface="Calibri"/>
              </a:rPr>
              <a:t> </a:t>
            </a:r>
            <a:r>
              <a:rPr sz="1800" spc="-15" dirty="0">
                <a:latin typeface="Calibri"/>
                <a:cs typeface="Calibri"/>
              </a:rPr>
              <a:t>zero</a:t>
            </a:r>
            <a:endParaRPr sz="1800" dirty="0">
              <a:latin typeface="Calibri"/>
              <a:cs typeface="Calibri"/>
            </a:endParaRPr>
          </a:p>
          <a:p>
            <a:pPr marL="665321" marR="2892266">
              <a:lnSpc>
                <a:spcPct val="103699"/>
              </a:lnSpc>
              <a:spcBef>
                <a:spcPts val="401"/>
              </a:spcBef>
            </a:pPr>
            <a:r>
              <a:rPr sz="1200" dirty="0">
                <a:latin typeface="Courier New"/>
                <a:cs typeface="Courier New"/>
              </a:rPr>
              <a:t>mysql&gt;</a:t>
            </a:r>
            <a:r>
              <a:rPr sz="1200" spc="-19" dirty="0">
                <a:latin typeface="Courier New"/>
                <a:cs typeface="Courier New"/>
              </a:rPr>
              <a:t> </a:t>
            </a:r>
            <a:r>
              <a:rPr sz="1200" dirty="0">
                <a:latin typeface="Courier New"/>
                <a:cs typeface="Courier New"/>
              </a:rPr>
              <a:t>update</a:t>
            </a:r>
            <a:r>
              <a:rPr sz="1200" spc="-19" dirty="0">
                <a:latin typeface="Courier New"/>
                <a:cs typeface="Courier New"/>
              </a:rPr>
              <a:t> </a:t>
            </a:r>
            <a:r>
              <a:rPr sz="1200" dirty="0">
                <a:latin typeface="Courier New"/>
                <a:cs typeface="Courier New"/>
              </a:rPr>
              <a:t>deptsal</a:t>
            </a:r>
            <a:r>
              <a:rPr sz="1200" spc="-15" dirty="0">
                <a:latin typeface="Courier New"/>
                <a:cs typeface="Courier New"/>
              </a:rPr>
              <a:t> </a:t>
            </a:r>
            <a:r>
              <a:rPr sz="1200" dirty="0">
                <a:latin typeface="Courier New"/>
                <a:cs typeface="Courier New"/>
              </a:rPr>
              <a:t>set</a:t>
            </a:r>
            <a:r>
              <a:rPr sz="1200" spc="-19" dirty="0">
                <a:latin typeface="Courier New"/>
                <a:cs typeface="Courier New"/>
              </a:rPr>
              <a:t> </a:t>
            </a:r>
            <a:r>
              <a:rPr sz="1200" dirty="0">
                <a:latin typeface="Courier New"/>
                <a:cs typeface="Courier New"/>
              </a:rPr>
              <a:t>totalsalary</a:t>
            </a:r>
            <a:r>
              <a:rPr sz="1200" spc="-19" dirty="0">
                <a:latin typeface="Courier New"/>
                <a:cs typeface="Courier New"/>
              </a:rPr>
              <a:t> </a:t>
            </a:r>
            <a:r>
              <a:rPr sz="1200" dirty="0">
                <a:latin typeface="Courier New"/>
                <a:cs typeface="Courier New"/>
              </a:rPr>
              <a:t>=</a:t>
            </a:r>
            <a:r>
              <a:rPr sz="1200" spc="-15" dirty="0">
                <a:latin typeface="Courier New"/>
                <a:cs typeface="Courier New"/>
              </a:rPr>
              <a:t> </a:t>
            </a:r>
            <a:r>
              <a:rPr sz="1200" spc="-19" dirty="0">
                <a:latin typeface="Courier New"/>
                <a:cs typeface="Courier New"/>
              </a:rPr>
              <a:t>0; </a:t>
            </a:r>
            <a:r>
              <a:rPr sz="1200" dirty="0">
                <a:latin typeface="Courier New"/>
                <a:cs typeface="Courier New"/>
              </a:rPr>
              <a:t>Query</a:t>
            </a:r>
            <a:r>
              <a:rPr sz="1200" spc="-15" dirty="0">
                <a:latin typeface="Courier New"/>
                <a:cs typeface="Courier New"/>
              </a:rPr>
              <a:t> </a:t>
            </a:r>
            <a:r>
              <a:rPr sz="1200" dirty="0">
                <a:latin typeface="Courier New"/>
                <a:cs typeface="Courier New"/>
              </a:rPr>
              <a:t>OK,</a:t>
            </a:r>
            <a:r>
              <a:rPr sz="1200" spc="-11" dirty="0">
                <a:latin typeface="Courier New"/>
                <a:cs typeface="Courier New"/>
              </a:rPr>
              <a:t> </a:t>
            </a:r>
            <a:r>
              <a:rPr sz="1200" dirty="0">
                <a:latin typeface="Courier New"/>
                <a:cs typeface="Courier New"/>
              </a:rPr>
              <a:t>3</a:t>
            </a:r>
            <a:r>
              <a:rPr sz="1200" spc="-11" dirty="0">
                <a:latin typeface="Courier New"/>
                <a:cs typeface="Courier New"/>
              </a:rPr>
              <a:t> </a:t>
            </a:r>
            <a:r>
              <a:rPr sz="1200" dirty="0">
                <a:latin typeface="Courier New"/>
                <a:cs typeface="Courier New"/>
              </a:rPr>
              <a:t>rows</a:t>
            </a:r>
            <a:r>
              <a:rPr sz="1200" spc="-15" dirty="0">
                <a:latin typeface="Courier New"/>
                <a:cs typeface="Courier New"/>
              </a:rPr>
              <a:t> </a:t>
            </a:r>
            <a:r>
              <a:rPr sz="1200" dirty="0">
                <a:latin typeface="Courier New"/>
                <a:cs typeface="Courier New"/>
              </a:rPr>
              <a:t>affected</a:t>
            </a:r>
            <a:r>
              <a:rPr sz="1200" spc="-11" dirty="0">
                <a:latin typeface="Courier New"/>
                <a:cs typeface="Courier New"/>
              </a:rPr>
              <a:t> </a:t>
            </a:r>
            <a:r>
              <a:rPr sz="1200" dirty="0">
                <a:latin typeface="Courier New"/>
                <a:cs typeface="Courier New"/>
              </a:rPr>
              <a:t>(0.00</a:t>
            </a:r>
            <a:r>
              <a:rPr sz="1200" spc="-11" dirty="0">
                <a:latin typeface="Courier New"/>
                <a:cs typeface="Courier New"/>
              </a:rPr>
              <a:t> </a:t>
            </a:r>
            <a:r>
              <a:rPr sz="1200" spc="-15" dirty="0">
                <a:latin typeface="Courier New"/>
                <a:cs typeface="Courier New"/>
              </a:rPr>
              <a:t>sec)</a:t>
            </a:r>
            <a:endParaRPr sz="1200" dirty="0">
              <a:latin typeface="Courier New"/>
              <a:cs typeface="Courier New"/>
            </a:endParaRPr>
          </a:p>
          <a:p>
            <a:pPr marL="665321">
              <a:tabLst>
                <a:tab pos="2224088" algn="l"/>
                <a:tab pos="3324225" algn="l"/>
              </a:tabLst>
            </a:pPr>
            <a:r>
              <a:rPr sz="1200" dirty="0">
                <a:latin typeface="Courier New"/>
                <a:cs typeface="Courier New"/>
              </a:rPr>
              <a:t>Rows</a:t>
            </a:r>
            <a:r>
              <a:rPr sz="1200" spc="-19" dirty="0">
                <a:latin typeface="Courier New"/>
                <a:cs typeface="Courier New"/>
              </a:rPr>
              <a:t> </a:t>
            </a:r>
            <a:r>
              <a:rPr sz="1200" dirty="0">
                <a:latin typeface="Courier New"/>
                <a:cs typeface="Courier New"/>
              </a:rPr>
              <a:t>matched:</a:t>
            </a:r>
            <a:r>
              <a:rPr sz="1200" spc="-19" dirty="0">
                <a:latin typeface="Courier New"/>
                <a:cs typeface="Courier New"/>
              </a:rPr>
              <a:t> </a:t>
            </a:r>
            <a:r>
              <a:rPr sz="1200" spc="-38" dirty="0">
                <a:latin typeface="Courier New"/>
                <a:cs typeface="Courier New"/>
              </a:rPr>
              <a:t>3</a:t>
            </a:r>
            <a:r>
              <a:rPr sz="1200" dirty="0">
                <a:latin typeface="Courier New"/>
                <a:cs typeface="Courier New"/>
              </a:rPr>
              <a:t>	Changed:</a:t>
            </a:r>
            <a:r>
              <a:rPr sz="1200" spc="-34" dirty="0">
                <a:latin typeface="Courier New"/>
                <a:cs typeface="Courier New"/>
              </a:rPr>
              <a:t> </a:t>
            </a:r>
            <a:r>
              <a:rPr sz="1200" spc="-38" dirty="0">
                <a:latin typeface="Courier New"/>
                <a:cs typeface="Courier New"/>
              </a:rPr>
              <a:t>3</a:t>
            </a:r>
            <a:r>
              <a:rPr sz="1200" dirty="0">
                <a:latin typeface="Courier New"/>
                <a:cs typeface="Courier New"/>
              </a:rPr>
              <a:t>	Warnings:</a:t>
            </a:r>
            <a:r>
              <a:rPr sz="1200" spc="-30" dirty="0">
                <a:latin typeface="Courier New"/>
                <a:cs typeface="Courier New"/>
              </a:rPr>
              <a:t> </a:t>
            </a:r>
            <a:r>
              <a:rPr sz="1200" spc="-38" dirty="0">
                <a:latin typeface="Courier New"/>
                <a:cs typeface="Courier New"/>
              </a:rPr>
              <a:t>0</a:t>
            </a:r>
            <a:endParaRPr sz="1200" dirty="0">
              <a:latin typeface="Courier New"/>
              <a:cs typeface="Courier New"/>
            </a:endParaRPr>
          </a:p>
          <a:p>
            <a:pPr>
              <a:spcBef>
                <a:spcPts val="45"/>
              </a:spcBef>
            </a:pPr>
            <a:endParaRPr sz="1200" dirty="0">
              <a:latin typeface="Courier New"/>
              <a:cs typeface="Courier New"/>
            </a:endParaRPr>
          </a:p>
          <a:p>
            <a:pPr marL="665321">
              <a:lnSpc>
                <a:spcPts val="1433"/>
              </a:lnSpc>
            </a:pPr>
            <a:r>
              <a:rPr sz="1200" dirty="0">
                <a:latin typeface="Courier New"/>
                <a:cs typeface="Courier New"/>
              </a:rPr>
              <a:t>mysql&gt;</a:t>
            </a:r>
            <a:r>
              <a:rPr sz="1200" spc="-23" dirty="0">
                <a:latin typeface="Courier New"/>
                <a:cs typeface="Courier New"/>
              </a:rPr>
              <a:t> </a:t>
            </a:r>
            <a:r>
              <a:rPr sz="1200" dirty="0">
                <a:latin typeface="Courier New"/>
                <a:cs typeface="Courier New"/>
              </a:rPr>
              <a:t>select</a:t>
            </a:r>
            <a:r>
              <a:rPr sz="1200" spc="-11" dirty="0">
                <a:latin typeface="Courier New"/>
                <a:cs typeface="Courier New"/>
              </a:rPr>
              <a:t> </a:t>
            </a:r>
            <a:r>
              <a:rPr sz="1200" dirty="0">
                <a:latin typeface="Courier New"/>
                <a:cs typeface="Courier New"/>
              </a:rPr>
              <a:t>*</a:t>
            </a:r>
            <a:r>
              <a:rPr sz="1200" spc="-11" dirty="0">
                <a:latin typeface="Courier New"/>
                <a:cs typeface="Courier New"/>
              </a:rPr>
              <a:t> </a:t>
            </a:r>
            <a:r>
              <a:rPr sz="1200" dirty="0">
                <a:latin typeface="Courier New"/>
                <a:cs typeface="Courier New"/>
              </a:rPr>
              <a:t>from</a:t>
            </a:r>
            <a:r>
              <a:rPr sz="1200" spc="-11" dirty="0">
                <a:latin typeface="Courier New"/>
                <a:cs typeface="Courier New"/>
              </a:rPr>
              <a:t> </a:t>
            </a:r>
            <a:r>
              <a:rPr sz="1200" spc="-8" dirty="0">
                <a:latin typeface="Courier New"/>
                <a:cs typeface="Courier New"/>
              </a:rPr>
              <a:t>deptsal;</a:t>
            </a:r>
            <a:endParaRPr sz="1200" dirty="0">
              <a:latin typeface="Courier New"/>
              <a:cs typeface="Courier New"/>
            </a:endParaRPr>
          </a:p>
          <a:p>
            <a:pPr marL="665321">
              <a:lnSpc>
                <a:spcPts val="1433"/>
              </a:lnSpc>
              <a:tabLst>
                <a:tab pos="1582103" algn="l"/>
                <a:tab pos="2865596" algn="l"/>
              </a:tabLst>
            </a:pPr>
            <a:r>
              <a:rPr sz="1200" spc="-38" dirty="0">
                <a:latin typeface="Courier New"/>
                <a:cs typeface="Courier New"/>
              </a:rPr>
              <a:t>+</a:t>
            </a:r>
            <a:r>
              <a:rPr sz="1200" dirty="0">
                <a:latin typeface="Courier New"/>
                <a:cs typeface="Courier New"/>
              </a:rPr>
              <a:t>	</a:t>
            </a:r>
            <a:r>
              <a:rPr sz="1200" spc="-38" dirty="0">
                <a:latin typeface="Courier New"/>
                <a:cs typeface="Courier New"/>
              </a:rPr>
              <a:t>+</a:t>
            </a:r>
            <a:r>
              <a:rPr sz="1200" dirty="0">
                <a:latin typeface="Courier New"/>
                <a:cs typeface="Courier New"/>
              </a:rPr>
              <a:t>	</a:t>
            </a:r>
            <a:r>
              <a:rPr sz="1200" spc="-38" dirty="0">
                <a:latin typeface="Courier New"/>
                <a:cs typeface="Courier New"/>
              </a:rPr>
              <a:t>+</a:t>
            </a:r>
            <a:endParaRPr sz="1200" dirty="0">
              <a:latin typeface="Courier New"/>
              <a:cs typeface="Courier New"/>
            </a:endParaRPr>
          </a:p>
          <a:p>
            <a:pPr marL="665321">
              <a:spcBef>
                <a:spcPts val="53"/>
              </a:spcBef>
            </a:pPr>
            <a:r>
              <a:rPr sz="1200" dirty="0">
                <a:latin typeface="Courier New"/>
                <a:cs typeface="Courier New"/>
              </a:rPr>
              <a:t>|</a:t>
            </a:r>
            <a:r>
              <a:rPr sz="1200" spc="-15" dirty="0">
                <a:latin typeface="Courier New"/>
                <a:cs typeface="Courier New"/>
              </a:rPr>
              <a:t> </a:t>
            </a:r>
            <a:r>
              <a:rPr sz="1200" dirty="0">
                <a:latin typeface="Courier New"/>
                <a:cs typeface="Courier New"/>
              </a:rPr>
              <a:t>dnumber</a:t>
            </a:r>
            <a:r>
              <a:rPr sz="1200" spc="-15" dirty="0">
                <a:latin typeface="Courier New"/>
                <a:cs typeface="Courier New"/>
              </a:rPr>
              <a:t> </a:t>
            </a:r>
            <a:r>
              <a:rPr sz="1200" dirty="0">
                <a:latin typeface="Courier New"/>
                <a:cs typeface="Courier New"/>
              </a:rPr>
              <a:t>|</a:t>
            </a:r>
            <a:r>
              <a:rPr sz="1200" spc="-15" dirty="0">
                <a:latin typeface="Courier New"/>
                <a:cs typeface="Courier New"/>
              </a:rPr>
              <a:t> </a:t>
            </a:r>
            <a:r>
              <a:rPr sz="1200" dirty="0">
                <a:latin typeface="Courier New"/>
                <a:cs typeface="Courier New"/>
              </a:rPr>
              <a:t>totalsalary</a:t>
            </a:r>
            <a:r>
              <a:rPr sz="1200" spc="-15" dirty="0">
                <a:latin typeface="Courier New"/>
                <a:cs typeface="Courier New"/>
              </a:rPr>
              <a:t> </a:t>
            </a:r>
            <a:r>
              <a:rPr sz="1200" spc="-38" dirty="0">
                <a:latin typeface="Courier New"/>
                <a:cs typeface="Courier New"/>
              </a:rPr>
              <a:t>|</a:t>
            </a:r>
            <a:endParaRPr sz="1200" dirty="0">
              <a:latin typeface="Courier New"/>
              <a:cs typeface="Courier New"/>
            </a:endParaRPr>
          </a:p>
          <a:p>
            <a:pPr marL="665321">
              <a:tabLst>
                <a:tab pos="1582103" algn="l"/>
                <a:tab pos="2865596" algn="l"/>
              </a:tabLst>
            </a:pPr>
            <a:r>
              <a:rPr sz="1200" spc="-38" dirty="0">
                <a:latin typeface="Courier New"/>
                <a:cs typeface="Courier New"/>
              </a:rPr>
              <a:t>+</a:t>
            </a:r>
            <a:r>
              <a:rPr sz="1200" dirty="0">
                <a:latin typeface="Courier New"/>
                <a:cs typeface="Courier New"/>
              </a:rPr>
              <a:t>	</a:t>
            </a:r>
            <a:r>
              <a:rPr sz="1200" spc="-38" dirty="0">
                <a:latin typeface="Courier New"/>
                <a:cs typeface="Courier New"/>
              </a:rPr>
              <a:t>+</a:t>
            </a:r>
            <a:r>
              <a:rPr sz="1200" dirty="0">
                <a:latin typeface="Courier New"/>
                <a:cs typeface="Courier New"/>
              </a:rPr>
              <a:t>	</a:t>
            </a:r>
            <a:r>
              <a:rPr sz="1200" spc="-38" dirty="0">
                <a:latin typeface="Courier New"/>
                <a:cs typeface="Courier New"/>
              </a:rPr>
              <a:t>+</a:t>
            </a:r>
            <a:endParaRPr sz="1200" dirty="0">
              <a:latin typeface="Courier New"/>
              <a:cs typeface="Courier New"/>
            </a:endParaRPr>
          </a:p>
        </p:txBody>
      </p:sp>
      <p:sp>
        <p:nvSpPr>
          <p:cNvPr id="10" name="object 10"/>
          <p:cNvSpPr txBox="1"/>
          <p:nvPr/>
        </p:nvSpPr>
        <p:spPr>
          <a:xfrm>
            <a:off x="1343944" y="5013580"/>
            <a:ext cx="110966" cy="549509"/>
          </a:xfrm>
          <a:prstGeom prst="rect">
            <a:avLst/>
          </a:prstGeom>
        </p:spPr>
        <p:txBody>
          <a:bodyPr vert="horz" wrap="square" lIns="0" tIns="9525" rIns="0" bIns="0" rtlCol="0">
            <a:spAutoFit/>
          </a:bodyPr>
          <a:lstStyle/>
          <a:p>
            <a:pPr marL="9525">
              <a:lnSpc>
                <a:spcPts val="1433"/>
              </a:lnSpc>
              <a:spcBef>
                <a:spcPts val="75"/>
              </a:spcBef>
            </a:pPr>
            <a:r>
              <a:rPr sz="1200" spc="-38" dirty="0">
                <a:latin typeface="Courier New"/>
                <a:cs typeface="Courier New"/>
              </a:rPr>
              <a:t>|</a:t>
            </a:r>
            <a:endParaRPr sz="1200">
              <a:latin typeface="Courier New"/>
              <a:cs typeface="Courier New"/>
            </a:endParaRPr>
          </a:p>
          <a:p>
            <a:pPr marL="9525">
              <a:lnSpc>
                <a:spcPts val="1421"/>
              </a:lnSpc>
            </a:pPr>
            <a:r>
              <a:rPr sz="1200" spc="-38" dirty="0">
                <a:latin typeface="Courier New"/>
                <a:cs typeface="Courier New"/>
              </a:rPr>
              <a:t>|</a:t>
            </a:r>
            <a:endParaRPr sz="1200">
              <a:latin typeface="Courier New"/>
              <a:cs typeface="Courier New"/>
            </a:endParaRPr>
          </a:p>
          <a:p>
            <a:pPr marL="9525">
              <a:lnSpc>
                <a:spcPts val="1433"/>
              </a:lnSpc>
            </a:pPr>
            <a:r>
              <a:rPr sz="1200" spc="-38" dirty="0">
                <a:latin typeface="Courier New"/>
                <a:cs typeface="Courier New"/>
              </a:rPr>
              <a:t>|</a:t>
            </a:r>
            <a:endParaRPr sz="1200">
              <a:latin typeface="Courier New"/>
              <a:cs typeface="Courier New"/>
            </a:endParaRPr>
          </a:p>
        </p:txBody>
      </p:sp>
      <p:sp>
        <p:nvSpPr>
          <p:cNvPr id="11" name="object 11"/>
          <p:cNvSpPr txBox="1"/>
          <p:nvPr/>
        </p:nvSpPr>
        <p:spPr>
          <a:xfrm>
            <a:off x="2077369" y="5013580"/>
            <a:ext cx="294323" cy="549509"/>
          </a:xfrm>
          <a:prstGeom prst="rect">
            <a:avLst/>
          </a:prstGeom>
        </p:spPr>
        <p:txBody>
          <a:bodyPr vert="horz" wrap="square" lIns="0" tIns="9525" rIns="0" bIns="0" rtlCol="0">
            <a:spAutoFit/>
          </a:bodyPr>
          <a:lstStyle/>
          <a:p>
            <a:pPr marL="9525">
              <a:lnSpc>
                <a:spcPts val="1433"/>
              </a:lnSpc>
              <a:spcBef>
                <a:spcPts val="75"/>
              </a:spcBef>
            </a:pPr>
            <a:r>
              <a:rPr sz="1200" dirty="0">
                <a:latin typeface="Courier New"/>
                <a:cs typeface="Courier New"/>
              </a:rPr>
              <a:t>5 </a:t>
            </a:r>
            <a:r>
              <a:rPr sz="1200" spc="-38" dirty="0">
                <a:latin typeface="Courier New"/>
                <a:cs typeface="Courier New"/>
              </a:rPr>
              <a:t>|</a:t>
            </a:r>
            <a:endParaRPr sz="1200">
              <a:latin typeface="Courier New"/>
              <a:cs typeface="Courier New"/>
            </a:endParaRPr>
          </a:p>
          <a:p>
            <a:pPr marL="9525">
              <a:lnSpc>
                <a:spcPts val="1421"/>
              </a:lnSpc>
            </a:pPr>
            <a:r>
              <a:rPr sz="1200" dirty="0">
                <a:latin typeface="Courier New"/>
                <a:cs typeface="Courier New"/>
              </a:rPr>
              <a:t>4 </a:t>
            </a:r>
            <a:r>
              <a:rPr sz="1200" spc="-38" dirty="0">
                <a:latin typeface="Courier New"/>
                <a:cs typeface="Courier New"/>
              </a:rPr>
              <a:t>|</a:t>
            </a:r>
            <a:endParaRPr sz="1200">
              <a:latin typeface="Courier New"/>
              <a:cs typeface="Courier New"/>
            </a:endParaRPr>
          </a:p>
          <a:p>
            <a:pPr marL="9525">
              <a:lnSpc>
                <a:spcPts val="1433"/>
              </a:lnSpc>
            </a:pPr>
            <a:r>
              <a:rPr sz="1200" dirty="0">
                <a:latin typeface="Courier New"/>
                <a:cs typeface="Courier New"/>
              </a:rPr>
              <a:t>1 </a:t>
            </a:r>
            <a:r>
              <a:rPr sz="1200" spc="-38" dirty="0">
                <a:latin typeface="Courier New"/>
                <a:cs typeface="Courier New"/>
              </a:rPr>
              <a:t>|</a:t>
            </a:r>
            <a:endParaRPr sz="1200">
              <a:latin typeface="Courier New"/>
              <a:cs typeface="Courier New"/>
            </a:endParaRPr>
          </a:p>
        </p:txBody>
      </p:sp>
      <p:sp>
        <p:nvSpPr>
          <p:cNvPr id="12" name="object 12"/>
          <p:cNvSpPr txBox="1"/>
          <p:nvPr/>
        </p:nvSpPr>
        <p:spPr>
          <a:xfrm>
            <a:off x="3360862" y="5013580"/>
            <a:ext cx="294323" cy="549509"/>
          </a:xfrm>
          <a:prstGeom prst="rect">
            <a:avLst/>
          </a:prstGeom>
        </p:spPr>
        <p:txBody>
          <a:bodyPr vert="horz" wrap="square" lIns="0" tIns="9525" rIns="0" bIns="0" rtlCol="0">
            <a:spAutoFit/>
          </a:bodyPr>
          <a:lstStyle/>
          <a:p>
            <a:pPr marL="9525">
              <a:lnSpc>
                <a:spcPts val="1433"/>
              </a:lnSpc>
              <a:spcBef>
                <a:spcPts val="75"/>
              </a:spcBef>
            </a:pPr>
            <a:r>
              <a:rPr sz="1200" dirty="0">
                <a:latin typeface="Courier New"/>
                <a:cs typeface="Courier New"/>
              </a:rPr>
              <a:t>0 </a:t>
            </a:r>
            <a:r>
              <a:rPr sz="1200" spc="-38" dirty="0">
                <a:latin typeface="Courier New"/>
                <a:cs typeface="Courier New"/>
              </a:rPr>
              <a:t>|</a:t>
            </a:r>
            <a:endParaRPr sz="1200">
              <a:latin typeface="Courier New"/>
              <a:cs typeface="Courier New"/>
            </a:endParaRPr>
          </a:p>
          <a:p>
            <a:pPr marL="9525">
              <a:lnSpc>
                <a:spcPts val="1421"/>
              </a:lnSpc>
            </a:pPr>
            <a:r>
              <a:rPr sz="1200" dirty="0">
                <a:latin typeface="Courier New"/>
                <a:cs typeface="Courier New"/>
              </a:rPr>
              <a:t>0 </a:t>
            </a:r>
            <a:r>
              <a:rPr sz="1200" spc="-38" dirty="0">
                <a:latin typeface="Courier New"/>
                <a:cs typeface="Courier New"/>
              </a:rPr>
              <a:t>|</a:t>
            </a:r>
            <a:endParaRPr sz="1200">
              <a:latin typeface="Courier New"/>
              <a:cs typeface="Courier New"/>
            </a:endParaRPr>
          </a:p>
          <a:p>
            <a:pPr marL="9525">
              <a:lnSpc>
                <a:spcPts val="1433"/>
              </a:lnSpc>
            </a:pPr>
            <a:r>
              <a:rPr sz="1200" dirty="0">
                <a:latin typeface="Courier New"/>
                <a:cs typeface="Courier New"/>
              </a:rPr>
              <a:t>0 </a:t>
            </a:r>
            <a:r>
              <a:rPr sz="1200" spc="-38" dirty="0">
                <a:latin typeface="Courier New"/>
                <a:cs typeface="Courier New"/>
              </a:rPr>
              <a:t>|</a:t>
            </a:r>
            <a:endParaRPr sz="1200">
              <a:latin typeface="Courier New"/>
              <a:cs typeface="Courier New"/>
            </a:endParaRPr>
          </a:p>
        </p:txBody>
      </p:sp>
      <p:sp>
        <p:nvSpPr>
          <p:cNvPr id="13" name="object 13"/>
          <p:cNvSpPr txBox="1"/>
          <p:nvPr/>
        </p:nvSpPr>
        <p:spPr>
          <a:xfrm>
            <a:off x="1343944" y="5747385"/>
            <a:ext cx="2219801" cy="194284"/>
          </a:xfrm>
          <a:prstGeom prst="rect">
            <a:avLst/>
          </a:prstGeom>
        </p:spPr>
        <p:txBody>
          <a:bodyPr vert="horz" wrap="square" lIns="0" tIns="9525" rIns="0" bIns="0" rtlCol="0">
            <a:spAutoFit/>
          </a:bodyPr>
          <a:lstStyle/>
          <a:p>
            <a:pPr marL="9525">
              <a:spcBef>
                <a:spcPts val="75"/>
              </a:spcBef>
            </a:pPr>
            <a:r>
              <a:rPr sz="1200" dirty="0">
                <a:latin typeface="Courier New"/>
                <a:cs typeface="Courier New"/>
              </a:rPr>
              <a:t>3</a:t>
            </a:r>
            <a:r>
              <a:rPr sz="1200" spc="-8" dirty="0">
                <a:latin typeface="Courier New"/>
                <a:cs typeface="Courier New"/>
              </a:rPr>
              <a:t> </a:t>
            </a:r>
            <a:r>
              <a:rPr sz="1200" dirty="0">
                <a:latin typeface="Courier New"/>
                <a:cs typeface="Courier New"/>
              </a:rPr>
              <a:t>rows</a:t>
            </a:r>
            <a:r>
              <a:rPr sz="1200" spc="-8" dirty="0">
                <a:latin typeface="Courier New"/>
                <a:cs typeface="Courier New"/>
              </a:rPr>
              <a:t> </a:t>
            </a:r>
            <a:r>
              <a:rPr sz="1200" dirty="0">
                <a:latin typeface="Courier New"/>
                <a:cs typeface="Courier New"/>
              </a:rPr>
              <a:t>in</a:t>
            </a:r>
            <a:r>
              <a:rPr sz="1200" spc="-8" dirty="0">
                <a:latin typeface="Courier New"/>
                <a:cs typeface="Courier New"/>
              </a:rPr>
              <a:t> </a:t>
            </a:r>
            <a:r>
              <a:rPr sz="1200" dirty="0">
                <a:latin typeface="Courier New"/>
                <a:cs typeface="Courier New"/>
              </a:rPr>
              <a:t>set</a:t>
            </a:r>
            <a:r>
              <a:rPr sz="1200" spc="-8" dirty="0">
                <a:latin typeface="Courier New"/>
                <a:cs typeface="Courier New"/>
              </a:rPr>
              <a:t> </a:t>
            </a:r>
            <a:r>
              <a:rPr sz="1200" dirty="0">
                <a:latin typeface="Courier New"/>
                <a:cs typeface="Courier New"/>
              </a:rPr>
              <a:t>(0.01</a:t>
            </a:r>
            <a:r>
              <a:rPr sz="1200" spc="-8" dirty="0">
                <a:latin typeface="Courier New"/>
                <a:cs typeface="Courier New"/>
              </a:rPr>
              <a:t> </a:t>
            </a:r>
            <a:r>
              <a:rPr sz="1200" spc="-15" dirty="0">
                <a:latin typeface="Courier New"/>
                <a:cs typeface="Courier New"/>
              </a:rPr>
              <a:t>sec)</a:t>
            </a:r>
            <a:endParaRPr sz="1200">
              <a:latin typeface="Courier New"/>
              <a:cs typeface="Courier New"/>
            </a:endParaRPr>
          </a:p>
        </p:txBody>
      </p:sp>
      <p:sp>
        <p:nvSpPr>
          <p:cNvPr id="14" name="object 14"/>
          <p:cNvSpPr txBox="1"/>
          <p:nvPr/>
        </p:nvSpPr>
        <p:spPr>
          <a:xfrm>
            <a:off x="7271779" y="1147191"/>
            <a:ext cx="461010" cy="217367"/>
          </a:xfrm>
          <a:prstGeom prst="rect">
            <a:avLst/>
          </a:prstGeom>
        </p:spPr>
        <p:txBody>
          <a:bodyPr vert="horz" wrap="square" lIns="0" tIns="9525" rIns="0" bIns="0" rtlCol="0">
            <a:spAutoFit/>
          </a:bodyPr>
          <a:lstStyle/>
          <a:p>
            <a:pPr marL="9525">
              <a:spcBef>
                <a:spcPts val="75"/>
              </a:spcBef>
            </a:pPr>
            <a:r>
              <a:rPr sz="1350" spc="-8" dirty="0">
                <a:latin typeface="Calibri"/>
                <a:cs typeface="Calibri"/>
              </a:rPr>
              <a:t>Q4.sql</a:t>
            </a:r>
            <a:endParaRPr sz="1350" dirty="0">
              <a:latin typeface="Calibri"/>
              <a:cs typeface="Calibri"/>
            </a:endParaRPr>
          </a:p>
        </p:txBody>
      </p:sp>
    </p:spTree>
  </p:cSld>
  <p:clrMapOvr>
    <a:masterClrMapping/>
  </p:clrMapOvr>
  <p:transition spd="med"/>
</p:sld>
</file>

<file path=ppt/slides/slide1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3951" y="410536"/>
            <a:ext cx="4806314"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dirty="0"/>
              <a:t>Cursor1</a:t>
            </a:r>
            <a:r>
              <a:rPr spc="-64" dirty="0"/>
              <a:t> </a:t>
            </a:r>
            <a:r>
              <a:rPr dirty="0"/>
              <a:t>–</a:t>
            </a:r>
            <a:r>
              <a:rPr spc="-60" dirty="0"/>
              <a:t> </a:t>
            </a:r>
            <a:r>
              <a:rPr dirty="0"/>
              <a:t>Step</a:t>
            </a:r>
            <a:r>
              <a:rPr spc="-56" dirty="0"/>
              <a:t> </a:t>
            </a:r>
            <a:r>
              <a:rPr spc="-38" dirty="0"/>
              <a:t>2</a:t>
            </a:r>
          </a:p>
        </p:txBody>
      </p:sp>
      <p:sp>
        <p:nvSpPr>
          <p:cNvPr id="3" name="object 3"/>
          <p:cNvSpPr txBox="1"/>
          <p:nvPr/>
        </p:nvSpPr>
        <p:spPr>
          <a:xfrm>
            <a:off x="687705" y="1570102"/>
            <a:ext cx="3688556" cy="1284326"/>
          </a:xfrm>
          <a:prstGeom prst="rect">
            <a:avLst/>
          </a:prstGeom>
        </p:spPr>
        <p:txBody>
          <a:bodyPr vert="horz" wrap="square" lIns="0" tIns="78105" rIns="0" bIns="0" rtlCol="0">
            <a:spAutoFit/>
          </a:bodyPr>
          <a:lstStyle/>
          <a:p>
            <a:pPr marL="180022" indent="-170497">
              <a:spcBef>
                <a:spcPts val="615"/>
              </a:spcBef>
              <a:buFont typeface="Arial"/>
              <a:buChar char="•"/>
              <a:tabLst>
                <a:tab pos="180022" algn="l"/>
              </a:tabLst>
            </a:pPr>
            <a:r>
              <a:rPr sz="1800" dirty="0">
                <a:latin typeface="Calibri"/>
                <a:cs typeface="Calibri"/>
              </a:rPr>
              <a:t>Drop</a:t>
            </a:r>
            <a:r>
              <a:rPr sz="1800" spc="-38" dirty="0">
                <a:latin typeface="Calibri"/>
                <a:cs typeface="Calibri"/>
              </a:rPr>
              <a:t> </a:t>
            </a:r>
            <a:r>
              <a:rPr sz="1800" dirty="0">
                <a:latin typeface="Calibri"/>
                <a:cs typeface="Calibri"/>
              </a:rPr>
              <a:t>the</a:t>
            </a:r>
            <a:r>
              <a:rPr sz="1800" spc="-30" dirty="0">
                <a:latin typeface="Calibri"/>
                <a:cs typeface="Calibri"/>
              </a:rPr>
              <a:t> </a:t>
            </a:r>
            <a:r>
              <a:rPr sz="1800" dirty="0">
                <a:latin typeface="Calibri"/>
                <a:cs typeface="Calibri"/>
              </a:rPr>
              <a:t>old</a:t>
            </a:r>
            <a:r>
              <a:rPr sz="1800" spc="-34" dirty="0">
                <a:latin typeface="Calibri"/>
                <a:cs typeface="Calibri"/>
              </a:rPr>
              <a:t> </a:t>
            </a:r>
            <a:r>
              <a:rPr sz="1800" spc="-8" dirty="0">
                <a:latin typeface="Calibri"/>
                <a:cs typeface="Calibri"/>
              </a:rPr>
              <a:t>procedure</a:t>
            </a:r>
            <a:endParaRPr sz="1800" dirty="0">
              <a:latin typeface="Calibri"/>
              <a:cs typeface="Calibri"/>
            </a:endParaRPr>
          </a:p>
          <a:p>
            <a:pPr marL="180022" indent="-170497">
              <a:spcBef>
                <a:spcPts val="540"/>
              </a:spcBef>
              <a:buFont typeface="Arial"/>
              <a:buChar char="•"/>
              <a:tabLst>
                <a:tab pos="180022" algn="l"/>
              </a:tabLst>
            </a:pPr>
            <a:r>
              <a:rPr sz="1800" dirty="0">
                <a:latin typeface="Calibri"/>
                <a:cs typeface="Calibri"/>
              </a:rPr>
              <a:t>Create</a:t>
            </a:r>
            <a:r>
              <a:rPr sz="1800" spc="-45" dirty="0">
                <a:latin typeface="Calibri"/>
                <a:cs typeface="Calibri"/>
              </a:rPr>
              <a:t> </a:t>
            </a:r>
            <a:r>
              <a:rPr sz="1800" dirty="0">
                <a:latin typeface="Calibri"/>
                <a:cs typeface="Calibri"/>
              </a:rPr>
              <a:t>new</a:t>
            </a:r>
            <a:r>
              <a:rPr sz="1800" spc="-56" dirty="0">
                <a:latin typeface="Calibri"/>
                <a:cs typeface="Calibri"/>
              </a:rPr>
              <a:t> </a:t>
            </a:r>
            <a:r>
              <a:rPr sz="1800" spc="-8" dirty="0">
                <a:latin typeface="Calibri"/>
                <a:cs typeface="Calibri"/>
              </a:rPr>
              <a:t>updateSalary</a:t>
            </a:r>
            <a:r>
              <a:rPr sz="1800" spc="-45" dirty="0">
                <a:latin typeface="Calibri"/>
                <a:cs typeface="Calibri"/>
              </a:rPr>
              <a:t> </a:t>
            </a:r>
            <a:r>
              <a:rPr sz="1800" dirty="0">
                <a:latin typeface="Calibri"/>
                <a:cs typeface="Calibri"/>
              </a:rPr>
              <a:t>using</a:t>
            </a:r>
            <a:r>
              <a:rPr sz="1800" spc="-53" dirty="0">
                <a:latin typeface="Calibri"/>
                <a:cs typeface="Calibri"/>
              </a:rPr>
              <a:t> </a:t>
            </a:r>
            <a:r>
              <a:rPr sz="1800" spc="-8" dirty="0">
                <a:latin typeface="Calibri"/>
                <a:cs typeface="Calibri"/>
              </a:rPr>
              <a:t>cursor</a:t>
            </a:r>
            <a:endParaRPr sz="1800" dirty="0">
              <a:latin typeface="Calibri"/>
              <a:cs typeface="Calibri"/>
            </a:endParaRPr>
          </a:p>
          <a:p>
            <a:pPr marL="231934">
              <a:spcBef>
                <a:spcPts val="821"/>
              </a:spcBef>
            </a:pPr>
            <a:r>
              <a:rPr sz="1050" dirty="0">
                <a:latin typeface="Courier New"/>
                <a:cs typeface="Courier New"/>
              </a:rPr>
              <a:t>mysql&gt;</a:t>
            </a:r>
            <a:r>
              <a:rPr sz="1050" spc="-45" dirty="0">
                <a:latin typeface="Courier New"/>
                <a:cs typeface="Courier New"/>
              </a:rPr>
              <a:t> </a:t>
            </a:r>
            <a:r>
              <a:rPr sz="1050" dirty="0">
                <a:latin typeface="Courier New"/>
                <a:cs typeface="Courier New"/>
              </a:rPr>
              <a:t>delimiter</a:t>
            </a:r>
            <a:r>
              <a:rPr sz="1050" spc="-41" dirty="0">
                <a:latin typeface="Courier New"/>
                <a:cs typeface="Courier New"/>
              </a:rPr>
              <a:t> </a:t>
            </a:r>
            <a:r>
              <a:rPr sz="1050" dirty="0">
                <a:latin typeface="Courier New"/>
                <a:cs typeface="Courier New"/>
              </a:rPr>
              <a:t>$$</a:t>
            </a:r>
            <a:r>
              <a:rPr sz="1050" spc="-41" dirty="0">
                <a:latin typeface="Courier New"/>
                <a:cs typeface="Courier New"/>
              </a:rPr>
              <a:t> </a:t>
            </a:r>
            <a:r>
              <a:rPr sz="1050" spc="-38" dirty="0">
                <a:latin typeface="Courier New"/>
                <a:cs typeface="Courier New"/>
              </a:rPr>
              <a:t>;</a:t>
            </a:r>
            <a:endParaRPr sz="1050" dirty="0">
              <a:latin typeface="Courier New"/>
              <a:cs typeface="Courier New"/>
            </a:endParaRPr>
          </a:p>
          <a:p>
            <a:pPr marL="231934"/>
            <a:r>
              <a:rPr sz="1050" dirty="0">
                <a:latin typeface="Courier New"/>
                <a:cs typeface="Courier New"/>
              </a:rPr>
              <a:t>mysql&gt;</a:t>
            </a:r>
            <a:r>
              <a:rPr sz="1050" spc="-60" dirty="0">
                <a:latin typeface="Courier New"/>
                <a:cs typeface="Courier New"/>
              </a:rPr>
              <a:t> </a:t>
            </a:r>
            <a:r>
              <a:rPr sz="1050" dirty="0">
                <a:latin typeface="Courier New"/>
                <a:cs typeface="Courier New"/>
              </a:rPr>
              <a:t>create</a:t>
            </a:r>
            <a:r>
              <a:rPr sz="1050" spc="-53" dirty="0">
                <a:latin typeface="Courier New"/>
                <a:cs typeface="Courier New"/>
              </a:rPr>
              <a:t> </a:t>
            </a:r>
            <a:r>
              <a:rPr sz="1050" dirty="0">
                <a:latin typeface="Courier New"/>
                <a:cs typeface="Courier New"/>
              </a:rPr>
              <a:t>procedure</a:t>
            </a:r>
            <a:r>
              <a:rPr sz="1050" spc="-53" dirty="0">
                <a:latin typeface="Courier New"/>
                <a:cs typeface="Courier New"/>
              </a:rPr>
              <a:t> </a:t>
            </a:r>
            <a:r>
              <a:rPr sz="1050" spc="-8" dirty="0">
                <a:latin typeface="Courier New"/>
                <a:cs typeface="Courier New"/>
              </a:rPr>
              <a:t>updateSalary()</a:t>
            </a:r>
            <a:endParaRPr sz="1050" dirty="0">
              <a:latin typeface="Courier New"/>
              <a:cs typeface="Courier New"/>
            </a:endParaRPr>
          </a:p>
          <a:p>
            <a:pPr marL="551021">
              <a:spcBef>
                <a:spcPts val="19"/>
              </a:spcBef>
            </a:pPr>
            <a:r>
              <a:rPr sz="1050" spc="-8" dirty="0">
                <a:latin typeface="Courier New"/>
                <a:cs typeface="Courier New"/>
              </a:rPr>
              <a:t>-</a:t>
            </a:r>
            <a:r>
              <a:rPr sz="1050" dirty="0">
                <a:latin typeface="Courier New"/>
                <a:cs typeface="Courier New"/>
              </a:rPr>
              <a:t>&gt;</a:t>
            </a:r>
            <a:r>
              <a:rPr sz="1050" spc="-8" dirty="0">
                <a:latin typeface="Courier New"/>
                <a:cs typeface="Courier New"/>
              </a:rPr>
              <a:t> </a:t>
            </a:r>
            <a:r>
              <a:rPr sz="1050" spc="-15" dirty="0">
                <a:latin typeface="Courier New"/>
                <a:cs typeface="Courier New"/>
              </a:rPr>
              <a:t>begin</a:t>
            </a:r>
            <a:endParaRPr sz="1050" dirty="0">
              <a:latin typeface="Courier New"/>
              <a:cs typeface="Courier New"/>
            </a:endParaRPr>
          </a:p>
        </p:txBody>
      </p:sp>
      <p:sp>
        <p:nvSpPr>
          <p:cNvPr id="4" name="object 4"/>
          <p:cNvSpPr txBox="1"/>
          <p:nvPr/>
        </p:nvSpPr>
        <p:spPr>
          <a:xfrm>
            <a:off x="3190685" y="5673472"/>
            <a:ext cx="2762726" cy="148117"/>
          </a:xfrm>
          <a:prstGeom prst="rect">
            <a:avLst/>
          </a:prstGeom>
        </p:spPr>
        <p:txBody>
          <a:bodyPr vert="horz" wrap="square" lIns="0" tIns="9525" rIns="0" bIns="0" rtlCol="0">
            <a:spAutoFit/>
          </a:bodyPr>
          <a:lstStyle/>
          <a:p>
            <a:pPr marL="9525">
              <a:spcBef>
                <a:spcPts val="75"/>
              </a:spcBef>
            </a:pPr>
            <a:r>
              <a:rPr sz="900" spc="-8" dirty="0">
                <a:solidFill>
                  <a:srgbClr val="898989"/>
                </a:solidFill>
                <a:latin typeface="Calibri"/>
                <a:cs typeface="Calibri"/>
              </a:rPr>
              <a:t>Copyright</a:t>
            </a:r>
            <a:r>
              <a:rPr sz="900" spc="-11" dirty="0">
                <a:solidFill>
                  <a:srgbClr val="898989"/>
                </a:solidFill>
                <a:latin typeface="Calibri"/>
                <a:cs typeface="Calibri"/>
              </a:rPr>
              <a:t> </a:t>
            </a:r>
            <a:r>
              <a:rPr sz="900" dirty="0">
                <a:solidFill>
                  <a:srgbClr val="898989"/>
                </a:solidFill>
                <a:latin typeface="Calibri"/>
                <a:cs typeface="Calibri"/>
              </a:rPr>
              <a:t>©</a:t>
            </a:r>
            <a:r>
              <a:rPr sz="900" spc="-8" dirty="0">
                <a:solidFill>
                  <a:srgbClr val="898989"/>
                </a:solidFill>
                <a:latin typeface="Calibri"/>
                <a:cs typeface="Calibri"/>
              </a:rPr>
              <a:t> </a:t>
            </a:r>
            <a:r>
              <a:rPr sz="900" dirty="0">
                <a:solidFill>
                  <a:srgbClr val="898989"/>
                </a:solidFill>
                <a:latin typeface="Calibri"/>
                <a:cs typeface="Calibri"/>
              </a:rPr>
              <a:t>2016</a:t>
            </a:r>
            <a:r>
              <a:rPr sz="900" spc="-8" dirty="0">
                <a:solidFill>
                  <a:srgbClr val="898989"/>
                </a:solidFill>
                <a:latin typeface="Calibri"/>
                <a:cs typeface="Calibri"/>
              </a:rPr>
              <a:t> </a:t>
            </a:r>
            <a:r>
              <a:rPr sz="900" dirty="0">
                <a:solidFill>
                  <a:srgbClr val="898989"/>
                </a:solidFill>
                <a:latin typeface="Calibri"/>
                <a:cs typeface="Calibri"/>
              </a:rPr>
              <a:t>Ramez</a:t>
            </a:r>
            <a:r>
              <a:rPr sz="900" spc="-4" dirty="0">
                <a:solidFill>
                  <a:srgbClr val="898989"/>
                </a:solidFill>
                <a:latin typeface="Calibri"/>
                <a:cs typeface="Calibri"/>
              </a:rPr>
              <a:t> </a:t>
            </a:r>
            <a:r>
              <a:rPr sz="900" dirty="0">
                <a:solidFill>
                  <a:srgbClr val="898989"/>
                </a:solidFill>
                <a:latin typeface="Calibri"/>
                <a:cs typeface="Calibri"/>
              </a:rPr>
              <a:t>Elmasri</a:t>
            </a:r>
            <a:r>
              <a:rPr sz="900" spc="-11" dirty="0">
                <a:solidFill>
                  <a:srgbClr val="898989"/>
                </a:solidFill>
                <a:latin typeface="Calibri"/>
                <a:cs typeface="Calibri"/>
              </a:rPr>
              <a:t> </a:t>
            </a:r>
            <a:r>
              <a:rPr sz="900" dirty="0">
                <a:solidFill>
                  <a:srgbClr val="898989"/>
                </a:solidFill>
                <a:latin typeface="Calibri"/>
                <a:cs typeface="Calibri"/>
              </a:rPr>
              <a:t>and</a:t>
            </a:r>
            <a:r>
              <a:rPr sz="900" spc="-11" dirty="0">
                <a:solidFill>
                  <a:srgbClr val="898989"/>
                </a:solidFill>
                <a:latin typeface="Calibri"/>
                <a:cs typeface="Calibri"/>
              </a:rPr>
              <a:t> </a:t>
            </a:r>
            <a:r>
              <a:rPr sz="900" spc="-8" dirty="0">
                <a:solidFill>
                  <a:srgbClr val="898989"/>
                </a:solidFill>
                <a:latin typeface="Calibri"/>
                <a:cs typeface="Calibri"/>
              </a:rPr>
              <a:t>Shamkant</a:t>
            </a:r>
            <a:r>
              <a:rPr sz="900" spc="-11" dirty="0">
                <a:solidFill>
                  <a:srgbClr val="898989"/>
                </a:solidFill>
                <a:latin typeface="Calibri"/>
                <a:cs typeface="Calibri"/>
              </a:rPr>
              <a:t> </a:t>
            </a:r>
            <a:r>
              <a:rPr sz="900" dirty="0">
                <a:solidFill>
                  <a:srgbClr val="898989"/>
                </a:solidFill>
                <a:latin typeface="Calibri"/>
                <a:cs typeface="Calibri"/>
              </a:rPr>
              <a:t>B.</a:t>
            </a:r>
            <a:r>
              <a:rPr sz="900" spc="-8" dirty="0">
                <a:solidFill>
                  <a:srgbClr val="898989"/>
                </a:solidFill>
                <a:latin typeface="Calibri"/>
                <a:cs typeface="Calibri"/>
              </a:rPr>
              <a:t> Navathe</a:t>
            </a:r>
            <a:endParaRPr sz="900">
              <a:latin typeface="Calibri"/>
              <a:cs typeface="Calibri"/>
            </a:endParaRPr>
          </a:p>
        </p:txBody>
      </p:sp>
      <p:sp>
        <p:nvSpPr>
          <p:cNvPr id="5" name="object 5"/>
          <p:cNvSpPr txBox="1"/>
          <p:nvPr/>
        </p:nvSpPr>
        <p:spPr>
          <a:xfrm>
            <a:off x="8319612" y="5673472"/>
            <a:ext cx="135731" cy="148117"/>
          </a:xfrm>
          <a:prstGeom prst="rect">
            <a:avLst/>
          </a:prstGeom>
        </p:spPr>
        <p:txBody>
          <a:bodyPr vert="horz" wrap="square" lIns="0" tIns="9525" rIns="0" bIns="0" rtlCol="0">
            <a:spAutoFit/>
          </a:bodyPr>
          <a:lstStyle/>
          <a:p>
            <a:pPr marL="9525">
              <a:spcBef>
                <a:spcPts val="75"/>
              </a:spcBef>
            </a:pPr>
            <a:r>
              <a:rPr sz="900" spc="-19" dirty="0">
                <a:solidFill>
                  <a:srgbClr val="898989"/>
                </a:solidFill>
                <a:latin typeface="Calibri"/>
                <a:cs typeface="Calibri"/>
              </a:rPr>
              <a:t>36</a:t>
            </a:r>
            <a:endParaRPr sz="900">
              <a:latin typeface="Calibri"/>
              <a:cs typeface="Calibri"/>
            </a:endParaRPr>
          </a:p>
        </p:txBody>
      </p:sp>
      <p:sp>
        <p:nvSpPr>
          <p:cNvPr id="6" name="object 6"/>
          <p:cNvSpPr txBox="1"/>
          <p:nvPr/>
        </p:nvSpPr>
        <p:spPr>
          <a:xfrm>
            <a:off x="4631055" y="1736217"/>
            <a:ext cx="3609499" cy="171201"/>
          </a:xfrm>
          <a:prstGeom prst="rect">
            <a:avLst/>
          </a:prstGeom>
        </p:spPr>
        <p:txBody>
          <a:bodyPr vert="horz" wrap="square" lIns="0" tIns="9525" rIns="0" bIns="0" rtlCol="0">
            <a:spAutoFit/>
          </a:bodyPr>
          <a:lstStyle/>
          <a:p>
            <a:pPr marL="9525">
              <a:spcBef>
                <a:spcPts val="75"/>
              </a:spcBef>
            </a:pPr>
            <a:r>
              <a:rPr sz="1050" dirty="0">
                <a:latin typeface="Courier New"/>
                <a:cs typeface="Courier New"/>
              </a:rPr>
              <a:t>mysql&gt;</a:t>
            </a:r>
            <a:r>
              <a:rPr sz="1050" spc="-49" dirty="0">
                <a:latin typeface="Courier New"/>
                <a:cs typeface="Courier New"/>
              </a:rPr>
              <a:t> </a:t>
            </a:r>
            <a:r>
              <a:rPr sz="1050" dirty="0">
                <a:latin typeface="Courier New"/>
                <a:cs typeface="Courier New"/>
              </a:rPr>
              <a:t>drop</a:t>
            </a:r>
            <a:r>
              <a:rPr sz="1050" spc="-41" dirty="0">
                <a:latin typeface="Courier New"/>
                <a:cs typeface="Courier New"/>
              </a:rPr>
              <a:t> </a:t>
            </a:r>
            <a:r>
              <a:rPr sz="1050" dirty="0">
                <a:latin typeface="Courier New"/>
                <a:cs typeface="Courier New"/>
              </a:rPr>
              <a:t>procedure</a:t>
            </a:r>
            <a:r>
              <a:rPr sz="1050" spc="-41" dirty="0">
                <a:latin typeface="Courier New"/>
                <a:cs typeface="Courier New"/>
              </a:rPr>
              <a:t> </a:t>
            </a:r>
            <a:r>
              <a:rPr sz="1050" dirty="0">
                <a:latin typeface="Courier New"/>
                <a:cs typeface="Courier New"/>
              </a:rPr>
              <a:t>if</a:t>
            </a:r>
            <a:r>
              <a:rPr sz="1050" spc="-41" dirty="0">
                <a:latin typeface="Courier New"/>
                <a:cs typeface="Courier New"/>
              </a:rPr>
              <a:t> </a:t>
            </a:r>
            <a:r>
              <a:rPr sz="1050" dirty="0">
                <a:latin typeface="Courier New"/>
                <a:cs typeface="Courier New"/>
              </a:rPr>
              <a:t>exists</a:t>
            </a:r>
            <a:r>
              <a:rPr sz="1050" spc="-38" dirty="0">
                <a:latin typeface="Courier New"/>
                <a:cs typeface="Courier New"/>
              </a:rPr>
              <a:t> </a:t>
            </a:r>
            <a:r>
              <a:rPr sz="1050" spc="-8" dirty="0">
                <a:latin typeface="Courier New"/>
                <a:cs typeface="Courier New"/>
              </a:rPr>
              <a:t>updateSalary;</a:t>
            </a:r>
            <a:endParaRPr sz="1050">
              <a:latin typeface="Courier New"/>
              <a:cs typeface="Courier New"/>
            </a:endParaRPr>
          </a:p>
        </p:txBody>
      </p:sp>
      <p:sp>
        <p:nvSpPr>
          <p:cNvPr id="7" name="object 7"/>
          <p:cNvSpPr txBox="1"/>
          <p:nvPr/>
        </p:nvSpPr>
        <p:spPr>
          <a:xfrm>
            <a:off x="1628340" y="3645027"/>
            <a:ext cx="1056799" cy="171201"/>
          </a:xfrm>
          <a:prstGeom prst="rect">
            <a:avLst/>
          </a:prstGeom>
        </p:spPr>
        <p:txBody>
          <a:bodyPr vert="horz" wrap="square" lIns="0" tIns="9525" rIns="0" bIns="0" rtlCol="0">
            <a:spAutoFit/>
          </a:bodyPr>
          <a:lstStyle/>
          <a:p>
            <a:pPr marL="9525">
              <a:spcBef>
                <a:spcPts val="75"/>
              </a:spcBef>
            </a:pPr>
            <a:r>
              <a:rPr sz="1050" dirty="0">
                <a:latin typeface="Courier New"/>
                <a:cs typeface="Courier New"/>
              </a:rPr>
              <a:t>open</a:t>
            </a:r>
            <a:r>
              <a:rPr sz="1050" spc="-30" dirty="0">
                <a:latin typeface="Courier New"/>
                <a:cs typeface="Courier New"/>
              </a:rPr>
              <a:t> </a:t>
            </a:r>
            <a:r>
              <a:rPr sz="1050" spc="-8" dirty="0">
                <a:latin typeface="Courier New"/>
                <a:cs typeface="Courier New"/>
              </a:rPr>
              <a:t>dnumcur;</a:t>
            </a:r>
            <a:endParaRPr sz="1050">
              <a:latin typeface="Courier New"/>
              <a:cs typeface="Courier New"/>
            </a:endParaRPr>
          </a:p>
        </p:txBody>
      </p:sp>
      <p:sp>
        <p:nvSpPr>
          <p:cNvPr id="8" name="object 8"/>
          <p:cNvSpPr txBox="1"/>
          <p:nvPr/>
        </p:nvSpPr>
        <p:spPr>
          <a:xfrm>
            <a:off x="1628339" y="3960496"/>
            <a:ext cx="4247198" cy="1294585"/>
          </a:xfrm>
          <a:prstGeom prst="rect">
            <a:avLst/>
          </a:prstGeom>
        </p:spPr>
        <p:txBody>
          <a:bodyPr vert="horz" wrap="square" lIns="0" tIns="9525" rIns="0" bIns="0" rtlCol="0">
            <a:spAutoFit/>
          </a:bodyPr>
          <a:lstStyle/>
          <a:p>
            <a:pPr marL="9525">
              <a:spcBef>
                <a:spcPts val="75"/>
              </a:spcBef>
            </a:pPr>
            <a:r>
              <a:rPr sz="1050" spc="-8" dirty="0">
                <a:latin typeface="Courier New"/>
                <a:cs typeface="Courier New"/>
              </a:rPr>
              <a:t>repeat</a:t>
            </a:r>
            <a:endParaRPr sz="1050">
              <a:latin typeface="Courier New"/>
              <a:cs typeface="Courier New"/>
            </a:endParaRPr>
          </a:p>
          <a:p>
            <a:pPr marL="169069" marR="1518761">
              <a:lnSpc>
                <a:spcPts val="1275"/>
              </a:lnSpc>
              <a:spcBef>
                <a:spcPts val="30"/>
              </a:spcBef>
            </a:pPr>
            <a:r>
              <a:rPr sz="1050" dirty="0">
                <a:latin typeface="Courier New"/>
                <a:cs typeface="Courier New"/>
              </a:rPr>
              <a:t>fetch</a:t>
            </a:r>
            <a:r>
              <a:rPr sz="1050" spc="-41" dirty="0">
                <a:latin typeface="Courier New"/>
                <a:cs typeface="Courier New"/>
              </a:rPr>
              <a:t> </a:t>
            </a:r>
            <a:r>
              <a:rPr sz="1050" dirty="0">
                <a:latin typeface="Courier New"/>
                <a:cs typeface="Courier New"/>
              </a:rPr>
              <a:t>dnumcur</a:t>
            </a:r>
            <a:r>
              <a:rPr sz="1050" spc="-41" dirty="0">
                <a:latin typeface="Courier New"/>
                <a:cs typeface="Courier New"/>
              </a:rPr>
              <a:t> </a:t>
            </a:r>
            <a:r>
              <a:rPr sz="1050" dirty="0">
                <a:latin typeface="Courier New"/>
                <a:cs typeface="Courier New"/>
              </a:rPr>
              <a:t>into</a:t>
            </a:r>
            <a:r>
              <a:rPr sz="1050" spc="-38" dirty="0">
                <a:latin typeface="Courier New"/>
                <a:cs typeface="Courier New"/>
              </a:rPr>
              <a:t> </a:t>
            </a:r>
            <a:r>
              <a:rPr sz="1050" spc="-8" dirty="0">
                <a:latin typeface="Courier New"/>
                <a:cs typeface="Courier New"/>
              </a:rPr>
              <a:t>current_dnum; </a:t>
            </a:r>
            <a:r>
              <a:rPr sz="1050" dirty="0">
                <a:latin typeface="Courier New"/>
                <a:cs typeface="Courier New"/>
              </a:rPr>
              <a:t>update</a:t>
            </a:r>
            <a:r>
              <a:rPr sz="1050" spc="-45" dirty="0">
                <a:latin typeface="Courier New"/>
                <a:cs typeface="Courier New"/>
              </a:rPr>
              <a:t> </a:t>
            </a:r>
            <a:r>
              <a:rPr sz="1050" spc="-8" dirty="0">
                <a:latin typeface="Courier New"/>
                <a:cs typeface="Courier New"/>
              </a:rPr>
              <a:t>deptsal</a:t>
            </a:r>
            <a:endParaRPr sz="1050">
              <a:latin typeface="Courier New"/>
              <a:cs typeface="Courier New"/>
            </a:endParaRPr>
          </a:p>
          <a:p>
            <a:pPr marL="169069">
              <a:lnSpc>
                <a:spcPts val="1238"/>
              </a:lnSpc>
            </a:pPr>
            <a:r>
              <a:rPr sz="1050" dirty="0">
                <a:latin typeface="Courier New"/>
                <a:cs typeface="Courier New"/>
              </a:rPr>
              <a:t>set</a:t>
            </a:r>
            <a:r>
              <a:rPr sz="1050" spc="-49" dirty="0">
                <a:latin typeface="Courier New"/>
                <a:cs typeface="Courier New"/>
              </a:rPr>
              <a:t> </a:t>
            </a:r>
            <a:r>
              <a:rPr sz="1050" dirty="0">
                <a:latin typeface="Courier New"/>
                <a:cs typeface="Courier New"/>
              </a:rPr>
              <a:t>totalsalary</a:t>
            </a:r>
            <a:r>
              <a:rPr sz="1050" spc="-45" dirty="0">
                <a:latin typeface="Courier New"/>
                <a:cs typeface="Courier New"/>
              </a:rPr>
              <a:t> </a:t>
            </a:r>
            <a:r>
              <a:rPr sz="1050" dirty="0">
                <a:latin typeface="Courier New"/>
                <a:cs typeface="Courier New"/>
              </a:rPr>
              <a:t>=</a:t>
            </a:r>
            <a:r>
              <a:rPr sz="1050" spc="-45" dirty="0">
                <a:latin typeface="Courier New"/>
                <a:cs typeface="Courier New"/>
              </a:rPr>
              <a:t> </a:t>
            </a:r>
            <a:r>
              <a:rPr sz="1050" dirty="0">
                <a:latin typeface="Courier New"/>
                <a:cs typeface="Courier New"/>
              </a:rPr>
              <a:t>(select</a:t>
            </a:r>
            <a:r>
              <a:rPr sz="1050" spc="-49" dirty="0">
                <a:latin typeface="Courier New"/>
                <a:cs typeface="Courier New"/>
              </a:rPr>
              <a:t> </a:t>
            </a:r>
            <a:r>
              <a:rPr sz="1050" dirty="0">
                <a:latin typeface="Courier New"/>
                <a:cs typeface="Courier New"/>
              </a:rPr>
              <a:t>sum(salary)</a:t>
            </a:r>
            <a:r>
              <a:rPr sz="1050" spc="-45" dirty="0">
                <a:latin typeface="Courier New"/>
                <a:cs typeface="Courier New"/>
              </a:rPr>
              <a:t> </a:t>
            </a:r>
            <a:r>
              <a:rPr sz="1050" dirty="0">
                <a:latin typeface="Courier New"/>
                <a:cs typeface="Courier New"/>
              </a:rPr>
              <a:t>from</a:t>
            </a:r>
            <a:r>
              <a:rPr sz="1050" spc="-45" dirty="0">
                <a:latin typeface="Courier New"/>
                <a:cs typeface="Courier New"/>
              </a:rPr>
              <a:t> </a:t>
            </a:r>
            <a:r>
              <a:rPr sz="1050" spc="-8" dirty="0">
                <a:latin typeface="Courier New"/>
                <a:cs typeface="Courier New"/>
              </a:rPr>
              <a:t>employee</a:t>
            </a:r>
            <a:endParaRPr sz="1050">
              <a:latin typeface="Courier New"/>
              <a:cs typeface="Courier New"/>
            </a:endParaRPr>
          </a:p>
          <a:p>
            <a:pPr marL="169069" marR="561499" indent="1515428">
              <a:lnSpc>
                <a:spcPts val="1208"/>
              </a:lnSpc>
              <a:spcBef>
                <a:spcPts val="101"/>
              </a:spcBef>
            </a:pPr>
            <a:r>
              <a:rPr sz="1050" dirty="0">
                <a:latin typeface="Courier New"/>
                <a:cs typeface="Courier New"/>
              </a:rPr>
              <a:t>where</a:t>
            </a:r>
            <a:r>
              <a:rPr sz="1050" spc="-30" dirty="0">
                <a:latin typeface="Courier New"/>
                <a:cs typeface="Courier New"/>
              </a:rPr>
              <a:t> </a:t>
            </a:r>
            <a:r>
              <a:rPr sz="1050" dirty="0">
                <a:latin typeface="Courier New"/>
                <a:cs typeface="Courier New"/>
              </a:rPr>
              <a:t>dno</a:t>
            </a:r>
            <a:r>
              <a:rPr sz="1050" spc="-23" dirty="0">
                <a:latin typeface="Courier New"/>
                <a:cs typeface="Courier New"/>
              </a:rPr>
              <a:t> </a:t>
            </a:r>
            <a:r>
              <a:rPr sz="1050" dirty="0">
                <a:latin typeface="Courier New"/>
                <a:cs typeface="Courier New"/>
              </a:rPr>
              <a:t>=</a:t>
            </a:r>
            <a:r>
              <a:rPr sz="1050" spc="-23" dirty="0">
                <a:latin typeface="Courier New"/>
                <a:cs typeface="Courier New"/>
              </a:rPr>
              <a:t> </a:t>
            </a:r>
            <a:r>
              <a:rPr sz="1050" spc="-8" dirty="0">
                <a:latin typeface="Courier New"/>
                <a:cs typeface="Courier New"/>
              </a:rPr>
              <a:t>current_dnum) </a:t>
            </a:r>
            <a:r>
              <a:rPr sz="1050" dirty="0">
                <a:latin typeface="Courier New"/>
                <a:cs typeface="Courier New"/>
              </a:rPr>
              <a:t>where</a:t>
            </a:r>
            <a:r>
              <a:rPr sz="1050" spc="-34" dirty="0">
                <a:latin typeface="Courier New"/>
                <a:cs typeface="Courier New"/>
              </a:rPr>
              <a:t> </a:t>
            </a:r>
            <a:r>
              <a:rPr sz="1050" dirty="0">
                <a:latin typeface="Courier New"/>
                <a:cs typeface="Courier New"/>
              </a:rPr>
              <a:t>dnumber</a:t>
            </a:r>
            <a:r>
              <a:rPr sz="1050" spc="-34" dirty="0">
                <a:latin typeface="Courier New"/>
                <a:cs typeface="Courier New"/>
              </a:rPr>
              <a:t> </a:t>
            </a:r>
            <a:r>
              <a:rPr sz="1050" dirty="0">
                <a:latin typeface="Courier New"/>
                <a:cs typeface="Courier New"/>
              </a:rPr>
              <a:t>=</a:t>
            </a:r>
            <a:r>
              <a:rPr sz="1050" spc="-30" dirty="0">
                <a:latin typeface="Courier New"/>
                <a:cs typeface="Courier New"/>
              </a:rPr>
              <a:t> </a:t>
            </a:r>
            <a:r>
              <a:rPr sz="1050" spc="-8" dirty="0">
                <a:latin typeface="Courier New"/>
                <a:cs typeface="Courier New"/>
              </a:rPr>
              <a:t>current_dnum;</a:t>
            </a:r>
            <a:endParaRPr sz="1050">
              <a:latin typeface="Courier New"/>
              <a:cs typeface="Courier New"/>
            </a:endParaRPr>
          </a:p>
          <a:p>
            <a:pPr marL="9525">
              <a:lnSpc>
                <a:spcPts val="1226"/>
              </a:lnSpc>
            </a:pPr>
            <a:r>
              <a:rPr sz="1050" dirty="0">
                <a:latin typeface="Courier New"/>
                <a:cs typeface="Courier New"/>
              </a:rPr>
              <a:t>until</a:t>
            </a:r>
            <a:r>
              <a:rPr sz="1050" spc="-38" dirty="0">
                <a:latin typeface="Courier New"/>
                <a:cs typeface="Courier New"/>
              </a:rPr>
              <a:t> </a:t>
            </a:r>
            <a:r>
              <a:rPr sz="1050" spc="-15" dirty="0">
                <a:latin typeface="Courier New"/>
                <a:cs typeface="Courier New"/>
              </a:rPr>
              <a:t>done</a:t>
            </a:r>
            <a:endParaRPr sz="1050">
              <a:latin typeface="Courier New"/>
              <a:cs typeface="Courier New"/>
            </a:endParaRPr>
          </a:p>
          <a:p>
            <a:pPr marL="9525">
              <a:spcBef>
                <a:spcPts val="19"/>
              </a:spcBef>
            </a:pPr>
            <a:r>
              <a:rPr sz="1050" dirty="0">
                <a:latin typeface="Courier New"/>
                <a:cs typeface="Courier New"/>
              </a:rPr>
              <a:t>end</a:t>
            </a:r>
            <a:r>
              <a:rPr sz="1050" spc="-23" dirty="0">
                <a:latin typeface="Courier New"/>
                <a:cs typeface="Courier New"/>
              </a:rPr>
              <a:t> </a:t>
            </a:r>
            <a:r>
              <a:rPr sz="1050" spc="-8" dirty="0">
                <a:latin typeface="Courier New"/>
                <a:cs typeface="Courier New"/>
              </a:rPr>
              <a:t>repeat;</a:t>
            </a:r>
            <a:endParaRPr sz="1050">
              <a:latin typeface="Courier New"/>
              <a:cs typeface="Courier New"/>
            </a:endParaRPr>
          </a:p>
        </p:txBody>
      </p:sp>
      <p:sp>
        <p:nvSpPr>
          <p:cNvPr id="9" name="object 9"/>
          <p:cNvSpPr txBox="1"/>
          <p:nvPr/>
        </p:nvSpPr>
        <p:spPr>
          <a:xfrm>
            <a:off x="1229480" y="2844927"/>
            <a:ext cx="4806315" cy="2548775"/>
          </a:xfrm>
          <a:prstGeom prst="rect">
            <a:avLst/>
          </a:prstGeom>
        </p:spPr>
        <p:txBody>
          <a:bodyPr vert="horz" wrap="square" lIns="0" tIns="9525" rIns="0" bIns="0" rtlCol="0">
            <a:spAutoFit/>
          </a:bodyPr>
          <a:lstStyle/>
          <a:p>
            <a:pPr marL="9525">
              <a:spcBef>
                <a:spcPts val="75"/>
              </a:spcBef>
              <a:tabLst>
                <a:tab pos="408146" algn="l"/>
              </a:tabLst>
            </a:pPr>
            <a:r>
              <a:rPr sz="1050" spc="-8" dirty="0">
                <a:latin typeface="Courier New"/>
                <a:cs typeface="Courier New"/>
              </a:rPr>
              <a:t>-</a:t>
            </a:r>
            <a:r>
              <a:rPr sz="1050" spc="-38" dirty="0">
                <a:latin typeface="Courier New"/>
                <a:cs typeface="Courier New"/>
              </a:rPr>
              <a:t>&gt;</a:t>
            </a:r>
            <a:r>
              <a:rPr sz="1050" dirty="0">
                <a:latin typeface="Courier New"/>
                <a:cs typeface="Courier New"/>
              </a:rPr>
              <a:t>	declare</a:t>
            </a:r>
            <a:r>
              <a:rPr sz="1050" spc="-41" dirty="0">
                <a:latin typeface="Courier New"/>
                <a:cs typeface="Courier New"/>
              </a:rPr>
              <a:t> </a:t>
            </a:r>
            <a:r>
              <a:rPr sz="1050" dirty="0">
                <a:latin typeface="Courier New"/>
                <a:cs typeface="Courier New"/>
              </a:rPr>
              <a:t>done</a:t>
            </a:r>
            <a:r>
              <a:rPr sz="1050" spc="-38" dirty="0">
                <a:latin typeface="Courier New"/>
                <a:cs typeface="Courier New"/>
              </a:rPr>
              <a:t> </a:t>
            </a:r>
            <a:r>
              <a:rPr sz="1050" dirty="0">
                <a:latin typeface="Courier New"/>
                <a:cs typeface="Courier New"/>
              </a:rPr>
              <a:t>int</a:t>
            </a:r>
            <a:r>
              <a:rPr sz="1050" spc="-41" dirty="0">
                <a:latin typeface="Courier New"/>
                <a:cs typeface="Courier New"/>
              </a:rPr>
              <a:t> </a:t>
            </a:r>
            <a:r>
              <a:rPr sz="1050" dirty="0">
                <a:latin typeface="Courier New"/>
                <a:cs typeface="Courier New"/>
              </a:rPr>
              <a:t>default</a:t>
            </a:r>
            <a:r>
              <a:rPr sz="1050" spc="-38" dirty="0">
                <a:latin typeface="Courier New"/>
                <a:cs typeface="Courier New"/>
              </a:rPr>
              <a:t> </a:t>
            </a:r>
            <a:r>
              <a:rPr sz="1050" spc="-19" dirty="0">
                <a:latin typeface="Courier New"/>
                <a:cs typeface="Courier New"/>
              </a:rPr>
              <a:t>0;</a:t>
            </a:r>
            <a:endParaRPr sz="1050" dirty="0">
              <a:latin typeface="Courier New"/>
              <a:cs typeface="Courier New"/>
            </a:endParaRPr>
          </a:p>
          <a:p>
            <a:pPr marL="9525">
              <a:lnSpc>
                <a:spcPts val="1234"/>
              </a:lnSpc>
              <a:spcBef>
                <a:spcPts val="19"/>
              </a:spcBef>
              <a:tabLst>
                <a:tab pos="408146" algn="l"/>
              </a:tabLst>
            </a:pPr>
            <a:r>
              <a:rPr sz="1050" spc="-8" dirty="0">
                <a:latin typeface="Courier New"/>
                <a:cs typeface="Courier New"/>
              </a:rPr>
              <a:t>-</a:t>
            </a:r>
            <a:r>
              <a:rPr sz="1050" spc="-38" dirty="0">
                <a:latin typeface="Courier New"/>
                <a:cs typeface="Courier New"/>
              </a:rPr>
              <a:t>&gt;</a:t>
            </a:r>
            <a:r>
              <a:rPr sz="1050" dirty="0">
                <a:latin typeface="Courier New"/>
                <a:cs typeface="Courier New"/>
              </a:rPr>
              <a:t>	declare</a:t>
            </a:r>
            <a:r>
              <a:rPr sz="1050" spc="-71" dirty="0">
                <a:latin typeface="Courier New"/>
                <a:cs typeface="Courier New"/>
              </a:rPr>
              <a:t> </a:t>
            </a:r>
            <a:r>
              <a:rPr sz="1050" dirty="0">
                <a:latin typeface="Courier New"/>
                <a:cs typeface="Courier New"/>
              </a:rPr>
              <a:t>current_dnum</a:t>
            </a:r>
            <a:r>
              <a:rPr sz="1050" spc="-71" dirty="0">
                <a:latin typeface="Courier New"/>
                <a:cs typeface="Courier New"/>
              </a:rPr>
              <a:t> </a:t>
            </a:r>
            <a:r>
              <a:rPr sz="1050" spc="-15" dirty="0">
                <a:latin typeface="Courier New"/>
                <a:cs typeface="Courier New"/>
              </a:rPr>
              <a:t>int;</a:t>
            </a:r>
            <a:endParaRPr sz="1050" dirty="0">
              <a:latin typeface="Courier New"/>
              <a:cs typeface="Courier New"/>
            </a:endParaRPr>
          </a:p>
          <a:p>
            <a:pPr marL="9525">
              <a:lnSpc>
                <a:spcPts val="1234"/>
              </a:lnSpc>
              <a:tabLst>
                <a:tab pos="408146" algn="l"/>
              </a:tabLst>
            </a:pPr>
            <a:r>
              <a:rPr sz="1050" spc="-8" dirty="0">
                <a:latin typeface="Courier New"/>
                <a:cs typeface="Courier New"/>
              </a:rPr>
              <a:t>-</a:t>
            </a:r>
            <a:r>
              <a:rPr sz="1050" spc="-38" dirty="0">
                <a:latin typeface="Courier New"/>
                <a:cs typeface="Courier New"/>
              </a:rPr>
              <a:t>&gt;</a:t>
            </a:r>
            <a:r>
              <a:rPr sz="1050" dirty="0">
                <a:latin typeface="Courier New"/>
                <a:cs typeface="Courier New"/>
              </a:rPr>
              <a:t>	declare</a:t>
            </a:r>
            <a:r>
              <a:rPr sz="1050" spc="-53" dirty="0">
                <a:latin typeface="Courier New"/>
                <a:cs typeface="Courier New"/>
              </a:rPr>
              <a:t> </a:t>
            </a:r>
            <a:r>
              <a:rPr sz="1050" dirty="0">
                <a:latin typeface="Courier New"/>
                <a:cs typeface="Courier New"/>
              </a:rPr>
              <a:t>dnumcur</a:t>
            </a:r>
            <a:r>
              <a:rPr sz="1050" spc="-41" dirty="0">
                <a:latin typeface="Courier New"/>
                <a:cs typeface="Courier New"/>
              </a:rPr>
              <a:t> </a:t>
            </a:r>
            <a:r>
              <a:rPr sz="1050" dirty="0">
                <a:latin typeface="Courier New"/>
                <a:cs typeface="Courier New"/>
              </a:rPr>
              <a:t>cursor</a:t>
            </a:r>
            <a:r>
              <a:rPr sz="1050" spc="-45" dirty="0">
                <a:latin typeface="Courier New"/>
                <a:cs typeface="Courier New"/>
              </a:rPr>
              <a:t> </a:t>
            </a:r>
            <a:r>
              <a:rPr sz="1050" dirty="0">
                <a:latin typeface="Courier New"/>
                <a:cs typeface="Courier New"/>
              </a:rPr>
              <a:t>for</a:t>
            </a:r>
            <a:r>
              <a:rPr sz="1050" spc="-41" dirty="0">
                <a:latin typeface="Courier New"/>
                <a:cs typeface="Courier New"/>
              </a:rPr>
              <a:t> </a:t>
            </a:r>
            <a:r>
              <a:rPr sz="1050" dirty="0">
                <a:latin typeface="Courier New"/>
                <a:cs typeface="Courier New"/>
              </a:rPr>
              <a:t>select</a:t>
            </a:r>
            <a:r>
              <a:rPr sz="1050" spc="-45" dirty="0">
                <a:latin typeface="Courier New"/>
                <a:cs typeface="Courier New"/>
              </a:rPr>
              <a:t> </a:t>
            </a:r>
            <a:r>
              <a:rPr sz="1050" dirty="0">
                <a:latin typeface="Courier New"/>
                <a:cs typeface="Courier New"/>
              </a:rPr>
              <a:t>dnumber</a:t>
            </a:r>
            <a:r>
              <a:rPr sz="1050" spc="-41" dirty="0">
                <a:latin typeface="Courier New"/>
                <a:cs typeface="Courier New"/>
              </a:rPr>
              <a:t> </a:t>
            </a:r>
            <a:r>
              <a:rPr sz="1050" dirty="0">
                <a:latin typeface="Courier New"/>
                <a:cs typeface="Courier New"/>
              </a:rPr>
              <a:t>from</a:t>
            </a:r>
            <a:r>
              <a:rPr sz="1050" spc="-41" dirty="0">
                <a:latin typeface="Courier New"/>
                <a:cs typeface="Courier New"/>
              </a:rPr>
              <a:t> </a:t>
            </a:r>
            <a:r>
              <a:rPr sz="1050" spc="-8" dirty="0">
                <a:latin typeface="Courier New"/>
                <a:cs typeface="Courier New"/>
              </a:rPr>
              <a:t>deptsal;</a:t>
            </a:r>
            <a:endParaRPr sz="1050" dirty="0">
              <a:latin typeface="Courier New"/>
              <a:cs typeface="Courier New"/>
            </a:endParaRPr>
          </a:p>
          <a:p>
            <a:pPr marL="9525">
              <a:tabLst>
                <a:tab pos="408146" algn="l"/>
              </a:tabLst>
            </a:pPr>
            <a:r>
              <a:rPr sz="1050" spc="-8" dirty="0">
                <a:latin typeface="Courier New"/>
                <a:cs typeface="Courier New"/>
              </a:rPr>
              <a:t>-</a:t>
            </a:r>
            <a:r>
              <a:rPr sz="1050" spc="-38" dirty="0">
                <a:latin typeface="Courier New"/>
                <a:cs typeface="Courier New"/>
              </a:rPr>
              <a:t>&gt;</a:t>
            </a:r>
            <a:r>
              <a:rPr sz="1050" dirty="0">
                <a:latin typeface="Courier New"/>
                <a:cs typeface="Courier New"/>
              </a:rPr>
              <a:t>	declare</a:t>
            </a:r>
            <a:r>
              <a:rPr sz="1050" spc="-45" dirty="0">
                <a:latin typeface="Courier New"/>
                <a:cs typeface="Courier New"/>
              </a:rPr>
              <a:t> </a:t>
            </a:r>
            <a:r>
              <a:rPr sz="1050" dirty="0">
                <a:latin typeface="Courier New"/>
                <a:cs typeface="Courier New"/>
              </a:rPr>
              <a:t>continue</a:t>
            </a:r>
            <a:r>
              <a:rPr sz="1050" spc="-34" dirty="0">
                <a:latin typeface="Courier New"/>
                <a:cs typeface="Courier New"/>
              </a:rPr>
              <a:t> </a:t>
            </a:r>
            <a:r>
              <a:rPr sz="1050" dirty="0">
                <a:latin typeface="Courier New"/>
                <a:cs typeface="Courier New"/>
              </a:rPr>
              <a:t>handler</a:t>
            </a:r>
            <a:r>
              <a:rPr sz="1050" spc="-34" dirty="0">
                <a:latin typeface="Courier New"/>
                <a:cs typeface="Courier New"/>
              </a:rPr>
              <a:t> </a:t>
            </a:r>
            <a:r>
              <a:rPr sz="1050" dirty="0">
                <a:latin typeface="Courier New"/>
                <a:cs typeface="Courier New"/>
              </a:rPr>
              <a:t>for</a:t>
            </a:r>
            <a:r>
              <a:rPr sz="1050" spc="-34" dirty="0">
                <a:latin typeface="Courier New"/>
                <a:cs typeface="Courier New"/>
              </a:rPr>
              <a:t> </a:t>
            </a:r>
            <a:r>
              <a:rPr sz="1050" dirty="0">
                <a:latin typeface="Courier New"/>
                <a:cs typeface="Courier New"/>
              </a:rPr>
              <a:t>not</a:t>
            </a:r>
            <a:r>
              <a:rPr sz="1050" spc="-34" dirty="0">
                <a:latin typeface="Courier New"/>
                <a:cs typeface="Courier New"/>
              </a:rPr>
              <a:t> </a:t>
            </a:r>
            <a:r>
              <a:rPr sz="1050" dirty="0">
                <a:latin typeface="Courier New"/>
                <a:cs typeface="Courier New"/>
              </a:rPr>
              <a:t>found</a:t>
            </a:r>
            <a:r>
              <a:rPr sz="1050" spc="-34" dirty="0">
                <a:latin typeface="Courier New"/>
                <a:cs typeface="Courier New"/>
              </a:rPr>
              <a:t> </a:t>
            </a:r>
            <a:r>
              <a:rPr sz="1050" dirty="0">
                <a:latin typeface="Courier New"/>
                <a:cs typeface="Courier New"/>
              </a:rPr>
              <a:t>set</a:t>
            </a:r>
            <a:r>
              <a:rPr sz="1050" spc="-34" dirty="0">
                <a:latin typeface="Courier New"/>
                <a:cs typeface="Courier New"/>
              </a:rPr>
              <a:t> </a:t>
            </a:r>
            <a:r>
              <a:rPr sz="1050" dirty="0">
                <a:latin typeface="Courier New"/>
                <a:cs typeface="Courier New"/>
              </a:rPr>
              <a:t>done</a:t>
            </a:r>
            <a:r>
              <a:rPr sz="1050" spc="-34" dirty="0">
                <a:latin typeface="Courier New"/>
                <a:cs typeface="Courier New"/>
              </a:rPr>
              <a:t> </a:t>
            </a:r>
            <a:r>
              <a:rPr sz="1050" dirty="0">
                <a:latin typeface="Courier New"/>
                <a:cs typeface="Courier New"/>
              </a:rPr>
              <a:t>=</a:t>
            </a:r>
            <a:r>
              <a:rPr sz="1050" spc="-34" dirty="0">
                <a:latin typeface="Courier New"/>
                <a:cs typeface="Courier New"/>
              </a:rPr>
              <a:t> </a:t>
            </a:r>
            <a:r>
              <a:rPr sz="1050" spc="-19" dirty="0">
                <a:latin typeface="Courier New"/>
                <a:cs typeface="Courier New"/>
              </a:rPr>
              <a:t>1;</a:t>
            </a:r>
            <a:endParaRPr sz="1050" dirty="0">
              <a:latin typeface="Courier New"/>
              <a:cs typeface="Courier New"/>
            </a:endParaRPr>
          </a:p>
          <a:p>
            <a:pPr marL="9525">
              <a:spcBef>
                <a:spcPts val="15"/>
              </a:spcBef>
            </a:pPr>
            <a:r>
              <a:rPr sz="1050" spc="-8" dirty="0">
                <a:latin typeface="Courier New"/>
                <a:cs typeface="Courier New"/>
              </a:rPr>
              <a:t>-</a:t>
            </a:r>
            <a:r>
              <a:rPr sz="1050" spc="-38" dirty="0">
                <a:latin typeface="Courier New"/>
                <a:cs typeface="Courier New"/>
              </a:rPr>
              <a:t>&gt;</a:t>
            </a:r>
            <a:endParaRPr sz="1050" dirty="0">
              <a:latin typeface="Courier New"/>
              <a:cs typeface="Courier New"/>
            </a:endParaRPr>
          </a:p>
          <a:p>
            <a:pPr marL="9525">
              <a:spcBef>
                <a:spcPts val="19"/>
              </a:spcBef>
            </a:pPr>
            <a:r>
              <a:rPr sz="1050" spc="-8" dirty="0">
                <a:latin typeface="Courier New"/>
                <a:cs typeface="Courier New"/>
              </a:rPr>
              <a:t>-</a:t>
            </a:r>
            <a:r>
              <a:rPr sz="1050" spc="-38" dirty="0">
                <a:latin typeface="Courier New"/>
                <a:cs typeface="Courier New"/>
              </a:rPr>
              <a:t>&gt;</a:t>
            </a:r>
            <a:endParaRPr sz="1050" dirty="0">
              <a:latin typeface="Courier New"/>
              <a:cs typeface="Courier New"/>
            </a:endParaRPr>
          </a:p>
          <a:p>
            <a:pPr marL="9525">
              <a:lnSpc>
                <a:spcPts val="1234"/>
              </a:lnSpc>
              <a:spcBef>
                <a:spcPts val="19"/>
              </a:spcBef>
            </a:pPr>
            <a:r>
              <a:rPr sz="1050" spc="-8" dirty="0">
                <a:latin typeface="Courier New"/>
                <a:cs typeface="Courier New"/>
              </a:rPr>
              <a:t>-</a:t>
            </a:r>
            <a:r>
              <a:rPr sz="1050" spc="-38" dirty="0">
                <a:latin typeface="Courier New"/>
                <a:cs typeface="Courier New"/>
              </a:rPr>
              <a:t>&gt;</a:t>
            </a:r>
            <a:endParaRPr sz="1050" dirty="0">
              <a:latin typeface="Courier New"/>
              <a:cs typeface="Courier New"/>
            </a:endParaRPr>
          </a:p>
          <a:p>
            <a:pPr marL="9525">
              <a:lnSpc>
                <a:spcPts val="1234"/>
              </a:lnSpc>
            </a:pPr>
            <a:r>
              <a:rPr sz="1050" spc="-8" dirty="0">
                <a:latin typeface="Courier New"/>
                <a:cs typeface="Courier New"/>
              </a:rPr>
              <a:t>-</a:t>
            </a:r>
            <a:r>
              <a:rPr sz="1050" spc="-38" dirty="0">
                <a:latin typeface="Courier New"/>
                <a:cs typeface="Courier New"/>
              </a:rPr>
              <a:t>&gt;</a:t>
            </a:r>
            <a:endParaRPr sz="1050" dirty="0">
              <a:latin typeface="Courier New"/>
              <a:cs typeface="Courier New"/>
            </a:endParaRPr>
          </a:p>
          <a:p>
            <a:pPr marL="9525"/>
            <a:r>
              <a:rPr sz="1050" spc="-8" dirty="0">
                <a:latin typeface="Courier New"/>
                <a:cs typeface="Courier New"/>
              </a:rPr>
              <a:t>-</a:t>
            </a:r>
            <a:r>
              <a:rPr sz="1050" spc="-38" dirty="0">
                <a:latin typeface="Courier New"/>
                <a:cs typeface="Courier New"/>
              </a:rPr>
              <a:t>&gt;</a:t>
            </a:r>
            <a:endParaRPr sz="1050" dirty="0">
              <a:latin typeface="Courier New"/>
              <a:cs typeface="Courier New"/>
            </a:endParaRPr>
          </a:p>
          <a:p>
            <a:pPr marL="9525">
              <a:spcBef>
                <a:spcPts val="19"/>
              </a:spcBef>
            </a:pPr>
            <a:r>
              <a:rPr sz="1050" spc="-8" dirty="0">
                <a:latin typeface="Courier New"/>
                <a:cs typeface="Courier New"/>
              </a:rPr>
              <a:t>-</a:t>
            </a:r>
            <a:r>
              <a:rPr sz="1050" spc="-38" dirty="0">
                <a:latin typeface="Courier New"/>
                <a:cs typeface="Courier New"/>
              </a:rPr>
              <a:t>&gt;</a:t>
            </a:r>
            <a:endParaRPr sz="1050" dirty="0">
              <a:latin typeface="Courier New"/>
              <a:cs typeface="Courier New"/>
            </a:endParaRPr>
          </a:p>
          <a:p>
            <a:pPr marL="9525">
              <a:spcBef>
                <a:spcPts val="19"/>
              </a:spcBef>
            </a:pPr>
            <a:r>
              <a:rPr sz="1050" spc="-8" dirty="0">
                <a:latin typeface="Courier New"/>
                <a:cs typeface="Courier New"/>
              </a:rPr>
              <a:t>-</a:t>
            </a:r>
            <a:r>
              <a:rPr sz="1050" spc="-38" dirty="0">
                <a:latin typeface="Courier New"/>
                <a:cs typeface="Courier New"/>
              </a:rPr>
              <a:t>&gt;</a:t>
            </a:r>
            <a:endParaRPr sz="1050" dirty="0">
              <a:latin typeface="Courier New"/>
              <a:cs typeface="Courier New"/>
            </a:endParaRPr>
          </a:p>
          <a:p>
            <a:pPr marL="9525">
              <a:lnSpc>
                <a:spcPts val="1234"/>
              </a:lnSpc>
              <a:spcBef>
                <a:spcPts val="15"/>
              </a:spcBef>
            </a:pPr>
            <a:r>
              <a:rPr sz="1050" spc="-8" dirty="0">
                <a:latin typeface="Courier New"/>
                <a:cs typeface="Courier New"/>
              </a:rPr>
              <a:t>-</a:t>
            </a:r>
            <a:r>
              <a:rPr sz="1050" spc="-38" dirty="0">
                <a:latin typeface="Courier New"/>
                <a:cs typeface="Courier New"/>
              </a:rPr>
              <a:t>&gt;</a:t>
            </a:r>
            <a:endParaRPr sz="1050" dirty="0">
              <a:latin typeface="Courier New"/>
              <a:cs typeface="Courier New"/>
            </a:endParaRPr>
          </a:p>
          <a:p>
            <a:pPr marL="9525">
              <a:lnSpc>
                <a:spcPts val="1234"/>
              </a:lnSpc>
            </a:pPr>
            <a:r>
              <a:rPr sz="1050" spc="-8" dirty="0">
                <a:latin typeface="Courier New"/>
                <a:cs typeface="Courier New"/>
              </a:rPr>
              <a:t>-</a:t>
            </a:r>
            <a:r>
              <a:rPr sz="1050" spc="-38" dirty="0">
                <a:latin typeface="Courier New"/>
                <a:cs typeface="Courier New"/>
              </a:rPr>
              <a:t>&gt;</a:t>
            </a:r>
            <a:endParaRPr sz="1050" dirty="0">
              <a:latin typeface="Courier New"/>
              <a:cs typeface="Courier New"/>
            </a:endParaRPr>
          </a:p>
          <a:p>
            <a:pPr marL="9525"/>
            <a:r>
              <a:rPr sz="1050" spc="-8" dirty="0">
                <a:latin typeface="Courier New"/>
                <a:cs typeface="Courier New"/>
              </a:rPr>
              <a:t>-</a:t>
            </a:r>
            <a:r>
              <a:rPr sz="1050" spc="-38" dirty="0">
                <a:latin typeface="Courier New"/>
                <a:cs typeface="Courier New"/>
              </a:rPr>
              <a:t>&gt;</a:t>
            </a:r>
            <a:endParaRPr sz="1050" dirty="0">
              <a:latin typeface="Courier New"/>
              <a:cs typeface="Courier New"/>
            </a:endParaRPr>
          </a:p>
          <a:p>
            <a:pPr marL="9525">
              <a:spcBef>
                <a:spcPts val="19"/>
              </a:spcBef>
            </a:pPr>
            <a:r>
              <a:rPr sz="1050" spc="-8" dirty="0">
                <a:latin typeface="Courier New"/>
                <a:cs typeface="Courier New"/>
              </a:rPr>
              <a:t>-</a:t>
            </a:r>
            <a:r>
              <a:rPr sz="1050" spc="-38" dirty="0">
                <a:latin typeface="Courier New"/>
                <a:cs typeface="Courier New"/>
              </a:rPr>
              <a:t>&gt;</a:t>
            </a:r>
            <a:endParaRPr sz="1050" dirty="0">
              <a:latin typeface="Courier New"/>
              <a:cs typeface="Courier New"/>
            </a:endParaRPr>
          </a:p>
          <a:p>
            <a:pPr marL="9525">
              <a:spcBef>
                <a:spcPts val="19"/>
              </a:spcBef>
            </a:pPr>
            <a:r>
              <a:rPr sz="1050" spc="-8" dirty="0">
                <a:latin typeface="Courier New"/>
                <a:cs typeface="Courier New"/>
              </a:rPr>
              <a:t>-</a:t>
            </a:r>
            <a:r>
              <a:rPr sz="1050" spc="-38" dirty="0">
                <a:latin typeface="Courier New"/>
                <a:cs typeface="Courier New"/>
              </a:rPr>
              <a:t>&gt;</a:t>
            </a:r>
            <a:endParaRPr sz="1050" dirty="0">
              <a:latin typeface="Courier New"/>
              <a:cs typeface="Courier New"/>
            </a:endParaRPr>
          </a:p>
        </p:txBody>
      </p:sp>
      <p:sp>
        <p:nvSpPr>
          <p:cNvPr id="10" name="object 10"/>
          <p:cNvSpPr txBox="1"/>
          <p:nvPr/>
        </p:nvSpPr>
        <p:spPr>
          <a:xfrm>
            <a:off x="1229481" y="5407533"/>
            <a:ext cx="1535429" cy="319318"/>
          </a:xfrm>
          <a:prstGeom prst="rect">
            <a:avLst/>
          </a:prstGeom>
        </p:spPr>
        <p:txBody>
          <a:bodyPr vert="horz" wrap="square" lIns="0" tIns="9525" rIns="0" bIns="0" rtlCol="0">
            <a:spAutoFit/>
          </a:bodyPr>
          <a:lstStyle/>
          <a:p>
            <a:pPr marL="9525">
              <a:lnSpc>
                <a:spcPts val="1234"/>
              </a:lnSpc>
              <a:spcBef>
                <a:spcPts val="75"/>
              </a:spcBef>
              <a:tabLst>
                <a:tab pos="408146" algn="l"/>
              </a:tabLst>
            </a:pPr>
            <a:r>
              <a:rPr sz="1050" spc="-8" dirty="0">
                <a:latin typeface="Courier New"/>
                <a:cs typeface="Courier New"/>
              </a:rPr>
              <a:t>-</a:t>
            </a:r>
            <a:r>
              <a:rPr sz="1050" spc="-38" dirty="0">
                <a:latin typeface="Courier New"/>
                <a:cs typeface="Courier New"/>
              </a:rPr>
              <a:t>&gt;</a:t>
            </a:r>
            <a:r>
              <a:rPr sz="1050" dirty="0">
                <a:latin typeface="Courier New"/>
                <a:cs typeface="Courier New"/>
              </a:rPr>
              <a:t>	close</a:t>
            </a:r>
            <a:r>
              <a:rPr sz="1050" spc="-38" dirty="0">
                <a:latin typeface="Courier New"/>
                <a:cs typeface="Courier New"/>
              </a:rPr>
              <a:t> </a:t>
            </a:r>
            <a:r>
              <a:rPr sz="1050" spc="-8" dirty="0">
                <a:latin typeface="Courier New"/>
                <a:cs typeface="Courier New"/>
              </a:rPr>
              <a:t>dnumcur;</a:t>
            </a:r>
            <a:endParaRPr sz="1050">
              <a:latin typeface="Courier New"/>
              <a:cs typeface="Courier New"/>
            </a:endParaRPr>
          </a:p>
          <a:p>
            <a:pPr marL="9525">
              <a:lnSpc>
                <a:spcPts val="1234"/>
              </a:lnSpc>
            </a:pPr>
            <a:r>
              <a:rPr sz="1050" spc="-8" dirty="0">
                <a:latin typeface="Courier New"/>
                <a:cs typeface="Courier New"/>
              </a:rPr>
              <a:t>-</a:t>
            </a:r>
            <a:r>
              <a:rPr sz="1050" dirty="0">
                <a:latin typeface="Courier New"/>
                <a:cs typeface="Courier New"/>
              </a:rPr>
              <a:t>&gt;</a:t>
            </a:r>
            <a:r>
              <a:rPr sz="1050" spc="-19" dirty="0">
                <a:latin typeface="Courier New"/>
                <a:cs typeface="Courier New"/>
              </a:rPr>
              <a:t> </a:t>
            </a:r>
            <a:r>
              <a:rPr sz="1050" dirty="0">
                <a:latin typeface="Courier New"/>
                <a:cs typeface="Courier New"/>
              </a:rPr>
              <a:t>end;</a:t>
            </a:r>
            <a:r>
              <a:rPr sz="1050" spc="-19" dirty="0">
                <a:latin typeface="Courier New"/>
                <a:cs typeface="Courier New"/>
              </a:rPr>
              <a:t> $$</a:t>
            </a:r>
            <a:endParaRPr sz="1050">
              <a:latin typeface="Courier New"/>
              <a:cs typeface="Courier New"/>
            </a:endParaRPr>
          </a:p>
        </p:txBody>
      </p:sp>
      <p:sp>
        <p:nvSpPr>
          <p:cNvPr id="11" name="object 11"/>
          <p:cNvSpPr txBox="1"/>
          <p:nvPr/>
        </p:nvSpPr>
        <p:spPr>
          <a:xfrm>
            <a:off x="910393" y="5720716"/>
            <a:ext cx="1694498" cy="171201"/>
          </a:xfrm>
          <a:prstGeom prst="rect">
            <a:avLst/>
          </a:prstGeom>
        </p:spPr>
        <p:txBody>
          <a:bodyPr vert="horz" wrap="square" lIns="0" tIns="9525" rIns="0" bIns="0" rtlCol="0">
            <a:spAutoFit/>
          </a:bodyPr>
          <a:lstStyle/>
          <a:p>
            <a:pPr marL="9525">
              <a:spcBef>
                <a:spcPts val="75"/>
              </a:spcBef>
            </a:pPr>
            <a:r>
              <a:rPr sz="1050" dirty="0">
                <a:latin typeface="Courier New"/>
                <a:cs typeface="Courier New"/>
              </a:rPr>
              <a:t>mysql&gt;</a:t>
            </a:r>
            <a:r>
              <a:rPr sz="1050" spc="-41" dirty="0">
                <a:latin typeface="Courier New"/>
                <a:cs typeface="Courier New"/>
              </a:rPr>
              <a:t> </a:t>
            </a:r>
            <a:r>
              <a:rPr sz="1050" dirty="0">
                <a:latin typeface="Courier New"/>
                <a:cs typeface="Courier New"/>
              </a:rPr>
              <a:t>delimiter</a:t>
            </a:r>
            <a:r>
              <a:rPr sz="1050" spc="-41" dirty="0">
                <a:latin typeface="Courier New"/>
                <a:cs typeface="Courier New"/>
              </a:rPr>
              <a:t> </a:t>
            </a:r>
            <a:r>
              <a:rPr sz="1050" dirty="0">
                <a:latin typeface="Courier New"/>
                <a:cs typeface="Courier New"/>
              </a:rPr>
              <a:t>;</a:t>
            </a:r>
            <a:r>
              <a:rPr sz="1050" spc="-38" dirty="0">
                <a:latin typeface="Courier New"/>
                <a:cs typeface="Courier New"/>
              </a:rPr>
              <a:t> </a:t>
            </a:r>
            <a:r>
              <a:rPr sz="1050" spc="-19" dirty="0">
                <a:latin typeface="Courier New"/>
                <a:cs typeface="Courier New"/>
              </a:rPr>
              <a:t>$$</a:t>
            </a:r>
            <a:endParaRPr sz="1050">
              <a:latin typeface="Courier New"/>
              <a:cs typeface="Courier New"/>
            </a:endParaRPr>
          </a:p>
        </p:txBody>
      </p:sp>
      <p:sp>
        <p:nvSpPr>
          <p:cNvPr id="12" name="object 12"/>
          <p:cNvSpPr txBox="1"/>
          <p:nvPr/>
        </p:nvSpPr>
        <p:spPr>
          <a:xfrm>
            <a:off x="6910266" y="3144279"/>
            <a:ext cx="1153001" cy="231795"/>
          </a:xfrm>
          <a:prstGeom prst="rect">
            <a:avLst/>
          </a:prstGeom>
          <a:ln w="9525">
            <a:solidFill>
              <a:srgbClr val="4472C4"/>
            </a:solidFill>
          </a:ln>
        </p:spPr>
        <p:txBody>
          <a:bodyPr vert="horz" wrap="square" lIns="0" tIns="23813" rIns="0" bIns="0" rtlCol="0">
            <a:spAutoFit/>
          </a:bodyPr>
          <a:lstStyle/>
          <a:p>
            <a:pPr marL="68104">
              <a:spcBef>
                <a:spcPts val="188"/>
              </a:spcBef>
            </a:pPr>
            <a:r>
              <a:rPr sz="1350" dirty="0">
                <a:latin typeface="Calibri"/>
                <a:cs typeface="Calibri"/>
              </a:rPr>
              <a:t>Declare</a:t>
            </a:r>
            <a:r>
              <a:rPr sz="1350" spc="-53" dirty="0">
                <a:latin typeface="Calibri"/>
                <a:cs typeface="Calibri"/>
              </a:rPr>
              <a:t> </a:t>
            </a:r>
            <a:r>
              <a:rPr sz="1350" spc="-8" dirty="0">
                <a:latin typeface="Calibri"/>
                <a:cs typeface="Calibri"/>
              </a:rPr>
              <a:t>cursor</a:t>
            </a:r>
            <a:endParaRPr sz="1350">
              <a:latin typeface="Calibri"/>
              <a:cs typeface="Calibri"/>
            </a:endParaRPr>
          </a:p>
        </p:txBody>
      </p:sp>
      <p:sp>
        <p:nvSpPr>
          <p:cNvPr id="13" name="object 13"/>
          <p:cNvSpPr/>
          <p:nvPr/>
        </p:nvSpPr>
        <p:spPr>
          <a:xfrm>
            <a:off x="6145094" y="3239917"/>
            <a:ext cx="765333" cy="85725"/>
          </a:xfrm>
          <a:custGeom>
            <a:avLst/>
            <a:gdLst/>
            <a:ahLst/>
            <a:cxnLst/>
            <a:rect l="l" t="t" r="r" b="b"/>
            <a:pathLst>
              <a:path w="1020445" h="114300">
                <a:moveTo>
                  <a:pt x="114300" y="0"/>
                </a:moveTo>
                <a:lnTo>
                  <a:pt x="0" y="57150"/>
                </a:lnTo>
                <a:lnTo>
                  <a:pt x="114300" y="114300"/>
                </a:lnTo>
                <a:lnTo>
                  <a:pt x="114300" y="76200"/>
                </a:lnTo>
                <a:lnTo>
                  <a:pt x="95250" y="76200"/>
                </a:lnTo>
                <a:lnTo>
                  <a:pt x="95250" y="38100"/>
                </a:lnTo>
                <a:lnTo>
                  <a:pt x="114300" y="38100"/>
                </a:lnTo>
                <a:lnTo>
                  <a:pt x="114300" y="0"/>
                </a:lnTo>
                <a:close/>
              </a:path>
              <a:path w="1020445" h="114300">
                <a:moveTo>
                  <a:pt x="114300" y="38100"/>
                </a:moveTo>
                <a:lnTo>
                  <a:pt x="95250" y="38100"/>
                </a:lnTo>
                <a:lnTo>
                  <a:pt x="95250" y="76200"/>
                </a:lnTo>
                <a:lnTo>
                  <a:pt x="114300" y="76200"/>
                </a:lnTo>
                <a:lnTo>
                  <a:pt x="114300" y="38100"/>
                </a:lnTo>
                <a:close/>
              </a:path>
              <a:path w="1020445" h="114300">
                <a:moveTo>
                  <a:pt x="1020227" y="38100"/>
                </a:moveTo>
                <a:lnTo>
                  <a:pt x="114300" y="38100"/>
                </a:lnTo>
                <a:lnTo>
                  <a:pt x="114300" y="76200"/>
                </a:lnTo>
                <a:lnTo>
                  <a:pt x="1020227" y="76200"/>
                </a:lnTo>
                <a:lnTo>
                  <a:pt x="1020227" y="38100"/>
                </a:lnTo>
                <a:close/>
              </a:path>
            </a:pathLst>
          </a:custGeom>
          <a:solidFill>
            <a:srgbClr val="FF0000"/>
          </a:solidFill>
        </p:spPr>
        <p:txBody>
          <a:bodyPr wrap="square" lIns="0" tIns="0" rIns="0" bIns="0" rtlCol="0"/>
          <a:lstStyle/>
          <a:p>
            <a:endParaRPr sz="1800"/>
          </a:p>
        </p:txBody>
      </p:sp>
      <p:sp>
        <p:nvSpPr>
          <p:cNvPr id="14" name="object 14"/>
          <p:cNvSpPr txBox="1"/>
          <p:nvPr/>
        </p:nvSpPr>
        <p:spPr>
          <a:xfrm>
            <a:off x="6910266" y="3625297"/>
            <a:ext cx="1002506" cy="233237"/>
          </a:xfrm>
          <a:prstGeom prst="rect">
            <a:avLst/>
          </a:prstGeom>
          <a:ln w="9525">
            <a:solidFill>
              <a:srgbClr val="4472C4"/>
            </a:solidFill>
          </a:ln>
        </p:spPr>
        <p:txBody>
          <a:bodyPr vert="horz" wrap="square" lIns="0" tIns="25241" rIns="0" bIns="0" rtlCol="0">
            <a:spAutoFit/>
          </a:bodyPr>
          <a:lstStyle/>
          <a:p>
            <a:pPr marL="68104">
              <a:spcBef>
                <a:spcPts val="199"/>
              </a:spcBef>
            </a:pPr>
            <a:r>
              <a:rPr sz="1350" dirty="0">
                <a:latin typeface="Calibri"/>
                <a:cs typeface="Calibri"/>
              </a:rPr>
              <a:t>Open</a:t>
            </a:r>
            <a:r>
              <a:rPr sz="1350" spc="-11" dirty="0">
                <a:latin typeface="Calibri"/>
                <a:cs typeface="Calibri"/>
              </a:rPr>
              <a:t> </a:t>
            </a:r>
            <a:r>
              <a:rPr sz="1350" spc="-8" dirty="0">
                <a:latin typeface="Calibri"/>
                <a:cs typeface="Calibri"/>
              </a:rPr>
              <a:t>cursor</a:t>
            </a:r>
            <a:endParaRPr sz="1350">
              <a:latin typeface="Calibri"/>
              <a:cs typeface="Calibri"/>
            </a:endParaRPr>
          </a:p>
        </p:txBody>
      </p:sp>
      <p:sp>
        <p:nvSpPr>
          <p:cNvPr id="15" name="object 15"/>
          <p:cNvSpPr/>
          <p:nvPr/>
        </p:nvSpPr>
        <p:spPr>
          <a:xfrm>
            <a:off x="6145094" y="3720935"/>
            <a:ext cx="765333" cy="85725"/>
          </a:xfrm>
          <a:custGeom>
            <a:avLst/>
            <a:gdLst/>
            <a:ahLst/>
            <a:cxnLst/>
            <a:rect l="l" t="t" r="r" b="b"/>
            <a:pathLst>
              <a:path w="1020445" h="114300">
                <a:moveTo>
                  <a:pt x="114300" y="0"/>
                </a:moveTo>
                <a:lnTo>
                  <a:pt x="0" y="57149"/>
                </a:lnTo>
                <a:lnTo>
                  <a:pt x="114300" y="114299"/>
                </a:lnTo>
                <a:lnTo>
                  <a:pt x="114300" y="76199"/>
                </a:lnTo>
                <a:lnTo>
                  <a:pt x="95250" y="76199"/>
                </a:lnTo>
                <a:lnTo>
                  <a:pt x="95250" y="38099"/>
                </a:lnTo>
                <a:lnTo>
                  <a:pt x="114300" y="38099"/>
                </a:lnTo>
                <a:lnTo>
                  <a:pt x="114300" y="0"/>
                </a:lnTo>
                <a:close/>
              </a:path>
              <a:path w="1020445" h="114300">
                <a:moveTo>
                  <a:pt x="114300" y="38099"/>
                </a:moveTo>
                <a:lnTo>
                  <a:pt x="95250" y="38099"/>
                </a:lnTo>
                <a:lnTo>
                  <a:pt x="95250" y="76199"/>
                </a:lnTo>
                <a:lnTo>
                  <a:pt x="114300" y="76199"/>
                </a:lnTo>
                <a:lnTo>
                  <a:pt x="114300" y="38099"/>
                </a:lnTo>
                <a:close/>
              </a:path>
              <a:path w="1020445" h="114300">
                <a:moveTo>
                  <a:pt x="1020227" y="38099"/>
                </a:moveTo>
                <a:lnTo>
                  <a:pt x="114300" y="38099"/>
                </a:lnTo>
                <a:lnTo>
                  <a:pt x="114300" y="76199"/>
                </a:lnTo>
                <a:lnTo>
                  <a:pt x="1020227" y="76199"/>
                </a:lnTo>
                <a:lnTo>
                  <a:pt x="1020227" y="38099"/>
                </a:lnTo>
                <a:close/>
              </a:path>
            </a:pathLst>
          </a:custGeom>
          <a:solidFill>
            <a:srgbClr val="FF0000"/>
          </a:solidFill>
        </p:spPr>
        <p:txBody>
          <a:bodyPr wrap="square" lIns="0" tIns="0" rIns="0" bIns="0" rtlCol="0"/>
          <a:lstStyle/>
          <a:p>
            <a:endParaRPr sz="1800"/>
          </a:p>
        </p:txBody>
      </p:sp>
      <p:sp>
        <p:nvSpPr>
          <p:cNvPr id="16" name="object 16"/>
          <p:cNvSpPr txBox="1"/>
          <p:nvPr/>
        </p:nvSpPr>
        <p:spPr>
          <a:xfrm>
            <a:off x="6910265" y="4060705"/>
            <a:ext cx="1002030" cy="232274"/>
          </a:xfrm>
          <a:prstGeom prst="rect">
            <a:avLst/>
          </a:prstGeom>
          <a:ln w="9525">
            <a:solidFill>
              <a:srgbClr val="4472C4"/>
            </a:solidFill>
          </a:ln>
        </p:spPr>
        <p:txBody>
          <a:bodyPr vert="horz" wrap="square" lIns="0" tIns="24288" rIns="0" bIns="0" rtlCol="0">
            <a:spAutoFit/>
          </a:bodyPr>
          <a:lstStyle/>
          <a:p>
            <a:pPr marL="68104">
              <a:spcBef>
                <a:spcPts val="191"/>
              </a:spcBef>
            </a:pPr>
            <a:r>
              <a:rPr sz="1350" dirty="0">
                <a:latin typeface="Calibri"/>
                <a:cs typeface="Calibri"/>
              </a:rPr>
              <a:t>Fetch</a:t>
            </a:r>
            <a:r>
              <a:rPr sz="1350" spc="-68" dirty="0">
                <a:latin typeface="Calibri"/>
                <a:cs typeface="Calibri"/>
              </a:rPr>
              <a:t> </a:t>
            </a:r>
            <a:r>
              <a:rPr sz="1350" spc="-8" dirty="0">
                <a:latin typeface="Calibri"/>
                <a:cs typeface="Calibri"/>
              </a:rPr>
              <a:t>cursor</a:t>
            </a:r>
            <a:endParaRPr sz="1350">
              <a:latin typeface="Calibri"/>
              <a:cs typeface="Calibri"/>
            </a:endParaRPr>
          </a:p>
        </p:txBody>
      </p:sp>
      <p:sp>
        <p:nvSpPr>
          <p:cNvPr id="17" name="object 17"/>
          <p:cNvSpPr/>
          <p:nvPr/>
        </p:nvSpPr>
        <p:spPr>
          <a:xfrm>
            <a:off x="6145094" y="4156342"/>
            <a:ext cx="765333" cy="85725"/>
          </a:xfrm>
          <a:custGeom>
            <a:avLst/>
            <a:gdLst/>
            <a:ahLst/>
            <a:cxnLst/>
            <a:rect l="l" t="t" r="r" b="b"/>
            <a:pathLst>
              <a:path w="1020445" h="114300">
                <a:moveTo>
                  <a:pt x="114300" y="0"/>
                </a:moveTo>
                <a:lnTo>
                  <a:pt x="0" y="57150"/>
                </a:lnTo>
                <a:lnTo>
                  <a:pt x="114300" y="114300"/>
                </a:lnTo>
                <a:lnTo>
                  <a:pt x="114300" y="76200"/>
                </a:lnTo>
                <a:lnTo>
                  <a:pt x="95250" y="76200"/>
                </a:lnTo>
                <a:lnTo>
                  <a:pt x="95250" y="38100"/>
                </a:lnTo>
                <a:lnTo>
                  <a:pt x="114300" y="38100"/>
                </a:lnTo>
                <a:lnTo>
                  <a:pt x="114300" y="0"/>
                </a:lnTo>
                <a:close/>
              </a:path>
              <a:path w="1020445" h="114300">
                <a:moveTo>
                  <a:pt x="114300" y="38100"/>
                </a:moveTo>
                <a:lnTo>
                  <a:pt x="95250" y="38100"/>
                </a:lnTo>
                <a:lnTo>
                  <a:pt x="95250" y="76200"/>
                </a:lnTo>
                <a:lnTo>
                  <a:pt x="114300" y="76200"/>
                </a:lnTo>
                <a:lnTo>
                  <a:pt x="114300" y="38100"/>
                </a:lnTo>
                <a:close/>
              </a:path>
              <a:path w="1020445" h="114300">
                <a:moveTo>
                  <a:pt x="1020227" y="38100"/>
                </a:moveTo>
                <a:lnTo>
                  <a:pt x="114300" y="38100"/>
                </a:lnTo>
                <a:lnTo>
                  <a:pt x="114300" y="76200"/>
                </a:lnTo>
                <a:lnTo>
                  <a:pt x="1020227" y="76200"/>
                </a:lnTo>
                <a:lnTo>
                  <a:pt x="1020227" y="38100"/>
                </a:lnTo>
                <a:close/>
              </a:path>
            </a:pathLst>
          </a:custGeom>
          <a:solidFill>
            <a:srgbClr val="FF0000"/>
          </a:solidFill>
        </p:spPr>
        <p:txBody>
          <a:bodyPr wrap="square" lIns="0" tIns="0" rIns="0" bIns="0" rtlCol="0"/>
          <a:lstStyle/>
          <a:p>
            <a:endParaRPr sz="1800"/>
          </a:p>
        </p:txBody>
      </p:sp>
      <p:sp>
        <p:nvSpPr>
          <p:cNvPr id="18" name="object 18"/>
          <p:cNvSpPr txBox="1"/>
          <p:nvPr/>
        </p:nvSpPr>
        <p:spPr>
          <a:xfrm>
            <a:off x="6910266" y="5246849"/>
            <a:ext cx="996791" cy="232274"/>
          </a:xfrm>
          <a:prstGeom prst="rect">
            <a:avLst/>
          </a:prstGeom>
          <a:ln w="9525">
            <a:solidFill>
              <a:srgbClr val="4472C4"/>
            </a:solidFill>
          </a:ln>
        </p:spPr>
        <p:txBody>
          <a:bodyPr vert="horz" wrap="square" lIns="0" tIns="24288" rIns="0" bIns="0" rtlCol="0">
            <a:spAutoFit/>
          </a:bodyPr>
          <a:lstStyle/>
          <a:p>
            <a:pPr marL="68104">
              <a:spcBef>
                <a:spcPts val="191"/>
              </a:spcBef>
            </a:pPr>
            <a:r>
              <a:rPr sz="1350" dirty="0">
                <a:latin typeface="Calibri"/>
                <a:cs typeface="Calibri"/>
              </a:rPr>
              <a:t>Close</a:t>
            </a:r>
            <a:r>
              <a:rPr sz="1350" spc="-26" dirty="0">
                <a:latin typeface="Calibri"/>
                <a:cs typeface="Calibri"/>
              </a:rPr>
              <a:t> </a:t>
            </a:r>
            <a:r>
              <a:rPr sz="1350" spc="-8" dirty="0">
                <a:latin typeface="Calibri"/>
                <a:cs typeface="Calibri"/>
              </a:rPr>
              <a:t>cursor</a:t>
            </a:r>
            <a:endParaRPr sz="1350">
              <a:latin typeface="Calibri"/>
              <a:cs typeface="Calibri"/>
            </a:endParaRPr>
          </a:p>
        </p:txBody>
      </p:sp>
      <p:sp>
        <p:nvSpPr>
          <p:cNvPr id="19" name="object 19"/>
          <p:cNvSpPr/>
          <p:nvPr/>
        </p:nvSpPr>
        <p:spPr>
          <a:xfrm>
            <a:off x="6145094" y="5342486"/>
            <a:ext cx="765333" cy="85725"/>
          </a:xfrm>
          <a:custGeom>
            <a:avLst/>
            <a:gdLst/>
            <a:ahLst/>
            <a:cxnLst/>
            <a:rect l="l" t="t" r="r" b="b"/>
            <a:pathLst>
              <a:path w="1020445" h="114300">
                <a:moveTo>
                  <a:pt x="114300" y="0"/>
                </a:moveTo>
                <a:lnTo>
                  <a:pt x="0" y="57150"/>
                </a:lnTo>
                <a:lnTo>
                  <a:pt x="114300" y="114299"/>
                </a:lnTo>
                <a:lnTo>
                  <a:pt x="114300" y="76199"/>
                </a:lnTo>
                <a:lnTo>
                  <a:pt x="95250" y="76199"/>
                </a:lnTo>
                <a:lnTo>
                  <a:pt x="95250" y="38099"/>
                </a:lnTo>
                <a:lnTo>
                  <a:pt x="114300" y="38099"/>
                </a:lnTo>
                <a:lnTo>
                  <a:pt x="114300" y="0"/>
                </a:lnTo>
                <a:close/>
              </a:path>
              <a:path w="1020445" h="114300">
                <a:moveTo>
                  <a:pt x="114300" y="38099"/>
                </a:moveTo>
                <a:lnTo>
                  <a:pt x="95250" y="38099"/>
                </a:lnTo>
                <a:lnTo>
                  <a:pt x="95250" y="76199"/>
                </a:lnTo>
                <a:lnTo>
                  <a:pt x="114300" y="76199"/>
                </a:lnTo>
                <a:lnTo>
                  <a:pt x="114300" y="38099"/>
                </a:lnTo>
                <a:close/>
              </a:path>
              <a:path w="1020445" h="114300">
                <a:moveTo>
                  <a:pt x="1020227" y="38099"/>
                </a:moveTo>
                <a:lnTo>
                  <a:pt x="114300" y="38099"/>
                </a:lnTo>
                <a:lnTo>
                  <a:pt x="114300" y="76199"/>
                </a:lnTo>
                <a:lnTo>
                  <a:pt x="1020227" y="76199"/>
                </a:lnTo>
                <a:lnTo>
                  <a:pt x="1020227" y="38099"/>
                </a:lnTo>
                <a:close/>
              </a:path>
            </a:pathLst>
          </a:custGeom>
          <a:solidFill>
            <a:srgbClr val="FF0000"/>
          </a:solidFill>
        </p:spPr>
        <p:txBody>
          <a:bodyPr wrap="square" lIns="0" tIns="0" rIns="0" bIns="0" rtlCol="0"/>
          <a:lstStyle/>
          <a:p>
            <a:endParaRPr sz="1800"/>
          </a:p>
        </p:txBody>
      </p:sp>
      <p:sp>
        <p:nvSpPr>
          <p:cNvPr id="20" name="object 20"/>
          <p:cNvSpPr txBox="1"/>
          <p:nvPr/>
        </p:nvSpPr>
        <p:spPr>
          <a:xfrm>
            <a:off x="7271779" y="1147191"/>
            <a:ext cx="461010" cy="217367"/>
          </a:xfrm>
          <a:prstGeom prst="rect">
            <a:avLst/>
          </a:prstGeom>
        </p:spPr>
        <p:txBody>
          <a:bodyPr vert="horz" wrap="square" lIns="0" tIns="9525" rIns="0" bIns="0" rtlCol="0">
            <a:spAutoFit/>
          </a:bodyPr>
          <a:lstStyle/>
          <a:p>
            <a:pPr marL="9525">
              <a:spcBef>
                <a:spcPts val="75"/>
              </a:spcBef>
            </a:pPr>
            <a:r>
              <a:rPr sz="1350" spc="-8" dirty="0">
                <a:latin typeface="Calibri"/>
                <a:cs typeface="Calibri"/>
              </a:rPr>
              <a:t>Q4.sql</a:t>
            </a:r>
            <a:endParaRPr sz="1350">
              <a:latin typeface="Calibri"/>
              <a:cs typeface="Calibri"/>
            </a:endParaRPr>
          </a:p>
        </p:txBody>
      </p:sp>
    </p:spTree>
  </p:cSld>
  <p:clrMapOvr>
    <a:masterClrMapping/>
  </p:clrMapOvr>
  <p:transition spd="med"/>
</p:sld>
</file>

<file path=ppt/slides/slide1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02552" y="412534"/>
            <a:ext cx="3756184"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dirty="0"/>
              <a:t>Cursor1</a:t>
            </a:r>
            <a:r>
              <a:rPr spc="-64" dirty="0"/>
              <a:t> </a:t>
            </a:r>
            <a:r>
              <a:rPr dirty="0"/>
              <a:t>–</a:t>
            </a:r>
            <a:r>
              <a:rPr spc="-60" dirty="0"/>
              <a:t> </a:t>
            </a:r>
            <a:r>
              <a:rPr dirty="0"/>
              <a:t>Step</a:t>
            </a:r>
            <a:r>
              <a:rPr spc="-56" dirty="0"/>
              <a:t> </a:t>
            </a:r>
            <a:r>
              <a:rPr spc="-38" dirty="0"/>
              <a:t>3</a:t>
            </a:r>
          </a:p>
        </p:txBody>
      </p:sp>
      <p:sp>
        <p:nvSpPr>
          <p:cNvPr id="3" name="object 3"/>
          <p:cNvSpPr txBox="1"/>
          <p:nvPr/>
        </p:nvSpPr>
        <p:spPr>
          <a:xfrm>
            <a:off x="687705" y="2204085"/>
            <a:ext cx="1760696" cy="332783"/>
          </a:xfrm>
          <a:prstGeom prst="rect">
            <a:avLst/>
          </a:prstGeom>
        </p:spPr>
        <p:txBody>
          <a:bodyPr vert="horz" wrap="square" lIns="0" tIns="9525" rIns="0" bIns="0" rtlCol="0">
            <a:spAutoFit/>
          </a:bodyPr>
          <a:lstStyle/>
          <a:p>
            <a:pPr marL="180499" indent="-170974">
              <a:spcBef>
                <a:spcPts val="75"/>
              </a:spcBef>
              <a:buFont typeface="Arial"/>
              <a:buChar char="•"/>
              <a:tabLst>
                <a:tab pos="180499" algn="l"/>
              </a:tabLst>
            </a:pPr>
            <a:r>
              <a:rPr sz="2100" dirty="0">
                <a:latin typeface="Calibri"/>
                <a:cs typeface="Calibri"/>
              </a:rPr>
              <a:t>Call</a:t>
            </a:r>
            <a:r>
              <a:rPr sz="2100" spc="-15" dirty="0">
                <a:latin typeface="Calibri"/>
                <a:cs typeface="Calibri"/>
              </a:rPr>
              <a:t> </a:t>
            </a:r>
            <a:r>
              <a:rPr sz="2100" spc="-8" dirty="0">
                <a:latin typeface="Calibri"/>
                <a:cs typeface="Calibri"/>
              </a:rPr>
              <a:t>procedure</a:t>
            </a:r>
            <a:endParaRPr sz="2100">
              <a:latin typeface="Calibri"/>
              <a:cs typeface="Calibri"/>
            </a:endParaRPr>
          </a:p>
        </p:txBody>
      </p:sp>
      <p:sp>
        <p:nvSpPr>
          <p:cNvPr id="4" name="object 4"/>
          <p:cNvSpPr/>
          <p:nvPr/>
        </p:nvSpPr>
        <p:spPr>
          <a:xfrm>
            <a:off x="2942872" y="2178939"/>
            <a:ext cx="825341" cy="0"/>
          </a:xfrm>
          <a:custGeom>
            <a:avLst/>
            <a:gdLst/>
            <a:ahLst/>
            <a:cxnLst/>
            <a:rect l="l" t="t" r="r" b="b"/>
            <a:pathLst>
              <a:path w="1100454">
                <a:moveTo>
                  <a:pt x="0" y="0"/>
                </a:moveTo>
                <a:lnTo>
                  <a:pt x="1100206" y="0"/>
                </a:lnTo>
              </a:path>
            </a:pathLst>
          </a:custGeom>
          <a:ln w="16865">
            <a:solidFill>
              <a:srgbClr val="000000"/>
            </a:solidFill>
            <a:prstDash val="dash"/>
          </a:ln>
        </p:spPr>
        <p:txBody>
          <a:bodyPr wrap="square" lIns="0" tIns="0" rIns="0" bIns="0" rtlCol="0"/>
          <a:lstStyle/>
          <a:p>
            <a:endParaRPr sz="1800"/>
          </a:p>
        </p:txBody>
      </p:sp>
      <p:sp>
        <p:nvSpPr>
          <p:cNvPr id="5" name="object 5"/>
          <p:cNvSpPr/>
          <p:nvPr/>
        </p:nvSpPr>
        <p:spPr>
          <a:xfrm>
            <a:off x="3859653" y="2178939"/>
            <a:ext cx="1192054" cy="0"/>
          </a:xfrm>
          <a:custGeom>
            <a:avLst/>
            <a:gdLst/>
            <a:ahLst/>
            <a:cxnLst/>
            <a:rect l="l" t="t" r="r" b="b"/>
            <a:pathLst>
              <a:path w="1589404">
                <a:moveTo>
                  <a:pt x="0" y="0"/>
                </a:moveTo>
                <a:lnTo>
                  <a:pt x="1589186" y="0"/>
                </a:lnTo>
              </a:path>
            </a:pathLst>
          </a:custGeom>
          <a:ln w="16865">
            <a:solidFill>
              <a:srgbClr val="000000"/>
            </a:solidFill>
            <a:prstDash val="dash"/>
          </a:ln>
        </p:spPr>
        <p:txBody>
          <a:bodyPr wrap="square" lIns="0" tIns="0" rIns="0" bIns="0" rtlCol="0"/>
          <a:lstStyle/>
          <a:p>
            <a:endParaRPr sz="1800"/>
          </a:p>
        </p:txBody>
      </p:sp>
      <p:sp>
        <p:nvSpPr>
          <p:cNvPr id="6" name="object 6"/>
          <p:cNvSpPr txBox="1"/>
          <p:nvPr/>
        </p:nvSpPr>
        <p:spPr>
          <a:xfrm>
            <a:off x="2841668" y="1863471"/>
            <a:ext cx="2677953" cy="400911"/>
          </a:xfrm>
          <a:prstGeom prst="rect">
            <a:avLst/>
          </a:prstGeom>
        </p:spPr>
        <p:txBody>
          <a:bodyPr vert="horz" wrap="square" lIns="0" tIns="18574" rIns="0" bIns="0" rtlCol="0">
            <a:spAutoFit/>
          </a:bodyPr>
          <a:lstStyle/>
          <a:p>
            <a:pPr marL="9525">
              <a:spcBef>
                <a:spcPts val="146"/>
              </a:spcBef>
            </a:pPr>
            <a:r>
              <a:rPr sz="1200" dirty="0">
                <a:latin typeface="Courier New"/>
                <a:cs typeface="Courier New"/>
              </a:rPr>
              <a:t>mysql&gt;</a:t>
            </a:r>
            <a:r>
              <a:rPr sz="1200" spc="-23" dirty="0">
                <a:latin typeface="Courier New"/>
                <a:cs typeface="Courier New"/>
              </a:rPr>
              <a:t> </a:t>
            </a:r>
            <a:r>
              <a:rPr sz="1200" dirty="0">
                <a:latin typeface="Courier New"/>
                <a:cs typeface="Courier New"/>
              </a:rPr>
              <a:t>select</a:t>
            </a:r>
            <a:r>
              <a:rPr sz="1200" spc="-11" dirty="0">
                <a:latin typeface="Courier New"/>
                <a:cs typeface="Courier New"/>
              </a:rPr>
              <a:t> </a:t>
            </a:r>
            <a:r>
              <a:rPr sz="1200" dirty="0">
                <a:latin typeface="Courier New"/>
                <a:cs typeface="Courier New"/>
              </a:rPr>
              <a:t>*</a:t>
            </a:r>
            <a:r>
              <a:rPr sz="1200" spc="-11" dirty="0">
                <a:latin typeface="Courier New"/>
                <a:cs typeface="Courier New"/>
              </a:rPr>
              <a:t> </a:t>
            </a:r>
            <a:r>
              <a:rPr sz="1200" dirty="0">
                <a:latin typeface="Courier New"/>
                <a:cs typeface="Courier New"/>
              </a:rPr>
              <a:t>from</a:t>
            </a:r>
            <a:r>
              <a:rPr sz="1200" spc="-11" dirty="0">
                <a:latin typeface="Courier New"/>
                <a:cs typeface="Courier New"/>
              </a:rPr>
              <a:t> </a:t>
            </a:r>
            <a:r>
              <a:rPr sz="1200" spc="-8" dirty="0">
                <a:latin typeface="Courier New"/>
                <a:cs typeface="Courier New"/>
              </a:rPr>
              <a:t>deptsal;</a:t>
            </a:r>
            <a:endParaRPr sz="1200">
              <a:latin typeface="Courier New"/>
              <a:cs typeface="Courier New"/>
            </a:endParaRPr>
          </a:p>
          <a:p>
            <a:pPr marL="9525">
              <a:spcBef>
                <a:spcPts val="71"/>
              </a:spcBef>
              <a:tabLst>
                <a:tab pos="925830" algn="l"/>
                <a:tab pos="2209324" algn="l"/>
              </a:tabLst>
            </a:pPr>
            <a:r>
              <a:rPr sz="1200" spc="-38" dirty="0">
                <a:latin typeface="Courier New"/>
                <a:cs typeface="Courier New"/>
              </a:rPr>
              <a:t>+</a:t>
            </a:r>
            <a:r>
              <a:rPr sz="1200" dirty="0">
                <a:latin typeface="Courier New"/>
                <a:cs typeface="Courier New"/>
              </a:rPr>
              <a:t>	</a:t>
            </a:r>
            <a:r>
              <a:rPr sz="1200" spc="-38" dirty="0">
                <a:latin typeface="Courier New"/>
                <a:cs typeface="Courier New"/>
              </a:rPr>
              <a:t>+</a:t>
            </a:r>
            <a:r>
              <a:rPr sz="1200" dirty="0">
                <a:latin typeface="Courier New"/>
                <a:cs typeface="Courier New"/>
              </a:rPr>
              <a:t>	</a:t>
            </a:r>
            <a:r>
              <a:rPr sz="1200" spc="-38" dirty="0">
                <a:latin typeface="Courier New"/>
                <a:cs typeface="Courier New"/>
              </a:rPr>
              <a:t>+</a:t>
            </a:r>
            <a:endParaRPr sz="1200">
              <a:latin typeface="Courier New"/>
              <a:cs typeface="Courier New"/>
            </a:endParaRPr>
          </a:p>
        </p:txBody>
      </p:sp>
      <p:sp>
        <p:nvSpPr>
          <p:cNvPr id="7" name="object 7"/>
          <p:cNvSpPr txBox="1"/>
          <p:nvPr/>
        </p:nvSpPr>
        <p:spPr>
          <a:xfrm>
            <a:off x="2841669" y="2245233"/>
            <a:ext cx="2311241" cy="194284"/>
          </a:xfrm>
          <a:prstGeom prst="rect">
            <a:avLst/>
          </a:prstGeom>
        </p:spPr>
        <p:txBody>
          <a:bodyPr vert="horz" wrap="square" lIns="0" tIns="9525" rIns="0" bIns="0" rtlCol="0">
            <a:spAutoFit/>
          </a:bodyPr>
          <a:lstStyle/>
          <a:p>
            <a:pPr marL="9525">
              <a:spcBef>
                <a:spcPts val="75"/>
              </a:spcBef>
            </a:pPr>
            <a:r>
              <a:rPr sz="1200" dirty="0">
                <a:latin typeface="Courier New"/>
                <a:cs typeface="Courier New"/>
              </a:rPr>
              <a:t>|</a:t>
            </a:r>
            <a:r>
              <a:rPr sz="1200" spc="-15" dirty="0">
                <a:latin typeface="Courier New"/>
                <a:cs typeface="Courier New"/>
              </a:rPr>
              <a:t> </a:t>
            </a:r>
            <a:r>
              <a:rPr sz="1200" dirty="0">
                <a:latin typeface="Courier New"/>
                <a:cs typeface="Courier New"/>
              </a:rPr>
              <a:t>dnumber</a:t>
            </a:r>
            <a:r>
              <a:rPr sz="1200" spc="-15" dirty="0">
                <a:latin typeface="Courier New"/>
                <a:cs typeface="Courier New"/>
              </a:rPr>
              <a:t> </a:t>
            </a:r>
            <a:r>
              <a:rPr sz="1200" dirty="0">
                <a:latin typeface="Courier New"/>
                <a:cs typeface="Courier New"/>
              </a:rPr>
              <a:t>|</a:t>
            </a:r>
            <a:r>
              <a:rPr sz="1200" spc="-15" dirty="0">
                <a:latin typeface="Courier New"/>
                <a:cs typeface="Courier New"/>
              </a:rPr>
              <a:t> </a:t>
            </a:r>
            <a:r>
              <a:rPr sz="1200" dirty="0">
                <a:latin typeface="Courier New"/>
                <a:cs typeface="Courier New"/>
              </a:rPr>
              <a:t>totalsalary</a:t>
            </a:r>
            <a:r>
              <a:rPr sz="1200" spc="-15" dirty="0">
                <a:latin typeface="Courier New"/>
                <a:cs typeface="Courier New"/>
              </a:rPr>
              <a:t> </a:t>
            </a:r>
            <a:r>
              <a:rPr sz="1200" spc="-38" dirty="0">
                <a:latin typeface="Courier New"/>
                <a:cs typeface="Courier New"/>
              </a:rPr>
              <a:t>|</a:t>
            </a:r>
            <a:endParaRPr sz="1200">
              <a:latin typeface="Courier New"/>
              <a:cs typeface="Courier New"/>
            </a:endParaRPr>
          </a:p>
        </p:txBody>
      </p:sp>
      <p:sp>
        <p:nvSpPr>
          <p:cNvPr id="8" name="object 8"/>
          <p:cNvSpPr/>
          <p:nvPr/>
        </p:nvSpPr>
        <p:spPr>
          <a:xfrm>
            <a:off x="2942872" y="2540126"/>
            <a:ext cx="825341" cy="0"/>
          </a:xfrm>
          <a:custGeom>
            <a:avLst/>
            <a:gdLst/>
            <a:ahLst/>
            <a:cxnLst/>
            <a:rect l="l" t="t" r="r" b="b"/>
            <a:pathLst>
              <a:path w="1100454">
                <a:moveTo>
                  <a:pt x="0" y="0"/>
                </a:moveTo>
                <a:lnTo>
                  <a:pt x="1100206" y="0"/>
                </a:lnTo>
              </a:path>
            </a:pathLst>
          </a:custGeom>
          <a:ln w="16865">
            <a:solidFill>
              <a:srgbClr val="000000"/>
            </a:solidFill>
            <a:prstDash val="dash"/>
          </a:ln>
        </p:spPr>
        <p:txBody>
          <a:bodyPr wrap="square" lIns="0" tIns="0" rIns="0" bIns="0" rtlCol="0"/>
          <a:lstStyle/>
          <a:p>
            <a:endParaRPr sz="1800"/>
          </a:p>
        </p:txBody>
      </p:sp>
      <p:sp>
        <p:nvSpPr>
          <p:cNvPr id="9" name="object 9"/>
          <p:cNvSpPr/>
          <p:nvPr/>
        </p:nvSpPr>
        <p:spPr>
          <a:xfrm>
            <a:off x="3859653" y="2540126"/>
            <a:ext cx="1192054" cy="0"/>
          </a:xfrm>
          <a:custGeom>
            <a:avLst/>
            <a:gdLst/>
            <a:ahLst/>
            <a:cxnLst/>
            <a:rect l="l" t="t" r="r" b="b"/>
            <a:pathLst>
              <a:path w="1589404">
                <a:moveTo>
                  <a:pt x="0" y="0"/>
                </a:moveTo>
                <a:lnTo>
                  <a:pt x="1589186" y="0"/>
                </a:lnTo>
              </a:path>
            </a:pathLst>
          </a:custGeom>
          <a:ln w="16865">
            <a:solidFill>
              <a:srgbClr val="000000"/>
            </a:solidFill>
            <a:prstDash val="dash"/>
          </a:ln>
        </p:spPr>
        <p:txBody>
          <a:bodyPr wrap="square" lIns="0" tIns="0" rIns="0" bIns="0" rtlCol="0"/>
          <a:lstStyle/>
          <a:p>
            <a:endParaRPr sz="1800"/>
          </a:p>
        </p:txBody>
      </p:sp>
      <p:sp>
        <p:nvSpPr>
          <p:cNvPr id="10" name="object 10"/>
          <p:cNvSpPr txBox="1"/>
          <p:nvPr/>
        </p:nvSpPr>
        <p:spPr>
          <a:xfrm>
            <a:off x="2841669" y="2425826"/>
            <a:ext cx="2311241" cy="194284"/>
          </a:xfrm>
          <a:prstGeom prst="rect">
            <a:avLst/>
          </a:prstGeom>
        </p:spPr>
        <p:txBody>
          <a:bodyPr vert="horz" wrap="square" lIns="0" tIns="9525" rIns="0" bIns="0" rtlCol="0">
            <a:spAutoFit/>
          </a:bodyPr>
          <a:lstStyle/>
          <a:p>
            <a:pPr marL="9525">
              <a:spcBef>
                <a:spcPts val="75"/>
              </a:spcBef>
              <a:tabLst>
                <a:tab pos="925830" algn="l"/>
                <a:tab pos="2209324" algn="l"/>
              </a:tabLst>
            </a:pPr>
            <a:r>
              <a:rPr sz="1200" spc="-38" dirty="0">
                <a:latin typeface="Courier New"/>
                <a:cs typeface="Courier New"/>
              </a:rPr>
              <a:t>+</a:t>
            </a:r>
            <a:r>
              <a:rPr sz="1200" dirty="0">
                <a:latin typeface="Courier New"/>
                <a:cs typeface="Courier New"/>
              </a:rPr>
              <a:t>	</a:t>
            </a:r>
            <a:r>
              <a:rPr sz="1200" spc="-38" dirty="0">
                <a:latin typeface="Courier New"/>
                <a:cs typeface="Courier New"/>
              </a:rPr>
              <a:t>+</a:t>
            </a:r>
            <a:r>
              <a:rPr sz="1200" dirty="0">
                <a:latin typeface="Courier New"/>
                <a:cs typeface="Courier New"/>
              </a:rPr>
              <a:t>	</a:t>
            </a:r>
            <a:r>
              <a:rPr sz="1200" spc="-38" dirty="0">
                <a:latin typeface="Courier New"/>
                <a:cs typeface="Courier New"/>
              </a:rPr>
              <a:t>+</a:t>
            </a:r>
            <a:endParaRPr sz="1200">
              <a:latin typeface="Courier New"/>
              <a:cs typeface="Courier New"/>
            </a:endParaRPr>
          </a:p>
        </p:txBody>
      </p:sp>
      <p:sp>
        <p:nvSpPr>
          <p:cNvPr id="11" name="object 11"/>
          <p:cNvSpPr txBox="1"/>
          <p:nvPr/>
        </p:nvSpPr>
        <p:spPr>
          <a:xfrm>
            <a:off x="2841669" y="2606421"/>
            <a:ext cx="110966" cy="741870"/>
          </a:xfrm>
          <a:prstGeom prst="rect">
            <a:avLst/>
          </a:prstGeom>
        </p:spPr>
        <p:txBody>
          <a:bodyPr vert="horz" wrap="square" lIns="0" tIns="9525" rIns="0" bIns="0" rtlCol="0">
            <a:spAutoFit/>
          </a:bodyPr>
          <a:lstStyle/>
          <a:p>
            <a:pPr marL="9525">
              <a:lnSpc>
                <a:spcPts val="1433"/>
              </a:lnSpc>
              <a:spcBef>
                <a:spcPts val="75"/>
              </a:spcBef>
            </a:pPr>
            <a:r>
              <a:rPr sz="1200" spc="-38" dirty="0">
                <a:latin typeface="Courier New"/>
                <a:cs typeface="Courier New"/>
              </a:rPr>
              <a:t>|</a:t>
            </a:r>
            <a:endParaRPr sz="1200">
              <a:latin typeface="Courier New"/>
              <a:cs typeface="Courier New"/>
            </a:endParaRPr>
          </a:p>
          <a:p>
            <a:pPr marL="9525">
              <a:lnSpc>
                <a:spcPts val="1433"/>
              </a:lnSpc>
            </a:pPr>
            <a:r>
              <a:rPr sz="1200" spc="-38" dirty="0">
                <a:latin typeface="Courier New"/>
                <a:cs typeface="Courier New"/>
              </a:rPr>
              <a:t>|</a:t>
            </a:r>
            <a:endParaRPr sz="1200">
              <a:latin typeface="Courier New"/>
              <a:cs typeface="Courier New"/>
            </a:endParaRPr>
          </a:p>
          <a:p>
            <a:pPr marL="9525">
              <a:lnSpc>
                <a:spcPts val="1433"/>
              </a:lnSpc>
              <a:spcBef>
                <a:spcPts val="71"/>
              </a:spcBef>
            </a:pPr>
            <a:r>
              <a:rPr sz="1200" spc="-38" dirty="0">
                <a:latin typeface="Courier New"/>
                <a:cs typeface="Courier New"/>
              </a:rPr>
              <a:t>|</a:t>
            </a:r>
            <a:endParaRPr sz="1200">
              <a:latin typeface="Courier New"/>
              <a:cs typeface="Courier New"/>
            </a:endParaRPr>
          </a:p>
          <a:p>
            <a:pPr marL="9525">
              <a:lnSpc>
                <a:spcPts val="1433"/>
              </a:lnSpc>
            </a:pPr>
            <a:r>
              <a:rPr sz="1200" spc="-38" dirty="0">
                <a:latin typeface="Courier New"/>
                <a:cs typeface="Courier New"/>
              </a:rPr>
              <a:t>+</a:t>
            </a:r>
            <a:endParaRPr sz="1200">
              <a:latin typeface="Courier New"/>
              <a:cs typeface="Courier New"/>
            </a:endParaRPr>
          </a:p>
        </p:txBody>
      </p:sp>
      <p:sp>
        <p:nvSpPr>
          <p:cNvPr id="12" name="object 12"/>
          <p:cNvSpPr/>
          <p:nvPr/>
        </p:nvSpPr>
        <p:spPr>
          <a:xfrm>
            <a:off x="2942872" y="3273933"/>
            <a:ext cx="825341" cy="0"/>
          </a:xfrm>
          <a:custGeom>
            <a:avLst/>
            <a:gdLst/>
            <a:ahLst/>
            <a:cxnLst/>
            <a:rect l="l" t="t" r="r" b="b"/>
            <a:pathLst>
              <a:path w="1100454">
                <a:moveTo>
                  <a:pt x="0" y="0"/>
                </a:moveTo>
                <a:lnTo>
                  <a:pt x="1100206" y="0"/>
                </a:lnTo>
              </a:path>
            </a:pathLst>
          </a:custGeom>
          <a:ln w="16865">
            <a:solidFill>
              <a:srgbClr val="000000"/>
            </a:solidFill>
            <a:prstDash val="dash"/>
          </a:ln>
        </p:spPr>
        <p:txBody>
          <a:bodyPr wrap="square" lIns="0" tIns="0" rIns="0" bIns="0" rtlCol="0"/>
          <a:lstStyle/>
          <a:p>
            <a:endParaRPr sz="1800"/>
          </a:p>
        </p:txBody>
      </p:sp>
      <p:sp>
        <p:nvSpPr>
          <p:cNvPr id="13" name="object 13"/>
          <p:cNvSpPr txBox="1"/>
          <p:nvPr/>
        </p:nvSpPr>
        <p:spPr>
          <a:xfrm>
            <a:off x="3575094" y="2606421"/>
            <a:ext cx="294323" cy="741870"/>
          </a:xfrm>
          <a:prstGeom prst="rect">
            <a:avLst/>
          </a:prstGeom>
        </p:spPr>
        <p:txBody>
          <a:bodyPr vert="horz" wrap="square" lIns="0" tIns="9525" rIns="0" bIns="0" rtlCol="0">
            <a:spAutoFit/>
          </a:bodyPr>
          <a:lstStyle/>
          <a:p>
            <a:pPr marL="9525">
              <a:lnSpc>
                <a:spcPts val="1433"/>
              </a:lnSpc>
              <a:spcBef>
                <a:spcPts val="75"/>
              </a:spcBef>
            </a:pPr>
            <a:r>
              <a:rPr sz="1200" dirty="0">
                <a:latin typeface="Courier New"/>
                <a:cs typeface="Courier New"/>
              </a:rPr>
              <a:t>5 </a:t>
            </a:r>
            <a:r>
              <a:rPr sz="1200" spc="-38" dirty="0">
                <a:latin typeface="Courier New"/>
                <a:cs typeface="Courier New"/>
              </a:rPr>
              <a:t>|</a:t>
            </a:r>
            <a:endParaRPr sz="1200">
              <a:latin typeface="Courier New"/>
              <a:cs typeface="Courier New"/>
            </a:endParaRPr>
          </a:p>
          <a:p>
            <a:pPr marL="9525">
              <a:lnSpc>
                <a:spcPts val="1433"/>
              </a:lnSpc>
            </a:pPr>
            <a:r>
              <a:rPr sz="1200" dirty="0">
                <a:latin typeface="Courier New"/>
                <a:cs typeface="Courier New"/>
              </a:rPr>
              <a:t>4 </a:t>
            </a:r>
            <a:r>
              <a:rPr sz="1200" spc="-38" dirty="0">
                <a:latin typeface="Courier New"/>
                <a:cs typeface="Courier New"/>
              </a:rPr>
              <a:t>|</a:t>
            </a:r>
            <a:endParaRPr sz="1200">
              <a:latin typeface="Courier New"/>
              <a:cs typeface="Courier New"/>
            </a:endParaRPr>
          </a:p>
          <a:p>
            <a:pPr marL="9525">
              <a:lnSpc>
                <a:spcPts val="1433"/>
              </a:lnSpc>
              <a:spcBef>
                <a:spcPts val="71"/>
              </a:spcBef>
            </a:pPr>
            <a:r>
              <a:rPr sz="1200" dirty="0">
                <a:latin typeface="Courier New"/>
                <a:cs typeface="Courier New"/>
              </a:rPr>
              <a:t>1 </a:t>
            </a:r>
            <a:r>
              <a:rPr sz="1200" spc="-38" dirty="0">
                <a:latin typeface="Courier New"/>
                <a:cs typeface="Courier New"/>
              </a:rPr>
              <a:t>|</a:t>
            </a:r>
            <a:endParaRPr sz="1200">
              <a:latin typeface="Courier New"/>
              <a:cs typeface="Courier New"/>
            </a:endParaRPr>
          </a:p>
          <a:p>
            <a:pPr marL="192405">
              <a:lnSpc>
                <a:spcPts val="1433"/>
              </a:lnSpc>
            </a:pPr>
            <a:r>
              <a:rPr sz="1200" spc="-38" dirty="0">
                <a:latin typeface="Courier New"/>
                <a:cs typeface="Courier New"/>
              </a:rPr>
              <a:t>+</a:t>
            </a:r>
            <a:endParaRPr sz="1200">
              <a:latin typeface="Courier New"/>
              <a:cs typeface="Courier New"/>
            </a:endParaRPr>
          </a:p>
        </p:txBody>
      </p:sp>
      <p:sp>
        <p:nvSpPr>
          <p:cNvPr id="14" name="object 14"/>
          <p:cNvSpPr/>
          <p:nvPr/>
        </p:nvSpPr>
        <p:spPr>
          <a:xfrm>
            <a:off x="3859653" y="3273933"/>
            <a:ext cx="1192054" cy="0"/>
          </a:xfrm>
          <a:custGeom>
            <a:avLst/>
            <a:gdLst/>
            <a:ahLst/>
            <a:cxnLst/>
            <a:rect l="l" t="t" r="r" b="b"/>
            <a:pathLst>
              <a:path w="1589404">
                <a:moveTo>
                  <a:pt x="0" y="0"/>
                </a:moveTo>
                <a:lnTo>
                  <a:pt x="1589186" y="0"/>
                </a:lnTo>
              </a:path>
            </a:pathLst>
          </a:custGeom>
          <a:ln w="16865">
            <a:solidFill>
              <a:srgbClr val="000000"/>
            </a:solidFill>
            <a:prstDash val="dash"/>
          </a:ln>
        </p:spPr>
        <p:txBody>
          <a:bodyPr wrap="square" lIns="0" tIns="0" rIns="0" bIns="0" rtlCol="0"/>
          <a:lstStyle/>
          <a:p>
            <a:endParaRPr sz="1800"/>
          </a:p>
        </p:txBody>
      </p:sp>
      <p:sp>
        <p:nvSpPr>
          <p:cNvPr id="15" name="object 15"/>
          <p:cNvSpPr txBox="1"/>
          <p:nvPr/>
        </p:nvSpPr>
        <p:spPr>
          <a:xfrm>
            <a:off x="4858588" y="2606421"/>
            <a:ext cx="294323" cy="741870"/>
          </a:xfrm>
          <a:prstGeom prst="rect">
            <a:avLst/>
          </a:prstGeom>
        </p:spPr>
        <p:txBody>
          <a:bodyPr vert="horz" wrap="square" lIns="0" tIns="9525" rIns="0" bIns="0" rtlCol="0">
            <a:spAutoFit/>
          </a:bodyPr>
          <a:lstStyle/>
          <a:p>
            <a:pPr marL="9525">
              <a:lnSpc>
                <a:spcPts val="1433"/>
              </a:lnSpc>
              <a:spcBef>
                <a:spcPts val="75"/>
              </a:spcBef>
            </a:pPr>
            <a:r>
              <a:rPr sz="1200" dirty="0">
                <a:latin typeface="Courier New"/>
                <a:cs typeface="Courier New"/>
              </a:rPr>
              <a:t>0 </a:t>
            </a:r>
            <a:r>
              <a:rPr sz="1200" spc="-38" dirty="0">
                <a:latin typeface="Courier New"/>
                <a:cs typeface="Courier New"/>
              </a:rPr>
              <a:t>|</a:t>
            </a:r>
            <a:endParaRPr sz="1200">
              <a:latin typeface="Courier New"/>
              <a:cs typeface="Courier New"/>
            </a:endParaRPr>
          </a:p>
          <a:p>
            <a:pPr marL="9525">
              <a:lnSpc>
                <a:spcPts val="1433"/>
              </a:lnSpc>
            </a:pPr>
            <a:r>
              <a:rPr sz="1200" dirty="0">
                <a:latin typeface="Courier New"/>
                <a:cs typeface="Courier New"/>
              </a:rPr>
              <a:t>0 </a:t>
            </a:r>
            <a:r>
              <a:rPr sz="1200" spc="-38" dirty="0">
                <a:latin typeface="Courier New"/>
                <a:cs typeface="Courier New"/>
              </a:rPr>
              <a:t>|</a:t>
            </a:r>
            <a:endParaRPr sz="1200">
              <a:latin typeface="Courier New"/>
              <a:cs typeface="Courier New"/>
            </a:endParaRPr>
          </a:p>
          <a:p>
            <a:pPr marL="9525">
              <a:lnSpc>
                <a:spcPts val="1433"/>
              </a:lnSpc>
              <a:spcBef>
                <a:spcPts val="71"/>
              </a:spcBef>
            </a:pPr>
            <a:r>
              <a:rPr sz="1200" dirty="0">
                <a:latin typeface="Courier New"/>
                <a:cs typeface="Courier New"/>
              </a:rPr>
              <a:t>0 </a:t>
            </a:r>
            <a:r>
              <a:rPr sz="1200" spc="-38" dirty="0">
                <a:latin typeface="Courier New"/>
                <a:cs typeface="Courier New"/>
              </a:rPr>
              <a:t>|</a:t>
            </a:r>
            <a:endParaRPr sz="1200">
              <a:latin typeface="Courier New"/>
              <a:cs typeface="Courier New"/>
            </a:endParaRPr>
          </a:p>
          <a:p>
            <a:pPr marL="192405">
              <a:lnSpc>
                <a:spcPts val="1433"/>
              </a:lnSpc>
            </a:pPr>
            <a:r>
              <a:rPr sz="1200" spc="-38" dirty="0">
                <a:latin typeface="Courier New"/>
                <a:cs typeface="Courier New"/>
              </a:rPr>
              <a:t>+</a:t>
            </a:r>
            <a:endParaRPr sz="1200">
              <a:latin typeface="Courier New"/>
              <a:cs typeface="Courier New"/>
            </a:endParaRPr>
          </a:p>
        </p:txBody>
      </p:sp>
      <p:sp>
        <p:nvSpPr>
          <p:cNvPr id="16" name="object 16"/>
          <p:cNvSpPr/>
          <p:nvPr/>
        </p:nvSpPr>
        <p:spPr>
          <a:xfrm>
            <a:off x="2942872" y="4368926"/>
            <a:ext cx="825341" cy="0"/>
          </a:xfrm>
          <a:custGeom>
            <a:avLst/>
            <a:gdLst/>
            <a:ahLst/>
            <a:cxnLst/>
            <a:rect l="l" t="t" r="r" b="b"/>
            <a:pathLst>
              <a:path w="1100454">
                <a:moveTo>
                  <a:pt x="0" y="0"/>
                </a:moveTo>
                <a:lnTo>
                  <a:pt x="1100206" y="0"/>
                </a:lnTo>
              </a:path>
            </a:pathLst>
          </a:custGeom>
          <a:ln w="16865">
            <a:solidFill>
              <a:srgbClr val="000000"/>
            </a:solidFill>
            <a:prstDash val="dash"/>
          </a:ln>
        </p:spPr>
        <p:txBody>
          <a:bodyPr wrap="square" lIns="0" tIns="0" rIns="0" bIns="0" rtlCol="0"/>
          <a:lstStyle/>
          <a:p>
            <a:endParaRPr sz="1800"/>
          </a:p>
        </p:txBody>
      </p:sp>
      <p:sp>
        <p:nvSpPr>
          <p:cNvPr id="17" name="object 17"/>
          <p:cNvSpPr/>
          <p:nvPr/>
        </p:nvSpPr>
        <p:spPr>
          <a:xfrm>
            <a:off x="3859653" y="4368926"/>
            <a:ext cx="1192054" cy="0"/>
          </a:xfrm>
          <a:custGeom>
            <a:avLst/>
            <a:gdLst/>
            <a:ahLst/>
            <a:cxnLst/>
            <a:rect l="l" t="t" r="r" b="b"/>
            <a:pathLst>
              <a:path w="1589404">
                <a:moveTo>
                  <a:pt x="0" y="0"/>
                </a:moveTo>
                <a:lnTo>
                  <a:pt x="1589186" y="0"/>
                </a:lnTo>
              </a:path>
            </a:pathLst>
          </a:custGeom>
          <a:ln w="16865">
            <a:solidFill>
              <a:srgbClr val="000000"/>
            </a:solidFill>
            <a:prstDash val="dash"/>
          </a:ln>
        </p:spPr>
        <p:txBody>
          <a:bodyPr wrap="square" lIns="0" tIns="0" rIns="0" bIns="0" rtlCol="0"/>
          <a:lstStyle/>
          <a:p>
            <a:endParaRPr sz="1800"/>
          </a:p>
        </p:txBody>
      </p:sp>
      <p:sp>
        <p:nvSpPr>
          <p:cNvPr id="18" name="object 18"/>
          <p:cNvSpPr/>
          <p:nvPr/>
        </p:nvSpPr>
        <p:spPr>
          <a:xfrm>
            <a:off x="2942872" y="4730115"/>
            <a:ext cx="825341" cy="0"/>
          </a:xfrm>
          <a:custGeom>
            <a:avLst/>
            <a:gdLst/>
            <a:ahLst/>
            <a:cxnLst/>
            <a:rect l="l" t="t" r="r" b="b"/>
            <a:pathLst>
              <a:path w="1100454">
                <a:moveTo>
                  <a:pt x="0" y="0"/>
                </a:moveTo>
                <a:lnTo>
                  <a:pt x="1100206" y="0"/>
                </a:lnTo>
              </a:path>
            </a:pathLst>
          </a:custGeom>
          <a:ln w="16865">
            <a:solidFill>
              <a:srgbClr val="000000"/>
            </a:solidFill>
            <a:prstDash val="dash"/>
          </a:ln>
        </p:spPr>
        <p:txBody>
          <a:bodyPr wrap="square" lIns="0" tIns="0" rIns="0" bIns="0" rtlCol="0"/>
          <a:lstStyle/>
          <a:p>
            <a:endParaRPr sz="1800"/>
          </a:p>
        </p:txBody>
      </p:sp>
      <p:sp>
        <p:nvSpPr>
          <p:cNvPr id="19" name="object 19"/>
          <p:cNvSpPr/>
          <p:nvPr/>
        </p:nvSpPr>
        <p:spPr>
          <a:xfrm>
            <a:off x="3859653" y="4730115"/>
            <a:ext cx="1192054" cy="0"/>
          </a:xfrm>
          <a:custGeom>
            <a:avLst/>
            <a:gdLst/>
            <a:ahLst/>
            <a:cxnLst/>
            <a:rect l="l" t="t" r="r" b="b"/>
            <a:pathLst>
              <a:path w="1589404">
                <a:moveTo>
                  <a:pt x="0" y="0"/>
                </a:moveTo>
                <a:lnTo>
                  <a:pt x="1589186" y="0"/>
                </a:lnTo>
              </a:path>
            </a:pathLst>
          </a:custGeom>
          <a:ln w="16865">
            <a:solidFill>
              <a:srgbClr val="000000"/>
            </a:solidFill>
            <a:prstDash val="dash"/>
          </a:ln>
        </p:spPr>
        <p:txBody>
          <a:bodyPr wrap="square" lIns="0" tIns="0" rIns="0" bIns="0" rtlCol="0"/>
          <a:lstStyle/>
          <a:p>
            <a:endParaRPr sz="1800"/>
          </a:p>
        </p:txBody>
      </p:sp>
      <p:sp>
        <p:nvSpPr>
          <p:cNvPr id="20" name="object 20"/>
          <p:cNvSpPr txBox="1"/>
          <p:nvPr/>
        </p:nvSpPr>
        <p:spPr>
          <a:xfrm>
            <a:off x="2841668" y="3340227"/>
            <a:ext cx="2677953" cy="1477969"/>
          </a:xfrm>
          <a:prstGeom prst="rect">
            <a:avLst/>
          </a:prstGeom>
        </p:spPr>
        <p:txBody>
          <a:bodyPr vert="horz" wrap="square" lIns="0" tIns="9525" rIns="0" bIns="0" rtlCol="0">
            <a:spAutoFit/>
          </a:bodyPr>
          <a:lstStyle/>
          <a:p>
            <a:pPr marL="9525">
              <a:spcBef>
                <a:spcPts val="75"/>
              </a:spcBef>
            </a:pPr>
            <a:r>
              <a:rPr sz="1200" dirty="0">
                <a:latin typeface="Courier New"/>
                <a:cs typeface="Courier New"/>
              </a:rPr>
              <a:t>3</a:t>
            </a:r>
            <a:r>
              <a:rPr sz="1200" spc="-8" dirty="0">
                <a:latin typeface="Courier New"/>
                <a:cs typeface="Courier New"/>
              </a:rPr>
              <a:t> </a:t>
            </a:r>
            <a:r>
              <a:rPr sz="1200" dirty="0">
                <a:latin typeface="Courier New"/>
                <a:cs typeface="Courier New"/>
              </a:rPr>
              <a:t>rows</a:t>
            </a:r>
            <a:r>
              <a:rPr sz="1200" spc="-8" dirty="0">
                <a:latin typeface="Courier New"/>
                <a:cs typeface="Courier New"/>
              </a:rPr>
              <a:t> </a:t>
            </a:r>
            <a:r>
              <a:rPr sz="1200" dirty="0">
                <a:latin typeface="Courier New"/>
                <a:cs typeface="Courier New"/>
              </a:rPr>
              <a:t>in</a:t>
            </a:r>
            <a:r>
              <a:rPr sz="1200" spc="-8" dirty="0">
                <a:latin typeface="Courier New"/>
                <a:cs typeface="Courier New"/>
              </a:rPr>
              <a:t> </a:t>
            </a:r>
            <a:r>
              <a:rPr sz="1200" dirty="0">
                <a:latin typeface="Courier New"/>
                <a:cs typeface="Courier New"/>
              </a:rPr>
              <a:t>set</a:t>
            </a:r>
            <a:r>
              <a:rPr sz="1200" spc="-8" dirty="0">
                <a:latin typeface="Courier New"/>
                <a:cs typeface="Courier New"/>
              </a:rPr>
              <a:t> </a:t>
            </a:r>
            <a:r>
              <a:rPr sz="1200" dirty="0">
                <a:latin typeface="Courier New"/>
                <a:cs typeface="Courier New"/>
              </a:rPr>
              <a:t>(0.00</a:t>
            </a:r>
            <a:r>
              <a:rPr sz="1200" spc="-8" dirty="0">
                <a:latin typeface="Courier New"/>
                <a:cs typeface="Courier New"/>
              </a:rPr>
              <a:t> </a:t>
            </a:r>
            <a:r>
              <a:rPr sz="1200" spc="-15" dirty="0">
                <a:latin typeface="Courier New"/>
                <a:cs typeface="Courier New"/>
              </a:rPr>
              <a:t>sec)</a:t>
            </a:r>
            <a:endParaRPr sz="1200">
              <a:latin typeface="Courier New"/>
              <a:cs typeface="Courier New"/>
            </a:endParaRPr>
          </a:p>
          <a:p>
            <a:pPr marL="9525" marR="3810">
              <a:lnSpc>
                <a:spcPts val="2933"/>
              </a:lnSpc>
              <a:spcBef>
                <a:spcPts val="259"/>
              </a:spcBef>
            </a:pPr>
            <a:r>
              <a:rPr sz="1200" dirty="0">
                <a:latin typeface="Courier New"/>
                <a:cs typeface="Courier New"/>
              </a:rPr>
              <a:t>mysql&gt;</a:t>
            </a:r>
            <a:r>
              <a:rPr sz="1200" spc="-15" dirty="0">
                <a:latin typeface="Courier New"/>
                <a:cs typeface="Courier New"/>
              </a:rPr>
              <a:t> </a:t>
            </a:r>
            <a:r>
              <a:rPr sz="1200" dirty="0">
                <a:latin typeface="Courier New"/>
                <a:cs typeface="Courier New"/>
              </a:rPr>
              <a:t>call</a:t>
            </a:r>
            <a:r>
              <a:rPr sz="1200" spc="-15" dirty="0">
                <a:latin typeface="Courier New"/>
                <a:cs typeface="Courier New"/>
              </a:rPr>
              <a:t> </a:t>
            </a:r>
            <a:r>
              <a:rPr sz="1200" spc="-8" dirty="0">
                <a:latin typeface="Courier New"/>
                <a:cs typeface="Courier New"/>
              </a:rPr>
              <a:t>updateSalary; </a:t>
            </a:r>
            <a:r>
              <a:rPr sz="1200" dirty="0">
                <a:latin typeface="Courier New"/>
                <a:cs typeface="Courier New"/>
              </a:rPr>
              <a:t>mysql&gt;</a:t>
            </a:r>
            <a:r>
              <a:rPr sz="1200" spc="-23" dirty="0">
                <a:latin typeface="Courier New"/>
                <a:cs typeface="Courier New"/>
              </a:rPr>
              <a:t> </a:t>
            </a:r>
            <a:r>
              <a:rPr sz="1200" dirty="0">
                <a:latin typeface="Courier New"/>
                <a:cs typeface="Courier New"/>
              </a:rPr>
              <a:t>select</a:t>
            </a:r>
            <a:r>
              <a:rPr sz="1200" spc="-11" dirty="0">
                <a:latin typeface="Courier New"/>
                <a:cs typeface="Courier New"/>
              </a:rPr>
              <a:t> </a:t>
            </a:r>
            <a:r>
              <a:rPr sz="1200" dirty="0">
                <a:latin typeface="Courier New"/>
                <a:cs typeface="Courier New"/>
              </a:rPr>
              <a:t>*</a:t>
            </a:r>
            <a:r>
              <a:rPr sz="1200" spc="-11" dirty="0">
                <a:latin typeface="Courier New"/>
                <a:cs typeface="Courier New"/>
              </a:rPr>
              <a:t> </a:t>
            </a:r>
            <a:r>
              <a:rPr sz="1200" dirty="0">
                <a:latin typeface="Courier New"/>
                <a:cs typeface="Courier New"/>
              </a:rPr>
              <a:t>from</a:t>
            </a:r>
            <a:r>
              <a:rPr sz="1200" spc="-11" dirty="0">
                <a:latin typeface="Courier New"/>
                <a:cs typeface="Courier New"/>
              </a:rPr>
              <a:t> </a:t>
            </a:r>
            <a:r>
              <a:rPr sz="1200" spc="-8" dirty="0">
                <a:latin typeface="Courier New"/>
                <a:cs typeface="Courier New"/>
              </a:rPr>
              <a:t>deptsal;</a:t>
            </a:r>
            <a:endParaRPr sz="1200">
              <a:latin typeface="Courier New"/>
              <a:cs typeface="Courier New"/>
            </a:endParaRPr>
          </a:p>
          <a:p>
            <a:pPr marL="9525">
              <a:lnSpc>
                <a:spcPts val="1069"/>
              </a:lnSpc>
              <a:tabLst>
                <a:tab pos="925830" algn="l"/>
                <a:tab pos="2209324" algn="l"/>
              </a:tabLst>
            </a:pPr>
            <a:r>
              <a:rPr sz="1200" spc="-38" dirty="0">
                <a:latin typeface="Courier New"/>
                <a:cs typeface="Courier New"/>
              </a:rPr>
              <a:t>+</a:t>
            </a:r>
            <a:r>
              <a:rPr sz="1200" dirty="0">
                <a:latin typeface="Courier New"/>
                <a:cs typeface="Courier New"/>
              </a:rPr>
              <a:t>	</a:t>
            </a:r>
            <a:r>
              <a:rPr sz="1200" spc="-38" dirty="0">
                <a:latin typeface="Courier New"/>
                <a:cs typeface="Courier New"/>
              </a:rPr>
              <a:t>+</a:t>
            </a:r>
            <a:r>
              <a:rPr sz="1200" dirty="0">
                <a:latin typeface="Courier New"/>
                <a:cs typeface="Courier New"/>
              </a:rPr>
              <a:t>	</a:t>
            </a:r>
            <a:r>
              <a:rPr sz="1200" spc="-38" dirty="0">
                <a:latin typeface="Courier New"/>
                <a:cs typeface="Courier New"/>
              </a:rPr>
              <a:t>+</a:t>
            </a:r>
            <a:endParaRPr sz="1200">
              <a:latin typeface="Courier New"/>
              <a:cs typeface="Courier New"/>
            </a:endParaRPr>
          </a:p>
          <a:p>
            <a:pPr marL="9525">
              <a:lnSpc>
                <a:spcPts val="1421"/>
              </a:lnSpc>
            </a:pPr>
            <a:r>
              <a:rPr sz="1200" dirty="0">
                <a:latin typeface="Courier New"/>
                <a:cs typeface="Courier New"/>
              </a:rPr>
              <a:t>|</a:t>
            </a:r>
            <a:r>
              <a:rPr sz="1200" spc="-15" dirty="0">
                <a:latin typeface="Courier New"/>
                <a:cs typeface="Courier New"/>
              </a:rPr>
              <a:t> </a:t>
            </a:r>
            <a:r>
              <a:rPr sz="1200" dirty="0">
                <a:latin typeface="Courier New"/>
                <a:cs typeface="Courier New"/>
              </a:rPr>
              <a:t>dnumber</a:t>
            </a:r>
            <a:r>
              <a:rPr sz="1200" spc="-15" dirty="0">
                <a:latin typeface="Courier New"/>
                <a:cs typeface="Courier New"/>
              </a:rPr>
              <a:t> </a:t>
            </a:r>
            <a:r>
              <a:rPr sz="1200" dirty="0">
                <a:latin typeface="Courier New"/>
                <a:cs typeface="Courier New"/>
              </a:rPr>
              <a:t>|</a:t>
            </a:r>
            <a:r>
              <a:rPr sz="1200" spc="-15" dirty="0">
                <a:latin typeface="Courier New"/>
                <a:cs typeface="Courier New"/>
              </a:rPr>
              <a:t> </a:t>
            </a:r>
            <a:r>
              <a:rPr sz="1200" dirty="0">
                <a:latin typeface="Courier New"/>
                <a:cs typeface="Courier New"/>
              </a:rPr>
              <a:t>totalsalary</a:t>
            </a:r>
            <a:r>
              <a:rPr sz="1200" spc="-15" dirty="0">
                <a:latin typeface="Courier New"/>
                <a:cs typeface="Courier New"/>
              </a:rPr>
              <a:t> </a:t>
            </a:r>
            <a:r>
              <a:rPr sz="1200" spc="-38" dirty="0">
                <a:latin typeface="Courier New"/>
                <a:cs typeface="Courier New"/>
              </a:rPr>
              <a:t>|</a:t>
            </a:r>
            <a:endParaRPr sz="1200">
              <a:latin typeface="Courier New"/>
              <a:cs typeface="Courier New"/>
            </a:endParaRPr>
          </a:p>
          <a:p>
            <a:pPr marL="9525">
              <a:lnSpc>
                <a:spcPts val="1433"/>
              </a:lnSpc>
              <a:tabLst>
                <a:tab pos="925830" algn="l"/>
                <a:tab pos="2209324" algn="l"/>
              </a:tabLst>
            </a:pPr>
            <a:r>
              <a:rPr sz="1200" spc="-38" dirty="0">
                <a:latin typeface="Courier New"/>
                <a:cs typeface="Courier New"/>
              </a:rPr>
              <a:t>+</a:t>
            </a:r>
            <a:r>
              <a:rPr sz="1200" dirty="0">
                <a:latin typeface="Courier New"/>
                <a:cs typeface="Courier New"/>
              </a:rPr>
              <a:t>	</a:t>
            </a:r>
            <a:r>
              <a:rPr sz="1200" spc="-38" dirty="0">
                <a:latin typeface="Courier New"/>
                <a:cs typeface="Courier New"/>
              </a:rPr>
              <a:t>+</a:t>
            </a:r>
            <a:r>
              <a:rPr sz="1200" dirty="0">
                <a:latin typeface="Courier New"/>
                <a:cs typeface="Courier New"/>
              </a:rPr>
              <a:t>	</a:t>
            </a:r>
            <a:r>
              <a:rPr sz="1200" spc="-38" dirty="0">
                <a:latin typeface="Courier New"/>
                <a:cs typeface="Courier New"/>
              </a:rPr>
              <a:t>+</a:t>
            </a:r>
            <a:endParaRPr sz="1200">
              <a:latin typeface="Courier New"/>
              <a:cs typeface="Courier New"/>
            </a:endParaRPr>
          </a:p>
        </p:txBody>
      </p:sp>
      <p:sp>
        <p:nvSpPr>
          <p:cNvPr id="21" name="object 21"/>
          <p:cNvSpPr txBox="1"/>
          <p:nvPr/>
        </p:nvSpPr>
        <p:spPr>
          <a:xfrm>
            <a:off x="2841669" y="4807839"/>
            <a:ext cx="110966" cy="729046"/>
          </a:xfrm>
          <a:prstGeom prst="rect">
            <a:avLst/>
          </a:prstGeom>
        </p:spPr>
        <p:txBody>
          <a:bodyPr vert="horz" wrap="square" lIns="0" tIns="9525" rIns="0" bIns="0" rtlCol="0">
            <a:spAutoFit/>
          </a:bodyPr>
          <a:lstStyle/>
          <a:p>
            <a:pPr marL="9525">
              <a:lnSpc>
                <a:spcPts val="1433"/>
              </a:lnSpc>
              <a:spcBef>
                <a:spcPts val="75"/>
              </a:spcBef>
            </a:pPr>
            <a:r>
              <a:rPr sz="1200" spc="-38" dirty="0">
                <a:latin typeface="Courier New"/>
                <a:cs typeface="Courier New"/>
              </a:rPr>
              <a:t>|</a:t>
            </a:r>
            <a:endParaRPr sz="1200">
              <a:latin typeface="Courier New"/>
              <a:cs typeface="Courier New"/>
            </a:endParaRPr>
          </a:p>
          <a:p>
            <a:pPr marL="9525">
              <a:lnSpc>
                <a:spcPts val="1421"/>
              </a:lnSpc>
            </a:pPr>
            <a:r>
              <a:rPr sz="1200" spc="-38" dirty="0">
                <a:latin typeface="Courier New"/>
                <a:cs typeface="Courier New"/>
              </a:rPr>
              <a:t>|</a:t>
            </a:r>
            <a:endParaRPr sz="1200">
              <a:latin typeface="Courier New"/>
              <a:cs typeface="Courier New"/>
            </a:endParaRPr>
          </a:p>
          <a:p>
            <a:pPr marL="9525">
              <a:lnSpc>
                <a:spcPts val="1421"/>
              </a:lnSpc>
            </a:pPr>
            <a:r>
              <a:rPr sz="1200" spc="-38" dirty="0">
                <a:latin typeface="Courier New"/>
                <a:cs typeface="Courier New"/>
              </a:rPr>
              <a:t>|</a:t>
            </a:r>
            <a:endParaRPr sz="1200">
              <a:latin typeface="Courier New"/>
              <a:cs typeface="Courier New"/>
            </a:endParaRPr>
          </a:p>
          <a:p>
            <a:pPr marL="9525">
              <a:lnSpc>
                <a:spcPts val="1433"/>
              </a:lnSpc>
            </a:pPr>
            <a:r>
              <a:rPr sz="1200" spc="-38" dirty="0">
                <a:latin typeface="Courier New"/>
                <a:cs typeface="Courier New"/>
              </a:rPr>
              <a:t>+</a:t>
            </a:r>
            <a:endParaRPr sz="1200">
              <a:latin typeface="Courier New"/>
              <a:cs typeface="Courier New"/>
            </a:endParaRPr>
          </a:p>
        </p:txBody>
      </p:sp>
      <p:sp>
        <p:nvSpPr>
          <p:cNvPr id="22" name="object 22"/>
          <p:cNvSpPr/>
          <p:nvPr/>
        </p:nvSpPr>
        <p:spPr>
          <a:xfrm>
            <a:off x="2942872" y="5463921"/>
            <a:ext cx="825341" cy="0"/>
          </a:xfrm>
          <a:custGeom>
            <a:avLst/>
            <a:gdLst/>
            <a:ahLst/>
            <a:cxnLst/>
            <a:rect l="l" t="t" r="r" b="b"/>
            <a:pathLst>
              <a:path w="1100454">
                <a:moveTo>
                  <a:pt x="0" y="0"/>
                </a:moveTo>
                <a:lnTo>
                  <a:pt x="1100206" y="0"/>
                </a:lnTo>
              </a:path>
            </a:pathLst>
          </a:custGeom>
          <a:ln w="16865">
            <a:solidFill>
              <a:srgbClr val="000000"/>
            </a:solidFill>
            <a:prstDash val="dash"/>
          </a:ln>
        </p:spPr>
        <p:txBody>
          <a:bodyPr wrap="square" lIns="0" tIns="0" rIns="0" bIns="0" rtlCol="0"/>
          <a:lstStyle/>
          <a:p>
            <a:endParaRPr sz="1800"/>
          </a:p>
        </p:txBody>
      </p:sp>
      <p:sp>
        <p:nvSpPr>
          <p:cNvPr id="23" name="object 23"/>
          <p:cNvSpPr txBox="1"/>
          <p:nvPr/>
        </p:nvSpPr>
        <p:spPr>
          <a:xfrm>
            <a:off x="3575094" y="4807839"/>
            <a:ext cx="294323" cy="729046"/>
          </a:xfrm>
          <a:prstGeom prst="rect">
            <a:avLst/>
          </a:prstGeom>
        </p:spPr>
        <p:txBody>
          <a:bodyPr vert="horz" wrap="square" lIns="0" tIns="9525" rIns="0" bIns="0" rtlCol="0">
            <a:spAutoFit/>
          </a:bodyPr>
          <a:lstStyle/>
          <a:p>
            <a:pPr marL="9525">
              <a:lnSpc>
                <a:spcPts val="1433"/>
              </a:lnSpc>
              <a:spcBef>
                <a:spcPts val="75"/>
              </a:spcBef>
            </a:pPr>
            <a:r>
              <a:rPr sz="1200" dirty="0">
                <a:latin typeface="Courier New"/>
                <a:cs typeface="Courier New"/>
              </a:rPr>
              <a:t>5 </a:t>
            </a:r>
            <a:r>
              <a:rPr sz="1200" spc="-38" dirty="0">
                <a:latin typeface="Courier New"/>
                <a:cs typeface="Courier New"/>
              </a:rPr>
              <a:t>|</a:t>
            </a:r>
            <a:endParaRPr sz="1200">
              <a:latin typeface="Courier New"/>
              <a:cs typeface="Courier New"/>
            </a:endParaRPr>
          </a:p>
          <a:p>
            <a:pPr marL="9525">
              <a:lnSpc>
                <a:spcPts val="1421"/>
              </a:lnSpc>
            </a:pPr>
            <a:r>
              <a:rPr sz="1200" dirty="0">
                <a:latin typeface="Courier New"/>
                <a:cs typeface="Courier New"/>
              </a:rPr>
              <a:t>4 </a:t>
            </a:r>
            <a:r>
              <a:rPr sz="1200" spc="-38" dirty="0">
                <a:latin typeface="Courier New"/>
                <a:cs typeface="Courier New"/>
              </a:rPr>
              <a:t>|</a:t>
            </a:r>
            <a:endParaRPr sz="1200">
              <a:latin typeface="Courier New"/>
              <a:cs typeface="Courier New"/>
            </a:endParaRPr>
          </a:p>
          <a:p>
            <a:pPr marL="9525">
              <a:lnSpc>
                <a:spcPts val="1421"/>
              </a:lnSpc>
            </a:pPr>
            <a:r>
              <a:rPr sz="1200" dirty="0">
                <a:latin typeface="Courier New"/>
                <a:cs typeface="Courier New"/>
              </a:rPr>
              <a:t>1 </a:t>
            </a:r>
            <a:r>
              <a:rPr sz="1200" spc="-38" dirty="0">
                <a:latin typeface="Courier New"/>
                <a:cs typeface="Courier New"/>
              </a:rPr>
              <a:t>|</a:t>
            </a:r>
            <a:endParaRPr sz="1200">
              <a:latin typeface="Courier New"/>
              <a:cs typeface="Courier New"/>
            </a:endParaRPr>
          </a:p>
          <a:p>
            <a:pPr marL="192405">
              <a:lnSpc>
                <a:spcPts val="1433"/>
              </a:lnSpc>
            </a:pPr>
            <a:r>
              <a:rPr sz="1200" spc="-38" dirty="0">
                <a:latin typeface="Courier New"/>
                <a:cs typeface="Courier New"/>
              </a:rPr>
              <a:t>+</a:t>
            </a:r>
            <a:endParaRPr sz="1200">
              <a:latin typeface="Courier New"/>
              <a:cs typeface="Courier New"/>
            </a:endParaRPr>
          </a:p>
        </p:txBody>
      </p:sp>
      <p:sp>
        <p:nvSpPr>
          <p:cNvPr id="24" name="object 24"/>
          <p:cNvSpPr/>
          <p:nvPr/>
        </p:nvSpPr>
        <p:spPr>
          <a:xfrm>
            <a:off x="3859653" y="5463921"/>
            <a:ext cx="1192054" cy="0"/>
          </a:xfrm>
          <a:custGeom>
            <a:avLst/>
            <a:gdLst/>
            <a:ahLst/>
            <a:cxnLst/>
            <a:rect l="l" t="t" r="r" b="b"/>
            <a:pathLst>
              <a:path w="1589404">
                <a:moveTo>
                  <a:pt x="0" y="0"/>
                </a:moveTo>
                <a:lnTo>
                  <a:pt x="1589186" y="0"/>
                </a:lnTo>
              </a:path>
            </a:pathLst>
          </a:custGeom>
          <a:ln w="16865">
            <a:solidFill>
              <a:srgbClr val="000000"/>
            </a:solidFill>
            <a:prstDash val="dash"/>
          </a:ln>
        </p:spPr>
        <p:txBody>
          <a:bodyPr wrap="square" lIns="0" tIns="0" rIns="0" bIns="0" rtlCol="0"/>
          <a:lstStyle/>
          <a:p>
            <a:endParaRPr sz="1800"/>
          </a:p>
        </p:txBody>
      </p:sp>
      <p:sp>
        <p:nvSpPr>
          <p:cNvPr id="25" name="object 25"/>
          <p:cNvSpPr txBox="1"/>
          <p:nvPr/>
        </p:nvSpPr>
        <p:spPr>
          <a:xfrm>
            <a:off x="4400197" y="4807839"/>
            <a:ext cx="752951" cy="729046"/>
          </a:xfrm>
          <a:prstGeom prst="rect">
            <a:avLst/>
          </a:prstGeom>
        </p:spPr>
        <p:txBody>
          <a:bodyPr vert="horz" wrap="square" lIns="0" tIns="9525" rIns="0" bIns="0" rtlCol="0">
            <a:spAutoFit/>
          </a:bodyPr>
          <a:lstStyle/>
          <a:p>
            <a:pPr marR="3810" algn="r">
              <a:lnSpc>
                <a:spcPts val="1433"/>
              </a:lnSpc>
              <a:spcBef>
                <a:spcPts val="75"/>
              </a:spcBef>
            </a:pPr>
            <a:r>
              <a:rPr sz="1200" dirty="0">
                <a:latin typeface="Courier New"/>
                <a:cs typeface="Courier New"/>
              </a:rPr>
              <a:t>133000</a:t>
            </a:r>
            <a:r>
              <a:rPr sz="1200" spc="-19" dirty="0">
                <a:latin typeface="Courier New"/>
                <a:cs typeface="Courier New"/>
              </a:rPr>
              <a:t> </a:t>
            </a:r>
            <a:r>
              <a:rPr sz="1200" spc="-38" dirty="0">
                <a:latin typeface="Courier New"/>
                <a:cs typeface="Courier New"/>
              </a:rPr>
              <a:t>|</a:t>
            </a:r>
            <a:endParaRPr sz="1200">
              <a:latin typeface="Courier New"/>
              <a:cs typeface="Courier New"/>
            </a:endParaRPr>
          </a:p>
          <a:p>
            <a:pPr marR="3810" algn="r">
              <a:lnSpc>
                <a:spcPts val="1421"/>
              </a:lnSpc>
            </a:pPr>
            <a:r>
              <a:rPr sz="1200" dirty="0">
                <a:latin typeface="Courier New"/>
                <a:cs typeface="Courier New"/>
              </a:rPr>
              <a:t>93000</a:t>
            </a:r>
            <a:r>
              <a:rPr sz="1200" spc="-15" dirty="0">
                <a:latin typeface="Courier New"/>
                <a:cs typeface="Courier New"/>
              </a:rPr>
              <a:t> </a:t>
            </a:r>
            <a:r>
              <a:rPr sz="1200" spc="-38" dirty="0">
                <a:latin typeface="Courier New"/>
                <a:cs typeface="Courier New"/>
              </a:rPr>
              <a:t>|</a:t>
            </a:r>
            <a:endParaRPr sz="1200">
              <a:latin typeface="Courier New"/>
              <a:cs typeface="Courier New"/>
            </a:endParaRPr>
          </a:p>
          <a:p>
            <a:pPr marR="3810" algn="r">
              <a:lnSpc>
                <a:spcPts val="1421"/>
              </a:lnSpc>
            </a:pPr>
            <a:r>
              <a:rPr sz="1200" dirty="0">
                <a:latin typeface="Courier New"/>
                <a:cs typeface="Courier New"/>
              </a:rPr>
              <a:t>55000</a:t>
            </a:r>
            <a:r>
              <a:rPr sz="1200" spc="-15" dirty="0">
                <a:latin typeface="Courier New"/>
                <a:cs typeface="Courier New"/>
              </a:rPr>
              <a:t> </a:t>
            </a:r>
            <a:r>
              <a:rPr sz="1200" spc="-38" dirty="0">
                <a:latin typeface="Courier New"/>
                <a:cs typeface="Courier New"/>
              </a:rPr>
              <a:t>|</a:t>
            </a:r>
            <a:endParaRPr sz="1200">
              <a:latin typeface="Courier New"/>
              <a:cs typeface="Courier New"/>
            </a:endParaRPr>
          </a:p>
          <a:p>
            <a:pPr marR="3810" algn="r">
              <a:lnSpc>
                <a:spcPts val="1433"/>
              </a:lnSpc>
            </a:pPr>
            <a:r>
              <a:rPr sz="1200" spc="-38" dirty="0">
                <a:latin typeface="Courier New"/>
                <a:cs typeface="Courier New"/>
              </a:rPr>
              <a:t>+</a:t>
            </a:r>
            <a:endParaRPr sz="1200">
              <a:latin typeface="Courier New"/>
              <a:cs typeface="Courier New"/>
            </a:endParaRPr>
          </a:p>
        </p:txBody>
      </p:sp>
      <p:sp>
        <p:nvSpPr>
          <p:cNvPr id="28" name="object 28"/>
          <p:cNvSpPr txBox="1">
            <a:spLocks noGrp="1"/>
          </p:cNvSpPr>
          <p:nvPr>
            <p:ph type="ftr" sz="quarter" idx="5"/>
          </p:nvPr>
        </p:nvSpPr>
        <p:spPr>
          <a:xfrm>
            <a:off x="4254246" y="6428920"/>
            <a:ext cx="3683634"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9525">
              <a:spcBef>
                <a:spcPts val="30"/>
              </a:spcBef>
            </a:pPr>
            <a:r>
              <a:rPr lang="en-US" spc="-10"/>
              <a:t>Copyright</a:t>
            </a:r>
            <a:r>
              <a:rPr lang="en-US" spc="-15"/>
              <a:t> </a:t>
            </a:r>
            <a:r>
              <a:rPr lang="en-US"/>
              <a:t>©</a:t>
            </a:r>
            <a:r>
              <a:rPr lang="en-US" spc="-10"/>
              <a:t> </a:t>
            </a:r>
            <a:r>
              <a:rPr lang="en-US"/>
              <a:t>2016</a:t>
            </a:r>
            <a:r>
              <a:rPr lang="en-US" spc="-10"/>
              <a:t> </a:t>
            </a:r>
            <a:r>
              <a:rPr lang="en-US"/>
              <a:t>Ramez</a:t>
            </a:r>
            <a:r>
              <a:rPr lang="en-US" spc="-5"/>
              <a:t> </a:t>
            </a:r>
            <a:r>
              <a:rPr lang="en-US"/>
              <a:t>Elmasri</a:t>
            </a:r>
            <a:r>
              <a:rPr lang="en-US" spc="-15"/>
              <a:t> </a:t>
            </a:r>
            <a:r>
              <a:rPr lang="en-US"/>
              <a:t>and</a:t>
            </a:r>
            <a:r>
              <a:rPr lang="en-US" spc="-15"/>
              <a:t> </a:t>
            </a:r>
            <a:r>
              <a:rPr lang="en-US" spc="-10"/>
              <a:t>Shamkant</a:t>
            </a:r>
            <a:r>
              <a:rPr lang="en-US" spc="-15"/>
              <a:t> </a:t>
            </a:r>
            <a:r>
              <a:rPr lang="en-US"/>
              <a:t>B.</a:t>
            </a:r>
            <a:r>
              <a:rPr lang="en-US" spc="-10"/>
              <a:t> Navathe</a:t>
            </a:r>
            <a:endParaRPr spc="-8" dirty="0"/>
          </a:p>
        </p:txBody>
      </p:sp>
      <p:sp>
        <p:nvSpPr>
          <p:cNvPr id="29" name="object 29"/>
          <p:cNvSpPr txBox="1">
            <a:spLocks noGrp="1"/>
          </p:cNvSpPr>
          <p:nvPr>
            <p:ph type="sldNum" sz="quarter" idx="7"/>
          </p:nvPr>
        </p:nvSpPr>
        <p:spPr>
          <a:xfrm>
            <a:off x="11067415" y="6428920"/>
            <a:ext cx="2444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15570">
              <a:spcBef>
                <a:spcPts val="40"/>
              </a:spcBef>
            </a:pPr>
            <a:fld id="{81D60167-4931-47E6-BA6A-407CBD079E47}" type="slidenum">
              <a:rPr lang="en-US" spc="-50" smtClean="0"/>
              <a:pPr marL="115570">
                <a:spcBef>
                  <a:spcPts val="40"/>
                </a:spcBef>
              </a:pPr>
              <a:t>171</a:t>
            </a:fld>
            <a:endParaRPr spc="-19" dirty="0"/>
          </a:p>
        </p:txBody>
      </p:sp>
      <p:sp>
        <p:nvSpPr>
          <p:cNvPr id="26" name="object 26"/>
          <p:cNvSpPr txBox="1"/>
          <p:nvPr/>
        </p:nvSpPr>
        <p:spPr>
          <a:xfrm>
            <a:off x="2841669" y="5530215"/>
            <a:ext cx="2219801" cy="194284"/>
          </a:xfrm>
          <a:prstGeom prst="rect">
            <a:avLst/>
          </a:prstGeom>
        </p:spPr>
        <p:txBody>
          <a:bodyPr vert="horz" wrap="square" lIns="0" tIns="9525" rIns="0" bIns="0" rtlCol="0">
            <a:spAutoFit/>
          </a:bodyPr>
          <a:lstStyle/>
          <a:p>
            <a:pPr marL="9525">
              <a:spcBef>
                <a:spcPts val="75"/>
              </a:spcBef>
            </a:pPr>
            <a:r>
              <a:rPr sz="1200" dirty="0">
                <a:latin typeface="Courier New"/>
                <a:cs typeface="Courier New"/>
              </a:rPr>
              <a:t>3</a:t>
            </a:r>
            <a:r>
              <a:rPr sz="1200" spc="-8" dirty="0">
                <a:latin typeface="Courier New"/>
                <a:cs typeface="Courier New"/>
              </a:rPr>
              <a:t> </a:t>
            </a:r>
            <a:r>
              <a:rPr sz="1200" dirty="0">
                <a:latin typeface="Courier New"/>
                <a:cs typeface="Courier New"/>
              </a:rPr>
              <a:t>rows</a:t>
            </a:r>
            <a:r>
              <a:rPr sz="1200" spc="-8" dirty="0">
                <a:latin typeface="Courier New"/>
                <a:cs typeface="Courier New"/>
              </a:rPr>
              <a:t> </a:t>
            </a:r>
            <a:r>
              <a:rPr sz="1200" dirty="0">
                <a:latin typeface="Courier New"/>
                <a:cs typeface="Courier New"/>
              </a:rPr>
              <a:t>in</a:t>
            </a:r>
            <a:r>
              <a:rPr sz="1200" spc="-8" dirty="0">
                <a:latin typeface="Courier New"/>
                <a:cs typeface="Courier New"/>
              </a:rPr>
              <a:t> </a:t>
            </a:r>
            <a:r>
              <a:rPr sz="1200" dirty="0">
                <a:latin typeface="Courier New"/>
                <a:cs typeface="Courier New"/>
              </a:rPr>
              <a:t>set</a:t>
            </a:r>
            <a:r>
              <a:rPr sz="1200" spc="-8" dirty="0">
                <a:latin typeface="Courier New"/>
                <a:cs typeface="Courier New"/>
              </a:rPr>
              <a:t> </a:t>
            </a:r>
            <a:r>
              <a:rPr sz="1200" dirty="0">
                <a:latin typeface="Courier New"/>
                <a:cs typeface="Courier New"/>
              </a:rPr>
              <a:t>(0.00</a:t>
            </a:r>
            <a:r>
              <a:rPr sz="1200" spc="-8" dirty="0">
                <a:latin typeface="Courier New"/>
                <a:cs typeface="Courier New"/>
              </a:rPr>
              <a:t> </a:t>
            </a:r>
            <a:r>
              <a:rPr sz="1200" spc="-15" dirty="0">
                <a:latin typeface="Courier New"/>
                <a:cs typeface="Courier New"/>
              </a:rPr>
              <a:t>sec)</a:t>
            </a:r>
            <a:endParaRPr sz="1200">
              <a:latin typeface="Courier New"/>
              <a:cs typeface="Courier New"/>
            </a:endParaRPr>
          </a:p>
        </p:txBody>
      </p:sp>
      <p:sp>
        <p:nvSpPr>
          <p:cNvPr id="27" name="object 27"/>
          <p:cNvSpPr txBox="1"/>
          <p:nvPr/>
        </p:nvSpPr>
        <p:spPr>
          <a:xfrm>
            <a:off x="7271779" y="1147191"/>
            <a:ext cx="461010" cy="217367"/>
          </a:xfrm>
          <a:prstGeom prst="rect">
            <a:avLst/>
          </a:prstGeom>
        </p:spPr>
        <p:txBody>
          <a:bodyPr vert="horz" wrap="square" lIns="0" tIns="9525" rIns="0" bIns="0" rtlCol="0">
            <a:spAutoFit/>
          </a:bodyPr>
          <a:lstStyle/>
          <a:p>
            <a:pPr marL="9525">
              <a:spcBef>
                <a:spcPts val="75"/>
              </a:spcBef>
            </a:pPr>
            <a:r>
              <a:rPr sz="1350" spc="-8" dirty="0">
                <a:latin typeface="Calibri"/>
                <a:cs typeface="Calibri"/>
              </a:rPr>
              <a:t>Q4.sql</a:t>
            </a:r>
            <a:endParaRPr sz="1350">
              <a:latin typeface="Calibri"/>
              <a:cs typeface="Calibri"/>
            </a:endParaRPr>
          </a:p>
        </p:txBody>
      </p:sp>
    </p:spTree>
  </p:cSld>
  <p:clrMapOvr>
    <a:masterClrMapping/>
  </p:clrMapOvr>
  <p:transition spd="med"/>
</p:sld>
</file>

<file path=ppt/slides/slide1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27651" y="381727"/>
            <a:ext cx="5847160"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dirty="0"/>
              <a:t>Cursor2</a:t>
            </a:r>
            <a:r>
              <a:rPr spc="-64" dirty="0"/>
              <a:t> </a:t>
            </a:r>
            <a:r>
              <a:rPr dirty="0"/>
              <a:t>–</a:t>
            </a:r>
            <a:r>
              <a:rPr spc="-60" dirty="0"/>
              <a:t> </a:t>
            </a:r>
            <a:r>
              <a:rPr dirty="0"/>
              <a:t>Step</a:t>
            </a:r>
            <a:r>
              <a:rPr spc="-56" dirty="0"/>
              <a:t> </a:t>
            </a:r>
            <a:r>
              <a:rPr spc="-38" dirty="0"/>
              <a:t>1</a:t>
            </a:r>
          </a:p>
        </p:txBody>
      </p:sp>
      <p:sp>
        <p:nvSpPr>
          <p:cNvPr id="3" name="object 3"/>
          <p:cNvSpPr txBox="1"/>
          <p:nvPr/>
        </p:nvSpPr>
        <p:spPr>
          <a:xfrm>
            <a:off x="687705" y="2204085"/>
            <a:ext cx="5641181" cy="689291"/>
          </a:xfrm>
          <a:prstGeom prst="rect">
            <a:avLst/>
          </a:prstGeom>
        </p:spPr>
        <p:txBody>
          <a:bodyPr vert="horz" wrap="square" lIns="0" tIns="9525" rIns="0" bIns="0" rtlCol="0">
            <a:spAutoFit/>
          </a:bodyPr>
          <a:lstStyle/>
          <a:p>
            <a:pPr marL="180499" indent="-170974">
              <a:spcBef>
                <a:spcPts val="75"/>
              </a:spcBef>
              <a:buFont typeface="Arial"/>
              <a:buChar char="•"/>
              <a:tabLst>
                <a:tab pos="180499" algn="l"/>
              </a:tabLst>
            </a:pPr>
            <a:r>
              <a:rPr sz="2100" dirty="0">
                <a:latin typeface="Calibri"/>
                <a:cs typeface="Calibri"/>
              </a:rPr>
              <a:t>Create</a:t>
            </a:r>
            <a:r>
              <a:rPr sz="2100" spc="-45" dirty="0">
                <a:latin typeface="Calibri"/>
                <a:cs typeface="Calibri"/>
              </a:rPr>
              <a:t> </a:t>
            </a:r>
            <a:r>
              <a:rPr sz="2100" dirty="0">
                <a:latin typeface="Calibri"/>
                <a:cs typeface="Calibri"/>
              </a:rPr>
              <a:t>a</a:t>
            </a:r>
            <a:r>
              <a:rPr sz="2100" spc="-38" dirty="0">
                <a:latin typeface="Calibri"/>
                <a:cs typeface="Calibri"/>
              </a:rPr>
              <a:t> </a:t>
            </a:r>
            <a:r>
              <a:rPr sz="2100" dirty="0">
                <a:latin typeface="Calibri"/>
                <a:cs typeface="Calibri"/>
              </a:rPr>
              <a:t>procedure</a:t>
            </a:r>
            <a:r>
              <a:rPr sz="2100" spc="-41" dirty="0">
                <a:latin typeface="Calibri"/>
                <a:cs typeface="Calibri"/>
              </a:rPr>
              <a:t> </a:t>
            </a:r>
            <a:r>
              <a:rPr sz="2100" dirty="0">
                <a:latin typeface="Calibri"/>
                <a:cs typeface="Calibri"/>
              </a:rPr>
              <a:t>to</a:t>
            </a:r>
            <a:r>
              <a:rPr sz="2100" spc="-38" dirty="0">
                <a:latin typeface="Calibri"/>
                <a:cs typeface="Calibri"/>
              </a:rPr>
              <a:t> </a:t>
            </a:r>
            <a:r>
              <a:rPr sz="2100" dirty="0">
                <a:latin typeface="Calibri"/>
                <a:cs typeface="Calibri"/>
              </a:rPr>
              <a:t>give</a:t>
            </a:r>
            <a:r>
              <a:rPr sz="2100" spc="-41" dirty="0">
                <a:latin typeface="Calibri"/>
                <a:cs typeface="Calibri"/>
              </a:rPr>
              <a:t> </a:t>
            </a:r>
            <a:r>
              <a:rPr sz="2100" dirty="0">
                <a:latin typeface="Calibri"/>
                <a:cs typeface="Calibri"/>
              </a:rPr>
              <a:t>a</a:t>
            </a:r>
            <a:r>
              <a:rPr sz="2100" spc="-38" dirty="0">
                <a:latin typeface="Calibri"/>
                <a:cs typeface="Calibri"/>
              </a:rPr>
              <a:t> </a:t>
            </a:r>
            <a:r>
              <a:rPr sz="2100" dirty="0">
                <a:latin typeface="Calibri"/>
                <a:cs typeface="Calibri"/>
              </a:rPr>
              <a:t>raise</a:t>
            </a:r>
            <a:r>
              <a:rPr sz="2100" spc="-41" dirty="0">
                <a:latin typeface="Calibri"/>
                <a:cs typeface="Calibri"/>
              </a:rPr>
              <a:t> </a:t>
            </a:r>
            <a:r>
              <a:rPr sz="2100" dirty="0">
                <a:latin typeface="Calibri"/>
                <a:cs typeface="Calibri"/>
              </a:rPr>
              <a:t>to</a:t>
            </a:r>
            <a:r>
              <a:rPr sz="2100" spc="-38" dirty="0">
                <a:latin typeface="Calibri"/>
                <a:cs typeface="Calibri"/>
              </a:rPr>
              <a:t> </a:t>
            </a:r>
            <a:r>
              <a:rPr sz="2100" dirty="0">
                <a:latin typeface="Calibri"/>
                <a:cs typeface="Calibri"/>
              </a:rPr>
              <a:t>all</a:t>
            </a:r>
            <a:r>
              <a:rPr sz="2100" spc="-38" dirty="0">
                <a:latin typeface="Calibri"/>
                <a:cs typeface="Calibri"/>
              </a:rPr>
              <a:t> </a:t>
            </a:r>
            <a:r>
              <a:rPr sz="2100" spc="-8" dirty="0">
                <a:latin typeface="Calibri"/>
                <a:cs typeface="Calibri"/>
              </a:rPr>
              <a:t>employees</a:t>
            </a:r>
            <a:endParaRPr sz="2100">
              <a:latin typeface="Calibri"/>
              <a:cs typeface="Calibri"/>
            </a:endParaRPr>
          </a:p>
          <a:p>
            <a:pPr marL="150971">
              <a:spcBef>
                <a:spcPts val="1650"/>
              </a:spcBef>
            </a:pPr>
            <a:r>
              <a:rPr sz="900" dirty="0">
                <a:latin typeface="Courier New"/>
                <a:cs typeface="Courier New"/>
              </a:rPr>
              <a:t>mysql&gt;</a:t>
            </a:r>
            <a:r>
              <a:rPr sz="900" spc="-23" dirty="0">
                <a:latin typeface="Courier New"/>
                <a:cs typeface="Courier New"/>
              </a:rPr>
              <a:t> </a:t>
            </a:r>
            <a:r>
              <a:rPr sz="900" dirty="0">
                <a:latin typeface="Courier New"/>
                <a:cs typeface="Courier New"/>
              </a:rPr>
              <a:t>select</a:t>
            </a:r>
            <a:r>
              <a:rPr sz="900" spc="-19" dirty="0">
                <a:latin typeface="Courier New"/>
                <a:cs typeface="Courier New"/>
              </a:rPr>
              <a:t> </a:t>
            </a:r>
            <a:r>
              <a:rPr sz="900" dirty="0">
                <a:latin typeface="Courier New"/>
                <a:cs typeface="Courier New"/>
              </a:rPr>
              <a:t>*</a:t>
            </a:r>
            <a:r>
              <a:rPr sz="900" spc="-19" dirty="0">
                <a:latin typeface="Courier New"/>
                <a:cs typeface="Courier New"/>
              </a:rPr>
              <a:t> </a:t>
            </a:r>
            <a:r>
              <a:rPr sz="900" dirty="0">
                <a:latin typeface="Courier New"/>
                <a:cs typeface="Courier New"/>
              </a:rPr>
              <a:t>from</a:t>
            </a:r>
            <a:r>
              <a:rPr sz="900" spc="-19" dirty="0">
                <a:latin typeface="Courier New"/>
                <a:cs typeface="Courier New"/>
              </a:rPr>
              <a:t> </a:t>
            </a:r>
            <a:r>
              <a:rPr sz="900" spc="-8" dirty="0">
                <a:latin typeface="Courier New"/>
                <a:cs typeface="Courier New"/>
              </a:rPr>
              <a:t>employee;</a:t>
            </a:r>
            <a:endParaRPr sz="900">
              <a:latin typeface="Courier New"/>
              <a:cs typeface="Courier New"/>
            </a:endParaRPr>
          </a:p>
        </p:txBody>
      </p:sp>
      <p:sp>
        <p:nvSpPr>
          <p:cNvPr id="4" name="object 4"/>
          <p:cNvSpPr/>
          <p:nvPr/>
        </p:nvSpPr>
        <p:spPr>
          <a:xfrm>
            <a:off x="908175" y="2963513"/>
            <a:ext cx="691039" cy="0"/>
          </a:xfrm>
          <a:custGeom>
            <a:avLst/>
            <a:gdLst/>
            <a:ahLst/>
            <a:cxnLst/>
            <a:rect l="l" t="t" r="r" b="b"/>
            <a:pathLst>
              <a:path w="921385">
                <a:moveTo>
                  <a:pt x="0" y="0"/>
                </a:moveTo>
                <a:lnTo>
                  <a:pt x="920800" y="0"/>
                </a:lnTo>
              </a:path>
            </a:pathLst>
          </a:custGeom>
          <a:ln w="12649">
            <a:solidFill>
              <a:srgbClr val="000000"/>
            </a:solidFill>
            <a:prstDash val="dash"/>
          </a:ln>
        </p:spPr>
        <p:txBody>
          <a:bodyPr wrap="square" lIns="0" tIns="0" rIns="0" bIns="0" rtlCol="0"/>
          <a:lstStyle/>
          <a:p>
            <a:endParaRPr sz="1800"/>
          </a:p>
        </p:txBody>
      </p:sp>
      <p:sp>
        <p:nvSpPr>
          <p:cNvPr id="5" name="object 5"/>
          <p:cNvSpPr/>
          <p:nvPr/>
        </p:nvSpPr>
        <p:spPr>
          <a:xfrm>
            <a:off x="1667794" y="2963513"/>
            <a:ext cx="483870" cy="0"/>
          </a:xfrm>
          <a:custGeom>
            <a:avLst/>
            <a:gdLst/>
            <a:ahLst/>
            <a:cxnLst/>
            <a:rect l="l" t="t" r="r" b="b"/>
            <a:pathLst>
              <a:path w="645160">
                <a:moveTo>
                  <a:pt x="0" y="0"/>
                </a:moveTo>
                <a:lnTo>
                  <a:pt x="644560" y="0"/>
                </a:lnTo>
              </a:path>
            </a:pathLst>
          </a:custGeom>
          <a:ln w="12649">
            <a:solidFill>
              <a:srgbClr val="000000"/>
            </a:solidFill>
            <a:prstDash val="dash"/>
          </a:ln>
        </p:spPr>
        <p:txBody>
          <a:bodyPr wrap="square" lIns="0" tIns="0" rIns="0" bIns="0" rtlCol="0"/>
          <a:lstStyle/>
          <a:p>
            <a:endParaRPr sz="1800"/>
          </a:p>
        </p:txBody>
      </p:sp>
      <p:sp>
        <p:nvSpPr>
          <p:cNvPr id="6" name="object 6"/>
          <p:cNvSpPr/>
          <p:nvPr/>
        </p:nvSpPr>
        <p:spPr>
          <a:xfrm>
            <a:off x="2220244" y="2963513"/>
            <a:ext cx="621983" cy="0"/>
          </a:xfrm>
          <a:custGeom>
            <a:avLst/>
            <a:gdLst/>
            <a:ahLst/>
            <a:cxnLst/>
            <a:rect l="l" t="t" r="r" b="b"/>
            <a:pathLst>
              <a:path w="829310">
                <a:moveTo>
                  <a:pt x="0" y="0"/>
                </a:moveTo>
                <a:lnTo>
                  <a:pt x="828720" y="0"/>
                </a:lnTo>
              </a:path>
            </a:pathLst>
          </a:custGeom>
          <a:ln w="12649">
            <a:solidFill>
              <a:srgbClr val="000000"/>
            </a:solidFill>
            <a:prstDash val="dash"/>
          </a:ln>
        </p:spPr>
        <p:txBody>
          <a:bodyPr wrap="square" lIns="0" tIns="0" rIns="0" bIns="0" rtlCol="0"/>
          <a:lstStyle/>
          <a:p>
            <a:endParaRPr sz="1800"/>
          </a:p>
        </p:txBody>
      </p:sp>
      <p:sp>
        <p:nvSpPr>
          <p:cNvPr id="7" name="object 7"/>
          <p:cNvSpPr/>
          <p:nvPr/>
        </p:nvSpPr>
        <p:spPr>
          <a:xfrm>
            <a:off x="2910806" y="2963513"/>
            <a:ext cx="760095" cy="0"/>
          </a:xfrm>
          <a:custGeom>
            <a:avLst/>
            <a:gdLst/>
            <a:ahLst/>
            <a:cxnLst/>
            <a:rect l="l" t="t" r="r" b="b"/>
            <a:pathLst>
              <a:path w="1013460">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8" name="object 8"/>
          <p:cNvSpPr/>
          <p:nvPr/>
        </p:nvSpPr>
        <p:spPr>
          <a:xfrm>
            <a:off x="3739482" y="2963513"/>
            <a:ext cx="829151" cy="0"/>
          </a:xfrm>
          <a:custGeom>
            <a:avLst/>
            <a:gdLst/>
            <a:ahLst/>
            <a:cxnLst/>
            <a:rect l="l" t="t" r="r" b="b"/>
            <a:pathLst>
              <a:path w="1105535">
                <a:moveTo>
                  <a:pt x="0" y="0"/>
                </a:moveTo>
                <a:lnTo>
                  <a:pt x="1104961" y="0"/>
                </a:lnTo>
              </a:path>
            </a:pathLst>
          </a:custGeom>
          <a:ln w="12649">
            <a:solidFill>
              <a:srgbClr val="000000"/>
            </a:solidFill>
            <a:prstDash val="dash"/>
          </a:ln>
        </p:spPr>
        <p:txBody>
          <a:bodyPr wrap="square" lIns="0" tIns="0" rIns="0" bIns="0" rtlCol="0"/>
          <a:lstStyle/>
          <a:p>
            <a:endParaRPr sz="1800"/>
          </a:p>
        </p:txBody>
      </p:sp>
      <p:sp>
        <p:nvSpPr>
          <p:cNvPr id="9" name="object 9"/>
          <p:cNvSpPr/>
          <p:nvPr/>
        </p:nvSpPr>
        <p:spPr>
          <a:xfrm>
            <a:off x="4637213" y="2963513"/>
            <a:ext cx="1795939" cy="0"/>
          </a:xfrm>
          <a:custGeom>
            <a:avLst/>
            <a:gdLst/>
            <a:ahLst/>
            <a:cxnLst/>
            <a:rect l="l" t="t" r="r" b="b"/>
            <a:pathLst>
              <a:path w="2394584">
                <a:moveTo>
                  <a:pt x="0" y="0"/>
                </a:moveTo>
                <a:lnTo>
                  <a:pt x="2394082" y="0"/>
                </a:lnTo>
              </a:path>
            </a:pathLst>
          </a:custGeom>
          <a:ln w="12649">
            <a:solidFill>
              <a:srgbClr val="000000"/>
            </a:solidFill>
            <a:prstDash val="dash"/>
          </a:ln>
        </p:spPr>
        <p:txBody>
          <a:bodyPr wrap="square" lIns="0" tIns="0" rIns="0" bIns="0" rtlCol="0"/>
          <a:lstStyle/>
          <a:p>
            <a:endParaRPr sz="1800"/>
          </a:p>
        </p:txBody>
      </p:sp>
      <p:sp>
        <p:nvSpPr>
          <p:cNvPr id="10" name="object 10"/>
          <p:cNvSpPr txBox="1"/>
          <p:nvPr/>
        </p:nvSpPr>
        <p:spPr>
          <a:xfrm>
            <a:off x="6423151" y="2875408"/>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11" name="object 11"/>
          <p:cNvSpPr/>
          <p:nvPr/>
        </p:nvSpPr>
        <p:spPr>
          <a:xfrm>
            <a:off x="6501732" y="2963513"/>
            <a:ext cx="414814" cy="0"/>
          </a:xfrm>
          <a:custGeom>
            <a:avLst/>
            <a:gdLst/>
            <a:ahLst/>
            <a:cxnLst/>
            <a:rect l="l" t="t" r="r" b="b"/>
            <a:pathLst>
              <a:path w="553084">
                <a:moveTo>
                  <a:pt x="0" y="0"/>
                </a:moveTo>
                <a:lnTo>
                  <a:pt x="552480" y="0"/>
                </a:lnTo>
              </a:path>
            </a:pathLst>
          </a:custGeom>
          <a:ln w="12649">
            <a:solidFill>
              <a:srgbClr val="000000"/>
            </a:solidFill>
            <a:prstDash val="dash"/>
          </a:ln>
        </p:spPr>
        <p:txBody>
          <a:bodyPr wrap="square" lIns="0" tIns="0" rIns="0" bIns="0" rtlCol="0"/>
          <a:lstStyle/>
          <a:p>
            <a:endParaRPr sz="1800"/>
          </a:p>
        </p:txBody>
      </p:sp>
      <p:sp>
        <p:nvSpPr>
          <p:cNvPr id="12" name="object 12"/>
          <p:cNvSpPr/>
          <p:nvPr/>
        </p:nvSpPr>
        <p:spPr>
          <a:xfrm>
            <a:off x="6985126" y="2963513"/>
            <a:ext cx="552926" cy="0"/>
          </a:xfrm>
          <a:custGeom>
            <a:avLst/>
            <a:gdLst/>
            <a:ahLst/>
            <a:cxnLst/>
            <a:rect l="l" t="t" r="r" b="b"/>
            <a:pathLst>
              <a:path w="737234">
                <a:moveTo>
                  <a:pt x="0" y="0"/>
                </a:moveTo>
                <a:lnTo>
                  <a:pt x="736640" y="0"/>
                </a:lnTo>
              </a:path>
            </a:pathLst>
          </a:custGeom>
          <a:ln w="12649">
            <a:solidFill>
              <a:srgbClr val="000000"/>
            </a:solidFill>
            <a:prstDash val="dash"/>
          </a:ln>
        </p:spPr>
        <p:txBody>
          <a:bodyPr wrap="square" lIns="0" tIns="0" rIns="0" bIns="0" rtlCol="0"/>
          <a:lstStyle/>
          <a:p>
            <a:endParaRPr sz="1800"/>
          </a:p>
        </p:txBody>
      </p:sp>
      <p:sp>
        <p:nvSpPr>
          <p:cNvPr id="13" name="object 13"/>
          <p:cNvSpPr txBox="1"/>
          <p:nvPr/>
        </p:nvSpPr>
        <p:spPr>
          <a:xfrm>
            <a:off x="6906544" y="2875408"/>
            <a:ext cx="709613" cy="148117"/>
          </a:xfrm>
          <a:prstGeom prst="rect">
            <a:avLst/>
          </a:prstGeom>
        </p:spPr>
        <p:txBody>
          <a:bodyPr vert="horz" wrap="square" lIns="0" tIns="9525" rIns="0" bIns="0" rtlCol="0">
            <a:spAutoFit/>
          </a:bodyPr>
          <a:lstStyle/>
          <a:p>
            <a:pPr marL="9525">
              <a:spcBef>
                <a:spcPts val="75"/>
              </a:spcBef>
              <a:tabLst>
                <a:tab pos="630555"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14" name="object 14"/>
          <p:cNvSpPr/>
          <p:nvPr/>
        </p:nvSpPr>
        <p:spPr>
          <a:xfrm>
            <a:off x="7606631" y="2963513"/>
            <a:ext cx="760095" cy="0"/>
          </a:xfrm>
          <a:custGeom>
            <a:avLst/>
            <a:gdLst/>
            <a:ahLst/>
            <a:cxnLst/>
            <a:rect l="l" t="t" r="r" b="b"/>
            <a:pathLst>
              <a:path w="1013459">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15" name="object 15"/>
          <p:cNvSpPr/>
          <p:nvPr/>
        </p:nvSpPr>
        <p:spPr>
          <a:xfrm>
            <a:off x="8435307" y="2963513"/>
            <a:ext cx="345757" cy="0"/>
          </a:xfrm>
          <a:custGeom>
            <a:avLst/>
            <a:gdLst/>
            <a:ahLst/>
            <a:cxnLst/>
            <a:rect l="l" t="t" r="r" b="b"/>
            <a:pathLst>
              <a:path w="461009">
                <a:moveTo>
                  <a:pt x="0" y="0"/>
                </a:moveTo>
                <a:lnTo>
                  <a:pt x="460400" y="0"/>
                </a:lnTo>
              </a:path>
            </a:pathLst>
          </a:custGeom>
          <a:ln w="12649">
            <a:solidFill>
              <a:srgbClr val="000000"/>
            </a:solidFill>
            <a:prstDash val="dash"/>
          </a:ln>
        </p:spPr>
        <p:txBody>
          <a:bodyPr wrap="square" lIns="0" tIns="0" rIns="0" bIns="0" rtlCol="0"/>
          <a:lstStyle/>
          <a:p>
            <a:endParaRPr sz="1800"/>
          </a:p>
        </p:txBody>
      </p:sp>
      <p:sp>
        <p:nvSpPr>
          <p:cNvPr id="16" name="object 16"/>
          <p:cNvSpPr txBox="1"/>
          <p:nvPr/>
        </p:nvSpPr>
        <p:spPr>
          <a:xfrm>
            <a:off x="8356725" y="2875408"/>
            <a:ext cx="502444" cy="148117"/>
          </a:xfrm>
          <a:prstGeom prst="rect">
            <a:avLst/>
          </a:prstGeom>
        </p:spPr>
        <p:txBody>
          <a:bodyPr vert="horz" wrap="square" lIns="0" tIns="9525" rIns="0" bIns="0" rtlCol="0">
            <a:spAutoFit/>
          </a:bodyPr>
          <a:lstStyle/>
          <a:p>
            <a:pPr marL="9525">
              <a:spcBef>
                <a:spcPts val="75"/>
              </a:spcBef>
              <a:tabLst>
                <a:tab pos="423386"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17" name="object 17"/>
          <p:cNvSpPr txBox="1"/>
          <p:nvPr/>
        </p:nvSpPr>
        <p:spPr>
          <a:xfrm>
            <a:off x="829595" y="2875407"/>
            <a:ext cx="4370070" cy="291747"/>
          </a:xfrm>
          <a:prstGeom prst="rect">
            <a:avLst/>
          </a:prstGeom>
        </p:spPr>
        <p:txBody>
          <a:bodyPr vert="horz" wrap="square" lIns="0" tIns="9525" rIns="0" bIns="0" rtlCol="0">
            <a:spAutoFit/>
          </a:bodyPr>
          <a:lstStyle/>
          <a:p>
            <a:pPr marL="9525">
              <a:lnSpc>
                <a:spcPts val="1061"/>
              </a:lnSpc>
              <a:spcBef>
                <a:spcPts val="75"/>
              </a:spcBef>
              <a:tabLst>
                <a:tab pos="768668" algn="l"/>
                <a:tab pos="1321117" algn="l"/>
                <a:tab pos="2011680" algn="l"/>
                <a:tab pos="2840355" algn="l"/>
                <a:tab pos="3738086"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tabLst>
                <a:tab pos="768668" algn="l"/>
                <a:tab pos="2011680" algn="l"/>
                <a:tab pos="2840355" algn="l"/>
                <a:tab pos="3738086"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fname</a:t>
            </a:r>
            <a:r>
              <a:rPr sz="900" dirty="0">
                <a:latin typeface="Courier New"/>
                <a:cs typeface="Courier New"/>
              </a:rPr>
              <a:t>	|</a:t>
            </a:r>
            <a:r>
              <a:rPr sz="900" spc="-11" dirty="0">
                <a:latin typeface="Courier New"/>
                <a:cs typeface="Courier New"/>
              </a:rPr>
              <a:t> </a:t>
            </a:r>
            <a:r>
              <a:rPr sz="900" dirty="0">
                <a:latin typeface="Courier New"/>
                <a:cs typeface="Courier New"/>
              </a:rPr>
              <a:t>minit</a:t>
            </a:r>
            <a:r>
              <a:rPr sz="900" spc="-8" dirty="0">
                <a:latin typeface="Courier New"/>
                <a:cs typeface="Courier New"/>
              </a:rPr>
              <a:t> </a:t>
            </a:r>
            <a:r>
              <a:rPr sz="900" dirty="0">
                <a:latin typeface="Courier New"/>
                <a:cs typeface="Courier New"/>
              </a:rPr>
              <a:t>|</a:t>
            </a:r>
            <a:r>
              <a:rPr sz="900" spc="-11" dirty="0">
                <a:latin typeface="Courier New"/>
                <a:cs typeface="Courier New"/>
              </a:rPr>
              <a:t> </a:t>
            </a:r>
            <a:r>
              <a:rPr sz="900" spc="-8" dirty="0">
                <a:latin typeface="Courier New"/>
                <a:cs typeface="Courier New"/>
              </a:rPr>
              <a:t>lname</a:t>
            </a:r>
            <a:r>
              <a:rPr sz="900" dirty="0">
                <a:latin typeface="Courier New"/>
                <a:cs typeface="Courier New"/>
              </a:rPr>
              <a:t>	|</a:t>
            </a:r>
            <a:r>
              <a:rPr sz="900" spc="-4" dirty="0">
                <a:latin typeface="Courier New"/>
                <a:cs typeface="Courier New"/>
              </a:rPr>
              <a:t> </a:t>
            </a:r>
            <a:r>
              <a:rPr sz="900" spc="-19" dirty="0">
                <a:latin typeface="Courier New"/>
                <a:cs typeface="Courier New"/>
              </a:rPr>
              <a:t>ssn</a:t>
            </a:r>
            <a:r>
              <a:rPr sz="900" dirty="0">
                <a:latin typeface="Courier New"/>
                <a:cs typeface="Courier New"/>
              </a:rPr>
              <a:t>	|</a:t>
            </a:r>
            <a:r>
              <a:rPr sz="900" spc="-4" dirty="0">
                <a:latin typeface="Courier New"/>
                <a:cs typeface="Courier New"/>
              </a:rPr>
              <a:t> </a:t>
            </a:r>
            <a:r>
              <a:rPr sz="900" spc="-8" dirty="0">
                <a:latin typeface="Courier New"/>
                <a:cs typeface="Courier New"/>
              </a:rPr>
              <a:t>bdate</a:t>
            </a:r>
            <a:r>
              <a:rPr sz="900" dirty="0">
                <a:latin typeface="Courier New"/>
                <a:cs typeface="Courier New"/>
              </a:rPr>
              <a:t>	|</a:t>
            </a:r>
            <a:r>
              <a:rPr sz="900" spc="-4" dirty="0">
                <a:latin typeface="Courier New"/>
                <a:cs typeface="Courier New"/>
              </a:rPr>
              <a:t> </a:t>
            </a:r>
            <a:r>
              <a:rPr sz="900" spc="-8" dirty="0">
                <a:latin typeface="Courier New"/>
                <a:cs typeface="Courier New"/>
              </a:rPr>
              <a:t>address</a:t>
            </a:r>
            <a:endParaRPr sz="900">
              <a:latin typeface="Courier New"/>
              <a:cs typeface="Courier New"/>
            </a:endParaRPr>
          </a:p>
        </p:txBody>
      </p:sp>
      <p:sp>
        <p:nvSpPr>
          <p:cNvPr id="18" name="object 18"/>
          <p:cNvSpPr txBox="1"/>
          <p:nvPr/>
        </p:nvSpPr>
        <p:spPr>
          <a:xfrm>
            <a:off x="6423150" y="3007995"/>
            <a:ext cx="364807"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4" dirty="0">
                <a:latin typeface="Courier New"/>
                <a:cs typeface="Courier New"/>
              </a:rPr>
              <a:t> </a:t>
            </a:r>
            <a:r>
              <a:rPr sz="900" spc="-19" dirty="0">
                <a:latin typeface="Courier New"/>
                <a:cs typeface="Courier New"/>
              </a:rPr>
              <a:t>sex</a:t>
            </a:r>
            <a:endParaRPr sz="900">
              <a:latin typeface="Courier New"/>
              <a:cs typeface="Courier New"/>
            </a:endParaRPr>
          </a:p>
        </p:txBody>
      </p:sp>
      <p:sp>
        <p:nvSpPr>
          <p:cNvPr id="19" name="object 19"/>
          <p:cNvSpPr txBox="1"/>
          <p:nvPr/>
        </p:nvSpPr>
        <p:spPr>
          <a:xfrm>
            <a:off x="6906544" y="3007995"/>
            <a:ext cx="1952625"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19" dirty="0">
                <a:latin typeface="Courier New"/>
                <a:cs typeface="Courier New"/>
              </a:rPr>
              <a:t> </a:t>
            </a:r>
            <a:r>
              <a:rPr sz="900" dirty="0">
                <a:latin typeface="Courier New"/>
                <a:cs typeface="Courier New"/>
              </a:rPr>
              <a:t>salary</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super_ssn</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dno</a:t>
            </a:r>
            <a:r>
              <a:rPr sz="900" spc="-15"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20" name="object 20"/>
          <p:cNvSpPr/>
          <p:nvPr/>
        </p:nvSpPr>
        <p:spPr>
          <a:xfrm>
            <a:off x="908175" y="3240119"/>
            <a:ext cx="691039" cy="0"/>
          </a:xfrm>
          <a:custGeom>
            <a:avLst/>
            <a:gdLst/>
            <a:ahLst/>
            <a:cxnLst/>
            <a:rect l="l" t="t" r="r" b="b"/>
            <a:pathLst>
              <a:path w="921385">
                <a:moveTo>
                  <a:pt x="0" y="0"/>
                </a:moveTo>
                <a:lnTo>
                  <a:pt x="920800" y="0"/>
                </a:lnTo>
              </a:path>
            </a:pathLst>
          </a:custGeom>
          <a:ln w="12649">
            <a:solidFill>
              <a:srgbClr val="000000"/>
            </a:solidFill>
            <a:prstDash val="dash"/>
          </a:ln>
        </p:spPr>
        <p:txBody>
          <a:bodyPr wrap="square" lIns="0" tIns="0" rIns="0" bIns="0" rtlCol="0"/>
          <a:lstStyle/>
          <a:p>
            <a:endParaRPr sz="1800"/>
          </a:p>
        </p:txBody>
      </p:sp>
      <p:sp>
        <p:nvSpPr>
          <p:cNvPr id="21" name="object 21"/>
          <p:cNvSpPr/>
          <p:nvPr/>
        </p:nvSpPr>
        <p:spPr>
          <a:xfrm>
            <a:off x="1667794" y="3240119"/>
            <a:ext cx="483870" cy="0"/>
          </a:xfrm>
          <a:custGeom>
            <a:avLst/>
            <a:gdLst/>
            <a:ahLst/>
            <a:cxnLst/>
            <a:rect l="l" t="t" r="r" b="b"/>
            <a:pathLst>
              <a:path w="645160">
                <a:moveTo>
                  <a:pt x="0" y="0"/>
                </a:moveTo>
                <a:lnTo>
                  <a:pt x="644560" y="0"/>
                </a:lnTo>
              </a:path>
            </a:pathLst>
          </a:custGeom>
          <a:ln w="12649">
            <a:solidFill>
              <a:srgbClr val="000000"/>
            </a:solidFill>
            <a:prstDash val="dash"/>
          </a:ln>
        </p:spPr>
        <p:txBody>
          <a:bodyPr wrap="square" lIns="0" tIns="0" rIns="0" bIns="0" rtlCol="0"/>
          <a:lstStyle/>
          <a:p>
            <a:endParaRPr sz="1800"/>
          </a:p>
        </p:txBody>
      </p:sp>
      <p:sp>
        <p:nvSpPr>
          <p:cNvPr id="22" name="object 22"/>
          <p:cNvSpPr/>
          <p:nvPr/>
        </p:nvSpPr>
        <p:spPr>
          <a:xfrm>
            <a:off x="2220244" y="3240119"/>
            <a:ext cx="621983" cy="0"/>
          </a:xfrm>
          <a:custGeom>
            <a:avLst/>
            <a:gdLst/>
            <a:ahLst/>
            <a:cxnLst/>
            <a:rect l="l" t="t" r="r" b="b"/>
            <a:pathLst>
              <a:path w="829310">
                <a:moveTo>
                  <a:pt x="0" y="0"/>
                </a:moveTo>
                <a:lnTo>
                  <a:pt x="828720" y="0"/>
                </a:lnTo>
              </a:path>
            </a:pathLst>
          </a:custGeom>
          <a:ln w="12649">
            <a:solidFill>
              <a:srgbClr val="000000"/>
            </a:solidFill>
            <a:prstDash val="dash"/>
          </a:ln>
        </p:spPr>
        <p:txBody>
          <a:bodyPr wrap="square" lIns="0" tIns="0" rIns="0" bIns="0" rtlCol="0"/>
          <a:lstStyle/>
          <a:p>
            <a:endParaRPr sz="1800"/>
          </a:p>
        </p:txBody>
      </p:sp>
      <p:sp>
        <p:nvSpPr>
          <p:cNvPr id="23" name="object 23"/>
          <p:cNvSpPr/>
          <p:nvPr/>
        </p:nvSpPr>
        <p:spPr>
          <a:xfrm>
            <a:off x="2910806" y="3240119"/>
            <a:ext cx="760095" cy="0"/>
          </a:xfrm>
          <a:custGeom>
            <a:avLst/>
            <a:gdLst/>
            <a:ahLst/>
            <a:cxnLst/>
            <a:rect l="l" t="t" r="r" b="b"/>
            <a:pathLst>
              <a:path w="1013460">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24" name="object 24"/>
          <p:cNvSpPr/>
          <p:nvPr/>
        </p:nvSpPr>
        <p:spPr>
          <a:xfrm>
            <a:off x="3739482" y="3240119"/>
            <a:ext cx="829151" cy="0"/>
          </a:xfrm>
          <a:custGeom>
            <a:avLst/>
            <a:gdLst/>
            <a:ahLst/>
            <a:cxnLst/>
            <a:rect l="l" t="t" r="r" b="b"/>
            <a:pathLst>
              <a:path w="1105535">
                <a:moveTo>
                  <a:pt x="0" y="0"/>
                </a:moveTo>
                <a:lnTo>
                  <a:pt x="1104961" y="0"/>
                </a:lnTo>
              </a:path>
            </a:pathLst>
          </a:custGeom>
          <a:ln w="12649">
            <a:solidFill>
              <a:srgbClr val="000000"/>
            </a:solidFill>
            <a:prstDash val="dash"/>
          </a:ln>
        </p:spPr>
        <p:txBody>
          <a:bodyPr wrap="square" lIns="0" tIns="0" rIns="0" bIns="0" rtlCol="0"/>
          <a:lstStyle/>
          <a:p>
            <a:endParaRPr sz="1800"/>
          </a:p>
        </p:txBody>
      </p:sp>
      <p:sp>
        <p:nvSpPr>
          <p:cNvPr id="25" name="object 25"/>
          <p:cNvSpPr txBox="1"/>
          <p:nvPr/>
        </p:nvSpPr>
        <p:spPr>
          <a:xfrm>
            <a:off x="829595" y="3152014"/>
            <a:ext cx="3817144" cy="148117"/>
          </a:xfrm>
          <a:prstGeom prst="rect">
            <a:avLst/>
          </a:prstGeom>
        </p:spPr>
        <p:txBody>
          <a:bodyPr vert="horz" wrap="square" lIns="0" tIns="9525" rIns="0" bIns="0" rtlCol="0">
            <a:spAutoFit/>
          </a:bodyPr>
          <a:lstStyle/>
          <a:p>
            <a:pPr marL="9525">
              <a:spcBef>
                <a:spcPts val="75"/>
              </a:spcBef>
              <a:tabLst>
                <a:tab pos="768668" algn="l"/>
                <a:tab pos="1321117" algn="l"/>
                <a:tab pos="2011680" algn="l"/>
                <a:tab pos="2840355" algn="l"/>
                <a:tab pos="3738086"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26" name="object 26"/>
          <p:cNvSpPr/>
          <p:nvPr/>
        </p:nvSpPr>
        <p:spPr>
          <a:xfrm>
            <a:off x="4637213" y="3240119"/>
            <a:ext cx="1795939" cy="0"/>
          </a:xfrm>
          <a:custGeom>
            <a:avLst/>
            <a:gdLst/>
            <a:ahLst/>
            <a:cxnLst/>
            <a:rect l="l" t="t" r="r" b="b"/>
            <a:pathLst>
              <a:path w="2394584">
                <a:moveTo>
                  <a:pt x="0" y="0"/>
                </a:moveTo>
                <a:lnTo>
                  <a:pt x="2394082" y="0"/>
                </a:lnTo>
              </a:path>
            </a:pathLst>
          </a:custGeom>
          <a:ln w="12649">
            <a:solidFill>
              <a:srgbClr val="000000"/>
            </a:solidFill>
            <a:prstDash val="dash"/>
          </a:ln>
        </p:spPr>
        <p:txBody>
          <a:bodyPr wrap="square" lIns="0" tIns="0" rIns="0" bIns="0" rtlCol="0"/>
          <a:lstStyle/>
          <a:p>
            <a:endParaRPr sz="1800"/>
          </a:p>
        </p:txBody>
      </p:sp>
      <p:sp>
        <p:nvSpPr>
          <p:cNvPr id="27" name="object 27"/>
          <p:cNvSpPr txBox="1"/>
          <p:nvPr/>
        </p:nvSpPr>
        <p:spPr>
          <a:xfrm>
            <a:off x="6423151" y="3152014"/>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28" name="object 28"/>
          <p:cNvSpPr/>
          <p:nvPr/>
        </p:nvSpPr>
        <p:spPr>
          <a:xfrm>
            <a:off x="6501732" y="3240119"/>
            <a:ext cx="414814" cy="0"/>
          </a:xfrm>
          <a:custGeom>
            <a:avLst/>
            <a:gdLst/>
            <a:ahLst/>
            <a:cxnLst/>
            <a:rect l="l" t="t" r="r" b="b"/>
            <a:pathLst>
              <a:path w="553084">
                <a:moveTo>
                  <a:pt x="0" y="0"/>
                </a:moveTo>
                <a:lnTo>
                  <a:pt x="552480" y="0"/>
                </a:lnTo>
              </a:path>
            </a:pathLst>
          </a:custGeom>
          <a:ln w="12649">
            <a:solidFill>
              <a:srgbClr val="000000"/>
            </a:solidFill>
            <a:prstDash val="dash"/>
          </a:ln>
        </p:spPr>
        <p:txBody>
          <a:bodyPr wrap="square" lIns="0" tIns="0" rIns="0" bIns="0" rtlCol="0"/>
          <a:lstStyle/>
          <a:p>
            <a:endParaRPr sz="1800"/>
          </a:p>
        </p:txBody>
      </p:sp>
      <p:sp>
        <p:nvSpPr>
          <p:cNvPr id="29" name="object 29"/>
          <p:cNvSpPr txBox="1"/>
          <p:nvPr/>
        </p:nvSpPr>
        <p:spPr>
          <a:xfrm>
            <a:off x="6906544" y="3152014"/>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30" name="object 30"/>
          <p:cNvSpPr/>
          <p:nvPr/>
        </p:nvSpPr>
        <p:spPr>
          <a:xfrm>
            <a:off x="6985126" y="3240119"/>
            <a:ext cx="552926" cy="0"/>
          </a:xfrm>
          <a:custGeom>
            <a:avLst/>
            <a:gdLst/>
            <a:ahLst/>
            <a:cxnLst/>
            <a:rect l="l" t="t" r="r" b="b"/>
            <a:pathLst>
              <a:path w="737234">
                <a:moveTo>
                  <a:pt x="0" y="0"/>
                </a:moveTo>
                <a:lnTo>
                  <a:pt x="736640" y="0"/>
                </a:lnTo>
              </a:path>
            </a:pathLst>
          </a:custGeom>
          <a:ln w="12649">
            <a:solidFill>
              <a:srgbClr val="000000"/>
            </a:solidFill>
            <a:prstDash val="dash"/>
          </a:ln>
        </p:spPr>
        <p:txBody>
          <a:bodyPr wrap="square" lIns="0" tIns="0" rIns="0" bIns="0" rtlCol="0"/>
          <a:lstStyle/>
          <a:p>
            <a:endParaRPr sz="1800"/>
          </a:p>
        </p:txBody>
      </p:sp>
      <p:sp>
        <p:nvSpPr>
          <p:cNvPr id="31" name="object 31"/>
          <p:cNvSpPr txBox="1"/>
          <p:nvPr/>
        </p:nvSpPr>
        <p:spPr>
          <a:xfrm>
            <a:off x="7528051" y="3152014"/>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32" name="object 32"/>
          <p:cNvSpPr/>
          <p:nvPr/>
        </p:nvSpPr>
        <p:spPr>
          <a:xfrm>
            <a:off x="7606631" y="3240119"/>
            <a:ext cx="760095" cy="0"/>
          </a:xfrm>
          <a:custGeom>
            <a:avLst/>
            <a:gdLst/>
            <a:ahLst/>
            <a:cxnLst/>
            <a:rect l="l" t="t" r="r" b="b"/>
            <a:pathLst>
              <a:path w="1013459">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33" name="object 33"/>
          <p:cNvSpPr txBox="1"/>
          <p:nvPr/>
        </p:nvSpPr>
        <p:spPr>
          <a:xfrm>
            <a:off x="8356726" y="3152014"/>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34" name="object 34"/>
          <p:cNvSpPr/>
          <p:nvPr/>
        </p:nvSpPr>
        <p:spPr>
          <a:xfrm>
            <a:off x="8435307" y="3240119"/>
            <a:ext cx="345757" cy="0"/>
          </a:xfrm>
          <a:custGeom>
            <a:avLst/>
            <a:gdLst/>
            <a:ahLst/>
            <a:cxnLst/>
            <a:rect l="l" t="t" r="r" b="b"/>
            <a:pathLst>
              <a:path w="461009">
                <a:moveTo>
                  <a:pt x="0" y="0"/>
                </a:moveTo>
                <a:lnTo>
                  <a:pt x="460400" y="0"/>
                </a:lnTo>
              </a:path>
            </a:pathLst>
          </a:custGeom>
          <a:ln w="12649">
            <a:solidFill>
              <a:srgbClr val="000000"/>
            </a:solidFill>
            <a:prstDash val="dash"/>
          </a:ln>
        </p:spPr>
        <p:txBody>
          <a:bodyPr wrap="square" lIns="0" tIns="0" rIns="0" bIns="0" rtlCol="0"/>
          <a:lstStyle/>
          <a:p>
            <a:endParaRPr sz="1800"/>
          </a:p>
        </p:txBody>
      </p:sp>
      <p:sp>
        <p:nvSpPr>
          <p:cNvPr id="35" name="object 35"/>
          <p:cNvSpPr txBox="1"/>
          <p:nvPr/>
        </p:nvSpPr>
        <p:spPr>
          <a:xfrm>
            <a:off x="8771063" y="3152014"/>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36" name="object 36"/>
          <p:cNvSpPr txBox="1"/>
          <p:nvPr/>
        </p:nvSpPr>
        <p:spPr>
          <a:xfrm>
            <a:off x="829594" y="3284601"/>
            <a:ext cx="985838" cy="148117"/>
          </a:xfrm>
          <a:prstGeom prst="rect">
            <a:avLst/>
          </a:prstGeom>
        </p:spPr>
        <p:txBody>
          <a:bodyPr vert="horz" wrap="square" lIns="0" tIns="9525" rIns="0" bIns="0" rtlCol="0">
            <a:spAutoFit/>
          </a:bodyPr>
          <a:lstStyle/>
          <a:p>
            <a:pPr marL="9525">
              <a:spcBef>
                <a:spcPts val="75"/>
              </a:spcBef>
              <a:tabLst>
                <a:tab pos="768668" algn="l"/>
              </a:tabLst>
            </a:pPr>
            <a:r>
              <a:rPr sz="900" dirty="0">
                <a:latin typeface="Courier New"/>
                <a:cs typeface="Courier New"/>
              </a:rPr>
              <a:t>|</a:t>
            </a:r>
            <a:r>
              <a:rPr sz="900" spc="-4" dirty="0">
                <a:latin typeface="Courier New"/>
                <a:cs typeface="Courier New"/>
              </a:rPr>
              <a:t> </a:t>
            </a:r>
            <a:r>
              <a:rPr sz="900" spc="-15" dirty="0">
                <a:latin typeface="Courier New"/>
                <a:cs typeface="Courier New"/>
              </a:rPr>
              <a:t>JOHN</a:t>
            </a:r>
            <a:r>
              <a:rPr sz="900" dirty="0">
                <a:latin typeface="Courier New"/>
                <a:cs typeface="Courier New"/>
              </a:rPr>
              <a:t>	|</a:t>
            </a:r>
            <a:r>
              <a:rPr sz="900" spc="-4" dirty="0">
                <a:latin typeface="Courier New"/>
                <a:cs typeface="Courier New"/>
              </a:rPr>
              <a:t> </a:t>
            </a:r>
            <a:r>
              <a:rPr sz="900" spc="-38" dirty="0">
                <a:latin typeface="Courier New"/>
                <a:cs typeface="Courier New"/>
              </a:rPr>
              <a:t>B</a:t>
            </a:r>
            <a:endParaRPr sz="900">
              <a:latin typeface="Courier New"/>
              <a:cs typeface="Courier New"/>
            </a:endParaRPr>
          </a:p>
        </p:txBody>
      </p:sp>
      <p:sp>
        <p:nvSpPr>
          <p:cNvPr id="37" name="object 37"/>
          <p:cNvSpPr txBox="1"/>
          <p:nvPr/>
        </p:nvSpPr>
        <p:spPr>
          <a:xfrm>
            <a:off x="2832225" y="3284601"/>
            <a:ext cx="3817144"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15" dirty="0">
                <a:latin typeface="Courier New"/>
                <a:cs typeface="Courier New"/>
              </a:rPr>
              <a:t> </a:t>
            </a:r>
            <a:r>
              <a:rPr sz="900" dirty="0">
                <a:latin typeface="Courier New"/>
                <a:cs typeface="Courier New"/>
              </a:rPr>
              <a:t>123456789</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1" dirty="0">
                <a:latin typeface="Courier New"/>
                <a:cs typeface="Courier New"/>
              </a:rPr>
              <a:t> </a:t>
            </a:r>
            <a:r>
              <a:rPr sz="900" dirty="0">
                <a:latin typeface="Courier New"/>
                <a:cs typeface="Courier New"/>
              </a:rPr>
              <a:t>731</a:t>
            </a:r>
            <a:r>
              <a:rPr sz="900" spc="-15" dirty="0">
                <a:latin typeface="Courier New"/>
                <a:cs typeface="Courier New"/>
              </a:rPr>
              <a:t> </a:t>
            </a:r>
            <a:r>
              <a:rPr sz="900" dirty="0">
                <a:latin typeface="Courier New"/>
                <a:cs typeface="Courier New"/>
              </a:rPr>
              <a:t>FONDREN,</a:t>
            </a:r>
            <a:r>
              <a:rPr sz="900" spc="-15" dirty="0">
                <a:latin typeface="Courier New"/>
                <a:cs typeface="Courier New"/>
              </a:rPr>
              <a:t> </a:t>
            </a:r>
            <a:r>
              <a:rPr sz="900" dirty="0">
                <a:latin typeface="Courier New"/>
                <a:cs typeface="Courier New"/>
              </a:rPr>
              <a:t>HOUSTON,</a:t>
            </a:r>
            <a:r>
              <a:rPr sz="900" spc="-15" dirty="0">
                <a:latin typeface="Courier New"/>
                <a:cs typeface="Courier New"/>
              </a:rPr>
              <a:t> </a:t>
            </a:r>
            <a:r>
              <a:rPr sz="900" dirty="0">
                <a:latin typeface="Courier New"/>
                <a:cs typeface="Courier New"/>
              </a:rPr>
              <a:t>TX</a:t>
            </a:r>
            <a:r>
              <a:rPr sz="900" spc="-15" dirty="0">
                <a:latin typeface="Courier New"/>
                <a:cs typeface="Courier New"/>
              </a:rPr>
              <a:t> </a:t>
            </a:r>
            <a:r>
              <a:rPr sz="900" dirty="0">
                <a:latin typeface="Courier New"/>
                <a:cs typeface="Courier New"/>
              </a:rPr>
              <a:t>|</a:t>
            </a:r>
            <a:r>
              <a:rPr sz="900" spc="-11" dirty="0">
                <a:latin typeface="Courier New"/>
                <a:cs typeface="Courier New"/>
              </a:rPr>
              <a:t> </a:t>
            </a:r>
            <a:r>
              <a:rPr sz="900" spc="-38" dirty="0">
                <a:latin typeface="Courier New"/>
                <a:cs typeface="Courier New"/>
              </a:rPr>
              <a:t>M</a:t>
            </a:r>
            <a:endParaRPr sz="900">
              <a:latin typeface="Courier New"/>
              <a:cs typeface="Courier New"/>
            </a:endParaRPr>
          </a:p>
        </p:txBody>
      </p:sp>
      <p:sp>
        <p:nvSpPr>
          <p:cNvPr id="38" name="object 38"/>
          <p:cNvSpPr txBox="1"/>
          <p:nvPr/>
        </p:nvSpPr>
        <p:spPr>
          <a:xfrm>
            <a:off x="829594" y="3419476"/>
            <a:ext cx="985838"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15" dirty="0">
                <a:latin typeface="Courier New"/>
                <a:cs typeface="Courier New"/>
              </a:rPr>
              <a:t> </a:t>
            </a:r>
            <a:r>
              <a:rPr sz="900" dirty="0">
                <a:latin typeface="Courier New"/>
                <a:cs typeface="Courier New"/>
              </a:rPr>
              <a:t>FRANKLIN</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38" dirty="0">
                <a:latin typeface="Courier New"/>
                <a:cs typeface="Courier New"/>
              </a:rPr>
              <a:t>T</a:t>
            </a:r>
            <a:endParaRPr sz="900">
              <a:latin typeface="Courier New"/>
              <a:cs typeface="Courier New"/>
            </a:endParaRPr>
          </a:p>
        </p:txBody>
      </p:sp>
      <p:sp>
        <p:nvSpPr>
          <p:cNvPr id="39" name="object 39"/>
          <p:cNvSpPr txBox="1"/>
          <p:nvPr/>
        </p:nvSpPr>
        <p:spPr>
          <a:xfrm>
            <a:off x="2141663" y="3284600"/>
            <a:ext cx="571976" cy="430246"/>
          </a:xfrm>
          <a:prstGeom prst="rect">
            <a:avLst/>
          </a:prstGeom>
        </p:spPr>
        <p:txBody>
          <a:bodyPr vert="horz" wrap="square" lIns="0" tIns="9525" rIns="0" bIns="0" rtlCol="0">
            <a:spAutoFit/>
          </a:bodyPr>
          <a:lstStyle/>
          <a:p>
            <a:pPr marL="9525">
              <a:lnSpc>
                <a:spcPts val="1073"/>
              </a:lnSpc>
              <a:spcBef>
                <a:spcPts val="75"/>
              </a:spcBef>
            </a:pPr>
            <a:r>
              <a:rPr sz="900" dirty="0">
                <a:latin typeface="Courier New"/>
                <a:cs typeface="Courier New"/>
              </a:rPr>
              <a:t>|</a:t>
            </a:r>
            <a:r>
              <a:rPr sz="900" spc="-4" dirty="0">
                <a:latin typeface="Courier New"/>
                <a:cs typeface="Courier New"/>
              </a:rPr>
              <a:t> </a:t>
            </a:r>
            <a:r>
              <a:rPr sz="900" spc="-8" dirty="0">
                <a:latin typeface="Courier New"/>
                <a:cs typeface="Courier New"/>
              </a:rPr>
              <a:t>SMITH</a:t>
            </a:r>
            <a:endParaRPr sz="900">
              <a:latin typeface="Courier New"/>
              <a:cs typeface="Courier New"/>
            </a:endParaRPr>
          </a:p>
          <a:p>
            <a:pPr marL="9525">
              <a:lnSpc>
                <a:spcPts val="1073"/>
              </a:lnSpc>
            </a:pPr>
            <a:r>
              <a:rPr sz="900" dirty="0">
                <a:latin typeface="Courier New"/>
                <a:cs typeface="Courier New"/>
              </a:rPr>
              <a:t>|</a:t>
            </a:r>
            <a:r>
              <a:rPr sz="900" spc="-4" dirty="0">
                <a:latin typeface="Courier New"/>
                <a:cs typeface="Courier New"/>
              </a:rPr>
              <a:t> </a:t>
            </a:r>
            <a:r>
              <a:rPr sz="900" spc="-15" dirty="0">
                <a:latin typeface="Courier New"/>
                <a:cs typeface="Courier New"/>
              </a:rPr>
              <a:t>WONG</a:t>
            </a:r>
            <a:endParaRPr sz="900">
              <a:latin typeface="Courier New"/>
              <a:cs typeface="Courier New"/>
            </a:endParaRPr>
          </a:p>
          <a:p>
            <a:pPr marL="9525">
              <a:spcBef>
                <a:spcPts val="34"/>
              </a:spcBef>
            </a:pPr>
            <a:r>
              <a:rPr sz="900" dirty="0">
                <a:latin typeface="Courier New"/>
                <a:cs typeface="Courier New"/>
              </a:rPr>
              <a:t>|</a:t>
            </a:r>
            <a:r>
              <a:rPr sz="900" spc="-4" dirty="0">
                <a:latin typeface="Courier New"/>
                <a:cs typeface="Courier New"/>
              </a:rPr>
              <a:t> </a:t>
            </a:r>
            <a:r>
              <a:rPr sz="900" spc="-8" dirty="0">
                <a:latin typeface="Courier New"/>
                <a:cs typeface="Courier New"/>
              </a:rPr>
              <a:t>ZELAYA</a:t>
            </a:r>
            <a:endParaRPr sz="900">
              <a:latin typeface="Courier New"/>
              <a:cs typeface="Courier New"/>
            </a:endParaRPr>
          </a:p>
        </p:txBody>
      </p:sp>
      <p:sp>
        <p:nvSpPr>
          <p:cNvPr id="40" name="object 40"/>
          <p:cNvSpPr txBox="1"/>
          <p:nvPr/>
        </p:nvSpPr>
        <p:spPr>
          <a:xfrm>
            <a:off x="829594" y="3561207"/>
            <a:ext cx="985838" cy="291747"/>
          </a:xfrm>
          <a:prstGeom prst="rect">
            <a:avLst/>
          </a:prstGeom>
        </p:spPr>
        <p:txBody>
          <a:bodyPr vert="horz" wrap="square" lIns="0" tIns="9525" rIns="0" bIns="0" rtlCol="0">
            <a:spAutoFit/>
          </a:bodyPr>
          <a:lstStyle/>
          <a:p>
            <a:pPr marL="9525">
              <a:lnSpc>
                <a:spcPts val="1061"/>
              </a:lnSpc>
              <a:spcBef>
                <a:spcPts val="75"/>
              </a:spcBef>
              <a:tabLst>
                <a:tab pos="768668"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ALICIA</a:t>
            </a:r>
            <a:r>
              <a:rPr sz="900" dirty="0">
                <a:latin typeface="Courier New"/>
                <a:cs typeface="Courier New"/>
              </a:rPr>
              <a:t>	|</a:t>
            </a:r>
            <a:r>
              <a:rPr sz="900" spc="-4" dirty="0">
                <a:latin typeface="Courier New"/>
                <a:cs typeface="Courier New"/>
              </a:rPr>
              <a:t> </a:t>
            </a:r>
            <a:r>
              <a:rPr sz="900" spc="-38" dirty="0">
                <a:latin typeface="Courier New"/>
                <a:cs typeface="Courier New"/>
              </a:rPr>
              <a:t>J</a:t>
            </a:r>
            <a:endParaRPr sz="900">
              <a:latin typeface="Courier New"/>
              <a:cs typeface="Courier New"/>
            </a:endParaRPr>
          </a:p>
          <a:p>
            <a:pPr marL="9525">
              <a:lnSpc>
                <a:spcPts val="1061"/>
              </a:lnSpc>
            </a:pPr>
            <a:r>
              <a:rPr sz="900" dirty="0">
                <a:latin typeface="Courier New"/>
                <a:cs typeface="Courier New"/>
              </a:rPr>
              <a:t>|</a:t>
            </a:r>
            <a:r>
              <a:rPr sz="900" spc="-15" dirty="0">
                <a:latin typeface="Courier New"/>
                <a:cs typeface="Courier New"/>
              </a:rPr>
              <a:t> </a:t>
            </a:r>
            <a:r>
              <a:rPr sz="900" dirty="0">
                <a:latin typeface="Courier New"/>
                <a:cs typeface="Courier New"/>
              </a:rPr>
              <a:t>JENNIFER</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38" dirty="0">
                <a:latin typeface="Courier New"/>
                <a:cs typeface="Courier New"/>
              </a:rPr>
              <a:t>S</a:t>
            </a:r>
            <a:endParaRPr sz="900">
              <a:latin typeface="Courier New"/>
              <a:cs typeface="Courier New"/>
            </a:endParaRPr>
          </a:p>
        </p:txBody>
      </p:sp>
      <p:sp>
        <p:nvSpPr>
          <p:cNvPr id="41" name="object 41"/>
          <p:cNvSpPr txBox="1"/>
          <p:nvPr/>
        </p:nvSpPr>
        <p:spPr>
          <a:xfrm>
            <a:off x="2141663" y="3693795"/>
            <a:ext cx="4162901"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19" dirty="0">
                <a:latin typeface="Courier New"/>
                <a:cs typeface="Courier New"/>
              </a:rPr>
              <a:t> </a:t>
            </a:r>
            <a:r>
              <a:rPr sz="900" dirty="0">
                <a:latin typeface="Courier New"/>
                <a:cs typeface="Courier New"/>
              </a:rPr>
              <a:t>WALLACE</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dirty="0">
                <a:latin typeface="Courier New"/>
                <a:cs typeface="Courier New"/>
              </a:rPr>
              <a:t>987654321</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9"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291</a:t>
            </a:r>
            <a:r>
              <a:rPr sz="900" spc="-15" dirty="0">
                <a:latin typeface="Courier New"/>
                <a:cs typeface="Courier New"/>
              </a:rPr>
              <a:t> </a:t>
            </a:r>
            <a:r>
              <a:rPr sz="900" dirty="0">
                <a:latin typeface="Courier New"/>
                <a:cs typeface="Courier New"/>
              </a:rPr>
              <a:t>BERRY,</a:t>
            </a:r>
            <a:r>
              <a:rPr sz="900" spc="-19" dirty="0">
                <a:latin typeface="Courier New"/>
                <a:cs typeface="Courier New"/>
              </a:rPr>
              <a:t> </a:t>
            </a:r>
            <a:r>
              <a:rPr sz="900" dirty="0">
                <a:latin typeface="Courier New"/>
                <a:cs typeface="Courier New"/>
              </a:rPr>
              <a:t>BELLAIRE,</a:t>
            </a:r>
            <a:r>
              <a:rPr sz="900" spc="-15" dirty="0">
                <a:latin typeface="Courier New"/>
                <a:cs typeface="Courier New"/>
              </a:rPr>
              <a:t> </a:t>
            </a:r>
            <a:r>
              <a:rPr sz="900" spc="-19" dirty="0">
                <a:latin typeface="Courier New"/>
                <a:cs typeface="Courier New"/>
              </a:rPr>
              <a:t>TX</a:t>
            </a:r>
            <a:endParaRPr sz="900">
              <a:latin typeface="Courier New"/>
              <a:cs typeface="Courier New"/>
            </a:endParaRPr>
          </a:p>
        </p:txBody>
      </p:sp>
      <p:sp>
        <p:nvSpPr>
          <p:cNvPr id="42" name="object 42"/>
          <p:cNvSpPr txBox="1"/>
          <p:nvPr/>
        </p:nvSpPr>
        <p:spPr>
          <a:xfrm>
            <a:off x="2832225" y="3419475"/>
            <a:ext cx="3817144" cy="430246"/>
          </a:xfrm>
          <a:prstGeom prst="rect">
            <a:avLst/>
          </a:prstGeom>
        </p:spPr>
        <p:txBody>
          <a:bodyPr vert="horz" wrap="square" lIns="0" tIns="9525" rIns="0" bIns="0" rtlCol="0">
            <a:spAutoFit/>
          </a:bodyPr>
          <a:lstStyle/>
          <a:p>
            <a:pPr marR="3810" algn="r">
              <a:spcBef>
                <a:spcPts val="75"/>
              </a:spcBef>
              <a:tabLst>
                <a:tab pos="3590449" algn="l"/>
              </a:tabLst>
            </a:pPr>
            <a:r>
              <a:rPr sz="900" dirty="0">
                <a:latin typeface="Courier New"/>
                <a:cs typeface="Courier New"/>
              </a:rPr>
              <a:t>|</a:t>
            </a:r>
            <a:r>
              <a:rPr sz="900" spc="-19" dirty="0">
                <a:latin typeface="Courier New"/>
                <a:cs typeface="Courier New"/>
              </a:rPr>
              <a:t> </a:t>
            </a:r>
            <a:r>
              <a:rPr sz="900" dirty="0">
                <a:latin typeface="Courier New"/>
                <a:cs typeface="Courier New"/>
              </a:rPr>
              <a:t>333445555</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638</a:t>
            </a:r>
            <a:r>
              <a:rPr sz="900" spc="-19" dirty="0">
                <a:latin typeface="Courier New"/>
                <a:cs typeface="Courier New"/>
              </a:rPr>
              <a:t> </a:t>
            </a:r>
            <a:r>
              <a:rPr sz="900" dirty="0">
                <a:latin typeface="Courier New"/>
                <a:cs typeface="Courier New"/>
              </a:rPr>
              <a:t>VOSS,HOUSTON</a:t>
            </a:r>
            <a:r>
              <a:rPr sz="900" spc="-15" dirty="0">
                <a:latin typeface="Courier New"/>
                <a:cs typeface="Courier New"/>
              </a:rPr>
              <a:t> </a:t>
            </a:r>
            <a:r>
              <a:rPr sz="900" spc="-19" dirty="0">
                <a:latin typeface="Courier New"/>
                <a:cs typeface="Courier New"/>
              </a:rPr>
              <a:t>TX</a:t>
            </a:r>
            <a:r>
              <a:rPr sz="900" dirty="0">
                <a:latin typeface="Courier New"/>
                <a:cs typeface="Courier New"/>
              </a:rPr>
              <a:t>	|</a:t>
            </a:r>
            <a:r>
              <a:rPr sz="900" spc="-4" dirty="0">
                <a:latin typeface="Courier New"/>
                <a:cs typeface="Courier New"/>
              </a:rPr>
              <a:t> </a:t>
            </a:r>
            <a:r>
              <a:rPr sz="900" spc="-38" dirty="0">
                <a:latin typeface="Courier New"/>
                <a:cs typeface="Courier New"/>
              </a:rPr>
              <a:t>M</a:t>
            </a:r>
            <a:endParaRPr sz="900">
              <a:latin typeface="Courier New"/>
              <a:cs typeface="Courier New"/>
            </a:endParaRPr>
          </a:p>
          <a:p>
            <a:pPr marR="3810" algn="r">
              <a:lnSpc>
                <a:spcPts val="1061"/>
              </a:lnSpc>
              <a:spcBef>
                <a:spcPts val="34"/>
              </a:spcBef>
              <a:tabLst>
                <a:tab pos="3590449" algn="l"/>
              </a:tabLst>
            </a:pPr>
            <a:r>
              <a:rPr sz="900" dirty="0">
                <a:latin typeface="Courier New"/>
                <a:cs typeface="Courier New"/>
              </a:rPr>
              <a:t>|</a:t>
            </a:r>
            <a:r>
              <a:rPr sz="900" spc="-19" dirty="0">
                <a:latin typeface="Courier New"/>
                <a:cs typeface="Courier New"/>
              </a:rPr>
              <a:t> </a:t>
            </a:r>
            <a:r>
              <a:rPr sz="900" dirty="0">
                <a:latin typeface="Courier New"/>
                <a:cs typeface="Courier New"/>
              </a:rPr>
              <a:t>999887777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dirty="0">
                <a:latin typeface="Courier New"/>
                <a:cs typeface="Courier New"/>
              </a:rPr>
              <a:t>3321</a:t>
            </a:r>
            <a:r>
              <a:rPr sz="900" spc="-15" dirty="0">
                <a:latin typeface="Courier New"/>
                <a:cs typeface="Courier New"/>
              </a:rPr>
              <a:t> </a:t>
            </a:r>
            <a:r>
              <a:rPr sz="900" dirty="0">
                <a:latin typeface="Courier New"/>
                <a:cs typeface="Courier New"/>
              </a:rPr>
              <a:t>CASTLE,</a:t>
            </a:r>
            <a:r>
              <a:rPr sz="900" spc="-15" dirty="0">
                <a:latin typeface="Courier New"/>
                <a:cs typeface="Courier New"/>
              </a:rPr>
              <a:t> </a:t>
            </a:r>
            <a:r>
              <a:rPr sz="900" dirty="0">
                <a:latin typeface="Courier New"/>
                <a:cs typeface="Courier New"/>
              </a:rPr>
              <a:t>SPRING,</a:t>
            </a:r>
            <a:r>
              <a:rPr sz="900" spc="-15" dirty="0">
                <a:latin typeface="Courier New"/>
                <a:cs typeface="Courier New"/>
              </a:rPr>
              <a:t> </a:t>
            </a:r>
            <a:r>
              <a:rPr sz="900" spc="-19" dirty="0">
                <a:latin typeface="Courier New"/>
                <a:cs typeface="Courier New"/>
              </a:rPr>
              <a:t>TX</a:t>
            </a:r>
            <a:r>
              <a:rPr sz="900" dirty="0">
                <a:latin typeface="Courier New"/>
                <a:cs typeface="Courier New"/>
              </a:rPr>
              <a:t>	|</a:t>
            </a:r>
            <a:r>
              <a:rPr sz="900" spc="-4" dirty="0">
                <a:latin typeface="Courier New"/>
                <a:cs typeface="Courier New"/>
              </a:rPr>
              <a:t> </a:t>
            </a:r>
            <a:r>
              <a:rPr sz="900" spc="-38" dirty="0">
                <a:latin typeface="Courier New"/>
                <a:cs typeface="Courier New"/>
              </a:rPr>
              <a:t>F</a:t>
            </a:r>
            <a:endParaRPr sz="900">
              <a:latin typeface="Courier New"/>
              <a:cs typeface="Courier New"/>
            </a:endParaRPr>
          </a:p>
          <a:p>
            <a:pPr marR="3810" algn="r">
              <a:lnSpc>
                <a:spcPts val="1061"/>
              </a:lnSpc>
            </a:pPr>
            <a:r>
              <a:rPr sz="900" dirty="0">
                <a:latin typeface="Courier New"/>
                <a:cs typeface="Courier New"/>
              </a:rPr>
              <a:t>|</a:t>
            </a:r>
            <a:r>
              <a:rPr sz="900" spc="-4" dirty="0">
                <a:latin typeface="Courier New"/>
                <a:cs typeface="Courier New"/>
              </a:rPr>
              <a:t> </a:t>
            </a:r>
            <a:r>
              <a:rPr sz="900" spc="-38" dirty="0">
                <a:latin typeface="Courier New"/>
                <a:cs typeface="Courier New"/>
              </a:rPr>
              <a:t>F</a:t>
            </a:r>
            <a:endParaRPr sz="900">
              <a:latin typeface="Courier New"/>
              <a:cs typeface="Courier New"/>
            </a:endParaRPr>
          </a:p>
        </p:txBody>
      </p:sp>
      <p:sp>
        <p:nvSpPr>
          <p:cNvPr id="43" name="object 43"/>
          <p:cNvSpPr txBox="1"/>
          <p:nvPr/>
        </p:nvSpPr>
        <p:spPr>
          <a:xfrm>
            <a:off x="2141663" y="3837813"/>
            <a:ext cx="4507706" cy="291747"/>
          </a:xfrm>
          <a:prstGeom prst="rect">
            <a:avLst/>
          </a:prstGeom>
        </p:spPr>
        <p:txBody>
          <a:bodyPr vert="horz" wrap="square" lIns="0" tIns="9525" rIns="0" bIns="0" rtlCol="0">
            <a:spAutoFit/>
          </a:bodyPr>
          <a:lstStyle/>
          <a:p>
            <a:pPr marL="9525">
              <a:lnSpc>
                <a:spcPts val="1061"/>
              </a:lnSpc>
              <a:spcBef>
                <a:spcPts val="75"/>
              </a:spcBef>
            </a:pPr>
            <a:r>
              <a:rPr sz="900" dirty="0">
                <a:latin typeface="Courier New"/>
                <a:cs typeface="Courier New"/>
              </a:rPr>
              <a:t>|</a:t>
            </a:r>
            <a:r>
              <a:rPr sz="900" spc="-15" dirty="0">
                <a:latin typeface="Courier New"/>
                <a:cs typeface="Courier New"/>
              </a:rPr>
              <a:t> </a:t>
            </a:r>
            <a:r>
              <a:rPr sz="900" dirty="0">
                <a:latin typeface="Courier New"/>
                <a:cs typeface="Courier New"/>
              </a:rPr>
              <a:t>NARAYAN</a:t>
            </a:r>
            <a:r>
              <a:rPr sz="900" spc="-11"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666884444</a:t>
            </a:r>
            <a:r>
              <a:rPr sz="900" spc="-11"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1"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975</a:t>
            </a:r>
            <a:r>
              <a:rPr sz="900" spc="-11" dirty="0">
                <a:latin typeface="Courier New"/>
                <a:cs typeface="Courier New"/>
              </a:rPr>
              <a:t> </a:t>
            </a:r>
            <a:r>
              <a:rPr sz="900" dirty="0">
                <a:latin typeface="Courier New"/>
                <a:cs typeface="Courier New"/>
              </a:rPr>
              <a:t>FIRE</a:t>
            </a:r>
            <a:r>
              <a:rPr sz="900" spc="-15" dirty="0">
                <a:latin typeface="Courier New"/>
                <a:cs typeface="Courier New"/>
              </a:rPr>
              <a:t> </a:t>
            </a:r>
            <a:r>
              <a:rPr sz="900" dirty="0">
                <a:latin typeface="Courier New"/>
                <a:cs typeface="Courier New"/>
              </a:rPr>
              <a:t>OAK,</a:t>
            </a:r>
            <a:r>
              <a:rPr sz="900" spc="-11" dirty="0">
                <a:latin typeface="Courier New"/>
                <a:cs typeface="Courier New"/>
              </a:rPr>
              <a:t> </a:t>
            </a:r>
            <a:r>
              <a:rPr sz="900" dirty="0">
                <a:latin typeface="Courier New"/>
                <a:cs typeface="Courier New"/>
              </a:rPr>
              <a:t>HUMBLE,</a:t>
            </a:r>
            <a:r>
              <a:rPr sz="900" spc="-15" dirty="0">
                <a:latin typeface="Courier New"/>
                <a:cs typeface="Courier New"/>
              </a:rPr>
              <a:t> </a:t>
            </a:r>
            <a:r>
              <a:rPr sz="900" dirty="0">
                <a:latin typeface="Courier New"/>
                <a:cs typeface="Courier New"/>
              </a:rPr>
              <a:t>TX</a:t>
            </a:r>
            <a:r>
              <a:rPr sz="900" spc="-11" dirty="0">
                <a:latin typeface="Courier New"/>
                <a:cs typeface="Courier New"/>
              </a:rPr>
              <a:t> </a:t>
            </a:r>
            <a:r>
              <a:rPr sz="900" dirty="0">
                <a:latin typeface="Courier New"/>
                <a:cs typeface="Courier New"/>
              </a:rPr>
              <a:t>|</a:t>
            </a:r>
            <a:r>
              <a:rPr sz="900" spc="-11" dirty="0">
                <a:latin typeface="Courier New"/>
                <a:cs typeface="Courier New"/>
              </a:rPr>
              <a:t> </a:t>
            </a:r>
            <a:r>
              <a:rPr sz="900" spc="-38" dirty="0">
                <a:latin typeface="Courier New"/>
                <a:cs typeface="Courier New"/>
              </a:rPr>
              <a:t>M</a:t>
            </a:r>
            <a:endParaRPr sz="900">
              <a:latin typeface="Courier New"/>
              <a:cs typeface="Courier New"/>
            </a:endParaRPr>
          </a:p>
          <a:p>
            <a:pPr marL="9525">
              <a:lnSpc>
                <a:spcPts val="1061"/>
              </a:lnSpc>
              <a:tabLst>
                <a:tab pos="4290536" algn="l"/>
              </a:tabLst>
            </a:pPr>
            <a:r>
              <a:rPr sz="900" dirty="0">
                <a:latin typeface="Courier New"/>
                <a:cs typeface="Courier New"/>
              </a:rPr>
              <a:t>|</a:t>
            </a:r>
            <a:r>
              <a:rPr sz="900" spc="-19" dirty="0">
                <a:latin typeface="Courier New"/>
                <a:cs typeface="Courier New"/>
              </a:rPr>
              <a:t> </a:t>
            </a:r>
            <a:r>
              <a:rPr sz="900" dirty="0">
                <a:latin typeface="Courier New"/>
                <a:cs typeface="Courier New"/>
              </a:rPr>
              <a:t>ENGLISH</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453453453</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5631</a:t>
            </a:r>
            <a:r>
              <a:rPr sz="900" spc="-15" dirty="0">
                <a:latin typeface="Courier New"/>
                <a:cs typeface="Courier New"/>
              </a:rPr>
              <a:t> </a:t>
            </a:r>
            <a:r>
              <a:rPr sz="900" dirty="0">
                <a:latin typeface="Courier New"/>
                <a:cs typeface="Courier New"/>
              </a:rPr>
              <a:t>RICE,</a:t>
            </a:r>
            <a:r>
              <a:rPr sz="900" spc="-15" dirty="0">
                <a:latin typeface="Courier New"/>
                <a:cs typeface="Courier New"/>
              </a:rPr>
              <a:t> </a:t>
            </a:r>
            <a:r>
              <a:rPr sz="900" dirty="0">
                <a:latin typeface="Courier New"/>
                <a:cs typeface="Courier New"/>
              </a:rPr>
              <a:t>HOUSTON,</a:t>
            </a:r>
            <a:r>
              <a:rPr sz="900" spc="-19" dirty="0">
                <a:latin typeface="Courier New"/>
                <a:cs typeface="Courier New"/>
              </a:rPr>
              <a:t> TX</a:t>
            </a:r>
            <a:r>
              <a:rPr sz="900" dirty="0">
                <a:latin typeface="Courier New"/>
                <a:cs typeface="Courier New"/>
              </a:rPr>
              <a:t>	|</a:t>
            </a:r>
            <a:r>
              <a:rPr sz="900" spc="-4" dirty="0">
                <a:latin typeface="Courier New"/>
                <a:cs typeface="Courier New"/>
              </a:rPr>
              <a:t> </a:t>
            </a:r>
            <a:r>
              <a:rPr sz="900" spc="-38" dirty="0">
                <a:latin typeface="Courier New"/>
                <a:cs typeface="Courier New"/>
              </a:rPr>
              <a:t>F</a:t>
            </a:r>
            <a:endParaRPr sz="900">
              <a:latin typeface="Courier New"/>
              <a:cs typeface="Courier New"/>
            </a:endParaRPr>
          </a:p>
        </p:txBody>
      </p:sp>
      <p:sp>
        <p:nvSpPr>
          <p:cNvPr id="44" name="object 44"/>
          <p:cNvSpPr txBox="1"/>
          <p:nvPr/>
        </p:nvSpPr>
        <p:spPr>
          <a:xfrm>
            <a:off x="829594" y="3837812"/>
            <a:ext cx="985838" cy="571310"/>
          </a:xfrm>
          <a:prstGeom prst="rect">
            <a:avLst/>
          </a:prstGeom>
        </p:spPr>
        <p:txBody>
          <a:bodyPr vert="horz" wrap="square" lIns="0" tIns="9525" rIns="0" bIns="0" rtlCol="0">
            <a:spAutoFit/>
          </a:bodyPr>
          <a:lstStyle/>
          <a:p>
            <a:pPr marL="9525">
              <a:lnSpc>
                <a:spcPts val="1061"/>
              </a:lnSpc>
              <a:spcBef>
                <a:spcPts val="75"/>
              </a:spcBef>
              <a:tabLst>
                <a:tab pos="768668"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RAMESH</a:t>
            </a:r>
            <a:r>
              <a:rPr sz="900" dirty="0">
                <a:latin typeface="Courier New"/>
                <a:cs typeface="Courier New"/>
              </a:rPr>
              <a:t>	|</a:t>
            </a:r>
            <a:r>
              <a:rPr sz="900" spc="-4" dirty="0">
                <a:latin typeface="Courier New"/>
                <a:cs typeface="Courier New"/>
              </a:rPr>
              <a:t> </a:t>
            </a:r>
            <a:r>
              <a:rPr sz="900" spc="-38" dirty="0">
                <a:latin typeface="Courier New"/>
                <a:cs typeface="Courier New"/>
              </a:rPr>
              <a:t>K</a:t>
            </a:r>
            <a:endParaRPr sz="900">
              <a:latin typeface="Courier New"/>
              <a:cs typeface="Courier New"/>
            </a:endParaRPr>
          </a:p>
          <a:p>
            <a:pPr marL="9525">
              <a:lnSpc>
                <a:spcPts val="1054"/>
              </a:lnSpc>
              <a:tabLst>
                <a:tab pos="768668"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JOYCE</a:t>
            </a:r>
            <a:r>
              <a:rPr sz="900" dirty="0">
                <a:latin typeface="Courier New"/>
                <a:cs typeface="Courier New"/>
              </a:rPr>
              <a:t>	|</a:t>
            </a:r>
            <a:r>
              <a:rPr sz="900" spc="-4" dirty="0">
                <a:latin typeface="Courier New"/>
                <a:cs typeface="Courier New"/>
              </a:rPr>
              <a:t> </a:t>
            </a:r>
            <a:r>
              <a:rPr sz="900" spc="-38" dirty="0">
                <a:latin typeface="Courier New"/>
                <a:cs typeface="Courier New"/>
              </a:rPr>
              <a:t>A</a:t>
            </a:r>
            <a:endParaRPr sz="900">
              <a:latin typeface="Courier New"/>
              <a:cs typeface="Courier New"/>
            </a:endParaRPr>
          </a:p>
          <a:p>
            <a:pPr marL="9525">
              <a:lnSpc>
                <a:spcPts val="1073"/>
              </a:lnSpc>
              <a:tabLst>
                <a:tab pos="768668"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AHMAD</a:t>
            </a:r>
            <a:r>
              <a:rPr sz="900" dirty="0">
                <a:latin typeface="Courier New"/>
                <a:cs typeface="Courier New"/>
              </a:rPr>
              <a:t>	|</a:t>
            </a:r>
            <a:r>
              <a:rPr sz="900" spc="-4" dirty="0">
                <a:latin typeface="Courier New"/>
                <a:cs typeface="Courier New"/>
              </a:rPr>
              <a:t> </a:t>
            </a:r>
            <a:r>
              <a:rPr sz="900" spc="-38" dirty="0">
                <a:latin typeface="Courier New"/>
                <a:cs typeface="Courier New"/>
              </a:rPr>
              <a:t>V</a:t>
            </a:r>
            <a:endParaRPr sz="900">
              <a:latin typeface="Courier New"/>
              <a:cs typeface="Courier New"/>
            </a:endParaRPr>
          </a:p>
          <a:p>
            <a:pPr marL="9525">
              <a:spcBef>
                <a:spcPts val="34"/>
              </a:spcBef>
              <a:tabLst>
                <a:tab pos="768668"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JAMES</a:t>
            </a:r>
            <a:r>
              <a:rPr sz="900" dirty="0">
                <a:latin typeface="Courier New"/>
                <a:cs typeface="Courier New"/>
              </a:rPr>
              <a:t>	|</a:t>
            </a:r>
            <a:r>
              <a:rPr sz="900" spc="-4" dirty="0">
                <a:latin typeface="Courier New"/>
                <a:cs typeface="Courier New"/>
              </a:rPr>
              <a:t> </a:t>
            </a:r>
            <a:r>
              <a:rPr sz="900" spc="-38" dirty="0">
                <a:latin typeface="Courier New"/>
                <a:cs typeface="Courier New"/>
              </a:rPr>
              <a:t>E</a:t>
            </a:r>
            <a:endParaRPr sz="900">
              <a:latin typeface="Courier New"/>
              <a:cs typeface="Courier New"/>
            </a:endParaRPr>
          </a:p>
        </p:txBody>
      </p:sp>
      <p:sp>
        <p:nvSpPr>
          <p:cNvPr id="45" name="object 45"/>
          <p:cNvSpPr txBox="1"/>
          <p:nvPr/>
        </p:nvSpPr>
        <p:spPr>
          <a:xfrm>
            <a:off x="2141663" y="4105276"/>
            <a:ext cx="571976" cy="2866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4" dirty="0">
                <a:latin typeface="Courier New"/>
                <a:cs typeface="Courier New"/>
              </a:rPr>
              <a:t> </a:t>
            </a:r>
            <a:r>
              <a:rPr sz="900" spc="-8" dirty="0">
                <a:latin typeface="Courier New"/>
                <a:cs typeface="Courier New"/>
              </a:rPr>
              <a:t>JABBAR</a:t>
            </a:r>
            <a:endParaRPr sz="900">
              <a:latin typeface="Courier New"/>
              <a:cs typeface="Courier New"/>
            </a:endParaRPr>
          </a:p>
          <a:p>
            <a:pPr marL="9525">
              <a:spcBef>
                <a:spcPts val="34"/>
              </a:spcBef>
            </a:pPr>
            <a:r>
              <a:rPr sz="900" dirty="0">
                <a:latin typeface="Courier New"/>
                <a:cs typeface="Courier New"/>
              </a:rPr>
              <a:t>|</a:t>
            </a:r>
            <a:r>
              <a:rPr sz="900" spc="-4" dirty="0">
                <a:latin typeface="Courier New"/>
                <a:cs typeface="Courier New"/>
              </a:rPr>
              <a:t> </a:t>
            </a:r>
            <a:r>
              <a:rPr sz="900" spc="-15" dirty="0">
                <a:latin typeface="Courier New"/>
                <a:cs typeface="Courier New"/>
              </a:rPr>
              <a:t>BORG</a:t>
            </a:r>
            <a:endParaRPr sz="900">
              <a:latin typeface="Courier New"/>
              <a:cs typeface="Courier New"/>
            </a:endParaRPr>
          </a:p>
        </p:txBody>
      </p:sp>
      <p:sp>
        <p:nvSpPr>
          <p:cNvPr id="46" name="object 46"/>
          <p:cNvSpPr txBox="1"/>
          <p:nvPr/>
        </p:nvSpPr>
        <p:spPr>
          <a:xfrm>
            <a:off x="2832225" y="4105276"/>
            <a:ext cx="3817144" cy="286617"/>
          </a:xfrm>
          <a:prstGeom prst="rect">
            <a:avLst/>
          </a:prstGeom>
        </p:spPr>
        <p:txBody>
          <a:bodyPr vert="horz" wrap="square" lIns="0" tIns="9525" rIns="0" bIns="0" rtlCol="0">
            <a:spAutoFit/>
          </a:bodyPr>
          <a:lstStyle/>
          <a:p>
            <a:pPr marL="9525">
              <a:spcBef>
                <a:spcPts val="75"/>
              </a:spcBef>
              <a:tabLst>
                <a:tab pos="3599974" algn="l"/>
              </a:tabLst>
            </a:pPr>
            <a:r>
              <a:rPr sz="900" dirty="0">
                <a:latin typeface="Courier New"/>
                <a:cs typeface="Courier New"/>
              </a:rPr>
              <a:t>|</a:t>
            </a:r>
            <a:r>
              <a:rPr sz="900" spc="-19" dirty="0">
                <a:latin typeface="Courier New"/>
                <a:cs typeface="Courier New"/>
              </a:rPr>
              <a:t> </a:t>
            </a:r>
            <a:r>
              <a:rPr sz="900" dirty="0">
                <a:latin typeface="Courier New"/>
                <a:cs typeface="Courier New"/>
              </a:rPr>
              <a:t>987987987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dirty="0">
                <a:latin typeface="Courier New"/>
                <a:cs typeface="Courier New"/>
              </a:rPr>
              <a:t>980</a:t>
            </a:r>
            <a:r>
              <a:rPr sz="900" spc="-15" dirty="0">
                <a:latin typeface="Courier New"/>
                <a:cs typeface="Courier New"/>
              </a:rPr>
              <a:t> </a:t>
            </a:r>
            <a:r>
              <a:rPr sz="900" dirty="0">
                <a:latin typeface="Courier New"/>
                <a:cs typeface="Courier New"/>
              </a:rPr>
              <a:t>DALLAS,</a:t>
            </a:r>
            <a:r>
              <a:rPr sz="900" spc="-15" dirty="0">
                <a:latin typeface="Courier New"/>
                <a:cs typeface="Courier New"/>
              </a:rPr>
              <a:t> </a:t>
            </a:r>
            <a:r>
              <a:rPr sz="900" dirty="0">
                <a:latin typeface="Courier New"/>
                <a:cs typeface="Courier New"/>
              </a:rPr>
              <a:t>HOUSTON,</a:t>
            </a:r>
            <a:r>
              <a:rPr sz="900" spc="-15" dirty="0">
                <a:latin typeface="Courier New"/>
                <a:cs typeface="Courier New"/>
              </a:rPr>
              <a:t> </a:t>
            </a:r>
            <a:r>
              <a:rPr sz="900" spc="-19" dirty="0">
                <a:latin typeface="Courier New"/>
                <a:cs typeface="Courier New"/>
              </a:rPr>
              <a:t>TX</a:t>
            </a:r>
            <a:r>
              <a:rPr sz="900" dirty="0">
                <a:latin typeface="Courier New"/>
                <a:cs typeface="Courier New"/>
              </a:rPr>
              <a:t>	|</a:t>
            </a:r>
            <a:r>
              <a:rPr sz="900" spc="-4" dirty="0">
                <a:latin typeface="Courier New"/>
                <a:cs typeface="Courier New"/>
              </a:rPr>
              <a:t> </a:t>
            </a:r>
            <a:r>
              <a:rPr sz="900" spc="-38" dirty="0">
                <a:latin typeface="Courier New"/>
                <a:cs typeface="Courier New"/>
              </a:rPr>
              <a:t>M</a:t>
            </a:r>
            <a:endParaRPr sz="900">
              <a:latin typeface="Courier New"/>
              <a:cs typeface="Courier New"/>
            </a:endParaRPr>
          </a:p>
          <a:p>
            <a:pPr marL="9525">
              <a:spcBef>
                <a:spcPts val="34"/>
              </a:spcBef>
              <a:tabLst>
                <a:tab pos="3599974" algn="l"/>
              </a:tabLst>
            </a:pPr>
            <a:r>
              <a:rPr sz="900" dirty="0">
                <a:latin typeface="Courier New"/>
                <a:cs typeface="Courier New"/>
              </a:rPr>
              <a:t>|</a:t>
            </a:r>
            <a:r>
              <a:rPr sz="900" spc="-19" dirty="0">
                <a:latin typeface="Courier New"/>
                <a:cs typeface="Courier New"/>
              </a:rPr>
              <a:t> </a:t>
            </a:r>
            <a:r>
              <a:rPr sz="900" dirty="0">
                <a:latin typeface="Courier New"/>
                <a:cs typeface="Courier New"/>
              </a:rPr>
              <a:t>888665555</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450</a:t>
            </a:r>
            <a:r>
              <a:rPr sz="900" spc="-15" dirty="0">
                <a:latin typeface="Courier New"/>
                <a:cs typeface="Courier New"/>
              </a:rPr>
              <a:t> </a:t>
            </a:r>
            <a:r>
              <a:rPr sz="900" dirty="0">
                <a:latin typeface="Courier New"/>
                <a:cs typeface="Courier New"/>
              </a:rPr>
              <a:t>STONE,</a:t>
            </a:r>
            <a:r>
              <a:rPr sz="900" spc="-15" dirty="0">
                <a:latin typeface="Courier New"/>
                <a:cs typeface="Courier New"/>
              </a:rPr>
              <a:t> </a:t>
            </a:r>
            <a:r>
              <a:rPr sz="900" dirty="0">
                <a:latin typeface="Courier New"/>
                <a:cs typeface="Courier New"/>
              </a:rPr>
              <a:t>HOUSTON,</a:t>
            </a:r>
            <a:r>
              <a:rPr sz="900" spc="-15" dirty="0">
                <a:latin typeface="Courier New"/>
                <a:cs typeface="Courier New"/>
              </a:rPr>
              <a:t> </a:t>
            </a:r>
            <a:r>
              <a:rPr sz="900" spc="-19" dirty="0">
                <a:latin typeface="Courier New"/>
                <a:cs typeface="Courier New"/>
              </a:rPr>
              <a:t>TX</a:t>
            </a:r>
            <a:r>
              <a:rPr sz="900" dirty="0">
                <a:latin typeface="Courier New"/>
                <a:cs typeface="Courier New"/>
              </a:rPr>
              <a:t>	|</a:t>
            </a:r>
            <a:r>
              <a:rPr sz="900" spc="-4" dirty="0">
                <a:latin typeface="Courier New"/>
                <a:cs typeface="Courier New"/>
              </a:rPr>
              <a:t> </a:t>
            </a:r>
            <a:r>
              <a:rPr sz="900" spc="-38" dirty="0">
                <a:latin typeface="Courier New"/>
                <a:cs typeface="Courier New"/>
              </a:rPr>
              <a:t>M</a:t>
            </a:r>
            <a:endParaRPr sz="900">
              <a:latin typeface="Courier New"/>
              <a:cs typeface="Courier New"/>
            </a:endParaRPr>
          </a:p>
        </p:txBody>
      </p:sp>
      <p:sp>
        <p:nvSpPr>
          <p:cNvPr id="47" name="object 47"/>
          <p:cNvSpPr/>
          <p:nvPr/>
        </p:nvSpPr>
        <p:spPr>
          <a:xfrm>
            <a:off x="908175" y="4467701"/>
            <a:ext cx="691039" cy="0"/>
          </a:xfrm>
          <a:custGeom>
            <a:avLst/>
            <a:gdLst/>
            <a:ahLst/>
            <a:cxnLst/>
            <a:rect l="l" t="t" r="r" b="b"/>
            <a:pathLst>
              <a:path w="921385">
                <a:moveTo>
                  <a:pt x="0" y="0"/>
                </a:moveTo>
                <a:lnTo>
                  <a:pt x="920800" y="0"/>
                </a:lnTo>
              </a:path>
            </a:pathLst>
          </a:custGeom>
          <a:ln w="12649">
            <a:solidFill>
              <a:srgbClr val="000000"/>
            </a:solidFill>
            <a:prstDash val="dash"/>
          </a:ln>
        </p:spPr>
        <p:txBody>
          <a:bodyPr wrap="square" lIns="0" tIns="0" rIns="0" bIns="0" rtlCol="0"/>
          <a:lstStyle/>
          <a:p>
            <a:endParaRPr sz="1800"/>
          </a:p>
        </p:txBody>
      </p:sp>
      <p:sp>
        <p:nvSpPr>
          <p:cNvPr id="48" name="object 48"/>
          <p:cNvSpPr/>
          <p:nvPr/>
        </p:nvSpPr>
        <p:spPr>
          <a:xfrm>
            <a:off x="1667794" y="4467701"/>
            <a:ext cx="483870" cy="0"/>
          </a:xfrm>
          <a:custGeom>
            <a:avLst/>
            <a:gdLst/>
            <a:ahLst/>
            <a:cxnLst/>
            <a:rect l="l" t="t" r="r" b="b"/>
            <a:pathLst>
              <a:path w="645160">
                <a:moveTo>
                  <a:pt x="0" y="0"/>
                </a:moveTo>
                <a:lnTo>
                  <a:pt x="644560" y="0"/>
                </a:lnTo>
              </a:path>
            </a:pathLst>
          </a:custGeom>
          <a:ln w="12649">
            <a:solidFill>
              <a:srgbClr val="000000"/>
            </a:solidFill>
            <a:prstDash val="dash"/>
          </a:ln>
        </p:spPr>
        <p:txBody>
          <a:bodyPr wrap="square" lIns="0" tIns="0" rIns="0" bIns="0" rtlCol="0"/>
          <a:lstStyle/>
          <a:p>
            <a:endParaRPr sz="1800"/>
          </a:p>
        </p:txBody>
      </p:sp>
      <p:sp>
        <p:nvSpPr>
          <p:cNvPr id="49" name="object 49"/>
          <p:cNvSpPr txBox="1"/>
          <p:nvPr/>
        </p:nvSpPr>
        <p:spPr>
          <a:xfrm>
            <a:off x="829595" y="4379595"/>
            <a:ext cx="1400175" cy="148117"/>
          </a:xfrm>
          <a:prstGeom prst="rect">
            <a:avLst/>
          </a:prstGeom>
        </p:spPr>
        <p:txBody>
          <a:bodyPr vert="horz" wrap="square" lIns="0" tIns="9525" rIns="0" bIns="0" rtlCol="0">
            <a:spAutoFit/>
          </a:bodyPr>
          <a:lstStyle/>
          <a:p>
            <a:pPr marL="9525">
              <a:spcBef>
                <a:spcPts val="75"/>
              </a:spcBef>
              <a:tabLst>
                <a:tab pos="768668" algn="l"/>
                <a:tab pos="1321117"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50" name="object 50"/>
          <p:cNvSpPr/>
          <p:nvPr/>
        </p:nvSpPr>
        <p:spPr>
          <a:xfrm>
            <a:off x="2220244" y="4467701"/>
            <a:ext cx="621983" cy="0"/>
          </a:xfrm>
          <a:custGeom>
            <a:avLst/>
            <a:gdLst/>
            <a:ahLst/>
            <a:cxnLst/>
            <a:rect l="l" t="t" r="r" b="b"/>
            <a:pathLst>
              <a:path w="829310">
                <a:moveTo>
                  <a:pt x="0" y="0"/>
                </a:moveTo>
                <a:lnTo>
                  <a:pt x="828720" y="0"/>
                </a:lnTo>
              </a:path>
            </a:pathLst>
          </a:custGeom>
          <a:ln w="12649">
            <a:solidFill>
              <a:srgbClr val="000000"/>
            </a:solidFill>
            <a:prstDash val="dash"/>
          </a:ln>
        </p:spPr>
        <p:txBody>
          <a:bodyPr wrap="square" lIns="0" tIns="0" rIns="0" bIns="0" rtlCol="0"/>
          <a:lstStyle/>
          <a:p>
            <a:endParaRPr sz="1800"/>
          </a:p>
        </p:txBody>
      </p:sp>
      <p:sp>
        <p:nvSpPr>
          <p:cNvPr id="51" name="object 51"/>
          <p:cNvSpPr/>
          <p:nvPr/>
        </p:nvSpPr>
        <p:spPr>
          <a:xfrm>
            <a:off x="2910806" y="4467701"/>
            <a:ext cx="760095" cy="0"/>
          </a:xfrm>
          <a:custGeom>
            <a:avLst/>
            <a:gdLst/>
            <a:ahLst/>
            <a:cxnLst/>
            <a:rect l="l" t="t" r="r" b="b"/>
            <a:pathLst>
              <a:path w="1013460">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52" name="object 52"/>
          <p:cNvSpPr/>
          <p:nvPr/>
        </p:nvSpPr>
        <p:spPr>
          <a:xfrm>
            <a:off x="3739482" y="4467701"/>
            <a:ext cx="829151" cy="0"/>
          </a:xfrm>
          <a:custGeom>
            <a:avLst/>
            <a:gdLst/>
            <a:ahLst/>
            <a:cxnLst/>
            <a:rect l="l" t="t" r="r" b="b"/>
            <a:pathLst>
              <a:path w="1105535">
                <a:moveTo>
                  <a:pt x="0" y="0"/>
                </a:moveTo>
                <a:lnTo>
                  <a:pt x="1104961" y="0"/>
                </a:lnTo>
              </a:path>
            </a:pathLst>
          </a:custGeom>
          <a:ln w="12649">
            <a:solidFill>
              <a:srgbClr val="000000"/>
            </a:solidFill>
            <a:prstDash val="dash"/>
          </a:ln>
        </p:spPr>
        <p:txBody>
          <a:bodyPr wrap="square" lIns="0" tIns="0" rIns="0" bIns="0" rtlCol="0"/>
          <a:lstStyle/>
          <a:p>
            <a:endParaRPr sz="1800"/>
          </a:p>
        </p:txBody>
      </p:sp>
      <p:sp>
        <p:nvSpPr>
          <p:cNvPr id="53" name="object 53"/>
          <p:cNvSpPr txBox="1"/>
          <p:nvPr/>
        </p:nvSpPr>
        <p:spPr>
          <a:xfrm>
            <a:off x="2832225" y="4379595"/>
            <a:ext cx="1814513" cy="148117"/>
          </a:xfrm>
          <a:prstGeom prst="rect">
            <a:avLst/>
          </a:prstGeom>
        </p:spPr>
        <p:txBody>
          <a:bodyPr vert="horz" wrap="square" lIns="0" tIns="9525" rIns="0" bIns="0" rtlCol="0">
            <a:spAutoFit/>
          </a:bodyPr>
          <a:lstStyle/>
          <a:p>
            <a:pPr marL="9525">
              <a:spcBef>
                <a:spcPts val="75"/>
              </a:spcBef>
              <a:tabLst>
                <a:tab pos="837724" algn="l"/>
                <a:tab pos="1735455"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54" name="object 54"/>
          <p:cNvSpPr/>
          <p:nvPr/>
        </p:nvSpPr>
        <p:spPr>
          <a:xfrm>
            <a:off x="4637213" y="4467701"/>
            <a:ext cx="1795939" cy="0"/>
          </a:xfrm>
          <a:custGeom>
            <a:avLst/>
            <a:gdLst/>
            <a:ahLst/>
            <a:cxnLst/>
            <a:rect l="l" t="t" r="r" b="b"/>
            <a:pathLst>
              <a:path w="2394584">
                <a:moveTo>
                  <a:pt x="0" y="0"/>
                </a:moveTo>
                <a:lnTo>
                  <a:pt x="2394082" y="0"/>
                </a:lnTo>
              </a:path>
            </a:pathLst>
          </a:custGeom>
          <a:ln w="12649">
            <a:solidFill>
              <a:srgbClr val="000000"/>
            </a:solidFill>
            <a:prstDash val="dash"/>
          </a:ln>
        </p:spPr>
        <p:txBody>
          <a:bodyPr wrap="square" lIns="0" tIns="0" rIns="0" bIns="0" rtlCol="0"/>
          <a:lstStyle/>
          <a:p>
            <a:endParaRPr sz="1800"/>
          </a:p>
        </p:txBody>
      </p:sp>
      <p:sp>
        <p:nvSpPr>
          <p:cNvPr id="55" name="object 55"/>
          <p:cNvSpPr txBox="1"/>
          <p:nvPr/>
        </p:nvSpPr>
        <p:spPr>
          <a:xfrm>
            <a:off x="6423151" y="4379595"/>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56" name="object 56"/>
          <p:cNvSpPr/>
          <p:nvPr/>
        </p:nvSpPr>
        <p:spPr>
          <a:xfrm>
            <a:off x="6501732" y="4467701"/>
            <a:ext cx="414814" cy="0"/>
          </a:xfrm>
          <a:custGeom>
            <a:avLst/>
            <a:gdLst/>
            <a:ahLst/>
            <a:cxnLst/>
            <a:rect l="l" t="t" r="r" b="b"/>
            <a:pathLst>
              <a:path w="553084">
                <a:moveTo>
                  <a:pt x="0" y="0"/>
                </a:moveTo>
                <a:lnTo>
                  <a:pt x="552480" y="0"/>
                </a:lnTo>
              </a:path>
            </a:pathLst>
          </a:custGeom>
          <a:ln w="12649">
            <a:solidFill>
              <a:srgbClr val="000000"/>
            </a:solidFill>
            <a:prstDash val="dash"/>
          </a:ln>
        </p:spPr>
        <p:txBody>
          <a:bodyPr wrap="square" lIns="0" tIns="0" rIns="0" bIns="0" rtlCol="0"/>
          <a:lstStyle/>
          <a:p>
            <a:endParaRPr sz="1800"/>
          </a:p>
        </p:txBody>
      </p:sp>
      <p:sp>
        <p:nvSpPr>
          <p:cNvPr id="57" name="object 57"/>
          <p:cNvSpPr/>
          <p:nvPr/>
        </p:nvSpPr>
        <p:spPr>
          <a:xfrm>
            <a:off x="6985126" y="4467701"/>
            <a:ext cx="552926" cy="0"/>
          </a:xfrm>
          <a:custGeom>
            <a:avLst/>
            <a:gdLst/>
            <a:ahLst/>
            <a:cxnLst/>
            <a:rect l="l" t="t" r="r" b="b"/>
            <a:pathLst>
              <a:path w="737234">
                <a:moveTo>
                  <a:pt x="0" y="0"/>
                </a:moveTo>
                <a:lnTo>
                  <a:pt x="736640" y="0"/>
                </a:lnTo>
              </a:path>
            </a:pathLst>
          </a:custGeom>
          <a:ln w="12649">
            <a:solidFill>
              <a:srgbClr val="000000"/>
            </a:solidFill>
            <a:prstDash val="dash"/>
          </a:ln>
        </p:spPr>
        <p:txBody>
          <a:bodyPr wrap="square" lIns="0" tIns="0" rIns="0" bIns="0" rtlCol="0"/>
          <a:lstStyle/>
          <a:p>
            <a:endParaRPr sz="1800"/>
          </a:p>
        </p:txBody>
      </p:sp>
      <p:sp>
        <p:nvSpPr>
          <p:cNvPr id="58" name="object 58"/>
          <p:cNvSpPr/>
          <p:nvPr/>
        </p:nvSpPr>
        <p:spPr>
          <a:xfrm>
            <a:off x="7606631" y="4467701"/>
            <a:ext cx="760095" cy="0"/>
          </a:xfrm>
          <a:custGeom>
            <a:avLst/>
            <a:gdLst/>
            <a:ahLst/>
            <a:cxnLst/>
            <a:rect l="l" t="t" r="r" b="b"/>
            <a:pathLst>
              <a:path w="1013459">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59" name="object 59"/>
          <p:cNvSpPr/>
          <p:nvPr/>
        </p:nvSpPr>
        <p:spPr>
          <a:xfrm>
            <a:off x="8435307" y="4467701"/>
            <a:ext cx="345757" cy="0"/>
          </a:xfrm>
          <a:custGeom>
            <a:avLst/>
            <a:gdLst/>
            <a:ahLst/>
            <a:cxnLst/>
            <a:rect l="l" t="t" r="r" b="b"/>
            <a:pathLst>
              <a:path w="461009">
                <a:moveTo>
                  <a:pt x="0" y="0"/>
                </a:moveTo>
                <a:lnTo>
                  <a:pt x="460400" y="0"/>
                </a:lnTo>
              </a:path>
            </a:pathLst>
          </a:custGeom>
          <a:ln w="12649">
            <a:solidFill>
              <a:srgbClr val="000000"/>
            </a:solidFill>
            <a:prstDash val="dash"/>
          </a:ln>
        </p:spPr>
        <p:txBody>
          <a:bodyPr wrap="square" lIns="0" tIns="0" rIns="0" bIns="0" rtlCol="0"/>
          <a:lstStyle/>
          <a:p>
            <a:endParaRPr sz="1800"/>
          </a:p>
        </p:txBody>
      </p:sp>
      <p:sp>
        <p:nvSpPr>
          <p:cNvPr id="60" name="object 60"/>
          <p:cNvSpPr txBox="1"/>
          <p:nvPr/>
        </p:nvSpPr>
        <p:spPr>
          <a:xfrm>
            <a:off x="6906544" y="3284600"/>
            <a:ext cx="1952625" cy="1292020"/>
          </a:xfrm>
          <a:prstGeom prst="rect">
            <a:avLst/>
          </a:prstGeom>
        </p:spPr>
        <p:txBody>
          <a:bodyPr vert="horz" wrap="square" lIns="0" tIns="9525" rIns="0" bIns="0" rtlCol="0">
            <a:spAutoFit/>
          </a:bodyPr>
          <a:lstStyle/>
          <a:p>
            <a:pPr marL="9525">
              <a:lnSpc>
                <a:spcPts val="1073"/>
              </a:lnSpc>
              <a:spcBef>
                <a:spcPts val="75"/>
              </a:spcBef>
              <a:tabLst>
                <a:tab pos="216218" algn="l"/>
                <a:tab pos="1735455" algn="l"/>
              </a:tabLst>
            </a:pPr>
            <a:r>
              <a:rPr sz="900" spc="-38" dirty="0">
                <a:latin typeface="Courier New"/>
                <a:cs typeface="Courier New"/>
              </a:rPr>
              <a:t>|</a:t>
            </a:r>
            <a:r>
              <a:rPr sz="900" dirty="0">
                <a:latin typeface="Courier New"/>
                <a:cs typeface="Courier New"/>
              </a:rPr>
              <a:t>	30000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333445555</a:t>
            </a:r>
            <a:r>
              <a:rPr sz="900" spc="-23" dirty="0">
                <a:latin typeface="Courier New"/>
                <a:cs typeface="Courier New"/>
              </a:rPr>
              <a:t> </a:t>
            </a:r>
            <a:r>
              <a:rPr sz="900" spc="-38" dirty="0">
                <a:latin typeface="Courier New"/>
                <a:cs typeface="Courier New"/>
              </a:rPr>
              <a:t>|</a:t>
            </a:r>
            <a:r>
              <a:rPr sz="900" dirty="0">
                <a:latin typeface="Courier New"/>
                <a:cs typeface="Courier New"/>
              </a:rPr>
              <a:t>	5</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73"/>
              </a:lnSpc>
              <a:tabLst>
                <a:tab pos="216218" algn="l"/>
                <a:tab pos="1735455" algn="l"/>
              </a:tabLst>
            </a:pPr>
            <a:r>
              <a:rPr sz="900" spc="-38" dirty="0">
                <a:latin typeface="Courier New"/>
                <a:cs typeface="Courier New"/>
              </a:rPr>
              <a:t>|</a:t>
            </a:r>
            <a:r>
              <a:rPr sz="900" dirty="0">
                <a:latin typeface="Courier New"/>
                <a:cs typeface="Courier New"/>
              </a:rPr>
              <a:t>	40000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888665555</a:t>
            </a:r>
            <a:r>
              <a:rPr sz="900" spc="-23" dirty="0">
                <a:latin typeface="Courier New"/>
                <a:cs typeface="Courier New"/>
              </a:rPr>
              <a:t> </a:t>
            </a:r>
            <a:r>
              <a:rPr sz="900" spc="-38" dirty="0">
                <a:latin typeface="Courier New"/>
                <a:cs typeface="Courier New"/>
              </a:rPr>
              <a:t>|</a:t>
            </a:r>
            <a:r>
              <a:rPr sz="900" dirty="0">
                <a:latin typeface="Courier New"/>
                <a:cs typeface="Courier New"/>
              </a:rPr>
              <a:t>	5</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spcBef>
                <a:spcPts val="34"/>
              </a:spcBef>
              <a:tabLst>
                <a:tab pos="216218" algn="l"/>
                <a:tab pos="1735455" algn="l"/>
              </a:tabLst>
            </a:pPr>
            <a:r>
              <a:rPr sz="900" spc="-38" dirty="0">
                <a:latin typeface="Courier New"/>
                <a:cs typeface="Courier New"/>
              </a:rPr>
              <a:t>|</a:t>
            </a:r>
            <a:r>
              <a:rPr sz="900" dirty="0">
                <a:latin typeface="Courier New"/>
                <a:cs typeface="Courier New"/>
              </a:rPr>
              <a:t>	25000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987654321</a:t>
            </a:r>
            <a:r>
              <a:rPr sz="900" spc="-23" dirty="0">
                <a:latin typeface="Courier New"/>
                <a:cs typeface="Courier New"/>
              </a:rPr>
              <a:t> </a:t>
            </a:r>
            <a:r>
              <a:rPr sz="900" spc="-38" dirty="0">
                <a:latin typeface="Courier New"/>
                <a:cs typeface="Courier New"/>
              </a:rPr>
              <a:t>|</a:t>
            </a:r>
            <a:r>
              <a:rPr sz="900" dirty="0">
                <a:latin typeface="Courier New"/>
                <a:cs typeface="Courier New"/>
              </a:rPr>
              <a:t>	4</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tabLst>
                <a:tab pos="216218" algn="l"/>
                <a:tab pos="1735455" algn="l"/>
              </a:tabLst>
            </a:pPr>
            <a:r>
              <a:rPr sz="900" spc="-38" dirty="0">
                <a:latin typeface="Courier New"/>
                <a:cs typeface="Courier New"/>
              </a:rPr>
              <a:t>|</a:t>
            </a:r>
            <a:r>
              <a:rPr sz="900" dirty="0">
                <a:latin typeface="Courier New"/>
                <a:cs typeface="Courier New"/>
              </a:rPr>
              <a:t>	43000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888665555</a:t>
            </a:r>
            <a:r>
              <a:rPr sz="900" spc="-23" dirty="0">
                <a:latin typeface="Courier New"/>
                <a:cs typeface="Courier New"/>
              </a:rPr>
              <a:t> </a:t>
            </a:r>
            <a:r>
              <a:rPr sz="900" spc="-38" dirty="0">
                <a:latin typeface="Courier New"/>
                <a:cs typeface="Courier New"/>
              </a:rPr>
              <a:t>|</a:t>
            </a:r>
            <a:r>
              <a:rPr sz="900" dirty="0">
                <a:latin typeface="Courier New"/>
                <a:cs typeface="Courier New"/>
              </a:rPr>
              <a:t>	4</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spcBef>
                <a:spcPts val="56"/>
              </a:spcBef>
              <a:tabLst>
                <a:tab pos="216218" algn="l"/>
                <a:tab pos="1735455" algn="l"/>
              </a:tabLst>
            </a:pPr>
            <a:r>
              <a:rPr sz="900" spc="-38" dirty="0">
                <a:latin typeface="Courier New"/>
                <a:cs typeface="Courier New"/>
              </a:rPr>
              <a:t>|</a:t>
            </a:r>
            <a:r>
              <a:rPr sz="900" dirty="0">
                <a:latin typeface="Courier New"/>
                <a:cs typeface="Courier New"/>
              </a:rPr>
              <a:t>	38000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333445555</a:t>
            </a:r>
            <a:r>
              <a:rPr sz="900" spc="-23" dirty="0">
                <a:latin typeface="Courier New"/>
                <a:cs typeface="Courier New"/>
              </a:rPr>
              <a:t> </a:t>
            </a:r>
            <a:r>
              <a:rPr sz="900" spc="-38" dirty="0">
                <a:latin typeface="Courier New"/>
                <a:cs typeface="Courier New"/>
              </a:rPr>
              <a:t>|</a:t>
            </a:r>
            <a:r>
              <a:rPr sz="900" dirty="0">
                <a:latin typeface="Courier New"/>
                <a:cs typeface="Courier New"/>
              </a:rPr>
              <a:t>	5</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54"/>
              </a:lnSpc>
              <a:tabLst>
                <a:tab pos="216218" algn="l"/>
                <a:tab pos="1735455" algn="l"/>
              </a:tabLst>
            </a:pPr>
            <a:r>
              <a:rPr sz="900" spc="-38" dirty="0">
                <a:latin typeface="Courier New"/>
                <a:cs typeface="Courier New"/>
              </a:rPr>
              <a:t>|</a:t>
            </a:r>
            <a:r>
              <a:rPr sz="900" dirty="0">
                <a:latin typeface="Courier New"/>
                <a:cs typeface="Courier New"/>
              </a:rPr>
              <a:t>	25000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333445555</a:t>
            </a:r>
            <a:r>
              <a:rPr sz="900" spc="-23" dirty="0">
                <a:latin typeface="Courier New"/>
                <a:cs typeface="Courier New"/>
              </a:rPr>
              <a:t> </a:t>
            </a:r>
            <a:r>
              <a:rPr sz="900" spc="-38" dirty="0">
                <a:latin typeface="Courier New"/>
                <a:cs typeface="Courier New"/>
              </a:rPr>
              <a:t>|</a:t>
            </a:r>
            <a:r>
              <a:rPr sz="900" dirty="0">
                <a:latin typeface="Courier New"/>
                <a:cs typeface="Courier New"/>
              </a:rPr>
              <a:t>	5</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73"/>
              </a:lnSpc>
              <a:tabLst>
                <a:tab pos="216218" algn="l"/>
                <a:tab pos="1735455" algn="l"/>
              </a:tabLst>
            </a:pPr>
            <a:r>
              <a:rPr sz="900" spc="-38" dirty="0">
                <a:latin typeface="Courier New"/>
                <a:cs typeface="Courier New"/>
              </a:rPr>
              <a:t>|</a:t>
            </a:r>
            <a:r>
              <a:rPr sz="900" dirty="0">
                <a:latin typeface="Courier New"/>
                <a:cs typeface="Courier New"/>
              </a:rPr>
              <a:t>	25000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987654321</a:t>
            </a:r>
            <a:r>
              <a:rPr sz="900" spc="-23" dirty="0">
                <a:latin typeface="Courier New"/>
                <a:cs typeface="Courier New"/>
              </a:rPr>
              <a:t> </a:t>
            </a:r>
            <a:r>
              <a:rPr sz="900" spc="-38" dirty="0">
                <a:latin typeface="Courier New"/>
                <a:cs typeface="Courier New"/>
              </a:rPr>
              <a:t>|</a:t>
            </a:r>
            <a:r>
              <a:rPr sz="900" dirty="0">
                <a:latin typeface="Courier New"/>
                <a:cs typeface="Courier New"/>
              </a:rPr>
              <a:t>	4</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spcBef>
                <a:spcPts val="34"/>
              </a:spcBef>
              <a:tabLst>
                <a:tab pos="216218" algn="l"/>
                <a:tab pos="1459229" algn="l"/>
                <a:tab pos="1735455" algn="l"/>
              </a:tabLst>
            </a:pPr>
            <a:r>
              <a:rPr sz="900" spc="-38" dirty="0">
                <a:latin typeface="Courier New"/>
                <a:cs typeface="Courier New"/>
              </a:rPr>
              <a:t>|</a:t>
            </a:r>
            <a:r>
              <a:rPr sz="900" dirty="0">
                <a:latin typeface="Courier New"/>
                <a:cs typeface="Courier New"/>
              </a:rPr>
              <a:t>	55000</a:t>
            </a:r>
            <a:r>
              <a:rPr sz="900" spc="-26"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1</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tabLst>
                <a:tab pos="630555" algn="l"/>
                <a:tab pos="1459229" algn="l"/>
                <a:tab pos="1873568"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63" name="object 63"/>
          <p:cNvSpPr txBox="1">
            <a:spLocks noGrp="1"/>
          </p:cNvSpPr>
          <p:nvPr>
            <p:ph type="ftr" sz="quarter" idx="5"/>
          </p:nvPr>
        </p:nvSpPr>
        <p:spPr>
          <a:xfrm>
            <a:off x="4254246" y="6428920"/>
            <a:ext cx="3683634"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9525">
              <a:spcBef>
                <a:spcPts val="30"/>
              </a:spcBef>
            </a:pPr>
            <a:r>
              <a:rPr lang="en-US" spc="-10"/>
              <a:t>Copyright</a:t>
            </a:r>
            <a:r>
              <a:rPr lang="en-US" spc="-15"/>
              <a:t> </a:t>
            </a:r>
            <a:r>
              <a:rPr lang="en-US"/>
              <a:t>©</a:t>
            </a:r>
            <a:r>
              <a:rPr lang="en-US" spc="-10"/>
              <a:t> </a:t>
            </a:r>
            <a:r>
              <a:rPr lang="en-US"/>
              <a:t>2016</a:t>
            </a:r>
            <a:r>
              <a:rPr lang="en-US" spc="-10"/>
              <a:t> </a:t>
            </a:r>
            <a:r>
              <a:rPr lang="en-US"/>
              <a:t>Ramez</a:t>
            </a:r>
            <a:r>
              <a:rPr lang="en-US" spc="-5"/>
              <a:t> </a:t>
            </a:r>
            <a:r>
              <a:rPr lang="en-US"/>
              <a:t>Elmasri</a:t>
            </a:r>
            <a:r>
              <a:rPr lang="en-US" spc="-15"/>
              <a:t> </a:t>
            </a:r>
            <a:r>
              <a:rPr lang="en-US"/>
              <a:t>and</a:t>
            </a:r>
            <a:r>
              <a:rPr lang="en-US" spc="-15"/>
              <a:t> </a:t>
            </a:r>
            <a:r>
              <a:rPr lang="en-US" spc="-10"/>
              <a:t>Shamkant</a:t>
            </a:r>
            <a:r>
              <a:rPr lang="en-US" spc="-15"/>
              <a:t> </a:t>
            </a:r>
            <a:r>
              <a:rPr lang="en-US"/>
              <a:t>B.</a:t>
            </a:r>
            <a:r>
              <a:rPr lang="en-US" spc="-10"/>
              <a:t> Navathe</a:t>
            </a:r>
            <a:endParaRPr spc="-8" dirty="0"/>
          </a:p>
        </p:txBody>
      </p:sp>
      <p:sp>
        <p:nvSpPr>
          <p:cNvPr id="64" name="object 64"/>
          <p:cNvSpPr txBox="1">
            <a:spLocks noGrp="1"/>
          </p:cNvSpPr>
          <p:nvPr>
            <p:ph type="sldNum" sz="quarter" idx="7"/>
          </p:nvPr>
        </p:nvSpPr>
        <p:spPr>
          <a:xfrm>
            <a:off x="11067415" y="6428920"/>
            <a:ext cx="2444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15570">
              <a:spcBef>
                <a:spcPts val="40"/>
              </a:spcBef>
            </a:pPr>
            <a:fld id="{81D60167-4931-47E6-BA6A-407CBD079E47}" type="slidenum">
              <a:rPr lang="en-US" spc="-50" smtClean="0"/>
              <a:pPr marL="115570">
                <a:spcBef>
                  <a:spcPts val="40"/>
                </a:spcBef>
              </a:pPr>
              <a:t>172</a:t>
            </a:fld>
            <a:endParaRPr spc="-19" dirty="0"/>
          </a:p>
        </p:txBody>
      </p:sp>
      <p:sp>
        <p:nvSpPr>
          <p:cNvPr id="61" name="object 61"/>
          <p:cNvSpPr txBox="1"/>
          <p:nvPr/>
        </p:nvSpPr>
        <p:spPr>
          <a:xfrm>
            <a:off x="829595" y="4523613"/>
            <a:ext cx="1676876"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8</a:t>
            </a:r>
            <a:r>
              <a:rPr sz="900" spc="-15" dirty="0">
                <a:latin typeface="Courier New"/>
                <a:cs typeface="Courier New"/>
              </a:rPr>
              <a:t> </a:t>
            </a:r>
            <a:r>
              <a:rPr sz="900" dirty="0">
                <a:latin typeface="Courier New"/>
                <a:cs typeface="Courier New"/>
              </a:rPr>
              <a:t>rows</a:t>
            </a:r>
            <a:r>
              <a:rPr sz="900" spc="-11" dirty="0">
                <a:latin typeface="Courier New"/>
                <a:cs typeface="Courier New"/>
              </a:rPr>
              <a:t> </a:t>
            </a:r>
            <a:r>
              <a:rPr sz="900" dirty="0">
                <a:latin typeface="Courier New"/>
                <a:cs typeface="Courier New"/>
              </a:rPr>
              <a:t>in</a:t>
            </a:r>
            <a:r>
              <a:rPr sz="900" spc="-15" dirty="0">
                <a:latin typeface="Courier New"/>
                <a:cs typeface="Courier New"/>
              </a:rPr>
              <a:t> </a:t>
            </a:r>
            <a:r>
              <a:rPr sz="900" dirty="0">
                <a:latin typeface="Courier New"/>
                <a:cs typeface="Courier New"/>
              </a:rPr>
              <a:t>set</a:t>
            </a:r>
            <a:r>
              <a:rPr sz="900" spc="-11" dirty="0">
                <a:latin typeface="Courier New"/>
                <a:cs typeface="Courier New"/>
              </a:rPr>
              <a:t> </a:t>
            </a:r>
            <a:r>
              <a:rPr sz="900" dirty="0">
                <a:latin typeface="Courier New"/>
                <a:cs typeface="Courier New"/>
              </a:rPr>
              <a:t>(0.00</a:t>
            </a:r>
            <a:r>
              <a:rPr sz="900" spc="-11" dirty="0">
                <a:latin typeface="Courier New"/>
                <a:cs typeface="Courier New"/>
              </a:rPr>
              <a:t> </a:t>
            </a:r>
            <a:r>
              <a:rPr sz="900" spc="-15" dirty="0">
                <a:latin typeface="Courier New"/>
                <a:cs typeface="Courier New"/>
              </a:rPr>
              <a:t>sec)</a:t>
            </a:r>
            <a:endParaRPr sz="900">
              <a:latin typeface="Courier New"/>
              <a:cs typeface="Courier New"/>
            </a:endParaRPr>
          </a:p>
        </p:txBody>
      </p:sp>
      <p:sp>
        <p:nvSpPr>
          <p:cNvPr id="62" name="object 62"/>
          <p:cNvSpPr txBox="1"/>
          <p:nvPr/>
        </p:nvSpPr>
        <p:spPr>
          <a:xfrm>
            <a:off x="7271779" y="1147191"/>
            <a:ext cx="461010" cy="217367"/>
          </a:xfrm>
          <a:prstGeom prst="rect">
            <a:avLst/>
          </a:prstGeom>
        </p:spPr>
        <p:txBody>
          <a:bodyPr vert="horz" wrap="square" lIns="0" tIns="9525" rIns="0" bIns="0" rtlCol="0">
            <a:spAutoFit/>
          </a:bodyPr>
          <a:lstStyle/>
          <a:p>
            <a:pPr marL="9525">
              <a:spcBef>
                <a:spcPts val="75"/>
              </a:spcBef>
            </a:pPr>
            <a:r>
              <a:rPr sz="1350" spc="-8" dirty="0">
                <a:latin typeface="Calibri"/>
                <a:cs typeface="Calibri"/>
              </a:rPr>
              <a:t>Q5.sql</a:t>
            </a:r>
            <a:endParaRPr sz="1350">
              <a:latin typeface="Calibri"/>
              <a:cs typeface="Calibri"/>
            </a:endParaRPr>
          </a:p>
        </p:txBody>
      </p:sp>
    </p:spTree>
  </p:cSld>
  <p:clrMapOvr>
    <a:masterClrMapping/>
  </p:clrMapOvr>
  <p:transition spd="med"/>
</p:sld>
</file>

<file path=ppt/slides/slide1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0075" y="365961"/>
            <a:ext cx="5847160"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dirty="0"/>
              <a:t>Cursor2</a:t>
            </a:r>
            <a:r>
              <a:rPr spc="-64" dirty="0"/>
              <a:t> </a:t>
            </a:r>
            <a:r>
              <a:rPr dirty="0"/>
              <a:t>–</a:t>
            </a:r>
            <a:r>
              <a:rPr spc="-60" dirty="0"/>
              <a:t> </a:t>
            </a:r>
            <a:r>
              <a:rPr dirty="0"/>
              <a:t>Step</a:t>
            </a:r>
            <a:r>
              <a:rPr spc="-56" dirty="0"/>
              <a:t> </a:t>
            </a:r>
            <a:r>
              <a:rPr spc="-38" dirty="0"/>
              <a:t>2</a:t>
            </a:r>
          </a:p>
        </p:txBody>
      </p:sp>
      <p:sp>
        <p:nvSpPr>
          <p:cNvPr id="3" name="object 3"/>
          <p:cNvSpPr txBox="1"/>
          <p:nvPr/>
        </p:nvSpPr>
        <p:spPr>
          <a:xfrm>
            <a:off x="3190685" y="5673472"/>
            <a:ext cx="2762726" cy="148117"/>
          </a:xfrm>
          <a:prstGeom prst="rect">
            <a:avLst/>
          </a:prstGeom>
        </p:spPr>
        <p:txBody>
          <a:bodyPr vert="horz" wrap="square" lIns="0" tIns="9525" rIns="0" bIns="0" rtlCol="0">
            <a:spAutoFit/>
          </a:bodyPr>
          <a:lstStyle/>
          <a:p>
            <a:pPr marL="9525">
              <a:spcBef>
                <a:spcPts val="75"/>
              </a:spcBef>
            </a:pPr>
            <a:r>
              <a:rPr sz="900" spc="-8" dirty="0">
                <a:solidFill>
                  <a:srgbClr val="898989"/>
                </a:solidFill>
                <a:latin typeface="Calibri"/>
                <a:cs typeface="Calibri"/>
              </a:rPr>
              <a:t>Copyright</a:t>
            </a:r>
            <a:r>
              <a:rPr sz="900" spc="-11" dirty="0">
                <a:solidFill>
                  <a:srgbClr val="898989"/>
                </a:solidFill>
                <a:latin typeface="Calibri"/>
                <a:cs typeface="Calibri"/>
              </a:rPr>
              <a:t> </a:t>
            </a:r>
            <a:r>
              <a:rPr sz="900" dirty="0">
                <a:solidFill>
                  <a:srgbClr val="898989"/>
                </a:solidFill>
                <a:latin typeface="Calibri"/>
                <a:cs typeface="Calibri"/>
              </a:rPr>
              <a:t>©</a:t>
            </a:r>
            <a:r>
              <a:rPr sz="900" spc="-8" dirty="0">
                <a:solidFill>
                  <a:srgbClr val="898989"/>
                </a:solidFill>
                <a:latin typeface="Calibri"/>
                <a:cs typeface="Calibri"/>
              </a:rPr>
              <a:t> </a:t>
            </a:r>
            <a:r>
              <a:rPr sz="900" dirty="0">
                <a:solidFill>
                  <a:srgbClr val="898989"/>
                </a:solidFill>
                <a:latin typeface="Calibri"/>
                <a:cs typeface="Calibri"/>
              </a:rPr>
              <a:t>2016</a:t>
            </a:r>
            <a:r>
              <a:rPr sz="900" spc="-8" dirty="0">
                <a:solidFill>
                  <a:srgbClr val="898989"/>
                </a:solidFill>
                <a:latin typeface="Calibri"/>
                <a:cs typeface="Calibri"/>
              </a:rPr>
              <a:t> </a:t>
            </a:r>
            <a:r>
              <a:rPr sz="900" dirty="0">
                <a:solidFill>
                  <a:srgbClr val="898989"/>
                </a:solidFill>
                <a:latin typeface="Calibri"/>
                <a:cs typeface="Calibri"/>
              </a:rPr>
              <a:t>Ramez</a:t>
            </a:r>
            <a:r>
              <a:rPr sz="900" spc="-4" dirty="0">
                <a:solidFill>
                  <a:srgbClr val="898989"/>
                </a:solidFill>
                <a:latin typeface="Calibri"/>
                <a:cs typeface="Calibri"/>
              </a:rPr>
              <a:t> </a:t>
            </a:r>
            <a:r>
              <a:rPr sz="900" dirty="0">
                <a:solidFill>
                  <a:srgbClr val="898989"/>
                </a:solidFill>
                <a:latin typeface="Calibri"/>
                <a:cs typeface="Calibri"/>
              </a:rPr>
              <a:t>Elmasri</a:t>
            </a:r>
            <a:r>
              <a:rPr sz="900" spc="-11" dirty="0">
                <a:solidFill>
                  <a:srgbClr val="898989"/>
                </a:solidFill>
                <a:latin typeface="Calibri"/>
                <a:cs typeface="Calibri"/>
              </a:rPr>
              <a:t> </a:t>
            </a:r>
            <a:r>
              <a:rPr sz="900" dirty="0">
                <a:solidFill>
                  <a:srgbClr val="898989"/>
                </a:solidFill>
                <a:latin typeface="Calibri"/>
                <a:cs typeface="Calibri"/>
              </a:rPr>
              <a:t>and</a:t>
            </a:r>
            <a:r>
              <a:rPr sz="900" spc="-11" dirty="0">
                <a:solidFill>
                  <a:srgbClr val="898989"/>
                </a:solidFill>
                <a:latin typeface="Calibri"/>
                <a:cs typeface="Calibri"/>
              </a:rPr>
              <a:t> </a:t>
            </a:r>
            <a:r>
              <a:rPr sz="900" spc="-8" dirty="0">
                <a:solidFill>
                  <a:srgbClr val="898989"/>
                </a:solidFill>
                <a:latin typeface="Calibri"/>
                <a:cs typeface="Calibri"/>
              </a:rPr>
              <a:t>Shamkant</a:t>
            </a:r>
            <a:r>
              <a:rPr sz="900" spc="-11" dirty="0">
                <a:solidFill>
                  <a:srgbClr val="898989"/>
                </a:solidFill>
                <a:latin typeface="Calibri"/>
                <a:cs typeface="Calibri"/>
              </a:rPr>
              <a:t> </a:t>
            </a:r>
            <a:r>
              <a:rPr sz="900" dirty="0">
                <a:solidFill>
                  <a:srgbClr val="898989"/>
                </a:solidFill>
                <a:latin typeface="Calibri"/>
                <a:cs typeface="Calibri"/>
              </a:rPr>
              <a:t>B.</a:t>
            </a:r>
            <a:r>
              <a:rPr sz="900" spc="-8" dirty="0">
                <a:solidFill>
                  <a:srgbClr val="898989"/>
                </a:solidFill>
                <a:latin typeface="Calibri"/>
                <a:cs typeface="Calibri"/>
              </a:rPr>
              <a:t> Navathe</a:t>
            </a:r>
            <a:endParaRPr sz="900">
              <a:latin typeface="Calibri"/>
              <a:cs typeface="Calibri"/>
            </a:endParaRPr>
          </a:p>
        </p:txBody>
      </p:sp>
      <p:sp>
        <p:nvSpPr>
          <p:cNvPr id="4" name="object 4"/>
          <p:cNvSpPr txBox="1"/>
          <p:nvPr/>
        </p:nvSpPr>
        <p:spPr>
          <a:xfrm>
            <a:off x="8319612" y="5673472"/>
            <a:ext cx="135731" cy="148117"/>
          </a:xfrm>
          <a:prstGeom prst="rect">
            <a:avLst/>
          </a:prstGeom>
        </p:spPr>
        <p:txBody>
          <a:bodyPr vert="horz" wrap="square" lIns="0" tIns="9525" rIns="0" bIns="0" rtlCol="0">
            <a:spAutoFit/>
          </a:bodyPr>
          <a:lstStyle/>
          <a:p>
            <a:pPr marL="9525">
              <a:spcBef>
                <a:spcPts val="75"/>
              </a:spcBef>
            </a:pPr>
            <a:r>
              <a:rPr sz="900" spc="-19" dirty="0">
                <a:solidFill>
                  <a:srgbClr val="898989"/>
                </a:solidFill>
                <a:latin typeface="Calibri"/>
                <a:cs typeface="Calibri"/>
              </a:rPr>
              <a:t>39</a:t>
            </a:r>
            <a:endParaRPr sz="900">
              <a:latin typeface="Calibri"/>
              <a:cs typeface="Calibri"/>
            </a:endParaRPr>
          </a:p>
        </p:txBody>
      </p:sp>
      <p:sp>
        <p:nvSpPr>
          <p:cNvPr id="5" name="object 5"/>
          <p:cNvSpPr txBox="1"/>
          <p:nvPr/>
        </p:nvSpPr>
        <p:spPr>
          <a:xfrm>
            <a:off x="744854" y="1951864"/>
            <a:ext cx="5405913" cy="628377"/>
          </a:xfrm>
          <a:prstGeom prst="rect">
            <a:avLst/>
          </a:prstGeom>
        </p:spPr>
        <p:txBody>
          <a:bodyPr vert="horz" wrap="square" lIns="0" tIns="9525" rIns="0" bIns="0" rtlCol="0">
            <a:spAutoFit/>
          </a:bodyPr>
          <a:lstStyle/>
          <a:p>
            <a:pPr marL="9525">
              <a:spcBef>
                <a:spcPts val="75"/>
              </a:spcBef>
            </a:pPr>
            <a:r>
              <a:rPr sz="1350" dirty="0">
                <a:latin typeface="Courier New"/>
                <a:cs typeface="Courier New"/>
              </a:rPr>
              <a:t>mysql&gt;</a:t>
            </a:r>
            <a:r>
              <a:rPr sz="1350" spc="8" dirty="0">
                <a:latin typeface="Courier New"/>
                <a:cs typeface="Courier New"/>
              </a:rPr>
              <a:t> </a:t>
            </a:r>
            <a:r>
              <a:rPr sz="1350" dirty="0">
                <a:latin typeface="Courier New"/>
                <a:cs typeface="Courier New"/>
              </a:rPr>
              <a:t>delimiter</a:t>
            </a:r>
            <a:r>
              <a:rPr sz="1350" spc="8" dirty="0">
                <a:latin typeface="Courier New"/>
                <a:cs typeface="Courier New"/>
              </a:rPr>
              <a:t> </a:t>
            </a:r>
            <a:r>
              <a:rPr sz="1350" dirty="0">
                <a:latin typeface="Courier New"/>
                <a:cs typeface="Courier New"/>
              </a:rPr>
              <a:t>$$</a:t>
            </a:r>
            <a:r>
              <a:rPr sz="1350" spc="8" dirty="0">
                <a:latin typeface="Courier New"/>
                <a:cs typeface="Courier New"/>
              </a:rPr>
              <a:t> </a:t>
            </a:r>
            <a:r>
              <a:rPr sz="1350" spc="-38" dirty="0">
                <a:latin typeface="Courier New"/>
                <a:cs typeface="Courier New"/>
              </a:rPr>
              <a:t>;</a:t>
            </a:r>
            <a:endParaRPr sz="1350">
              <a:latin typeface="Courier New"/>
              <a:cs typeface="Courier New"/>
            </a:endParaRPr>
          </a:p>
          <a:p>
            <a:pPr marL="9525">
              <a:lnSpc>
                <a:spcPts val="1594"/>
              </a:lnSpc>
              <a:spcBef>
                <a:spcPts val="34"/>
              </a:spcBef>
            </a:pPr>
            <a:r>
              <a:rPr sz="1350" dirty="0">
                <a:latin typeface="Courier New"/>
                <a:cs typeface="Courier New"/>
              </a:rPr>
              <a:t>mysql&gt;</a:t>
            </a:r>
            <a:r>
              <a:rPr sz="1350" spc="8" dirty="0">
                <a:latin typeface="Courier New"/>
                <a:cs typeface="Courier New"/>
              </a:rPr>
              <a:t> </a:t>
            </a:r>
            <a:r>
              <a:rPr sz="1350" dirty="0">
                <a:latin typeface="Courier New"/>
                <a:cs typeface="Courier New"/>
              </a:rPr>
              <a:t>create</a:t>
            </a:r>
            <a:r>
              <a:rPr sz="1350" spc="8" dirty="0">
                <a:latin typeface="Courier New"/>
                <a:cs typeface="Courier New"/>
              </a:rPr>
              <a:t> </a:t>
            </a:r>
            <a:r>
              <a:rPr sz="1350" dirty="0">
                <a:latin typeface="Courier New"/>
                <a:cs typeface="Courier New"/>
              </a:rPr>
              <a:t>procedure</a:t>
            </a:r>
            <a:r>
              <a:rPr sz="1350" spc="8" dirty="0">
                <a:latin typeface="Courier New"/>
                <a:cs typeface="Courier New"/>
              </a:rPr>
              <a:t> </a:t>
            </a:r>
            <a:r>
              <a:rPr sz="1350" dirty="0">
                <a:latin typeface="Courier New"/>
                <a:cs typeface="Courier New"/>
              </a:rPr>
              <a:t>giveRaise</a:t>
            </a:r>
            <a:r>
              <a:rPr sz="1350" spc="8" dirty="0">
                <a:latin typeface="Courier New"/>
                <a:cs typeface="Courier New"/>
              </a:rPr>
              <a:t> </a:t>
            </a:r>
            <a:r>
              <a:rPr sz="1350" dirty="0">
                <a:latin typeface="Courier New"/>
                <a:cs typeface="Courier New"/>
              </a:rPr>
              <a:t>(in</a:t>
            </a:r>
            <a:r>
              <a:rPr sz="1350" spc="8" dirty="0">
                <a:latin typeface="Courier New"/>
                <a:cs typeface="Courier New"/>
              </a:rPr>
              <a:t> </a:t>
            </a:r>
            <a:r>
              <a:rPr sz="1350" dirty="0">
                <a:latin typeface="Courier New"/>
                <a:cs typeface="Courier New"/>
              </a:rPr>
              <a:t>amount</a:t>
            </a:r>
            <a:r>
              <a:rPr sz="1350" spc="8" dirty="0">
                <a:latin typeface="Courier New"/>
                <a:cs typeface="Courier New"/>
              </a:rPr>
              <a:t> </a:t>
            </a:r>
            <a:r>
              <a:rPr sz="1350" spc="-8" dirty="0">
                <a:latin typeface="Courier New"/>
                <a:cs typeface="Courier New"/>
              </a:rPr>
              <a:t>double)</a:t>
            </a:r>
            <a:endParaRPr sz="1350">
              <a:latin typeface="Courier New"/>
              <a:cs typeface="Courier New"/>
            </a:endParaRPr>
          </a:p>
          <a:p>
            <a:pPr marL="423863">
              <a:lnSpc>
                <a:spcPts val="1594"/>
              </a:lnSpc>
            </a:pPr>
            <a:r>
              <a:rPr sz="1350" dirty="0">
                <a:latin typeface="Courier New"/>
                <a:cs typeface="Courier New"/>
              </a:rPr>
              <a:t>-&gt;</a:t>
            </a:r>
            <a:r>
              <a:rPr sz="1350" spc="8" dirty="0">
                <a:latin typeface="Courier New"/>
                <a:cs typeface="Courier New"/>
              </a:rPr>
              <a:t> </a:t>
            </a:r>
            <a:r>
              <a:rPr sz="1350" spc="-8" dirty="0">
                <a:latin typeface="Courier New"/>
                <a:cs typeface="Courier New"/>
              </a:rPr>
              <a:t>begin</a:t>
            </a:r>
            <a:endParaRPr sz="1350">
              <a:latin typeface="Courier New"/>
              <a:cs typeface="Courier New"/>
            </a:endParaRPr>
          </a:p>
        </p:txBody>
      </p:sp>
      <p:sp>
        <p:nvSpPr>
          <p:cNvPr id="6" name="object 6"/>
          <p:cNvSpPr txBox="1"/>
          <p:nvPr/>
        </p:nvSpPr>
        <p:spPr>
          <a:xfrm>
            <a:off x="1159192" y="2571369"/>
            <a:ext cx="6648926" cy="2685351"/>
          </a:xfrm>
          <a:prstGeom prst="rect">
            <a:avLst/>
          </a:prstGeom>
        </p:spPr>
        <p:txBody>
          <a:bodyPr vert="horz" wrap="square" lIns="0" tIns="9525" rIns="0" bIns="0" rtlCol="0">
            <a:spAutoFit/>
          </a:bodyPr>
          <a:lstStyle/>
          <a:p>
            <a:pPr marL="9525">
              <a:spcBef>
                <a:spcPts val="75"/>
              </a:spcBef>
              <a:tabLst>
                <a:tab pos="527209" algn="l"/>
              </a:tabLst>
            </a:pPr>
            <a:r>
              <a:rPr sz="1350" dirty="0">
                <a:latin typeface="Courier New"/>
                <a:cs typeface="Courier New"/>
              </a:rPr>
              <a:t>-</a:t>
            </a:r>
            <a:r>
              <a:rPr sz="1350" spc="-38" dirty="0">
                <a:latin typeface="Courier New"/>
                <a:cs typeface="Courier New"/>
              </a:rPr>
              <a:t>&gt;</a:t>
            </a:r>
            <a:r>
              <a:rPr sz="1350" dirty="0">
                <a:latin typeface="Courier New"/>
                <a:cs typeface="Courier New"/>
              </a:rPr>
              <a:t>	declare</a:t>
            </a:r>
            <a:r>
              <a:rPr sz="1350" spc="8" dirty="0">
                <a:latin typeface="Courier New"/>
                <a:cs typeface="Courier New"/>
              </a:rPr>
              <a:t> </a:t>
            </a:r>
            <a:r>
              <a:rPr sz="1350" dirty="0">
                <a:latin typeface="Courier New"/>
                <a:cs typeface="Courier New"/>
              </a:rPr>
              <a:t>done</a:t>
            </a:r>
            <a:r>
              <a:rPr sz="1350" spc="8" dirty="0">
                <a:latin typeface="Courier New"/>
                <a:cs typeface="Courier New"/>
              </a:rPr>
              <a:t> </a:t>
            </a:r>
            <a:r>
              <a:rPr sz="1350" dirty="0">
                <a:latin typeface="Courier New"/>
                <a:cs typeface="Courier New"/>
              </a:rPr>
              <a:t>int</a:t>
            </a:r>
            <a:r>
              <a:rPr sz="1350" spc="8" dirty="0">
                <a:latin typeface="Courier New"/>
                <a:cs typeface="Courier New"/>
              </a:rPr>
              <a:t> </a:t>
            </a:r>
            <a:r>
              <a:rPr sz="1350" dirty="0">
                <a:latin typeface="Courier New"/>
                <a:cs typeface="Courier New"/>
              </a:rPr>
              <a:t>default</a:t>
            </a:r>
            <a:r>
              <a:rPr sz="1350" spc="8" dirty="0">
                <a:latin typeface="Courier New"/>
                <a:cs typeface="Courier New"/>
              </a:rPr>
              <a:t> </a:t>
            </a:r>
            <a:r>
              <a:rPr sz="1350" spc="-19" dirty="0">
                <a:latin typeface="Courier New"/>
                <a:cs typeface="Courier New"/>
              </a:rPr>
              <a:t>0;</a:t>
            </a:r>
            <a:endParaRPr sz="1350">
              <a:latin typeface="Courier New"/>
              <a:cs typeface="Courier New"/>
            </a:endParaRPr>
          </a:p>
          <a:p>
            <a:pPr marL="9525">
              <a:lnSpc>
                <a:spcPts val="1594"/>
              </a:lnSpc>
              <a:spcBef>
                <a:spcPts val="34"/>
              </a:spcBef>
              <a:tabLst>
                <a:tab pos="527209" algn="l"/>
              </a:tabLst>
            </a:pPr>
            <a:r>
              <a:rPr sz="1350" dirty="0">
                <a:latin typeface="Courier New"/>
                <a:cs typeface="Courier New"/>
              </a:rPr>
              <a:t>-</a:t>
            </a:r>
            <a:r>
              <a:rPr sz="1350" spc="-38" dirty="0">
                <a:latin typeface="Courier New"/>
                <a:cs typeface="Courier New"/>
              </a:rPr>
              <a:t>&gt;</a:t>
            </a:r>
            <a:r>
              <a:rPr sz="1350" dirty="0">
                <a:latin typeface="Courier New"/>
                <a:cs typeface="Courier New"/>
              </a:rPr>
              <a:t>	declare</a:t>
            </a:r>
            <a:r>
              <a:rPr sz="1350" spc="8" dirty="0">
                <a:latin typeface="Courier New"/>
                <a:cs typeface="Courier New"/>
              </a:rPr>
              <a:t> </a:t>
            </a:r>
            <a:r>
              <a:rPr sz="1350" dirty="0">
                <a:latin typeface="Courier New"/>
                <a:cs typeface="Courier New"/>
              </a:rPr>
              <a:t>essn</a:t>
            </a:r>
            <a:r>
              <a:rPr sz="1350" spc="8" dirty="0">
                <a:latin typeface="Courier New"/>
                <a:cs typeface="Courier New"/>
              </a:rPr>
              <a:t> </a:t>
            </a:r>
            <a:r>
              <a:rPr sz="1350" spc="-15" dirty="0">
                <a:latin typeface="Courier New"/>
                <a:cs typeface="Courier New"/>
              </a:rPr>
              <a:t>int;</a:t>
            </a:r>
            <a:endParaRPr sz="1350">
              <a:latin typeface="Courier New"/>
              <a:cs typeface="Courier New"/>
            </a:endParaRPr>
          </a:p>
          <a:p>
            <a:pPr marL="9525">
              <a:lnSpc>
                <a:spcPts val="1594"/>
              </a:lnSpc>
              <a:tabLst>
                <a:tab pos="527209" algn="l"/>
              </a:tabLst>
            </a:pPr>
            <a:r>
              <a:rPr sz="1350" dirty="0">
                <a:latin typeface="Courier New"/>
                <a:cs typeface="Courier New"/>
              </a:rPr>
              <a:t>-</a:t>
            </a:r>
            <a:r>
              <a:rPr sz="1350" spc="-38" dirty="0">
                <a:latin typeface="Courier New"/>
                <a:cs typeface="Courier New"/>
              </a:rPr>
              <a:t>&gt;</a:t>
            </a:r>
            <a:r>
              <a:rPr sz="1350" dirty="0">
                <a:latin typeface="Courier New"/>
                <a:cs typeface="Courier New"/>
              </a:rPr>
              <a:t>	declare</a:t>
            </a:r>
            <a:r>
              <a:rPr sz="1350" spc="8" dirty="0">
                <a:latin typeface="Courier New"/>
                <a:cs typeface="Courier New"/>
              </a:rPr>
              <a:t> </a:t>
            </a:r>
            <a:r>
              <a:rPr sz="1350" dirty="0">
                <a:latin typeface="Courier New"/>
                <a:cs typeface="Courier New"/>
              </a:rPr>
              <a:t>sal</a:t>
            </a:r>
            <a:r>
              <a:rPr sz="1350" spc="8" dirty="0">
                <a:latin typeface="Courier New"/>
                <a:cs typeface="Courier New"/>
              </a:rPr>
              <a:t> </a:t>
            </a:r>
            <a:r>
              <a:rPr sz="1350" spc="-15" dirty="0">
                <a:latin typeface="Courier New"/>
                <a:cs typeface="Courier New"/>
              </a:rPr>
              <a:t>int;</a:t>
            </a:r>
            <a:endParaRPr sz="1350">
              <a:latin typeface="Courier New"/>
              <a:cs typeface="Courier New"/>
            </a:endParaRPr>
          </a:p>
          <a:p>
            <a:pPr marL="9525">
              <a:lnSpc>
                <a:spcPts val="1594"/>
              </a:lnSpc>
              <a:spcBef>
                <a:spcPts val="38"/>
              </a:spcBef>
              <a:tabLst>
                <a:tab pos="527209" algn="l"/>
              </a:tabLst>
            </a:pPr>
            <a:r>
              <a:rPr sz="1350" dirty="0">
                <a:latin typeface="Courier New"/>
                <a:cs typeface="Courier New"/>
              </a:rPr>
              <a:t>-</a:t>
            </a:r>
            <a:r>
              <a:rPr sz="1350" spc="-38" dirty="0">
                <a:latin typeface="Courier New"/>
                <a:cs typeface="Courier New"/>
              </a:rPr>
              <a:t>&gt;</a:t>
            </a:r>
            <a:r>
              <a:rPr sz="1350" dirty="0">
                <a:latin typeface="Courier New"/>
                <a:cs typeface="Courier New"/>
              </a:rPr>
              <a:t>	declare</a:t>
            </a:r>
            <a:r>
              <a:rPr sz="1350" spc="8" dirty="0">
                <a:latin typeface="Courier New"/>
                <a:cs typeface="Courier New"/>
              </a:rPr>
              <a:t> </a:t>
            </a:r>
            <a:r>
              <a:rPr sz="1350" dirty="0">
                <a:latin typeface="Courier New"/>
                <a:cs typeface="Courier New"/>
              </a:rPr>
              <a:t>emprec</a:t>
            </a:r>
            <a:r>
              <a:rPr sz="1350" spc="8" dirty="0">
                <a:latin typeface="Courier New"/>
                <a:cs typeface="Courier New"/>
              </a:rPr>
              <a:t> </a:t>
            </a:r>
            <a:r>
              <a:rPr sz="1350" dirty="0">
                <a:latin typeface="Courier New"/>
                <a:cs typeface="Courier New"/>
              </a:rPr>
              <a:t>cursor</a:t>
            </a:r>
            <a:r>
              <a:rPr sz="1350" spc="8" dirty="0">
                <a:latin typeface="Courier New"/>
                <a:cs typeface="Courier New"/>
              </a:rPr>
              <a:t> </a:t>
            </a:r>
            <a:r>
              <a:rPr sz="1350" dirty="0">
                <a:latin typeface="Courier New"/>
                <a:cs typeface="Courier New"/>
              </a:rPr>
              <a:t>for</a:t>
            </a:r>
            <a:r>
              <a:rPr sz="1350" spc="8" dirty="0">
                <a:latin typeface="Courier New"/>
                <a:cs typeface="Courier New"/>
              </a:rPr>
              <a:t> </a:t>
            </a:r>
            <a:r>
              <a:rPr sz="1350" dirty="0">
                <a:latin typeface="Courier New"/>
                <a:cs typeface="Courier New"/>
              </a:rPr>
              <a:t>select</a:t>
            </a:r>
            <a:r>
              <a:rPr sz="1350" spc="8" dirty="0">
                <a:latin typeface="Courier New"/>
                <a:cs typeface="Courier New"/>
              </a:rPr>
              <a:t> </a:t>
            </a:r>
            <a:r>
              <a:rPr sz="1350" dirty="0">
                <a:latin typeface="Courier New"/>
                <a:cs typeface="Courier New"/>
              </a:rPr>
              <a:t>ssn,</a:t>
            </a:r>
            <a:r>
              <a:rPr sz="1350" spc="8" dirty="0">
                <a:latin typeface="Courier New"/>
                <a:cs typeface="Courier New"/>
              </a:rPr>
              <a:t> </a:t>
            </a:r>
            <a:r>
              <a:rPr sz="1350" dirty="0">
                <a:latin typeface="Courier New"/>
                <a:cs typeface="Courier New"/>
              </a:rPr>
              <a:t>salary</a:t>
            </a:r>
            <a:r>
              <a:rPr sz="1350" spc="8" dirty="0">
                <a:latin typeface="Courier New"/>
                <a:cs typeface="Courier New"/>
              </a:rPr>
              <a:t> </a:t>
            </a:r>
            <a:r>
              <a:rPr sz="1350" dirty="0">
                <a:latin typeface="Courier New"/>
                <a:cs typeface="Courier New"/>
              </a:rPr>
              <a:t>from</a:t>
            </a:r>
            <a:r>
              <a:rPr sz="1350" spc="8" dirty="0">
                <a:latin typeface="Courier New"/>
                <a:cs typeface="Courier New"/>
              </a:rPr>
              <a:t> </a:t>
            </a:r>
            <a:r>
              <a:rPr sz="1350" spc="-8" dirty="0">
                <a:latin typeface="Courier New"/>
                <a:cs typeface="Courier New"/>
              </a:rPr>
              <a:t>employee;</a:t>
            </a:r>
            <a:endParaRPr sz="1350">
              <a:latin typeface="Courier New"/>
              <a:cs typeface="Courier New"/>
            </a:endParaRPr>
          </a:p>
          <a:p>
            <a:pPr marL="9525">
              <a:lnSpc>
                <a:spcPts val="1594"/>
              </a:lnSpc>
              <a:tabLst>
                <a:tab pos="527209" algn="l"/>
              </a:tabLst>
            </a:pPr>
            <a:r>
              <a:rPr sz="1350" dirty="0">
                <a:latin typeface="Courier New"/>
                <a:cs typeface="Courier New"/>
              </a:rPr>
              <a:t>-</a:t>
            </a:r>
            <a:r>
              <a:rPr sz="1350" spc="-38" dirty="0">
                <a:latin typeface="Courier New"/>
                <a:cs typeface="Courier New"/>
              </a:rPr>
              <a:t>&gt;</a:t>
            </a:r>
            <a:r>
              <a:rPr sz="1350" dirty="0">
                <a:latin typeface="Courier New"/>
                <a:cs typeface="Courier New"/>
              </a:rPr>
              <a:t>	declare</a:t>
            </a:r>
            <a:r>
              <a:rPr sz="1350" spc="8" dirty="0">
                <a:latin typeface="Courier New"/>
                <a:cs typeface="Courier New"/>
              </a:rPr>
              <a:t> </a:t>
            </a:r>
            <a:r>
              <a:rPr sz="1350" dirty="0">
                <a:latin typeface="Courier New"/>
                <a:cs typeface="Courier New"/>
              </a:rPr>
              <a:t>continue</a:t>
            </a:r>
            <a:r>
              <a:rPr sz="1350" spc="8" dirty="0">
                <a:latin typeface="Courier New"/>
                <a:cs typeface="Courier New"/>
              </a:rPr>
              <a:t> </a:t>
            </a:r>
            <a:r>
              <a:rPr sz="1350" dirty="0">
                <a:latin typeface="Courier New"/>
                <a:cs typeface="Courier New"/>
              </a:rPr>
              <a:t>handler</a:t>
            </a:r>
            <a:r>
              <a:rPr sz="1350" spc="8" dirty="0">
                <a:latin typeface="Courier New"/>
                <a:cs typeface="Courier New"/>
              </a:rPr>
              <a:t> </a:t>
            </a:r>
            <a:r>
              <a:rPr sz="1350" dirty="0">
                <a:latin typeface="Courier New"/>
                <a:cs typeface="Courier New"/>
              </a:rPr>
              <a:t>for</a:t>
            </a:r>
            <a:r>
              <a:rPr sz="1350" spc="8" dirty="0">
                <a:latin typeface="Courier New"/>
                <a:cs typeface="Courier New"/>
              </a:rPr>
              <a:t> </a:t>
            </a:r>
            <a:r>
              <a:rPr sz="1350" dirty="0">
                <a:latin typeface="Courier New"/>
                <a:cs typeface="Courier New"/>
              </a:rPr>
              <a:t>not</a:t>
            </a:r>
            <a:r>
              <a:rPr sz="1350" spc="8" dirty="0">
                <a:latin typeface="Courier New"/>
                <a:cs typeface="Courier New"/>
              </a:rPr>
              <a:t> </a:t>
            </a:r>
            <a:r>
              <a:rPr sz="1350" dirty="0">
                <a:latin typeface="Courier New"/>
                <a:cs typeface="Courier New"/>
              </a:rPr>
              <a:t>found</a:t>
            </a:r>
            <a:r>
              <a:rPr sz="1350" spc="8" dirty="0">
                <a:latin typeface="Courier New"/>
                <a:cs typeface="Courier New"/>
              </a:rPr>
              <a:t> </a:t>
            </a:r>
            <a:r>
              <a:rPr sz="1350" dirty="0">
                <a:latin typeface="Courier New"/>
                <a:cs typeface="Courier New"/>
              </a:rPr>
              <a:t>set</a:t>
            </a:r>
            <a:r>
              <a:rPr sz="1350" spc="8" dirty="0">
                <a:latin typeface="Courier New"/>
                <a:cs typeface="Courier New"/>
              </a:rPr>
              <a:t> </a:t>
            </a:r>
            <a:r>
              <a:rPr sz="1350" dirty="0">
                <a:latin typeface="Courier New"/>
                <a:cs typeface="Courier New"/>
              </a:rPr>
              <a:t>done</a:t>
            </a:r>
            <a:r>
              <a:rPr sz="1350" spc="8" dirty="0">
                <a:latin typeface="Courier New"/>
                <a:cs typeface="Courier New"/>
              </a:rPr>
              <a:t> </a:t>
            </a:r>
            <a:r>
              <a:rPr sz="1350" dirty="0">
                <a:latin typeface="Courier New"/>
                <a:cs typeface="Courier New"/>
              </a:rPr>
              <a:t>=</a:t>
            </a:r>
            <a:r>
              <a:rPr sz="1350" spc="8" dirty="0">
                <a:latin typeface="Courier New"/>
                <a:cs typeface="Courier New"/>
              </a:rPr>
              <a:t> </a:t>
            </a:r>
            <a:r>
              <a:rPr sz="1350" spc="-19" dirty="0">
                <a:latin typeface="Courier New"/>
                <a:cs typeface="Courier New"/>
              </a:rPr>
              <a:t>1;</a:t>
            </a:r>
            <a:endParaRPr sz="1350">
              <a:latin typeface="Courier New"/>
              <a:cs typeface="Courier New"/>
            </a:endParaRPr>
          </a:p>
          <a:p>
            <a:pPr marL="9525">
              <a:spcBef>
                <a:spcPts val="38"/>
              </a:spcBef>
            </a:pPr>
            <a:r>
              <a:rPr sz="1350" dirty="0">
                <a:latin typeface="Courier New"/>
                <a:cs typeface="Courier New"/>
              </a:rPr>
              <a:t>-</a:t>
            </a:r>
            <a:r>
              <a:rPr sz="1350" spc="-38" dirty="0">
                <a:latin typeface="Courier New"/>
                <a:cs typeface="Courier New"/>
              </a:rPr>
              <a:t>&gt;</a:t>
            </a:r>
            <a:endParaRPr sz="1350">
              <a:latin typeface="Courier New"/>
              <a:cs typeface="Courier New"/>
            </a:endParaRPr>
          </a:p>
          <a:p>
            <a:pPr marL="9525">
              <a:lnSpc>
                <a:spcPts val="1594"/>
              </a:lnSpc>
              <a:spcBef>
                <a:spcPts val="34"/>
              </a:spcBef>
            </a:pPr>
            <a:r>
              <a:rPr sz="1350" dirty="0">
                <a:latin typeface="Courier New"/>
                <a:cs typeface="Courier New"/>
              </a:rPr>
              <a:t>-</a:t>
            </a:r>
            <a:r>
              <a:rPr sz="1350" spc="-38" dirty="0">
                <a:latin typeface="Courier New"/>
                <a:cs typeface="Courier New"/>
              </a:rPr>
              <a:t>&gt;</a:t>
            </a:r>
            <a:endParaRPr sz="1350">
              <a:latin typeface="Courier New"/>
              <a:cs typeface="Courier New"/>
            </a:endParaRPr>
          </a:p>
          <a:p>
            <a:pPr marL="9525">
              <a:lnSpc>
                <a:spcPts val="1594"/>
              </a:lnSpc>
            </a:pPr>
            <a:r>
              <a:rPr sz="1350" dirty="0">
                <a:latin typeface="Courier New"/>
                <a:cs typeface="Courier New"/>
              </a:rPr>
              <a:t>-</a:t>
            </a:r>
            <a:r>
              <a:rPr sz="1350" spc="-38" dirty="0">
                <a:latin typeface="Courier New"/>
                <a:cs typeface="Courier New"/>
              </a:rPr>
              <a:t>&gt;</a:t>
            </a:r>
            <a:endParaRPr sz="1350">
              <a:latin typeface="Courier New"/>
              <a:cs typeface="Courier New"/>
            </a:endParaRPr>
          </a:p>
          <a:p>
            <a:pPr marL="9525">
              <a:lnSpc>
                <a:spcPts val="1594"/>
              </a:lnSpc>
              <a:spcBef>
                <a:spcPts val="38"/>
              </a:spcBef>
            </a:pPr>
            <a:r>
              <a:rPr sz="1350" dirty="0">
                <a:latin typeface="Courier New"/>
                <a:cs typeface="Courier New"/>
              </a:rPr>
              <a:t>-</a:t>
            </a:r>
            <a:r>
              <a:rPr sz="1350" spc="-38" dirty="0">
                <a:latin typeface="Courier New"/>
                <a:cs typeface="Courier New"/>
              </a:rPr>
              <a:t>&gt;</a:t>
            </a:r>
            <a:endParaRPr sz="1350">
              <a:latin typeface="Courier New"/>
              <a:cs typeface="Courier New"/>
            </a:endParaRPr>
          </a:p>
          <a:p>
            <a:pPr marL="9525">
              <a:lnSpc>
                <a:spcPts val="1594"/>
              </a:lnSpc>
            </a:pPr>
            <a:r>
              <a:rPr sz="1350" dirty="0">
                <a:latin typeface="Courier New"/>
                <a:cs typeface="Courier New"/>
              </a:rPr>
              <a:t>-</a:t>
            </a:r>
            <a:r>
              <a:rPr sz="1350" spc="-38" dirty="0">
                <a:latin typeface="Courier New"/>
                <a:cs typeface="Courier New"/>
              </a:rPr>
              <a:t>&gt;</a:t>
            </a:r>
            <a:endParaRPr sz="1350">
              <a:latin typeface="Courier New"/>
              <a:cs typeface="Courier New"/>
            </a:endParaRPr>
          </a:p>
          <a:p>
            <a:pPr marL="9525">
              <a:spcBef>
                <a:spcPts val="34"/>
              </a:spcBef>
            </a:pPr>
            <a:r>
              <a:rPr sz="1350" dirty="0">
                <a:latin typeface="Courier New"/>
                <a:cs typeface="Courier New"/>
              </a:rPr>
              <a:t>-</a:t>
            </a:r>
            <a:r>
              <a:rPr sz="1350" spc="-38" dirty="0">
                <a:latin typeface="Courier New"/>
                <a:cs typeface="Courier New"/>
              </a:rPr>
              <a:t>&gt;</a:t>
            </a:r>
            <a:endParaRPr sz="1350">
              <a:latin typeface="Courier New"/>
              <a:cs typeface="Courier New"/>
            </a:endParaRPr>
          </a:p>
          <a:p>
            <a:pPr marL="9525">
              <a:lnSpc>
                <a:spcPts val="1594"/>
              </a:lnSpc>
              <a:spcBef>
                <a:spcPts val="38"/>
              </a:spcBef>
            </a:pPr>
            <a:r>
              <a:rPr sz="1350" dirty="0">
                <a:latin typeface="Courier New"/>
                <a:cs typeface="Courier New"/>
              </a:rPr>
              <a:t>-</a:t>
            </a:r>
            <a:r>
              <a:rPr sz="1350" spc="-38" dirty="0">
                <a:latin typeface="Courier New"/>
                <a:cs typeface="Courier New"/>
              </a:rPr>
              <a:t>&gt;</a:t>
            </a:r>
            <a:endParaRPr sz="1350">
              <a:latin typeface="Courier New"/>
              <a:cs typeface="Courier New"/>
            </a:endParaRPr>
          </a:p>
          <a:p>
            <a:pPr marL="9525">
              <a:lnSpc>
                <a:spcPts val="1594"/>
              </a:lnSpc>
            </a:pPr>
            <a:r>
              <a:rPr sz="1350" dirty="0">
                <a:latin typeface="Courier New"/>
                <a:cs typeface="Courier New"/>
              </a:rPr>
              <a:t>-</a:t>
            </a:r>
            <a:r>
              <a:rPr sz="1350" spc="-38" dirty="0">
                <a:latin typeface="Courier New"/>
                <a:cs typeface="Courier New"/>
              </a:rPr>
              <a:t>&gt;</a:t>
            </a:r>
            <a:endParaRPr sz="1350">
              <a:latin typeface="Courier New"/>
              <a:cs typeface="Courier New"/>
            </a:endParaRPr>
          </a:p>
        </p:txBody>
      </p:sp>
      <p:sp>
        <p:nvSpPr>
          <p:cNvPr id="7" name="object 7"/>
          <p:cNvSpPr txBox="1"/>
          <p:nvPr/>
        </p:nvSpPr>
        <p:spPr>
          <a:xfrm>
            <a:off x="1159192" y="5248275"/>
            <a:ext cx="226219" cy="217367"/>
          </a:xfrm>
          <a:prstGeom prst="rect">
            <a:avLst/>
          </a:prstGeom>
        </p:spPr>
        <p:txBody>
          <a:bodyPr vert="horz" wrap="square" lIns="0" tIns="9525" rIns="0" bIns="0" rtlCol="0">
            <a:spAutoFit/>
          </a:bodyPr>
          <a:lstStyle/>
          <a:p>
            <a:pPr marL="9525">
              <a:spcBef>
                <a:spcPts val="75"/>
              </a:spcBef>
            </a:pPr>
            <a:r>
              <a:rPr sz="1350" dirty="0">
                <a:latin typeface="Courier New"/>
                <a:cs typeface="Courier New"/>
              </a:rPr>
              <a:t>-</a:t>
            </a:r>
            <a:r>
              <a:rPr sz="1350" spc="-38" dirty="0">
                <a:latin typeface="Courier New"/>
                <a:cs typeface="Courier New"/>
              </a:rPr>
              <a:t>&gt;</a:t>
            </a:r>
            <a:endParaRPr sz="1350">
              <a:latin typeface="Courier New"/>
              <a:cs typeface="Courier New"/>
            </a:endParaRPr>
          </a:p>
        </p:txBody>
      </p:sp>
      <p:sp>
        <p:nvSpPr>
          <p:cNvPr id="8" name="object 8"/>
          <p:cNvSpPr txBox="1"/>
          <p:nvPr/>
        </p:nvSpPr>
        <p:spPr>
          <a:xfrm>
            <a:off x="1686639" y="3832212"/>
            <a:ext cx="4351020" cy="1656864"/>
          </a:xfrm>
          <a:prstGeom prst="rect">
            <a:avLst/>
          </a:prstGeom>
        </p:spPr>
        <p:txBody>
          <a:bodyPr vert="horz" wrap="square" lIns="0" tIns="0" rIns="0" bIns="0" rtlCol="0">
            <a:spAutoFit/>
          </a:bodyPr>
          <a:lstStyle/>
          <a:p>
            <a:pPr>
              <a:lnSpc>
                <a:spcPts val="1496"/>
              </a:lnSpc>
            </a:pPr>
            <a:r>
              <a:rPr sz="1350" dirty="0">
                <a:latin typeface="Courier New"/>
                <a:cs typeface="Courier New"/>
              </a:rPr>
              <a:t>open</a:t>
            </a:r>
            <a:r>
              <a:rPr sz="1350" spc="8" dirty="0">
                <a:latin typeface="Courier New"/>
                <a:cs typeface="Courier New"/>
              </a:rPr>
              <a:t> </a:t>
            </a:r>
            <a:r>
              <a:rPr sz="1350" spc="-8" dirty="0">
                <a:latin typeface="Courier New"/>
                <a:cs typeface="Courier New"/>
              </a:rPr>
              <a:t>emprec;</a:t>
            </a:r>
            <a:endParaRPr sz="1350">
              <a:latin typeface="Courier New"/>
              <a:cs typeface="Courier New"/>
            </a:endParaRPr>
          </a:p>
          <a:p>
            <a:pPr>
              <a:lnSpc>
                <a:spcPts val="1594"/>
              </a:lnSpc>
            </a:pPr>
            <a:r>
              <a:rPr sz="1350" spc="-8" dirty="0">
                <a:latin typeface="Courier New"/>
                <a:cs typeface="Courier New"/>
              </a:rPr>
              <a:t>repeat</a:t>
            </a:r>
            <a:endParaRPr sz="1350">
              <a:latin typeface="Courier New"/>
              <a:cs typeface="Courier New"/>
            </a:endParaRPr>
          </a:p>
          <a:p>
            <a:pPr marL="207169" marR="1237298">
              <a:lnSpc>
                <a:spcPts val="1568"/>
              </a:lnSpc>
              <a:spcBef>
                <a:spcPts val="131"/>
              </a:spcBef>
            </a:pPr>
            <a:r>
              <a:rPr sz="1350" dirty="0">
                <a:latin typeface="Courier New"/>
                <a:cs typeface="Courier New"/>
              </a:rPr>
              <a:t>fetch</a:t>
            </a:r>
            <a:r>
              <a:rPr sz="1350" spc="8" dirty="0">
                <a:latin typeface="Courier New"/>
                <a:cs typeface="Courier New"/>
              </a:rPr>
              <a:t> </a:t>
            </a:r>
            <a:r>
              <a:rPr sz="1350" dirty="0">
                <a:latin typeface="Courier New"/>
                <a:cs typeface="Courier New"/>
              </a:rPr>
              <a:t>emprec</a:t>
            </a:r>
            <a:r>
              <a:rPr sz="1350" spc="8" dirty="0">
                <a:latin typeface="Courier New"/>
                <a:cs typeface="Courier New"/>
              </a:rPr>
              <a:t> </a:t>
            </a:r>
            <a:r>
              <a:rPr sz="1350" dirty="0">
                <a:latin typeface="Courier New"/>
                <a:cs typeface="Courier New"/>
              </a:rPr>
              <a:t>into</a:t>
            </a:r>
            <a:r>
              <a:rPr sz="1350" spc="8" dirty="0">
                <a:latin typeface="Courier New"/>
                <a:cs typeface="Courier New"/>
              </a:rPr>
              <a:t> </a:t>
            </a:r>
            <a:r>
              <a:rPr sz="1350" dirty="0">
                <a:latin typeface="Courier New"/>
                <a:cs typeface="Courier New"/>
              </a:rPr>
              <a:t>essn,</a:t>
            </a:r>
            <a:r>
              <a:rPr sz="1350" spc="8" dirty="0">
                <a:latin typeface="Courier New"/>
                <a:cs typeface="Courier New"/>
              </a:rPr>
              <a:t> </a:t>
            </a:r>
            <a:r>
              <a:rPr sz="1350" spc="-15" dirty="0">
                <a:latin typeface="Courier New"/>
                <a:cs typeface="Courier New"/>
              </a:rPr>
              <a:t>sal; </a:t>
            </a:r>
            <a:r>
              <a:rPr sz="1350" dirty="0">
                <a:latin typeface="Courier New"/>
                <a:cs typeface="Courier New"/>
              </a:rPr>
              <a:t>update </a:t>
            </a:r>
            <a:r>
              <a:rPr sz="1350" spc="-8" dirty="0">
                <a:latin typeface="Courier New"/>
                <a:cs typeface="Courier New"/>
              </a:rPr>
              <a:t>employee</a:t>
            </a:r>
            <a:endParaRPr sz="1350">
              <a:latin typeface="Courier New"/>
              <a:cs typeface="Courier New"/>
            </a:endParaRPr>
          </a:p>
          <a:p>
            <a:pPr marL="414338">
              <a:lnSpc>
                <a:spcPts val="1658"/>
              </a:lnSpc>
              <a:spcBef>
                <a:spcPts val="15"/>
              </a:spcBef>
            </a:pPr>
            <a:r>
              <a:rPr sz="1350" dirty="0">
                <a:latin typeface="Courier New"/>
                <a:cs typeface="Courier New"/>
              </a:rPr>
              <a:t>set</a:t>
            </a:r>
            <a:r>
              <a:rPr sz="1350" spc="8" dirty="0">
                <a:latin typeface="Courier New"/>
                <a:cs typeface="Courier New"/>
              </a:rPr>
              <a:t> </a:t>
            </a:r>
            <a:r>
              <a:rPr sz="1350" dirty="0">
                <a:latin typeface="Courier New"/>
                <a:cs typeface="Courier New"/>
              </a:rPr>
              <a:t>salary</a:t>
            </a:r>
            <a:r>
              <a:rPr sz="1350" spc="8" dirty="0">
                <a:latin typeface="Courier New"/>
                <a:cs typeface="Courier New"/>
              </a:rPr>
              <a:t> </a:t>
            </a:r>
            <a:r>
              <a:rPr sz="1350" dirty="0">
                <a:latin typeface="Courier New"/>
                <a:cs typeface="Courier New"/>
              </a:rPr>
              <a:t>=</a:t>
            </a:r>
            <a:r>
              <a:rPr sz="1350" spc="8" dirty="0">
                <a:latin typeface="Courier New"/>
                <a:cs typeface="Courier New"/>
              </a:rPr>
              <a:t> </a:t>
            </a:r>
            <a:r>
              <a:rPr sz="1350" dirty="0">
                <a:latin typeface="Courier New"/>
                <a:cs typeface="Courier New"/>
              </a:rPr>
              <a:t>sal</a:t>
            </a:r>
            <a:r>
              <a:rPr sz="1350" spc="8" dirty="0">
                <a:latin typeface="Courier New"/>
                <a:cs typeface="Courier New"/>
              </a:rPr>
              <a:t> </a:t>
            </a:r>
            <a:r>
              <a:rPr sz="1350" dirty="0">
                <a:latin typeface="Courier New"/>
                <a:cs typeface="Courier New"/>
              </a:rPr>
              <a:t>+</a:t>
            </a:r>
            <a:r>
              <a:rPr sz="1350" spc="8" dirty="0">
                <a:latin typeface="Courier New"/>
                <a:cs typeface="Courier New"/>
              </a:rPr>
              <a:t> </a:t>
            </a:r>
            <a:r>
              <a:rPr sz="1350" dirty="0">
                <a:latin typeface="Courier New"/>
                <a:cs typeface="Courier New"/>
              </a:rPr>
              <a:t>round(sal</a:t>
            </a:r>
            <a:r>
              <a:rPr sz="1350" spc="8" dirty="0">
                <a:latin typeface="Courier New"/>
                <a:cs typeface="Courier New"/>
              </a:rPr>
              <a:t> </a:t>
            </a:r>
            <a:r>
              <a:rPr sz="1350" dirty="0">
                <a:latin typeface="Courier New"/>
                <a:cs typeface="Courier New"/>
              </a:rPr>
              <a:t>*</a:t>
            </a:r>
            <a:r>
              <a:rPr sz="1350" spc="8" dirty="0">
                <a:latin typeface="Courier New"/>
                <a:cs typeface="Courier New"/>
              </a:rPr>
              <a:t> </a:t>
            </a:r>
            <a:r>
              <a:rPr sz="1350" spc="-8" dirty="0">
                <a:latin typeface="Courier New"/>
                <a:cs typeface="Courier New"/>
              </a:rPr>
              <a:t>amount) </a:t>
            </a:r>
            <a:r>
              <a:rPr sz="1350" dirty="0">
                <a:latin typeface="Courier New"/>
                <a:cs typeface="Courier New"/>
              </a:rPr>
              <a:t>where</a:t>
            </a:r>
            <a:r>
              <a:rPr sz="1350" spc="8" dirty="0">
                <a:latin typeface="Courier New"/>
                <a:cs typeface="Courier New"/>
              </a:rPr>
              <a:t> </a:t>
            </a:r>
            <a:r>
              <a:rPr sz="1350" dirty="0">
                <a:latin typeface="Courier New"/>
                <a:cs typeface="Courier New"/>
              </a:rPr>
              <a:t>ssn</a:t>
            </a:r>
            <a:r>
              <a:rPr sz="1350" spc="8" dirty="0">
                <a:latin typeface="Courier New"/>
                <a:cs typeface="Courier New"/>
              </a:rPr>
              <a:t> </a:t>
            </a:r>
            <a:r>
              <a:rPr sz="1350" dirty="0">
                <a:latin typeface="Courier New"/>
                <a:cs typeface="Courier New"/>
              </a:rPr>
              <a:t>=</a:t>
            </a:r>
            <a:r>
              <a:rPr sz="1350" spc="8" dirty="0">
                <a:latin typeface="Courier New"/>
                <a:cs typeface="Courier New"/>
              </a:rPr>
              <a:t> </a:t>
            </a:r>
            <a:r>
              <a:rPr sz="1350" spc="-8" dirty="0">
                <a:latin typeface="Courier New"/>
                <a:cs typeface="Courier New"/>
              </a:rPr>
              <a:t>essn;</a:t>
            </a:r>
            <a:endParaRPr sz="1350">
              <a:latin typeface="Courier New"/>
              <a:cs typeface="Courier New"/>
            </a:endParaRPr>
          </a:p>
          <a:p>
            <a:pPr>
              <a:lnSpc>
                <a:spcPts val="1504"/>
              </a:lnSpc>
            </a:pPr>
            <a:r>
              <a:rPr sz="1350" dirty="0">
                <a:latin typeface="Courier New"/>
                <a:cs typeface="Courier New"/>
              </a:rPr>
              <a:t>until</a:t>
            </a:r>
            <a:r>
              <a:rPr sz="1350" spc="8" dirty="0">
                <a:latin typeface="Courier New"/>
                <a:cs typeface="Courier New"/>
              </a:rPr>
              <a:t> </a:t>
            </a:r>
            <a:r>
              <a:rPr sz="1350" spc="-15" dirty="0">
                <a:latin typeface="Courier New"/>
                <a:cs typeface="Courier New"/>
              </a:rPr>
              <a:t>done</a:t>
            </a:r>
            <a:endParaRPr sz="1350">
              <a:latin typeface="Courier New"/>
              <a:cs typeface="Courier New"/>
            </a:endParaRPr>
          </a:p>
          <a:p>
            <a:pPr>
              <a:spcBef>
                <a:spcPts val="38"/>
              </a:spcBef>
            </a:pPr>
            <a:r>
              <a:rPr sz="1350" dirty="0">
                <a:latin typeface="Courier New"/>
                <a:cs typeface="Courier New"/>
              </a:rPr>
              <a:t>end</a:t>
            </a:r>
            <a:r>
              <a:rPr sz="1350" spc="8" dirty="0">
                <a:latin typeface="Courier New"/>
                <a:cs typeface="Courier New"/>
              </a:rPr>
              <a:t> </a:t>
            </a:r>
            <a:r>
              <a:rPr sz="1350" spc="-8" dirty="0">
                <a:latin typeface="Courier New"/>
                <a:cs typeface="Courier New"/>
              </a:rPr>
              <a:t>repeat;</a:t>
            </a:r>
            <a:endParaRPr sz="1350">
              <a:latin typeface="Courier New"/>
              <a:cs typeface="Courier New"/>
            </a:endParaRPr>
          </a:p>
        </p:txBody>
      </p:sp>
      <p:sp>
        <p:nvSpPr>
          <p:cNvPr id="9" name="object 9"/>
          <p:cNvSpPr txBox="1"/>
          <p:nvPr/>
        </p:nvSpPr>
        <p:spPr>
          <a:xfrm>
            <a:off x="1159192" y="5447157"/>
            <a:ext cx="1055370" cy="217367"/>
          </a:xfrm>
          <a:prstGeom prst="rect">
            <a:avLst/>
          </a:prstGeom>
        </p:spPr>
        <p:txBody>
          <a:bodyPr vert="horz" wrap="square" lIns="0" tIns="9525" rIns="0" bIns="0" rtlCol="0">
            <a:spAutoFit/>
          </a:bodyPr>
          <a:lstStyle/>
          <a:p>
            <a:pPr marL="9525">
              <a:spcBef>
                <a:spcPts val="75"/>
              </a:spcBef>
            </a:pPr>
            <a:r>
              <a:rPr sz="1350" dirty="0">
                <a:latin typeface="Courier New"/>
                <a:cs typeface="Courier New"/>
              </a:rPr>
              <a:t>-&gt;</a:t>
            </a:r>
            <a:r>
              <a:rPr sz="1350" spc="8" dirty="0">
                <a:latin typeface="Courier New"/>
                <a:cs typeface="Courier New"/>
              </a:rPr>
              <a:t> </a:t>
            </a:r>
            <a:r>
              <a:rPr sz="1350" dirty="0">
                <a:latin typeface="Courier New"/>
                <a:cs typeface="Courier New"/>
              </a:rPr>
              <a:t>end;</a:t>
            </a:r>
            <a:r>
              <a:rPr sz="1350" spc="8" dirty="0">
                <a:latin typeface="Courier New"/>
                <a:cs typeface="Courier New"/>
              </a:rPr>
              <a:t> </a:t>
            </a:r>
            <a:r>
              <a:rPr sz="1350" spc="-19" dirty="0">
                <a:latin typeface="Courier New"/>
                <a:cs typeface="Courier New"/>
              </a:rPr>
              <a:t>$$</a:t>
            </a:r>
            <a:endParaRPr sz="1350">
              <a:latin typeface="Courier New"/>
              <a:cs typeface="Courier New"/>
            </a:endParaRPr>
          </a:p>
        </p:txBody>
      </p:sp>
      <p:sp>
        <p:nvSpPr>
          <p:cNvPr id="10" name="object 10"/>
          <p:cNvSpPr txBox="1"/>
          <p:nvPr/>
        </p:nvSpPr>
        <p:spPr>
          <a:xfrm>
            <a:off x="744854" y="5657469"/>
            <a:ext cx="2194560" cy="217367"/>
          </a:xfrm>
          <a:prstGeom prst="rect">
            <a:avLst/>
          </a:prstGeom>
        </p:spPr>
        <p:txBody>
          <a:bodyPr vert="horz" wrap="square" lIns="0" tIns="9525" rIns="0" bIns="0" rtlCol="0">
            <a:spAutoFit/>
          </a:bodyPr>
          <a:lstStyle/>
          <a:p>
            <a:pPr marL="9525">
              <a:spcBef>
                <a:spcPts val="75"/>
              </a:spcBef>
            </a:pPr>
            <a:r>
              <a:rPr sz="1350" dirty="0">
                <a:latin typeface="Courier New"/>
                <a:cs typeface="Courier New"/>
              </a:rPr>
              <a:t>mysql&gt;</a:t>
            </a:r>
            <a:r>
              <a:rPr sz="1350" spc="8" dirty="0">
                <a:latin typeface="Courier New"/>
                <a:cs typeface="Courier New"/>
              </a:rPr>
              <a:t> </a:t>
            </a:r>
            <a:r>
              <a:rPr sz="1350" dirty="0">
                <a:latin typeface="Courier New"/>
                <a:cs typeface="Courier New"/>
              </a:rPr>
              <a:t>delimiter</a:t>
            </a:r>
            <a:r>
              <a:rPr sz="1350" spc="8" dirty="0">
                <a:latin typeface="Courier New"/>
                <a:cs typeface="Courier New"/>
              </a:rPr>
              <a:t> </a:t>
            </a:r>
            <a:r>
              <a:rPr sz="1350" dirty="0">
                <a:latin typeface="Courier New"/>
                <a:cs typeface="Courier New"/>
              </a:rPr>
              <a:t>;</a:t>
            </a:r>
            <a:r>
              <a:rPr sz="1350" spc="8" dirty="0">
                <a:latin typeface="Courier New"/>
                <a:cs typeface="Courier New"/>
              </a:rPr>
              <a:t> </a:t>
            </a:r>
            <a:r>
              <a:rPr sz="1350" spc="-19" dirty="0">
                <a:latin typeface="Courier New"/>
                <a:cs typeface="Courier New"/>
              </a:rPr>
              <a:t>$$</a:t>
            </a:r>
            <a:endParaRPr sz="1350">
              <a:latin typeface="Courier New"/>
              <a:cs typeface="Courier New"/>
            </a:endParaRPr>
          </a:p>
        </p:txBody>
      </p:sp>
      <p:sp>
        <p:nvSpPr>
          <p:cNvPr id="11" name="object 11"/>
          <p:cNvSpPr txBox="1"/>
          <p:nvPr/>
        </p:nvSpPr>
        <p:spPr>
          <a:xfrm>
            <a:off x="1623848" y="3798061"/>
            <a:ext cx="4745831" cy="959237"/>
          </a:xfrm>
          <a:prstGeom prst="rect">
            <a:avLst/>
          </a:prstGeom>
          <a:solidFill>
            <a:srgbClr val="4472C4"/>
          </a:solidFill>
          <a:ln w="12700">
            <a:solidFill>
              <a:srgbClr val="2F528F"/>
            </a:solidFill>
          </a:ln>
        </p:spPr>
        <p:txBody>
          <a:bodyPr vert="horz" wrap="square" lIns="0" tIns="0" rIns="0" bIns="0" rtlCol="0">
            <a:spAutoFit/>
          </a:bodyPr>
          <a:lstStyle/>
          <a:p>
            <a:pPr>
              <a:lnSpc>
                <a:spcPct val="100000"/>
              </a:lnSpc>
            </a:pPr>
            <a:endParaRPr sz="1350">
              <a:latin typeface="Times New Roman"/>
              <a:cs typeface="Times New Roman"/>
            </a:endParaRPr>
          </a:p>
          <a:p>
            <a:pPr>
              <a:lnSpc>
                <a:spcPct val="100000"/>
              </a:lnSpc>
            </a:pPr>
            <a:endParaRPr sz="1350">
              <a:latin typeface="Times New Roman"/>
              <a:cs typeface="Times New Roman"/>
            </a:endParaRPr>
          </a:p>
          <a:p>
            <a:pPr>
              <a:spcBef>
                <a:spcPts val="1001"/>
              </a:spcBef>
            </a:pPr>
            <a:endParaRPr sz="1350">
              <a:latin typeface="Times New Roman"/>
              <a:cs typeface="Times New Roman"/>
            </a:endParaRPr>
          </a:p>
          <a:p>
            <a:pPr algn="ctr">
              <a:spcBef>
                <a:spcPts val="4"/>
              </a:spcBef>
            </a:pPr>
            <a:r>
              <a:rPr sz="1350" dirty="0">
                <a:solidFill>
                  <a:srgbClr val="FFFFFF"/>
                </a:solidFill>
                <a:latin typeface="Calibri"/>
                <a:cs typeface="Calibri"/>
              </a:rPr>
              <a:t>//</a:t>
            </a:r>
            <a:r>
              <a:rPr sz="1350" spc="-23" dirty="0">
                <a:solidFill>
                  <a:srgbClr val="FFFFFF"/>
                </a:solidFill>
                <a:latin typeface="Calibri"/>
                <a:cs typeface="Calibri"/>
              </a:rPr>
              <a:t> </a:t>
            </a:r>
            <a:r>
              <a:rPr sz="1350" dirty="0">
                <a:solidFill>
                  <a:srgbClr val="FFFFFF"/>
                </a:solidFill>
                <a:latin typeface="Calibri"/>
                <a:cs typeface="Calibri"/>
              </a:rPr>
              <a:t>Add</a:t>
            </a:r>
            <a:r>
              <a:rPr sz="1350" spc="-19" dirty="0">
                <a:solidFill>
                  <a:srgbClr val="FFFFFF"/>
                </a:solidFill>
                <a:latin typeface="Calibri"/>
                <a:cs typeface="Calibri"/>
              </a:rPr>
              <a:t> </a:t>
            </a:r>
            <a:r>
              <a:rPr sz="1350" dirty="0">
                <a:solidFill>
                  <a:srgbClr val="FFFFFF"/>
                </a:solidFill>
                <a:latin typeface="Calibri"/>
                <a:cs typeface="Calibri"/>
              </a:rPr>
              <a:t>your</a:t>
            </a:r>
            <a:r>
              <a:rPr sz="1350" spc="-26" dirty="0">
                <a:solidFill>
                  <a:srgbClr val="FFFFFF"/>
                </a:solidFill>
                <a:latin typeface="Calibri"/>
                <a:cs typeface="Calibri"/>
              </a:rPr>
              <a:t> </a:t>
            </a:r>
            <a:r>
              <a:rPr sz="1350" dirty="0">
                <a:solidFill>
                  <a:srgbClr val="FFFFFF"/>
                </a:solidFill>
                <a:latin typeface="Calibri"/>
                <a:cs typeface="Calibri"/>
              </a:rPr>
              <a:t>code</a:t>
            </a:r>
            <a:r>
              <a:rPr sz="1350" spc="-19" dirty="0">
                <a:solidFill>
                  <a:srgbClr val="FFFFFF"/>
                </a:solidFill>
                <a:latin typeface="Calibri"/>
                <a:cs typeface="Calibri"/>
              </a:rPr>
              <a:t> </a:t>
            </a:r>
            <a:r>
              <a:rPr sz="1350" spc="-15" dirty="0">
                <a:solidFill>
                  <a:srgbClr val="FFFFFF"/>
                </a:solidFill>
                <a:latin typeface="Calibri"/>
                <a:cs typeface="Calibri"/>
              </a:rPr>
              <a:t>here</a:t>
            </a:r>
            <a:endParaRPr sz="1350">
              <a:latin typeface="Calibri"/>
              <a:cs typeface="Calibri"/>
            </a:endParaRPr>
          </a:p>
        </p:txBody>
      </p:sp>
      <p:sp>
        <p:nvSpPr>
          <p:cNvPr id="12" name="object 12"/>
          <p:cNvSpPr txBox="1"/>
          <p:nvPr/>
        </p:nvSpPr>
        <p:spPr>
          <a:xfrm>
            <a:off x="7271779" y="1147191"/>
            <a:ext cx="461010" cy="217367"/>
          </a:xfrm>
          <a:prstGeom prst="rect">
            <a:avLst/>
          </a:prstGeom>
        </p:spPr>
        <p:txBody>
          <a:bodyPr vert="horz" wrap="square" lIns="0" tIns="9525" rIns="0" bIns="0" rtlCol="0">
            <a:spAutoFit/>
          </a:bodyPr>
          <a:lstStyle/>
          <a:p>
            <a:pPr marL="9525">
              <a:spcBef>
                <a:spcPts val="75"/>
              </a:spcBef>
            </a:pPr>
            <a:r>
              <a:rPr sz="1350" spc="-8" dirty="0">
                <a:latin typeface="Calibri"/>
                <a:cs typeface="Calibri"/>
              </a:rPr>
              <a:t>Q5.sql</a:t>
            </a:r>
            <a:endParaRPr sz="1350">
              <a:latin typeface="Calibri"/>
              <a:cs typeface="Calibri"/>
            </a:endParaRPr>
          </a:p>
        </p:txBody>
      </p:sp>
    </p:spTree>
  </p:cSld>
  <p:clrMapOvr>
    <a:masterClrMapping/>
  </p:clrMapOvr>
  <p:transition spd="med"/>
</p:sld>
</file>

<file path=ppt/slides/slide1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2807518" y="555127"/>
            <a:ext cx="2788920" cy="517449"/>
          </a:xfrm>
          <a:prstGeom prst="rect">
            <a:avLst/>
          </a:prstGeom>
        </p:spPr>
        <p:txBody>
          <a:bodyPr vert="horz" wrap="square" lIns="0" tIns="9525" rIns="0" bIns="0" rtlCol="0">
            <a:spAutoFit/>
          </a:bodyPr>
          <a:lstStyle/>
          <a:p>
            <a:pPr marL="9525">
              <a:spcBef>
                <a:spcPts val="75"/>
              </a:spcBef>
            </a:pPr>
            <a:r>
              <a:rPr sz="3300" dirty="0">
                <a:latin typeface="Calibri Light"/>
                <a:cs typeface="Calibri Light"/>
              </a:rPr>
              <a:t>Cursor2</a:t>
            </a:r>
            <a:r>
              <a:rPr sz="3300" spc="-64" dirty="0">
                <a:latin typeface="Calibri Light"/>
                <a:cs typeface="Calibri Light"/>
              </a:rPr>
              <a:t> </a:t>
            </a:r>
            <a:r>
              <a:rPr sz="3300" dirty="0">
                <a:latin typeface="Calibri Light"/>
                <a:cs typeface="Calibri Light"/>
              </a:rPr>
              <a:t>–</a:t>
            </a:r>
            <a:r>
              <a:rPr sz="3300" spc="-60" dirty="0">
                <a:latin typeface="Calibri Light"/>
                <a:cs typeface="Calibri Light"/>
              </a:rPr>
              <a:t> </a:t>
            </a:r>
            <a:r>
              <a:rPr sz="3300" dirty="0">
                <a:latin typeface="Calibri Light"/>
                <a:cs typeface="Calibri Light"/>
              </a:rPr>
              <a:t>Step</a:t>
            </a:r>
            <a:r>
              <a:rPr sz="3300" spc="-56" dirty="0">
                <a:latin typeface="Calibri Light"/>
                <a:cs typeface="Calibri Light"/>
              </a:rPr>
              <a:t> </a:t>
            </a:r>
            <a:r>
              <a:rPr sz="3300" spc="-38" dirty="0">
                <a:latin typeface="Calibri Light"/>
                <a:cs typeface="Calibri Light"/>
              </a:rPr>
              <a:t>3</a:t>
            </a:r>
            <a:endParaRPr sz="3300" dirty="0">
              <a:latin typeface="Calibri Light"/>
              <a:cs typeface="Calibri Light"/>
            </a:endParaRPr>
          </a:p>
        </p:txBody>
      </p:sp>
      <p:sp>
        <p:nvSpPr>
          <p:cNvPr id="3" name="object 3"/>
          <p:cNvSpPr txBox="1"/>
          <p:nvPr/>
        </p:nvSpPr>
        <p:spPr>
          <a:xfrm>
            <a:off x="752737" y="2267332"/>
            <a:ext cx="2505551" cy="299441"/>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mysql&gt;</a:t>
            </a:r>
            <a:r>
              <a:rPr sz="900" spc="-26" dirty="0">
                <a:latin typeface="Courier New"/>
                <a:cs typeface="Courier New"/>
              </a:rPr>
              <a:t> </a:t>
            </a:r>
            <a:r>
              <a:rPr sz="900" dirty="0">
                <a:latin typeface="Courier New"/>
                <a:cs typeface="Courier New"/>
              </a:rPr>
              <a:t>call</a:t>
            </a:r>
            <a:r>
              <a:rPr sz="900" spc="-23" dirty="0">
                <a:latin typeface="Courier New"/>
                <a:cs typeface="Courier New"/>
              </a:rPr>
              <a:t> </a:t>
            </a:r>
            <a:r>
              <a:rPr sz="900" spc="-8" dirty="0">
                <a:latin typeface="Courier New"/>
                <a:cs typeface="Courier New"/>
              </a:rPr>
              <a:t>giveRaise(0.1);</a:t>
            </a:r>
            <a:endParaRPr sz="900">
              <a:latin typeface="Courier New"/>
              <a:cs typeface="Courier New"/>
            </a:endParaRPr>
          </a:p>
          <a:p>
            <a:pPr marL="9525">
              <a:spcBef>
                <a:spcPts val="53"/>
              </a:spcBef>
            </a:pPr>
            <a:r>
              <a:rPr sz="900" dirty="0">
                <a:latin typeface="Courier New"/>
                <a:cs typeface="Courier New"/>
              </a:rPr>
              <a:t>Query</a:t>
            </a:r>
            <a:r>
              <a:rPr sz="900" spc="-23" dirty="0">
                <a:latin typeface="Courier New"/>
                <a:cs typeface="Courier New"/>
              </a:rPr>
              <a:t> </a:t>
            </a:r>
            <a:r>
              <a:rPr sz="900" dirty="0">
                <a:latin typeface="Courier New"/>
                <a:cs typeface="Courier New"/>
              </a:rPr>
              <a:t>OK,</a:t>
            </a:r>
            <a:r>
              <a:rPr sz="900" spc="-19" dirty="0">
                <a:latin typeface="Courier New"/>
                <a:cs typeface="Courier New"/>
              </a:rPr>
              <a:t> </a:t>
            </a:r>
            <a:r>
              <a:rPr sz="900" dirty="0">
                <a:latin typeface="Courier New"/>
                <a:cs typeface="Courier New"/>
              </a:rPr>
              <a:t>0</a:t>
            </a:r>
            <a:r>
              <a:rPr sz="900" spc="-19" dirty="0">
                <a:latin typeface="Courier New"/>
                <a:cs typeface="Courier New"/>
              </a:rPr>
              <a:t> </a:t>
            </a:r>
            <a:r>
              <a:rPr sz="900" dirty="0">
                <a:latin typeface="Courier New"/>
                <a:cs typeface="Courier New"/>
              </a:rPr>
              <a:t>rows</a:t>
            </a:r>
            <a:r>
              <a:rPr sz="900" spc="-23" dirty="0">
                <a:latin typeface="Courier New"/>
                <a:cs typeface="Courier New"/>
              </a:rPr>
              <a:t> </a:t>
            </a:r>
            <a:r>
              <a:rPr sz="900" dirty="0">
                <a:latin typeface="Courier New"/>
                <a:cs typeface="Courier New"/>
              </a:rPr>
              <a:t>affected</a:t>
            </a:r>
            <a:r>
              <a:rPr sz="900" spc="-19" dirty="0">
                <a:latin typeface="Courier New"/>
                <a:cs typeface="Courier New"/>
              </a:rPr>
              <a:t> </a:t>
            </a:r>
            <a:r>
              <a:rPr sz="900" dirty="0">
                <a:latin typeface="Courier New"/>
                <a:cs typeface="Courier New"/>
              </a:rPr>
              <a:t>(0.01</a:t>
            </a:r>
            <a:r>
              <a:rPr sz="900" spc="-19" dirty="0">
                <a:latin typeface="Courier New"/>
                <a:cs typeface="Courier New"/>
              </a:rPr>
              <a:t> </a:t>
            </a:r>
            <a:r>
              <a:rPr sz="900" spc="-15" dirty="0">
                <a:latin typeface="Courier New"/>
                <a:cs typeface="Courier New"/>
              </a:rPr>
              <a:t>sec)</a:t>
            </a:r>
            <a:endParaRPr sz="900">
              <a:latin typeface="Courier New"/>
              <a:cs typeface="Courier New"/>
            </a:endParaRPr>
          </a:p>
        </p:txBody>
      </p:sp>
      <p:sp>
        <p:nvSpPr>
          <p:cNvPr id="4" name="object 4"/>
          <p:cNvSpPr/>
          <p:nvPr/>
        </p:nvSpPr>
        <p:spPr>
          <a:xfrm>
            <a:off x="831318" y="3041237"/>
            <a:ext cx="691039" cy="0"/>
          </a:xfrm>
          <a:custGeom>
            <a:avLst/>
            <a:gdLst/>
            <a:ahLst/>
            <a:cxnLst/>
            <a:rect l="l" t="t" r="r" b="b"/>
            <a:pathLst>
              <a:path w="921385">
                <a:moveTo>
                  <a:pt x="0" y="0"/>
                </a:moveTo>
                <a:lnTo>
                  <a:pt x="920800" y="0"/>
                </a:lnTo>
              </a:path>
            </a:pathLst>
          </a:custGeom>
          <a:ln w="12649">
            <a:solidFill>
              <a:srgbClr val="000000"/>
            </a:solidFill>
            <a:prstDash val="dash"/>
          </a:ln>
        </p:spPr>
        <p:txBody>
          <a:bodyPr wrap="square" lIns="0" tIns="0" rIns="0" bIns="0" rtlCol="0"/>
          <a:lstStyle/>
          <a:p>
            <a:endParaRPr sz="1800"/>
          </a:p>
        </p:txBody>
      </p:sp>
      <p:sp>
        <p:nvSpPr>
          <p:cNvPr id="5" name="object 5"/>
          <p:cNvSpPr/>
          <p:nvPr/>
        </p:nvSpPr>
        <p:spPr>
          <a:xfrm>
            <a:off x="1590938" y="3041237"/>
            <a:ext cx="483870" cy="0"/>
          </a:xfrm>
          <a:custGeom>
            <a:avLst/>
            <a:gdLst/>
            <a:ahLst/>
            <a:cxnLst/>
            <a:rect l="l" t="t" r="r" b="b"/>
            <a:pathLst>
              <a:path w="645160">
                <a:moveTo>
                  <a:pt x="0" y="0"/>
                </a:moveTo>
                <a:lnTo>
                  <a:pt x="644560" y="0"/>
                </a:lnTo>
              </a:path>
            </a:pathLst>
          </a:custGeom>
          <a:ln w="12649">
            <a:solidFill>
              <a:srgbClr val="000000"/>
            </a:solidFill>
            <a:prstDash val="dash"/>
          </a:ln>
        </p:spPr>
        <p:txBody>
          <a:bodyPr wrap="square" lIns="0" tIns="0" rIns="0" bIns="0" rtlCol="0"/>
          <a:lstStyle/>
          <a:p>
            <a:endParaRPr sz="1800"/>
          </a:p>
        </p:txBody>
      </p:sp>
      <p:sp>
        <p:nvSpPr>
          <p:cNvPr id="6" name="object 6"/>
          <p:cNvSpPr/>
          <p:nvPr/>
        </p:nvSpPr>
        <p:spPr>
          <a:xfrm>
            <a:off x="2143387" y="3041237"/>
            <a:ext cx="621983" cy="0"/>
          </a:xfrm>
          <a:custGeom>
            <a:avLst/>
            <a:gdLst/>
            <a:ahLst/>
            <a:cxnLst/>
            <a:rect l="l" t="t" r="r" b="b"/>
            <a:pathLst>
              <a:path w="829310">
                <a:moveTo>
                  <a:pt x="0" y="0"/>
                </a:moveTo>
                <a:lnTo>
                  <a:pt x="828720" y="0"/>
                </a:lnTo>
              </a:path>
            </a:pathLst>
          </a:custGeom>
          <a:ln w="12649">
            <a:solidFill>
              <a:srgbClr val="000000"/>
            </a:solidFill>
            <a:prstDash val="dash"/>
          </a:ln>
        </p:spPr>
        <p:txBody>
          <a:bodyPr wrap="square" lIns="0" tIns="0" rIns="0" bIns="0" rtlCol="0"/>
          <a:lstStyle/>
          <a:p>
            <a:endParaRPr sz="1800"/>
          </a:p>
        </p:txBody>
      </p:sp>
      <p:sp>
        <p:nvSpPr>
          <p:cNvPr id="7" name="object 7"/>
          <p:cNvSpPr txBox="1"/>
          <p:nvPr/>
        </p:nvSpPr>
        <p:spPr>
          <a:xfrm>
            <a:off x="752737" y="2820543"/>
            <a:ext cx="2091214" cy="291747"/>
          </a:xfrm>
          <a:prstGeom prst="rect">
            <a:avLst/>
          </a:prstGeom>
        </p:spPr>
        <p:txBody>
          <a:bodyPr vert="horz" wrap="square" lIns="0" tIns="9525" rIns="0" bIns="0" rtlCol="0">
            <a:spAutoFit/>
          </a:bodyPr>
          <a:lstStyle/>
          <a:p>
            <a:pPr marL="9525">
              <a:lnSpc>
                <a:spcPts val="1061"/>
              </a:lnSpc>
              <a:spcBef>
                <a:spcPts val="75"/>
              </a:spcBef>
            </a:pPr>
            <a:r>
              <a:rPr sz="900" dirty="0">
                <a:latin typeface="Courier New"/>
                <a:cs typeface="Courier New"/>
              </a:rPr>
              <a:t>mysql&gt;</a:t>
            </a:r>
            <a:r>
              <a:rPr sz="900" spc="-23" dirty="0">
                <a:latin typeface="Courier New"/>
                <a:cs typeface="Courier New"/>
              </a:rPr>
              <a:t> </a:t>
            </a:r>
            <a:r>
              <a:rPr sz="900" dirty="0">
                <a:latin typeface="Courier New"/>
                <a:cs typeface="Courier New"/>
              </a:rPr>
              <a:t>select</a:t>
            </a:r>
            <a:r>
              <a:rPr sz="900" spc="-19" dirty="0">
                <a:latin typeface="Courier New"/>
                <a:cs typeface="Courier New"/>
              </a:rPr>
              <a:t> </a:t>
            </a:r>
            <a:r>
              <a:rPr sz="900" dirty="0">
                <a:latin typeface="Courier New"/>
                <a:cs typeface="Courier New"/>
              </a:rPr>
              <a:t>*</a:t>
            </a:r>
            <a:r>
              <a:rPr sz="900" spc="-19" dirty="0">
                <a:latin typeface="Courier New"/>
                <a:cs typeface="Courier New"/>
              </a:rPr>
              <a:t> </a:t>
            </a:r>
            <a:r>
              <a:rPr sz="900" dirty="0">
                <a:latin typeface="Courier New"/>
                <a:cs typeface="Courier New"/>
              </a:rPr>
              <a:t>from</a:t>
            </a:r>
            <a:r>
              <a:rPr sz="900" spc="-19" dirty="0">
                <a:latin typeface="Courier New"/>
                <a:cs typeface="Courier New"/>
              </a:rPr>
              <a:t> </a:t>
            </a:r>
            <a:r>
              <a:rPr sz="900" spc="-8" dirty="0">
                <a:latin typeface="Courier New"/>
                <a:cs typeface="Courier New"/>
              </a:rPr>
              <a:t>employee;</a:t>
            </a:r>
            <a:endParaRPr sz="900">
              <a:latin typeface="Courier New"/>
              <a:cs typeface="Courier New"/>
            </a:endParaRPr>
          </a:p>
          <a:p>
            <a:pPr marL="9525">
              <a:lnSpc>
                <a:spcPts val="1061"/>
              </a:lnSpc>
              <a:tabLst>
                <a:tab pos="768668" algn="l"/>
                <a:tab pos="1321117" algn="l"/>
                <a:tab pos="2011680"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8" name="object 8"/>
          <p:cNvSpPr/>
          <p:nvPr/>
        </p:nvSpPr>
        <p:spPr>
          <a:xfrm>
            <a:off x="2833949" y="3041237"/>
            <a:ext cx="760095" cy="0"/>
          </a:xfrm>
          <a:custGeom>
            <a:avLst/>
            <a:gdLst/>
            <a:ahLst/>
            <a:cxnLst/>
            <a:rect l="l" t="t" r="r" b="b"/>
            <a:pathLst>
              <a:path w="1013460">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9" name="object 9"/>
          <p:cNvSpPr txBox="1"/>
          <p:nvPr/>
        </p:nvSpPr>
        <p:spPr>
          <a:xfrm>
            <a:off x="3584044" y="2953132"/>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10" name="object 10"/>
          <p:cNvSpPr/>
          <p:nvPr/>
        </p:nvSpPr>
        <p:spPr>
          <a:xfrm>
            <a:off x="3662625" y="3041237"/>
            <a:ext cx="829151" cy="0"/>
          </a:xfrm>
          <a:custGeom>
            <a:avLst/>
            <a:gdLst/>
            <a:ahLst/>
            <a:cxnLst/>
            <a:rect l="l" t="t" r="r" b="b"/>
            <a:pathLst>
              <a:path w="1105535">
                <a:moveTo>
                  <a:pt x="0" y="0"/>
                </a:moveTo>
                <a:lnTo>
                  <a:pt x="1104961" y="0"/>
                </a:lnTo>
              </a:path>
            </a:pathLst>
          </a:custGeom>
          <a:ln w="12649">
            <a:solidFill>
              <a:srgbClr val="000000"/>
            </a:solidFill>
            <a:prstDash val="dash"/>
          </a:ln>
        </p:spPr>
        <p:txBody>
          <a:bodyPr wrap="square" lIns="0" tIns="0" rIns="0" bIns="0" rtlCol="0"/>
          <a:lstStyle/>
          <a:p>
            <a:endParaRPr sz="1800"/>
          </a:p>
        </p:txBody>
      </p:sp>
      <p:sp>
        <p:nvSpPr>
          <p:cNvPr id="11" name="object 11"/>
          <p:cNvSpPr txBox="1"/>
          <p:nvPr/>
        </p:nvSpPr>
        <p:spPr>
          <a:xfrm>
            <a:off x="4481775" y="2953132"/>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12" name="object 12"/>
          <p:cNvSpPr/>
          <p:nvPr/>
        </p:nvSpPr>
        <p:spPr>
          <a:xfrm>
            <a:off x="4560356" y="3041237"/>
            <a:ext cx="1795939" cy="0"/>
          </a:xfrm>
          <a:custGeom>
            <a:avLst/>
            <a:gdLst/>
            <a:ahLst/>
            <a:cxnLst/>
            <a:rect l="l" t="t" r="r" b="b"/>
            <a:pathLst>
              <a:path w="2394584">
                <a:moveTo>
                  <a:pt x="0" y="0"/>
                </a:moveTo>
                <a:lnTo>
                  <a:pt x="2394082" y="0"/>
                </a:lnTo>
              </a:path>
            </a:pathLst>
          </a:custGeom>
          <a:ln w="12649">
            <a:solidFill>
              <a:srgbClr val="000000"/>
            </a:solidFill>
            <a:prstDash val="dash"/>
          </a:ln>
        </p:spPr>
        <p:txBody>
          <a:bodyPr wrap="square" lIns="0" tIns="0" rIns="0" bIns="0" rtlCol="0"/>
          <a:lstStyle/>
          <a:p>
            <a:endParaRPr sz="1800"/>
          </a:p>
        </p:txBody>
      </p:sp>
      <p:sp>
        <p:nvSpPr>
          <p:cNvPr id="13" name="object 13"/>
          <p:cNvSpPr txBox="1"/>
          <p:nvPr/>
        </p:nvSpPr>
        <p:spPr>
          <a:xfrm>
            <a:off x="6346294" y="2953132"/>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14" name="object 14"/>
          <p:cNvSpPr/>
          <p:nvPr/>
        </p:nvSpPr>
        <p:spPr>
          <a:xfrm>
            <a:off x="6424875" y="3041237"/>
            <a:ext cx="414814" cy="0"/>
          </a:xfrm>
          <a:custGeom>
            <a:avLst/>
            <a:gdLst/>
            <a:ahLst/>
            <a:cxnLst/>
            <a:rect l="l" t="t" r="r" b="b"/>
            <a:pathLst>
              <a:path w="553084">
                <a:moveTo>
                  <a:pt x="0" y="0"/>
                </a:moveTo>
                <a:lnTo>
                  <a:pt x="552480" y="0"/>
                </a:lnTo>
              </a:path>
            </a:pathLst>
          </a:custGeom>
          <a:ln w="12649">
            <a:solidFill>
              <a:srgbClr val="000000"/>
            </a:solidFill>
            <a:prstDash val="dash"/>
          </a:ln>
        </p:spPr>
        <p:txBody>
          <a:bodyPr wrap="square" lIns="0" tIns="0" rIns="0" bIns="0" rtlCol="0"/>
          <a:lstStyle/>
          <a:p>
            <a:endParaRPr sz="1800"/>
          </a:p>
        </p:txBody>
      </p:sp>
      <p:sp>
        <p:nvSpPr>
          <p:cNvPr id="15" name="object 15"/>
          <p:cNvSpPr/>
          <p:nvPr/>
        </p:nvSpPr>
        <p:spPr>
          <a:xfrm>
            <a:off x="6908269" y="3041237"/>
            <a:ext cx="552926" cy="0"/>
          </a:xfrm>
          <a:custGeom>
            <a:avLst/>
            <a:gdLst/>
            <a:ahLst/>
            <a:cxnLst/>
            <a:rect l="l" t="t" r="r" b="b"/>
            <a:pathLst>
              <a:path w="737234">
                <a:moveTo>
                  <a:pt x="0" y="0"/>
                </a:moveTo>
                <a:lnTo>
                  <a:pt x="736640" y="0"/>
                </a:lnTo>
              </a:path>
            </a:pathLst>
          </a:custGeom>
          <a:ln w="12649">
            <a:solidFill>
              <a:srgbClr val="000000"/>
            </a:solidFill>
            <a:prstDash val="dash"/>
          </a:ln>
        </p:spPr>
        <p:txBody>
          <a:bodyPr wrap="square" lIns="0" tIns="0" rIns="0" bIns="0" rtlCol="0"/>
          <a:lstStyle/>
          <a:p>
            <a:endParaRPr sz="1800"/>
          </a:p>
        </p:txBody>
      </p:sp>
      <p:sp>
        <p:nvSpPr>
          <p:cNvPr id="16" name="object 16"/>
          <p:cNvSpPr/>
          <p:nvPr/>
        </p:nvSpPr>
        <p:spPr>
          <a:xfrm>
            <a:off x="7529774" y="3041237"/>
            <a:ext cx="760095" cy="0"/>
          </a:xfrm>
          <a:custGeom>
            <a:avLst/>
            <a:gdLst/>
            <a:ahLst/>
            <a:cxnLst/>
            <a:rect l="l" t="t" r="r" b="b"/>
            <a:pathLst>
              <a:path w="1013459">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17" name="object 17"/>
          <p:cNvSpPr/>
          <p:nvPr/>
        </p:nvSpPr>
        <p:spPr>
          <a:xfrm>
            <a:off x="8358450" y="3041237"/>
            <a:ext cx="345757" cy="0"/>
          </a:xfrm>
          <a:custGeom>
            <a:avLst/>
            <a:gdLst/>
            <a:ahLst/>
            <a:cxnLst/>
            <a:rect l="l" t="t" r="r" b="b"/>
            <a:pathLst>
              <a:path w="461009">
                <a:moveTo>
                  <a:pt x="0" y="0"/>
                </a:moveTo>
                <a:lnTo>
                  <a:pt x="460400" y="0"/>
                </a:lnTo>
              </a:path>
            </a:pathLst>
          </a:custGeom>
          <a:ln w="12649">
            <a:solidFill>
              <a:srgbClr val="000000"/>
            </a:solidFill>
            <a:prstDash val="dash"/>
          </a:ln>
        </p:spPr>
        <p:txBody>
          <a:bodyPr wrap="square" lIns="0" tIns="0" rIns="0" bIns="0" rtlCol="0"/>
          <a:lstStyle/>
          <a:p>
            <a:endParaRPr sz="1800"/>
          </a:p>
        </p:txBody>
      </p:sp>
      <p:sp>
        <p:nvSpPr>
          <p:cNvPr id="18" name="object 18"/>
          <p:cNvSpPr txBox="1"/>
          <p:nvPr/>
        </p:nvSpPr>
        <p:spPr>
          <a:xfrm>
            <a:off x="6829687" y="2953132"/>
            <a:ext cx="1952625" cy="148117"/>
          </a:xfrm>
          <a:prstGeom prst="rect">
            <a:avLst/>
          </a:prstGeom>
        </p:spPr>
        <p:txBody>
          <a:bodyPr vert="horz" wrap="square" lIns="0" tIns="9525" rIns="0" bIns="0" rtlCol="0">
            <a:spAutoFit/>
          </a:bodyPr>
          <a:lstStyle/>
          <a:p>
            <a:pPr marL="9525">
              <a:spcBef>
                <a:spcPts val="75"/>
              </a:spcBef>
              <a:tabLst>
                <a:tab pos="630555" algn="l"/>
                <a:tab pos="1459229" algn="l"/>
                <a:tab pos="1873568"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19" name="object 19"/>
          <p:cNvSpPr txBox="1"/>
          <p:nvPr/>
        </p:nvSpPr>
        <p:spPr>
          <a:xfrm>
            <a:off x="3584043" y="3097150"/>
            <a:ext cx="502920"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4" dirty="0">
                <a:latin typeface="Courier New"/>
                <a:cs typeface="Courier New"/>
              </a:rPr>
              <a:t> </a:t>
            </a:r>
            <a:r>
              <a:rPr sz="900" spc="-8" dirty="0">
                <a:latin typeface="Courier New"/>
                <a:cs typeface="Courier New"/>
              </a:rPr>
              <a:t>bdate</a:t>
            </a:r>
            <a:endParaRPr sz="900">
              <a:latin typeface="Courier New"/>
              <a:cs typeface="Courier New"/>
            </a:endParaRPr>
          </a:p>
        </p:txBody>
      </p:sp>
      <p:sp>
        <p:nvSpPr>
          <p:cNvPr id="20" name="object 20"/>
          <p:cNvSpPr txBox="1"/>
          <p:nvPr/>
        </p:nvSpPr>
        <p:spPr>
          <a:xfrm>
            <a:off x="4481775" y="3097150"/>
            <a:ext cx="2229326" cy="148117"/>
          </a:xfrm>
          <a:prstGeom prst="rect">
            <a:avLst/>
          </a:prstGeom>
        </p:spPr>
        <p:txBody>
          <a:bodyPr vert="horz" wrap="square" lIns="0" tIns="9525" rIns="0" bIns="0" rtlCol="0">
            <a:spAutoFit/>
          </a:bodyPr>
          <a:lstStyle/>
          <a:p>
            <a:pPr marL="9525">
              <a:spcBef>
                <a:spcPts val="75"/>
              </a:spcBef>
              <a:tabLst>
                <a:tab pos="1873568"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address</a:t>
            </a:r>
            <a:r>
              <a:rPr sz="900" dirty="0">
                <a:latin typeface="Courier New"/>
                <a:cs typeface="Courier New"/>
              </a:rPr>
              <a:t>	|</a:t>
            </a:r>
            <a:r>
              <a:rPr sz="900" spc="-4" dirty="0">
                <a:latin typeface="Courier New"/>
                <a:cs typeface="Courier New"/>
              </a:rPr>
              <a:t> </a:t>
            </a:r>
            <a:r>
              <a:rPr sz="900" spc="-19" dirty="0">
                <a:latin typeface="Courier New"/>
                <a:cs typeface="Courier New"/>
              </a:rPr>
              <a:t>sex</a:t>
            </a:r>
            <a:endParaRPr sz="900">
              <a:latin typeface="Courier New"/>
              <a:cs typeface="Courier New"/>
            </a:endParaRPr>
          </a:p>
        </p:txBody>
      </p:sp>
      <p:sp>
        <p:nvSpPr>
          <p:cNvPr id="21" name="object 21"/>
          <p:cNvSpPr/>
          <p:nvPr/>
        </p:nvSpPr>
        <p:spPr>
          <a:xfrm>
            <a:off x="831318" y="3317843"/>
            <a:ext cx="691039" cy="0"/>
          </a:xfrm>
          <a:custGeom>
            <a:avLst/>
            <a:gdLst/>
            <a:ahLst/>
            <a:cxnLst/>
            <a:rect l="l" t="t" r="r" b="b"/>
            <a:pathLst>
              <a:path w="921385">
                <a:moveTo>
                  <a:pt x="0" y="0"/>
                </a:moveTo>
                <a:lnTo>
                  <a:pt x="920800" y="0"/>
                </a:lnTo>
              </a:path>
            </a:pathLst>
          </a:custGeom>
          <a:ln w="12649">
            <a:solidFill>
              <a:srgbClr val="000000"/>
            </a:solidFill>
            <a:prstDash val="dash"/>
          </a:ln>
        </p:spPr>
        <p:txBody>
          <a:bodyPr wrap="square" lIns="0" tIns="0" rIns="0" bIns="0" rtlCol="0"/>
          <a:lstStyle/>
          <a:p>
            <a:endParaRPr sz="1800"/>
          </a:p>
        </p:txBody>
      </p:sp>
      <p:sp>
        <p:nvSpPr>
          <p:cNvPr id="22" name="object 22"/>
          <p:cNvSpPr/>
          <p:nvPr/>
        </p:nvSpPr>
        <p:spPr>
          <a:xfrm>
            <a:off x="1590938" y="3317843"/>
            <a:ext cx="483870" cy="0"/>
          </a:xfrm>
          <a:custGeom>
            <a:avLst/>
            <a:gdLst/>
            <a:ahLst/>
            <a:cxnLst/>
            <a:rect l="l" t="t" r="r" b="b"/>
            <a:pathLst>
              <a:path w="645160">
                <a:moveTo>
                  <a:pt x="0" y="0"/>
                </a:moveTo>
                <a:lnTo>
                  <a:pt x="644560" y="0"/>
                </a:lnTo>
              </a:path>
            </a:pathLst>
          </a:custGeom>
          <a:ln w="12649">
            <a:solidFill>
              <a:srgbClr val="000000"/>
            </a:solidFill>
            <a:prstDash val="dash"/>
          </a:ln>
        </p:spPr>
        <p:txBody>
          <a:bodyPr wrap="square" lIns="0" tIns="0" rIns="0" bIns="0" rtlCol="0"/>
          <a:lstStyle/>
          <a:p>
            <a:endParaRPr sz="1800"/>
          </a:p>
        </p:txBody>
      </p:sp>
      <p:sp>
        <p:nvSpPr>
          <p:cNvPr id="23" name="object 23"/>
          <p:cNvSpPr/>
          <p:nvPr/>
        </p:nvSpPr>
        <p:spPr>
          <a:xfrm>
            <a:off x="2143387" y="3317843"/>
            <a:ext cx="621983" cy="0"/>
          </a:xfrm>
          <a:custGeom>
            <a:avLst/>
            <a:gdLst/>
            <a:ahLst/>
            <a:cxnLst/>
            <a:rect l="l" t="t" r="r" b="b"/>
            <a:pathLst>
              <a:path w="829310">
                <a:moveTo>
                  <a:pt x="0" y="0"/>
                </a:moveTo>
                <a:lnTo>
                  <a:pt x="828720" y="0"/>
                </a:lnTo>
              </a:path>
            </a:pathLst>
          </a:custGeom>
          <a:ln w="12649">
            <a:solidFill>
              <a:srgbClr val="000000"/>
            </a:solidFill>
            <a:prstDash val="dash"/>
          </a:ln>
        </p:spPr>
        <p:txBody>
          <a:bodyPr wrap="square" lIns="0" tIns="0" rIns="0" bIns="0" rtlCol="0"/>
          <a:lstStyle/>
          <a:p>
            <a:endParaRPr sz="1800"/>
          </a:p>
        </p:txBody>
      </p:sp>
      <p:sp>
        <p:nvSpPr>
          <p:cNvPr id="24" name="object 24"/>
          <p:cNvSpPr txBox="1"/>
          <p:nvPr/>
        </p:nvSpPr>
        <p:spPr>
          <a:xfrm>
            <a:off x="752737" y="3097149"/>
            <a:ext cx="2367439" cy="291747"/>
          </a:xfrm>
          <a:prstGeom prst="rect">
            <a:avLst/>
          </a:prstGeom>
        </p:spPr>
        <p:txBody>
          <a:bodyPr vert="horz" wrap="square" lIns="0" tIns="9525" rIns="0" bIns="0" rtlCol="0">
            <a:spAutoFit/>
          </a:bodyPr>
          <a:lstStyle/>
          <a:p>
            <a:pPr marL="9525">
              <a:lnSpc>
                <a:spcPts val="1061"/>
              </a:lnSpc>
              <a:spcBef>
                <a:spcPts val="75"/>
              </a:spcBef>
              <a:tabLst>
                <a:tab pos="768668" algn="l"/>
                <a:tab pos="2011680"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fname</a:t>
            </a:r>
            <a:r>
              <a:rPr sz="900" dirty="0">
                <a:latin typeface="Courier New"/>
                <a:cs typeface="Courier New"/>
              </a:rPr>
              <a:t>	|</a:t>
            </a:r>
            <a:r>
              <a:rPr sz="900" spc="-11" dirty="0">
                <a:latin typeface="Courier New"/>
                <a:cs typeface="Courier New"/>
              </a:rPr>
              <a:t> </a:t>
            </a:r>
            <a:r>
              <a:rPr sz="900" dirty="0">
                <a:latin typeface="Courier New"/>
                <a:cs typeface="Courier New"/>
              </a:rPr>
              <a:t>minit</a:t>
            </a:r>
            <a:r>
              <a:rPr sz="900" spc="-8" dirty="0">
                <a:latin typeface="Courier New"/>
                <a:cs typeface="Courier New"/>
              </a:rPr>
              <a:t> </a:t>
            </a:r>
            <a:r>
              <a:rPr sz="900" dirty="0">
                <a:latin typeface="Courier New"/>
                <a:cs typeface="Courier New"/>
              </a:rPr>
              <a:t>|</a:t>
            </a:r>
            <a:r>
              <a:rPr sz="900" spc="-11" dirty="0">
                <a:latin typeface="Courier New"/>
                <a:cs typeface="Courier New"/>
              </a:rPr>
              <a:t> </a:t>
            </a:r>
            <a:r>
              <a:rPr sz="900" spc="-8" dirty="0">
                <a:latin typeface="Courier New"/>
                <a:cs typeface="Courier New"/>
              </a:rPr>
              <a:t>lname</a:t>
            </a:r>
            <a:r>
              <a:rPr sz="900" dirty="0">
                <a:latin typeface="Courier New"/>
                <a:cs typeface="Courier New"/>
              </a:rPr>
              <a:t>	|</a:t>
            </a:r>
            <a:r>
              <a:rPr sz="900" spc="-4" dirty="0">
                <a:latin typeface="Courier New"/>
                <a:cs typeface="Courier New"/>
              </a:rPr>
              <a:t> </a:t>
            </a:r>
            <a:r>
              <a:rPr sz="900" spc="-19" dirty="0">
                <a:latin typeface="Courier New"/>
                <a:cs typeface="Courier New"/>
              </a:rPr>
              <a:t>ssn</a:t>
            </a:r>
            <a:endParaRPr sz="900">
              <a:latin typeface="Courier New"/>
              <a:cs typeface="Courier New"/>
            </a:endParaRPr>
          </a:p>
          <a:p>
            <a:pPr marL="9525">
              <a:lnSpc>
                <a:spcPts val="1061"/>
              </a:lnSpc>
              <a:tabLst>
                <a:tab pos="768668" algn="l"/>
                <a:tab pos="1321117" algn="l"/>
                <a:tab pos="2011680"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25" name="object 25"/>
          <p:cNvSpPr/>
          <p:nvPr/>
        </p:nvSpPr>
        <p:spPr>
          <a:xfrm>
            <a:off x="2833949" y="3317843"/>
            <a:ext cx="760095" cy="0"/>
          </a:xfrm>
          <a:custGeom>
            <a:avLst/>
            <a:gdLst/>
            <a:ahLst/>
            <a:cxnLst/>
            <a:rect l="l" t="t" r="r" b="b"/>
            <a:pathLst>
              <a:path w="1013460">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26" name="object 26"/>
          <p:cNvSpPr/>
          <p:nvPr/>
        </p:nvSpPr>
        <p:spPr>
          <a:xfrm>
            <a:off x="3662625" y="3317843"/>
            <a:ext cx="829151" cy="0"/>
          </a:xfrm>
          <a:custGeom>
            <a:avLst/>
            <a:gdLst/>
            <a:ahLst/>
            <a:cxnLst/>
            <a:rect l="l" t="t" r="r" b="b"/>
            <a:pathLst>
              <a:path w="1105535">
                <a:moveTo>
                  <a:pt x="0" y="0"/>
                </a:moveTo>
                <a:lnTo>
                  <a:pt x="1104961" y="0"/>
                </a:lnTo>
              </a:path>
            </a:pathLst>
          </a:custGeom>
          <a:ln w="12649">
            <a:solidFill>
              <a:srgbClr val="000000"/>
            </a:solidFill>
            <a:prstDash val="dash"/>
          </a:ln>
        </p:spPr>
        <p:txBody>
          <a:bodyPr wrap="square" lIns="0" tIns="0" rIns="0" bIns="0" rtlCol="0"/>
          <a:lstStyle/>
          <a:p>
            <a:endParaRPr sz="1800"/>
          </a:p>
        </p:txBody>
      </p:sp>
      <p:sp>
        <p:nvSpPr>
          <p:cNvPr id="27" name="object 27"/>
          <p:cNvSpPr/>
          <p:nvPr/>
        </p:nvSpPr>
        <p:spPr>
          <a:xfrm>
            <a:off x="4560356" y="3317843"/>
            <a:ext cx="1795939" cy="0"/>
          </a:xfrm>
          <a:custGeom>
            <a:avLst/>
            <a:gdLst/>
            <a:ahLst/>
            <a:cxnLst/>
            <a:rect l="l" t="t" r="r" b="b"/>
            <a:pathLst>
              <a:path w="2394584">
                <a:moveTo>
                  <a:pt x="0" y="0"/>
                </a:moveTo>
                <a:lnTo>
                  <a:pt x="2394082" y="0"/>
                </a:lnTo>
              </a:path>
            </a:pathLst>
          </a:custGeom>
          <a:ln w="12649">
            <a:solidFill>
              <a:srgbClr val="000000"/>
            </a:solidFill>
            <a:prstDash val="dash"/>
          </a:ln>
        </p:spPr>
        <p:txBody>
          <a:bodyPr wrap="square" lIns="0" tIns="0" rIns="0" bIns="0" rtlCol="0"/>
          <a:lstStyle/>
          <a:p>
            <a:endParaRPr sz="1800"/>
          </a:p>
        </p:txBody>
      </p:sp>
      <p:sp>
        <p:nvSpPr>
          <p:cNvPr id="28" name="object 28"/>
          <p:cNvSpPr txBox="1"/>
          <p:nvPr/>
        </p:nvSpPr>
        <p:spPr>
          <a:xfrm>
            <a:off x="3584044" y="3229737"/>
            <a:ext cx="2850356" cy="148117"/>
          </a:xfrm>
          <a:prstGeom prst="rect">
            <a:avLst/>
          </a:prstGeom>
        </p:spPr>
        <p:txBody>
          <a:bodyPr vert="horz" wrap="square" lIns="0" tIns="9525" rIns="0" bIns="0" rtlCol="0">
            <a:spAutoFit/>
          </a:bodyPr>
          <a:lstStyle/>
          <a:p>
            <a:pPr marL="9525">
              <a:spcBef>
                <a:spcPts val="75"/>
              </a:spcBef>
              <a:tabLst>
                <a:tab pos="906780" algn="l"/>
                <a:tab pos="2771299"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dirty="0">
              <a:latin typeface="Courier New"/>
              <a:cs typeface="Courier New"/>
            </a:endParaRPr>
          </a:p>
        </p:txBody>
      </p:sp>
      <p:sp>
        <p:nvSpPr>
          <p:cNvPr id="29" name="object 29"/>
          <p:cNvSpPr/>
          <p:nvPr/>
        </p:nvSpPr>
        <p:spPr>
          <a:xfrm>
            <a:off x="6424875" y="3317843"/>
            <a:ext cx="414814" cy="0"/>
          </a:xfrm>
          <a:custGeom>
            <a:avLst/>
            <a:gdLst/>
            <a:ahLst/>
            <a:cxnLst/>
            <a:rect l="l" t="t" r="r" b="b"/>
            <a:pathLst>
              <a:path w="553084">
                <a:moveTo>
                  <a:pt x="0" y="0"/>
                </a:moveTo>
                <a:lnTo>
                  <a:pt x="552480" y="0"/>
                </a:lnTo>
              </a:path>
            </a:pathLst>
          </a:custGeom>
          <a:ln w="12649">
            <a:solidFill>
              <a:srgbClr val="000000"/>
            </a:solidFill>
            <a:prstDash val="dash"/>
          </a:ln>
        </p:spPr>
        <p:txBody>
          <a:bodyPr wrap="square" lIns="0" tIns="0" rIns="0" bIns="0" rtlCol="0"/>
          <a:lstStyle/>
          <a:p>
            <a:endParaRPr sz="1800"/>
          </a:p>
        </p:txBody>
      </p:sp>
      <p:sp>
        <p:nvSpPr>
          <p:cNvPr id="30" name="object 30"/>
          <p:cNvSpPr/>
          <p:nvPr/>
        </p:nvSpPr>
        <p:spPr>
          <a:xfrm>
            <a:off x="6908269" y="3317843"/>
            <a:ext cx="552926" cy="0"/>
          </a:xfrm>
          <a:custGeom>
            <a:avLst/>
            <a:gdLst/>
            <a:ahLst/>
            <a:cxnLst/>
            <a:rect l="l" t="t" r="r" b="b"/>
            <a:pathLst>
              <a:path w="737234">
                <a:moveTo>
                  <a:pt x="0" y="0"/>
                </a:moveTo>
                <a:lnTo>
                  <a:pt x="736640" y="0"/>
                </a:lnTo>
              </a:path>
            </a:pathLst>
          </a:custGeom>
          <a:ln w="12649">
            <a:solidFill>
              <a:srgbClr val="000000"/>
            </a:solidFill>
            <a:prstDash val="dash"/>
          </a:ln>
        </p:spPr>
        <p:txBody>
          <a:bodyPr wrap="square" lIns="0" tIns="0" rIns="0" bIns="0" rtlCol="0"/>
          <a:lstStyle/>
          <a:p>
            <a:endParaRPr sz="1800"/>
          </a:p>
        </p:txBody>
      </p:sp>
      <p:sp>
        <p:nvSpPr>
          <p:cNvPr id="31" name="object 31"/>
          <p:cNvSpPr/>
          <p:nvPr/>
        </p:nvSpPr>
        <p:spPr>
          <a:xfrm>
            <a:off x="7529774" y="3317843"/>
            <a:ext cx="760095" cy="0"/>
          </a:xfrm>
          <a:custGeom>
            <a:avLst/>
            <a:gdLst/>
            <a:ahLst/>
            <a:cxnLst/>
            <a:rect l="l" t="t" r="r" b="b"/>
            <a:pathLst>
              <a:path w="1013459">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32" name="object 32"/>
          <p:cNvSpPr/>
          <p:nvPr/>
        </p:nvSpPr>
        <p:spPr>
          <a:xfrm>
            <a:off x="8358450" y="3317843"/>
            <a:ext cx="345757" cy="0"/>
          </a:xfrm>
          <a:custGeom>
            <a:avLst/>
            <a:gdLst/>
            <a:ahLst/>
            <a:cxnLst/>
            <a:rect l="l" t="t" r="r" b="b"/>
            <a:pathLst>
              <a:path w="461009">
                <a:moveTo>
                  <a:pt x="0" y="0"/>
                </a:moveTo>
                <a:lnTo>
                  <a:pt x="460400" y="0"/>
                </a:lnTo>
              </a:path>
            </a:pathLst>
          </a:custGeom>
          <a:ln w="12649">
            <a:solidFill>
              <a:srgbClr val="000000"/>
            </a:solidFill>
            <a:prstDash val="dash"/>
          </a:ln>
        </p:spPr>
        <p:txBody>
          <a:bodyPr wrap="square" lIns="0" tIns="0" rIns="0" bIns="0" rtlCol="0"/>
          <a:lstStyle/>
          <a:p>
            <a:endParaRPr sz="1800"/>
          </a:p>
        </p:txBody>
      </p:sp>
      <p:sp>
        <p:nvSpPr>
          <p:cNvPr id="33" name="object 33"/>
          <p:cNvSpPr txBox="1"/>
          <p:nvPr/>
        </p:nvSpPr>
        <p:spPr>
          <a:xfrm>
            <a:off x="6829687" y="3097149"/>
            <a:ext cx="1952625" cy="291747"/>
          </a:xfrm>
          <a:prstGeom prst="rect">
            <a:avLst/>
          </a:prstGeom>
        </p:spPr>
        <p:txBody>
          <a:bodyPr vert="horz" wrap="square" lIns="0" tIns="9525" rIns="0" bIns="0" rtlCol="0">
            <a:spAutoFit/>
          </a:bodyPr>
          <a:lstStyle/>
          <a:p>
            <a:pPr marL="9525">
              <a:lnSpc>
                <a:spcPts val="1061"/>
              </a:lnSpc>
              <a:spcBef>
                <a:spcPts val="75"/>
              </a:spcBef>
            </a:pPr>
            <a:r>
              <a:rPr sz="900" dirty="0">
                <a:latin typeface="Courier New"/>
                <a:cs typeface="Courier New"/>
              </a:rPr>
              <a:t>|</a:t>
            </a:r>
            <a:r>
              <a:rPr sz="900" spc="-19" dirty="0">
                <a:latin typeface="Courier New"/>
                <a:cs typeface="Courier New"/>
              </a:rPr>
              <a:t> </a:t>
            </a:r>
            <a:r>
              <a:rPr sz="900" dirty="0">
                <a:latin typeface="Courier New"/>
                <a:cs typeface="Courier New"/>
              </a:rPr>
              <a:t>salary</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super_ssn</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dno</a:t>
            </a:r>
            <a:r>
              <a:rPr sz="900" spc="-15"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tabLst>
                <a:tab pos="630555" algn="l"/>
                <a:tab pos="1459229" algn="l"/>
                <a:tab pos="1873568"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34" name="object 34"/>
          <p:cNvSpPr txBox="1"/>
          <p:nvPr/>
        </p:nvSpPr>
        <p:spPr>
          <a:xfrm>
            <a:off x="2755369" y="3373756"/>
            <a:ext cx="3817144"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15" dirty="0">
                <a:latin typeface="Courier New"/>
                <a:cs typeface="Courier New"/>
              </a:rPr>
              <a:t> </a:t>
            </a:r>
            <a:r>
              <a:rPr sz="900" dirty="0">
                <a:latin typeface="Courier New"/>
                <a:cs typeface="Courier New"/>
              </a:rPr>
              <a:t>123456789</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1" dirty="0">
                <a:latin typeface="Courier New"/>
                <a:cs typeface="Courier New"/>
              </a:rPr>
              <a:t> </a:t>
            </a:r>
            <a:r>
              <a:rPr sz="900" dirty="0">
                <a:latin typeface="Courier New"/>
                <a:cs typeface="Courier New"/>
              </a:rPr>
              <a:t>731</a:t>
            </a:r>
            <a:r>
              <a:rPr sz="900" spc="-15" dirty="0">
                <a:latin typeface="Courier New"/>
                <a:cs typeface="Courier New"/>
              </a:rPr>
              <a:t> </a:t>
            </a:r>
            <a:r>
              <a:rPr sz="900" dirty="0">
                <a:latin typeface="Courier New"/>
                <a:cs typeface="Courier New"/>
              </a:rPr>
              <a:t>FONDREN,</a:t>
            </a:r>
            <a:r>
              <a:rPr sz="900" spc="-15" dirty="0">
                <a:latin typeface="Courier New"/>
                <a:cs typeface="Courier New"/>
              </a:rPr>
              <a:t> </a:t>
            </a:r>
            <a:r>
              <a:rPr sz="900" dirty="0">
                <a:latin typeface="Courier New"/>
                <a:cs typeface="Courier New"/>
              </a:rPr>
              <a:t>HOUSTON,</a:t>
            </a:r>
            <a:r>
              <a:rPr sz="900" spc="-15" dirty="0">
                <a:latin typeface="Courier New"/>
                <a:cs typeface="Courier New"/>
              </a:rPr>
              <a:t> </a:t>
            </a:r>
            <a:r>
              <a:rPr sz="900" dirty="0">
                <a:latin typeface="Courier New"/>
                <a:cs typeface="Courier New"/>
              </a:rPr>
              <a:t>TX</a:t>
            </a:r>
            <a:r>
              <a:rPr sz="900" spc="-15" dirty="0">
                <a:latin typeface="Courier New"/>
                <a:cs typeface="Courier New"/>
              </a:rPr>
              <a:t> </a:t>
            </a:r>
            <a:r>
              <a:rPr sz="900" dirty="0">
                <a:latin typeface="Courier New"/>
                <a:cs typeface="Courier New"/>
              </a:rPr>
              <a:t>|</a:t>
            </a:r>
            <a:r>
              <a:rPr sz="900" spc="-11" dirty="0">
                <a:latin typeface="Courier New"/>
                <a:cs typeface="Courier New"/>
              </a:rPr>
              <a:t> </a:t>
            </a:r>
            <a:r>
              <a:rPr sz="900" spc="-38" dirty="0">
                <a:latin typeface="Courier New"/>
                <a:cs typeface="Courier New"/>
              </a:rPr>
              <a:t>M</a:t>
            </a:r>
            <a:endParaRPr sz="900">
              <a:latin typeface="Courier New"/>
              <a:cs typeface="Courier New"/>
            </a:endParaRPr>
          </a:p>
        </p:txBody>
      </p:sp>
      <p:sp>
        <p:nvSpPr>
          <p:cNvPr id="35" name="object 35"/>
          <p:cNvSpPr txBox="1"/>
          <p:nvPr/>
        </p:nvSpPr>
        <p:spPr>
          <a:xfrm>
            <a:off x="2064807" y="3373755"/>
            <a:ext cx="571976" cy="419987"/>
          </a:xfrm>
          <a:prstGeom prst="rect">
            <a:avLst/>
          </a:prstGeom>
        </p:spPr>
        <p:txBody>
          <a:bodyPr vert="horz" wrap="square" lIns="0" tIns="9525" rIns="0" bIns="0" rtlCol="0">
            <a:spAutoFit/>
          </a:bodyPr>
          <a:lstStyle/>
          <a:p>
            <a:pPr marL="9525">
              <a:lnSpc>
                <a:spcPts val="1061"/>
              </a:lnSpc>
              <a:spcBef>
                <a:spcPts val="75"/>
              </a:spcBef>
            </a:pPr>
            <a:r>
              <a:rPr sz="900" dirty="0">
                <a:latin typeface="Courier New"/>
                <a:cs typeface="Courier New"/>
              </a:rPr>
              <a:t>|</a:t>
            </a:r>
            <a:r>
              <a:rPr sz="900" spc="-4" dirty="0">
                <a:latin typeface="Courier New"/>
                <a:cs typeface="Courier New"/>
              </a:rPr>
              <a:t> </a:t>
            </a:r>
            <a:r>
              <a:rPr sz="900" spc="-8" dirty="0">
                <a:latin typeface="Courier New"/>
                <a:cs typeface="Courier New"/>
              </a:rPr>
              <a:t>SMITH</a:t>
            </a:r>
            <a:endParaRPr sz="900">
              <a:latin typeface="Courier New"/>
              <a:cs typeface="Courier New"/>
            </a:endParaRPr>
          </a:p>
          <a:p>
            <a:pPr marL="9525">
              <a:lnSpc>
                <a:spcPts val="1043"/>
              </a:lnSpc>
            </a:pPr>
            <a:r>
              <a:rPr sz="900" dirty="0">
                <a:latin typeface="Courier New"/>
                <a:cs typeface="Courier New"/>
              </a:rPr>
              <a:t>|</a:t>
            </a:r>
            <a:r>
              <a:rPr sz="900" spc="-4" dirty="0">
                <a:latin typeface="Courier New"/>
                <a:cs typeface="Courier New"/>
              </a:rPr>
              <a:t> </a:t>
            </a:r>
            <a:r>
              <a:rPr sz="900" spc="-15" dirty="0">
                <a:latin typeface="Courier New"/>
                <a:cs typeface="Courier New"/>
              </a:rPr>
              <a:t>WONG</a:t>
            </a:r>
            <a:endParaRPr sz="900">
              <a:latin typeface="Courier New"/>
              <a:cs typeface="Courier New"/>
            </a:endParaRPr>
          </a:p>
          <a:p>
            <a:pPr marL="9525">
              <a:lnSpc>
                <a:spcPts val="1061"/>
              </a:lnSpc>
            </a:pPr>
            <a:r>
              <a:rPr sz="900" dirty="0">
                <a:latin typeface="Courier New"/>
                <a:cs typeface="Courier New"/>
              </a:rPr>
              <a:t>|</a:t>
            </a:r>
            <a:r>
              <a:rPr sz="900" spc="-4" dirty="0">
                <a:latin typeface="Courier New"/>
                <a:cs typeface="Courier New"/>
              </a:rPr>
              <a:t> </a:t>
            </a:r>
            <a:r>
              <a:rPr sz="900" spc="-8" dirty="0">
                <a:latin typeface="Courier New"/>
                <a:cs typeface="Courier New"/>
              </a:rPr>
              <a:t>ZELAYA</a:t>
            </a:r>
            <a:endParaRPr sz="900">
              <a:latin typeface="Courier New"/>
              <a:cs typeface="Courier New"/>
            </a:endParaRPr>
          </a:p>
        </p:txBody>
      </p:sp>
      <p:sp>
        <p:nvSpPr>
          <p:cNvPr id="36" name="object 36"/>
          <p:cNvSpPr txBox="1"/>
          <p:nvPr/>
        </p:nvSpPr>
        <p:spPr>
          <a:xfrm>
            <a:off x="2064807" y="3782950"/>
            <a:ext cx="4162901"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19" dirty="0">
                <a:latin typeface="Courier New"/>
                <a:cs typeface="Courier New"/>
              </a:rPr>
              <a:t> </a:t>
            </a:r>
            <a:r>
              <a:rPr sz="900" dirty="0">
                <a:latin typeface="Courier New"/>
                <a:cs typeface="Courier New"/>
              </a:rPr>
              <a:t>WALLACE</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dirty="0">
                <a:latin typeface="Courier New"/>
                <a:cs typeface="Courier New"/>
              </a:rPr>
              <a:t>987654321</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9"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291</a:t>
            </a:r>
            <a:r>
              <a:rPr sz="900" spc="-15" dirty="0">
                <a:latin typeface="Courier New"/>
                <a:cs typeface="Courier New"/>
              </a:rPr>
              <a:t> </a:t>
            </a:r>
            <a:r>
              <a:rPr sz="900" dirty="0">
                <a:latin typeface="Courier New"/>
                <a:cs typeface="Courier New"/>
              </a:rPr>
              <a:t>BERRY,</a:t>
            </a:r>
            <a:r>
              <a:rPr sz="900" spc="-19" dirty="0">
                <a:latin typeface="Courier New"/>
                <a:cs typeface="Courier New"/>
              </a:rPr>
              <a:t> </a:t>
            </a:r>
            <a:r>
              <a:rPr sz="900" dirty="0">
                <a:latin typeface="Courier New"/>
                <a:cs typeface="Courier New"/>
              </a:rPr>
              <a:t>BELLAIRE,</a:t>
            </a:r>
            <a:r>
              <a:rPr sz="900" spc="-15" dirty="0">
                <a:latin typeface="Courier New"/>
                <a:cs typeface="Courier New"/>
              </a:rPr>
              <a:t> </a:t>
            </a:r>
            <a:r>
              <a:rPr sz="900" spc="-19" dirty="0">
                <a:latin typeface="Courier New"/>
                <a:cs typeface="Courier New"/>
              </a:rPr>
              <a:t>TX</a:t>
            </a:r>
            <a:endParaRPr sz="900">
              <a:latin typeface="Courier New"/>
              <a:cs typeface="Courier New"/>
            </a:endParaRPr>
          </a:p>
        </p:txBody>
      </p:sp>
      <p:sp>
        <p:nvSpPr>
          <p:cNvPr id="37" name="object 37"/>
          <p:cNvSpPr txBox="1"/>
          <p:nvPr/>
        </p:nvSpPr>
        <p:spPr>
          <a:xfrm>
            <a:off x="2755369" y="3506342"/>
            <a:ext cx="3817144" cy="443070"/>
          </a:xfrm>
          <a:prstGeom prst="rect">
            <a:avLst/>
          </a:prstGeom>
        </p:spPr>
        <p:txBody>
          <a:bodyPr vert="horz" wrap="square" lIns="0" tIns="9525" rIns="0" bIns="0" rtlCol="0">
            <a:spAutoFit/>
          </a:bodyPr>
          <a:lstStyle/>
          <a:p>
            <a:pPr marR="3810" algn="r">
              <a:lnSpc>
                <a:spcPts val="1061"/>
              </a:lnSpc>
              <a:spcBef>
                <a:spcPts val="75"/>
              </a:spcBef>
              <a:tabLst>
                <a:tab pos="3590449" algn="l"/>
              </a:tabLst>
            </a:pPr>
            <a:r>
              <a:rPr sz="900" dirty="0">
                <a:latin typeface="Courier New"/>
                <a:cs typeface="Courier New"/>
              </a:rPr>
              <a:t>|</a:t>
            </a:r>
            <a:r>
              <a:rPr sz="900" spc="-19" dirty="0">
                <a:latin typeface="Courier New"/>
                <a:cs typeface="Courier New"/>
              </a:rPr>
              <a:t> </a:t>
            </a:r>
            <a:r>
              <a:rPr sz="900" dirty="0">
                <a:latin typeface="Courier New"/>
                <a:cs typeface="Courier New"/>
              </a:rPr>
              <a:t>333445555</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638</a:t>
            </a:r>
            <a:r>
              <a:rPr sz="900" spc="-19" dirty="0">
                <a:latin typeface="Courier New"/>
                <a:cs typeface="Courier New"/>
              </a:rPr>
              <a:t> </a:t>
            </a:r>
            <a:r>
              <a:rPr sz="900" dirty="0">
                <a:latin typeface="Courier New"/>
                <a:cs typeface="Courier New"/>
              </a:rPr>
              <a:t>VOSS,HOUSTON</a:t>
            </a:r>
            <a:r>
              <a:rPr sz="900" spc="-15" dirty="0">
                <a:latin typeface="Courier New"/>
                <a:cs typeface="Courier New"/>
              </a:rPr>
              <a:t> </a:t>
            </a:r>
            <a:r>
              <a:rPr sz="900" spc="-19" dirty="0">
                <a:latin typeface="Courier New"/>
                <a:cs typeface="Courier New"/>
              </a:rPr>
              <a:t>TX</a:t>
            </a:r>
            <a:r>
              <a:rPr sz="900" dirty="0">
                <a:latin typeface="Courier New"/>
                <a:cs typeface="Courier New"/>
              </a:rPr>
              <a:t>	|</a:t>
            </a:r>
            <a:r>
              <a:rPr sz="900" spc="-4" dirty="0">
                <a:latin typeface="Courier New"/>
                <a:cs typeface="Courier New"/>
              </a:rPr>
              <a:t> </a:t>
            </a:r>
            <a:r>
              <a:rPr sz="900" spc="-38" dirty="0">
                <a:latin typeface="Courier New"/>
                <a:cs typeface="Courier New"/>
              </a:rPr>
              <a:t>M</a:t>
            </a:r>
            <a:endParaRPr sz="900" dirty="0">
              <a:latin typeface="Courier New"/>
              <a:cs typeface="Courier New"/>
            </a:endParaRPr>
          </a:p>
          <a:p>
            <a:pPr marR="3810" algn="r">
              <a:lnSpc>
                <a:spcPts val="1061"/>
              </a:lnSpc>
              <a:tabLst>
                <a:tab pos="3590449" algn="l"/>
              </a:tabLst>
            </a:pPr>
            <a:r>
              <a:rPr sz="900" dirty="0">
                <a:latin typeface="Courier New"/>
                <a:cs typeface="Courier New"/>
              </a:rPr>
              <a:t>|</a:t>
            </a:r>
            <a:r>
              <a:rPr sz="900" spc="-19" dirty="0">
                <a:latin typeface="Courier New"/>
                <a:cs typeface="Courier New"/>
              </a:rPr>
              <a:t> </a:t>
            </a:r>
            <a:r>
              <a:rPr sz="900" dirty="0">
                <a:latin typeface="Courier New"/>
                <a:cs typeface="Courier New"/>
              </a:rPr>
              <a:t>999887777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dirty="0">
                <a:latin typeface="Courier New"/>
                <a:cs typeface="Courier New"/>
              </a:rPr>
              <a:t>3321</a:t>
            </a:r>
            <a:r>
              <a:rPr sz="900" spc="-15" dirty="0">
                <a:latin typeface="Courier New"/>
                <a:cs typeface="Courier New"/>
              </a:rPr>
              <a:t> </a:t>
            </a:r>
            <a:r>
              <a:rPr sz="900" dirty="0">
                <a:latin typeface="Courier New"/>
                <a:cs typeface="Courier New"/>
              </a:rPr>
              <a:t>CASTLE,</a:t>
            </a:r>
            <a:r>
              <a:rPr sz="900" spc="-15" dirty="0">
                <a:latin typeface="Courier New"/>
                <a:cs typeface="Courier New"/>
              </a:rPr>
              <a:t> </a:t>
            </a:r>
            <a:r>
              <a:rPr sz="900" dirty="0">
                <a:latin typeface="Courier New"/>
                <a:cs typeface="Courier New"/>
              </a:rPr>
              <a:t>SPRING,</a:t>
            </a:r>
            <a:r>
              <a:rPr sz="900" spc="-15" dirty="0">
                <a:latin typeface="Courier New"/>
                <a:cs typeface="Courier New"/>
              </a:rPr>
              <a:t> </a:t>
            </a:r>
            <a:r>
              <a:rPr sz="900" spc="-19" dirty="0">
                <a:latin typeface="Courier New"/>
                <a:cs typeface="Courier New"/>
              </a:rPr>
              <a:t>TX</a:t>
            </a:r>
            <a:r>
              <a:rPr sz="900" dirty="0">
                <a:latin typeface="Courier New"/>
                <a:cs typeface="Courier New"/>
              </a:rPr>
              <a:t>	|</a:t>
            </a:r>
            <a:r>
              <a:rPr sz="900" spc="-4" dirty="0">
                <a:latin typeface="Courier New"/>
                <a:cs typeface="Courier New"/>
              </a:rPr>
              <a:t> </a:t>
            </a:r>
            <a:r>
              <a:rPr sz="900" spc="-38" dirty="0">
                <a:latin typeface="Courier New"/>
                <a:cs typeface="Courier New"/>
              </a:rPr>
              <a:t>F</a:t>
            </a:r>
            <a:endParaRPr sz="900" dirty="0">
              <a:latin typeface="Courier New"/>
              <a:cs typeface="Courier New"/>
            </a:endParaRPr>
          </a:p>
          <a:p>
            <a:pPr marR="3810" algn="r">
              <a:spcBef>
                <a:spcPts val="53"/>
              </a:spcBef>
            </a:pPr>
            <a:r>
              <a:rPr sz="900" dirty="0">
                <a:latin typeface="Courier New"/>
                <a:cs typeface="Courier New"/>
              </a:rPr>
              <a:t>|</a:t>
            </a:r>
            <a:r>
              <a:rPr sz="900" spc="-4" dirty="0">
                <a:latin typeface="Courier New"/>
                <a:cs typeface="Courier New"/>
              </a:rPr>
              <a:t> </a:t>
            </a:r>
            <a:r>
              <a:rPr sz="900" spc="-38" dirty="0">
                <a:latin typeface="Courier New"/>
                <a:cs typeface="Courier New"/>
              </a:rPr>
              <a:t>F</a:t>
            </a:r>
            <a:endParaRPr sz="900" dirty="0">
              <a:latin typeface="Courier New"/>
              <a:cs typeface="Courier New"/>
            </a:endParaRPr>
          </a:p>
        </p:txBody>
      </p:sp>
      <p:sp>
        <p:nvSpPr>
          <p:cNvPr id="38" name="object 38"/>
          <p:cNvSpPr txBox="1"/>
          <p:nvPr/>
        </p:nvSpPr>
        <p:spPr>
          <a:xfrm>
            <a:off x="752737" y="3373755"/>
            <a:ext cx="985838" cy="714939"/>
          </a:xfrm>
          <a:prstGeom prst="rect">
            <a:avLst/>
          </a:prstGeom>
        </p:spPr>
        <p:txBody>
          <a:bodyPr vert="horz" wrap="square" lIns="0" tIns="9525" rIns="0" bIns="0" rtlCol="0">
            <a:spAutoFit/>
          </a:bodyPr>
          <a:lstStyle/>
          <a:p>
            <a:pPr marL="9525">
              <a:lnSpc>
                <a:spcPts val="1061"/>
              </a:lnSpc>
              <a:spcBef>
                <a:spcPts val="75"/>
              </a:spcBef>
              <a:tabLst>
                <a:tab pos="768668" algn="l"/>
              </a:tabLst>
            </a:pPr>
            <a:r>
              <a:rPr sz="900" dirty="0">
                <a:latin typeface="Courier New"/>
                <a:cs typeface="Courier New"/>
              </a:rPr>
              <a:t>|</a:t>
            </a:r>
            <a:r>
              <a:rPr sz="900" spc="-4" dirty="0">
                <a:latin typeface="Courier New"/>
                <a:cs typeface="Courier New"/>
              </a:rPr>
              <a:t> </a:t>
            </a:r>
            <a:r>
              <a:rPr sz="900" spc="-15" dirty="0">
                <a:latin typeface="Courier New"/>
                <a:cs typeface="Courier New"/>
              </a:rPr>
              <a:t>JOHN</a:t>
            </a:r>
            <a:r>
              <a:rPr sz="900" dirty="0">
                <a:latin typeface="Courier New"/>
                <a:cs typeface="Courier New"/>
              </a:rPr>
              <a:t>	|</a:t>
            </a:r>
            <a:r>
              <a:rPr sz="900" spc="-4" dirty="0">
                <a:latin typeface="Courier New"/>
                <a:cs typeface="Courier New"/>
              </a:rPr>
              <a:t> </a:t>
            </a:r>
            <a:r>
              <a:rPr sz="900" spc="-38" dirty="0">
                <a:latin typeface="Courier New"/>
                <a:cs typeface="Courier New"/>
              </a:rPr>
              <a:t>B</a:t>
            </a:r>
            <a:endParaRPr sz="900">
              <a:latin typeface="Courier New"/>
              <a:cs typeface="Courier New"/>
            </a:endParaRPr>
          </a:p>
          <a:p>
            <a:pPr marL="9525">
              <a:lnSpc>
                <a:spcPts val="1043"/>
              </a:lnSpc>
            </a:pPr>
            <a:r>
              <a:rPr sz="900" dirty="0">
                <a:latin typeface="Courier New"/>
                <a:cs typeface="Courier New"/>
              </a:rPr>
              <a:t>|</a:t>
            </a:r>
            <a:r>
              <a:rPr sz="900" spc="-15" dirty="0">
                <a:latin typeface="Courier New"/>
                <a:cs typeface="Courier New"/>
              </a:rPr>
              <a:t> </a:t>
            </a:r>
            <a:r>
              <a:rPr sz="900" dirty="0">
                <a:latin typeface="Courier New"/>
                <a:cs typeface="Courier New"/>
              </a:rPr>
              <a:t>FRANKLIN</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38" dirty="0">
                <a:latin typeface="Courier New"/>
                <a:cs typeface="Courier New"/>
              </a:rPr>
              <a:t>T</a:t>
            </a:r>
            <a:endParaRPr sz="900">
              <a:latin typeface="Courier New"/>
              <a:cs typeface="Courier New"/>
            </a:endParaRPr>
          </a:p>
          <a:p>
            <a:pPr marL="9525">
              <a:lnSpc>
                <a:spcPts val="1061"/>
              </a:lnSpc>
              <a:tabLst>
                <a:tab pos="768668"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ALICIA</a:t>
            </a:r>
            <a:r>
              <a:rPr sz="900" dirty="0">
                <a:latin typeface="Courier New"/>
                <a:cs typeface="Courier New"/>
              </a:rPr>
              <a:t>	|</a:t>
            </a:r>
            <a:r>
              <a:rPr sz="900" spc="-4" dirty="0">
                <a:latin typeface="Courier New"/>
                <a:cs typeface="Courier New"/>
              </a:rPr>
              <a:t> </a:t>
            </a:r>
            <a:r>
              <a:rPr sz="900" spc="-38" dirty="0">
                <a:latin typeface="Courier New"/>
                <a:cs typeface="Courier New"/>
              </a:rPr>
              <a:t>J</a:t>
            </a:r>
            <a:endParaRPr sz="900">
              <a:latin typeface="Courier New"/>
              <a:cs typeface="Courier New"/>
            </a:endParaRPr>
          </a:p>
          <a:p>
            <a:pPr marL="9525">
              <a:lnSpc>
                <a:spcPts val="1061"/>
              </a:lnSpc>
              <a:spcBef>
                <a:spcPts val="53"/>
              </a:spcBef>
            </a:pPr>
            <a:r>
              <a:rPr sz="900" dirty="0">
                <a:latin typeface="Courier New"/>
                <a:cs typeface="Courier New"/>
              </a:rPr>
              <a:t>|</a:t>
            </a:r>
            <a:r>
              <a:rPr sz="900" spc="-15" dirty="0">
                <a:latin typeface="Courier New"/>
                <a:cs typeface="Courier New"/>
              </a:rPr>
              <a:t> </a:t>
            </a:r>
            <a:r>
              <a:rPr sz="900" dirty="0">
                <a:latin typeface="Courier New"/>
                <a:cs typeface="Courier New"/>
              </a:rPr>
              <a:t>JENNIFER</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38" dirty="0">
                <a:latin typeface="Courier New"/>
                <a:cs typeface="Courier New"/>
              </a:rPr>
              <a:t>S</a:t>
            </a:r>
            <a:endParaRPr sz="900">
              <a:latin typeface="Courier New"/>
              <a:cs typeface="Courier New"/>
            </a:endParaRPr>
          </a:p>
          <a:p>
            <a:pPr marL="9525">
              <a:lnSpc>
                <a:spcPts val="1061"/>
              </a:lnSpc>
              <a:tabLst>
                <a:tab pos="768668"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RAMESH</a:t>
            </a:r>
            <a:r>
              <a:rPr sz="900" dirty="0">
                <a:latin typeface="Courier New"/>
                <a:cs typeface="Courier New"/>
              </a:rPr>
              <a:t>	|</a:t>
            </a:r>
            <a:r>
              <a:rPr sz="900" spc="-4" dirty="0">
                <a:latin typeface="Courier New"/>
                <a:cs typeface="Courier New"/>
              </a:rPr>
              <a:t> </a:t>
            </a:r>
            <a:r>
              <a:rPr sz="900" spc="-38" dirty="0">
                <a:latin typeface="Courier New"/>
                <a:cs typeface="Courier New"/>
              </a:rPr>
              <a:t>K</a:t>
            </a:r>
            <a:endParaRPr sz="900">
              <a:latin typeface="Courier New"/>
              <a:cs typeface="Courier New"/>
            </a:endParaRPr>
          </a:p>
        </p:txBody>
      </p:sp>
      <p:sp>
        <p:nvSpPr>
          <p:cNvPr id="39" name="object 39"/>
          <p:cNvSpPr txBox="1"/>
          <p:nvPr/>
        </p:nvSpPr>
        <p:spPr>
          <a:xfrm>
            <a:off x="2064807" y="3915538"/>
            <a:ext cx="4507706" cy="148117"/>
          </a:xfrm>
          <a:prstGeom prst="rect">
            <a:avLst/>
          </a:prstGeom>
        </p:spPr>
        <p:txBody>
          <a:bodyPr vert="horz" wrap="square" lIns="0" tIns="9525" rIns="0" bIns="0" rtlCol="0">
            <a:spAutoFit/>
          </a:bodyPr>
          <a:lstStyle/>
          <a:p>
            <a:pPr marL="9525">
              <a:spcBef>
                <a:spcPts val="75"/>
              </a:spcBef>
            </a:pPr>
            <a:r>
              <a:rPr sz="900" dirty="0">
                <a:latin typeface="Courier New"/>
                <a:cs typeface="Courier New"/>
              </a:rPr>
              <a:t>|</a:t>
            </a:r>
            <a:r>
              <a:rPr sz="900" spc="-15" dirty="0">
                <a:latin typeface="Courier New"/>
                <a:cs typeface="Courier New"/>
              </a:rPr>
              <a:t> </a:t>
            </a:r>
            <a:r>
              <a:rPr sz="900" dirty="0">
                <a:latin typeface="Courier New"/>
                <a:cs typeface="Courier New"/>
              </a:rPr>
              <a:t>NARAYAN</a:t>
            </a:r>
            <a:r>
              <a:rPr sz="900" spc="-11"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666884444</a:t>
            </a:r>
            <a:r>
              <a:rPr sz="900" spc="-11"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1"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975</a:t>
            </a:r>
            <a:r>
              <a:rPr sz="900" spc="-11" dirty="0">
                <a:latin typeface="Courier New"/>
                <a:cs typeface="Courier New"/>
              </a:rPr>
              <a:t> </a:t>
            </a:r>
            <a:r>
              <a:rPr sz="900" dirty="0">
                <a:latin typeface="Courier New"/>
                <a:cs typeface="Courier New"/>
              </a:rPr>
              <a:t>FIRE</a:t>
            </a:r>
            <a:r>
              <a:rPr sz="900" spc="-15" dirty="0">
                <a:latin typeface="Courier New"/>
                <a:cs typeface="Courier New"/>
              </a:rPr>
              <a:t> </a:t>
            </a:r>
            <a:r>
              <a:rPr sz="900" dirty="0">
                <a:latin typeface="Courier New"/>
                <a:cs typeface="Courier New"/>
              </a:rPr>
              <a:t>OAK,</a:t>
            </a:r>
            <a:r>
              <a:rPr sz="900" spc="-11" dirty="0">
                <a:latin typeface="Courier New"/>
                <a:cs typeface="Courier New"/>
              </a:rPr>
              <a:t> </a:t>
            </a:r>
            <a:r>
              <a:rPr sz="900" dirty="0">
                <a:latin typeface="Courier New"/>
                <a:cs typeface="Courier New"/>
              </a:rPr>
              <a:t>HUMBLE,</a:t>
            </a:r>
            <a:r>
              <a:rPr sz="900" spc="-15" dirty="0">
                <a:latin typeface="Courier New"/>
                <a:cs typeface="Courier New"/>
              </a:rPr>
              <a:t> </a:t>
            </a:r>
            <a:r>
              <a:rPr sz="900" dirty="0">
                <a:latin typeface="Courier New"/>
                <a:cs typeface="Courier New"/>
              </a:rPr>
              <a:t>TX</a:t>
            </a:r>
            <a:r>
              <a:rPr sz="900" spc="-11" dirty="0">
                <a:latin typeface="Courier New"/>
                <a:cs typeface="Courier New"/>
              </a:rPr>
              <a:t> </a:t>
            </a:r>
            <a:r>
              <a:rPr sz="900" dirty="0">
                <a:latin typeface="Courier New"/>
                <a:cs typeface="Courier New"/>
              </a:rPr>
              <a:t>|</a:t>
            </a:r>
            <a:r>
              <a:rPr sz="900" spc="-11" dirty="0">
                <a:latin typeface="Courier New"/>
                <a:cs typeface="Courier New"/>
              </a:rPr>
              <a:t> </a:t>
            </a:r>
            <a:r>
              <a:rPr sz="900" spc="-38" dirty="0">
                <a:latin typeface="Courier New"/>
                <a:cs typeface="Courier New"/>
              </a:rPr>
              <a:t>M</a:t>
            </a:r>
            <a:endParaRPr sz="900">
              <a:latin typeface="Courier New"/>
              <a:cs typeface="Courier New"/>
            </a:endParaRPr>
          </a:p>
        </p:txBody>
      </p:sp>
      <p:sp>
        <p:nvSpPr>
          <p:cNvPr id="40" name="object 40"/>
          <p:cNvSpPr txBox="1"/>
          <p:nvPr/>
        </p:nvSpPr>
        <p:spPr>
          <a:xfrm>
            <a:off x="752737" y="4059555"/>
            <a:ext cx="502920" cy="419987"/>
          </a:xfrm>
          <a:prstGeom prst="rect">
            <a:avLst/>
          </a:prstGeom>
        </p:spPr>
        <p:txBody>
          <a:bodyPr vert="horz" wrap="square" lIns="0" tIns="9525" rIns="0" bIns="0" rtlCol="0">
            <a:spAutoFit/>
          </a:bodyPr>
          <a:lstStyle/>
          <a:p>
            <a:pPr marL="9525">
              <a:lnSpc>
                <a:spcPts val="1061"/>
              </a:lnSpc>
              <a:spcBef>
                <a:spcPts val="75"/>
              </a:spcBef>
            </a:pPr>
            <a:r>
              <a:rPr sz="900" dirty="0">
                <a:latin typeface="Courier New"/>
                <a:cs typeface="Courier New"/>
              </a:rPr>
              <a:t>|</a:t>
            </a:r>
            <a:r>
              <a:rPr sz="900" spc="-4" dirty="0">
                <a:latin typeface="Courier New"/>
                <a:cs typeface="Courier New"/>
              </a:rPr>
              <a:t> </a:t>
            </a:r>
            <a:r>
              <a:rPr sz="900" spc="-8" dirty="0">
                <a:latin typeface="Courier New"/>
                <a:cs typeface="Courier New"/>
              </a:rPr>
              <a:t>JOYCE</a:t>
            </a:r>
            <a:endParaRPr sz="900">
              <a:latin typeface="Courier New"/>
              <a:cs typeface="Courier New"/>
            </a:endParaRPr>
          </a:p>
          <a:p>
            <a:pPr marL="9525">
              <a:lnSpc>
                <a:spcPts val="1043"/>
              </a:lnSpc>
            </a:pPr>
            <a:r>
              <a:rPr sz="900" dirty="0">
                <a:latin typeface="Courier New"/>
                <a:cs typeface="Courier New"/>
              </a:rPr>
              <a:t>|</a:t>
            </a:r>
            <a:r>
              <a:rPr sz="900" spc="-4" dirty="0">
                <a:latin typeface="Courier New"/>
                <a:cs typeface="Courier New"/>
              </a:rPr>
              <a:t> </a:t>
            </a:r>
            <a:r>
              <a:rPr sz="900" spc="-8" dirty="0">
                <a:latin typeface="Courier New"/>
                <a:cs typeface="Courier New"/>
              </a:rPr>
              <a:t>AHMAD</a:t>
            </a:r>
            <a:endParaRPr sz="900">
              <a:latin typeface="Courier New"/>
              <a:cs typeface="Courier New"/>
            </a:endParaRPr>
          </a:p>
          <a:p>
            <a:pPr marL="9525">
              <a:lnSpc>
                <a:spcPts val="1061"/>
              </a:lnSpc>
            </a:pPr>
            <a:r>
              <a:rPr sz="900" dirty="0">
                <a:latin typeface="Courier New"/>
                <a:cs typeface="Courier New"/>
              </a:rPr>
              <a:t>|</a:t>
            </a:r>
            <a:r>
              <a:rPr sz="900" spc="-4" dirty="0">
                <a:latin typeface="Courier New"/>
                <a:cs typeface="Courier New"/>
              </a:rPr>
              <a:t> </a:t>
            </a:r>
            <a:r>
              <a:rPr sz="900" spc="-8" dirty="0">
                <a:latin typeface="Courier New"/>
                <a:cs typeface="Courier New"/>
              </a:rPr>
              <a:t>JAMES</a:t>
            </a:r>
            <a:endParaRPr sz="900">
              <a:latin typeface="Courier New"/>
              <a:cs typeface="Courier New"/>
            </a:endParaRPr>
          </a:p>
        </p:txBody>
      </p:sp>
      <p:sp>
        <p:nvSpPr>
          <p:cNvPr id="41" name="object 41"/>
          <p:cNvSpPr txBox="1"/>
          <p:nvPr/>
        </p:nvSpPr>
        <p:spPr>
          <a:xfrm>
            <a:off x="1512357" y="4059555"/>
            <a:ext cx="226219" cy="419987"/>
          </a:xfrm>
          <a:prstGeom prst="rect">
            <a:avLst/>
          </a:prstGeom>
        </p:spPr>
        <p:txBody>
          <a:bodyPr vert="horz" wrap="square" lIns="0" tIns="9525" rIns="0" bIns="0" rtlCol="0">
            <a:spAutoFit/>
          </a:bodyPr>
          <a:lstStyle/>
          <a:p>
            <a:pPr marL="9525">
              <a:lnSpc>
                <a:spcPts val="1061"/>
              </a:lnSpc>
              <a:spcBef>
                <a:spcPts val="75"/>
              </a:spcBef>
            </a:pPr>
            <a:r>
              <a:rPr sz="900" dirty="0">
                <a:latin typeface="Courier New"/>
                <a:cs typeface="Courier New"/>
              </a:rPr>
              <a:t>|</a:t>
            </a:r>
            <a:r>
              <a:rPr sz="900" spc="-4" dirty="0">
                <a:latin typeface="Courier New"/>
                <a:cs typeface="Courier New"/>
              </a:rPr>
              <a:t> </a:t>
            </a:r>
            <a:r>
              <a:rPr sz="900" spc="-38" dirty="0">
                <a:latin typeface="Courier New"/>
                <a:cs typeface="Courier New"/>
              </a:rPr>
              <a:t>A</a:t>
            </a:r>
            <a:endParaRPr sz="900">
              <a:latin typeface="Courier New"/>
              <a:cs typeface="Courier New"/>
            </a:endParaRPr>
          </a:p>
          <a:p>
            <a:pPr marL="9525">
              <a:lnSpc>
                <a:spcPts val="1043"/>
              </a:lnSpc>
            </a:pPr>
            <a:r>
              <a:rPr sz="900" dirty="0">
                <a:latin typeface="Courier New"/>
                <a:cs typeface="Courier New"/>
              </a:rPr>
              <a:t>|</a:t>
            </a:r>
            <a:r>
              <a:rPr sz="900" spc="-4" dirty="0">
                <a:latin typeface="Courier New"/>
                <a:cs typeface="Courier New"/>
              </a:rPr>
              <a:t> </a:t>
            </a:r>
            <a:r>
              <a:rPr sz="900" spc="-38" dirty="0">
                <a:latin typeface="Courier New"/>
                <a:cs typeface="Courier New"/>
              </a:rPr>
              <a:t>V</a:t>
            </a:r>
            <a:endParaRPr sz="900">
              <a:latin typeface="Courier New"/>
              <a:cs typeface="Courier New"/>
            </a:endParaRPr>
          </a:p>
          <a:p>
            <a:pPr marL="9525">
              <a:lnSpc>
                <a:spcPts val="1061"/>
              </a:lnSpc>
            </a:pPr>
            <a:r>
              <a:rPr sz="900" dirty="0">
                <a:latin typeface="Courier New"/>
                <a:cs typeface="Courier New"/>
              </a:rPr>
              <a:t>|</a:t>
            </a:r>
            <a:r>
              <a:rPr sz="900" spc="-4" dirty="0">
                <a:latin typeface="Courier New"/>
                <a:cs typeface="Courier New"/>
              </a:rPr>
              <a:t> </a:t>
            </a:r>
            <a:r>
              <a:rPr sz="900" spc="-38" dirty="0">
                <a:latin typeface="Courier New"/>
                <a:cs typeface="Courier New"/>
              </a:rPr>
              <a:t>E</a:t>
            </a:r>
            <a:endParaRPr sz="900">
              <a:latin typeface="Courier New"/>
              <a:cs typeface="Courier New"/>
            </a:endParaRPr>
          </a:p>
        </p:txBody>
      </p:sp>
      <p:sp>
        <p:nvSpPr>
          <p:cNvPr id="42" name="object 42"/>
          <p:cNvSpPr txBox="1"/>
          <p:nvPr/>
        </p:nvSpPr>
        <p:spPr>
          <a:xfrm>
            <a:off x="2064807" y="4059555"/>
            <a:ext cx="4507706" cy="419987"/>
          </a:xfrm>
          <a:prstGeom prst="rect">
            <a:avLst/>
          </a:prstGeom>
        </p:spPr>
        <p:txBody>
          <a:bodyPr vert="horz" wrap="square" lIns="0" tIns="9525" rIns="0" bIns="0" rtlCol="0">
            <a:spAutoFit/>
          </a:bodyPr>
          <a:lstStyle/>
          <a:p>
            <a:pPr marL="9525">
              <a:lnSpc>
                <a:spcPts val="1061"/>
              </a:lnSpc>
              <a:spcBef>
                <a:spcPts val="75"/>
              </a:spcBef>
              <a:tabLst>
                <a:tab pos="4290536" algn="l"/>
              </a:tabLst>
            </a:pPr>
            <a:r>
              <a:rPr sz="900" dirty="0">
                <a:latin typeface="Courier New"/>
                <a:cs typeface="Courier New"/>
              </a:rPr>
              <a:t>|</a:t>
            </a:r>
            <a:r>
              <a:rPr sz="900" spc="-19" dirty="0">
                <a:latin typeface="Courier New"/>
                <a:cs typeface="Courier New"/>
              </a:rPr>
              <a:t> </a:t>
            </a:r>
            <a:r>
              <a:rPr sz="900" dirty="0">
                <a:latin typeface="Courier New"/>
                <a:cs typeface="Courier New"/>
              </a:rPr>
              <a:t>ENGLISH</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453453453</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5631</a:t>
            </a:r>
            <a:r>
              <a:rPr sz="900" spc="-15" dirty="0">
                <a:latin typeface="Courier New"/>
                <a:cs typeface="Courier New"/>
              </a:rPr>
              <a:t> </a:t>
            </a:r>
            <a:r>
              <a:rPr sz="900" dirty="0">
                <a:latin typeface="Courier New"/>
                <a:cs typeface="Courier New"/>
              </a:rPr>
              <a:t>RICE,</a:t>
            </a:r>
            <a:r>
              <a:rPr sz="900" spc="-15" dirty="0">
                <a:latin typeface="Courier New"/>
                <a:cs typeface="Courier New"/>
              </a:rPr>
              <a:t> </a:t>
            </a:r>
            <a:r>
              <a:rPr sz="900" dirty="0">
                <a:latin typeface="Courier New"/>
                <a:cs typeface="Courier New"/>
              </a:rPr>
              <a:t>HOUSTON,</a:t>
            </a:r>
            <a:r>
              <a:rPr sz="900" spc="-19" dirty="0">
                <a:latin typeface="Courier New"/>
                <a:cs typeface="Courier New"/>
              </a:rPr>
              <a:t> TX</a:t>
            </a:r>
            <a:r>
              <a:rPr sz="900" dirty="0">
                <a:latin typeface="Courier New"/>
                <a:cs typeface="Courier New"/>
              </a:rPr>
              <a:t>	|</a:t>
            </a:r>
            <a:r>
              <a:rPr sz="900" spc="-4" dirty="0">
                <a:latin typeface="Courier New"/>
                <a:cs typeface="Courier New"/>
              </a:rPr>
              <a:t> </a:t>
            </a:r>
            <a:r>
              <a:rPr sz="900" spc="-38" dirty="0">
                <a:latin typeface="Courier New"/>
                <a:cs typeface="Courier New"/>
              </a:rPr>
              <a:t>F</a:t>
            </a:r>
            <a:endParaRPr sz="900">
              <a:latin typeface="Courier New"/>
              <a:cs typeface="Courier New"/>
            </a:endParaRPr>
          </a:p>
          <a:p>
            <a:pPr marL="9525">
              <a:lnSpc>
                <a:spcPts val="1043"/>
              </a:lnSpc>
              <a:tabLst>
                <a:tab pos="699611" algn="l"/>
                <a:tab pos="4290536" algn="l"/>
              </a:tabLst>
            </a:pPr>
            <a:r>
              <a:rPr sz="900" dirty="0">
                <a:latin typeface="Courier New"/>
                <a:cs typeface="Courier New"/>
              </a:rPr>
              <a:t>|</a:t>
            </a:r>
            <a:r>
              <a:rPr sz="900" spc="-4" dirty="0">
                <a:latin typeface="Courier New"/>
                <a:cs typeface="Courier New"/>
              </a:rPr>
              <a:t> </a:t>
            </a:r>
            <a:r>
              <a:rPr sz="900" spc="-8" dirty="0">
                <a:latin typeface="Courier New"/>
                <a:cs typeface="Courier New"/>
              </a:rPr>
              <a:t>JABBAR</a:t>
            </a:r>
            <a:r>
              <a:rPr sz="900" dirty="0">
                <a:latin typeface="Courier New"/>
                <a:cs typeface="Courier New"/>
              </a:rPr>
              <a:t>	|</a:t>
            </a:r>
            <a:r>
              <a:rPr sz="900" spc="-19" dirty="0">
                <a:latin typeface="Courier New"/>
                <a:cs typeface="Courier New"/>
              </a:rPr>
              <a:t> </a:t>
            </a:r>
            <a:r>
              <a:rPr sz="900" dirty="0">
                <a:latin typeface="Courier New"/>
                <a:cs typeface="Courier New"/>
              </a:rPr>
              <a:t>987987987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9" dirty="0">
                <a:latin typeface="Courier New"/>
                <a:cs typeface="Courier New"/>
              </a:rPr>
              <a:t> </a:t>
            </a:r>
            <a:r>
              <a:rPr sz="900" dirty="0">
                <a:latin typeface="Courier New"/>
                <a:cs typeface="Courier New"/>
              </a:rPr>
              <a:t>980</a:t>
            </a:r>
            <a:r>
              <a:rPr sz="900" spc="-15" dirty="0">
                <a:latin typeface="Courier New"/>
                <a:cs typeface="Courier New"/>
              </a:rPr>
              <a:t> </a:t>
            </a:r>
            <a:r>
              <a:rPr sz="900" dirty="0">
                <a:latin typeface="Courier New"/>
                <a:cs typeface="Courier New"/>
              </a:rPr>
              <a:t>DALLAS,</a:t>
            </a:r>
            <a:r>
              <a:rPr sz="900" spc="-15" dirty="0">
                <a:latin typeface="Courier New"/>
                <a:cs typeface="Courier New"/>
              </a:rPr>
              <a:t> </a:t>
            </a:r>
            <a:r>
              <a:rPr sz="900" dirty="0">
                <a:latin typeface="Courier New"/>
                <a:cs typeface="Courier New"/>
              </a:rPr>
              <a:t>HOUSTON,</a:t>
            </a:r>
            <a:r>
              <a:rPr sz="900" spc="-15" dirty="0">
                <a:latin typeface="Courier New"/>
                <a:cs typeface="Courier New"/>
              </a:rPr>
              <a:t> </a:t>
            </a:r>
            <a:r>
              <a:rPr sz="900" spc="-19" dirty="0">
                <a:latin typeface="Courier New"/>
                <a:cs typeface="Courier New"/>
              </a:rPr>
              <a:t>TX</a:t>
            </a:r>
            <a:r>
              <a:rPr sz="900" dirty="0">
                <a:latin typeface="Courier New"/>
                <a:cs typeface="Courier New"/>
              </a:rPr>
              <a:t>	|</a:t>
            </a:r>
            <a:r>
              <a:rPr sz="900" spc="-4" dirty="0">
                <a:latin typeface="Courier New"/>
                <a:cs typeface="Courier New"/>
              </a:rPr>
              <a:t> </a:t>
            </a:r>
            <a:r>
              <a:rPr sz="900" spc="-38" dirty="0">
                <a:latin typeface="Courier New"/>
                <a:cs typeface="Courier New"/>
              </a:rPr>
              <a:t>M</a:t>
            </a:r>
            <a:endParaRPr sz="900">
              <a:latin typeface="Courier New"/>
              <a:cs typeface="Courier New"/>
            </a:endParaRPr>
          </a:p>
          <a:p>
            <a:pPr marL="9525">
              <a:lnSpc>
                <a:spcPts val="1061"/>
              </a:lnSpc>
              <a:tabLst>
                <a:tab pos="699611" algn="l"/>
                <a:tab pos="4290536" algn="l"/>
              </a:tabLst>
            </a:pPr>
            <a:r>
              <a:rPr sz="900" dirty="0">
                <a:latin typeface="Courier New"/>
                <a:cs typeface="Courier New"/>
              </a:rPr>
              <a:t>|</a:t>
            </a:r>
            <a:r>
              <a:rPr sz="900" spc="-4" dirty="0">
                <a:latin typeface="Courier New"/>
                <a:cs typeface="Courier New"/>
              </a:rPr>
              <a:t> </a:t>
            </a:r>
            <a:r>
              <a:rPr sz="900" spc="-15" dirty="0">
                <a:latin typeface="Courier New"/>
                <a:cs typeface="Courier New"/>
              </a:rPr>
              <a:t>BORG</a:t>
            </a:r>
            <a:r>
              <a:rPr sz="900" dirty="0">
                <a:latin typeface="Courier New"/>
                <a:cs typeface="Courier New"/>
              </a:rPr>
              <a:t>	|</a:t>
            </a:r>
            <a:r>
              <a:rPr sz="900" spc="-19" dirty="0">
                <a:latin typeface="Courier New"/>
                <a:cs typeface="Courier New"/>
              </a:rPr>
              <a:t> </a:t>
            </a:r>
            <a:r>
              <a:rPr sz="900" dirty="0">
                <a:latin typeface="Courier New"/>
                <a:cs typeface="Courier New"/>
              </a:rPr>
              <a:t>888665555</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spc="-8" dirty="0">
                <a:latin typeface="Courier New"/>
                <a:cs typeface="Courier New"/>
              </a:rPr>
              <a:t>2022-10-</a:t>
            </a:r>
            <a:r>
              <a:rPr sz="900" dirty="0">
                <a:latin typeface="Courier New"/>
                <a:cs typeface="Courier New"/>
              </a:rPr>
              <a:t>07</a:t>
            </a:r>
            <a:r>
              <a:rPr sz="900" spc="-15" dirty="0">
                <a:latin typeface="Courier New"/>
                <a:cs typeface="Courier New"/>
              </a:rPr>
              <a:t> </a:t>
            </a:r>
            <a:r>
              <a:rPr sz="900" dirty="0">
                <a:latin typeface="Courier New"/>
                <a:cs typeface="Courier New"/>
              </a:rPr>
              <a:t>|</a:t>
            </a:r>
            <a:r>
              <a:rPr sz="900" spc="-15" dirty="0">
                <a:latin typeface="Courier New"/>
                <a:cs typeface="Courier New"/>
              </a:rPr>
              <a:t> </a:t>
            </a:r>
            <a:r>
              <a:rPr sz="900" dirty="0">
                <a:latin typeface="Courier New"/>
                <a:cs typeface="Courier New"/>
              </a:rPr>
              <a:t>450</a:t>
            </a:r>
            <a:r>
              <a:rPr sz="900" spc="-15" dirty="0">
                <a:latin typeface="Courier New"/>
                <a:cs typeface="Courier New"/>
              </a:rPr>
              <a:t> </a:t>
            </a:r>
            <a:r>
              <a:rPr sz="900" dirty="0">
                <a:latin typeface="Courier New"/>
                <a:cs typeface="Courier New"/>
              </a:rPr>
              <a:t>STONE,</a:t>
            </a:r>
            <a:r>
              <a:rPr sz="900" spc="-15" dirty="0">
                <a:latin typeface="Courier New"/>
                <a:cs typeface="Courier New"/>
              </a:rPr>
              <a:t> </a:t>
            </a:r>
            <a:r>
              <a:rPr sz="900" dirty="0">
                <a:latin typeface="Courier New"/>
                <a:cs typeface="Courier New"/>
              </a:rPr>
              <a:t>HOUSTON,</a:t>
            </a:r>
            <a:r>
              <a:rPr sz="900" spc="-15" dirty="0">
                <a:latin typeface="Courier New"/>
                <a:cs typeface="Courier New"/>
              </a:rPr>
              <a:t> </a:t>
            </a:r>
            <a:r>
              <a:rPr sz="900" spc="-19" dirty="0">
                <a:latin typeface="Courier New"/>
                <a:cs typeface="Courier New"/>
              </a:rPr>
              <a:t>TX</a:t>
            </a:r>
            <a:r>
              <a:rPr sz="900" dirty="0">
                <a:latin typeface="Courier New"/>
                <a:cs typeface="Courier New"/>
              </a:rPr>
              <a:t>	|</a:t>
            </a:r>
            <a:r>
              <a:rPr sz="900" spc="-4" dirty="0">
                <a:latin typeface="Courier New"/>
                <a:cs typeface="Courier New"/>
              </a:rPr>
              <a:t> </a:t>
            </a:r>
            <a:r>
              <a:rPr sz="900" spc="-38" dirty="0">
                <a:latin typeface="Courier New"/>
                <a:cs typeface="Courier New"/>
              </a:rPr>
              <a:t>M</a:t>
            </a:r>
            <a:endParaRPr sz="900">
              <a:latin typeface="Courier New"/>
              <a:cs typeface="Courier New"/>
            </a:endParaRPr>
          </a:p>
        </p:txBody>
      </p:sp>
      <p:sp>
        <p:nvSpPr>
          <p:cNvPr id="43" name="object 43"/>
          <p:cNvSpPr/>
          <p:nvPr/>
        </p:nvSpPr>
        <p:spPr>
          <a:xfrm>
            <a:off x="831318" y="4556855"/>
            <a:ext cx="691039" cy="0"/>
          </a:xfrm>
          <a:custGeom>
            <a:avLst/>
            <a:gdLst/>
            <a:ahLst/>
            <a:cxnLst/>
            <a:rect l="l" t="t" r="r" b="b"/>
            <a:pathLst>
              <a:path w="921385">
                <a:moveTo>
                  <a:pt x="0" y="0"/>
                </a:moveTo>
                <a:lnTo>
                  <a:pt x="920800" y="0"/>
                </a:lnTo>
              </a:path>
            </a:pathLst>
          </a:custGeom>
          <a:ln w="12649">
            <a:solidFill>
              <a:srgbClr val="000000"/>
            </a:solidFill>
            <a:prstDash val="dash"/>
          </a:ln>
        </p:spPr>
        <p:txBody>
          <a:bodyPr wrap="square" lIns="0" tIns="0" rIns="0" bIns="0" rtlCol="0"/>
          <a:lstStyle/>
          <a:p>
            <a:endParaRPr sz="1800"/>
          </a:p>
        </p:txBody>
      </p:sp>
      <p:sp>
        <p:nvSpPr>
          <p:cNvPr id="44" name="object 44"/>
          <p:cNvSpPr/>
          <p:nvPr/>
        </p:nvSpPr>
        <p:spPr>
          <a:xfrm>
            <a:off x="1590938" y="4556855"/>
            <a:ext cx="483870" cy="0"/>
          </a:xfrm>
          <a:custGeom>
            <a:avLst/>
            <a:gdLst/>
            <a:ahLst/>
            <a:cxnLst/>
            <a:rect l="l" t="t" r="r" b="b"/>
            <a:pathLst>
              <a:path w="645160">
                <a:moveTo>
                  <a:pt x="0" y="0"/>
                </a:moveTo>
                <a:lnTo>
                  <a:pt x="644560" y="0"/>
                </a:lnTo>
              </a:path>
            </a:pathLst>
          </a:custGeom>
          <a:ln w="12649">
            <a:solidFill>
              <a:srgbClr val="000000"/>
            </a:solidFill>
            <a:prstDash val="dash"/>
          </a:ln>
        </p:spPr>
        <p:txBody>
          <a:bodyPr wrap="square" lIns="0" tIns="0" rIns="0" bIns="0" rtlCol="0"/>
          <a:lstStyle/>
          <a:p>
            <a:endParaRPr sz="1800"/>
          </a:p>
        </p:txBody>
      </p:sp>
      <p:sp>
        <p:nvSpPr>
          <p:cNvPr id="45" name="object 45"/>
          <p:cNvSpPr/>
          <p:nvPr/>
        </p:nvSpPr>
        <p:spPr>
          <a:xfrm>
            <a:off x="2143387" y="4556855"/>
            <a:ext cx="621983" cy="0"/>
          </a:xfrm>
          <a:custGeom>
            <a:avLst/>
            <a:gdLst/>
            <a:ahLst/>
            <a:cxnLst/>
            <a:rect l="l" t="t" r="r" b="b"/>
            <a:pathLst>
              <a:path w="829310">
                <a:moveTo>
                  <a:pt x="0" y="0"/>
                </a:moveTo>
                <a:lnTo>
                  <a:pt x="828720" y="0"/>
                </a:lnTo>
              </a:path>
            </a:pathLst>
          </a:custGeom>
          <a:ln w="12649">
            <a:solidFill>
              <a:srgbClr val="000000"/>
            </a:solidFill>
            <a:prstDash val="dash"/>
          </a:ln>
        </p:spPr>
        <p:txBody>
          <a:bodyPr wrap="square" lIns="0" tIns="0" rIns="0" bIns="0" rtlCol="0"/>
          <a:lstStyle/>
          <a:p>
            <a:endParaRPr sz="1800"/>
          </a:p>
        </p:txBody>
      </p:sp>
      <p:sp>
        <p:nvSpPr>
          <p:cNvPr id="46" name="object 46"/>
          <p:cNvSpPr/>
          <p:nvPr/>
        </p:nvSpPr>
        <p:spPr>
          <a:xfrm>
            <a:off x="2833949" y="4556855"/>
            <a:ext cx="760095" cy="0"/>
          </a:xfrm>
          <a:custGeom>
            <a:avLst/>
            <a:gdLst/>
            <a:ahLst/>
            <a:cxnLst/>
            <a:rect l="l" t="t" r="r" b="b"/>
            <a:pathLst>
              <a:path w="1013460">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47" name="object 47"/>
          <p:cNvSpPr/>
          <p:nvPr/>
        </p:nvSpPr>
        <p:spPr>
          <a:xfrm>
            <a:off x="3662625" y="4556855"/>
            <a:ext cx="829151" cy="0"/>
          </a:xfrm>
          <a:custGeom>
            <a:avLst/>
            <a:gdLst/>
            <a:ahLst/>
            <a:cxnLst/>
            <a:rect l="l" t="t" r="r" b="b"/>
            <a:pathLst>
              <a:path w="1105535">
                <a:moveTo>
                  <a:pt x="0" y="0"/>
                </a:moveTo>
                <a:lnTo>
                  <a:pt x="1104961" y="0"/>
                </a:lnTo>
              </a:path>
            </a:pathLst>
          </a:custGeom>
          <a:ln w="12649">
            <a:solidFill>
              <a:srgbClr val="000000"/>
            </a:solidFill>
            <a:prstDash val="dash"/>
          </a:ln>
        </p:spPr>
        <p:txBody>
          <a:bodyPr wrap="square" lIns="0" tIns="0" rIns="0" bIns="0" rtlCol="0"/>
          <a:lstStyle/>
          <a:p>
            <a:endParaRPr sz="1800"/>
          </a:p>
        </p:txBody>
      </p:sp>
      <p:sp>
        <p:nvSpPr>
          <p:cNvPr id="48" name="object 48"/>
          <p:cNvSpPr/>
          <p:nvPr/>
        </p:nvSpPr>
        <p:spPr>
          <a:xfrm>
            <a:off x="4560356" y="4556855"/>
            <a:ext cx="1795939" cy="0"/>
          </a:xfrm>
          <a:custGeom>
            <a:avLst/>
            <a:gdLst/>
            <a:ahLst/>
            <a:cxnLst/>
            <a:rect l="l" t="t" r="r" b="b"/>
            <a:pathLst>
              <a:path w="2394584">
                <a:moveTo>
                  <a:pt x="0" y="0"/>
                </a:moveTo>
                <a:lnTo>
                  <a:pt x="2394082" y="0"/>
                </a:lnTo>
              </a:path>
            </a:pathLst>
          </a:custGeom>
          <a:ln w="12649">
            <a:solidFill>
              <a:srgbClr val="000000"/>
            </a:solidFill>
            <a:prstDash val="dash"/>
          </a:ln>
        </p:spPr>
        <p:txBody>
          <a:bodyPr wrap="square" lIns="0" tIns="0" rIns="0" bIns="0" rtlCol="0"/>
          <a:lstStyle/>
          <a:p>
            <a:endParaRPr sz="1800"/>
          </a:p>
        </p:txBody>
      </p:sp>
      <p:sp>
        <p:nvSpPr>
          <p:cNvPr id="49" name="object 49"/>
          <p:cNvSpPr txBox="1"/>
          <p:nvPr/>
        </p:nvSpPr>
        <p:spPr>
          <a:xfrm>
            <a:off x="6346294" y="4468750"/>
            <a:ext cx="88106" cy="148117"/>
          </a:xfrm>
          <a:prstGeom prst="rect">
            <a:avLst/>
          </a:prstGeom>
        </p:spPr>
        <p:txBody>
          <a:bodyPr vert="horz" wrap="square" lIns="0" tIns="9525" rIns="0" bIns="0" rtlCol="0">
            <a:spAutoFit/>
          </a:bodyPr>
          <a:lstStyle/>
          <a:p>
            <a:pPr marL="9525">
              <a:spcBef>
                <a:spcPts val="75"/>
              </a:spcBef>
            </a:pPr>
            <a:r>
              <a:rPr sz="900" spc="-38" dirty="0">
                <a:latin typeface="Courier New"/>
                <a:cs typeface="Courier New"/>
              </a:rPr>
              <a:t>+</a:t>
            </a:r>
            <a:endParaRPr sz="900">
              <a:latin typeface="Courier New"/>
              <a:cs typeface="Courier New"/>
            </a:endParaRPr>
          </a:p>
        </p:txBody>
      </p:sp>
      <p:sp>
        <p:nvSpPr>
          <p:cNvPr id="50" name="object 50"/>
          <p:cNvSpPr/>
          <p:nvPr/>
        </p:nvSpPr>
        <p:spPr>
          <a:xfrm>
            <a:off x="6424875" y="4556855"/>
            <a:ext cx="414814" cy="0"/>
          </a:xfrm>
          <a:custGeom>
            <a:avLst/>
            <a:gdLst/>
            <a:ahLst/>
            <a:cxnLst/>
            <a:rect l="l" t="t" r="r" b="b"/>
            <a:pathLst>
              <a:path w="553084">
                <a:moveTo>
                  <a:pt x="0" y="0"/>
                </a:moveTo>
                <a:lnTo>
                  <a:pt x="552480" y="0"/>
                </a:lnTo>
              </a:path>
            </a:pathLst>
          </a:custGeom>
          <a:ln w="12649">
            <a:solidFill>
              <a:srgbClr val="000000"/>
            </a:solidFill>
            <a:prstDash val="dash"/>
          </a:ln>
        </p:spPr>
        <p:txBody>
          <a:bodyPr wrap="square" lIns="0" tIns="0" rIns="0" bIns="0" rtlCol="0"/>
          <a:lstStyle/>
          <a:p>
            <a:endParaRPr sz="1800"/>
          </a:p>
        </p:txBody>
      </p:sp>
      <p:sp>
        <p:nvSpPr>
          <p:cNvPr id="51" name="object 51"/>
          <p:cNvSpPr/>
          <p:nvPr/>
        </p:nvSpPr>
        <p:spPr>
          <a:xfrm>
            <a:off x="6908269" y="4556855"/>
            <a:ext cx="552926" cy="0"/>
          </a:xfrm>
          <a:custGeom>
            <a:avLst/>
            <a:gdLst/>
            <a:ahLst/>
            <a:cxnLst/>
            <a:rect l="l" t="t" r="r" b="b"/>
            <a:pathLst>
              <a:path w="737234">
                <a:moveTo>
                  <a:pt x="0" y="0"/>
                </a:moveTo>
                <a:lnTo>
                  <a:pt x="736640" y="0"/>
                </a:lnTo>
              </a:path>
            </a:pathLst>
          </a:custGeom>
          <a:ln w="12649">
            <a:solidFill>
              <a:srgbClr val="000000"/>
            </a:solidFill>
            <a:prstDash val="dash"/>
          </a:ln>
        </p:spPr>
        <p:txBody>
          <a:bodyPr wrap="square" lIns="0" tIns="0" rIns="0" bIns="0" rtlCol="0"/>
          <a:lstStyle/>
          <a:p>
            <a:endParaRPr sz="1800"/>
          </a:p>
        </p:txBody>
      </p:sp>
      <p:sp>
        <p:nvSpPr>
          <p:cNvPr id="52" name="object 52"/>
          <p:cNvSpPr/>
          <p:nvPr/>
        </p:nvSpPr>
        <p:spPr>
          <a:xfrm>
            <a:off x="7529774" y="4556855"/>
            <a:ext cx="760095" cy="0"/>
          </a:xfrm>
          <a:custGeom>
            <a:avLst/>
            <a:gdLst/>
            <a:ahLst/>
            <a:cxnLst/>
            <a:rect l="l" t="t" r="r" b="b"/>
            <a:pathLst>
              <a:path w="1013459">
                <a:moveTo>
                  <a:pt x="0" y="0"/>
                </a:moveTo>
                <a:lnTo>
                  <a:pt x="1012880" y="0"/>
                </a:lnTo>
              </a:path>
            </a:pathLst>
          </a:custGeom>
          <a:ln w="12649">
            <a:solidFill>
              <a:srgbClr val="000000"/>
            </a:solidFill>
            <a:prstDash val="dash"/>
          </a:ln>
        </p:spPr>
        <p:txBody>
          <a:bodyPr wrap="square" lIns="0" tIns="0" rIns="0" bIns="0" rtlCol="0"/>
          <a:lstStyle/>
          <a:p>
            <a:endParaRPr sz="1800"/>
          </a:p>
        </p:txBody>
      </p:sp>
      <p:sp>
        <p:nvSpPr>
          <p:cNvPr id="53" name="object 53"/>
          <p:cNvSpPr/>
          <p:nvPr/>
        </p:nvSpPr>
        <p:spPr>
          <a:xfrm>
            <a:off x="8358450" y="4556855"/>
            <a:ext cx="345757" cy="0"/>
          </a:xfrm>
          <a:custGeom>
            <a:avLst/>
            <a:gdLst/>
            <a:ahLst/>
            <a:cxnLst/>
            <a:rect l="l" t="t" r="r" b="b"/>
            <a:pathLst>
              <a:path w="461009">
                <a:moveTo>
                  <a:pt x="0" y="0"/>
                </a:moveTo>
                <a:lnTo>
                  <a:pt x="460400" y="0"/>
                </a:lnTo>
              </a:path>
            </a:pathLst>
          </a:custGeom>
          <a:ln w="12649">
            <a:solidFill>
              <a:srgbClr val="000000"/>
            </a:solidFill>
            <a:prstDash val="dash"/>
          </a:ln>
        </p:spPr>
        <p:txBody>
          <a:bodyPr wrap="square" lIns="0" tIns="0" rIns="0" bIns="0" rtlCol="0"/>
          <a:lstStyle/>
          <a:p>
            <a:endParaRPr sz="1800"/>
          </a:p>
        </p:txBody>
      </p:sp>
      <p:sp>
        <p:nvSpPr>
          <p:cNvPr id="54" name="object 54"/>
          <p:cNvSpPr txBox="1"/>
          <p:nvPr/>
        </p:nvSpPr>
        <p:spPr>
          <a:xfrm>
            <a:off x="6829687" y="3373755"/>
            <a:ext cx="1952625" cy="1289456"/>
          </a:xfrm>
          <a:prstGeom prst="rect">
            <a:avLst/>
          </a:prstGeom>
        </p:spPr>
        <p:txBody>
          <a:bodyPr vert="horz" wrap="square" lIns="0" tIns="9525" rIns="0" bIns="0" rtlCol="0">
            <a:spAutoFit/>
          </a:bodyPr>
          <a:lstStyle/>
          <a:p>
            <a:pPr marL="9525">
              <a:lnSpc>
                <a:spcPts val="1061"/>
              </a:lnSpc>
              <a:spcBef>
                <a:spcPts val="75"/>
              </a:spcBef>
              <a:tabLst>
                <a:tab pos="216218" algn="l"/>
                <a:tab pos="1735455" algn="l"/>
              </a:tabLst>
            </a:pPr>
            <a:r>
              <a:rPr sz="900" spc="-38" dirty="0">
                <a:latin typeface="Courier New"/>
                <a:cs typeface="Courier New"/>
              </a:rPr>
              <a:t>|</a:t>
            </a:r>
            <a:r>
              <a:rPr sz="900" dirty="0">
                <a:latin typeface="Courier New"/>
                <a:cs typeface="Courier New"/>
              </a:rPr>
              <a:t>	33000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333445555</a:t>
            </a:r>
            <a:r>
              <a:rPr sz="900" spc="-23" dirty="0">
                <a:latin typeface="Courier New"/>
                <a:cs typeface="Courier New"/>
              </a:rPr>
              <a:t> </a:t>
            </a:r>
            <a:r>
              <a:rPr sz="900" spc="-38" dirty="0">
                <a:latin typeface="Courier New"/>
                <a:cs typeface="Courier New"/>
              </a:rPr>
              <a:t>|</a:t>
            </a:r>
            <a:r>
              <a:rPr sz="900" dirty="0">
                <a:latin typeface="Courier New"/>
                <a:cs typeface="Courier New"/>
              </a:rPr>
              <a:t>	5</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43"/>
              </a:lnSpc>
              <a:tabLst>
                <a:tab pos="216218" algn="l"/>
                <a:tab pos="1735455" algn="l"/>
              </a:tabLst>
            </a:pPr>
            <a:r>
              <a:rPr sz="900" spc="-38" dirty="0">
                <a:latin typeface="Courier New"/>
                <a:cs typeface="Courier New"/>
              </a:rPr>
              <a:t>|</a:t>
            </a:r>
            <a:r>
              <a:rPr sz="900" dirty="0">
                <a:latin typeface="Courier New"/>
                <a:cs typeface="Courier New"/>
              </a:rPr>
              <a:t>	44000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888665555</a:t>
            </a:r>
            <a:r>
              <a:rPr sz="900" spc="-23" dirty="0">
                <a:latin typeface="Courier New"/>
                <a:cs typeface="Courier New"/>
              </a:rPr>
              <a:t> </a:t>
            </a:r>
            <a:r>
              <a:rPr sz="900" spc="-38" dirty="0">
                <a:latin typeface="Courier New"/>
                <a:cs typeface="Courier New"/>
              </a:rPr>
              <a:t>|</a:t>
            </a:r>
            <a:r>
              <a:rPr sz="900" dirty="0">
                <a:latin typeface="Courier New"/>
                <a:cs typeface="Courier New"/>
              </a:rPr>
              <a:t>	5</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tabLst>
                <a:tab pos="216218" algn="l"/>
                <a:tab pos="1735455" algn="l"/>
              </a:tabLst>
            </a:pPr>
            <a:r>
              <a:rPr sz="900" spc="-38" dirty="0">
                <a:latin typeface="Courier New"/>
                <a:cs typeface="Courier New"/>
              </a:rPr>
              <a:t>|</a:t>
            </a:r>
            <a:r>
              <a:rPr sz="900" dirty="0">
                <a:latin typeface="Courier New"/>
                <a:cs typeface="Courier New"/>
              </a:rPr>
              <a:t>	27500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987654321</a:t>
            </a:r>
            <a:r>
              <a:rPr sz="900" spc="-23" dirty="0">
                <a:latin typeface="Courier New"/>
                <a:cs typeface="Courier New"/>
              </a:rPr>
              <a:t> </a:t>
            </a:r>
            <a:r>
              <a:rPr sz="900" spc="-38" dirty="0">
                <a:latin typeface="Courier New"/>
                <a:cs typeface="Courier New"/>
              </a:rPr>
              <a:t>|</a:t>
            </a:r>
            <a:r>
              <a:rPr sz="900" dirty="0">
                <a:latin typeface="Courier New"/>
                <a:cs typeface="Courier New"/>
              </a:rPr>
              <a:t>	4</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spcBef>
                <a:spcPts val="53"/>
              </a:spcBef>
              <a:tabLst>
                <a:tab pos="216218" algn="l"/>
                <a:tab pos="1735455" algn="l"/>
              </a:tabLst>
            </a:pPr>
            <a:r>
              <a:rPr sz="900" spc="-38" dirty="0">
                <a:latin typeface="Courier New"/>
                <a:cs typeface="Courier New"/>
              </a:rPr>
              <a:t>|</a:t>
            </a:r>
            <a:r>
              <a:rPr sz="900" dirty="0">
                <a:latin typeface="Courier New"/>
                <a:cs typeface="Courier New"/>
              </a:rPr>
              <a:t>	47300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888665555</a:t>
            </a:r>
            <a:r>
              <a:rPr sz="900" spc="-23" dirty="0">
                <a:latin typeface="Courier New"/>
                <a:cs typeface="Courier New"/>
              </a:rPr>
              <a:t> </a:t>
            </a:r>
            <a:r>
              <a:rPr sz="900" spc="-38" dirty="0">
                <a:latin typeface="Courier New"/>
                <a:cs typeface="Courier New"/>
              </a:rPr>
              <a:t>|</a:t>
            </a:r>
            <a:r>
              <a:rPr sz="900" dirty="0">
                <a:latin typeface="Courier New"/>
                <a:cs typeface="Courier New"/>
              </a:rPr>
              <a:t>	4</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tabLst>
                <a:tab pos="216218" algn="l"/>
                <a:tab pos="1735455" algn="l"/>
              </a:tabLst>
            </a:pPr>
            <a:r>
              <a:rPr sz="900" spc="-38" dirty="0">
                <a:latin typeface="Courier New"/>
                <a:cs typeface="Courier New"/>
              </a:rPr>
              <a:t>|</a:t>
            </a:r>
            <a:r>
              <a:rPr sz="900" dirty="0">
                <a:latin typeface="Courier New"/>
                <a:cs typeface="Courier New"/>
              </a:rPr>
              <a:t>	41800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333445555</a:t>
            </a:r>
            <a:r>
              <a:rPr sz="900" spc="-23" dirty="0">
                <a:latin typeface="Courier New"/>
                <a:cs typeface="Courier New"/>
              </a:rPr>
              <a:t> </a:t>
            </a:r>
            <a:r>
              <a:rPr sz="900" spc="-38" dirty="0">
                <a:latin typeface="Courier New"/>
                <a:cs typeface="Courier New"/>
              </a:rPr>
              <a:t>|</a:t>
            </a:r>
            <a:r>
              <a:rPr sz="900" dirty="0">
                <a:latin typeface="Courier New"/>
                <a:cs typeface="Courier New"/>
              </a:rPr>
              <a:t>	5</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spcBef>
                <a:spcPts val="56"/>
              </a:spcBef>
              <a:tabLst>
                <a:tab pos="216218" algn="l"/>
                <a:tab pos="1735455" algn="l"/>
              </a:tabLst>
            </a:pPr>
            <a:r>
              <a:rPr sz="900" spc="-38" dirty="0">
                <a:latin typeface="Courier New"/>
                <a:cs typeface="Courier New"/>
              </a:rPr>
              <a:t>|</a:t>
            </a:r>
            <a:r>
              <a:rPr sz="900" dirty="0">
                <a:latin typeface="Courier New"/>
                <a:cs typeface="Courier New"/>
              </a:rPr>
              <a:t>	27500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333445555</a:t>
            </a:r>
            <a:r>
              <a:rPr sz="900" spc="-23" dirty="0">
                <a:latin typeface="Courier New"/>
                <a:cs typeface="Courier New"/>
              </a:rPr>
              <a:t> </a:t>
            </a:r>
            <a:r>
              <a:rPr sz="900" spc="-38" dirty="0">
                <a:latin typeface="Courier New"/>
                <a:cs typeface="Courier New"/>
              </a:rPr>
              <a:t>|</a:t>
            </a:r>
            <a:r>
              <a:rPr sz="900" dirty="0">
                <a:latin typeface="Courier New"/>
                <a:cs typeface="Courier New"/>
              </a:rPr>
              <a:t>	5</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43"/>
              </a:lnSpc>
              <a:tabLst>
                <a:tab pos="216218" algn="l"/>
                <a:tab pos="1735455" algn="l"/>
              </a:tabLst>
            </a:pPr>
            <a:r>
              <a:rPr sz="900" spc="-38" dirty="0">
                <a:latin typeface="Courier New"/>
                <a:cs typeface="Courier New"/>
              </a:rPr>
              <a:t>|</a:t>
            </a:r>
            <a:r>
              <a:rPr sz="900" dirty="0">
                <a:latin typeface="Courier New"/>
                <a:cs typeface="Courier New"/>
              </a:rPr>
              <a:t>	27500</a:t>
            </a:r>
            <a:r>
              <a:rPr sz="900" spc="-26" dirty="0">
                <a:latin typeface="Courier New"/>
                <a:cs typeface="Courier New"/>
              </a:rPr>
              <a:t> </a:t>
            </a:r>
            <a:r>
              <a:rPr sz="900" dirty="0">
                <a:latin typeface="Courier New"/>
                <a:cs typeface="Courier New"/>
              </a:rPr>
              <a:t>|</a:t>
            </a:r>
            <a:r>
              <a:rPr sz="900" spc="-23" dirty="0">
                <a:latin typeface="Courier New"/>
                <a:cs typeface="Courier New"/>
              </a:rPr>
              <a:t> </a:t>
            </a:r>
            <a:r>
              <a:rPr sz="900" dirty="0">
                <a:latin typeface="Courier New"/>
                <a:cs typeface="Courier New"/>
              </a:rPr>
              <a:t>987654321</a:t>
            </a:r>
            <a:r>
              <a:rPr sz="900" spc="-23" dirty="0">
                <a:latin typeface="Courier New"/>
                <a:cs typeface="Courier New"/>
              </a:rPr>
              <a:t> </a:t>
            </a:r>
            <a:r>
              <a:rPr sz="900" spc="-38" dirty="0">
                <a:latin typeface="Courier New"/>
                <a:cs typeface="Courier New"/>
              </a:rPr>
              <a:t>|</a:t>
            </a:r>
            <a:r>
              <a:rPr sz="900" dirty="0">
                <a:latin typeface="Courier New"/>
                <a:cs typeface="Courier New"/>
              </a:rPr>
              <a:t>	4</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tabLst>
                <a:tab pos="216218" algn="l"/>
                <a:tab pos="1459229" algn="l"/>
                <a:tab pos="1735455" algn="l"/>
              </a:tabLst>
            </a:pPr>
            <a:r>
              <a:rPr sz="900" spc="-38" dirty="0">
                <a:latin typeface="Courier New"/>
                <a:cs typeface="Courier New"/>
              </a:rPr>
              <a:t>|</a:t>
            </a:r>
            <a:r>
              <a:rPr sz="900" dirty="0">
                <a:latin typeface="Courier New"/>
                <a:cs typeface="Courier New"/>
              </a:rPr>
              <a:t>	60500</a:t>
            </a:r>
            <a:r>
              <a:rPr sz="900" spc="-26"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1</a:t>
            </a:r>
            <a:r>
              <a:rPr sz="900" spc="-4" dirty="0">
                <a:latin typeface="Courier New"/>
                <a:cs typeface="Courier New"/>
              </a:rPr>
              <a:t> </a:t>
            </a:r>
            <a:r>
              <a:rPr sz="900" spc="-38" dirty="0">
                <a:latin typeface="Courier New"/>
                <a:cs typeface="Courier New"/>
              </a:rPr>
              <a:t>|</a:t>
            </a:r>
            <a:endParaRPr sz="900">
              <a:latin typeface="Courier New"/>
              <a:cs typeface="Courier New"/>
            </a:endParaRPr>
          </a:p>
          <a:p>
            <a:pPr marL="9525">
              <a:spcBef>
                <a:spcPts val="53"/>
              </a:spcBef>
              <a:tabLst>
                <a:tab pos="630555" algn="l"/>
                <a:tab pos="1459229" algn="l"/>
                <a:tab pos="1873568"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p:txBody>
      </p:sp>
      <p:sp>
        <p:nvSpPr>
          <p:cNvPr id="57" name="object 57"/>
          <p:cNvSpPr txBox="1">
            <a:spLocks noGrp="1"/>
          </p:cNvSpPr>
          <p:nvPr>
            <p:ph type="ftr" sz="quarter" idx="5"/>
          </p:nvPr>
        </p:nvSpPr>
        <p:spPr>
          <a:xfrm>
            <a:off x="4254246" y="6428920"/>
            <a:ext cx="3683634"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9525">
              <a:spcBef>
                <a:spcPts val="30"/>
              </a:spcBef>
            </a:pPr>
            <a:r>
              <a:rPr lang="en-US" spc="-10"/>
              <a:t>Copyright</a:t>
            </a:r>
            <a:r>
              <a:rPr lang="en-US" spc="-15"/>
              <a:t> </a:t>
            </a:r>
            <a:r>
              <a:rPr lang="en-US"/>
              <a:t>©</a:t>
            </a:r>
            <a:r>
              <a:rPr lang="en-US" spc="-10"/>
              <a:t> </a:t>
            </a:r>
            <a:r>
              <a:rPr lang="en-US"/>
              <a:t>2016</a:t>
            </a:r>
            <a:r>
              <a:rPr lang="en-US" spc="-10"/>
              <a:t> </a:t>
            </a:r>
            <a:r>
              <a:rPr lang="en-US"/>
              <a:t>Ramez</a:t>
            </a:r>
            <a:r>
              <a:rPr lang="en-US" spc="-5"/>
              <a:t> </a:t>
            </a:r>
            <a:r>
              <a:rPr lang="en-US"/>
              <a:t>Elmasri</a:t>
            </a:r>
            <a:r>
              <a:rPr lang="en-US" spc="-15"/>
              <a:t> </a:t>
            </a:r>
            <a:r>
              <a:rPr lang="en-US"/>
              <a:t>and</a:t>
            </a:r>
            <a:r>
              <a:rPr lang="en-US" spc="-15"/>
              <a:t> </a:t>
            </a:r>
            <a:r>
              <a:rPr lang="en-US" spc="-10"/>
              <a:t>Shamkant</a:t>
            </a:r>
            <a:r>
              <a:rPr lang="en-US" spc="-15"/>
              <a:t> </a:t>
            </a:r>
            <a:r>
              <a:rPr lang="en-US"/>
              <a:t>B.</a:t>
            </a:r>
            <a:r>
              <a:rPr lang="en-US" spc="-10"/>
              <a:t> Navathe</a:t>
            </a:r>
            <a:endParaRPr spc="-8" dirty="0"/>
          </a:p>
        </p:txBody>
      </p:sp>
      <p:sp>
        <p:nvSpPr>
          <p:cNvPr id="58" name="object 58"/>
          <p:cNvSpPr txBox="1">
            <a:spLocks noGrp="1"/>
          </p:cNvSpPr>
          <p:nvPr>
            <p:ph type="sldNum" sz="quarter" idx="7"/>
          </p:nvPr>
        </p:nvSpPr>
        <p:spPr>
          <a:xfrm>
            <a:off x="11067415" y="6428920"/>
            <a:ext cx="2444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15570">
              <a:spcBef>
                <a:spcPts val="40"/>
              </a:spcBef>
            </a:pPr>
            <a:fld id="{81D60167-4931-47E6-BA6A-407CBD079E47}" type="slidenum">
              <a:rPr lang="en-US" spc="-50" smtClean="0"/>
              <a:pPr marL="115570">
                <a:spcBef>
                  <a:spcPts val="40"/>
                </a:spcBef>
              </a:pPr>
              <a:t>174</a:t>
            </a:fld>
            <a:endParaRPr spc="-19" dirty="0"/>
          </a:p>
        </p:txBody>
      </p:sp>
      <p:sp>
        <p:nvSpPr>
          <p:cNvPr id="55" name="object 55"/>
          <p:cNvSpPr txBox="1"/>
          <p:nvPr/>
        </p:nvSpPr>
        <p:spPr>
          <a:xfrm>
            <a:off x="752737" y="4468749"/>
            <a:ext cx="3817144" cy="291747"/>
          </a:xfrm>
          <a:prstGeom prst="rect">
            <a:avLst/>
          </a:prstGeom>
        </p:spPr>
        <p:txBody>
          <a:bodyPr vert="horz" wrap="square" lIns="0" tIns="9525" rIns="0" bIns="0" rtlCol="0">
            <a:spAutoFit/>
          </a:bodyPr>
          <a:lstStyle/>
          <a:p>
            <a:pPr marL="9525">
              <a:lnSpc>
                <a:spcPts val="1061"/>
              </a:lnSpc>
              <a:spcBef>
                <a:spcPts val="75"/>
              </a:spcBef>
              <a:tabLst>
                <a:tab pos="768668" algn="l"/>
                <a:tab pos="1321117" algn="l"/>
                <a:tab pos="2011680" algn="l"/>
                <a:tab pos="2840355" algn="l"/>
                <a:tab pos="3738086" algn="l"/>
              </a:tabLst>
            </a:pP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r>
              <a:rPr sz="900" dirty="0">
                <a:latin typeface="Courier New"/>
                <a:cs typeface="Courier New"/>
              </a:rPr>
              <a:t>	</a:t>
            </a:r>
            <a:r>
              <a:rPr sz="900" spc="-38" dirty="0">
                <a:latin typeface="Courier New"/>
                <a:cs typeface="Courier New"/>
              </a:rPr>
              <a:t>+</a:t>
            </a:r>
            <a:endParaRPr sz="900">
              <a:latin typeface="Courier New"/>
              <a:cs typeface="Courier New"/>
            </a:endParaRPr>
          </a:p>
          <a:p>
            <a:pPr marL="9525">
              <a:lnSpc>
                <a:spcPts val="1061"/>
              </a:lnSpc>
            </a:pPr>
            <a:r>
              <a:rPr sz="900" dirty="0">
                <a:latin typeface="Courier New"/>
                <a:cs typeface="Courier New"/>
              </a:rPr>
              <a:t>8</a:t>
            </a:r>
            <a:r>
              <a:rPr sz="900" spc="-15" dirty="0">
                <a:latin typeface="Courier New"/>
                <a:cs typeface="Courier New"/>
              </a:rPr>
              <a:t> </a:t>
            </a:r>
            <a:r>
              <a:rPr sz="900" dirty="0">
                <a:latin typeface="Courier New"/>
                <a:cs typeface="Courier New"/>
              </a:rPr>
              <a:t>rows</a:t>
            </a:r>
            <a:r>
              <a:rPr sz="900" spc="-11" dirty="0">
                <a:latin typeface="Courier New"/>
                <a:cs typeface="Courier New"/>
              </a:rPr>
              <a:t> </a:t>
            </a:r>
            <a:r>
              <a:rPr sz="900" dirty="0">
                <a:latin typeface="Courier New"/>
                <a:cs typeface="Courier New"/>
              </a:rPr>
              <a:t>in</a:t>
            </a:r>
            <a:r>
              <a:rPr sz="900" spc="-15" dirty="0">
                <a:latin typeface="Courier New"/>
                <a:cs typeface="Courier New"/>
              </a:rPr>
              <a:t> </a:t>
            </a:r>
            <a:r>
              <a:rPr sz="900" dirty="0">
                <a:latin typeface="Courier New"/>
                <a:cs typeface="Courier New"/>
              </a:rPr>
              <a:t>set</a:t>
            </a:r>
            <a:r>
              <a:rPr sz="900" spc="-11" dirty="0">
                <a:latin typeface="Courier New"/>
                <a:cs typeface="Courier New"/>
              </a:rPr>
              <a:t> </a:t>
            </a:r>
            <a:r>
              <a:rPr sz="900" dirty="0">
                <a:latin typeface="Courier New"/>
                <a:cs typeface="Courier New"/>
              </a:rPr>
              <a:t>(0.00</a:t>
            </a:r>
            <a:r>
              <a:rPr sz="900" spc="-11" dirty="0">
                <a:latin typeface="Courier New"/>
                <a:cs typeface="Courier New"/>
              </a:rPr>
              <a:t> </a:t>
            </a:r>
            <a:r>
              <a:rPr sz="900" spc="-15" dirty="0">
                <a:latin typeface="Courier New"/>
                <a:cs typeface="Courier New"/>
              </a:rPr>
              <a:t>sec)</a:t>
            </a:r>
            <a:endParaRPr sz="900">
              <a:latin typeface="Courier New"/>
              <a:cs typeface="Courier New"/>
            </a:endParaRPr>
          </a:p>
        </p:txBody>
      </p:sp>
      <p:sp>
        <p:nvSpPr>
          <p:cNvPr id="56" name="object 56"/>
          <p:cNvSpPr txBox="1">
            <a:spLocks noGrp="1"/>
          </p:cNvSpPr>
          <p:nvPr>
            <p:ph type="title"/>
          </p:nvPr>
        </p:nvSpPr>
        <p:spPr>
          <a:xfrm>
            <a:off x="7271779" y="1154615"/>
            <a:ext cx="461010" cy="217367"/>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sz="1350" spc="-8" dirty="0">
                <a:latin typeface="Calibri"/>
                <a:cs typeface="Calibri"/>
              </a:rPr>
              <a:t>Q5.sql</a:t>
            </a:r>
            <a:endParaRPr sz="1350">
              <a:latin typeface="Calibri"/>
              <a:cs typeface="Calibri"/>
            </a:endParaRPr>
          </a:p>
        </p:txBody>
      </p:sp>
    </p:spTree>
  </p:cSld>
  <p:clrMapOvr>
    <a:masterClrMapping/>
  </p:clrMapOvr>
  <p:transition spd="med"/>
</p:sld>
</file>

<file path=ppt/slides/slide1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4254246" y="6428920"/>
            <a:ext cx="3683634"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9525">
              <a:spcBef>
                <a:spcPts val="30"/>
              </a:spcBef>
            </a:pPr>
            <a:r>
              <a:rPr lang="en-US" spc="-10"/>
              <a:t>Copyright</a:t>
            </a:r>
            <a:r>
              <a:rPr lang="en-US" spc="-15"/>
              <a:t> </a:t>
            </a:r>
            <a:r>
              <a:rPr lang="en-US"/>
              <a:t>©</a:t>
            </a:r>
            <a:r>
              <a:rPr lang="en-US" spc="-10"/>
              <a:t> </a:t>
            </a:r>
            <a:r>
              <a:rPr lang="en-US"/>
              <a:t>2016</a:t>
            </a:r>
            <a:r>
              <a:rPr lang="en-US" spc="-10"/>
              <a:t> </a:t>
            </a:r>
            <a:r>
              <a:rPr lang="en-US"/>
              <a:t>Ramez</a:t>
            </a:r>
            <a:r>
              <a:rPr lang="en-US" spc="-5"/>
              <a:t> </a:t>
            </a:r>
            <a:r>
              <a:rPr lang="en-US"/>
              <a:t>Elmasri</a:t>
            </a:r>
            <a:r>
              <a:rPr lang="en-US" spc="-15"/>
              <a:t> </a:t>
            </a:r>
            <a:r>
              <a:rPr lang="en-US"/>
              <a:t>and</a:t>
            </a:r>
            <a:r>
              <a:rPr lang="en-US" spc="-15"/>
              <a:t> </a:t>
            </a:r>
            <a:r>
              <a:rPr lang="en-US" spc="-10"/>
              <a:t>Shamkant</a:t>
            </a:r>
            <a:r>
              <a:rPr lang="en-US" spc="-15"/>
              <a:t> </a:t>
            </a:r>
            <a:r>
              <a:rPr lang="en-US"/>
              <a:t>B.</a:t>
            </a:r>
            <a:r>
              <a:rPr lang="en-US" spc="-10"/>
              <a:t> Navathe</a:t>
            </a:r>
            <a:endParaRPr spc="-8" dirty="0"/>
          </a:p>
        </p:txBody>
      </p:sp>
      <p:sp>
        <p:nvSpPr>
          <p:cNvPr id="5" name="object 5"/>
          <p:cNvSpPr txBox="1">
            <a:spLocks noGrp="1"/>
          </p:cNvSpPr>
          <p:nvPr>
            <p:ph type="sldNum" sz="quarter" idx="7"/>
          </p:nvPr>
        </p:nvSpPr>
        <p:spPr>
          <a:xfrm>
            <a:off x="11067415" y="6428920"/>
            <a:ext cx="2444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15570">
              <a:spcBef>
                <a:spcPts val="40"/>
              </a:spcBef>
            </a:pPr>
            <a:fld id="{81D60167-4931-47E6-BA6A-407CBD079E47}" type="slidenum">
              <a:rPr lang="en-US" spc="-50" smtClean="0"/>
              <a:pPr marL="115570">
                <a:spcBef>
                  <a:spcPts val="40"/>
                </a:spcBef>
              </a:pPr>
              <a:t>175</a:t>
            </a:fld>
            <a:endParaRPr spc="-19" dirty="0"/>
          </a:p>
        </p:txBody>
      </p:sp>
      <p:sp>
        <p:nvSpPr>
          <p:cNvPr id="2" name="object 2"/>
          <p:cNvSpPr txBox="1">
            <a:spLocks noGrp="1"/>
          </p:cNvSpPr>
          <p:nvPr>
            <p:ph type="title"/>
          </p:nvPr>
        </p:nvSpPr>
        <p:spPr>
          <a:xfrm>
            <a:off x="1330666" y="468692"/>
            <a:ext cx="5847160"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dirty="0"/>
              <a:t>Implicit</a:t>
            </a:r>
            <a:r>
              <a:rPr spc="-56" dirty="0"/>
              <a:t> </a:t>
            </a:r>
            <a:r>
              <a:rPr dirty="0"/>
              <a:t>&amp;</a:t>
            </a:r>
            <a:r>
              <a:rPr spc="-53" dirty="0"/>
              <a:t> </a:t>
            </a:r>
            <a:r>
              <a:rPr dirty="0"/>
              <a:t>Explicit</a:t>
            </a:r>
            <a:r>
              <a:rPr spc="-53" dirty="0"/>
              <a:t> </a:t>
            </a:r>
            <a:r>
              <a:rPr spc="-8" dirty="0"/>
              <a:t>Cursors</a:t>
            </a:r>
          </a:p>
        </p:txBody>
      </p:sp>
      <p:sp>
        <p:nvSpPr>
          <p:cNvPr id="3" name="object 3"/>
          <p:cNvSpPr txBox="1"/>
          <p:nvPr/>
        </p:nvSpPr>
        <p:spPr>
          <a:xfrm>
            <a:off x="687704" y="2204084"/>
            <a:ext cx="7768590" cy="1317668"/>
          </a:xfrm>
          <a:prstGeom prst="rect">
            <a:avLst/>
          </a:prstGeom>
        </p:spPr>
        <p:txBody>
          <a:bodyPr vert="horz" wrap="square" lIns="0" tIns="47625" rIns="0" bIns="0" rtlCol="0">
            <a:spAutoFit/>
          </a:bodyPr>
          <a:lstStyle/>
          <a:p>
            <a:pPr marL="180975" marR="4763" indent="-171450">
              <a:lnSpc>
                <a:spcPts val="2250"/>
              </a:lnSpc>
              <a:spcBef>
                <a:spcPts val="375"/>
              </a:spcBef>
              <a:buFont typeface="Arial"/>
              <a:buChar char="•"/>
              <a:tabLst>
                <a:tab pos="180975" algn="l"/>
              </a:tabLst>
            </a:pPr>
            <a:r>
              <a:rPr sz="2100" dirty="0">
                <a:latin typeface="Calibri"/>
                <a:cs typeface="Calibri"/>
              </a:rPr>
              <a:t>Every</a:t>
            </a:r>
            <a:r>
              <a:rPr sz="2100" spc="-19" dirty="0">
                <a:latin typeface="Calibri"/>
                <a:cs typeface="Calibri"/>
              </a:rPr>
              <a:t> </a:t>
            </a:r>
            <a:r>
              <a:rPr sz="2100" dirty="0">
                <a:latin typeface="Calibri"/>
                <a:cs typeface="Calibri"/>
              </a:rPr>
              <a:t>SQL</a:t>
            </a:r>
            <a:r>
              <a:rPr sz="2100" spc="-11" dirty="0">
                <a:latin typeface="Calibri"/>
                <a:cs typeface="Calibri"/>
              </a:rPr>
              <a:t> </a:t>
            </a:r>
            <a:r>
              <a:rPr sz="2100" dirty="0">
                <a:latin typeface="Calibri"/>
                <a:cs typeface="Calibri"/>
              </a:rPr>
              <a:t>data</a:t>
            </a:r>
            <a:r>
              <a:rPr sz="2100" spc="-19" dirty="0">
                <a:latin typeface="Calibri"/>
                <a:cs typeface="Calibri"/>
              </a:rPr>
              <a:t> </a:t>
            </a:r>
            <a:r>
              <a:rPr sz="2100" dirty="0">
                <a:latin typeface="Calibri"/>
                <a:cs typeface="Calibri"/>
              </a:rPr>
              <a:t>manipulation</a:t>
            </a:r>
            <a:r>
              <a:rPr sz="2100" spc="-11" dirty="0">
                <a:latin typeface="Calibri"/>
                <a:cs typeface="Calibri"/>
              </a:rPr>
              <a:t> </a:t>
            </a:r>
            <a:r>
              <a:rPr sz="2100" spc="-8" dirty="0">
                <a:latin typeface="Calibri"/>
                <a:cs typeface="Calibri"/>
              </a:rPr>
              <a:t>statement</a:t>
            </a:r>
            <a:r>
              <a:rPr sz="2100" spc="-11" dirty="0">
                <a:latin typeface="Calibri"/>
                <a:cs typeface="Calibri"/>
              </a:rPr>
              <a:t> </a:t>
            </a:r>
            <a:r>
              <a:rPr sz="2100" dirty="0">
                <a:latin typeface="Calibri"/>
                <a:cs typeface="Calibri"/>
              </a:rPr>
              <a:t>including</a:t>
            </a:r>
            <a:r>
              <a:rPr sz="2100" spc="-15" dirty="0">
                <a:latin typeface="Calibri"/>
                <a:cs typeface="Calibri"/>
              </a:rPr>
              <a:t> </a:t>
            </a:r>
            <a:r>
              <a:rPr sz="2100" dirty="0">
                <a:latin typeface="Calibri"/>
                <a:cs typeface="Calibri"/>
              </a:rPr>
              <a:t>queries</a:t>
            </a:r>
            <a:r>
              <a:rPr sz="2100" spc="-11" dirty="0">
                <a:latin typeface="Calibri"/>
                <a:cs typeface="Calibri"/>
              </a:rPr>
              <a:t> </a:t>
            </a:r>
            <a:r>
              <a:rPr sz="2100" dirty="0">
                <a:latin typeface="Calibri"/>
                <a:cs typeface="Calibri"/>
              </a:rPr>
              <a:t>that</a:t>
            </a:r>
            <a:r>
              <a:rPr sz="2100" spc="-15" dirty="0">
                <a:latin typeface="Calibri"/>
                <a:cs typeface="Calibri"/>
              </a:rPr>
              <a:t> </a:t>
            </a:r>
            <a:r>
              <a:rPr sz="2100" spc="-8" dirty="0">
                <a:latin typeface="Calibri"/>
                <a:cs typeface="Calibri"/>
              </a:rPr>
              <a:t>return </a:t>
            </a:r>
            <a:r>
              <a:rPr sz="2100" dirty="0">
                <a:latin typeface="Calibri"/>
                <a:cs typeface="Calibri"/>
              </a:rPr>
              <a:t>only</a:t>
            </a:r>
            <a:r>
              <a:rPr sz="2100" spc="-30" dirty="0">
                <a:latin typeface="Calibri"/>
                <a:cs typeface="Calibri"/>
              </a:rPr>
              <a:t> </a:t>
            </a:r>
            <a:r>
              <a:rPr sz="2100" dirty="0">
                <a:latin typeface="Calibri"/>
                <a:cs typeface="Calibri"/>
              </a:rPr>
              <a:t>one</a:t>
            </a:r>
            <a:r>
              <a:rPr sz="2100" spc="-26" dirty="0">
                <a:latin typeface="Calibri"/>
                <a:cs typeface="Calibri"/>
              </a:rPr>
              <a:t> </a:t>
            </a:r>
            <a:r>
              <a:rPr sz="2100" dirty="0">
                <a:latin typeface="Calibri"/>
                <a:cs typeface="Calibri"/>
              </a:rPr>
              <a:t>row</a:t>
            </a:r>
            <a:r>
              <a:rPr sz="2100" spc="-23" dirty="0">
                <a:latin typeface="Calibri"/>
                <a:cs typeface="Calibri"/>
              </a:rPr>
              <a:t> </a:t>
            </a:r>
            <a:r>
              <a:rPr sz="2100" dirty="0">
                <a:latin typeface="Calibri"/>
                <a:cs typeface="Calibri"/>
              </a:rPr>
              <a:t>is</a:t>
            </a:r>
            <a:r>
              <a:rPr sz="2100" spc="-23" dirty="0">
                <a:latin typeface="Calibri"/>
                <a:cs typeface="Calibri"/>
              </a:rPr>
              <a:t> </a:t>
            </a:r>
            <a:r>
              <a:rPr sz="2100" dirty="0">
                <a:latin typeface="Calibri"/>
                <a:cs typeface="Calibri"/>
              </a:rPr>
              <a:t>an</a:t>
            </a:r>
            <a:r>
              <a:rPr sz="2100" spc="-19" dirty="0">
                <a:latin typeface="Calibri"/>
                <a:cs typeface="Calibri"/>
              </a:rPr>
              <a:t> </a:t>
            </a:r>
            <a:r>
              <a:rPr sz="2100" dirty="0">
                <a:latin typeface="Calibri"/>
                <a:cs typeface="Calibri"/>
              </a:rPr>
              <a:t>implicit</a:t>
            </a:r>
            <a:r>
              <a:rPr sz="2100" spc="-26" dirty="0">
                <a:latin typeface="Calibri"/>
                <a:cs typeface="Calibri"/>
              </a:rPr>
              <a:t> </a:t>
            </a:r>
            <a:r>
              <a:rPr sz="2100" spc="-8" dirty="0">
                <a:latin typeface="Calibri"/>
                <a:cs typeface="Calibri"/>
              </a:rPr>
              <a:t>cursor.</a:t>
            </a:r>
            <a:endParaRPr sz="2100" dirty="0">
              <a:latin typeface="Calibri"/>
              <a:cs typeface="Calibri"/>
            </a:endParaRPr>
          </a:p>
          <a:p>
            <a:pPr marL="180975" marR="3810" indent="-171450">
              <a:lnSpc>
                <a:spcPts val="2340"/>
              </a:lnSpc>
              <a:spcBef>
                <a:spcPts val="664"/>
              </a:spcBef>
              <a:buFont typeface="Arial"/>
              <a:buChar char="•"/>
              <a:tabLst>
                <a:tab pos="180975" algn="l"/>
                <a:tab pos="584835" algn="l"/>
                <a:tab pos="1462564" algn="l"/>
                <a:tab pos="2251234" algn="l"/>
                <a:tab pos="2525553" algn="l"/>
                <a:tab pos="3179921" algn="l"/>
                <a:tab pos="3609023" algn="l"/>
                <a:tab pos="4463891" algn="l"/>
                <a:tab pos="4924901" algn="l"/>
                <a:tab pos="5837873" algn="l"/>
                <a:tab pos="6390799" algn="l"/>
                <a:tab pos="7182803" algn="l"/>
              </a:tabLst>
            </a:pPr>
            <a:r>
              <a:rPr sz="2100" spc="-19" dirty="0">
                <a:latin typeface="Calibri"/>
                <a:cs typeface="Calibri"/>
              </a:rPr>
              <a:t>An</a:t>
            </a:r>
            <a:r>
              <a:rPr sz="2100" dirty="0">
                <a:latin typeface="Calibri"/>
                <a:cs typeface="Calibri"/>
              </a:rPr>
              <a:t>	</a:t>
            </a:r>
            <a:r>
              <a:rPr sz="2100" spc="-8" dirty="0">
                <a:latin typeface="Calibri"/>
                <a:cs typeface="Calibri"/>
              </a:rPr>
              <a:t>explicit</a:t>
            </a:r>
            <a:r>
              <a:rPr sz="2100" dirty="0">
                <a:latin typeface="Calibri"/>
                <a:cs typeface="Calibri"/>
              </a:rPr>
              <a:t>	</a:t>
            </a:r>
            <a:r>
              <a:rPr sz="2100" spc="-8" dirty="0">
                <a:latin typeface="Calibri"/>
                <a:cs typeface="Calibri"/>
              </a:rPr>
              <a:t>cursor</a:t>
            </a:r>
            <a:r>
              <a:rPr sz="2100" dirty="0">
                <a:latin typeface="Calibri"/>
                <a:cs typeface="Calibri"/>
              </a:rPr>
              <a:t>	</a:t>
            </a:r>
            <a:r>
              <a:rPr sz="2100" spc="-19" dirty="0">
                <a:latin typeface="Calibri"/>
                <a:cs typeface="Calibri"/>
              </a:rPr>
              <a:t>is</a:t>
            </a:r>
            <a:r>
              <a:rPr sz="2100" dirty="0">
                <a:latin typeface="Calibri"/>
                <a:cs typeface="Calibri"/>
              </a:rPr>
              <a:t>	</a:t>
            </a:r>
            <a:r>
              <a:rPr sz="2100" spc="-15" dirty="0">
                <a:latin typeface="Calibri"/>
                <a:cs typeface="Calibri"/>
              </a:rPr>
              <a:t>what</a:t>
            </a:r>
            <a:r>
              <a:rPr sz="2100" dirty="0">
                <a:latin typeface="Calibri"/>
                <a:cs typeface="Calibri"/>
              </a:rPr>
              <a:t>	</a:t>
            </a:r>
            <a:r>
              <a:rPr sz="2100" spc="-19" dirty="0">
                <a:latin typeface="Calibri"/>
                <a:cs typeface="Calibri"/>
              </a:rPr>
              <a:t>we</a:t>
            </a:r>
            <a:r>
              <a:rPr sz="2100" dirty="0">
                <a:latin typeface="Calibri"/>
                <a:cs typeface="Calibri"/>
              </a:rPr>
              <a:t>	</a:t>
            </a:r>
            <a:r>
              <a:rPr sz="2100" spc="-8" dirty="0">
                <a:latin typeface="Calibri"/>
                <a:cs typeface="Calibri"/>
              </a:rPr>
              <a:t>create.</a:t>
            </a:r>
            <a:r>
              <a:rPr sz="2100" dirty="0">
                <a:latin typeface="Calibri"/>
                <a:cs typeface="Calibri"/>
              </a:rPr>
              <a:t>	</a:t>
            </a:r>
            <a:r>
              <a:rPr sz="2100" spc="-19" dirty="0">
                <a:latin typeface="Calibri"/>
                <a:cs typeface="Calibri"/>
              </a:rPr>
              <a:t>For</a:t>
            </a:r>
            <a:r>
              <a:rPr sz="2100" dirty="0">
                <a:latin typeface="Calibri"/>
                <a:cs typeface="Calibri"/>
              </a:rPr>
              <a:t>	</a:t>
            </a:r>
            <a:r>
              <a:rPr sz="2100" spc="-8" dirty="0">
                <a:latin typeface="Calibri"/>
                <a:cs typeface="Calibri"/>
              </a:rPr>
              <a:t>queries</a:t>
            </a:r>
            <a:r>
              <a:rPr sz="2100" dirty="0">
                <a:latin typeface="Calibri"/>
                <a:cs typeface="Calibri"/>
              </a:rPr>
              <a:t>	</a:t>
            </a:r>
            <a:r>
              <a:rPr sz="2100" spc="-15" dirty="0">
                <a:latin typeface="Calibri"/>
                <a:cs typeface="Calibri"/>
              </a:rPr>
              <a:t>that</a:t>
            </a:r>
            <a:r>
              <a:rPr sz="2100" dirty="0">
                <a:latin typeface="Calibri"/>
                <a:cs typeface="Calibri"/>
              </a:rPr>
              <a:t>	</a:t>
            </a:r>
            <a:r>
              <a:rPr sz="2100" spc="-8" dirty="0">
                <a:latin typeface="Calibri"/>
                <a:cs typeface="Calibri"/>
              </a:rPr>
              <a:t>return</a:t>
            </a:r>
            <a:r>
              <a:rPr sz="2100" dirty="0">
                <a:latin typeface="Calibri"/>
                <a:cs typeface="Calibri"/>
              </a:rPr>
              <a:t>	</a:t>
            </a:r>
            <a:r>
              <a:rPr sz="2100" spc="-19" dirty="0">
                <a:latin typeface="Calibri"/>
                <a:cs typeface="Calibri"/>
              </a:rPr>
              <a:t>more </a:t>
            </a:r>
            <a:r>
              <a:rPr sz="2100" dirty="0">
                <a:latin typeface="Calibri"/>
                <a:cs typeface="Calibri"/>
              </a:rPr>
              <a:t>than</a:t>
            </a:r>
            <a:r>
              <a:rPr sz="2100" spc="-45" dirty="0">
                <a:latin typeface="Calibri"/>
                <a:cs typeface="Calibri"/>
              </a:rPr>
              <a:t> </a:t>
            </a:r>
            <a:r>
              <a:rPr sz="2100" dirty="0">
                <a:latin typeface="Calibri"/>
                <a:cs typeface="Calibri"/>
              </a:rPr>
              <a:t>one</a:t>
            </a:r>
            <a:r>
              <a:rPr sz="2100" spc="-49" dirty="0">
                <a:latin typeface="Calibri"/>
                <a:cs typeface="Calibri"/>
              </a:rPr>
              <a:t> </a:t>
            </a:r>
            <a:r>
              <a:rPr sz="2100" spc="-41" dirty="0">
                <a:latin typeface="Calibri"/>
                <a:cs typeface="Calibri"/>
              </a:rPr>
              <a:t>row,</a:t>
            </a:r>
            <a:r>
              <a:rPr sz="2100" spc="-45" dirty="0">
                <a:latin typeface="Calibri"/>
                <a:cs typeface="Calibri"/>
              </a:rPr>
              <a:t> </a:t>
            </a:r>
            <a:r>
              <a:rPr sz="2100" dirty="0">
                <a:latin typeface="Calibri"/>
                <a:cs typeface="Calibri"/>
              </a:rPr>
              <a:t>you</a:t>
            </a:r>
            <a:r>
              <a:rPr sz="2100" spc="-41" dirty="0">
                <a:latin typeface="Calibri"/>
                <a:cs typeface="Calibri"/>
              </a:rPr>
              <a:t> </a:t>
            </a:r>
            <a:r>
              <a:rPr sz="2100" dirty="0">
                <a:latin typeface="Calibri"/>
                <a:cs typeface="Calibri"/>
              </a:rPr>
              <a:t>must</a:t>
            </a:r>
            <a:r>
              <a:rPr sz="2100" spc="-45" dirty="0">
                <a:latin typeface="Calibri"/>
                <a:cs typeface="Calibri"/>
              </a:rPr>
              <a:t> </a:t>
            </a:r>
            <a:r>
              <a:rPr sz="2100" dirty="0">
                <a:latin typeface="Calibri"/>
                <a:cs typeface="Calibri"/>
              </a:rPr>
              <a:t>declare</a:t>
            </a:r>
            <a:r>
              <a:rPr sz="2100" spc="-49" dirty="0">
                <a:latin typeface="Calibri"/>
                <a:cs typeface="Calibri"/>
              </a:rPr>
              <a:t> </a:t>
            </a:r>
            <a:r>
              <a:rPr sz="2100" dirty="0">
                <a:latin typeface="Calibri"/>
                <a:cs typeface="Calibri"/>
              </a:rPr>
              <a:t>an</a:t>
            </a:r>
            <a:r>
              <a:rPr sz="2100" spc="-45" dirty="0">
                <a:latin typeface="Calibri"/>
                <a:cs typeface="Calibri"/>
              </a:rPr>
              <a:t> </a:t>
            </a:r>
            <a:r>
              <a:rPr sz="2100" dirty="0">
                <a:latin typeface="Calibri"/>
                <a:cs typeface="Calibri"/>
              </a:rPr>
              <a:t>explicit</a:t>
            </a:r>
            <a:r>
              <a:rPr sz="2100" spc="-45" dirty="0">
                <a:latin typeface="Calibri"/>
                <a:cs typeface="Calibri"/>
              </a:rPr>
              <a:t> </a:t>
            </a:r>
            <a:r>
              <a:rPr sz="2100" spc="-8" dirty="0">
                <a:latin typeface="Calibri"/>
                <a:cs typeface="Calibri"/>
              </a:rPr>
              <a:t>cursor</a:t>
            </a:r>
            <a:endParaRPr sz="2100" dirty="0">
              <a:latin typeface="Calibri"/>
              <a:cs typeface="Calibri"/>
            </a:endParaRPr>
          </a:p>
        </p:txBody>
      </p:sp>
    </p:spTree>
  </p:cSld>
  <p:clrMapOvr>
    <a:masterClrMapping/>
  </p:clrMapOvr>
  <p:transition spd="med"/>
</p:sld>
</file>

<file path=ppt/slides/slide1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4254246" y="6428920"/>
            <a:ext cx="3683634"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9525">
              <a:spcBef>
                <a:spcPts val="30"/>
              </a:spcBef>
            </a:pPr>
            <a:r>
              <a:rPr lang="en-US" spc="-10"/>
              <a:t>Copyright</a:t>
            </a:r>
            <a:r>
              <a:rPr lang="en-US" spc="-15"/>
              <a:t> </a:t>
            </a:r>
            <a:r>
              <a:rPr lang="en-US"/>
              <a:t>©</a:t>
            </a:r>
            <a:r>
              <a:rPr lang="en-US" spc="-10"/>
              <a:t> </a:t>
            </a:r>
            <a:r>
              <a:rPr lang="en-US"/>
              <a:t>2016</a:t>
            </a:r>
            <a:r>
              <a:rPr lang="en-US" spc="-10"/>
              <a:t> </a:t>
            </a:r>
            <a:r>
              <a:rPr lang="en-US"/>
              <a:t>Ramez</a:t>
            </a:r>
            <a:r>
              <a:rPr lang="en-US" spc="-5"/>
              <a:t> </a:t>
            </a:r>
            <a:r>
              <a:rPr lang="en-US"/>
              <a:t>Elmasri</a:t>
            </a:r>
            <a:r>
              <a:rPr lang="en-US" spc="-15"/>
              <a:t> </a:t>
            </a:r>
            <a:r>
              <a:rPr lang="en-US"/>
              <a:t>and</a:t>
            </a:r>
            <a:r>
              <a:rPr lang="en-US" spc="-15"/>
              <a:t> </a:t>
            </a:r>
            <a:r>
              <a:rPr lang="en-US" spc="-10"/>
              <a:t>Shamkant</a:t>
            </a:r>
            <a:r>
              <a:rPr lang="en-US" spc="-15"/>
              <a:t> </a:t>
            </a:r>
            <a:r>
              <a:rPr lang="en-US"/>
              <a:t>B.</a:t>
            </a:r>
            <a:r>
              <a:rPr lang="en-US" spc="-10"/>
              <a:t> Navathe</a:t>
            </a:r>
            <a:endParaRPr spc="-8" dirty="0"/>
          </a:p>
        </p:txBody>
      </p:sp>
      <p:sp>
        <p:nvSpPr>
          <p:cNvPr id="5" name="object 5"/>
          <p:cNvSpPr txBox="1">
            <a:spLocks noGrp="1"/>
          </p:cNvSpPr>
          <p:nvPr>
            <p:ph type="sldNum" sz="quarter" idx="7"/>
          </p:nvPr>
        </p:nvSpPr>
        <p:spPr>
          <a:xfrm>
            <a:off x="11067415" y="6428920"/>
            <a:ext cx="2444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15570">
              <a:spcBef>
                <a:spcPts val="40"/>
              </a:spcBef>
            </a:pPr>
            <a:fld id="{81D60167-4931-47E6-BA6A-407CBD079E47}" type="slidenum">
              <a:rPr lang="en-US" spc="-50" smtClean="0"/>
              <a:pPr marL="115570">
                <a:spcBef>
                  <a:spcPts val="40"/>
                </a:spcBef>
              </a:pPr>
              <a:t>176</a:t>
            </a:fld>
            <a:endParaRPr spc="-19" dirty="0"/>
          </a:p>
        </p:txBody>
      </p:sp>
      <p:sp>
        <p:nvSpPr>
          <p:cNvPr id="2" name="object 2"/>
          <p:cNvSpPr txBox="1">
            <a:spLocks noGrp="1"/>
          </p:cNvSpPr>
          <p:nvPr>
            <p:ph type="title"/>
          </p:nvPr>
        </p:nvSpPr>
        <p:spPr>
          <a:xfrm>
            <a:off x="496490" y="580583"/>
            <a:ext cx="8151019"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dirty="0"/>
              <a:t>Changing</a:t>
            </a:r>
            <a:r>
              <a:rPr spc="-56" dirty="0"/>
              <a:t> </a:t>
            </a:r>
            <a:r>
              <a:rPr dirty="0"/>
              <a:t>column</a:t>
            </a:r>
            <a:r>
              <a:rPr spc="-56" dirty="0"/>
              <a:t> </a:t>
            </a:r>
            <a:r>
              <a:rPr dirty="0"/>
              <a:t>values</a:t>
            </a:r>
            <a:r>
              <a:rPr spc="-56" dirty="0"/>
              <a:t> </a:t>
            </a:r>
            <a:r>
              <a:rPr dirty="0"/>
              <a:t>in</a:t>
            </a:r>
            <a:r>
              <a:rPr spc="-56" dirty="0"/>
              <a:t> </a:t>
            </a:r>
            <a:r>
              <a:rPr dirty="0"/>
              <a:t>a</a:t>
            </a:r>
            <a:r>
              <a:rPr spc="-49" dirty="0"/>
              <a:t> </a:t>
            </a:r>
            <a:r>
              <a:rPr spc="-8" dirty="0"/>
              <a:t>trigger</a:t>
            </a:r>
          </a:p>
        </p:txBody>
      </p:sp>
      <p:sp>
        <p:nvSpPr>
          <p:cNvPr id="3" name="object 3"/>
          <p:cNvSpPr txBox="1"/>
          <p:nvPr/>
        </p:nvSpPr>
        <p:spPr>
          <a:xfrm>
            <a:off x="687705" y="2204085"/>
            <a:ext cx="7634764" cy="2105063"/>
          </a:xfrm>
          <a:prstGeom prst="rect">
            <a:avLst/>
          </a:prstGeom>
        </p:spPr>
        <p:txBody>
          <a:bodyPr vert="horz" wrap="square" lIns="0" tIns="47625" rIns="0" bIns="0" rtlCol="0">
            <a:spAutoFit/>
          </a:bodyPr>
          <a:lstStyle/>
          <a:p>
            <a:pPr marL="180975" marR="456724" indent="-171450">
              <a:lnSpc>
                <a:spcPts val="2250"/>
              </a:lnSpc>
              <a:spcBef>
                <a:spcPts val="375"/>
              </a:spcBef>
              <a:buFont typeface="Arial"/>
              <a:buChar char="•"/>
              <a:tabLst>
                <a:tab pos="180975" algn="l"/>
              </a:tabLst>
            </a:pPr>
            <a:r>
              <a:rPr sz="2100" dirty="0">
                <a:latin typeface="Calibri"/>
                <a:cs typeface="Calibri"/>
              </a:rPr>
              <a:t>In</a:t>
            </a:r>
            <a:r>
              <a:rPr sz="2100" spc="-26" dirty="0">
                <a:latin typeface="Calibri"/>
                <a:cs typeface="Calibri"/>
              </a:rPr>
              <a:t> </a:t>
            </a:r>
            <a:r>
              <a:rPr sz="2100" dirty="0">
                <a:latin typeface="Calibri"/>
                <a:cs typeface="Calibri"/>
              </a:rPr>
              <a:t>the</a:t>
            </a:r>
            <a:r>
              <a:rPr sz="2100" spc="-34" dirty="0">
                <a:latin typeface="Calibri"/>
                <a:cs typeface="Calibri"/>
              </a:rPr>
              <a:t> </a:t>
            </a:r>
            <a:r>
              <a:rPr sz="2100" dirty="0">
                <a:latin typeface="Calibri"/>
                <a:cs typeface="Calibri"/>
              </a:rPr>
              <a:t>body</a:t>
            </a:r>
            <a:r>
              <a:rPr sz="2100" spc="-30" dirty="0">
                <a:latin typeface="Calibri"/>
                <a:cs typeface="Calibri"/>
              </a:rPr>
              <a:t> </a:t>
            </a:r>
            <a:r>
              <a:rPr sz="2100" dirty="0">
                <a:latin typeface="Calibri"/>
                <a:cs typeface="Calibri"/>
              </a:rPr>
              <a:t>of</a:t>
            </a:r>
            <a:r>
              <a:rPr sz="2100" spc="-30" dirty="0">
                <a:latin typeface="Calibri"/>
                <a:cs typeface="Calibri"/>
              </a:rPr>
              <a:t> </a:t>
            </a:r>
            <a:r>
              <a:rPr sz="2100" dirty="0">
                <a:latin typeface="Calibri"/>
                <a:cs typeface="Calibri"/>
              </a:rPr>
              <a:t>a</a:t>
            </a:r>
            <a:r>
              <a:rPr sz="2100" spc="-30" dirty="0">
                <a:latin typeface="Calibri"/>
                <a:cs typeface="Calibri"/>
              </a:rPr>
              <a:t> </a:t>
            </a:r>
            <a:r>
              <a:rPr sz="2100" spc="-19" dirty="0">
                <a:latin typeface="Calibri"/>
                <a:cs typeface="Calibri"/>
              </a:rPr>
              <a:t>trigger,</a:t>
            </a:r>
            <a:r>
              <a:rPr sz="2100" spc="-23" dirty="0">
                <a:latin typeface="Calibri"/>
                <a:cs typeface="Calibri"/>
              </a:rPr>
              <a:t> </a:t>
            </a:r>
            <a:r>
              <a:rPr sz="2100" dirty="0">
                <a:latin typeface="Calibri"/>
                <a:cs typeface="Calibri"/>
              </a:rPr>
              <a:t>it</a:t>
            </a:r>
            <a:r>
              <a:rPr sz="2100" spc="-30" dirty="0">
                <a:latin typeface="Calibri"/>
                <a:cs typeface="Calibri"/>
              </a:rPr>
              <a:t> </a:t>
            </a:r>
            <a:r>
              <a:rPr sz="2100" dirty="0">
                <a:latin typeface="Calibri"/>
                <a:cs typeface="Calibri"/>
              </a:rPr>
              <a:t>is</a:t>
            </a:r>
            <a:r>
              <a:rPr sz="2100" spc="-26" dirty="0">
                <a:latin typeface="Calibri"/>
                <a:cs typeface="Calibri"/>
              </a:rPr>
              <a:t> </a:t>
            </a:r>
            <a:r>
              <a:rPr sz="2100" dirty="0">
                <a:latin typeface="Calibri"/>
                <a:cs typeface="Calibri"/>
              </a:rPr>
              <a:t>possible</a:t>
            </a:r>
            <a:r>
              <a:rPr sz="2100" spc="-30" dirty="0">
                <a:latin typeface="Calibri"/>
                <a:cs typeface="Calibri"/>
              </a:rPr>
              <a:t> </a:t>
            </a:r>
            <a:r>
              <a:rPr sz="2100" dirty="0">
                <a:latin typeface="Calibri"/>
                <a:cs typeface="Calibri"/>
              </a:rPr>
              <a:t>to</a:t>
            </a:r>
            <a:r>
              <a:rPr sz="2100" spc="-30" dirty="0">
                <a:latin typeface="Calibri"/>
                <a:cs typeface="Calibri"/>
              </a:rPr>
              <a:t> </a:t>
            </a:r>
            <a:r>
              <a:rPr sz="2100" dirty="0">
                <a:latin typeface="Calibri"/>
                <a:cs typeface="Calibri"/>
              </a:rPr>
              <a:t>change</a:t>
            </a:r>
            <a:r>
              <a:rPr sz="2100" spc="-34" dirty="0">
                <a:latin typeface="Calibri"/>
                <a:cs typeface="Calibri"/>
              </a:rPr>
              <a:t> </a:t>
            </a:r>
            <a:r>
              <a:rPr sz="2100" dirty="0">
                <a:latin typeface="Calibri"/>
                <a:cs typeface="Calibri"/>
              </a:rPr>
              <a:t>the</a:t>
            </a:r>
            <a:r>
              <a:rPr sz="2100" spc="-30" dirty="0">
                <a:latin typeface="Calibri"/>
                <a:cs typeface="Calibri"/>
              </a:rPr>
              <a:t> </a:t>
            </a:r>
            <a:r>
              <a:rPr sz="2100" dirty="0">
                <a:latin typeface="Calibri"/>
                <a:cs typeface="Calibri"/>
              </a:rPr>
              <a:t>values</a:t>
            </a:r>
            <a:r>
              <a:rPr sz="2100" spc="-26" dirty="0">
                <a:latin typeface="Calibri"/>
                <a:cs typeface="Calibri"/>
              </a:rPr>
              <a:t> </a:t>
            </a:r>
            <a:r>
              <a:rPr sz="2100" dirty="0">
                <a:latin typeface="Calibri"/>
                <a:cs typeface="Calibri"/>
              </a:rPr>
              <a:t>for</a:t>
            </a:r>
            <a:r>
              <a:rPr sz="2100" spc="-30" dirty="0">
                <a:latin typeface="Calibri"/>
                <a:cs typeface="Calibri"/>
              </a:rPr>
              <a:t> </a:t>
            </a:r>
            <a:r>
              <a:rPr sz="2100" spc="-19" dirty="0">
                <a:latin typeface="Calibri"/>
                <a:cs typeface="Calibri"/>
              </a:rPr>
              <a:t>the </a:t>
            </a:r>
            <a:r>
              <a:rPr sz="2100" dirty="0">
                <a:latin typeface="Calibri"/>
                <a:cs typeface="Calibri"/>
              </a:rPr>
              <a:t>columns</a:t>
            </a:r>
            <a:r>
              <a:rPr sz="2100" spc="-49" dirty="0">
                <a:latin typeface="Calibri"/>
                <a:cs typeface="Calibri"/>
              </a:rPr>
              <a:t> </a:t>
            </a:r>
            <a:r>
              <a:rPr sz="2100" dirty="0">
                <a:latin typeface="Calibri"/>
                <a:cs typeface="Calibri"/>
              </a:rPr>
              <a:t>in</a:t>
            </a:r>
            <a:r>
              <a:rPr sz="2100" spc="-49" dirty="0">
                <a:latin typeface="Calibri"/>
                <a:cs typeface="Calibri"/>
              </a:rPr>
              <a:t> </a:t>
            </a:r>
            <a:r>
              <a:rPr sz="2100" dirty="0">
                <a:latin typeface="Calibri"/>
                <a:cs typeface="Calibri"/>
              </a:rPr>
              <a:t>the</a:t>
            </a:r>
            <a:r>
              <a:rPr sz="2100" spc="-53" dirty="0">
                <a:latin typeface="Calibri"/>
                <a:cs typeface="Calibri"/>
              </a:rPr>
              <a:t> </a:t>
            </a:r>
            <a:r>
              <a:rPr sz="2100" dirty="0">
                <a:latin typeface="Calibri"/>
                <a:cs typeface="Calibri"/>
              </a:rPr>
              <a:t>current</a:t>
            </a:r>
            <a:r>
              <a:rPr sz="2100" spc="-53" dirty="0">
                <a:latin typeface="Calibri"/>
                <a:cs typeface="Calibri"/>
              </a:rPr>
              <a:t> </a:t>
            </a:r>
            <a:r>
              <a:rPr sz="2100" spc="-15" dirty="0">
                <a:latin typeface="Calibri"/>
                <a:cs typeface="Calibri"/>
              </a:rPr>
              <a:t>row.</a:t>
            </a:r>
            <a:endParaRPr sz="2100">
              <a:latin typeface="Calibri"/>
              <a:cs typeface="Calibri"/>
            </a:endParaRPr>
          </a:p>
          <a:p>
            <a:pPr marL="180499" indent="-170974">
              <a:spcBef>
                <a:spcPts val="439"/>
              </a:spcBef>
              <a:buFont typeface="Arial"/>
              <a:buChar char="•"/>
              <a:tabLst>
                <a:tab pos="180499" algn="l"/>
              </a:tabLst>
            </a:pPr>
            <a:r>
              <a:rPr sz="2100" dirty="0">
                <a:latin typeface="Calibri"/>
                <a:cs typeface="Calibri"/>
              </a:rPr>
              <a:t>Just</a:t>
            </a:r>
            <a:r>
              <a:rPr sz="2100" spc="-26" dirty="0">
                <a:latin typeface="Calibri"/>
                <a:cs typeface="Calibri"/>
              </a:rPr>
              <a:t> </a:t>
            </a:r>
            <a:r>
              <a:rPr sz="2100" dirty="0">
                <a:latin typeface="Calibri"/>
                <a:cs typeface="Calibri"/>
              </a:rPr>
              <a:t>use</a:t>
            </a:r>
            <a:r>
              <a:rPr sz="2100" spc="-34" dirty="0">
                <a:latin typeface="Calibri"/>
                <a:cs typeface="Calibri"/>
              </a:rPr>
              <a:t> </a:t>
            </a:r>
            <a:r>
              <a:rPr sz="2100" dirty="0">
                <a:latin typeface="Calibri"/>
                <a:cs typeface="Calibri"/>
              </a:rPr>
              <a:t>the</a:t>
            </a:r>
            <a:r>
              <a:rPr sz="2100" spc="-34" dirty="0">
                <a:latin typeface="Calibri"/>
                <a:cs typeface="Calibri"/>
              </a:rPr>
              <a:t> </a:t>
            </a:r>
            <a:r>
              <a:rPr sz="2100" dirty="0">
                <a:latin typeface="Calibri"/>
                <a:cs typeface="Calibri"/>
              </a:rPr>
              <a:t>“set”</a:t>
            </a:r>
            <a:r>
              <a:rPr sz="2100" spc="-26" dirty="0">
                <a:latin typeface="Calibri"/>
                <a:cs typeface="Calibri"/>
              </a:rPr>
              <a:t> </a:t>
            </a:r>
            <a:r>
              <a:rPr sz="2100" dirty="0">
                <a:latin typeface="Calibri"/>
                <a:cs typeface="Calibri"/>
              </a:rPr>
              <a:t>verb</a:t>
            </a:r>
            <a:r>
              <a:rPr sz="2100" spc="-26" dirty="0">
                <a:latin typeface="Calibri"/>
                <a:cs typeface="Calibri"/>
              </a:rPr>
              <a:t> </a:t>
            </a:r>
            <a:r>
              <a:rPr sz="2100" dirty="0">
                <a:latin typeface="Calibri"/>
                <a:cs typeface="Calibri"/>
              </a:rPr>
              <a:t>to</a:t>
            </a:r>
            <a:r>
              <a:rPr sz="2100" spc="-30" dirty="0">
                <a:latin typeface="Calibri"/>
                <a:cs typeface="Calibri"/>
              </a:rPr>
              <a:t> </a:t>
            </a:r>
            <a:r>
              <a:rPr sz="2100" dirty="0">
                <a:latin typeface="Calibri"/>
                <a:cs typeface="Calibri"/>
              </a:rPr>
              <a:t>change</a:t>
            </a:r>
            <a:r>
              <a:rPr sz="2100" spc="-34" dirty="0">
                <a:latin typeface="Calibri"/>
                <a:cs typeface="Calibri"/>
              </a:rPr>
              <a:t> </a:t>
            </a:r>
            <a:r>
              <a:rPr sz="2100" spc="-8" dirty="0">
                <a:latin typeface="Calibri"/>
                <a:cs typeface="Calibri"/>
              </a:rPr>
              <a:t>them.</a:t>
            </a:r>
            <a:endParaRPr sz="2100">
              <a:latin typeface="Calibri"/>
              <a:cs typeface="Calibri"/>
            </a:endParaRPr>
          </a:p>
          <a:p>
            <a:pPr marL="180499" indent="-170974">
              <a:spcBef>
                <a:spcPts val="555"/>
              </a:spcBef>
              <a:buFont typeface="Arial"/>
              <a:buChar char="•"/>
              <a:tabLst>
                <a:tab pos="180499" algn="l"/>
              </a:tabLst>
            </a:pPr>
            <a:r>
              <a:rPr sz="2100" spc="-30" dirty="0">
                <a:latin typeface="Calibri"/>
                <a:cs typeface="Calibri"/>
              </a:rPr>
              <a:t>You</a:t>
            </a:r>
            <a:r>
              <a:rPr sz="2100" spc="-34" dirty="0">
                <a:latin typeface="Calibri"/>
                <a:cs typeface="Calibri"/>
              </a:rPr>
              <a:t> </a:t>
            </a:r>
            <a:r>
              <a:rPr sz="2100" dirty="0">
                <a:latin typeface="Calibri"/>
                <a:cs typeface="Calibri"/>
              </a:rPr>
              <a:t>can</a:t>
            </a:r>
            <a:r>
              <a:rPr sz="2100" spc="-34" dirty="0">
                <a:latin typeface="Calibri"/>
                <a:cs typeface="Calibri"/>
              </a:rPr>
              <a:t> </a:t>
            </a:r>
            <a:r>
              <a:rPr sz="2100" dirty="0">
                <a:latin typeface="Calibri"/>
                <a:cs typeface="Calibri"/>
              </a:rPr>
              <a:t>only</a:t>
            </a:r>
            <a:r>
              <a:rPr sz="2100" spc="-34" dirty="0">
                <a:latin typeface="Calibri"/>
                <a:cs typeface="Calibri"/>
              </a:rPr>
              <a:t> </a:t>
            </a:r>
            <a:r>
              <a:rPr sz="2100" dirty="0">
                <a:latin typeface="Calibri"/>
                <a:cs typeface="Calibri"/>
              </a:rPr>
              <a:t>do</a:t>
            </a:r>
            <a:r>
              <a:rPr sz="2100" spc="-38" dirty="0">
                <a:latin typeface="Calibri"/>
                <a:cs typeface="Calibri"/>
              </a:rPr>
              <a:t> </a:t>
            </a:r>
            <a:r>
              <a:rPr sz="2100" dirty="0">
                <a:latin typeface="Calibri"/>
                <a:cs typeface="Calibri"/>
              </a:rPr>
              <a:t>this</a:t>
            </a:r>
            <a:r>
              <a:rPr sz="2100" spc="-30" dirty="0">
                <a:latin typeface="Calibri"/>
                <a:cs typeface="Calibri"/>
              </a:rPr>
              <a:t> </a:t>
            </a:r>
            <a:r>
              <a:rPr sz="2100" dirty="0">
                <a:latin typeface="Calibri"/>
                <a:cs typeface="Calibri"/>
              </a:rPr>
              <a:t>for</a:t>
            </a:r>
            <a:r>
              <a:rPr sz="2100" spc="-34" dirty="0">
                <a:latin typeface="Calibri"/>
                <a:cs typeface="Calibri"/>
              </a:rPr>
              <a:t> </a:t>
            </a:r>
            <a:r>
              <a:rPr sz="2100" dirty="0">
                <a:latin typeface="Calibri"/>
                <a:cs typeface="Calibri"/>
              </a:rPr>
              <a:t>an</a:t>
            </a:r>
            <a:r>
              <a:rPr sz="2100" spc="-34" dirty="0">
                <a:latin typeface="Calibri"/>
                <a:cs typeface="Calibri"/>
              </a:rPr>
              <a:t> </a:t>
            </a:r>
            <a:r>
              <a:rPr sz="2100" dirty="0">
                <a:latin typeface="Calibri"/>
                <a:cs typeface="Calibri"/>
              </a:rPr>
              <a:t>update</a:t>
            </a:r>
            <a:r>
              <a:rPr sz="2100" spc="-38" dirty="0">
                <a:latin typeface="Calibri"/>
                <a:cs typeface="Calibri"/>
              </a:rPr>
              <a:t> </a:t>
            </a:r>
            <a:r>
              <a:rPr sz="2100" dirty="0">
                <a:latin typeface="Calibri"/>
                <a:cs typeface="Calibri"/>
              </a:rPr>
              <a:t>or</a:t>
            </a:r>
            <a:r>
              <a:rPr sz="2100" spc="-34" dirty="0">
                <a:latin typeface="Calibri"/>
                <a:cs typeface="Calibri"/>
              </a:rPr>
              <a:t> </a:t>
            </a:r>
            <a:r>
              <a:rPr sz="2100" dirty="0">
                <a:latin typeface="Calibri"/>
                <a:cs typeface="Calibri"/>
              </a:rPr>
              <a:t>insert</a:t>
            </a:r>
            <a:r>
              <a:rPr sz="2100" spc="-34" dirty="0">
                <a:latin typeface="Calibri"/>
                <a:cs typeface="Calibri"/>
              </a:rPr>
              <a:t> </a:t>
            </a:r>
            <a:r>
              <a:rPr sz="2100" spc="-8" dirty="0">
                <a:latin typeface="Calibri"/>
                <a:cs typeface="Calibri"/>
              </a:rPr>
              <a:t>trigger.</a:t>
            </a:r>
            <a:endParaRPr sz="2100">
              <a:latin typeface="Calibri"/>
              <a:cs typeface="Calibri"/>
            </a:endParaRPr>
          </a:p>
          <a:p>
            <a:pPr marL="180975" marR="3810" indent="-171450">
              <a:lnSpc>
                <a:spcPts val="2250"/>
              </a:lnSpc>
              <a:spcBef>
                <a:spcPts val="788"/>
              </a:spcBef>
              <a:buFont typeface="Arial"/>
              <a:buChar char="•"/>
              <a:tabLst>
                <a:tab pos="180975" algn="l"/>
              </a:tabLst>
            </a:pPr>
            <a:r>
              <a:rPr sz="2100" spc="-30" dirty="0">
                <a:latin typeface="Calibri"/>
                <a:cs typeface="Calibri"/>
              </a:rPr>
              <a:t>You</a:t>
            </a:r>
            <a:r>
              <a:rPr sz="2100" spc="-41" dirty="0">
                <a:latin typeface="Calibri"/>
                <a:cs typeface="Calibri"/>
              </a:rPr>
              <a:t> </a:t>
            </a:r>
            <a:r>
              <a:rPr sz="2100" dirty="0">
                <a:latin typeface="Calibri"/>
                <a:cs typeface="Calibri"/>
              </a:rPr>
              <a:t>can</a:t>
            </a:r>
            <a:r>
              <a:rPr sz="2100" spc="-41" dirty="0">
                <a:latin typeface="Calibri"/>
                <a:cs typeface="Calibri"/>
              </a:rPr>
              <a:t> </a:t>
            </a:r>
            <a:r>
              <a:rPr sz="2100" dirty="0">
                <a:latin typeface="Calibri"/>
                <a:cs typeface="Calibri"/>
              </a:rPr>
              <a:t>only</a:t>
            </a:r>
            <a:r>
              <a:rPr sz="2100" spc="-41" dirty="0">
                <a:latin typeface="Calibri"/>
                <a:cs typeface="Calibri"/>
              </a:rPr>
              <a:t> </a:t>
            </a:r>
            <a:r>
              <a:rPr sz="2100" dirty="0">
                <a:latin typeface="Calibri"/>
                <a:cs typeface="Calibri"/>
              </a:rPr>
              <a:t>change</a:t>
            </a:r>
            <a:r>
              <a:rPr sz="2100" spc="-45" dirty="0">
                <a:latin typeface="Calibri"/>
                <a:cs typeface="Calibri"/>
              </a:rPr>
              <a:t> </a:t>
            </a:r>
            <a:r>
              <a:rPr sz="2100" dirty="0">
                <a:latin typeface="Calibri"/>
                <a:cs typeface="Calibri"/>
              </a:rPr>
              <a:t>the</a:t>
            </a:r>
            <a:r>
              <a:rPr sz="2100" spc="-41" dirty="0">
                <a:latin typeface="Calibri"/>
                <a:cs typeface="Calibri"/>
              </a:rPr>
              <a:t> </a:t>
            </a:r>
            <a:r>
              <a:rPr sz="2100" dirty="0">
                <a:latin typeface="Calibri"/>
                <a:cs typeface="Calibri"/>
              </a:rPr>
              <a:t>values</a:t>
            </a:r>
            <a:r>
              <a:rPr sz="2100" spc="-38" dirty="0">
                <a:latin typeface="Calibri"/>
                <a:cs typeface="Calibri"/>
              </a:rPr>
              <a:t> </a:t>
            </a:r>
            <a:r>
              <a:rPr sz="2100" dirty="0">
                <a:latin typeface="Calibri"/>
                <a:cs typeface="Calibri"/>
              </a:rPr>
              <a:t>of</a:t>
            </a:r>
            <a:r>
              <a:rPr sz="2100" spc="-41" dirty="0">
                <a:latin typeface="Calibri"/>
                <a:cs typeface="Calibri"/>
              </a:rPr>
              <a:t> </a:t>
            </a:r>
            <a:r>
              <a:rPr sz="2100" spc="-15" dirty="0">
                <a:latin typeface="Calibri"/>
                <a:cs typeface="Calibri"/>
              </a:rPr>
              <a:t>new.&lt;column</a:t>
            </a:r>
            <a:r>
              <a:rPr sz="2100" spc="-41" dirty="0">
                <a:latin typeface="Calibri"/>
                <a:cs typeface="Calibri"/>
              </a:rPr>
              <a:t> </a:t>
            </a:r>
            <a:r>
              <a:rPr sz="2100" dirty="0">
                <a:latin typeface="Calibri"/>
                <a:cs typeface="Calibri"/>
              </a:rPr>
              <a:t>name&gt;</a:t>
            </a:r>
            <a:r>
              <a:rPr sz="2100" spc="-38" dirty="0">
                <a:latin typeface="Calibri"/>
                <a:cs typeface="Calibri"/>
              </a:rPr>
              <a:t> </a:t>
            </a:r>
            <a:r>
              <a:rPr sz="2100" dirty="0">
                <a:latin typeface="Calibri"/>
                <a:cs typeface="Calibri"/>
              </a:rPr>
              <a:t>since</a:t>
            </a:r>
            <a:r>
              <a:rPr sz="2100" spc="-41" dirty="0">
                <a:latin typeface="Calibri"/>
                <a:cs typeface="Calibri"/>
              </a:rPr>
              <a:t> </a:t>
            </a:r>
            <a:r>
              <a:rPr sz="2100" dirty="0">
                <a:latin typeface="Calibri"/>
                <a:cs typeface="Calibri"/>
              </a:rPr>
              <a:t>there</a:t>
            </a:r>
            <a:r>
              <a:rPr sz="2100" spc="-45" dirty="0">
                <a:latin typeface="Calibri"/>
                <a:cs typeface="Calibri"/>
              </a:rPr>
              <a:t> </a:t>
            </a:r>
            <a:r>
              <a:rPr sz="2100" spc="-19" dirty="0">
                <a:latin typeface="Calibri"/>
                <a:cs typeface="Calibri"/>
              </a:rPr>
              <a:t>is </a:t>
            </a:r>
            <a:r>
              <a:rPr sz="2100" dirty="0">
                <a:latin typeface="Calibri"/>
                <a:cs typeface="Calibri"/>
              </a:rPr>
              <a:t>no</a:t>
            </a:r>
            <a:r>
              <a:rPr sz="2100" spc="-26" dirty="0">
                <a:latin typeface="Calibri"/>
                <a:cs typeface="Calibri"/>
              </a:rPr>
              <a:t> </a:t>
            </a:r>
            <a:r>
              <a:rPr sz="2100" dirty="0">
                <a:latin typeface="Calibri"/>
                <a:cs typeface="Calibri"/>
              </a:rPr>
              <a:t>point</a:t>
            </a:r>
            <a:r>
              <a:rPr sz="2100" spc="-26" dirty="0">
                <a:latin typeface="Calibri"/>
                <a:cs typeface="Calibri"/>
              </a:rPr>
              <a:t> </a:t>
            </a:r>
            <a:r>
              <a:rPr sz="2100" dirty="0">
                <a:latin typeface="Calibri"/>
                <a:cs typeface="Calibri"/>
              </a:rPr>
              <a:t>to</a:t>
            </a:r>
            <a:r>
              <a:rPr sz="2100" spc="-26" dirty="0">
                <a:latin typeface="Calibri"/>
                <a:cs typeface="Calibri"/>
              </a:rPr>
              <a:t> </a:t>
            </a:r>
            <a:r>
              <a:rPr sz="2100" dirty="0">
                <a:latin typeface="Calibri"/>
                <a:cs typeface="Calibri"/>
              </a:rPr>
              <a:t>changing</a:t>
            </a:r>
            <a:r>
              <a:rPr sz="2100" spc="-30" dirty="0">
                <a:latin typeface="Calibri"/>
                <a:cs typeface="Calibri"/>
              </a:rPr>
              <a:t> </a:t>
            </a:r>
            <a:r>
              <a:rPr sz="2100" dirty="0">
                <a:latin typeface="Calibri"/>
                <a:cs typeface="Calibri"/>
              </a:rPr>
              <a:t>the</a:t>
            </a:r>
            <a:r>
              <a:rPr sz="2100" spc="-30" dirty="0">
                <a:latin typeface="Calibri"/>
                <a:cs typeface="Calibri"/>
              </a:rPr>
              <a:t> </a:t>
            </a:r>
            <a:r>
              <a:rPr sz="2100" dirty="0">
                <a:latin typeface="Calibri"/>
                <a:cs typeface="Calibri"/>
              </a:rPr>
              <a:t>old</a:t>
            </a:r>
            <a:r>
              <a:rPr sz="2100" spc="-23" dirty="0">
                <a:latin typeface="Calibri"/>
                <a:cs typeface="Calibri"/>
              </a:rPr>
              <a:t> </a:t>
            </a:r>
            <a:r>
              <a:rPr sz="2100" spc="-8" dirty="0">
                <a:latin typeface="Calibri"/>
                <a:cs typeface="Calibri"/>
              </a:rPr>
              <a:t>values.</a:t>
            </a:r>
            <a:endParaRPr sz="2100">
              <a:latin typeface="Calibri"/>
              <a:cs typeface="Calibri"/>
            </a:endParaRPr>
          </a:p>
        </p:txBody>
      </p:sp>
    </p:spTree>
  </p:cSld>
  <p:clrMapOvr>
    <a:masterClrMapping/>
  </p:clrMapOvr>
  <p:transition spd="med"/>
</p:sld>
</file>

<file path=ppt/slides/slide1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4254246" y="6428920"/>
            <a:ext cx="3683634"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9525">
              <a:spcBef>
                <a:spcPts val="30"/>
              </a:spcBef>
            </a:pPr>
            <a:r>
              <a:rPr lang="en-US" spc="-10"/>
              <a:t>Copyright</a:t>
            </a:r>
            <a:r>
              <a:rPr lang="en-US" spc="-15"/>
              <a:t> </a:t>
            </a:r>
            <a:r>
              <a:rPr lang="en-US"/>
              <a:t>©</a:t>
            </a:r>
            <a:r>
              <a:rPr lang="en-US" spc="-10"/>
              <a:t> </a:t>
            </a:r>
            <a:r>
              <a:rPr lang="en-US"/>
              <a:t>2016</a:t>
            </a:r>
            <a:r>
              <a:rPr lang="en-US" spc="-10"/>
              <a:t> </a:t>
            </a:r>
            <a:r>
              <a:rPr lang="en-US"/>
              <a:t>Ramez</a:t>
            </a:r>
            <a:r>
              <a:rPr lang="en-US" spc="-5"/>
              <a:t> </a:t>
            </a:r>
            <a:r>
              <a:rPr lang="en-US"/>
              <a:t>Elmasri</a:t>
            </a:r>
            <a:r>
              <a:rPr lang="en-US" spc="-15"/>
              <a:t> </a:t>
            </a:r>
            <a:r>
              <a:rPr lang="en-US"/>
              <a:t>and</a:t>
            </a:r>
            <a:r>
              <a:rPr lang="en-US" spc="-15"/>
              <a:t> </a:t>
            </a:r>
            <a:r>
              <a:rPr lang="en-US" spc="-10"/>
              <a:t>Shamkant</a:t>
            </a:r>
            <a:r>
              <a:rPr lang="en-US" spc="-15"/>
              <a:t> </a:t>
            </a:r>
            <a:r>
              <a:rPr lang="en-US"/>
              <a:t>B.</a:t>
            </a:r>
            <a:r>
              <a:rPr lang="en-US" spc="-10"/>
              <a:t> Navathe</a:t>
            </a:r>
            <a:endParaRPr spc="-8" dirty="0"/>
          </a:p>
        </p:txBody>
      </p:sp>
      <p:sp>
        <p:nvSpPr>
          <p:cNvPr id="5" name="object 5"/>
          <p:cNvSpPr txBox="1">
            <a:spLocks noGrp="1"/>
          </p:cNvSpPr>
          <p:nvPr>
            <p:ph type="sldNum" sz="quarter" idx="7"/>
          </p:nvPr>
        </p:nvSpPr>
        <p:spPr>
          <a:xfrm>
            <a:off x="11067415" y="6428920"/>
            <a:ext cx="2444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15570">
              <a:spcBef>
                <a:spcPts val="40"/>
              </a:spcBef>
            </a:pPr>
            <a:fld id="{81D60167-4931-47E6-BA6A-407CBD079E47}" type="slidenum">
              <a:rPr lang="en-US" spc="-50" smtClean="0"/>
              <a:pPr marL="115570">
                <a:spcBef>
                  <a:spcPts val="40"/>
                </a:spcBef>
              </a:pPr>
              <a:t>177</a:t>
            </a:fld>
            <a:endParaRPr spc="-19" dirty="0"/>
          </a:p>
        </p:txBody>
      </p:sp>
      <p:sp>
        <p:nvSpPr>
          <p:cNvPr id="2" name="object 2"/>
          <p:cNvSpPr txBox="1">
            <a:spLocks noGrp="1"/>
          </p:cNvSpPr>
          <p:nvPr>
            <p:ph type="title"/>
          </p:nvPr>
        </p:nvSpPr>
        <p:spPr>
          <a:xfrm>
            <a:off x="1563052" y="391399"/>
            <a:ext cx="6017896"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dirty="0"/>
              <a:t>Viewing</a:t>
            </a:r>
            <a:r>
              <a:rPr spc="-120" dirty="0"/>
              <a:t> </a:t>
            </a:r>
            <a:r>
              <a:rPr spc="-34" dirty="0"/>
              <a:t>Your</a:t>
            </a:r>
            <a:r>
              <a:rPr spc="-120" dirty="0"/>
              <a:t> </a:t>
            </a:r>
            <a:r>
              <a:rPr spc="-15" dirty="0"/>
              <a:t>Triggers</a:t>
            </a:r>
          </a:p>
        </p:txBody>
      </p:sp>
      <p:sp>
        <p:nvSpPr>
          <p:cNvPr id="3" name="object 3"/>
          <p:cNvSpPr txBox="1"/>
          <p:nvPr/>
        </p:nvSpPr>
        <p:spPr>
          <a:xfrm>
            <a:off x="687705" y="2204084"/>
            <a:ext cx="7716679" cy="2969146"/>
          </a:xfrm>
          <a:prstGeom prst="rect">
            <a:avLst/>
          </a:prstGeom>
        </p:spPr>
        <p:txBody>
          <a:bodyPr vert="horz" wrap="square" lIns="0" tIns="47625" rIns="0" bIns="0" rtlCol="0">
            <a:spAutoFit/>
          </a:bodyPr>
          <a:lstStyle/>
          <a:p>
            <a:pPr marL="180975" marR="3810" indent="-171450">
              <a:lnSpc>
                <a:spcPts val="2250"/>
              </a:lnSpc>
              <a:spcBef>
                <a:spcPts val="375"/>
              </a:spcBef>
              <a:buFont typeface="Arial"/>
              <a:buChar char="•"/>
              <a:tabLst>
                <a:tab pos="180975" algn="l"/>
                <a:tab pos="5819299" algn="l"/>
              </a:tabLst>
            </a:pPr>
            <a:r>
              <a:rPr sz="2100" dirty="0">
                <a:latin typeface="Calibri"/>
                <a:cs typeface="Calibri"/>
              </a:rPr>
              <a:t>MySQL</a:t>
            </a:r>
            <a:r>
              <a:rPr sz="2100" spc="-30" dirty="0">
                <a:latin typeface="Calibri"/>
                <a:cs typeface="Calibri"/>
              </a:rPr>
              <a:t> </a:t>
            </a:r>
            <a:r>
              <a:rPr sz="2100" dirty="0">
                <a:latin typeface="Calibri"/>
                <a:cs typeface="Calibri"/>
              </a:rPr>
              <a:t>has</a:t>
            </a:r>
            <a:r>
              <a:rPr sz="2100" spc="-19" dirty="0">
                <a:latin typeface="Calibri"/>
                <a:cs typeface="Calibri"/>
              </a:rPr>
              <a:t> </a:t>
            </a:r>
            <a:r>
              <a:rPr sz="2100" dirty="0">
                <a:latin typeface="Calibri"/>
                <a:cs typeface="Calibri"/>
              </a:rPr>
              <a:t>a</a:t>
            </a:r>
            <a:r>
              <a:rPr sz="2100" spc="-30" dirty="0">
                <a:latin typeface="Calibri"/>
                <a:cs typeface="Calibri"/>
              </a:rPr>
              <a:t> </a:t>
            </a:r>
            <a:r>
              <a:rPr sz="2100" dirty="0">
                <a:latin typeface="Calibri"/>
                <a:cs typeface="Calibri"/>
              </a:rPr>
              <a:t>schema</a:t>
            </a:r>
            <a:r>
              <a:rPr sz="2100" spc="-26" dirty="0">
                <a:latin typeface="Calibri"/>
                <a:cs typeface="Calibri"/>
              </a:rPr>
              <a:t> </a:t>
            </a:r>
            <a:r>
              <a:rPr sz="2100" dirty="0">
                <a:latin typeface="Calibri"/>
                <a:cs typeface="Calibri"/>
              </a:rPr>
              <a:t>that</a:t>
            </a:r>
            <a:r>
              <a:rPr sz="2100" spc="-23" dirty="0">
                <a:latin typeface="Calibri"/>
                <a:cs typeface="Calibri"/>
              </a:rPr>
              <a:t> </a:t>
            </a:r>
            <a:r>
              <a:rPr sz="2100" dirty="0">
                <a:latin typeface="Calibri"/>
                <a:cs typeface="Calibri"/>
              </a:rPr>
              <a:t>has</a:t>
            </a:r>
            <a:r>
              <a:rPr sz="2100" spc="-23" dirty="0">
                <a:latin typeface="Calibri"/>
                <a:cs typeface="Calibri"/>
              </a:rPr>
              <a:t> </a:t>
            </a:r>
            <a:r>
              <a:rPr sz="2100" dirty="0">
                <a:latin typeface="Calibri"/>
                <a:cs typeface="Calibri"/>
              </a:rPr>
              <a:t>tables</a:t>
            </a:r>
            <a:r>
              <a:rPr sz="2100" spc="-19" dirty="0">
                <a:latin typeface="Calibri"/>
                <a:cs typeface="Calibri"/>
              </a:rPr>
              <a:t> </a:t>
            </a:r>
            <a:r>
              <a:rPr sz="2100" dirty="0">
                <a:latin typeface="Calibri"/>
                <a:cs typeface="Calibri"/>
              </a:rPr>
              <a:t>for</a:t>
            </a:r>
            <a:r>
              <a:rPr sz="2100" spc="-30" dirty="0">
                <a:latin typeface="Calibri"/>
                <a:cs typeface="Calibri"/>
              </a:rPr>
              <a:t> </a:t>
            </a:r>
            <a:r>
              <a:rPr sz="2100" dirty="0">
                <a:latin typeface="Calibri"/>
                <a:cs typeface="Calibri"/>
              </a:rPr>
              <a:t>all</a:t>
            </a:r>
            <a:r>
              <a:rPr sz="2100" spc="-26" dirty="0">
                <a:latin typeface="Calibri"/>
                <a:cs typeface="Calibri"/>
              </a:rPr>
              <a:t> </a:t>
            </a:r>
            <a:r>
              <a:rPr sz="2100" dirty="0">
                <a:latin typeface="Calibri"/>
                <a:cs typeface="Calibri"/>
              </a:rPr>
              <a:t>of</a:t>
            </a:r>
            <a:r>
              <a:rPr sz="2100" spc="-30" dirty="0">
                <a:latin typeface="Calibri"/>
                <a:cs typeface="Calibri"/>
              </a:rPr>
              <a:t> </a:t>
            </a:r>
            <a:r>
              <a:rPr sz="2100" dirty="0">
                <a:latin typeface="Calibri"/>
                <a:cs typeface="Calibri"/>
              </a:rPr>
              <a:t>the</a:t>
            </a:r>
            <a:r>
              <a:rPr sz="2100" spc="-34" dirty="0">
                <a:latin typeface="Calibri"/>
                <a:cs typeface="Calibri"/>
              </a:rPr>
              <a:t> </a:t>
            </a:r>
            <a:r>
              <a:rPr sz="2100" spc="-8" dirty="0">
                <a:latin typeface="Calibri"/>
                <a:cs typeface="Calibri"/>
              </a:rPr>
              <a:t>information</a:t>
            </a:r>
            <a:r>
              <a:rPr sz="2100" spc="-19" dirty="0">
                <a:latin typeface="Calibri"/>
                <a:cs typeface="Calibri"/>
              </a:rPr>
              <a:t> </a:t>
            </a:r>
            <a:r>
              <a:rPr sz="2100" dirty="0">
                <a:latin typeface="Calibri"/>
                <a:cs typeface="Calibri"/>
              </a:rPr>
              <a:t>that</a:t>
            </a:r>
            <a:r>
              <a:rPr sz="2100" spc="-23" dirty="0">
                <a:latin typeface="Calibri"/>
                <a:cs typeface="Calibri"/>
              </a:rPr>
              <a:t> </a:t>
            </a:r>
            <a:r>
              <a:rPr sz="2100" spc="-19" dirty="0">
                <a:latin typeface="Calibri"/>
                <a:cs typeface="Calibri"/>
              </a:rPr>
              <a:t>is </a:t>
            </a:r>
            <a:r>
              <a:rPr sz="2100" dirty="0">
                <a:latin typeface="Calibri"/>
                <a:cs typeface="Calibri"/>
              </a:rPr>
              <a:t>needed</a:t>
            </a:r>
            <a:r>
              <a:rPr sz="2100" spc="-19" dirty="0">
                <a:latin typeface="Calibri"/>
                <a:cs typeface="Calibri"/>
              </a:rPr>
              <a:t> </a:t>
            </a:r>
            <a:r>
              <a:rPr sz="2100" dirty="0">
                <a:latin typeface="Calibri"/>
                <a:cs typeface="Calibri"/>
              </a:rPr>
              <a:t>to</a:t>
            </a:r>
            <a:r>
              <a:rPr sz="2100" spc="-19" dirty="0">
                <a:latin typeface="Calibri"/>
                <a:cs typeface="Calibri"/>
              </a:rPr>
              <a:t> </a:t>
            </a:r>
            <a:r>
              <a:rPr sz="2100" dirty="0">
                <a:latin typeface="Calibri"/>
                <a:cs typeface="Calibri"/>
              </a:rPr>
              <a:t>define</a:t>
            </a:r>
            <a:r>
              <a:rPr sz="2100" spc="-23" dirty="0">
                <a:latin typeface="Calibri"/>
                <a:cs typeface="Calibri"/>
              </a:rPr>
              <a:t> </a:t>
            </a:r>
            <a:r>
              <a:rPr sz="2100" dirty="0">
                <a:latin typeface="Calibri"/>
                <a:cs typeface="Calibri"/>
              </a:rPr>
              <a:t>and</a:t>
            </a:r>
            <a:r>
              <a:rPr sz="2100" spc="-15" dirty="0">
                <a:latin typeface="Calibri"/>
                <a:cs typeface="Calibri"/>
              </a:rPr>
              <a:t> </a:t>
            </a:r>
            <a:r>
              <a:rPr sz="2100" dirty="0">
                <a:latin typeface="Calibri"/>
                <a:cs typeface="Calibri"/>
              </a:rPr>
              <a:t>run</a:t>
            </a:r>
            <a:r>
              <a:rPr sz="2100" spc="-15" dirty="0">
                <a:latin typeface="Calibri"/>
                <a:cs typeface="Calibri"/>
              </a:rPr>
              <a:t> </a:t>
            </a:r>
            <a:r>
              <a:rPr sz="2100" dirty="0">
                <a:latin typeface="Calibri"/>
                <a:cs typeface="Calibri"/>
              </a:rPr>
              <a:t>the</a:t>
            </a:r>
            <a:r>
              <a:rPr sz="2100" spc="-26" dirty="0">
                <a:latin typeface="Calibri"/>
                <a:cs typeface="Calibri"/>
              </a:rPr>
              <a:t> </a:t>
            </a:r>
            <a:r>
              <a:rPr sz="2100" dirty="0">
                <a:latin typeface="Calibri"/>
                <a:cs typeface="Calibri"/>
              </a:rPr>
              <a:t>data</a:t>
            </a:r>
            <a:r>
              <a:rPr sz="2100" spc="-19" dirty="0">
                <a:latin typeface="Calibri"/>
                <a:cs typeface="Calibri"/>
              </a:rPr>
              <a:t> </a:t>
            </a:r>
            <a:r>
              <a:rPr sz="2100" dirty="0">
                <a:latin typeface="Calibri"/>
                <a:cs typeface="Calibri"/>
              </a:rPr>
              <a:t>in</a:t>
            </a:r>
            <a:r>
              <a:rPr sz="2100" spc="-15" dirty="0">
                <a:latin typeface="Calibri"/>
                <a:cs typeface="Calibri"/>
              </a:rPr>
              <a:t> </a:t>
            </a:r>
            <a:r>
              <a:rPr sz="2100" dirty="0">
                <a:latin typeface="Calibri"/>
                <a:cs typeface="Calibri"/>
              </a:rPr>
              <a:t>the</a:t>
            </a:r>
            <a:r>
              <a:rPr sz="2100" spc="-23" dirty="0">
                <a:latin typeface="Calibri"/>
                <a:cs typeface="Calibri"/>
              </a:rPr>
              <a:t> </a:t>
            </a:r>
            <a:r>
              <a:rPr sz="2100" spc="-8" dirty="0">
                <a:latin typeface="Calibri"/>
                <a:cs typeface="Calibri"/>
              </a:rPr>
              <a:t>database.</a:t>
            </a:r>
            <a:r>
              <a:rPr sz="2100" dirty="0">
                <a:latin typeface="Calibri"/>
                <a:cs typeface="Calibri"/>
              </a:rPr>
              <a:t>	This</a:t>
            </a:r>
            <a:r>
              <a:rPr sz="2100" spc="-30" dirty="0">
                <a:latin typeface="Calibri"/>
                <a:cs typeface="Calibri"/>
              </a:rPr>
              <a:t> </a:t>
            </a:r>
            <a:r>
              <a:rPr sz="2100" dirty="0">
                <a:latin typeface="Calibri"/>
                <a:cs typeface="Calibri"/>
              </a:rPr>
              <a:t>is</a:t>
            </a:r>
            <a:r>
              <a:rPr sz="2100" spc="-26" dirty="0">
                <a:latin typeface="Calibri"/>
                <a:cs typeface="Calibri"/>
              </a:rPr>
              <a:t> </a:t>
            </a:r>
            <a:r>
              <a:rPr sz="2100" dirty="0">
                <a:latin typeface="Calibri"/>
                <a:cs typeface="Calibri"/>
              </a:rPr>
              <a:t>meta</a:t>
            </a:r>
            <a:r>
              <a:rPr sz="2100" spc="-30" dirty="0">
                <a:latin typeface="Calibri"/>
                <a:cs typeface="Calibri"/>
              </a:rPr>
              <a:t> </a:t>
            </a:r>
            <a:r>
              <a:rPr sz="2100" spc="-8" dirty="0">
                <a:latin typeface="Calibri"/>
                <a:cs typeface="Calibri"/>
              </a:rPr>
              <a:t>data.</a:t>
            </a:r>
            <a:endParaRPr sz="2100">
              <a:latin typeface="Calibri"/>
              <a:cs typeface="Calibri"/>
            </a:endParaRPr>
          </a:p>
          <a:p>
            <a:pPr marL="180975" marR="861536" indent="-171450">
              <a:lnSpc>
                <a:spcPct val="91100"/>
              </a:lnSpc>
              <a:spcBef>
                <a:spcPts val="660"/>
              </a:spcBef>
              <a:buFont typeface="Arial"/>
              <a:buChar char="•"/>
              <a:tabLst>
                <a:tab pos="180975" algn="l"/>
              </a:tabLst>
            </a:pPr>
            <a:r>
              <a:rPr sz="2100" dirty="0">
                <a:latin typeface="Calibri"/>
                <a:cs typeface="Calibri"/>
              </a:rPr>
              <a:t>select</a:t>
            </a:r>
            <a:r>
              <a:rPr sz="2100" spc="-8" dirty="0">
                <a:latin typeface="Calibri"/>
                <a:cs typeface="Calibri"/>
              </a:rPr>
              <a:t> </a:t>
            </a:r>
            <a:r>
              <a:rPr sz="2100" dirty="0">
                <a:latin typeface="Calibri"/>
                <a:cs typeface="Calibri"/>
              </a:rPr>
              <a:t>* from</a:t>
            </a:r>
            <a:r>
              <a:rPr sz="2100" spc="-8" dirty="0">
                <a:latin typeface="Calibri"/>
                <a:cs typeface="Calibri"/>
              </a:rPr>
              <a:t> </a:t>
            </a:r>
            <a:r>
              <a:rPr sz="2100" spc="-15" dirty="0">
                <a:latin typeface="Calibri"/>
                <a:cs typeface="Calibri"/>
              </a:rPr>
              <a:t>information_schema.triggers</a:t>
            </a:r>
            <a:r>
              <a:rPr sz="2100" dirty="0">
                <a:latin typeface="Calibri"/>
                <a:cs typeface="Calibri"/>
              </a:rPr>
              <a:t> </a:t>
            </a:r>
            <a:r>
              <a:rPr sz="2100" spc="-8" dirty="0">
                <a:latin typeface="Calibri"/>
                <a:cs typeface="Calibri"/>
              </a:rPr>
              <a:t>where trigger_schema=‘&lt;your</a:t>
            </a:r>
            <a:r>
              <a:rPr sz="2100" spc="-34" dirty="0">
                <a:latin typeface="Calibri"/>
                <a:cs typeface="Calibri"/>
              </a:rPr>
              <a:t> </a:t>
            </a:r>
            <a:r>
              <a:rPr sz="2100" dirty="0">
                <a:latin typeface="Calibri"/>
                <a:cs typeface="Calibri"/>
              </a:rPr>
              <a:t>schema</a:t>
            </a:r>
            <a:r>
              <a:rPr sz="2100" spc="-34" dirty="0">
                <a:latin typeface="Calibri"/>
                <a:cs typeface="Calibri"/>
              </a:rPr>
              <a:t> </a:t>
            </a:r>
            <a:r>
              <a:rPr sz="2100" dirty="0">
                <a:latin typeface="Calibri"/>
                <a:cs typeface="Calibri"/>
              </a:rPr>
              <a:t>name&gt;';</a:t>
            </a:r>
            <a:r>
              <a:rPr sz="2100" spc="-30" dirty="0">
                <a:latin typeface="Calibri"/>
                <a:cs typeface="Calibri"/>
              </a:rPr>
              <a:t> </a:t>
            </a:r>
            <a:r>
              <a:rPr sz="2100" spc="-8" dirty="0">
                <a:latin typeface="Calibri"/>
                <a:cs typeface="Calibri"/>
              </a:rPr>
              <a:t>-</a:t>
            </a:r>
            <a:r>
              <a:rPr sz="2100" dirty="0">
                <a:latin typeface="Calibri"/>
                <a:cs typeface="Calibri"/>
              </a:rPr>
              <a:t>-</a:t>
            </a:r>
            <a:r>
              <a:rPr sz="2100" spc="-30" dirty="0">
                <a:latin typeface="Calibri"/>
                <a:cs typeface="Calibri"/>
              </a:rPr>
              <a:t> </a:t>
            </a:r>
            <a:r>
              <a:rPr sz="2100" dirty="0">
                <a:latin typeface="Calibri"/>
                <a:cs typeface="Calibri"/>
              </a:rPr>
              <a:t>retrieve</a:t>
            </a:r>
            <a:r>
              <a:rPr sz="2100" spc="-34" dirty="0">
                <a:latin typeface="Calibri"/>
                <a:cs typeface="Calibri"/>
              </a:rPr>
              <a:t> </a:t>
            </a:r>
            <a:r>
              <a:rPr sz="2100" dirty="0">
                <a:latin typeface="Calibri"/>
                <a:cs typeface="Calibri"/>
              </a:rPr>
              <a:t>the</a:t>
            </a:r>
            <a:r>
              <a:rPr sz="2100" spc="-34" dirty="0">
                <a:latin typeface="Calibri"/>
                <a:cs typeface="Calibri"/>
              </a:rPr>
              <a:t> </a:t>
            </a:r>
            <a:r>
              <a:rPr sz="2100" spc="-8" dirty="0">
                <a:latin typeface="Calibri"/>
                <a:cs typeface="Calibri"/>
              </a:rPr>
              <a:t>trigger information</a:t>
            </a:r>
            <a:r>
              <a:rPr sz="2100" spc="-41" dirty="0">
                <a:latin typeface="Calibri"/>
                <a:cs typeface="Calibri"/>
              </a:rPr>
              <a:t> </a:t>
            </a:r>
            <a:r>
              <a:rPr sz="2100" dirty="0">
                <a:latin typeface="Calibri"/>
                <a:cs typeface="Calibri"/>
              </a:rPr>
              <a:t>for</a:t>
            </a:r>
            <a:r>
              <a:rPr sz="2100" spc="-45" dirty="0">
                <a:latin typeface="Calibri"/>
                <a:cs typeface="Calibri"/>
              </a:rPr>
              <a:t> </a:t>
            </a:r>
            <a:r>
              <a:rPr sz="2100" dirty="0">
                <a:latin typeface="Calibri"/>
                <a:cs typeface="Calibri"/>
              </a:rPr>
              <a:t>the</a:t>
            </a:r>
            <a:r>
              <a:rPr sz="2100" spc="-49" dirty="0">
                <a:latin typeface="Calibri"/>
                <a:cs typeface="Calibri"/>
              </a:rPr>
              <a:t> </a:t>
            </a:r>
            <a:r>
              <a:rPr sz="2100" dirty="0">
                <a:latin typeface="Calibri"/>
                <a:cs typeface="Calibri"/>
              </a:rPr>
              <a:t>triggers</a:t>
            </a:r>
            <a:r>
              <a:rPr sz="2100" spc="-41" dirty="0">
                <a:latin typeface="Calibri"/>
                <a:cs typeface="Calibri"/>
              </a:rPr>
              <a:t> </a:t>
            </a:r>
            <a:r>
              <a:rPr sz="2100" dirty="0">
                <a:latin typeface="Calibri"/>
                <a:cs typeface="Calibri"/>
              </a:rPr>
              <a:t>in</a:t>
            </a:r>
            <a:r>
              <a:rPr sz="2100" spc="-38" dirty="0">
                <a:latin typeface="Calibri"/>
                <a:cs typeface="Calibri"/>
              </a:rPr>
              <a:t> </a:t>
            </a:r>
            <a:r>
              <a:rPr sz="2100" dirty="0">
                <a:latin typeface="Calibri"/>
                <a:cs typeface="Calibri"/>
              </a:rPr>
              <a:t>&lt;your</a:t>
            </a:r>
            <a:r>
              <a:rPr sz="2100" spc="-45" dirty="0">
                <a:latin typeface="Calibri"/>
                <a:cs typeface="Calibri"/>
              </a:rPr>
              <a:t> </a:t>
            </a:r>
            <a:r>
              <a:rPr sz="2100" dirty="0">
                <a:latin typeface="Calibri"/>
                <a:cs typeface="Calibri"/>
              </a:rPr>
              <a:t>schema</a:t>
            </a:r>
            <a:r>
              <a:rPr sz="2100" spc="-45" dirty="0">
                <a:latin typeface="Calibri"/>
                <a:cs typeface="Calibri"/>
              </a:rPr>
              <a:t> </a:t>
            </a:r>
            <a:r>
              <a:rPr sz="2100" spc="-8" dirty="0">
                <a:latin typeface="Calibri"/>
                <a:cs typeface="Calibri"/>
              </a:rPr>
              <a:t>name&gt;.</a:t>
            </a:r>
            <a:endParaRPr sz="2100">
              <a:latin typeface="Calibri"/>
              <a:cs typeface="Calibri"/>
            </a:endParaRPr>
          </a:p>
          <a:p>
            <a:pPr marL="180975" marR="275749" indent="-171450">
              <a:lnSpc>
                <a:spcPct val="90700"/>
              </a:lnSpc>
              <a:spcBef>
                <a:spcPts val="705"/>
              </a:spcBef>
              <a:buFont typeface="Arial"/>
              <a:buChar char="•"/>
              <a:tabLst>
                <a:tab pos="180975" algn="l"/>
              </a:tabLst>
            </a:pPr>
            <a:r>
              <a:rPr sz="2100" spc="-19" dirty="0">
                <a:latin typeface="Calibri"/>
                <a:cs typeface="Calibri"/>
              </a:rPr>
              <a:t>Alternatively,</a:t>
            </a:r>
            <a:r>
              <a:rPr sz="2100" spc="-41" dirty="0">
                <a:latin typeface="Calibri"/>
                <a:cs typeface="Calibri"/>
              </a:rPr>
              <a:t> </a:t>
            </a:r>
            <a:r>
              <a:rPr sz="2100" dirty="0">
                <a:latin typeface="Calibri"/>
                <a:cs typeface="Calibri"/>
              </a:rPr>
              <a:t>you</a:t>
            </a:r>
            <a:r>
              <a:rPr sz="2100" spc="-38" dirty="0">
                <a:latin typeface="Calibri"/>
                <a:cs typeface="Calibri"/>
              </a:rPr>
              <a:t> </a:t>
            </a:r>
            <a:r>
              <a:rPr sz="2100" dirty="0">
                <a:latin typeface="Calibri"/>
                <a:cs typeface="Calibri"/>
              </a:rPr>
              <a:t>can</a:t>
            </a:r>
            <a:r>
              <a:rPr sz="2100" spc="-41" dirty="0">
                <a:latin typeface="Calibri"/>
                <a:cs typeface="Calibri"/>
              </a:rPr>
              <a:t> </a:t>
            </a:r>
            <a:r>
              <a:rPr sz="2100" dirty="0">
                <a:latin typeface="Calibri"/>
                <a:cs typeface="Calibri"/>
              </a:rPr>
              <a:t>use</a:t>
            </a:r>
            <a:r>
              <a:rPr sz="2100" spc="-45" dirty="0">
                <a:latin typeface="Calibri"/>
                <a:cs typeface="Calibri"/>
              </a:rPr>
              <a:t> </a:t>
            </a:r>
            <a:r>
              <a:rPr sz="2100" dirty="0">
                <a:latin typeface="Calibri"/>
                <a:cs typeface="Calibri"/>
              </a:rPr>
              <a:t>the</a:t>
            </a:r>
            <a:r>
              <a:rPr sz="2100" spc="-49" dirty="0">
                <a:latin typeface="Calibri"/>
                <a:cs typeface="Calibri"/>
              </a:rPr>
              <a:t> </a:t>
            </a:r>
            <a:r>
              <a:rPr sz="2100" dirty="0">
                <a:latin typeface="Calibri"/>
                <a:cs typeface="Calibri"/>
              </a:rPr>
              <a:t>“show</a:t>
            </a:r>
            <a:r>
              <a:rPr sz="2100" spc="-41" dirty="0">
                <a:latin typeface="Calibri"/>
                <a:cs typeface="Calibri"/>
              </a:rPr>
              <a:t> </a:t>
            </a:r>
            <a:r>
              <a:rPr sz="2100" dirty="0">
                <a:latin typeface="Calibri"/>
                <a:cs typeface="Calibri"/>
              </a:rPr>
              <a:t>triggers”</a:t>
            </a:r>
            <a:r>
              <a:rPr sz="2100" spc="-38" dirty="0">
                <a:latin typeface="Calibri"/>
                <a:cs typeface="Calibri"/>
              </a:rPr>
              <a:t> </a:t>
            </a:r>
            <a:r>
              <a:rPr sz="2100" dirty="0">
                <a:latin typeface="Calibri"/>
                <a:cs typeface="Calibri"/>
              </a:rPr>
              <a:t>command</a:t>
            </a:r>
            <a:r>
              <a:rPr sz="2100" spc="-41" dirty="0">
                <a:latin typeface="Calibri"/>
                <a:cs typeface="Calibri"/>
              </a:rPr>
              <a:t> </a:t>
            </a:r>
            <a:r>
              <a:rPr sz="2100" dirty="0">
                <a:latin typeface="Calibri"/>
                <a:cs typeface="Calibri"/>
              </a:rPr>
              <a:t>(this</a:t>
            </a:r>
            <a:r>
              <a:rPr sz="2100" spc="-38" dirty="0">
                <a:latin typeface="Calibri"/>
                <a:cs typeface="Calibri"/>
              </a:rPr>
              <a:t> </a:t>
            </a:r>
            <a:r>
              <a:rPr sz="2100" dirty="0">
                <a:latin typeface="Calibri"/>
                <a:cs typeface="Calibri"/>
              </a:rPr>
              <a:t>is</a:t>
            </a:r>
            <a:r>
              <a:rPr sz="2100" spc="-41" dirty="0">
                <a:latin typeface="Calibri"/>
                <a:cs typeface="Calibri"/>
              </a:rPr>
              <a:t> </a:t>
            </a:r>
            <a:r>
              <a:rPr sz="2100" spc="-19" dirty="0">
                <a:latin typeface="Calibri"/>
                <a:cs typeface="Calibri"/>
              </a:rPr>
              <a:t>not </a:t>
            </a:r>
            <a:r>
              <a:rPr sz="2100" dirty="0">
                <a:latin typeface="Calibri"/>
                <a:cs typeface="Calibri"/>
              </a:rPr>
              <a:t>SQL)</a:t>
            </a:r>
            <a:r>
              <a:rPr sz="2100" spc="-38" dirty="0">
                <a:latin typeface="Calibri"/>
                <a:cs typeface="Calibri"/>
              </a:rPr>
              <a:t> </a:t>
            </a:r>
            <a:r>
              <a:rPr sz="2100" dirty="0">
                <a:latin typeface="Calibri"/>
                <a:cs typeface="Calibri"/>
              </a:rPr>
              <a:t>that</a:t>
            </a:r>
            <a:r>
              <a:rPr sz="2100" spc="-38" dirty="0">
                <a:latin typeface="Calibri"/>
                <a:cs typeface="Calibri"/>
              </a:rPr>
              <a:t> </a:t>
            </a:r>
            <a:r>
              <a:rPr sz="2100" dirty="0">
                <a:latin typeface="Calibri"/>
                <a:cs typeface="Calibri"/>
              </a:rPr>
              <a:t>will</a:t>
            </a:r>
            <a:r>
              <a:rPr sz="2100" spc="-38" dirty="0">
                <a:latin typeface="Calibri"/>
                <a:cs typeface="Calibri"/>
              </a:rPr>
              <a:t> </a:t>
            </a:r>
            <a:r>
              <a:rPr sz="2100" dirty="0">
                <a:latin typeface="Calibri"/>
                <a:cs typeface="Calibri"/>
              </a:rPr>
              <a:t>display</a:t>
            </a:r>
            <a:r>
              <a:rPr sz="2100" spc="-45" dirty="0">
                <a:latin typeface="Calibri"/>
                <a:cs typeface="Calibri"/>
              </a:rPr>
              <a:t> </a:t>
            </a:r>
            <a:r>
              <a:rPr sz="2100" dirty="0">
                <a:latin typeface="Calibri"/>
                <a:cs typeface="Calibri"/>
              </a:rPr>
              <a:t>a</a:t>
            </a:r>
            <a:r>
              <a:rPr sz="2100" spc="-38" dirty="0">
                <a:latin typeface="Calibri"/>
                <a:cs typeface="Calibri"/>
              </a:rPr>
              <a:t> </a:t>
            </a:r>
            <a:r>
              <a:rPr sz="2100" dirty="0">
                <a:latin typeface="Calibri"/>
                <a:cs typeface="Calibri"/>
              </a:rPr>
              <a:t>report</a:t>
            </a:r>
            <a:r>
              <a:rPr sz="2100" spc="-38" dirty="0">
                <a:latin typeface="Calibri"/>
                <a:cs typeface="Calibri"/>
              </a:rPr>
              <a:t> </a:t>
            </a:r>
            <a:r>
              <a:rPr sz="2100" dirty="0">
                <a:latin typeface="Calibri"/>
                <a:cs typeface="Calibri"/>
              </a:rPr>
              <a:t>of</a:t>
            </a:r>
            <a:r>
              <a:rPr sz="2100" spc="-38" dirty="0">
                <a:latin typeface="Calibri"/>
                <a:cs typeface="Calibri"/>
              </a:rPr>
              <a:t> </a:t>
            </a:r>
            <a:r>
              <a:rPr sz="2100" dirty="0">
                <a:latin typeface="Calibri"/>
                <a:cs typeface="Calibri"/>
              </a:rPr>
              <a:t>your</a:t>
            </a:r>
            <a:r>
              <a:rPr sz="2100" spc="-41" dirty="0">
                <a:latin typeface="Calibri"/>
                <a:cs typeface="Calibri"/>
              </a:rPr>
              <a:t> </a:t>
            </a:r>
            <a:r>
              <a:rPr sz="2100" dirty="0">
                <a:latin typeface="Calibri"/>
                <a:cs typeface="Calibri"/>
              </a:rPr>
              <a:t>triggers</a:t>
            </a:r>
            <a:r>
              <a:rPr sz="2100" spc="-34" dirty="0">
                <a:latin typeface="Calibri"/>
                <a:cs typeface="Calibri"/>
              </a:rPr>
              <a:t> </a:t>
            </a:r>
            <a:r>
              <a:rPr sz="2100" dirty="0">
                <a:latin typeface="Calibri"/>
                <a:cs typeface="Calibri"/>
              </a:rPr>
              <a:t>from</a:t>
            </a:r>
            <a:r>
              <a:rPr sz="2100" spc="-38" dirty="0">
                <a:latin typeface="Calibri"/>
                <a:cs typeface="Calibri"/>
              </a:rPr>
              <a:t> </a:t>
            </a:r>
            <a:r>
              <a:rPr sz="2100" dirty="0">
                <a:latin typeface="Calibri"/>
                <a:cs typeface="Calibri"/>
              </a:rPr>
              <a:t>the</a:t>
            </a:r>
            <a:r>
              <a:rPr sz="2100" spc="-41" dirty="0">
                <a:latin typeface="Calibri"/>
                <a:cs typeface="Calibri"/>
              </a:rPr>
              <a:t> </a:t>
            </a:r>
            <a:r>
              <a:rPr sz="2100" spc="-8" dirty="0">
                <a:latin typeface="Calibri"/>
                <a:cs typeface="Calibri"/>
              </a:rPr>
              <a:t>default schema.</a:t>
            </a:r>
            <a:endParaRPr sz="2100">
              <a:latin typeface="Calibri"/>
              <a:cs typeface="Calibri"/>
            </a:endParaRPr>
          </a:p>
          <a:p>
            <a:pPr marL="694849">
              <a:spcBef>
                <a:spcPts val="484"/>
              </a:spcBef>
            </a:pPr>
            <a:r>
              <a:rPr sz="2100" dirty="0">
                <a:latin typeface="Calibri"/>
                <a:cs typeface="Calibri"/>
              </a:rPr>
              <a:t>mysql&gt;</a:t>
            </a:r>
            <a:r>
              <a:rPr sz="2100" spc="-68" dirty="0">
                <a:latin typeface="Calibri"/>
                <a:cs typeface="Calibri"/>
              </a:rPr>
              <a:t> </a:t>
            </a:r>
            <a:r>
              <a:rPr sz="2100" dirty="0">
                <a:latin typeface="Calibri"/>
                <a:cs typeface="Calibri"/>
              </a:rPr>
              <a:t>show</a:t>
            </a:r>
            <a:r>
              <a:rPr sz="2100" spc="-71" dirty="0">
                <a:latin typeface="Calibri"/>
                <a:cs typeface="Calibri"/>
              </a:rPr>
              <a:t> </a:t>
            </a:r>
            <a:r>
              <a:rPr sz="2100" spc="-8" dirty="0">
                <a:latin typeface="Calibri"/>
                <a:cs typeface="Calibri"/>
              </a:rPr>
              <a:t>triggers;</a:t>
            </a:r>
            <a:endParaRPr sz="2100">
              <a:latin typeface="Calibri"/>
              <a:cs typeface="Calibri"/>
            </a:endParaRPr>
          </a:p>
        </p:txBody>
      </p:sp>
    </p:spTree>
  </p:cSld>
  <p:clrMapOvr>
    <a:masterClrMapping/>
  </p:clrMapOvr>
  <p:transition spd="med"/>
</p:sld>
</file>

<file path=ppt/slides/slide1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4254246" y="6428920"/>
            <a:ext cx="3683634"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9525">
              <a:spcBef>
                <a:spcPts val="30"/>
              </a:spcBef>
            </a:pPr>
            <a:r>
              <a:rPr lang="en-US" spc="-10"/>
              <a:t>Copyright</a:t>
            </a:r>
            <a:r>
              <a:rPr lang="en-US" spc="-15"/>
              <a:t> </a:t>
            </a:r>
            <a:r>
              <a:rPr lang="en-US"/>
              <a:t>©</a:t>
            </a:r>
            <a:r>
              <a:rPr lang="en-US" spc="-10"/>
              <a:t> </a:t>
            </a:r>
            <a:r>
              <a:rPr lang="en-US"/>
              <a:t>2016</a:t>
            </a:r>
            <a:r>
              <a:rPr lang="en-US" spc="-10"/>
              <a:t> </a:t>
            </a:r>
            <a:r>
              <a:rPr lang="en-US"/>
              <a:t>Ramez</a:t>
            </a:r>
            <a:r>
              <a:rPr lang="en-US" spc="-5"/>
              <a:t> </a:t>
            </a:r>
            <a:r>
              <a:rPr lang="en-US"/>
              <a:t>Elmasri</a:t>
            </a:r>
            <a:r>
              <a:rPr lang="en-US" spc="-15"/>
              <a:t> </a:t>
            </a:r>
            <a:r>
              <a:rPr lang="en-US"/>
              <a:t>and</a:t>
            </a:r>
            <a:r>
              <a:rPr lang="en-US" spc="-15"/>
              <a:t> </a:t>
            </a:r>
            <a:r>
              <a:rPr lang="en-US" spc="-10"/>
              <a:t>Shamkant</a:t>
            </a:r>
            <a:r>
              <a:rPr lang="en-US" spc="-15"/>
              <a:t> </a:t>
            </a:r>
            <a:r>
              <a:rPr lang="en-US"/>
              <a:t>B.</a:t>
            </a:r>
            <a:r>
              <a:rPr lang="en-US" spc="-10"/>
              <a:t> Navathe</a:t>
            </a:r>
            <a:endParaRPr spc="-8" dirty="0"/>
          </a:p>
        </p:txBody>
      </p:sp>
      <p:sp>
        <p:nvSpPr>
          <p:cNvPr id="5" name="object 5"/>
          <p:cNvSpPr txBox="1">
            <a:spLocks noGrp="1"/>
          </p:cNvSpPr>
          <p:nvPr>
            <p:ph type="sldNum" sz="quarter" idx="7"/>
          </p:nvPr>
        </p:nvSpPr>
        <p:spPr>
          <a:xfrm>
            <a:off x="11067415" y="6428920"/>
            <a:ext cx="2444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15570">
              <a:spcBef>
                <a:spcPts val="40"/>
              </a:spcBef>
            </a:pPr>
            <a:fld id="{81D60167-4931-47E6-BA6A-407CBD079E47}" type="slidenum">
              <a:rPr lang="en-US" spc="-50" smtClean="0"/>
              <a:pPr marL="115570">
                <a:spcBef>
                  <a:spcPts val="40"/>
                </a:spcBef>
              </a:pPr>
              <a:t>178</a:t>
            </a:fld>
            <a:endParaRPr spc="-19" dirty="0"/>
          </a:p>
        </p:txBody>
      </p:sp>
      <p:sp>
        <p:nvSpPr>
          <p:cNvPr id="2" name="object 2"/>
          <p:cNvSpPr txBox="1">
            <a:spLocks noGrp="1"/>
          </p:cNvSpPr>
          <p:nvPr>
            <p:ph type="title"/>
          </p:nvPr>
        </p:nvSpPr>
        <p:spPr>
          <a:xfrm>
            <a:off x="715779" y="615631"/>
            <a:ext cx="8230076"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dirty="0"/>
              <a:t>Viewing</a:t>
            </a:r>
            <a:r>
              <a:rPr spc="-127" dirty="0"/>
              <a:t> </a:t>
            </a:r>
            <a:r>
              <a:rPr spc="-34" dirty="0"/>
              <a:t>Your</a:t>
            </a:r>
            <a:r>
              <a:rPr spc="-127" dirty="0"/>
              <a:t> </a:t>
            </a:r>
            <a:r>
              <a:rPr spc="-23" dirty="0"/>
              <a:t>Triggers</a:t>
            </a:r>
            <a:r>
              <a:rPr spc="-127" dirty="0"/>
              <a:t> </a:t>
            </a:r>
            <a:r>
              <a:rPr spc="-8" dirty="0"/>
              <a:t>(Continued)</a:t>
            </a:r>
          </a:p>
        </p:txBody>
      </p:sp>
      <p:sp>
        <p:nvSpPr>
          <p:cNvPr id="3" name="object 3"/>
          <p:cNvSpPr txBox="1"/>
          <p:nvPr/>
        </p:nvSpPr>
        <p:spPr>
          <a:xfrm>
            <a:off x="687705" y="2204084"/>
            <a:ext cx="7713821" cy="3474669"/>
          </a:xfrm>
          <a:prstGeom prst="rect">
            <a:avLst/>
          </a:prstGeom>
        </p:spPr>
        <p:txBody>
          <a:bodyPr vert="horz" wrap="square" lIns="0" tIns="47625" rIns="0" bIns="0" rtlCol="0">
            <a:spAutoFit/>
          </a:bodyPr>
          <a:lstStyle/>
          <a:p>
            <a:pPr marL="180975" marR="379571" indent="-171450">
              <a:lnSpc>
                <a:spcPts val="2250"/>
              </a:lnSpc>
              <a:spcBef>
                <a:spcPts val="375"/>
              </a:spcBef>
              <a:buFont typeface="Arial"/>
              <a:buChar char="•"/>
              <a:tabLst>
                <a:tab pos="180975" algn="l"/>
              </a:tabLst>
            </a:pPr>
            <a:r>
              <a:rPr sz="2100" dirty="0">
                <a:latin typeface="Calibri"/>
                <a:cs typeface="Calibri"/>
              </a:rPr>
              <a:t>If</a:t>
            </a:r>
            <a:r>
              <a:rPr sz="2100" spc="-45" dirty="0">
                <a:latin typeface="Calibri"/>
                <a:cs typeface="Calibri"/>
              </a:rPr>
              <a:t> </a:t>
            </a:r>
            <a:r>
              <a:rPr sz="2100" spc="-8" dirty="0">
                <a:latin typeface="Calibri"/>
                <a:cs typeface="Calibri"/>
              </a:rPr>
              <a:t>you’re</a:t>
            </a:r>
            <a:r>
              <a:rPr sz="2100" spc="-49" dirty="0">
                <a:latin typeface="Calibri"/>
                <a:cs typeface="Calibri"/>
              </a:rPr>
              <a:t> </a:t>
            </a:r>
            <a:r>
              <a:rPr sz="2100" dirty="0">
                <a:latin typeface="Calibri"/>
                <a:cs typeface="Calibri"/>
              </a:rPr>
              <a:t>using</a:t>
            </a:r>
            <a:r>
              <a:rPr sz="2100" spc="-49" dirty="0">
                <a:latin typeface="Calibri"/>
                <a:cs typeface="Calibri"/>
              </a:rPr>
              <a:t> </a:t>
            </a:r>
            <a:r>
              <a:rPr sz="2100" dirty="0">
                <a:latin typeface="Calibri"/>
                <a:cs typeface="Calibri"/>
              </a:rPr>
              <a:t>MySQL</a:t>
            </a:r>
            <a:r>
              <a:rPr sz="2100" spc="-45" dirty="0">
                <a:latin typeface="Calibri"/>
                <a:cs typeface="Calibri"/>
              </a:rPr>
              <a:t> </a:t>
            </a:r>
            <a:r>
              <a:rPr sz="2100" spc="-8" dirty="0">
                <a:latin typeface="Calibri"/>
                <a:cs typeface="Calibri"/>
              </a:rPr>
              <a:t>Workbench,</a:t>
            </a:r>
            <a:r>
              <a:rPr sz="2100" spc="-41" dirty="0">
                <a:latin typeface="Calibri"/>
                <a:cs typeface="Calibri"/>
              </a:rPr>
              <a:t> </a:t>
            </a:r>
            <a:r>
              <a:rPr sz="2100" dirty="0">
                <a:latin typeface="Calibri"/>
                <a:cs typeface="Calibri"/>
              </a:rPr>
              <a:t>the</a:t>
            </a:r>
            <a:r>
              <a:rPr sz="2100" spc="-49" dirty="0">
                <a:latin typeface="Calibri"/>
                <a:cs typeface="Calibri"/>
              </a:rPr>
              <a:t> </a:t>
            </a:r>
            <a:r>
              <a:rPr sz="2100" dirty="0">
                <a:latin typeface="Calibri"/>
                <a:cs typeface="Calibri"/>
              </a:rPr>
              <a:t>IDE</a:t>
            </a:r>
            <a:r>
              <a:rPr sz="2100" spc="-49" dirty="0">
                <a:latin typeface="Calibri"/>
                <a:cs typeface="Calibri"/>
              </a:rPr>
              <a:t> </a:t>
            </a:r>
            <a:r>
              <a:rPr sz="2100" dirty="0">
                <a:latin typeface="Calibri"/>
                <a:cs typeface="Calibri"/>
              </a:rPr>
              <a:t>provides</a:t>
            </a:r>
            <a:r>
              <a:rPr sz="2100" spc="-41" dirty="0">
                <a:latin typeface="Calibri"/>
                <a:cs typeface="Calibri"/>
              </a:rPr>
              <a:t> </a:t>
            </a:r>
            <a:r>
              <a:rPr sz="2100" dirty="0">
                <a:latin typeface="Calibri"/>
                <a:cs typeface="Calibri"/>
              </a:rPr>
              <a:t>access</a:t>
            </a:r>
            <a:r>
              <a:rPr sz="2100" spc="-41" dirty="0">
                <a:latin typeface="Calibri"/>
                <a:cs typeface="Calibri"/>
              </a:rPr>
              <a:t> </a:t>
            </a:r>
            <a:r>
              <a:rPr sz="2100" dirty="0">
                <a:latin typeface="Calibri"/>
                <a:cs typeface="Calibri"/>
              </a:rPr>
              <a:t>to</a:t>
            </a:r>
            <a:r>
              <a:rPr sz="2100" spc="-45" dirty="0">
                <a:latin typeface="Calibri"/>
                <a:cs typeface="Calibri"/>
              </a:rPr>
              <a:t> </a:t>
            </a:r>
            <a:r>
              <a:rPr sz="2100" spc="-15" dirty="0">
                <a:latin typeface="Calibri"/>
                <a:cs typeface="Calibri"/>
              </a:rPr>
              <a:t>your </a:t>
            </a:r>
            <a:r>
              <a:rPr sz="2100" spc="-8" dirty="0">
                <a:latin typeface="Calibri"/>
                <a:cs typeface="Calibri"/>
              </a:rPr>
              <a:t>triggers:</a:t>
            </a:r>
            <a:endParaRPr sz="2100">
              <a:latin typeface="Calibri"/>
              <a:cs typeface="Calibri"/>
            </a:endParaRPr>
          </a:p>
          <a:p>
            <a:pPr marL="522923" lvl="1" indent="-170497">
              <a:spcBef>
                <a:spcPts val="143"/>
              </a:spcBef>
              <a:buFont typeface="Arial"/>
              <a:buChar char="•"/>
              <a:tabLst>
                <a:tab pos="522923" algn="l"/>
              </a:tabLst>
            </a:pPr>
            <a:r>
              <a:rPr sz="1800" dirty="0">
                <a:latin typeface="Calibri"/>
                <a:cs typeface="Calibri"/>
              </a:rPr>
              <a:t>In</a:t>
            </a:r>
            <a:r>
              <a:rPr sz="1800" spc="-34" dirty="0">
                <a:latin typeface="Calibri"/>
                <a:cs typeface="Calibri"/>
              </a:rPr>
              <a:t> </a:t>
            </a:r>
            <a:r>
              <a:rPr sz="1800" dirty="0">
                <a:latin typeface="Calibri"/>
                <a:cs typeface="Calibri"/>
              </a:rPr>
              <a:t>the</a:t>
            </a:r>
            <a:r>
              <a:rPr sz="1800" spc="-30" dirty="0">
                <a:latin typeface="Calibri"/>
                <a:cs typeface="Calibri"/>
              </a:rPr>
              <a:t> </a:t>
            </a:r>
            <a:r>
              <a:rPr sz="1800" spc="-15" dirty="0">
                <a:latin typeface="Calibri"/>
                <a:cs typeface="Calibri"/>
              </a:rPr>
              <a:t>navigator</a:t>
            </a:r>
            <a:r>
              <a:rPr sz="1800" spc="-30" dirty="0">
                <a:latin typeface="Calibri"/>
                <a:cs typeface="Calibri"/>
              </a:rPr>
              <a:t> </a:t>
            </a:r>
            <a:r>
              <a:rPr sz="1800" dirty="0">
                <a:latin typeface="Calibri"/>
                <a:cs typeface="Calibri"/>
              </a:rPr>
              <a:t>pane,</a:t>
            </a:r>
            <a:r>
              <a:rPr sz="1800" spc="-34" dirty="0">
                <a:latin typeface="Calibri"/>
                <a:cs typeface="Calibri"/>
              </a:rPr>
              <a:t> </a:t>
            </a:r>
            <a:r>
              <a:rPr sz="1800" dirty="0">
                <a:latin typeface="Calibri"/>
                <a:cs typeface="Calibri"/>
              </a:rPr>
              <a:t>right</a:t>
            </a:r>
            <a:r>
              <a:rPr sz="1800" spc="-34" dirty="0">
                <a:latin typeface="Calibri"/>
                <a:cs typeface="Calibri"/>
              </a:rPr>
              <a:t> </a:t>
            </a:r>
            <a:r>
              <a:rPr sz="1800" dirty="0">
                <a:latin typeface="Calibri"/>
                <a:cs typeface="Calibri"/>
              </a:rPr>
              <a:t>click</a:t>
            </a:r>
            <a:r>
              <a:rPr sz="1800" spc="-34" dirty="0">
                <a:latin typeface="Calibri"/>
                <a:cs typeface="Calibri"/>
              </a:rPr>
              <a:t> </a:t>
            </a:r>
            <a:r>
              <a:rPr sz="1800" dirty="0">
                <a:latin typeface="Calibri"/>
                <a:cs typeface="Calibri"/>
              </a:rPr>
              <a:t>the</a:t>
            </a:r>
            <a:r>
              <a:rPr sz="1800" spc="-30" dirty="0">
                <a:latin typeface="Calibri"/>
                <a:cs typeface="Calibri"/>
              </a:rPr>
              <a:t> </a:t>
            </a:r>
            <a:r>
              <a:rPr sz="1800" dirty="0">
                <a:latin typeface="Calibri"/>
                <a:cs typeface="Calibri"/>
              </a:rPr>
              <a:t>table</a:t>
            </a:r>
            <a:r>
              <a:rPr sz="1800" spc="-30" dirty="0">
                <a:latin typeface="Calibri"/>
                <a:cs typeface="Calibri"/>
              </a:rPr>
              <a:t> </a:t>
            </a:r>
            <a:r>
              <a:rPr sz="1800" dirty="0">
                <a:latin typeface="Calibri"/>
                <a:cs typeface="Calibri"/>
              </a:rPr>
              <a:t>that</a:t>
            </a:r>
            <a:r>
              <a:rPr sz="1800" spc="-34" dirty="0">
                <a:latin typeface="Calibri"/>
                <a:cs typeface="Calibri"/>
              </a:rPr>
              <a:t> </a:t>
            </a:r>
            <a:r>
              <a:rPr sz="1800" dirty="0">
                <a:latin typeface="Calibri"/>
                <a:cs typeface="Calibri"/>
              </a:rPr>
              <a:t>has</a:t>
            </a:r>
            <a:r>
              <a:rPr sz="1800" spc="-38" dirty="0">
                <a:latin typeface="Calibri"/>
                <a:cs typeface="Calibri"/>
              </a:rPr>
              <a:t> </a:t>
            </a:r>
            <a:r>
              <a:rPr sz="1800" dirty="0">
                <a:latin typeface="Calibri"/>
                <a:cs typeface="Calibri"/>
              </a:rPr>
              <a:t>the</a:t>
            </a:r>
            <a:r>
              <a:rPr sz="1800" spc="-26" dirty="0">
                <a:latin typeface="Calibri"/>
                <a:cs typeface="Calibri"/>
              </a:rPr>
              <a:t> </a:t>
            </a:r>
            <a:r>
              <a:rPr sz="1800" spc="-8" dirty="0">
                <a:latin typeface="Calibri"/>
                <a:cs typeface="Calibri"/>
              </a:rPr>
              <a:t>trigger.</a:t>
            </a:r>
            <a:endParaRPr sz="1800">
              <a:latin typeface="Calibri"/>
              <a:cs typeface="Calibri"/>
            </a:endParaRPr>
          </a:p>
          <a:p>
            <a:pPr marL="522923" lvl="1" indent="-170497">
              <a:spcBef>
                <a:spcPts val="161"/>
              </a:spcBef>
              <a:buFont typeface="Arial"/>
              <a:buChar char="•"/>
              <a:tabLst>
                <a:tab pos="522923" algn="l"/>
              </a:tabLst>
            </a:pPr>
            <a:r>
              <a:rPr sz="1800" dirty="0">
                <a:latin typeface="Calibri"/>
                <a:cs typeface="Calibri"/>
              </a:rPr>
              <a:t>Select</a:t>
            </a:r>
            <a:r>
              <a:rPr sz="1800" spc="-41" dirty="0">
                <a:latin typeface="Calibri"/>
                <a:cs typeface="Calibri"/>
              </a:rPr>
              <a:t> </a:t>
            </a:r>
            <a:r>
              <a:rPr sz="1800" dirty="0">
                <a:latin typeface="Calibri"/>
                <a:cs typeface="Calibri"/>
              </a:rPr>
              <a:t>"Alter</a:t>
            </a:r>
            <a:r>
              <a:rPr sz="1800" spc="-34" dirty="0">
                <a:latin typeface="Calibri"/>
                <a:cs typeface="Calibri"/>
              </a:rPr>
              <a:t> </a:t>
            </a:r>
            <a:r>
              <a:rPr sz="1800" spc="-8" dirty="0">
                <a:latin typeface="Calibri"/>
                <a:cs typeface="Calibri"/>
              </a:rPr>
              <a:t>Table"</a:t>
            </a:r>
            <a:endParaRPr sz="1800">
              <a:latin typeface="Calibri"/>
              <a:cs typeface="Calibri"/>
            </a:endParaRPr>
          </a:p>
          <a:p>
            <a:pPr marL="522923" marR="820579" lvl="1" indent="-170497">
              <a:lnSpc>
                <a:spcPts val="1965"/>
              </a:lnSpc>
              <a:spcBef>
                <a:spcPts val="390"/>
              </a:spcBef>
              <a:buFont typeface="Arial"/>
              <a:buChar char="•"/>
              <a:tabLst>
                <a:tab pos="523875" algn="l"/>
                <a:tab pos="1373029" algn="l"/>
                <a:tab pos="4325303" algn="l"/>
              </a:tabLst>
            </a:pPr>
            <a:r>
              <a:rPr sz="1800" dirty="0">
                <a:latin typeface="Calibri"/>
                <a:cs typeface="Calibri"/>
              </a:rPr>
              <a:t>This</a:t>
            </a:r>
            <a:r>
              <a:rPr sz="1800" spc="-45" dirty="0">
                <a:latin typeface="Calibri"/>
                <a:cs typeface="Calibri"/>
              </a:rPr>
              <a:t> </a:t>
            </a:r>
            <a:r>
              <a:rPr sz="1800" dirty="0">
                <a:latin typeface="Calibri"/>
                <a:cs typeface="Calibri"/>
              </a:rPr>
              <a:t>will</a:t>
            </a:r>
            <a:r>
              <a:rPr sz="1800" spc="-41" dirty="0">
                <a:latin typeface="Calibri"/>
                <a:cs typeface="Calibri"/>
              </a:rPr>
              <a:t> </a:t>
            </a:r>
            <a:r>
              <a:rPr sz="1800" dirty="0">
                <a:latin typeface="Calibri"/>
                <a:cs typeface="Calibri"/>
              </a:rPr>
              <a:t>open</a:t>
            </a:r>
            <a:r>
              <a:rPr sz="1800" spc="-38" dirty="0">
                <a:latin typeface="Calibri"/>
                <a:cs typeface="Calibri"/>
              </a:rPr>
              <a:t> </a:t>
            </a:r>
            <a:r>
              <a:rPr sz="1800" dirty="0">
                <a:latin typeface="Calibri"/>
                <a:cs typeface="Calibri"/>
              </a:rPr>
              <a:t>up</a:t>
            </a:r>
            <a:r>
              <a:rPr sz="1800" spc="-38" dirty="0">
                <a:latin typeface="Calibri"/>
                <a:cs typeface="Calibri"/>
              </a:rPr>
              <a:t> </a:t>
            </a:r>
            <a:r>
              <a:rPr sz="1800" dirty="0">
                <a:latin typeface="Calibri"/>
                <a:cs typeface="Calibri"/>
              </a:rPr>
              <a:t>a</a:t>
            </a:r>
            <a:r>
              <a:rPr sz="1800" spc="-38" dirty="0">
                <a:latin typeface="Calibri"/>
                <a:cs typeface="Calibri"/>
              </a:rPr>
              <a:t> </a:t>
            </a:r>
            <a:r>
              <a:rPr sz="1800" dirty="0">
                <a:latin typeface="Calibri"/>
                <a:cs typeface="Calibri"/>
              </a:rPr>
              <a:t>rather</a:t>
            </a:r>
            <a:r>
              <a:rPr sz="1800" spc="-38" dirty="0">
                <a:latin typeface="Calibri"/>
                <a:cs typeface="Calibri"/>
              </a:rPr>
              <a:t> </a:t>
            </a:r>
            <a:r>
              <a:rPr sz="1800" dirty="0">
                <a:latin typeface="Calibri"/>
                <a:cs typeface="Calibri"/>
              </a:rPr>
              <a:t>lavish</a:t>
            </a:r>
            <a:r>
              <a:rPr sz="1800" spc="-38" dirty="0">
                <a:latin typeface="Calibri"/>
                <a:cs typeface="Calibri"/>
              </a:rPr>
              <a:t> </a:t>
            </a:r>
            <a:r>
              <a:rPr sz="1800" dirty="0">
                <a:latin typeface="Calibri"/>
                <a:cs typeface="Calibri"/>
              </a:rPr>
              <a:t>dialog</a:t>
            </a:r>
            <a:r>
              <a:rPr sz="1800" spc="-45" dirty="0">
                <a:latin typeface="Calibri"/>
                <a:cs typeface="Calibri"/>
              </a:rPr>
              <a:t> </a:t>
            </a:r>
            <a:r>
              <a:rPr sz="1800" dirty="0">
                <a:latin typeface="Calibri"/>
                <a:cs typeface="Calibri"/>
              </a:rPr>
              <a:t>which</a:t>
            </a:r>
            <a:r>
              <a:rPr sz="1800" spc="-38" dirty="0">
                <a:latin typeface="Calibri"/>
                <a:cs typeface="Calibri"/>
              </a:rPr>
              <a:t> </a:t>
            </a:r>
            <a:r>
              <a:rPr sz="1800" dirty="0">
                <a:latin typeface="Calibri"/>
                <a:cs typeface="Calibri"/>
              </a:rPr>
              <a:t>has</a:t>
            </a:r>
            <a:r>
              <a:rPr sz="1800" spc="-41" dirty="0">
                <a:latin typeface="Calibri"/>
                <a:cs typeface="Calibri"/>
              </a:rPr>
              <a:t> </a:t>
            </a:r>
            <a:r>
              <a:rPr sz="1800" dirty="0">
                <a:latin typeface="Calibri"/>
                <a:cs typeface="Calibri"/>
              </a:rPr>
              <a:t>tabs</a:t>
            </a:r>
            <a:r>
              <a:rPr sz="1800" spc="-41" dirty="0">
                <a:latin typeface="Calibri"/>
                <a:cs typeface="Calibri"/>
              </a:rPr>
              <a:t> </a:t>
            </a:r>
            <a:r>
              <a:rPr sz="1800" dirty="0">
                <a:latin typeface="Calibri"/>
                <a:cs typeface="Calibri"/>
              </a:rPr>
              <a:t>down</a:t>
            </a:r>
            <a:r>
              <a:rPr sz="1800" spc="-38" dirty="0">
                <a:latin typeface="Calibri"/>
                <a:cs typeface="Calibri"/>
              </a:rPr>
              <a:t> </a:t>
            </a:r>
            <a:r>
              <a:rPr sz="1800" dirty="0">
                <a:latin typeface="Calibri"/>
                <a:cs typeface="Calibri"/>
              </a:rPr>
              <a:t>near</a:t>
            </a:r>
            <a:r>
              <a:rPr sz="1800" spc="-38" dirty="0">
                <a:latin typeface="Calibri"/>
                <a:cs typeface="Calibri"/>
              </a:rPr>
              <a:t> </a:t>
            </a:r>
            <a:r>
              <a:rPr sz="1800" spc="-19" dirty="0">
                <a:latin typeface="Calibri"/>
                <a:cs typeface="Calibri"/>
              </a:rPr>
              <a:t>the 	</a:t>
            </a:r>
            <a:r>
              <a:rPr sz="1800" spc="-8" dirty="0">
                <a:latin typeface="Calibri"/>
                <a:cs typeface="Calibri"/>
              </a:rPr>
              <a:t>bottom.</a:t>
            </a:r>
            <a:r>
              <a:rPr sz="1800" dirty="0">
                <a:latin typeface="Calibri"/>
                <a:cs typeface="Calibri"/>
              </a:rPr>
              <a:t>	One</a:t>
            </a:r>
            <a:r>
              <a:rPr sz="1800" spc="-26" dirty="0">
                <a:latin typeface="Calibri"/>
                <a:cs typeface="Calibri"/>
              </a:rPr>
              <a:t> </a:t>
            </a:r>
            <a:r>
              <a:rPr sz="1800" dirty="0">
                <a:latin typeface="Calibri"/>
                <a:cs typeface="Calibri"/>
              </a:rPr>
              <a:t>of</a:t>
            </a:r>
            <a:r>
              <a:rPr sz="1800" spc="-23" dirty="0">
                <a:latin typeface="Calibri"/>
                <a:cs typeface="Calibri"/>
              </a:rPr>
              <a:t> </a:t>
            </a:r>
            <a:r>
              <a:rPr sz="1800" dirty="0">
                <a:latin typeface="Calibri"/>
                <a:cs typeface="Calibri"/>
              </a:rPr>
              <a:t>those</a:t>
            </a:r>
            <a:r>
              <a:rPr sz="1800" spc="-26" dirty="0">
                <a:latin typeface="Calibri"/>
                <a:cs typeface="Calibri"/>
              </a:rPr>
              <a:t> </a:t>
            </a:r>
            <a:r>
              <a:rPr sz="1800" dirty="0">
                <a:latin typeface="Calibri"/>
                <a:cs typeface="Calibri"/>
              </a:rPr>
              <a:t>tabs</a:t>
            </a:r>
            <a:r>
              <a:rPr sz="1800" spc="-30" dirty="0">
                <a:latin typeface="Calibri"/>
                <a:cs typeface="Calibri"/>
              </a:rPr>
              <a:t> </a:t>
            </a:r>
            <a:r>
              <a:rPr sz="1800" dirty="0">
                <a:latin typeface="Calibri"/>
                <a:cs typeface="Calibri"/>
              </a:rPr>
              <a:t>is</a:t>
            </a:r>
            <a:r>
              <a:rPr sz="1800" spc="-34" dirty="0">
                <a:latin typeface="Calibri"/>
                <a:cs typeface="Calibri"/>
              </a:rPr>
              <a:t> </a:t>
            </a:r>
            <a:r>
              <a:rPr sz="1800" spc="-8" dirty="0">
                <a:latin typeface="Calibri"/>
                <a:cs typeface="Calibri"/>
              </a:rPr>
              <a:t>"Triggers".</a:t>
            </a:r>
            <a:r>
              <a:rPr sz="1800" dirty="0">
                <a:latin typeface="Calibri"/>
                <a:cs typeface="Calibri"/>
              </a:rPr>
              <a:t>	Select</a:t>
            </a:r>
            <a:r>
              <a:rPr sz="1800" spc="-45" dirty="0">
                <a:latin typeface="Calibri"/>
                <a:cs typeface="Calibri"/>
              </a:rPr>
              <a:t> </a:t>
            </a:r>
            <a:r>
              <a:rPr sz="1800" spc="-8" dirty="0">
                <a:latin typeface="Calibri"/>
                <a:cs typeface="Calibri"/>
              </a:rPr>
              <a:t>that.</a:t>
            </a:r>
            <a:endParaRPr sz="1800">
              <a:latin typeface="Calibri"/>
              <a:cs typeface="Calibri"/>
            </a:endParaRPr>
          </a:p>
          <a:p>
            <a:pPr marL="522923" marR="17145" lvl="1" indent="-170497">
              <a:lnSpc>
                <a:spcPts val="1943"/>
              </a:lnSpc>
              <a:spcBef>
                <a:spcPts val="375"/>
              </a:spcBef>
              <a:buFont typeface="Arial"/>
              <a:buChar char="•"/>
              <a:tabLst>
                <a:tab pos="523875" algn="l"/>
              </a:tabLst>
            </a:pPr>
            <a:r>
              <a:rPr sz="1800" dirty="0">
                <a:latin typeface="Calibri"/>
                <a:cs typeface="Calibri"/>
              </a:rPr>
              <a:t>That</a:t>
            </a:r>
            <a:r>
              <a:rPr sz="1800" spc="-34" dirty="0">
                <a:latin typeface="Calibri"/>
                <a:cs typeface="Calibri"/>
              </a:rPr>
              <a:t> </a:t>
            </a:r>
            <a:r>
              <a:rPr sz="1800" dirty="0">
                <a:latin typeface="Calibri"/>
                <a:cs typeface="Calibri"/>
              </a:rPr>
              <a:t>will</a:t>
            </a:r>
            <a:r>
              <a:rPr sz="1800" spc="-30" dirty="0">
                <a:latin typeface="Calibri"/>
                <a:cs typeface="Calibri"/>
              </a:rPr>
              <a:t> </a:t>
            </a:r>
            <a:r>
              <a:rPr sz="1800" dirty="0">
                <a:latin typeface="Calibri"/>
                <a:cs typeface="Calibri"/>
              </a:rPr>
              <a:t>open</a:t>
            </a:r>
            <a:r>
              <a:rPr sz="1800" spc="-34" dirty="0">
                <a:latin typeface="Calibri"/>
                <a:cs typeface="Calibri"/>
              </a:rPr>
              <a:t> </a:t>
            </a:r>
            <a:r>
              <a:rPr sz="1800" dirty="0">
                <a:latin typeface="Calibri"/>
                <a:cs typeface="Calibri"/>
              </a:rPr>
              <a:t>up</a:t>
            </a:r>
            <a:r>
              <a:rPr sz="1800" spc="-23" dirty="0">
                <a:latin typeface="Calibri"/>
                <a:cs typeface="Calibri"/>
              </a:rPr>
              <a:t> </a:t>
            </a:r>
            <a:r>
              <a:rPr sz="1800" b="1" dirty="0">
                <a:latin typeface="Calibri"/>
                <a:cs typeface="Calibri"/>
              </a:rPr>
              <a:t>another</a:t>
            </a:r>
            <a:r>
              <a:rPr sz="1800" b="1" spc="-34" dirty="0">
                <a:latin typeface="Calibri"/>
                <a:cs typeface="Calibri"/>
              </a:rPr>
              <a:t> </a:t>
            </a:r>
            <a:r>
              <a:rPr sz="1800" dirty="0">
                <a:latin typeface="Calibri"/>
                <a:cs typeface="Calibri"/>
              </a:rPr>
              <a:t>dialog,</a:t>
            </a:r>
            <a:r>
              <a:rPr sz="1800" spc="-26" dirty="0">
                <a:latin typeface="Calibri"/>
                <a:cs typeface="Calibri"/>
              </a:rPr>
              <a:t> </a:t>
            </a:r>
            <a:r>
              <a:rPr sz="1800" dirty="0">
                <a:latin typeface="Calibri"/>
                <a:cs typeface="Calibri"/>
              </a:rPr>
              <a:t>and</a:t>
            </a:r>
            <a:r>
              <a:rPr sz="1800" spc="-30" dirty="0">
                <a:latin typeface="Calibri"/>
                <a:cs typeface="Calibri"/>
              </a:rPr>
              <a:t> </a:t>
            </a:r>
            <a:r>
              <a:rPr sz="1800" dirty="0">
                <a:latin typeface="Calibri"/>
                <a:cs typeface="Calibri"/>
              </a:rPr>
              <a:t>over</a:t>
            </a:r>
            <a:r>
              <a:rPr sz="1800" spc="-26" dirty="0">
                <a:latin typeface="Calibri"/>
                <a:cs typeface="Calibri"/>
              </a:rPr>
              <a:t> </a:t>
            </a:r>
            <a:r>
              <a:rPr sz="1800" dirty="0">
                <a:latin typeface="Calibri"/>
                <a:cs typeface="Calibri"/>
              </a:rPr>
              <a:t>to</a:t>
            </a:r>
            <a:r>
              <a:rPr sz="1800" spc="-34" dirty="0">
                <a:latin typeface="Calibri"/>
                <a:cs typeface="Calibri"/>
              </a:rPr>
              <a:t> </a:t>
            </a:r>
            <a:r>
              <a:rPr sz="1800" dirty="0">
                <a:latin typeface="Calibri"/>
                <a:cs typeface="Calibri"/>
              </a:rPr>
              <a:t>the</a:t>
            </a:r>
            <a:r>
              <a:rPr sz="1800" spc="-23" dirty="0">
                <a:latin typeface="Calibri"/>
                <a:cs typeface="Calibri"/>
              </a:rPr>
              <a:t> </a:t>
            </a:r>
            <a:r>
              <a:rPr sz="1800" dirty="0">
                <a:latin typeface="Calibri"/>
                <a:cs typeface="Calibri"/>
              </a:rPr>
              <a:t>left</a:t>
            </a:r>
            <a:r>
              <a:rPr sz="1800" spc="-34" dirty="0">
                <a:latin typeface="Calibri"/>
                <a:cs typeface="Calibri"/>
              </a:rPr>
              <a:t> </a:t>
            </a:r>
            <a:r>
              <a:rPr sz="1800" dirty="0">
                <a:latin typeface="Calibri"/>
                <a:cs typeface="Calibri"/>
              </a:rPr>
              <a:t>will</a:t>
            </a:r>
            <a:r>
              <a:rPr sz="1800" spc="-30" dirty="0">
                <a:latin typeface="Calibri"/>
                <a:cs typeface="Calibri"/>
              </a:rPr>
              <a:t> </a:t>
            </a:r>
            <a:r>
              <a:rPr sz="1800" dirty="0">
                <a:latin typeface="Calibri"/>
                <a:cs typeface="Calibri"/>
              </a:rPr>
              <a:t>be</a:t>
            </a:r>
            <a:r>
              <a:rPr sz="1800" spc="-23" dirty="0">
                <a:latin typeface="Calibri"/>
                <a:cs typeface="Calibri"/>
              </a:rPr>
              <a:t> </a:t>
            </a:r>
            <a:r>
              <a:rPr sz="1800" dirty="0">
                <a:latin typeface="Calibri"/>
                <a:cs typeface="Calibri"/>
              </a:rPr>
              <a:t>the</a:t>
            </a:r>
            <a:r>
              <a:rPr sz="1800" spc="-26" dirty="0">
                <a:latin typeface="Calibri"/>
                <a:cs typeface="Calibri"/>
              </a:rPr>
              <a:t> </a:t>
            </a:r>
            <a:r>
              <a:rPr sz="1800" dirty="0">
                <a:latin typeface="Calibri"/>
                <a:cs typeface="Calibri"/>
              </a:rPr>
              <a:t>list</a:t>
            </a:r>
            <a:r>
              <a:rPr sz="1800" spc="-30" dirty="0">
                <a:latin typeface="Calibri"/>
                <a:cs typeface="Calibri"/>
              </a:rPr>
              <a:t> </a:t>
            </a:r>
            <a:r>
              <a:rPr sz="1800" dirty="0">
                <a:latin typeface="Calibri"/>
                <a:cs typeface="Calibri"/>
              </a:rPr>
              <a:t>of</a:t>
            </a:r>
            <a:r>
              <a:rPr sz="1800" spc="-26" dirty="0">
                <a:latin typeface="Calibri"/>
                <a:cs typeface="Calibri"/>
              </a:rPr>
              <a:t> </a:t>
            </a:r>
            <a:r>
              <a:rPr sz="1800" spc="-8" dirty="0">
                <a:latin typeface="Calibri"/>
                <a:cs typeface="Calibri"/>
              </a:rPr>
              <a:t>events 	</a:t>
            </a:r>
            <a:r>
              <a:rPr sz="1800" dirty="0">
                <a:latin typeface="Calibri"/>
                <a:cs typeface="Calibri"/>
              </a:rPr>
              <a:t>that</a:t>
            </a:r>
            <a:r>
              <a:rPr sz="1800" spc="-56" dirty="0">
                <a:latin typeface="Calibri"/>
                <a:cs typeface="Calibri"/>
              </a:rPr>
              <a:t> </a:t>
            </a:r>
            <a:r>
              <a:rPr sz="1800" dirty="0">
                <a:latin typeface="Calibri"/>
                <a:cs typeface="Calibri"/>
              </a:rPr>
              <a:t>you</a:t>
            </a:r>
            <a:r>
              <a:rPr sz="1800" spc="-53" dirty="0">
                <a:latin typeface="Calibri"/>
                <a:cs typeface="Calibri"/>
              </a:rPr>
              <a:t> </a:t>
            </a:r>
            <a:r>
              <a:rPr sz="1800" dirty="0">
                <a:latin typeface="Calibri"/>
                <a:cs typeface="Calibri"/>
              </a:rPr>
              <a:t>can</a:t>
            </a:r>
            <a:r>
              <a:rPr sz="1800" spc="-53" dirty="0">
                <a:latin typeface="Calibri"/>
                <a:cs typeface="Calibri"/>
              </a:rPr>
              <a:t> </a:t>
            </a:r>
            <a:r>
              <a:rPr sz="1800" dirty="0">
                <a:latin typeface="Calibri"/>
                <a:cs typeface="Calibri"/>
              </a:rPr>
              <a:t>define</a:t>
            </a:r>
            <a:r>
              <a:rPr sz="1800" spc="-49" dirty="0">
                <a:latin typeface="Calibri"/>
                <a:cs typeface="Calibri"/>
              </a:rPr>
              <a:t> </a:t>
            </a:r>
            <a:r>
              <a:rPr sz="1800" dirty="0">
                <a:latin typeface="Calibri"/>
                <a:cs typeface="Calibri"/>
              </a:rPr>
              <a:t>triggers</a:t>
            </a:r>
            <a:r>
              <a:rPr sz="1800" spc="-53" dirty="0">
                <a:latin typeface="Calibri"/>
                <a:cs typeface="Calibri"/>
              </a:rPr>
              <a:t> </a:t>
            </a:r>
            <a:r>
              <a:rPr sz="1800" spc="-15" dirty="0">
                <a:latin typeface="Calibri"/>
                <a:cs typeface="Calibri"/>
              </a:rPr>
              <a:t>for.</a:t>
            </a:r>
            <a:endParaRPr sz="1800">
              <a:latin typeface="Calibri"/>
              <a:cs typeface="Calibri"/>
            </a:endParaRPr>
          </a:p>
          <a:p>
            <a:pPr marL="866299" marR="171926" lvl="2" indent="-171450">
              <a:lnSpc>
                <a:spcPts val="1635"/>
              </a:lnSpc>
              <a:spcBef>
                <a:spcPts val="338"/>
              </a:spcBef>
              <a:buFont typeface="Arial"/>
              <a:buChar char="•"/>
              <a:tabLst>
                <a:tab pos="866299" algn="l"/>
              </a:tabLst>
            </a:pPr>
            <a:r>
              <a:rPr sz="1500" dirty="0">
                <a:latin typeface="Calibri"/>
                <a:cs typeface="Calibri"/>
              </a:rPr>
              <a:t>At</a:t>
            </a:r>
            <a:r>
              <a:rPr sz="1500" spc="-26" dirty="0">
                <a:latin typeface="Calibri"/>
                <a:cs typeface="Calibri"/>
              </a:rPr>
              <a:t> </a:t>
            </a:r>
            <a:r>
              <a:rPr sz="1500" dirty="0">
                <a:latin typeface="Calibri"/>
                <a:cs typeface="Calibri"/>
              </a:rPr>
              <a:t>this</a:t>
            </a:r>
            <a:r>
              <a:rPr sz="1500" spc="-23" dirty="0">
                <a:latin typeface="Calibri"/>
                <a:cs typeface="Calibri"/>
              </a:rPr>
              <a:t> </a:t>
            </a:r>
            <a:r>
              <a:rPr sz="1500" dirty="0">
                <a:latin typeface="Calibri"/>
                <a:cs typeface="Calibri"/>
              </a:rPr>
              <a:t>point,</a:t>
            </a:r>
            <a:r>
              <a:rPr sz="1500" spc="-26" dirty="0">
                <a:latin typeface="Calibri"/>
                <a:cs typeface="Calibri"/>
              </a:rPr>
              <a:t> </a:t>
            </a:r>
            <a:r>
              <a:rPr sz="1500" dirty="0">
                <a:latin typeface="Calibri"/>
                <a:cs typeface="Calibri"/>
              </a:rPr>
              <a:t>you</a:t>
            </a:r>
            <a:r>
              <a:rPr sz="1500" spc="-26" dirty="0">
                <a:latin typeface="Calibri"/>
                <a:cs typeface="Calibri"/>
              </a:rPr>
              <a:t> </a:t>
            </a:r>
            <a:r>
              <a:rPr sz="1500" dirty="0">
                <a:latin typeface="Calibri"/>
                <a:cs typeface="Calibri"/>
              </a:rPr>
              <a:t>can</a:t>
            </a:r>
            <a:r>
              <a:rPr sz="1500" spc="-26" dirty="0">
                <a:latin typeface="Calibri"/>
                <a:cs typeface="Calibri"/>
              </a:rPr>
              <a:t> </a:t>
            </a:r>
            <a:r>
              <a:rPr sz="1500" dirty="0">
                <a:latin typeface="Calibri"/>
                <a:cs typeface="Calibri"/>
              </a:rPr>
              <a:t>right</a:t>
            </a:r>
            <a:r>
              <a:rPr sz="1500" spc="-23" dirty="0">
                <a:latin typeface="Calibri"/>
                <a:cs typeface="Calibri"/>
              </a:rPr>
              <a:t> </a:t>
            </a:r>
            <a:r>
              <a:rPr sz="1500" dirty="0">
                <a:latin typeface="Calibri"/>
                <a:cs typeface="Calibri"/>
              </a:rPr>
              <a:t>click</a:t>
            </a:r>
            <a:r>
              <a:rPr sz="1500" spc="-23" dirty="0">
                <a:latin typeface="Calibri"/>
                <a:cs typeface="Calibri"/>
              </a:rPr>
              <a:t> </a:t>
            </a:r>
            <a:r>
              <a:rPr sz="1500" dirty="0">
                <a:latin typeface="Calibri"/>
                <a:cs typeface="Calibri"/>
              </a:rPr>
              <a:t>one</a:t>
            </a:r>
            <a:r>
              <a:rPr sz="1500" spc="-23" dirty="0">
                <a:latin typeface="Calibri"/>
                <a:cs typeface="Calibri"/>
              </a:rPr>
              <a:t> </a:t>
            </a:r>
            <a:r>
              <a:rPr sz="1500" dirty="0">
                <a:latin typeface="Calibri"/>
                <a:cs typeface="Calibri"/>
              </a:rPr>
              <a:t>of</a:t>
            </a:r>
            <a:r>
              <a:rPr sz="1500" spc="-23" dirty="0">
                <a:latin typeface="Calibri"/>
                <a:cs typeface="Calibri"/>
              </a:rPr>
              <a:t> </a:t>
            </a:r>
            <a:r>
              <a:rPr sz="1500" dirty="0">
                <a:latin typeface="Calibri"/>
                <a:cs typeface="Calibri"/>
              </a:rPr>
              <a:t>those</a:t>
            </a:r>
            <a:r>
              <a:rPr sz="1500" spc="-23" dirty="0">
                <a:latin typeface="Calibri"/>
                <a:cs typeface="Calibri"/>
              </a:rPr>
              <a:t> </a:t>
            </a:r>
            <a:r>
              <a:rPr sz="1500" dirty="0">
                <a:latin typeface="Calibri"/>
                <a:cs typeface="Calibri"/>
              </a:rPr>
              <a:t>events</a:t>
            </a:r>
            <a:r>
              <a:rPr sz="1500" spc="-23" dirty="0">
                <a:latin typeface="Calibri"/>
                <a:cs typeface="Calibri"/>
              </a:rPr>
              <a:t> </a:t>
            </a:r>
            <a:r>
              <a:rPr sz="1500" dirty="0">
                <a:latin typeface="Calibri"/>
                <a:cs typeface="Calibri"/>
              </a:rPr>
              <a:t>and</a:t>
            </a:r>
            <a:r>
              <a:rPr sz="1500" spc="-26" dirty="0">
                <a:latin typeface="Calibri"/>
                <a:cs typeface="Calibri"/>
              </a:rPr>
              <a:t> </a:t>
            </a:r>
            <a:r>
              <a:rPr sz="1500" dirty="0">
                <a:latin typeface="Calibri"/>
                <a:cs typeface="Calibri"/>
              </a:rPr>
              <a:t>it</a:t>
            </a:r>
            <a:r>
              <a:rPr sz="1500" spc="-23" dirty="0">
                <a:latin typeface="Calibri"/>
                <a:cs typeface="Calibri"/>
              </a:rPr>
              <a:t> </a:t>
            </a:r>
            <a:r>
              <a:rPr sz="1500" dirty="0">
                <a:latin typeface="Calibri"/>
                <a:cs typeface="Calibri"/>
              </a:rPr>
              <a:t>will</a:t>
            </a:r>
            <a:r>
              <a:rPr sz="1500" spc="-26" dirty="0">
                <a:latin typeface="Calibri"/>
                <a:cs typeface="Calibri"/>
              </a:rPr>
              <a:t> </a:t>
            </a:r>
            <a:r>
              <a:rPr sz="1500" dirty="0">
                <a:latin typeface="Calibri"/>
                <a:cs typeface="Calibri"/>
              </a:rPr>
              <a:t>pop</a:t>
            </a:r>
            <a:r>
              <a:rPr sz="1500" spc="-26" dirty="0">
                <a:latin typeface="Calibri"/>
                <a:cs typeface="Calibri"/>
              </a:rPr>
              <a:t> </a:t>
            </a:r>
            <a:r>
              <a:rPr sz="1500" dirty="0">
                <a:latin typeface="Calibri"/>
                <a:cs typeface="Calibri"/>
              </a:rPr>
              <a:t>up</a:t>
            </a:r>
            <a:r>
              <a:rPr sz="1500" spc="-26" dirty="0">
                <a:latin typeface="Calibri"/>
                <a:cs typeface="Calibri"/>
              </a:rPr>
              <a:t> </a:t>
            </a:r>
            <a:r>
              <a:rPr sz="1500" dirty="0">
                <a:latin typeface="Calibri"/>
                <a:cs typeface="Calibri"/>
              </a:rPr>
              <a:t>a</a:t>
            </a:r>
            <a:r>
              <a:rPr sz="1500" spc="-23" dirty="0">
                <a:latin typeface="Calibri"/>
                <a:cs typeface="Calibri"/>
              </a:rPr>
              <a:t> </a:t>
            </a:r>
            <a:r>
              <a:rPr sz="1500" dirty="0">
                <a:latin typeface="Calibri"/>
                <a:cs typeface="Calibri"/>
              </a:rPr>
              <a:t>menu</a:t>
            </a:r>
            <a:r>
              <a:rPr sz="1500" spc="-26" dirty="0">
                <a:latin typeface="Calibri"/>
                <a:cs typeface="Calibri"/>
              </a:rPr>
              <a:t> </a:t>
            </a:r>
            <a:r>
              <a:rPr sz="1500" dirty="0">
                <a:latin typeface="Calibri"/>
                <a:cs typeface="Calibri"/>
              </a:rPr>
              <a:t>that</a:t>
            </a:r>
            <a:r>
              <a:rPr sz="1500" spc="-23" dirty="0">
                <a:latin typeface="Calibri"/>
                <a:cs typeface="Calibri"/>
              </a:rPr>
              <a:t> </a:t>
            </a:r>
            <a:r>
              <a:rPr sz="1500" spc="-15" dirty="0">
                <a:latin typeface="Calibri"/>
                <a:cs typeface="Calibri"/>
              </a:rPr>
              <a:t>will </a:t>
            </a:r>
            <a:r>
              <a:rPr sz="1500" dirty="0">
                <a:latin typeface="Calibri"/>
                <a:cs typeface="Calibri"/>
              </a:rPr>
              <a:t>give</a:t>
            </a:r>
            <a:r>
              <a:rPr sz="1500" spc="-34" dirty="0">
                <a:latin typeface="Calibri"/>
                <a:cs typeface="Calibri"/>
              </a:rPr>
              <a:t> </a:t>
            </a:r>
            <a:r>
              <a:rPr sz="1500" dirty="0">
                <a:latin typeface="Calibri"/>
                <a:cs typeface="Calibri"/>
              </a:rPr>
              <a:t>you</a:t>
            </a:r>
            <a:r>
              <a:rPr sz="1500" spc="-34" dirty="0">
                <a:latin typeface="Calibri"/>
                <a:cs typeface="Calibri"/>
              </a:rPr>
              <a:t> </a:t>
            </a:r>
            <a:r>
              <a:rPr sz="1500" dirty="0">
                <a:latin typeface="Calibri"/>
                <a:cs typeface="Calibri"/>
              </a:rPr>
              <a:t>the</a:t>
            </a:r>
            <a:r>
              <a:rPr sz="1500" spc="-30" dirty="0">
                <a:latin typeface="Calibri"/>
                <a:cs typeface="Calibri"/>
              </a:rPr>
              <a:t> </a:t>
            </a:r>
            <a:r>
              <a:rPr sz="1500" dirty="0">
                <a:latin typeface="Calibri"/>
                <a:cs typeface="Calibri"/>
              </a:rPr>
              <a:t>option</a:t>
            </a:r>
            <a:r>
              <a:rPr sz="1500" spc="-34" dirty="0">
                <a:latin typeface="Calibri"/>
                <a:cs typeface="Calibri"/>
              </a:rPr>
              <a:t> </a:t>
            </a:r>
            <a:r>
              <a:rPr sz="1500" dirty="0">
                <a:latin typeface="Calibri"/>
                <a:cs typeface="Calibri"/>
              </a:rPr>
              <a:t>to</a:t>
            </a:r>
            <a:r>
              <a:rPr sz="1500" spc="-38" dirty="0">
                <a:latin typeface="Calibri"/>
                <a:cs typeface="Calibri"/>
              </a:rPr>
              <a:t> </a:t>
            </a:r>
            <a:r>
              <a:rPr sz="1500" dirty="0">
                <a:latin typeface="Calibri"/>
                <a:cs typeface="Calibri"/>
              </a:rPr>
              <a:t>create</a:t>
            </a:r>
            <a:r>
              <a:rPr sz="1500" spc="-30" dirty="0">
                <a:latin typeface="Calibri"/>
                <a:cs typeface="Calibri"/>
              </a:rPr>
              <a:t> </a:t>
            </a:r>
            <a:r>
              <a:rPr sz="1500" dirty="0">
                <a:latin typeface="Calibri"/>
                <a:cs typeface="Calibri"/>
              </a:rPr>
              <a:t>a</a:t>
            </a:r>
            <a:r>
              <a:rPr sz="1500" spc="-30" dirty="0">
                <a:latin typeface="Calibri"/>
                <a:cs typeface="Calibri"/>
              </a:rPr>
              <a:t> </a:t>
            </a:r>
            <a:r>
              <a:rPr sz="1500" b="1" dirty="0">
                <a:latin typeface="Calibri"/>
                <a:cs typeface="Calibri"/>
              </a:rPr>
              <a:t>new</a:t>
            </a:r>
            <a:r>
              <a:rPr sz="1500" b="1" spc="-34" dirty="0">
                <a:latin typeface="Calibri"/>
                <a:cs typeface="Calibri"/>
              </a:rPr>
              <a:t> </a:t>
            </a:r>
            <a:r>
              <a:rPr sz="1500" dirty="0">
                <a:latin typeface="Calibri"/>
                <a:cs typeface="Calibri"/>
              </a:rPr>
              <a:t>trigger</a:t>
            </a:r>
            <a:r>
              <a:rPr sz="1500" spc="-30" dirty="0">
                <a:latin typeface="Calibri"/>
                <a:cs typeface="Calibri"/>
              </a:rPr>
              <a:t> </a:t>
            </a:r>
            <a:r>
              <a:rPr sz="1500" dirty="0">
                <a:latin typeface="Calibri"/>
                <a:cs typeface="Calibri"/>
              </a:rPr>
              <a:t>for</a:t>
            </a:r>
            <a:r>
              <a:rPr sz="1500" spc="-30" dirty="0">
                <a:latin typeface="Calibri"/>
                <a:cs typeface="Calibri"/>
              </a:rPr>
              <a:t> </a:t>
            </a:r>
            <a:r>
              <a:rPr sz="1500" dirty="0">
                <a:latin typeface="Calibri"/>
                <a:cs typeface="Calibri"/>
              </a:rPr>
              <a:t>that</a:t>
            </a:r>
            <a:r>
              <a:rPr sz="1500" spc="-30" dirty="0">
                <a:latin typeface="Calibri"/>
                <a:cs typeface="Calibri"/>
              </a:rPr>
              <a:t> </a:t>
            </a:r>
            <a:r>
              <a:rPr sz="1500" spc="-8" dirty="0">
                <a:latin typeface="Calibri"/>
                <a:cs typeface="Calibri"/>
              </a:rPr>
              <a:t>event.</a:t>
            </a:r>
            <a:endParaRPr sz="1500">
              <a:latin typeface="Calibri"/>
              <a:cs typeface="Calibri"/>
            </a:endParaRPr>
          </a:p>
          <a:p>
            <a:pPr marL="866299" lvl="2" indent="-171450">
              <a:lnSpc>
                <a:spcPts val="1684"/>
              </a:lnSpc>
              <a:spcBef>
                <a:spcPts val="210"/>
              </a:spcBef>
              <a:buFont typeface="Arial"/>
              <a:buChar char="•"/>
              <a:tabLst>
                <a:tab pos="866299" algn="l"/>
              </a:tabLst>
            </a:pPr>
            <a:r>
              <a:rPr sz="1500" dirty="0">
                <a:latin typeface="Calibri"/>
                <a:cs typeface="Calibri"/>
              </a:rPr>
              <a:t>Or</a:t>
            </a:r>
            <a:r>
              <a:rPr sz="1500" spc="-30" dirty="0">
                <a:latin typeface="Calibri"/>
                <a:cs typeface="Calibri"/>
              </a:rPr>
              <a:t> </a:t>
            </a:r>
            <a:r>
              <a:rPr sz="1500" dirty="0">
                <a:latin typeface="Calibri"/>
                <a:cs typeface="Calibri"/>
              </a:rPr>
              <a:t>you</a:t>
            </a:r>
            <a:r>
              <a:rPr sz="1500" spc="-30" dirty="0">
                <a:latin typeface="Calibri"/>
                <a:cs typeface="Calibri"/>
              </a:rPr>
              <a:t> </a:t>
            </a:r>
            <a:r>
              <a:rPr sz="1500" dirty="0">
                <a:latin typeface="Calibri"/>
                <a:cs typeface="Calibri"/>
              </a:rPr>
              <a:t>can</a:t>
            </a:r>
            <a:r>
              <a:rPr sz="1500" spc="-34" dirty="0">
                <a:latin typeface="Calibri"/>
                <a:cs typeface="Calibri"/>
              </a:rPr>
              <a:t> </a:t>
            </a:r>
            <a:r>
              <a:rPr sz="1500" dirty="0">
                <a:latin typeface="Calibri"/>
                <a:cs typeface="Calibri"/>
              </a:rPr>
              <a:t>double</a:t>
            </a:r>
            <a:r>
              <a:rPr sz="1500" spc="-26" dirty="0">
                <a:latin typeface="Calibri"/>
                <a:cs typeface="Calibri"/>
              </a:rPr>
              <a:t> </a:t>
            </a:r>
            <a:r>
              <a:rPr sz="1500" dirty="0">
                <a:latin typeface="Calibri"/>
                <a:cs typeface="Calibri"/>
              </a:rPr>
              <a:t>click</a:t>
            </a:r>
            <a:r>
              <a:rPr sz="1500" spc="-30" dirty="0">
                <a:latin typeface="Calibri"/>
                <a:cs typeface="Calibri"/>
              </a:rPr>
              <a:t> </a:t>
            </a:r>
            <a:r>
              <a:rPr sz="1500" dirty="0">
                <a:latin typeface="Calibri"/>
                <a:cs typeface="Calibri"/>
              </a:rPr>
              <a:t>an</a:t>
            </a:r>
            <a:r>
              <a:rPr sz="1500" spc="-30" dirty="0">
                <a:latin typeface="Calibri"/>
                <a:cs typeface="Calibri"/>
              </a:rPr>
              <a:t> </a:t>
            </a:r>
            <a:r>
              <a:rPr sz="1500" dirty="0">
                <a:latin typeface="Calibri"/>
                <a:cs typeface="Calibri"/>
              </a:rPr>
              <a:t>existing</a:t>
            </a:r>
            <a:r>
              <a:rPr sz="1500" spc="-38" dirty="0">
                <a:latin typeface="Calibri"/>
                <a:cs typeface="Calibri"/>
              </a:rPr>
              <a:t> </a:t>
            </a:r>
            <a:r>
              <a:rPr sz="1500" dirty="0">
                <a:latin typeface="Calibri"/>
                <a:cs typeface="Calibri"/>
              </a:rPr>
              <a:t>trigger</a:t>
            </a:r>
            <a:r>
              <a:rPr sz="1500" spc="-26" dirty="0">
                <a:latin typeface="Calibri"/>
                <a:cs typeface="Calibri"/>
              </a:rPr>
              <a:t> </a:t>
            </a:r>
            <a:r>
              <a:rPr sz="1500" dirty="0">
                <a:latin typeface="Calibri"/>
                <a:cs typeface="Calibri"/>
              </a:rPr>
              <a:t>to</a:t>
            </a:r>
            <a:r>
              <a:rPr sz="1500" spc="-38" dirty="0">
                <a:latin typeface="Calibri"/>
                <a:cs typeface="Calibri"/>
              </a:rPr>
              <a:t> </a:t>
            </a:r>
            <a:r>
              <a:rPr sz="1500" dirty="0">
                <a:latin typeface="Calibri"/>
                <a:cs typeface="Calibri"/>
              </a:rPr>
              <a:t>get</a:t>
            </a:r>
            <a:r>
              <a:rPr sz="1500" spc="-26" dirty="0">
                <a:latin typeface="Calibri"/>
                <a:cs typeface="Calibri"/>
              </a:rPr>
              <a:t> </a:t>
            </a:r>
            <a:r>
              <a:rPr sz="1500" dirty="0">
                <a:latin typeface="Calibri"/>
                <a:cs typeface="Calibri"/>
              </a:rPr>
              <a:t>into</a:t>
            </a:r>
            <a:r>
              <a:rPr sz="1500" spc="-38" dirty="0">
                <a:latin typeface="Calibri"/>
                <a:cs typeface="Calibri"/>
              </a:rPr>
              <a:t> </a:t>
            </a:r>
            <a:r>
              <a:rPr sz="1500" dirty="0">
                <a:latin typeface="Calibri"/>
                <a:cs typeface="Calibri"/>
              </a:rPr>
              <a:t>an</a:t>
            </a:r>
            <a:r>
              <a:rPr sz="1500" spc="-30" dirty="0">
                <a:latin typeface="Calibri"/>
                <a:cs typeface="Calibri"/>
              </a:rPr>
              <a:t> </a:t>
            </a:r>
            <a:r>
              <a:rPr sz="1500" dirty="0">
                <a:latin typeface="Calibri"/>
                <a:cs typeface="Calibri"/>
              </a:rPr>
              <a:t>editor</a:t>
            </a:r>
            <a:r>
              <a:rPr sz="1500" spc="-30" dirty="0">
                <a:latin typeface="Calibri"/>
                <a:cs typeface="Calibri"/>
              </a:rPr>
              <a:t> </a:t>
            </a:r>
            <a:r>
              <a:rPr sz="1500" dirty="0">
                <a:latin typeface="Calibri"/>
                <a:cs typeface="Calibri"/>
              </a:rPr>
              <a:t>on</a:t>
            </a:r>
            <a:r>
              <a:rPr sz="1500" spc="-30" dirty="0">
                <a:latin typeface="Calibri"/>
                <a:cs typeface="Calibri"/>
              </a:rPr>
              <a:t> </a:t>
            </a:r>
            <a:r>
              <a:rPr sz="1500" dirty="0">
                <a:latin typeface="Calibri"/>
                <a:cs typeface="Calibri"/>
              </a:rPr>
              <a:t>that</a:t>
            </a:r>
            <a:r>
              <a:rPr sz="1500" spc="-30" dirty="0">
                <a:latin typeface="Calibri"/>
                <a:cs typeface="Calibri"/>
              </a:rPr>
              <a:t> </a:t>
            </a:r>
            <a:r>
              <a:rPr sz="1500" spc="-8" dirty="0">
                <a:latin typeface="Calibri"/>
                <a:cs typeface="Calibri"/>
              </a:rPr>
              <a:t>particular</a:t>
            </a:r>
            <a:endParaRPr sz="1500">
              <a:latin typeface="Calibri"/>
              <a:cs typeface="Calibri"/>
            </a:endParaRPr>
          </a:p>
          <a:p>
            <a:pPr marL="866299" marR="3810">
              <a:lnSpc>
                <a:spcPts val="1658"/>
              </a:lnSpc>
              <a:spcBef>
                <a:spcPts val="56"/>
              </a:spcBef>
            </a:pPr>
            <a:r>
              <a:rPr sz="1500" dirty="0">
                <a:latin typeface="Calibri"/>
                <a:cs typeface="Calibri"/>
              </a:rPr>
              <a:t>trigger.</a:t>
            </a:r>
            <a:r>
              <a:rPr sz="1500" spc="251" dirty="0">
                <a:latin typeface="Calibri"/>
                <a:cs typeface="Calibri"/>
              </a:rPr>
              <a:t> </a:t>
            </a:r>
            <a:r>
              <a:rPr sz="1500" dirty="0">
                <a:latin typeface="Calibri"/>
                <a:cs typeface="Calibri"/>
              </a:rPr>
              <a:t>This</a:t>
            </a:r>
            <a:r>
              <a:rPr sz="1500" spc="-38" dirty="0">
                <a:latin typeface="Calibri"/>
                <a:cs typeface="Calibri"/>
              </a:rPr>
              <a:t> </a:t>
            </a:r>
            <a:r>
              <a:rPr sz="1500" dirty="0">
                <a:latin typeface="Calibri"/>
                <a:cs typeface="Calibri"/>
              </a:rPr>
              <a:t>will</a:t>
            </a:r>
            <a:r>
              <a:rPr sz="1500" spc="-34" dirty="0">
                <a:latin typeface="Calibri"/>
                <a:cs typeface="Calibri"/>
              </a:rPr>
              <a:t> </a:t>
            </a:r>
            <a:r>
              <a:rPr sz="1500" dirty="0">
                <a:latin typeface="Calibri"/>
                <a:cs typeface="Calibri"/>
              </a:rPr>
              <a:t>allow</a:t>
            </a:r>
            <a:r>
              <a:rPr sz="1500" spc="-45" dirty="0">
                <a:latin typeface="Calibri"/>
                <a:cs typeface="Calibri"/>
              </a:rPr>
              <a:t> </a:t>
            </a:r>
            <a:r>
              <a:rPr sz="1500" dirty="0">
                <a:latin typeface="Calibri"/>
                <a:cs typeface="Calibri"/>
              </a:rPr>
              <a:t>you</a:t>
            </a:r>
            <a:r>
              <a:rPr sz="1500" spc="-41" dirty="0">
                <a:latin typeface="Calibri"/>
                <a:cs typeface="Calibri"/>
              </a:rPr>
              <a:t> </a:t>
            </a:r>
            <a:r>
              <a:rPr sz="1500" dirty="0">
                <a:latin typeface="Calibri"/>
                <a:cs typeface="Calibri"/>
              </a:rPr>
              <a:t>to</a:t>
            </a:r>
            <a:r>
              <a:rPr sz="1500" spc="-41" dirty="0">
                <a:latin typeface="Calibri"/>
                <a:cs typeface="Calibri"/>
              </a:rPr>
              <a:t> </a:t>
            </a:r>
            <a:r>
              <a:rPr sz="1500" dirty="0">
                <a:latin typeface="Calibri"/>
                <a:cs typeface="Calibri"/>
              </a:rPr>
              <a:t>update</a:t>
            </a:r>
            <a:r>
              <a:rPr sz="1500" spc="-38" dirty="0">
                <a:latin typeface="Calibri"/>
                <a:cs typeface="Calibri"/>
              </a:rPr>
              <a:t> </a:t>
            </a:r>
            <a:r>
              <a:rPr sz="1500" dirty="0">
                <a:latin typeface="Calibri"/>
                <a:cs typeface="Calibri"/>
              </a:rPr>
              <a:t>the</a:t>
            </a:r>
            <a:r>
              <a:rPr sz="1500" spc="-38" dirty="0">
                <a:latin typeface="Calibri"/>
                <a:cs typeface="Calibri"/>
              </a:rPr>
              <a:t> </a:t>
            </a:r>
            <a:r>
              <a:rPr sz="1500" dirty="0">
                <a:latin typeface="Calibri"/>
                <a:cs typeface="Calibri"/>
              </a:rPr>
              <a:t>trigger</a:t>
            </a:r>
            <a:r>
              <a:rPr sz="1500" spc="-38" dirty="0">
                <a:latin typeface="Calibri"/>
                <a:cs typeface="Calibri"/>
              </a:rPr>
              <a:t> </a:t>
            </a:r>
            <a:r>
              <a:rPr sz="1500" dirty="0">
                <a:latin typeface="Calibri"/>
                <a:cs typeface="Calibri"/>
              </a:rPr>
              <a:t>in</a:t>
            </a:r>
            <a:r>
              <a:rPr sz="1500" spc="-41" dirty="0">
                <a:latin typeface="Calibri"/>
                <a:cs typeface="Calibri"/>
              </a:rPr>
              <a:t> </a:t>
            </a:r>
            <a:r>
              <a:rPr sz="1500" dirty="0">
                <a:latin typeface="Calibri"/>
                <a:cs typeface="Calibri"/>
              </a:rPr>
              <a:t>place</a:t>
            </a:r>
            <a:r>
              <a:rPr sz="1500" spc="-34" dirty="0">
                <a:latin typeface="Calibri"/>
                <a:cs typeface="Calibri"/>
              </a:rPr>
              <a:t> </a:t>
            </a:r>
            <a:r>
              <a:rPr sz="1500" dirty="0">
                <a:latin typeface="Calibri"/>
                <a:cs typeface="Calibri"/>
              </a:rPr>
              <a:t>as</a:t>
            </a:r>
            <a:r>
              <a:rPr sz="1500" spc="-38" dirty="0">
                <a:latin typeface="Calibri"/>
                <a:cs typeface="Calibri"/>
              </a:rPr>
              <a:t> </a:t>
            </a:r>
            <a:r>
              <a:rPr sz="1500" dirty="0">
                <a:latin typeface="Calibri"/>
                <a:cs typeface="Calibri"/>
              </a:rPr>
              <a:t>it</a:t>
            </a:r>
            <a:r>
              <a:rPr sz="1500" spc="-38" dirty="0">
                <a:latin typeface="Calibri"/>
                <a:cs typeface="Calibri"/>
              </a:rPr>
              <a:t> </a:t>
            </a:r>
            <a:r>
              <a:rPr sz="1500" dirty="0">
                <a:latin typeface="Calibri"/>
                <a:cs typeface="Calibri"/>
              </a:rPr>
              <a:t>were,</a:t>
            </a:r>
            <a:r>
              <a:rPr sz="1500" spc="-41" dirty="0">
                <a:latin typeface="Calibri"/>
                <a:cs typeface="Calibri"/>
              </a:rPr>
              <a:t> </a:t>
            </a:r>
            <a:r>
              <a:rPr sz="1500" dirty="0">
                <a:latin typeface="Calibri"/>
                <a:cs typeface="Calibri"/>
              </a:rPr>
              <a:t>rather</a:t>
            </a:r>
            <a:r>
              <a:rPr sz="1500" spc="-38" dirty="0">
                <a:latin typeface="Calibri"/>
                <a:cs typeface="Calibri"/>
              </a:rPr>
              <a:t> </a:t>
            </a:r>
            <a:r>
              <a:rPr sz="1500" dirty="0">
                <a:latin typeface="Calibri"/>
                <a:cs typeface="Calibri"/>
              </a:rPr>
              <a:t>than</a:t>
            </a:r>
            <a:r>
              <a:rPr sz="1500" spc="-38" dirty="0">
                <a:latin typeface="Calibri"/>
                <a:cs typeface="Calibri"/>
              </a:rPr>
              <a:t> </a:t>
            </a:r>
            <a:r>
              <a:rPr sz="1500" dirty="0">
                <a:latin typeface="Calibri"/>
                <a:cs typeface="Calibri"/>
              </a:rPr>
              <a:t>drop</a:t>
            </a:r>
            <a:r>
              <a:rPr sz="1500" spc="-41" dirty="0">
                <a:latin typeface="Calibri"/>
                <a:cs typeface="Calibri"/>
              </a:rPr>
              <a:t> </a:t>
            </a:r>
            <a:r>
              <a:rPr sz="1500" spc="-19" dirty="0">
                <a:latin typeface="Calibri"/>
                <a:cs typeface="Calibri"/>
              </a:rPr>
              <a:t>and </a:t>
            </a:r>
            <a:r>
              <a:rPr sz="1500" spc="-8" dirty="0">
                <a:latin typeface="Calibri"/>
                <a:cs typeface="Calibri"/>
              </a:rPr>
              <a:t>recreate</a:t>
            </a:r>
            <a:r>
              <a:rPr sz="1500" spc="-56" dirty="0">
                <a:latin typeface="Calibri"/>
                <a:cs typeface="Calibri"/>
              </a:rPr>
              <a:t> </a:t>
            </a:r>
            <a:r>
              <a:rPr sz="1500" spc="-19" dirty="0">
                <a:latin typeface="Calibri"/>
                <a:cs typeface="Calibri"/>
              </a:rPr>
              <a:t>it.</a:t>
            </a:r>
            <a:endParaRPr sz="1500">
              <a:latin typeface="Calibri"/>
              <a:cs typeface="Calibri"/>
            </a:endParaRPr>
          </a:p>
        </p:txBody>
      </p:sp>
    </p:spTree>
  </p:cSld>
  <p:clrMapOvr>
    <a:masterClrMapping/>
  </p:clrMapOvr>
  <p:transition spd="med"/>
</p:sld>
</file>

<file path=ppt/slides/slide1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object 10"/>
          <p:cNvSpPr txBox="1">
            <a:spLocks noGrp="1"/>
          </p:cNvSpPr>
          <p:nvPr>
            <p:ph type="ftr" sz="quarter" idx="5"/>
          </p:nvPr>
        </p:nvSpPr>
        <p:spPr>
          <a:xfrm>
            <a:off x="4254246" y="6428920"/>
            <a:ext cx="3683634"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9525">
              <a:spcBef>
                <a:spcPts val="30"/>
              </a:spcBef>
            </a:pPr>
            <a:r>
              <a:rPr lang="en-US" spc="-10"/>
              <a:t>Copyright</a:t>
            </a:r>
            <a:r>
              <a:rPr lang="en-US" spc="-15"/>
              <a:t> </a:t>
            </a:r>
            <a:r>
              <a:rPr lang="en-US"/>
              <a:t>©</a:t>
            </a:r>
            <a:r>
              <a:rPr lang="en-US" spc="-10"/>
              <a:t> </a:t>
            </a:r>
            <a:r>
              <a:rPr lang="en-US"/>
              <a:t>2016</a:t>
            </a:r>
            <a:r>
              <a:rPr lang="en-US" spc="-10"/>
              <a:t> </a:t>
            </a:r>
            <a:r>
              <a:rPr lang="en-US"/>
              <a:t>Ramez</a:t>
            </a:r>
            <a:r>
              <a:rPr lang="en-US" spc="-5"/>
              <a:t> </a:t>
            </a:r>
            <a:r>
              <a:rPr lang="en-US"/>
              <a:t>Elmasri</a:t>
            </a:r>
            <a:r>
              <a:rPr lang="en-US" spc="-15"/>
              <a:t> </a:t>
            </a:r>
            <a:r>
              <a:rPr lang="en-US"/>
              <a:t>and</a:t>
            </a:r>
            <a:r>
              <a:rPr lang="en-US" spc="-15"/>
              <a:t> </a:t>
            </a:r>
            <a:r>
              <a:rPr lang="en-US" spc="-10"/>
              <a:t>Shamkant</a:t>
            </a:r>
            <a:r>
              <a:rPr lang="en-US" spc="-15"/>
              <a:t> </a:t>
            </a:r>
            <a:r>
              <a:rPr lang="en-US"/>
              <a:t>B.</a:t>
            </a:r>
            <a:r>
              <a:rPr lang="en-US" spc="-10"/>
              <a:t> Navathe</a:t>
            </a:r>
            <a:endParaRPr spc="-8" dirty="0"/>
          </a:p>
        </p:txBody>
      </p:sp>
      <p:sp>
        <p:nvSpPr>
          <p:cNvPr id="11" name="object 11"/>
          <p:cNvSpPr txBox="1">
            <a:spLocks noGrp="1"/>
          </p:cNvSpPr>
          <p:nvPr>
            <p:ph type="sldNum" sz="quarter" idx="7"/>
          </p:nvPr>
        </p:nvSpPr>
        <p:spPr>
          <a:xfrm>
            <a:off x="11067415" y="6428920"/>
            <a:ext cx="2444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15570">
              <a:spcBef>
                <a:spcPts val="40"/>
              </a:spcBef>
            </a:pPr>
            <a:fld id="{81D60167-4931-47E6-BA6A-407CBD079E47}" type="slidenum">
              <a:rPr lang="en-US" spc="-50" smtClean="0"/>
              <a:pPr marL="115570">
                <a:spcBef>
                  <a:spcPts val="40"/>
                </a:spcBef>
              </a:pPr>
              <a:t>179</a:t>
            </a:fld>
            <a:endParaRPr spc="-19" dirty="0"/>
          </a:p>
        </p:txBody>
      </p:sp>
      <p:sp>
        <p:nvSpPr>
          <p:cNvPr id="2" name="object 2"/>
          <p:cNvSpPr txBox="1">
            <a:spLocks noGrp="1"/>
          </p:cNvSpPr>
          <p:nvPr>
            <p:ph type="title"/>
          </p:nvPr>
        </p:nvSpPr>
        <p:spPr>
          <a:xfrm>
            <a:off x="1648420" y="383621"/>
            <a:ext cx="5847160"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dirty="0"/>
              <a:t>Dynamic</a:t>
            </a:r>
            <a:r>
              <a:rPr spc="-41" dirty="0"/>
              <a:t> </a:t>
            </a:r>
            <a:r>
              <a:rPr dirty="0"/>
              <a:t>SQL</a:t>
            </a:r>
            <a:r>
              <a:rPr spc="-45" dirty="0"/>
              <a:t> </a:t>
            </a:r>
            <a:r>
              <a:rPr dirty="0"/>
              <a:t>-</a:t>
            </a:r>
            <a:r>
              <a:rPr spc="-38" dirty="0"/>
              <a:t> </a:t>
            </a:r>
            <a:r>
              <a:rPr dirty="0"/>
              <a:t>Step</a:t>
            </a:r>
            <a:r>
              <a:rPr spc="-41" dirty="0"/>
              <a:t> </a:t>
            </a:r>
            <a:r>
              <a:rPr spc="-38" dirty="0"/>
              <a:t>1</a:t>
            </a:r>
          </a:p>
        </p:txBody>
      </p:sp>
      <p:sp>
        <p:nvSpPr>
          <p:cNvPr id="3" name="object 3"/>
          <p:cNvSpPr txBox="1"/>
          <p:nvPr/>
        </p:nvSpPr>
        <p:spPr>
          <a:xfrm>
            <a:off x="687705" y="1936623"/>
            <a:ext cx="7566184" cy="1602362"/>
          </a:xfrm>
          <a:prstGeom prst="rect">
            <a:avLst/>
          </a:prstGeom>
        </p:spPr>
        <p:txBody>
          <a:bodyPr vert="horz" wrap="square" lIns="0" tIns="47625" rIns="0" bIns="0" rtlCol="0">
            <a:spAutoFit/>
          </a:bodyPr>
          <a:lstStyle/>
          <a:p>
            <a:pPr marL="180975" marR="3810" indent="-171450">
              <a:lnSpc>
                <a:spcPts val="2250"/>
              </a:lnSpc>
              <a:spcBef>
                <a:spcPts val="375"/>
              </a:spcBef>
              <a:buFont typeface="Arial"/>
              <a:buChar char="•"/>
              <a:tabLst>
                <a:tab pos="180975" algn="l"/>
              </a:tabLst>
            </a:pPr>
            <a:r>
              <a:rPr sz="2100" dirty="0">
                <a:latin typeface="Calibri"/>
                <a:cs typeface="Calibri"/>
              </a:rPr>
              <a:t>Sometimes</a:t>
            </a:r>
            <a:r>
              <a:rPr sz="2100" spc="-49" dirty="0">
                <a:latin typeface="Calibri"/>
                <a:cs typeface="Calibri"/>
              </a:rPr>
              <a:t> </a:t>
            </a:r>
            <a:r>
              <a:rPr sz="2100" dirty="0">
                <a:latin typeface="Calibri"/>
                <a:cs typeface="Calibri"/>
              </a:rPr>
              <a:t>you</a:t>
            </a:r>
            <a:r>
              <a:rPr sz="2100" spc="-49" dirty="0">
                <a:latin typeface="Calibri"/>
                <a:cs typeface="Calibri"/>
              </a:rPr>
              <a:t> </a:t>
            </a:r>
            <a:r>
              <a:rPr sz="2100" dirty="0">
                <a:latin typeface="Calibri"/>
                <a:cs typeface="Calibri"/>
              </a:rPr>
              <a:t>need</a:t>
            </a:r>
            <a:r>
              <a:rPr sz="2100" spc="-45" dirty="0">
                <a:latin typeface="Calibri"/>
                <a:cs typeface="Calibri"/>
              </a:rPr>
              <a:t> </a:t>
            </a:r>
            <a:r>
              <a:rPr sz="2100" dirty="0">
                <a:latin typeface="Calibri"/>
                <a:cs typeface="Calibri"/>
              </a:rPr>
              <a:t>to</a:t>
            </a:r>
            <a:r>
              <a:rPr sz="2100" spc="-53" dirty="0">
                <a:latin typeface="Calibri"/>
                <a:cs typeface="Calibri"/>
              </a:rPr>
              <a:t> </a:t>
            </a:r>
            <a:r>
              <a:rPr sz="2100" dirty="0">
                <a:latin typeface="Calibri"/>
                <a:cs typeface="Calibri"/>
              </a:rPr>
              <a:t>operate</a:t>
            </a:r>
            <a:r>
              <a:rPr sz="2100" spc="-53" dirty="0">
                <a:latin typeface="Calibri"/>
                <a:cs typeface="Calibri"/>
              </a:rPr>
              <a:t> </a:t>
            </a:r>
            <a:r>
              <a:rPr sz="2100" dirty="0">
                <a:latin typeface="Calibri"/>
                <a:cs typeface="Calibri"/>
              </a:rPr>
              <a:t>against</a:t>
            </a:r>
            <a:r>
              <a:rPr sz="2100" spc="-53" dirty="0">
                <a:latin typeface="Calibri"/>
                <a:cs typeface="Calibri"/>
              </a:rPr>
              <a:t> </a:t>
            </a:r>
            <a:r>
              <a:rPr sz="2100" dirty="0">
                <a:latin typeface="Calibri"/>
                <a:cs typeface="Calibri"/>
              </a:rPr>
              <a:t>a</a:t>
            </a:r>
            <a:r>
              <a:rPr sz="2100" spc="-49" dirty="0">
                <a:latin typeface="Calibri"/>
                <a:cs typeface="Calibri"/>
              </a:rPr>
              <a:t> </a:t>
            </a:r>
            <a:r>
              <a:rPr sz="2100" dirty="0">
                <a:latin typeface="Calibri"/>
                <a:cs typeface="Calibri"/>
              </a:rPr>
              <a:t>table</a:t>
            </a:r>
            <a:r>
              <a:rPr sz="2100" spc="-56" dirty="0">
                <a:latin typeface="Calibri"/>
                <a:cs typeface="Calibri"/>
              </a:rPr>
              <a:t> </a:t>
            </a:r>
            <a:r>
              <a:rPr sz="2100" dirty="0">
                <a:latin typeface="Calibri"/>
                <a:cs typeface="Calibri"/>
              </a:rPr>
              <a:t>or</a:t>
            </a:r>
            <a:r>
              <a:rPr sz="2100" spc="-49" dirty="0">
                <a:latin typeface="Calibri"/>
                <a:cs typeface="Calibri"/>
              </a:rPr>
              <a:t> </a:t>
            </a:r>
            <a:r>
              <a:rPr sz="2100" dirty="0">
                <a:latin typeface="Calibri"/>
                <a:cs typeface="Calibri"/>
              </a:rPr>
              <a:t>columns</a:t>
            </a:r>
            <a:r>
              <a:rPr sz="2100" spc="-49" dirty="0">
                <a:latin typeface="Calibri"/>
                <a:cs typeface="Calibri"/>
              </a:rPr>
              <a:t> </a:t>
            </a:r>
            <a:r>
              <a:rPr sz="2100" dirty="0">
                <a:latin typeface="Calibri"/>
                <a:cs typeface="Calibri"/>
              </a:rPr>
              <a:t>that</a:t>
            </a:r>
            <a:r>
              <a:rPr sz="2100" spc="-49" dirty="0">
                <a:latin typeface="Calibri"/>
                <a:cs typeface="Calibri"/>
              </a:rPr>
              <a:t> </a:t>
            </a:r>
            <a:r>
              <a:rPr sz="2100" spc="-19" dirty="0">
                <a:latin typeface="Calibri"/>
                <a:cs typeface="Calibri"/>
              </a:rPr>
              <a:t>are </a:t>
            </a:r>
            <a:r>
              <a:rPr sz="2100" dirty="0">
                <a:latin typeface="Calibri"/>
                <a:cs typeface="Calibri"/>
              </a:rPr>
              <a:t>not</a:t>
            </a:r>
            <a:r>
              <a:rPr sz="2100" spc="-38" dirty="0">
                <a:latin typeface="Calibri"/>
                <a:cs typeface="Calibri"/>
              </a:rPr>
              <a:t> </a:t>
            </a:r>
            <a:r>
              <a:rPr sz="2100" dirty="0">
                <a:latin typeface="Calibri"/>
                <a:cs typeface="Calibri"/>
              </a:rPr>
              <a:t>known</a:t>
            </a:r>
            <a:r>
              <a:rPr sz="2100" spc="-34" dirty="0">
                <a:latin typeface="Calibri"/>
                <a:cs typeface="Calibri"/>
              </a:rPr>
              <a:t> </a:t>
            </a:r>
            <a:r>
              <a:rPr sz="2100" dirty="0">
                <a:latin typeface="Calibri"/>
                <a:cs typeface="Calibri"/>
              </a:rPr>
              <a:t>at</a:t>
            </a:r>
            <a:r>
              <a:rPr sz="2100" spc="-34" dirty="0">
                <a:latin typeface="Calibri"/>
                <a:cs typeface="Calibri"/>
              </a:rPr>
              <a:t> </a:t>
            </a:r>
            <a:r>
              <a:rPr sz="2100" dirty="0">
                <a:latin typeface="Calibri"/>
                <a:cs typeface="Calibri"/>
              </a:rPr>
              <a:t>compile</a:t>
            </a:r>
            <a:r>
              <a:rPr sz="2100" spc="-38" dirty="0">
                <a:latin typeface="Calibri"/>
                <a:cs typeface="Calibri"/>
              </a:rPr>
              <a:t> </a:t>
            </a:r>
            <a:r>
              <a:rPr sz="2100" dirty="0">
                <a:latin typeface="Calibri"/>
                <a:cs typeface="Calibri"/>
              </a:rPr>
              <a:t>time.</a:t>
            </a:r>
            <a:r>
              <a:rPr sz="2100" spc="-30" dirty="0">
                <a:latin typeface="Calibri"/>
                <a:cs typeface="Calibri"/>
              </a:rPr>
              <a:t> </a:t>
            </a:r>
            <a:r>
              <a:rPr sz="2100" dirty="0">
                <a:latin typeface="Calibri"/>
                <a:cs typeface="Calibri"/>
              </a:rPr>
              <a:t>MySQL</a:t>
            </a:r>
            <a:r>
              <a:rPr sz="2100" spc="-38" dirty="0">
                <a:latin typeface="Calibri"/>
                <a:cs typeface="Calibri"/>
              </a:rPr>
              <a:t> </a:t>
            </a:r>
            <a:r>
              <a:rPr sz="2100" dirty="0">
                <a:latin typeface="Calibri"/>
                <a:cs typeface="Calibri"/>
              </a:rPr>
              <a:t>has</a:t>
            </a:r>
            <a:r>
              <a:rPr sz="2100" spc="-30" dirty="0">
                <a:latin typeface="Calibri"/>
                <a:cs typeface="Calibri"/>
              </a:rPr>
              <a:t> </a:t>
            </a:r>
            <a:r>
              <a:rPr sz="2100" dirty="0">
                <a:latin typeface="Calibri"/>
                <a:cs typeface="Calibri"/>
              </a:rPr>
              <a:t>a</a:t>
            </a:r>
            <a:r>
              <a:rPr sz="2100" spc="-38" dirty="0">
                <a:latin typeface="Calibri"/>
                <a:cs typeface="Calibri"/>
              </a:rPr>
              <a:t> </a:t>
            </a:r>
            <a:r>
              <a:rPr sz="2100" dirty="0">
                <a:latin typeface="Calibri"/>
                <a:cs typeface="Calibri"/>
              </a:rPr>
              <a:t>process</a:t>
            </a:r>
            <a:r>
              <a:rPr sz="2100" spc="-30" dirty="0">
                <a:latin typeface="Calibri"/>
                <a:cs typeface="Calibri"/>
              </a:rPr>
              <a:t> </a:t>
            </a:r>
            <a:r>
              <a:rPr sz="2100" dirty="0">
                <a:latin typeface="Calibri"/>
                <a:cs typeface="Calibri"/>
              </a:rPr>
              <a:t>using</a:t>
            </a:r>
            <a:r>
              <a:rPr sz="2100" spc="-41" dirty="0">
                <a:latin typeface="Calibri"/>
                <a:cs typeface="Calibri"/>
              </a:rPr>
              <a:t> </a:t>
            </a:r>
            <a:r>
              <a:rPr sz="2100" dirty="0">
                <a:latin typeface="Calibri"/>
                <a:cs typeface="Calibri"/>
              </a:rPr>
              <a:t>set,</a:t>
            </a:r>
            <a:r>
              <a:rPr sz="2100" spc="-30" dirty="0">
                <a:latin typeface="Calibri"/>
                <a:cs typeface="Calibri"/>
              </a:rPr>
              <a:t> </a:t>
            </a:r>
            <a:r>
              <a:rPr sz="2100" spc="-8" dirty="0">
                <a:latin typeface="Calibri"/>
                <a:cs typeface="Calibri"/>
              </a:rPr>
              <a:t>prepare, execute,</a:t>
            </a:r>
            <a:r>
              <a:rPr sz="2100" spc="-60" dirty="0">
                <a:latin typeface="Calibri"/>
                <a:cs typeface="Calibri"/>
              </a:rPr>
              <a:t> </a:t>
            </a:r>
            <a:r>
              <a:rPr sz="2100" dirty="0">
                <a:latin typeface="Calibri"/>
                <a:cs typeface="Calibri"/>
              </a:rPr>
              <a:t>and</a:t>
            </a:r>
            <a:r>
              <a:rPr sz="2100" spc="-60" dirty="0">
                <a:latin typeface="Calibri"/>
                <a:cs typeface="Calibri"/>
              </a:rPr>
              <a:t> </a:t>
            </a:r>
            <a:r>
              <a:rPr sz="2100" spc="-8" dirty="0">
                <a:latin typeface="Calibri"/>
                <a:cs typeface="Calibri"/>
              </a:rPr>
              <a:t>deallocate.</a:t>
            </a:r>
            <a:endParaRPr sz="2100">
              <a:latin typeface="Calibri"/>
              <a:cs typeface="Calibri"/>
            </a:endParaRPr>
          </a:p>
          <a:p>
            <a:pPr marL="208121">
              <a:spcBef>
                <a:spcPts val="814"/>
              </a:spcBef>
            </a:pPr>
            <a:r>
              <a:rPr sz="1200" dirty="0">
                <a:latin typeface="Courier New"/>
                <a:cs typeface="Courier New"/>
              </a:rPr>
              <a:t>mysql&gt;</a:t>
            </a:r>
            <a:r>
              <a:rPr sz="1200" spc="-19" dirty="0">
                <a:latin typeface="Courier New"/>
                <a:cs typeface="Courier New"/>
              </a:rPr>
              <a:t> </a:t>
            </a:r>
            <a:r>
              <a:rPr sz="1200" dirty="0">
                <a:latin typeface="Courier New"/>
                <a:cs typeface="Courier New"/>
              </a:rPr>
              <a:t>delimiter</a:t>
            </a:r>
            <a:r>
              <a:rPr sz="1200" spc="-19" dirty="0">
                <a:latin typeface="Courier New"/>
                <a:cs typeface="Courier New"/>
              </a:rPr>
              <a:t> </a:t>
            </a:r>
            <a:r>
              <a:rPr sz="1200" dirty="0">
                <a:latin typeface="Courier New"/>
                <a:cs typeface="Courier New"/>
              </a:rPr>
              <a:t>$$</a:t>
            </a:r>
            <a:r>
              <a:rPr sz="1200" spc="-15" dirty="0">
                <a:latin typeface="Courier New"/>
                <a:cs typeface="Courier New"/>
              </a:rPr>
              <a:t> </a:t>
            </a:r>
            <a:r>
              <a:rPr sz="1200" spc="-38" dirty="0">
                <a:latin typeface="Courier New"/>
                <a:cs typeface="Courier New"/>
              </a:rPr>
              <a:t>;</a:t>
            </a:r>
            <a:endParaRPr sz="1200">
              <a:latin typeface="Courier New"/>
              <a:cs typeface="Courier New"/>
            </a:endParaRPr>
          </a:p>
          <a:p>
            <a:pPr marL="208121">
              <a:spcBef>
                <a:spcPts val="56"/>
              </a:spcBef>
            </a:pPr>
            <a:r>
              <a:rPr sz="1200" dirty="0">
                <a:latin typeface="Courier New"/>
                <a:cs typeface="Courier New"/>
              </a:rPr>
              <a:t>mysql&gt;</a:t>
            </a:r>
            <a:r>
              <a:rPr sz="1200" spc="-23" dirty="0">
                <a:latin typeface="Courier New"/>
                <a:cs typeface="Courier New"/>
              </a:rPr>
              <a:t> </a:t>
            </a:r>
            <a:r>
              <a:rPr sz="1200" dirty="0">
                <a:latin typeface="Courier New"/>
                <a:cs typeface="Courier New"/>
              </a:rPr>
              <a:t>create</a:t>
            </a:r>
            <a:r>
              <a:rPr sz="1200" spc="-23" dirty="0">
                <a:latin typeface="Courier New"/>
                <a:cs typeface="Courier New"/>
              </a:rPr>
              <a:t> </a:t>
            </a:r>
            <a:r>
              <a:rPr sz="1200" dirty="0">
                <a:latin typeface="Courier New"/>
                <a:cs typeface="Courier New"/>
              </a:rPr>
              <a:t>procedure</a:t>
            </a:r>
            <a:r>
              <a:rPr sz="1200" spc="-23" dirty="0">
                <a:latin typeface="Courier New"/>
                <a:cs typeface="Courier New"/>
              </a:rPr>
              <a:t> </a:t>
            </a:r>
            <a:r>
              <a:rPr sz="1200" dirty="0">
                <a:latin typeface="Courier New"/>
                <a:cs typeface="Courier New"/>
              </a:rPr>
              <a:t>dynamic</a:t>
            </a:r>
            <a:r>
              <a:rPr sz="1200" spc="-19" dirty="0">
                <a:latin typeface="Courier New"/>
                <a:cs typeface="Courier New"/>
              </a:rPr>
              <a:t> </a:t>
            </a:r>
            <a:r>
              <a:rPr sz="1200" dirty="0">
                <a:latin typeface="Courier New"/>
                <a:cs typeface="Courier New"/>
              </a:rPr>
              <a:t>(in</a:t>
            </a:r>
            <a:r>
              <a:rPr sz="1200" spc="-26" dirty="0">
                <a:latin typeface="Courier New"/>
                <a:cs typeface="Courier New"/>
              </a:rPr>
              <a:t> </a:t>
            </a:r>
            <a:r>
              <a:rPr sz="1200" dirty="0">
                <a:latin typeface="Courier New"/>
                <a:cs typeface="Courier New"/>
              </a:rPr>
              <a:t>tableName</a:t>
            </a:r>
            <a:r>
              <a:rPr sz="1200" spc="-19" dirty="0">
                <a:latin typeface="Courier New"/>
                <a:cs typeface="Courier New"/>
              </a:rPr>
              <a:t> </a:t>
            </a:r>
            <a:r>
              <a:rPr sz="1200" spc="-8" dirty="0">
                <a:latin typeface="Courier New"/>
                <a:cs typeface="Courier New"/>
              </a:rPr>
              <a:t>varchar(40))</a:t>
            </a:r>
            <a:endParaRPr sz="1200">
              <a:latin typeface="Courier New"/>
              <a:cs typeface="Courier New"/>
            </a:endParaRPr>
          </a:p>
          <a:p>
            <a:pPr marL="574834"/>
            <a:r>
              <a:rPr sz="1200" spc="-8" dirty="0">
                <a:latin typeface="Courier New"/>
                <a:cs typeface="Courier New"/>
              </a:rPr>
              <a:t>-</a:t>
            </a:r>
            <a:r>
              <a:rPr sz="1200" dirty="0">
                <a:latin typeface="Courier New"/>
                <a:cs typeface="Courier New"/>
              </a:rPr>
              <a:t>&gt;</a:t>
            </a:r>
            <a:r>
              <a:rPr sz="1200" spc="-4" dirty="0">
                <a:latin typeface="Courier New"/>
                <a:cs typeface="Courier New"/>
              </a:rPr>
              <a:t> </a:t>
            </a:r>
            <a:r>
              <a:rPr sz="1200" spc="-8" dirty="0">
                <a:latin typeface="Courier New"/>
                <a:cs typeface="Courier New"/>
              </a:rPr>
              <a:t>begin</a:t>
            </a:r>
            <a:endParaRPr sz="1200">
              <a:latin typeface="Courier New"/>
              <a:cs typeface="Courier New"/>
            </a:endParaRPr>
          </a:p>
        </p:txBody>
      </p:sp>
      <p:sp>
        <p:nvSpPr>
          <p:cNvPr id="4" name="object 4"/>
          <p:cNvSpPr txBox="1"/>
          <p:nvPr/>
        </p:nvSpPr>
        <p:spPr>
          <a:xfrm>
            <a:off x="1721373" y="4060207"/>
            <a:ext cx="6876098" cy="552715"/>
          </a:xfrm>
          <a:prstGeom prst="rect">
            <a:avLst/>
          </a:prstGeom>
        </p:spPr>
        <p:txBody>
          <a:bodyPr vert="horz" wrap="square" lIns="0" tIns="0" rIns="0" bIns="0" rtlCol="0">
            <a:spAutoFit/>
          </a:bodyPr>
          <a:lstStyle/>
          <a:p>
            <a:pPr>
              <a:lnSpc>
                <a:spcPts val="1354"/>
              </a:lnSpc>
            </a:pPr>
            <a:r>
              <a:rPr sz="1200" dirty="0">
                <a:latin typeface="Courier New"/>
                <a:cs typeface="Courier New"/>
              </a:rPr>
              <a:t>set</a:t>
            </a:r>
            <a:r>
              <a:rPr sz="1200" spc="-23" dirty="0">
                <a:latin typeface="Courier New"/>
                <a:cs typeface="Courier New"/>
              </a:rPr>
              <a:t> </a:t>
            </a:r>
            <a:r>
              <a:rPr sz="1200" dirty="0">
                <a:latin typeface="Courier New"/>
                <a:cs typeface="Courier New"/>
              </a:rPr>
              <a:t>@statement</a:t>
            </a:r>
            <a:r>
              <a:rPr sz="1200" spc="-19" dirty="0">
                <a:latin typeface="Courier New"/>
                <a:cs typeface="Courier New"/>
              </a:rPr>
              <a:t> </a:t>
            </a:r>
            <a:r>
              <a:rPr sz="1200" dirty="0">
                <a:latin typeface="Courier New"/>
                <a:cs typeface="Courier New"/>
              </a:rPr>
              <a:t>=</a:t>
            </a:r>
            <a:r>
              <a:rPr sz="1200" spc="-19" dirty="0">
                <a:latin typeface="Courier New"/>
                <a:cs typeface="Courier New"/>
              </a:rPr>
              <a:t> </a:t>
            </a:r>
            <a:r>
              <a:rPr sz="1200" dirty="0">
                <a:latin typeface="Courier New"/>
                <a:cs typeface="Courier New"/>
              </a:rPr>
              <a:t>concat('select</a:t>
            </a:r>
            <a:r>
              <a:rPr sz="1200" spc="-23" dirty="0">
                <a:latin typeface="Courier New"/>
                <a:cs typeface="Courier New"/>
              </a:rPr>
              <a:t> </a:t>
            </a:r>
            <a:r>
              <a:rPr sz="1200" dirty="0">
                <a:latin typeface="Courier New"/>
                <a:cs typeface="Courier New"/>
              </a:rPr>
              <a:t>count(*)</a:t>
            </a:r>
            <a:r>
              <a:rPr sz="1200" spc="-19" dirty="0">
                <a:latin typeface="Courier New"/>
                <a:cs typeface="Courier New"/>
              </a:rPr>
              <a:t> </a:t>
            </a:r>
            <a:r>
              <a:rPr sz="1200" dirty="0">
                <a:latin typeface="Courier New"/>
                <a:cs typeface="Courier New"/>
              </a:rPr>
              <a:t>from</a:t>
            </a:r>
            <a:r>
              <a:rPr sz="1200" spc="-19" dirty="0">
                <a:latin typeface="Courier New"/>
                <a:cs typeface="Courier New"/>
              </a:rPr>
              <a:t> </a:t>
            </a:r>
            <a:r>
              <a:rPr sz="1200" dirty="0">
                <a:latin typeface="Courier New"/>
                <a:cs typeface="Courier New"/>
              </a:rPr>
              <a:t>',tableName,</a:t>
            </a:r>
            <a:r>
              <a:rPr sz="1200" spc="-23" dirty="0">
                <a:latin typeface="Courier New"/>
                <a:cs typeface="Courier New"/>
              </a:rPr>
              <a:t> </a:t>
            </a:r>
            <a:r>
              <a:rPr sz="1200" dirty="0">
                <a:latin typeface="Courier New"/>
                <a:cs typeface="Courier New"/>
              </a:rPr>
              <a:t>'</a:t>
            </a:r>
            <a:r>
              <a:rPr sz="1200" spc="-19" dirty="0">
                <a:latin typeface="Courier New"/>
                <a:cs typeface="Courier New"/>
              </a:rPr>
              <a:t> </a:t>
            </a:r>
            <a:r>
              <a:rPr sz="1200" dirty="0">
                <a:latin typeface="Courier New"/>
                <a:cs typeface="Courier New"/>
              </a:rPr>
              <a:t>into</a:t>
            </a:r>
            <a:r>
              <a:rPr sz="1200" spc="-19" dirty="0">
                <a:latin typeface="Courier New"/>
                <a:cs typeface="Courier New"/>
              </a:rPr>
              <a:t> </a:t>
            </a:r>
            <a:r>
              <a:rPr sz="1200" spc="-8" dirty="0">
                <a:latin typeface="Courier New"/>
                <a:cs typeface="Courier New"/>
              </a:rPr>
              <a:t>@count');</a:t>
            </a:r>
            <a:endParaRPr sz="1200">
              <a:latin typeface="Courier New"/>
              <a:cs typeface="Courier New"/>
            </a:endParaRPr>
          </a:p>
          <a:p>
            <a:pPr marR="4211479">
              <a:lnSpc>
                <a:spcPts val="1425"/>
              </a:lnSpc>
              <a:spcBef>
                <a:spcPts val="53"/>
              </a:spcBef>
            </a:pPr>
            <a:r>
              <a:rPr sz="1200" dirty="0">
                <a:latin typeface="Courier New"/>
                <a:cs typeface="Courier New"/>
              </a:rPr>
              <a:t>prepare</a:t>
            </a:r>
            <a:r>
              <a:rPr sz="1200" spc="-15" dirty="0">
                <a:latin typeface="Courier New"/>
                <a:cs typeface="Courier New"/>
              </a:rPr>
              <a:t> </a:t>
            </a:r>
            <a:r>
              <a:rPr sz="1200" dirty="0">
                <a:latin typeface="Courier New"/>
                <a:cs typeface="Courier New"/>
              </a:rPr>
              <a:t>stmt</a:t>
            </a:r>
            <a:r>
              <a:rPr sz="1200" spc="-15" dirty="0">
                <a:latin typeface="Courier New"/>
                <a:cs typeface="Courier New"/>
              </a:rPr>
              <a:t> </a:t>
            </a:r>
            <a:r>
              <a:rPr sz="1200" dirty="0">
                <a:latin typeface="Courier New"/>
                <a:cs typeface="Courier New"/>
              </a:rPr>
              <a:t>from</a:t>
            </a:r>
            <a:r>
              <a:rPr sz="1200" spc="-15" dirty="0">
                <a:latin typeface="Courier New"/>
                <a:cs typeface="Courier New"/>
              </a:rPr>
              <a:t> </a:t>
            </a:r>
            <a:r>
              <a:rPr sz="1200" spc="-8" dirty="0">
                <a:latin typeface="Courier New"/>
                <a:cs typeface="Courier New"/>
              </a:rPr>
              <a:t>@statement; </a:t>
            </a:r>
            <a:r>
              <a:rPr sz="1200" dirty="0">
                <a:latin typeface="Courier New"/>
                <a:cs typeface="Courier New"/>
              </a:rPr>
              <a:t>execute</a:t>
            </a:r>
            <a:r>
              <a:rPr sz="1200" spc="-23" dirty="0">
                <a:latin typeface="Courier New"/>
                <a:cs typeface="Courier New"/>
              </a:rPr>
              <a:t> </a:t>
            </a:r>
            <a:r>
              <a:rPr sz="1200" spc="-8" dirty="0">
                <a:latin typeface="Courier New"/>
                <a:cs typeface="Courier New"/>
              </a:rPr>
              <a:t>stmt;</a:t>
            </a:r>
            <a:endParaRPr sz="1200">
              <a:latin typeface="Courier New"/>
              <a:cs typeface="Courier New"/>
            </a:endParaRPr>
          </a:p>
        </p:txBody>
      </p:sp>
      <p:sp>
        <p:nvSpPr>
          <p:cNvPr id="5" name="object 5"/>
          <p:cNvSpPr txBox="1"/>
          <p:nvPr/>
        </p:nvSpPr>
        <p:spPr>
          <a:xfrm>
            <a:off x="1253457" y="3488817"/>
            <a:ext cx="5336857" cy="1465145"/>
          </a:xfrm>
          <a:prstGeom prst="rect">
            <a:avLst/>
          </a:prstGeom>
        </p:spPr>
        <p:txBody>
          <a:bodyPr vert="horz" wrap="square" lIns="0" tIns="9525" rIns="0" bIns="0" rtlCol="0">
            <a:spAutoFit/>
          </a:bodyPr>
          <a:lstStyle/>
          <a:p>
            <a:pPr marL="9525">
              <a:lnSpc>
                <a:spcPts val="1433"/>
              </a:lnSpc>
              <a:spcBef>
                <a:spcPts val="75"/>
              </a:spcBef>
              <a:tabLst>
                <a:tab pos="467678" algn="l"/>
              </a:tabLst>
            </a:pPr>
            <a:r>
              <a:rPr sz="1200" spc="-8" dirty="0">
                <a:latin typeface="Courier New"/>
                <a:cs typeface="Courier New"/>
              </a:rPr>
              <a:t>-</a:t>
            </a:r>
            <a:r>
              <a:rPr sz="1200" spc="-38" dirty="0">
                <a:latin typeface="Courier New"/>
                <a:cs typeface="Courier New"/>
              </a:rPr>
              <a:t>&gt;</a:t>
            </a:r>
            <a:r>
              <a:rPr sz="1200" dirty="0">
                <a:latin typeface="Courier New"/>
                <a:cs typeface="Courier New"/>
              </a:rPr>
              <a:t>	set</a:t>
            </a:r>
            <a:r>
              <a:rPr sz="1200" spc="-15" dirty="0">
                <a:latin typeface="Courier New"/>
                <a:cs typeface="Courier New"/>
              </a:rPr>
              <a:t> </a:t>
            </a:r>
            <a:r>
              <a:rPr sz="1200" dirty="0">
                <a:latin typeface="Courier New"/>
                <a:cs typeface="Courier New"/>
              </a:rPr>
              <a:t>@statement</a:t>
            </a:r>
            <a:r>
              <a:rPr sz="1200" spc="-15" dirty="0">
                <a:latin typeface="Courier New"/>
                <a:cs typeface="Courier New"/>
              </a:rPr>
              <a:t> </a:t>
            </a:r>
            <a:r>
              <a:rPr sz="1200" dirty="0">
                <a:latin typeface="Courier New"/>
                <a:cs typeface="Courier New"/>
              </a:rPr>
              <a:t>=</a:t>
            </a:r>
            <a:r>
              <a:rPr sz="1200" spc="-15" dirty="0">
                <a:latin typeface="Courier New"/>
                <a:cs typeface="Courier New"/>
              </a:rPr>
              <a:t> </a:t>
            </a:r>
            <a:r>
              <a:rPr sz="1200" dirty="0">
                <a:latin typeface="Courier New"/>
                <a:cs typeface="Courier New"/>
              </a:rPr>
              <a:t>concat('select</a:t>
            </a:r>
            <a:r>
              <a:rPr sz="1200" spc="-15" dirty="0">
                <a:latin typeface="Courier New"/>
                <a:cs typeface="Courier New"/>
              </a:rPr>
              <a:t> </a:t>
            </a:r>
            <a:r>
              <a:rPr sz="1200" dirty="0">
                <a:latin typeface="Courier New"/>
                <a:cs typeface="Courier New"/>
              </a:rPr>
              <a:t>*</a:t>
            </a:r>
            <a:r>
              <a:rPr sz="1200" spc="-15" dirty="0">
                <a:latin typeface="Courier New"/>
                <a:cs typeface="Courier New"/>
              </a:rPr>
              <a:t> </a:t>
            </a:r>
            <a:r>
              <a:rPr sz="1200" dirty="0">
                <a:latin typeface="Courier New"/>
                <a:cs typeface="Courier New"/>
              </a:rPr>
              <a:t>from</a:t>
            </a:r>
            <a:r>
              <a:rPr sz="1200" spc="-15" dirty="0">
                <a:latin typeface="Courier New"/>
                <a:cs typeface="Courier New"/>
              </a:rPr>
              <a:t> </a:t>
            </a:r>
            <a:r>
              <a:rPr sz="1200" dirty="0">
                <a:latin typeface="Courier New"/>
                <a:cs typeface="Courier New"/>
              </a:rPr>
              <a:t>',</a:t>
            </a:r>
            <a:r>
              <a:rPr sz="1200" spc="-15" dirty="0">
                <a:latin typeface="Courier New"/>
                <a:cs typeface="Courier New"/>
              </a:rPr>
              <a:t> </a:t>
            </a:r>
            <a:r>
              <a:rPr sz="1200" spc="-8" dirty="0">
                <a:latin typeface="Courier New"/>
                <a:cs typeface="Courier New"/>
              </a:rPr>
              <a:t>tableName);</a:t>
            </a:r>
            <a:endParaRPr sz="1200">
              <a:latin typeface="Courier New"/>
              <a:cs typeface="Courier New"/>
            </a:endParaRPr>
          </a:p>
          <a:p>
            <a:pPr marL="9525">
              <a:lnSpc>
                <a:spcPts val="1421"/>
              </a:lnSpc>
              <a:tabLst>
                <a:tab pos="467678" algn="l"/>
              </a:tabLst>
            </a:pPr>
            <a:r>
              <a:rPr sz="1200" spc="-8" dirty="0">
                <a:latin typeface="Courier New"/>
                <a:cs typeface="Courier New"/>
              </a:rPr>
              <a:t>-</a:t>
            </a:r>
            <a:r>
              <a:rPr sz="1200" spc="-38" dirty="0">
                <a:latin typeface="Courier New"/>
                <a:cs typeface="Courier New"/>
              </a:rPr>
              <a:t>&gt;</a:t>
            </a:r>
            <a:r>
              <a:rPr sz="1200" dirty="0">
                <a:latin typeface="Courier New"/>
                <a:cs typeface="Courier New"/>
              </a:rPr>
              <a:t>	prepare</a:t>
            </a:r>
            <a:r>
              <a:rPr sz="1200" spc="-23" dirty="0">
                <a:latin typeface="Courier New"/>
                <a:cs typeface="Courier New"/>
              </a:rPr>
              <a:t> </a:t>
            </a:r>
            <a:r>
              <a:rPr sz="1200" dirty="0">
                <a:latin typeface="Courier New"/>
                <a:cs typeface="Courier New"/>
              </a:rPr>
              <a:t>stmt</a:t>
            </a:r>
            <a:r>
              <a:rPr sz="1200" spc="-15" dirty="0">
                <a:latin typeface="Courier New"/>
                <a:cs typeface="Courier New"/>
              </a:rPr>
              <a:t> </a:t>
            </a:r>
            <a:r>
              <a:rPr sz="1200" dirty="0">
                <a:latin typeface="Courier New"/>
                <a:cs typeface="Courier New"/>
              </a:rPr>
              <a:t>from</a:t>
            </a:r>
            <a:r>
              <a:rPr sz="1200" spc="-15" dirty="0">
                <a:latin typeface="Courier New"/>
                <a:cs typeface="Courier New"/>
              </a:rPr>
              <a:t> </a:t>
            </a:r>
            <a:r>
              <a:rPr sz="1200" spc="-8" dirty="0">
                <a:latin typeface="Courier New"/>
                <a:cs typeface="Courier New"/>
              </a:rPr>
              <a:t>@statement;</a:t>
            </a:r>
            <a:endParaRPr sz="1200">
              <a:latin typeface="Courier New"/>
              <a:cs typeface="Courier New"/>
            </a:endParaRPr>
          </a:p>
          <a:p>
            <a:pPr marL="9525">
              <a:lnSpc>
                <a:spcPts val="1433"/>
              </a:lnSpc>
              <a:tabLst>
                <a:tab pos="467678" algn="l"/>
              </a:tabLst>
            </a:pPr>
            <a:r>
              <a:rPr sz="1200" spc="-8" dirty="0">
                <a:latin typeface="Courier New"/>
                <a:cs typeface="Courier New"/>
              </a:rPr>
              <a:t>-</a:t>
            </a:r>
            <a:r>
              <a:rPr sz="1200" spc="-38" dirty="0">
                <a:latin typeface="Courier New"/>
                <a:cs typeface="Courier New"/>
              </a:rPr>
              <a:t>&gt;</a:t>
            </a:r>
            <a:r>
              <a:rPr sz="1200" dirty="0">
                <a:latin typeface="Courier New"/>
                <a:cs typeface="Courier New"/>
              </a:rPr>
              <a:t>	execute</a:t>
            </a:r>
            <a:r>
              <a:rPr sz="1200" spc="-23" dirty="0">
                <a:latin typeface="Courier New"/>
                <a:cs typeface="Courier New"/>
              </a:rPr>
              <a:t> </a:t>
            </a:r>
            <a:r>
              <a:rPr sz="1200" spc="-8" dirty="0">
                <a:latin typeface="Courier New"/>
                <a:cs typeface="Courier New"/>
              </a:rPr>
              <a:t>stmt;</a:t>
            </a:r>
            <a:endParaRPr sz="1200">
              <a:latin typeface="Courier New"/>
              <a:cs typeface="Courier New"/>
            </a:endParaRPr>
          </a:p>
          <a:p>
            <a:pPr marL="9525">
              <a:spcBef>
                <a:spcPts val="53"/>
              </a:spcBef>
            </a:pPr>
            <a:r>
              <a:rPr sz="1200" spc="-8" dirty="0">
                <a:latin typeface="Courier New"/>
                <a:cs typeface="Courier New"/>
              </a:rPr>
              <a:t>-</a:t>
            </a:r>
            <a:r>
              <a:rPr sz="1200" spc="-38" dirty="0">
                <a:latin typeface="Courier New"/>
                <a:cs typeface="Courier New"/>
              </a:rPr>
              <a:t>&gt;</a:t>
            </a:r>
            <a:endParaRPr sz="1200">
              <a:latin typeface="Courier New"/>
              <a:cs typeface="Courier New"/>
            </a:endParaRPr>
          </a:p>
          <a:p>
            <a:pPr marL="9525">
              <a:lnSpc>
                <a:spcPts val="1433"/>
              </a:lnSpc>
            </a:pPr>
            <a:r>
              <a:rPr sz="1200" spc="-8" dirty="0">
                <a:latin typeface="Courier New"/>
                <a:cs typeface="Courier New"/>
              </a:rPr>
              <a:t>-</a:t>
            </a:r>
            <a:r>
              <a:rPr sz="1200" spc="-38" dirty="0">
                <a:latin typeface="Courier New"/>
                <a:cs typeface="Courier New"/>
              </a:rPr>
              <a:t>&gt;</a:t>
            </a:r>
            <a:endParaRPr sz="1200">
              <a:latin typeface="Courier New"/>
              <a:cs typeface="Courier New"/>
            </a:endParaRPr>
          </a:p>
          <a:p>
            <a:pPr marL="9525">
              <a:lnSpc>
                <a:spcPts val="1421"/>
              </a:lnSpc>
            </a:pPr>
            <a:r>
              <a:rPr sz="1200" spc="-8" dirty="0">
                <a:latin typeface="Courier New"/>
                <a:cs typeface="Courier New"/>
              </a:rPr>
              <a:t>-</a:t>
            </a:r>
            <a:r>
              <a:rPr sz="1200" spc="-38" dirty="0">
                <a:latin typeface="Courier New"/>
                <a:cs typeface="Courier New"/>
              </a:rPr>
              <a:t>&gt;</a:t>
            </a:r>
            <a:endParaRPr sz="1200">
              <a:latin typeface="Courier New"/>
              <a:cs typeface="Courier New"/>
            </a:endParaRPr>
          </a:p>
          <a:p>
            <a:pPr marL="9525">
              <a:lnSpc>
                <a:spcPts val="1421"/>
              </a:lnSpc>
            </a:pPr>
            <a:r>
              <a:rPr sz="1200" spc="-8" dirty="0">
                <a:latin typeface="Courier New"/>
                <a:cs typeface="Courier New"/>
              </a:rPr>
              <a:t>-</a:t>
            </a:r>
            <a:r>
              <a:rPr sz="1200" spc="-38" dirty="0">
                <a:latin typeface="Courier New"/>
                <a:cs typeface="Courier New"/>
              </a:rPr>
              <a:t>&gt;</a:t>
            </a:r>
            <a:endParaRPr sz="1200">
              <a:latin typeface="Courier New"/>
              <a:cs typeface="Courier New"/>
            </a:endParaRPr>
          </a:p>
          <a:p>
            <a:pPr marL="9525">
              <a:lnSpc>
                <a:spcPts val="1433"/>
              </a:lnSpc>
            </a:pPr>
            <a:r>
              <a:rPr sz="1200" spc="-8" dirty="0">
                <a:latin typeface="Courier New"/>
                <a:cs typeface="Courier New"/>
              </a:rPr>
              <a:t>-</a:t>
            </a:r>
            <a:r>
              <a:rPr sz="1200" spc="-38" dirty="0">
                <a:latin typeface="Courier New"/>
                <a:cs typeface="Courier New"/>
              </a:rPr>
              <a:t>&gt;</a:t>
            </a:r>
            <a:endParaRPr sz="1200">
              <a:latin typeface="Courier New"/>
              <a:cs typeface="Courier New"/>
            </a:endParaRPr>
          </a:p>
        </p:txBody>
      </p:sp>
      <p:sp>
        <p:nvSpPr>
          <p:cNvPr id="6" name="object 6"/>
          <p:cNvSpPr txBox="1"/>
          <p:nvPr/>
        </p:nvSpPr>
        <p:spPr>
          <a:xfrm>
            <a:off x="1711849" y="4583811"/>
            <a:ext cx="5978366" cy="377667"/>
          </a:xfrm>
          <a:prstGeom prst="rect">
            <a:avLst/>
          </a:prstGeom>
        </p:spPr>
        <p:txBody>
          <a:bodyPr vert="horz" wrap="square" lIns="0" tIns="17145" rIns="0" bIns="0" rtlCol="0">
            <a:spAutoFit/>
          </a:bodyPr>
          <a:lstStyle/>
          <a:p>
            <a:pPr marL="9525" marR="3810">
              <a:lnSpc>
                <a:spcPts val="1425"/>
              </a:lnSpc>
              <a:spcBef>
                <a:spcPts val="135"/>
              </a:spcBef>
            </a:pPr>
            <a:r>
              <a:rPr sz="1200" dirty="0">
                <a:latin typeface="Courier New"/>
                <a:cs typeface="Courier New"/>
              </a:rPr>
              <a:t>select</a:t>
            </a:r>
            <a:r>
              <a:rPr sz="1200" spc="-15" dirty="0">
                <a:latin typeface="Courier New"/>
                <a:cs typeface="Courier New"/>
              </a:rPr>
              <a:t> </a:t>
            </a:r>
            <a:r>
              <a:rPr sz="1200" dirty="0">
                <a:latin typeface="Courier New"/>
                <a:cs typeface="Courier New"/>
              </a:rPr>
              <a:t>concat('Count</a:t>
            </a:r>
            <a:r>
              <a:rPr sz="1200" spc="-15" dirty="0">
                <a:latin typeface="Courier New"/>
                <a:cs typeface="Courier New"/>
              </a:rPr>
              <a:t> </a:t>
            </a:r>
            <a:r>
              <a:rPr sz="1200" dirty="0">
                <a:latin typeface="Courier New"/>
                <a:cs typeface="Courier New"/>
              </a:rPr>
              <a:t>was:</a:t>
            </a:r>
            <a:r>
              <a:rPr sz="1200" spc="-15" dirty="0">
                <a:latin typeface="Courier New"/>
                <a:cs typeface="Courier New"/>
              </a:rPr>
              <a:t> </a:t>
            </a:r>
            <a:r>
              <a:rPr sz="1200" dirty="0">
                <a:latin typeface="Courier New"/>
                <a:cs typeface="Courier New"/>
              </a:rPr>
              <a:t>',</a:t>
            </a:r>
            <a:r>
              <a:rPr sz="1200" spc="-15" dirty="0">
                <a:latin typeface="Courier New"/>
                <a:cs typeface="Courier New"/>
              </a:rPr>
              <a:t> </a:t>
            </a:r>
            <a:r>
              <a:rPr sz="1200" dirty="0">
                <a:latin typeface="Courier New"/>
                <a:cs typeface="Courier New"/>
              </a:rPr>
              <a:t>@count,</a:t>
            </a:r>
            <a:r>
              <a:rPr sz="1200" spc="-19" dirty="0">
                <a:latin typeface="Courier New"/>
                <a:cs typeface="Courier New"/>
              </a:rPr>
              <a:t> </a:t>
            </a:r>
            <a:r>
              <a:rPr sz="1200" dirty="0">
                <a:latin typeface="Courier New"/>
                <a:cs typeface="Courier New"/>
              </a:rPr>
              <a:t>'</a:t>
            </a:r>
            <a:r>
              <a:rPr sz="1200" spc="-15" dirty="0">
                <a:latin typeface="Courier New"/>
                <a:cs typeface="Courier New"/>
              </a:rPr>
              <a:t> </a:t>
            </a:r>
            <a:r>
              <a:rPr sz="1200" dirty="0">
                <a:latin typeface="Courier New"/>
                <a:cs typeface="Courier New"/>
              </a:rPr>
              <a:t>from</a:t>
            </a:r>
            <a:r>
              <a:rPr sz="1200" spc="-15" dirty="0">
                <a:latin typeface="Courier New"/>
                <a:cs typeface="Courier New"/>
              </a:rPr>
              <a:t> </a:t>
            </a:r>
            <a:r>
              <a:rPr sz="1200" dirty="0">
                <a:latin typeface="Courier New"/>
                <a:cs typeface="Courier New"/>
              </a:rPr>
              <a:t>table:</a:t>
            </a:r>
            <a:r>
              <a:rPr sz="1200" spc="-15" dirty="0">
                <a:latin typeface="Courier New"/>
                <a:cs typeface="Courier New"/>
              </a:rPr>
              <a:t> </a:t>
            </a:r>
            <a:r>
              <a:rPr sz="1200" dirty="0">
                <a:latin typeface="Courier New"/>
                <a:cs typeface="Courier New"/>
              </a:rPr>
              <a:t>',</a:t>
            </a:r>
            <a:r>
              <a:rPr sz="1200" spc="-15" dirty="0">
                <a:latin typeface="Courier New"/>
                <a:cs typeface="Courier New"/>
              </a:rPr>
              <a:t> </a:t>
            </a:r>
            <a:r>
              <a:rPr sz="1200" spc="-8" dirty="0">
                <a:latin typeface="Courier New"/>
                <a:cs typeface="Courier New"/>
              </a:rPr>
              <a:t>tableName); </a:t>
            </a:r>
            <a:r>
              <a:rPr sz="1200" dirty="0">
                <a:latin typeface="Courier New"/>
                <a:cs typeface="Courier New"/>
              </a:rPr>
              <a:t>deallocate</a:t>
            </a:r>
            <a:r>
              <a:rPr sz="1200" spc="-30" dirty="0">
                <a:latin typeface="Courier New"/>
                <a:cs typeface="Courier New"/>
              </a:rPr>
              <a:t> </a:t>
            </a:r>
            <a:r>
              <a:rPr sz="1200" dirty="0">
                <a:latin typeface="Courier New"/>
                <a:cs typeface="Courier New"/>
              </a:rPr>
              <a:t>prepare</a:t>
            </a:r>
            <a:r>
              <a:rPr sz="1200" spc="-26" dirty="0">
                <a:latin typeface="Courier New"/>
                <a:cs typeface="Courier New"/>
              </a:rPr>
              <a:t> </a:t>
            </a:r>
            <a:r>
              <a:rPr sz="1200" spc="-8" dirty="0">
                <a:latin typeface="Courier New"/>
                <a:cs typeface="Courier New"/>
              </a:rPr>
              <a:t>stmt;</a:t>
            </a:r>
            <a:endParaRPr sz="1200">
              <a:latin typeface="Courier New"/>
              <a:cs typeface="Courier New"/>
            </a:endParaRPr>
          </a:p>
        </p:txBody>
      </p:sp>
      <p:sp>
        <p:nvSpPr>
          <p:cNvPr id="7" name="object 7"/>
          <p:cNvSpPr txBox="1"/>
          <p:nvPr/>
        </p:nvSpPr>
        <p:spPr>
          <a:xfrm>
            <a:off x="886745" y="4954142"/>
            <a:ext cx="1944529" cy="576440"/>
          </a:xfrm>
          <a:prstGeom prst="rect">
            <a:avLst/>
          </a:prstGeom>
        </p:spPr>
        <p:txBody>
          <a:bodyPr vert="horz" wrap="square" lIns="0" tIns="9525" rIns="0" bIns="0" rtlCol="0">
            <a:spAutoFit/>
          </a:bodyPr>
          <a:lstStyle/>
          <a:p>
            <a:pPr marL="375761">
              <a:spcBef>
                <a:spcPts val="75"/>
              </a:spcBef>
            </a:pPr>
            <a:r>
              <a:rPr sz="1200" spc="-8" dirty="0">
                <a:latin typeface="Courier New"/>
                <a:cs typeface="Courier New"/>
              </a:rPr>
              <a:t>-</a:t>
            </a:r>
            <a:r>
              <a:rPr sz="1200" dirty="0">
                <a:latin typeface="Courier New"/>
                <a:cs typeface="Courier New"/>
              </a:rPr>
              <a:t>&gt;</a:t>
            </a:r>
            <a:r>
              <a:rPr sz="1200" spc="-4" dirty="0">
                <a:latin typeface="Courier New"/>
                <a:cs typeface="Courier New"/>
              </a:rPr>
              <a:t> </a:t>
            </a:r>
            <a:r>
              <a:rPr sz="1200" dirty="0">
                <a:latin typeface="Courier New"/>
                <a:cs typeface="Courier New"/>
              </a:rPr>
              <a:t>end;</a:t>
            </a:r>
            <a:r>
              <a:rPr sz="1200" spc="-4" dirty="0">
                <a:latin typeface="Courier New"/>
                <a:cs typeface="Courier New"/>
              </a:rPr>
              <a:t> </a:t>
            </a:r>
            <a:r>
              <a:rPr sz="1200" spc="-19" dirty="0">
                <a:latin typeface="Courier New"/>
                <a:cs typeface="Courier New"/>
              </a:rPr>
              <a:t>$$</a:t>
            </a:r>
            <a:endParaRPr sz="1200">
              <a:latin typeface="Courier New"/>
              <a:cs typeface="Courier New"/>
            </a:endParaRPr>
          </a:p>
          <a:p>
            <a:pPr>
              <a:spcBef>
                <a:spcPts val="60"/>
              </a:spcBef>
            </a:pPr>
            <a:endParaRPr sz="1200">
              <a:latin typeface="Courier New"/>
              <a:cs typeface="Courier New"/>
            </a:endParaRPr>
          </a:p>
          <a:p>
            <a:pPr marL="9525"/>
            <a:r>
              <a:rPr sz="1200" dirty="0">
                <a:latin typeface="Courier New"/>
                <a:cs typeface="Courier New"/>
              </a:rPr>
              <a:t>mysql&gt;</a:t>
            </a:r>
            <a:r>
              <a:rPr sz="1200" spc="-19" dirty="0">
                <a:latin typeface="Courier New"/>
                <a:cs typeface="Courier New"/>
              </a:rPr>
              <a:t> </a:t>
            </a:r>
            <a:r>
              <a:rPr sz="1200" dirty="0">
                <a:latin typeface="Courier New"/>
                <a:cs typeface="Courier New"/>
              </a:rPr>
              <a:t>delimiter</a:t>
            </a:r>
            <a:r>
              <a:rPr sz="1200" spc="-15" dirty="0">
                <a:latin typeface="Courier New"/>
                <a:cs typeface="Courier New"/>
              </a:rPr>
              <a:t> </a:t>
            </a:r>
            <a:r>
              <a:rPr sz="1200" dirty="0">
                <a:latin typeface="Courier New"/>
                <a:cs typeface="Courier New"/>
              </a:rPr>
              <a:t>;</a:t>
            </a:r>
            <a:r>
              <a:rPr sz="1200" spc="-15" dirty="0">
                <a:latin typeface="Courier New"/>
                <a:cs typeface="Courier New"/>
              </a:rPr>
              <a:t> </a:t>
            </a:r>
            <a:r>
              <a:rPr sz="1200" spc="-19" dirty="0">
                <a:latin typeface="Courier New"/>
                <a:cs typeface="Courier New"/>
              </a:rPr>
              <a:t>$$</a:t>
            </a:r>
            <a:endParaRPr sz="1200">
              <a:latin typeface="Courier New"/>
              <a:cs typeface="Courier New"/>
            </a:endParaRPr>
          </a:p>
        </p:txBody>
      </p:sp>
      <p:sp>
        <p:nvSpPr>
          <p:cNvPr id="8" name="object 8"/>
          <p:cNvSpPr txBox="1"/>
          <p:nvPr/>
        </p:nvSpPr>
        <p:spPr>
          <a:xfrm>
            <a:off x="7500379" y="1147191"/>
            <a:ext cx="461010" cy="217367"/>
          </a:xfrm>
          <a:prstGeom prst="rect">
            <a:avLst/>
          </a:prstGeom>
        </p:spPr>
        <p:txBody>
          <a:bodyPr vert="horz" wrap="square" lIns="0" tIns="9525" rIns="0" bIns="0" rtlCol="0">
            <a:spAutoFit/>
          </a:bodyPr>
          <a:lstStyle/>
          <a:p>
            <a:pPr marL="9525">
              <a:spcBef>
                <a:spcPts val="75"/>
              </a:spcBef>
            </a:pPr>
            <a:r>
              <a:rPr sz="1350" spc="-8" dirty="0">
                <a:latin typeface="Calibri"/>
                <a:cs typeface="Calibri"/>
              </a:rPr>
              <a:t>Q9.sql</a:t>
            </a:r>
            <a:endParaRPr sz="1350">
              <a:latin typeface="Calibri"/>
              <a:cs typeface="Calibri"/>
            </a:endParaRPr>
          </a:p>
        </p:txBody>
      </p:sp>
      <p:sp>
        <p:nvSpPr>
          <p:cNvPr id="9" name="object 9"/>
          <p:cNvSpPr txBox="1"/>
          <p:nvPr/>
        </p:nvSpPr>
        <p:spPr>
          <a:xfrm>
            <a:off x="1694794" y="4063974"/>
            <a:ext cx="7048024" cy="358271"/>
          </a:xfrm>
          <a:prstGeom prst="rect">
            <a:avLst/>
          </a:prstGeom>
          <a:solidFill>
            <a:srgbClr val="4472C4"/>
          </a:solidFill>
          <a:ln w="12700">
            <a:solidFill>
              <a:srgbClr val="2F528F"/>
            </a:solidFill>
          </a:ln>
        </p:spPr>
        <p:txBody>
          <a:bodyPr vert="horz" wrap="square" lIns="0" tIns="149066" rIns="0" bIns="0" rtlCol="0">
            <a:spAutoFit/>
          </a:bodyPr>
          <a:lstStyle/>
          <a:p>
            <a:pPr algn="ctr">
              <a:spcBef>
                <a:spcPts val="1174"/>
              </a:spcBef>
            </a:pPr>
            <a:r>
              <a:rPr sz="1350" dirty="0">
                <a:solidFill>
                  <a:srgbClr val="FFFFFF"/>
                </a:solidFill>
                <a:latin typeface="Calibri"/>
                <a:cs typeface="Calibri"/>
              </a:rPr>
              <a:t>//</a:t>
            </a:r>
            <a:r>
              <a:rPr sz="1350" spc="-34" dirty="0">
                <a:solidFill>
                  <a:srgbClr val="FFFFFF"/>
                </a:solidFill>
                <a:latin typeface="Calibri"/>
                <a:cs typeface="Calibri"/>
              </a:rPr>
              <a:t> </a:t>
            </a:r>
            <a:r>
              <a:rPr sz="1350" dirty="0">
                <a:solidFill>
                  <a:srgbClr val="FFFFFF"/>
                </a:solidFill>
                <a:latin typeface="Calibri"/>
                <a:cs typeface="Calibri"/>
              </a:rPr>
              <a:t>Enter</a:t>
            </a:r>
            <a:r>
              <a:rPr sz="1350" spc="-38" dirty="0">
                <a:solidFill>
                  <a:srgbClr val="FFFFFF"/>
                </a:solidFill>
                <a:latin typeface="Calibri"/>
                <a:cs typeface="Calibri"/>
              </a:rPr>
              <a:t> </a:t>
            </a:r>
            <a:r>
              <a:rPr sz="1350" spc="-15" dirty="0">
                <a:solidFill>
                  <a:srgbClr val="FFFFFF"/>
                </a:solidFill>
                <a:latin typeface="Calibri"/>
                <a:cs typeface="Calibri"/>
              </a:rPr>
              <a:t>Your</a:t>
            </a:r>
            <a:r>
              <a:rPr sz="1350" spc="-34" dirty="0">
                <a:solidFill>
                  <a:srgbClr val="FFFFFF"/>
                </a:solidFill>
                <a:latin typeface="Calibri"/>
                <a:cs typeface="Calibri"/>
              </a:rPr>
              <a:t> </a:t>
            </a:r>
            <a:r>
              <a:rPr sz="1350" dirty="0">
                <a:solidFill>
                  <a:srgbClr val="FFFFFF"/>
                </a:solidFill>
                <a:latin typeface="Calibri"/>
                <a:cs typeface="Calibri"/>
              </a:rPr>
              <a:t>Code</a:t>
            </a:r>
            <a:r>
              <a:rPr sz="1350" spc="-34" dirty="0">
                <a:solidFill>
                  <a:srgbClr val="FFFFFF"/>
                </a:solidFill>
                <a:latin typeface="Calibri"/>
                <a:cs typeface="Calibri"/>
              </a:rPr>
              <a:t> </a:t>
            </a:r>
            <a:r>
              <a:rPr sz="1350" dirty="0">
                <a:solidFill>
                  <a:srgbClr val="FFFFFF"/>
                </a:solidFill>
                <a:latin typeface="Calibri"/>
                <a:cs typeface="Calibri"/>
              </a:rPr>
              <a:t>Here</a:t>
            </a:r>
            <a:r>
              <a:rPr sz="1350" spc="-34" dirty="0">
                <a:solidFill>
                  <a:srgbClr val="FFFFFF"/>
                </a:solidFill>
                <a:latin typeface="Calibri"/>
                <a:cs typeface="Calibri"/>
              </a:rPr>
              <a:t> </a:t>
            </a:r>
            <a:r>
              <a:rPr sz="1350" dirty="0">
                <a:solidFill>
                  <a:srgbClr val="FFFFFF"/>
                </a:solidFill>
                <a:latin typeface="Calibri"/>
                <a:cs typeface="Calibri"/>
              </a:rPr>
              <a:t>for</a:t>
            </a:r>
            <a:r>
              <a:rPr sz="1350" spc="-34" dirty="0">
                <a:solidFill>
                  <a:srgbClr val="FFFFFF"/>
                </a:solidFill>
                <a:latin typeface="Calibri"/>
                <a:cs typeface="Calibri"/>
              </a:rPr>
              <a:t> </a:t>
            </a:r>
            <a:r>
              <a:rPr sz="1350" dirty="0">
                <a:solidFill>
                  <a:srgbClr val="FFFFFF"/>
                </a:solidFill>
                <a:latin typeface="Calibri"/>
                <a:cs typeface="Calibri"/>
              </a:rPr>
              <a:t>counting</a:t>
            </a:r>
            <a:r>
              <a:rPr sz="1350" spc="-34" dirty="0">
                <a:solidFill>
                  <a:srgbClr val="FFFFFF"/>
                </a:solidFill>
                <a:latin typeface="Calibri"/>
                <a:cs typeface="Calibri"/>
              </a:rPr>
              <a:t> </a:t>
            </a:r>
            <a:r>
              <a:rPr sz="1350" dirty="0">
                <a:solidFill>
                  <a:srgbClr val="FFFFFF"/>
                </a:solidFill>
                <a:latin typeface="Calibri"/>
                <a:cs typeface="Calibri"/>
              </a:rPr>
              <a:t>#</a:t>
            </a:r>
            <a:r>
              <a:rPr sz="1350" spc="-34" dirty="0">
                <a:solidFill>
                  <a:srgbClr val="FFFFFF"/>
                </a:solidFill>
                <a:latin typeface="Calibri"/>
                <a:cs typeface="Calibri"/>
              </a:rPr>
              <a:t> </a:t>
            </a:r>
            <a:r>
              <a:rPr sz="1350" dirty="0">
                <a:solidFill>
                  <a:srgbClr val="FFFFFF"/>
                </a:solidFill>
                <a:latin typeface="Calibri"/>
                <a:cs typeface="Calibri"/>
              </a:rPr>
              <a:t>of</a:t>
            </a:r>
            <a:r>
              <a:rPr sz="1350" spc="-30" dirty="0">
                <a:solidFill>
                  <a:srgbClr val="FFFFFF"/>
                </a:solidFill>
                <a:latin typeface="Calibri"/>
                <a:cs typeface="Calibri"/>
              </a:rPr>
              <a:t> </a:t>
            </a:r>
            <a:r>
              <a:rPr sz="1350" dirty="0">
                <a:solidFill>
                  <a:srgbClr val="FFFFFF"/>
                </a:solidFill>
                <a:latin typeface="Calibri"/>
                <a:cs typeface="Calibri"/>
              </a:rPr>
              <a:t>rows</a:t>
            </a:r>
            <a:r>
              <a:rPr sz="1350" spc="-38" dirty="0">
                <a:solidFill>
                  <a:srgbClr val="FFFFFF"/>
                </a:solidFill>
                <a:latin typeface="Calibri"/>
                <a:cs typeface="Calibri"/>
              </a:rPr>
              <a:t> </a:t>
            </a:r>
            <a:r>
              <a:rPr sz="1350" dirty="0">
                <a:solidFill>
                  <a:srgbClr val="FFFFFF"/>
                </a:solidFill>
                <a:latin typeface="Calibri"/>
                <a:cs typeface="Calibri"/>
              </a:rPr>
              <a:t>for</a:t>
            </a:r>
            <a:r>
              <a:rPr sz="1350" spc="-38" dirty="0">
                <a:solidFill>
                  <a:srgbClr val="FFFFFF"/>
                </a:solidFill>
                <a:latin typeface="Calibri"/>
                <a:cs typeface="Calibri"/>
              </a:rPr>
              <a:t> </a:t>
            </a:r>
            <a:r>
              <a:rPr sz="1350" dirty="0">
                <a:solidFill>
                  <a:srgbClr val="FFFFFF"/>
                </a:solidFill>
                <a:latin typeface="Calibri"/>
                <a:cs typeface="Calibri"/>
              </a:rPr>
              <a:t>the</a:t>
            </a:r>
            <a:r>
              <a:rPr sz="1350" spc="-30" dirty="0">
                <a:solidFill>
                  <a:srgbClr val="FFFFFF"/>
                </a:solidFill>
                <a:latin typeface="Calibri"/>
                <a:cs typeface="Calibri"/>
              </a:rPr>
              <a:t> </a:t>
            </a:r>
            <a:r>
              <a:rPr sz="1350" spc="-8" dirty="0">
                <a:solidFill>
                  <a:srgbClr val="FFFFFF"/>
                </a:solidFill>
                <a:latin typeface="Calibri"/>
                <a:cs typeface="Calibri"/>
              </a:rPr>
              <a:t>table</a:t>
            </a:r>
            <a:endParaRPr sz="1350">
              <a:latin typeface="Calibri"/>
              <a:cs typeface="Calibri"/>
            </a:endParaRPr>
          </a:p>
        </p:txBody>
      </p:sp>
    </p:spTree>
  </p:cSld>
  <p:clrMapOvr>
    <a:masterClrMapping/>
  </p:clrMapOvr>
  <p:transition spd="med"/>
</p:sld>
</file>

<file path=ppt/slides/slide1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2280227" y="285664"/>
            <a:ext cx="3913346" cy="517449"/>
          </a:xfrm>
          <a:prstGeom prst="rect">
            <a:avLst/>
          </a:prstGeom>
        </p:spPr>
        <p:txBody>
          <a:bodyPr vert="horz" wrap="square" lIns="0" tIns="9525" rIns="0" bIns="0" rtlCol="0">
            <a:spAutoFit/>
          </a:bodyPr>
          <a:lstStyle/>
          <a:p>
            <a:pPr marL="332423">
              <a:spcBef>
                <a:spcPts val="75"/>
              </a:spcBef>
            </a:pPr>
            <a:r>
              <a:rPr sz="3300" dirty="0">
                <a:latin typeface="Calibri Light"/>
                <a:cs typeface="Calibri Light"/>
              </a:rPr>
              <a:t>Dynamic</a:t>
            </a:r>
            <a:r>
              <a:rPr sz="3300" spc="-41" dirty="0">
                <a:latin typeface="Calibri Light"/>
                <a:cs typeface="Calibri Light"/>
              </a:rPr>
              <a:t> </a:t>
            </a:r>
            <a:r>
              <a:rPr sz="3300" dirty="0">
                <a:latin typeface="Calibri Light"/>
                <a:cs typeface="Calibri Light"/>
              </a:rPr>
              <a:t>SQL</a:t>
            </a:r>
            <a:r>
              <a:rPr sz="3300" spc="-45" dirty="0">
                <a:latin typeface="Calibri Light"/>
                <a:cs typeface="Calibri Light"/>
              </a:rPr>
              <a:t> </a:t>
            </a:r>
            <a:r>
              <a:rPr sz="3300" dirty="0">
                <a:latin typeface="Calibri Light"/>
                <a:cs typeface="Calibri Light"/>
              </a:rPr>
              <a:t>-</a:t>
            </a:r>
            <a:r>
              <a:rPr sz="3300" spc="-38" dirty="0">
                <a:latin typeface="Calibri Light"/>
                <a:cs typeface="Calibri Light"/>
              </a:rPr>
              <a:t> </a:t>
            </a:r>
            <a:r>
              <a:rPr sz="3300" dirty="0">
                <a:latin typeface="Calibri Light"/>
                <a:cs typeface="Calibri Light"/>
              </a:rPr>
              <a:t>Step</a:t>
            </a:r>
            <a:r>
              <a:rPr sz="3300" spc="-41" dirty="0">
                <a:latin typeface="Calibri Light"/>
                <a:cs typeface="Calibri Light"/>
              </a:rPr>
              <a:t> </a:t>
            </a:r>
            <a:r>
              <a:rPr sz="3300" spc="-38" dirty="0">
                <a:latin typeface="Calibri Light"/>
                <a:cs typeface="Calibri Light"/>
              </a:rPr>
              <a:t>2</a:t>
            </a:r>
            <a:endParaRPr sz="3300" dirty="0">
              <a:latin typeface="Calibri Light"/>
              <a:cs typeface="Calibri Light"/>
            </a:endParaRPr>
          </a:p>
        </p:txBody>
      </p:sp>
      <p:sp>
        <p:nvSpPr>
          <p:cNvPr id="49" name="object 49"/>
          <p:cNvSpPr txBox="1">
            <a:spLocks noGrp="1"/>
          </p:cNvSpPr>
          <p:nvPr>
            <p:ph type="ftr" sz="quarter" idx="5"/>
          </p:nvPr>
        </p:nvSpPr>
        <p:spPr>
          <a:xfrm>
            <a:off x="4254246" y="6428920"/>
            <a:ext cx="3683634"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9525">
              <a:spcBef>
                <a:spcPts val="30"/>
              </a:spcBef>
            </a:pPr>
            <a:r>
              <a:rPr lang="en-US" spc="-10"/>
              <a:t>Copyright</a:t>
            </a:r>
            <a:r>
              <a:rPr lang="en-US" spc="-15"/>
              <a:t> </a:t>
            </a:r>
            <a:r>
              <a:rPr lang="en-US"/>
              <a:t>©</a:t>
            </a:r>
            <a:r>
              <a:rPr lang="en-US" spc="-10"/>
              <a:t> </a:t>
            </a:r>
            <a:r>
              <a:rPr lang="en-US"/>
              <a:t>2016</a:t>
            </a:r>
            <a:r>
              <a:rPr lang="en-US" spc="-10"/>
              <a:t> </a:t>
            </a:r>
            <a:r>
              <a:rPr lang="en-US"/>
              <a:t>Ramez</a:t>
            </a:r>
            <a:r>
              <a:rPr lang="en-US" spc="-5"/>
              <a:t> </a:t>
            </a:r>
            <a:r>
              <a:rPr lang="en-US"/>
              <a:t>Elmasri</a:t>
            </a:r>
            <a:r>
              <a:rPr lang="en-US" spc="-15"/>
              <a:t> </a:t>
            </a:r>
            <a:r>
              <a:rPr lang="en-US"/>
              <a:t>and</a:t>
            </a:r>
            <a:r>
              <a:rPr lang="en-US" spc="-15"/>
              <a:t> </a:t>
            </a:r>
            <a:r>
              <a:rPr lang="en-US" spc="-10"/>
              <a:t>Shamkant</a:t>
            </a:r>
            <a:r>
              <a:rPr lang="en-US" spc="-15"/>
              <a:t> </a:t>
            </a:r>
            <a:r>
              <a:rPr lang="en-US"/>
              <a:t>B.</a:t>
            </a:r>
            <a:r>
              <a:rPr lang="en-US" spc="-10"/>
              <a:t> Navathe</a:t>
            </a:r>
            <a:endParaRPr spc="-8" dirty="0"/>
          </a:p>
        </p:txBody>
      </p:sp>
      <p:sp>
        <p:nvSpPr>
          <p:cNvPr id="50" name="object 50"/>
          <p:cNvSpPr txBox="1">
            <a:spLocks noGrp="1"/>
          </p:cNvSpPr>
          <p:nvPr>
            <p:ph type="sldNum" sz="quarter" idx="7"/>
          </p:nvPr>
        </p:nvSpPr>
        <p:spPr>
          <a:xfrm>
            <a:off x="11067415" y="6428920"/>
            <a:ext cx="2444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15570">
              <a:spcBef>
                <a:spcPts val="40"/>
              </a:spcBef>
            </a:pPr>
            <a:fld id="{81D60167-4931-47E6-BA6A-407CBD079E47}" type="slidenum">
              <a:rPr lang="en-US" spc="-50" smtClean="0"/>
              <a:pPr marL="115570">
                <a:spcBef>
                  <a:spcPts val="40"/>
                </a:spcBef>
              </a:pPr>
              <a:t>180</a:t>
            </a:fld>
            <a:endParaRPr spc="-19" dirty="0"/>
          </a:p>
        </p:txBody>
      </p:sp>
      <p:sp>
        <p:nvSpPr>
          <p:cNvPr id="48" name="object 48"/>
          <p:cNvSpPr txBox="1">
            <a:spLocks noGrp="1"/>
          </p:cNvSpPr>
          <p:nvPr>
            <p:ph type="title"/>
          </p:nvPr>
        </p:nvSpPr>
        <p:spPr>
          <a:xfrm>
            <a:off x="7500379" y="1154615"/>
            <a:ext cx="461010" cy="217367"/>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sz="1350" spc="-8" dirty="0">
                <a:latin typeface="Calibri"/>
                <a:cs typeface="Calibri"/>
              </a:rPr>
              <a:t>Q9.sql</a:t>
            </a:r>
            <a:endParaRPr sz="1350">
              <a:latin typeface="Calibri"/>
              <a:cs typeface="Calibri"/>
            </a:endParaRPr>
          </a:p>
        </p:txBody>
      </p:sp>
      <p:pic>
        <p:nvPicPr>
          <p:cNvPr id="54" name="Picture 53">
            <a:extLst>
              <a:ext uri="{FF2B5EF4-FFF2-40B4-BE49-F238E27FC236}">
                <a16:creationId xmlns:a16="http://schemas.microsoft.com/office/drawing/2014/main" id="{39AEDBA1-0514-5234-DC22-E357208F19B0}"/>
              </a:ext>
            </a:extLst>
          </p:cNvPr>
          <p:cNvPicPr>
            <a:picLocks noChangeAspect="1"/>
          </p:cNvPicPr>
          <p:nvPr/>
        </p:nvPicPr>
        <p:blipFill>
          <a:blip r:embed="rId2"/>
          <a:stretch>
            <a:fillRect/>
          </a:stretch>
        </p:blipFill>
        <p:spPr>
          <a:xfrm>
            <a:off x="51209" y="2250322"/>
            <a:ext cx="8453121" cy="3352800"/>
          </a:xfrm>
          <a:prstGeom prst="rect">
            <a:avLst/>
          </a:prstGeom>
        </p:spPr>
      </p:pic>
    </p:spTree>
  </p:cSld>
  <p:clrMapOvr>
    <a:masterClrMapping/>
  </p:clrMapOvr>
  <p:transition spd="med"/>
</p:sld>
</file>

<file path=ppt/slides/slide1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4254246" y="6428920"/>
            <a:ext cx="3683634"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9525">
              <a:spcBef>
                <a:spcPts val="30"/>
              </a:spcBef>
            </a:pPr>
            <a:r>
              <a:rPr lang="en-US" spc="-10"/>
              <a:t>Copyright</a:t>
            </a:r>
            <a:r>
              <a:rPr lang="en-US" spc="-15"/>
              <a:t> </a:t>
            </a:r>
            <a:r>
              <a:rPr lang="en-US"/>
              <a:t>©</a:t>
            </a:r>
            <a:r>
              <a:rPr lang="en-US" spc="-10"/>
              <a:t> </a:t>
            </a:r>
            <a:r>
              <a:rPr lang="en-US"/>
              <a:t>2016</a:t>
            </a:r>
            <a:r>
              <a:rPr lang="en-US" spc="-10"/>
              <a:t> </a:t>
            </a:r>
            <a:r>
              <a:rPr lang="en-US"/>
              <a:t>Ramez</a:t>
            </a:r>
            <a:r>
              <a:rPr lang="en-US" spc="-5"/>
              <a:t> </a:t>
            </a:r>
            <a:r>
              <a:rPr lang="en-US"/>
              <a:t>Elmasri</a:t>
            </a:r>
            <a:r>
              <a:rPr lang="en-US" spc="-15"/>
              <a:t> </a:t>
            </a:r>
            <a:r>
              <a:rPr lang="en-US"/>
              <a:t>and</a:t>
            </a:r>
            <a:r>
              <a:rPr lang="en-US" spc="-15"/>
              <a:t> </a:t>
            </a:r>
            <a:r>
              <a:rPr lang="en-US" spc="-10"/>
              <a:t>Shamkant</a:t>
            </a:r>
            <a:r>
              <a:rPr lang="en-US" spc="-15"/>
              <a:t> </a:t>
            </a:r>
            <a:r>
              <a:rPr lang="en-US"/>
              <a:t>B.</a:t>
            </a:r>
            <a:r>
              <a:rPr lang="en-US" spc="-10"/>
              <a:t> Navathe</a:t>
            </a:r>
            <a:endParaRPr spc="-8" dirty="0"/>
          </a:p>
        </p:txBody>
      </p:sp>
      <p:sp>
        <p:nvSpPr>
          <p:cNvPr id="5" name="object 5"/>
          <p:cNvSpPr txBox="1">
            <a:spLocks noGrp="1"/>
          </p:cNvSpPr>
          <p:nvPr>
            <p:ph type="sldNum" sz="quarter" idx="7"/>
          </p:nvPr>
        </p:nvSpPr>
        <p:spPr>
          <a:xfrm>
            <a:off x="11067415" y="6428920"/>
            <a:ext cx="2444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15570">
              <a:spcBef>
                <a:spcPts val="40"/>
              </a:spcBef>
            </a:pPr>
            <a:fld id="{81D60167-4931-47E6-BA6A-407CBD079E47}" type="slidenum">
              <a:rPr lang="en-US" spc="-50" smtClean="0"/>
              <a:pPr marL="115570">
                <a:spcBef>
                  <a:spcPts val="40"/>
                </a:spcBef>
              </a:pPr>
              <a:t>181</a:t>
            </a:fld>
            <a:endParaRPr spc="-19" dirty="0"/>
          </a:p>
        </p:txBody>
      </p:sp>
      <p:sp>
        <p:nvSpPr>
          <p:cNvPr id="2" name="object 2"/>
          <p:cNvSpPr txBox="1">
            <a:spLocks noGrp="1"/>
          </p:cNvSpPr>
          <p:nvPr>
            <p:ph type="title"/>
          </p:nvPr>
        </p:nvSpPr>
        <p:spPr>
          <a:xfrm>
            <a:off x="2992040" y="358086"/>
            <a:ext cx="5847160"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dirty="0"/>
              <a:t>Dynamic</a:t>
            </a:r>
            <a:r>
              <a:rPr spc="-79" dirty="0"/>
              <a:t> </a:t>
            </a:r>
            <a:r>
              <a:rPr spc="-19" dirty="0"/>
              <a:t>SQL</a:t>
            </a:r>
          </a:p>
        </p:txBody>
      </p:sp>
      <p:sp>
        <p:nvSpPr>
          <p:cNvPr id="3" name="object 3"/>
          <p:cNvSpPr txBox="1">
            <a:spLocks noGrp="1"/>
          </p:cNvSpPr>
          <p:nvPr>
            <p:ph type="body" idx="1"/>
          </p:nvPr>
        </p:nvSpPr>
        <p:spPr>
          <a:xfrm>
            <a:off x="179785" y="2057400"/>
            <a:ext cx="8659415" cy="2954014"/>
          </a:xfrm>
          <a:prstGeom prst="rect">
            <a:avLst/>
          </a:prstGeom>
        </p:spPr>
        <p:txBody>
          <a:bodyPr vert="horz" wrap="square" lIns="0" tIns="47625" rIns="0" bIns="0" numCol="1" rtlCol="0" anchor="t" anchorCtr="0" compatLnSpc="1">
            <a:prstTxWarp prst="textNoShape">
              <a:avLst/>
            </a:prstTxWarp>
            <a:spAutoFit/>
          </a:bodyPr>
          <a:lstStyle/>
          <a:p>
            <a:pPr marL="180975" marR="330994" indent="-171450">
              <a:lnSpc>
                <a:spcPts val="2250"/>
              </a:lnSpc>
              <a:spcBef>
                <a:spcPts val="375"/>
              </a:spcBef>
              <a:buFont typeface="Arial"/>
              <a:buChar char="•"/>
              <a:tabLst>
                <a:tab pos="180975" algn="l"/>
              </a:tabLst>
            </a:pPr>
            <a:r>
              <a:rPr dirty="0"/>
              <a:t>The</a:t>
            </a:r>
            <a:r>
              <a:rPr spc="-34" dirty="0"/>
              <a:t> </a:t>
            </a:r>
            <a:r>
              <a:rPr dirty="0"/>
              <a:t>@</a:t>
            </a:r>
            <a:r>
              <a:rPr spc="-30" dirty="0"/>
              <a:t> </a:t>
            </a:r>
            <a:r>
              <a:rPr dirty="0"/>
              <a:t>in</a:t>
            </a:r>
            <a:r>
              <a:rPr spc="-26" dirty="0"/>
              <a:t> </a:t>
            </a:r>
            <a:r>
              <a:rPr dirty="0"/>
              <a:t>front</a:t>
            </a:r>
            <a:r>
              <a:rPr spc="-26" dirty="0"/>
              <a:t> </a:t>
            </a:r>
            <a:r>
              <a:rPr dirty="0"/>
              <a:t>of</a:t>
            </a:r>
            <a:r>
              <a:rPr spc="-30" dirty="0"/>
              <a:t> </a:t>
            </a:r>
            <a:r>
              <a:rPr dirty="0"/>
              <a:t>a</a:t>
            </a:r>
            <a:r>
              <a:rPr spc="-30" dirty="0"/>
              <a:t> </a:t>
            </a:r>
            <a:r>
              <a:rPr dirty="0"/>
              <a:t>name</a:t>
            </a:r>
            <a:r>
              <a:rPr spc="-34" dirty="0"/>
              <a:t> </a:t>
            </a:r>
            <a:r>
              <a:rPr dirty="0"/>
              <a:t>makes</a:t>
            </a:r>
            <a:r>
              <a:rPr spc="-23" dirty="0"/>
              <a:t> </a:t>
            </a:r>
            <a:r>
              <a:rPr dirty="0"/>
              <a:t>it</a:t>
            </a:r>
            <a:r>
              <a:rPr spc="-30" dirty="0"/>
              <a:t> </a:t>
            </a:r>
            <a:r>
              <a:rPr dirty="0"/>
              <a:t>a</a:t>
            </a:r>
            <a:r>
              <a:rPr spc="-30" dirty="0"/>
              <a:t> </a:t>
            </a:r>
            <a:r>
              <a:rPr dirty="0"/>
              <a:t>user</a:t>
            </a:r>
            <a:r>
              <a:rPr spc="-30" dirty="0"/>
              <a:t> </a:t>
            </a:r>
            <a:r>
              <a:rPr dirty="0"/>
              <a:t>variable,</a:t>
            </a:r>
            <a:r>
              <a:rPr spc="-23" dirty="0"/>
              <a:t> </a:t>
            </a:r>
            <a:r>
              <a:rPr dirty="0"/>
              <a:t>which</a:t>
            </a:r>
            <a:r>
              <a:rPr spc="-26" dirty="0"/>
              <a:t> </a:t>
            </a:r>
            <a:r>
              <a:rPr dirty="0"/>
              <a:t>is</a:t>
            </a:r>
            <a:r>
              <a:rPr spc="-26" dirty="0"/>
              <a:t> </a:t>
            </a:r>
            <a:r>
              <a:rPr spc="-8" dirty="0"/>
              <a:t>shared </a:t>
            </a:r>
            <a:r>
              <a:rPr dirty="0"/>
              <a:t>between</a:t>
            </a:r>
            <a:r>
              <a:rPr spc="-45" dirty="0"/>
              <a:t> </a:t>
            </a:r>
            <a:r>
              <a:rPr dirty="0"/>
              <a:t>the</a:t>
            </a:r>
            <a:r>
              <a:rPr spc="-49" dirty="0"/>
              <a:t> </a:t>
            </a:r>
            <a:r>
              <a:rPr dirty="0"/>
              <a:t>command</a:t>
            </a:r>
            <a:r>
              <a:rPr spc="-41" dirty="0"/>
              <a:t> </a:t>
            </a:r>
            <a:r>
              <a:rPr dirty="0"/>
              <a:t>session</a:t>
            </a:r>
            <a:r>
              <a:rPr spc="-45" dirty="0"/>
              <a:t> </a:t>
            </a:r>
            <a:r>
              <a:rPr dirty="0"/>
              <a:t>and</a:t>
            </a:r>
            <a:r>
              <a:rPr spc="-41" dirty="0"/>
              <a:t> </a:t>
            </a:r>
            <a:r>
              <a:rPr dirty="0"/>
              <a:t>the</a:t>
            </a:r>
            <a:r>
              <a:rPr spc="-49" dirty="0"/>
              <a:t> </a:t>
            </a:r>
            <a:r>
              <a:rPr dirty="0"/>
              <a:t>stored</a:t>
            </a:r>
            <a:r>
              <a:rPr spc="-41" dirty="0"/>
              <a:t> </a:t>
            </a:r>
            <a:r>
              <a:rPr spc="-8" dirty="0"/>
              <a:t>procedure.</a:t>
            </a:r>
          </a:p>
          <a:p>
            <a:pPr marL="180499" indent="-170974">
              <a:spcBef>
                <a:spcPts val="439"/>
              </a:spcBef>
              <a:buFont typeface="Arial"/>
              <a:buChar char="•"/>
              <a:tabLst>
                <a:tab pos="180499" algn="l"/>
              </a:tabLst>
            </a:pPr>
            <a:r>
              <a:rPr dirty="0"/>
              <a:t>concat</a:t>
            </a:r>
            <a:r>
              <a:rPr spc="-53" dirty="0"/>
              <a:t> </a:t>
            </a:r>
            <a:r>
              <a:rPr dirty="0"/>
              <a:t>will</a:t>
            </a:r>
            <a:r>
              <a:rPr spc="-60" dirty="0"/>
              <a:t> </a:t>
            </a:r>
            <a:r>
              <a:rPr dirty="0"/>
              <a:t>take</a:t>
            </a:r>
            <a:r>
              <a:rPr spc="-56" dirty="0"/>
              <a:t> </a:t>
            </a:r>
            <a:r>
              <a:rPr dirty="0"/>
              <a:t>any</a:t>
            </a:r>
            <a:r>
              <a:rPr spc="-60" dirty="0"/>
              <a:t> </a:t>
            </a:r>
            <a:r>
              <a:rPr dirty="0"/>
              <a:t>number</a:t>
            </a:r>
            <a:r>
              <a:rPr spc="-53" dirty="0"/>
              <a:t> </a:t>
            </a:r>
            <a:r>
              <a:rPr dirty="0"/>
              <a:t>of</a:t>
            </a:r>
            <a:r>
              <a:rPr spc="-60" dirty="0"/>
              <a:t> </a:t>
            </a:r>
            <a:r>
              <a:rPr spc="-8" dirty="0"/>
              <a:t>arguments.</a:t>
            </a:r>
          </a:p>
          <a:p>
            <a:pPr marL="180975" marR="3810" indent="-171450">
              <a:lnSpc>
                <a:spcPts val="2250"/>
              </a:lnSpc>
              <a:spcBef>
                <a:spcPts val="855"/>
              </a:spcBef>
              <a:buFont typeface="Arial"/>
              <a:buChar char="•"/>
              <a:tabLst>
                <a:tab pos="180975" algn="l"/>
              </a:tabLst>
            </a:pPr>
            <a:r>
              <a:rPr dirty="0"/>
              <a:t>Just</a:t>
            </a:r>
            <a:r>
              <a:rPr spc="-45" dirty="0"/>
              <a:t> </a:t>
            </a:r>
            <a:r>
              <a:rPr dirty="0"/>
              <a:t>like</a:t>
            </a:r>
            <a:r>
              <a:rPr spc="-49" dirty="0"/>
              <a:t> </a:t>
            </a:r>
            <a:r>
              <a:rPr dirty="0"/>
              <a:t>the</a:t>
            </a:r>
            <a:r>
              <a:rPr spc="-49" dirty="0"/>
              <a:t> </a:t>
            </a:r>
            <a:r>
              <a:rPr dirty="0"/>
              <a:t>Java</a:t>
            </a:r>
            <a:r>
              <a:rPr spc="-45" dirty="0"/>
              <a:t> </a:t>
            </a:r>
            <a:r>
              <a:rPr dirty="0"/>
              <a:t>API,</a:t>
            </a:r>
            <a:r>
              <a:rPr spc="-41" dirty="0"/>
              <a:t> </a:t>
            </a:r>
            <a:r>
              <a:rPr dirty="0"/>
              <a:t>you</a:t>
            </a:r>
            <a:r>
              <a:rPr spc="-41" dirty="0"/>
              <a:t> </a:t>
            </a:r>
            <a:r>
              <a:rPr dirty="0"/>
              <a:t>can</a:t>
            </a:r>
            <a:r>
              <a:rPr spc="-41" dirty="0"/>
              <a:t> </a:t>
            </a:r>
            <a:r>
              <a:rPr dirty="0"/>
              <a:t>have</a:t>
            </a:r>
            <a:r>
              <a:rPr spc="-49" dirty="0"/>
              <a:t> </a:t>
            </a:r>
            <a:r>
              <a:rPr dirty="0"/>
              <a:t>bind</a:t>
            </a:r>
            <a:r>
              <a:rPr spc="-41" dirty="0"/>
              <a:t> </a:t>
            </a:r>
            <a:r>
              <a:rPr dirty="0"/>
              <a:t>variables</a:t>
            </a:r>
            <a:r>
              <a:rPr spc="-41" dirty="0"/>
              <a:t> </a:t>
            </a:r>
            <a:r>
              <a:rPr dirty="0"/>
              <a:t>in</a:t>
            </a:r>
            <a:r>
              <a:rPr spc="-41" dirty="0"/>
              <a:t> </a:t>
            </a:r>
            <a:r>
              <a:rPr dirty="0"/>
              <a:t>the</a:t>
            </a:r>
            <a:r>
              <a:rPr spc="-49" dirty="0"/>
              <a:t> </a:t>
            </a:r>
            <a:r>
              <a:rPr dirty="0"/>
              <a:t>SQL</a:t>
            </a:r>
            <a:r>
              <a:rPr spc="-45" dirty="0"/>
              <a:t> </a:t>
            </a:r>
            <a:r>
              <a:rPr dirty="0"/>
              <a:t>that</a:t>
            </a:r>
            <a:r>
              <a:rPr spc="-45" dirty="0"/>
              <a:t> </a:t>
            </a:r>
            <a:r>
              <a:rPr spc="-19" dirty="0"/>
              <a:t>you </a:t>
            </a:r>
            <a:r>
              <a:rPr dirty="0"/>
              <a:t>submit,</a:t>
            </a:r>
            <a:r>
              <a:rPr spc="-34" dirty="0"/>
              <a:t> </a:t>
            </a:r>
            <a:r>
              <a:rPr dirty="0"/>
              <a:t>then</a:t>
            </a:r>
            <a:r>
              <a:rPr spc="-30" dirty="0"/>
              <a:t> </a:t>
            </a:r>
            <a:r>
              <a:rPr dirty="0"/>
              <a:t>use</a:t>
            </a:r>
            <a:r>
              <a:rPr spc="-38" dirty="0"/>
              <a:t> </a:t>
            </a:r>
            <a:r>
              <a:rPr dirty="0"/>
              <a:t>the</a:t>
            </a:r>
            <a:r>
              <a:rPr spc="-38" dirty="0"/>
              <a:t> </a:t>
            </a:r>
            <a:r>
              <a:rPr dirty="0"/>
              <a:t>using</a:t>
            </a:r>
            <a:r>
              <a:rPr spc="-38" dirty="0"/>
              <a:t> </a:t>
            </a:r>
            <a:r>
              <a:rPr dirty="0"/>
              <a:t>clause</a:t>
            </a:r>
            <a:r>
              <a:rPr spc="-38" dirty="0"/>
              <a:t> </a:t>
            </a:r>
            <a:r>
              <a:rPr dirty="0"/>
              <a:t>in</a:t>
            </a:r>
            <a:r>
              <a:rPr spc="-30" dirty="0"/>
              <a:t> </a:t>
            </a:r>
            <a:r>
              <a:rPr dirty="0"/>
              <a:t>the</a:t>
            </a:r>
            <a:r>
              <a:rPr spc="-38" dirty="0"/>
              <a:t> </a:t>
            </a:r>
            <a:r>
              <a:rPr spc="-8" dirty="0"/>
              <a:t>execute</a:t>
            </a:r>
            <a:r>
              <a:rPr spc="-38" dirty="0"/>
              <a:t> </a:t>
            </a:r>
            <a:r>
              <a:rPr spc="-8" dirty="0"/>
              <a:t>statement.</a:t>
            </a:r>
          </a:p>
          <a:p>
            <a:pPr marL="522923" marR="454819" lvl="1" indent="-170497">
              <a:lnSpc>
                <a:spcPts val="1943"/>
              </a:lnSpc>
              <a:spcBef>
                <a:spcPts val="409"/>
              </a:spcBef>
              <a:buFont typeface="Arial"/>
              <a:buChar char="•"/>
              <a:tabLst>
                <a:tab pos="523875" algn="l"/>
              </a:tabLst>
            </a:pPr>
            <a:r>
              <a:rPr sz="1800" dirty="0">
                <a:latin typeface="Calibri"/>
                <a:cs typeface="Calibri"/>
              </a:rPr>
              <a:t>The</a:t>
            </a:r>
            <a:r>
              <a:rPr sz="1800" spc="-38" dirty="0">
                <a:latin typeface="Calibri"/>
                <a:cs typeface="Calibri"/>
              </a:rPr>
              <a:t> </a:t>
            </a:r>
            <a:r>
              <a:rPr sz="1800" dirty="0">
                <a:latin typeface="Calibri"/>
                <a:cs typeface="Calibri"/>
              </a:rPr>
              <a:t>bind</a:t>
            </a:r>
            <a:r>
              <a:rPr sz="1800" spc="-41" dirty="0">
                <a:latin typeface="Calibri"/>
                <a:cs typeface="Calibri"/>
              </a:rPr>
              <a:t> </a:t>
            </a:r>
            <a:r>
              <a:rPr sz="1800" dirty="0">
                <a:latin typeface="Calibri"/>
                <a:cs typeface="Calibri"/>
              </a:rPr>
              <a:t>variables</a:t>
            </a:r>
            <a:r>
              <a:rPr sz="1800" spc="-41" dirty="0">
                <a:latin typeface="Calibri"/>
                <a:cs typeface="Calibri"/>
              </a:rPr>
              <a:t> </a:t>
            </a:r>
            <a:r>
              <a:rPr sz="1800" dirty="0">
                <a:latin typeface="Calibri"/>
                <a:cs typeface="Calibri"/>
              </a:rPr>
              <a:t>have</a:t>
            </a:r>
            <a:r>
              <a:rPr sz="1800" spc="-38" dirty="0">
                <a:latin typeface="Calibri"/>
                <a:cs typeface="Calibri"/>
              </a:rPr>
              <a:t> </a:t>
            </a:r>
            <a:r>
              <a:rPr sz="1800" dirty="0">
                <a:latin typeface="Calibri"/>
                <a:cs typeface="Calibri"/>
              </a:rPr>
              <a:t>to</a:t>
            </a:r>
            <a:r>
              <a:rPr sz="1800" spc="-45" dirty="0">
                <a:latin typeface="Calibri"/>
                <a:cs typeface="Calibri"/>
              </a:rPr>
              <a:t> </a:t>
            </a:r>
            <a:r>
              <a:rPr sz="1800" dirty="0">
                <a:latin typeface="Calibri"/>
                <a:cs typeface="Calibri"/>
              </a:rPr>
              <a:t>map</a:t>
            </a:r>
            <a:r>
              <a:rPr sz="1800" spc="-41" dirty="0">
                <a:latin typeface="Calibri"/>
                <a:cs typeface="Calibri"/>
              </a:rPr>
              <a:t> </a:t>
            </a:r>
            <a:r>
              <a:rPr sz="1800" dirty="0">
                <a:latin typeface="Calibri"/>
                <a:cs typeface="Calibri"/>
              </a:rPr>
              <a:t>one</a:t>
            </a:r>
            <a:r>
              <a:rPr sz="1800" spc="-38" dirty="0">
                <a:latin typeface="Calibri"/>
                <a:cs typeface="Calibri"/>
              </a:rPr>
              <a:t> </a:t>
            </a:r>
            <a:r>
              <a:rPr sz="1800" dirty="0">
                <a:latin typeface="Calibri"/>
                <a:cs typeface="Calibri"/>
              </a:rPr>
              <a:t>for</a:t>
            </a:r>
            <a:r>
              <a:rPr sz="1800" spc="-41" dirty="0">
                <a:latin typeface="Calibri"/>
                <a:cs typeface="Calibri"/>
              </a:rPr>
              <a:t> </a:t>
            </a:r>
            <a:r>
              <a:rPr sz="1800" dirty="0">
                <a:latin typeface="Calibri"/>
                <a:cs typeface="Calibri"/>
              </a:rPr>
              <a:t>one</a:t>
            </a:r>
            <a:r>
              <a:rPr sz="1800" spc="-38" dirty="0">
                <a:latin typeface="Calibri"/>
                <a:cs typeface="Calibri"/>
              </a:rPr>
              <a:t> </a:t>
            </a:r>
            <a:r>
              <a:rPr sz="1800" dirty="0">
                <a:latin typeface="Calibri"/>
                <a:cs typeface="Calibri"/>
              </a:rPr>
              <a:t>to</a:t>
            </a:r>
            <a:r>
              <a:rPr sz="1800" spc="-45" dirty="0">
                <a:latin typeface="Calibri"/>
                <a:cs typeface="Calibri"/>
              </a:rPr>
              <a:t> </a:t>
            </a:r>
            <a:r>
              <a:rPr sz="1800" dirty="0">
                <a:latin typeface="Calibri"/>
                <a:cs typeface="Calibri"/>
              </a:rPr>
              <a:t>the</a:t>
            </a:r>
            <a:r>
              <a:rPr sz="1800" spc="-38" dirty="0">
                <a:latin typeface="Calibri"/>
                <a:cs typeface="Calibri"/>
              </a:rPr>
              <a:t> </a:t>
            </a:r>
            <a:r>
              <a:rPr sz="1800" dirty="0">
                <a:latin typeface="Calibri"/>
                <a:cs typeface="Calibri"/>
              </a:rPr>
              <a:t>variables</a:t>
            </a:r>
            <a:r>
              <a:rPr sz="1800" spc="-41" dirty="0">
                <a:latin typeface="Calibri"/>
                <a:cs typeface="Calibri"/>
              </a:rPr>
              <a:t> </a:t>
            </a:r>
            <a:r>
              <a:rPr sz="1800" dirty="0">
                <a:latin typeface="Calibri"/>
                <a:cs typeface="Calibri"/>
              </a:rPr>
              <a:t>in</a:t>
            </a:r>
            <a:r>
              <a:rPr sz="1800" spc="-41" dirty="0">
                <a:latin typeface="Calibri"/>
                <a:cs typeface="Calibri"/>
              </a:rPr>
              <a:t> </a:t>
            </a:r>
            <a:r>
              <a:rPr sz="1800" dirty="0">
                <a:latin typeface="Calibri"/>
                <a:cs typeface="Calibri"/>
              </a:rPr>
              <a:t>the</a:t>
            </a:r>
            <a:r>
              <a:rPr sz="1800" spc="-38" dirty="0">
                <a:latin typeface="Calibri"/>
                <a:cs typeface="Calibri"/>
              </a:rPr>
              <a:t> </a:t>
            </a:r>
            <a:r>
              <a:rPr sz="1800" spc="-8" dirty="0">
                <a:latin typeface="Calibri"/>
                <a:cs typeface="Calibri"/>
              </a:rPr>
              <a:t>using 	</a:t>
            </a:r>
            <a:r>
              <a:rPr sz="1800" dirty="0">
                <a:latin typeface="Calibri"/>
                <a:cs typeface="Calibri"/>
              </a:rPr>
              <a:t>clause:</a:t>
            </a:r>
            <a:r>
              <a:rPr sz="1800" spc="-64" dirty="0">
                <a:latin typeface="Calibri"/>
                <a:cs typeface="Calibri"/>
              </a:rPr>
              <a:t> </a:t>
            </a:r>
            <a:r>
              <a:rPr sz="1800" spc="-8" dirty="0">
                <a:latin typeface="Calibri"/>
                <a:cs typeface="Calibri"/>
              </a:rPr>
              <a:t>execute</a:t>
            </a:r>
            <a:r>
              <a:rPr sz="1800" spc="-53" dirty="0">
                <a:latin typeface="Calibri"/>
                <a:cs typeface="Calibri"/>
              </a:rPr>
              <a:t> </a:t>
            </a:r>
            <a:r>
              <a:rPr sz="1800" dirty="0">
                <a:latin typeface="Calibri"/>
                <a:cs typeface="Calibri"/>
              </a:rPr>
              <a:t>stmt</a:t>
            </a:r>
            <a:r>
              <a:rPr sz="1800" spc="-64" dirty="0">
                <a:latin typeface="Calibri"/>
                <a:cs typeface="Calibri"/>
              </a:rPr>
              <a:t> </a:t>
            </a:r>
            <a:r>
              <a:rPr sz="1800" dirty="0">
                <a:latin typeface="Calibri"/>
                <a:cs typeface="Calibri"/>
              </a:rPr>
              <a:t>using</a:t>
            </a:r>
            <a:r>
              <a:rPr sz="1800" spc="-60" dirty="0">
                <a:latin typeface="Calibri"/>
                <a:cs typeface="Calibri"/>
              </a:rPr>
              <a:t> </a:t>
            </a:r>
            <a:r>
              <a:rPr sz="1800" dirty="0">
                <a:latin typeface="Calibri"/>
                <a:cs typeface="Calibri"/>
              </a:rPr>
              <a:t>@var1,</a:t>
            </a:r>
            <a:r>
              <a:rPr sz="1800" spc="-56" dirty="0">
                <a:latin typeface="Calibri"/>
                <a:cs typeface="Calibri"/>
              </a:rPr>
              <a:t> </a:t>
            </a:r>
            <a:r>
              <a:rPr sz="1800" dirty="0">
                <a:latin typeface="Calibri"/>
                <a:cs typeface="Calibri"/>
              </a:rPr>
              <a:t>@var2,</a:t>
            </a:r>
            <a:r>
              <a:rPr sz="1800" spc="-60" dirty="0">
                <a:latin typeface="Calibri"/>
                <a:cs typeface="Calibri"/>
              </a:rPr>
              <a:t> </a:t>
            </a:r>
            <a:r>
              <a:rPr sz="1800" spc="-38" dirty="0">
                <a:latin typeface="Calibri"/>
                <a:cs typeface="Calibri"/>
              </a:rPr>
              <a:t>…</a:t>
            </a:r>
            <a:endParaRPr sz="1800" dirty="0">
              <a:latin typeface="Calibri"/>
              <a:cs typeface="Calibri"/>
            </a:endParaRPr>
          </a:p>
        </p:txBody>
      </p:sp>
    </p:spTree>
  </p:cSld>
  <p:clrMapOvr>
    <a:masterClrMapping/>
  </p:clrMapOvr>
  <p:transition spd="med"/>
</p:sld>
</file>

<file path=ppt/slides/slide1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4254246" y="6428920"/>
            <a:ext cx="3683634"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9525">
              <a:spcBef>
                <a:spcPts val="30"/>
              </a:spcBef>
            </a:pPr>
            <a:r>
              <a:rPr lang="en-US" spc="-10"/>
              <a:t>Copyright</a:t>
            </a:r>
            <a:r>
              <a:rPr lang="en-US" spc="-15"/>
              <a:t> </a:t>
            </a:r>
            <a:r>
              <a:rPr lang="en-US"/>
              <a:t>©</a:t>
            </a:r>
            <a:r>
              <a:rPr lang="en-US" spc="-10"/>
              <a:t> </a:t>
            </a:r>
            <a:r>
              <a:rPr lang="en-US"/>
              <a:t>2016</a:t>
            </a:r>
            <a:r>
              <a:rPr lang="en-US" spc="-10"/>
              <a:t> </a:t>
            </a:r>
            <a:r>
              <a:rPr lang="en-US"/>
              <a:t>Ramez</a:t>
            </a:r>
            <a:r>
              <a:rPr lang="en-US" spc="-5"/>
              <a:t> </a:t>
            </a:r>
            <a:r>
              <a:rPr lang="en-US"/>
              <a:t>Elmasri</a:t>
            </a:r>
            <a:r>
              <a:rPr lang="en-US" spc="-15"/>
              <a:t> </a:t>
            </a:r>
            <a:r>
              <a:rPr lang="en-US"/>
              <a:t>and</a:t>
            </a:r>
            <a:r>
              <a:rPr lang="en-US" spc="-15"/>
              <a:t> </a:t>
            </a:r>
            <a:r>
              <a:rPr lang="en-US" spc="-10"/>
              <a:t>Shamkant</a:t>
            </a:r>
            <a:r>
              <a:rPr lang="en-US" spc="-15"/>
              <a:t> </a:t>
            </a:r>
            <a:r>
              <a:rPr lang="en-US"/>
              <a:t>B.</a:t>
            </a:r>
            <a:r>
              <a:rPr lang="en-US" spc="-10"/>
              <a:t> Navathe</a:t>
            </a:r>
            <a:endParaRPr spc="-8" dirty="0"/>
          </a:p>
        </p:txBody>
      </p:sp>
      <p:sp>
        <p:nvSpPr>
          <p:cNvPr id="5" name="object 5"/>
          <p:cNvSpPr txBox="1">
            <a:spLocks noGrp="1"/>
          </p:cNvSpPr>
          <p:nvPr>
            <p:ph type="sldNum" sz="quarter" idx="7"/>
          </p:nvPr>
        </p:nvSpPr>
        <p:spPr>
          <a:xfrm>
            <a:off x="11067415" y="6428920"/>
            <a:ext cx="2444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15570">
              <a:spcBef>
                <a:spcPts val="40"/>
              </a:spcBef>
            </a:pPr>
            <a:fld id="{81D60167-4931-47E6-BA6A-407CBD079E47}" type="slidenum">
              <a:rPr lang="en-US" spc="-50" smtClean="0"/>
              <a:pPr marL="115570">
                <a:spcBef>
                  <a:spcPts val="40"/>
                </a:spcBef>
              </a:pPr>
              <a:t>182</a:t>
            </a:fld>
            <a:endParaRPr spc="-19" dirty="0"/>
          </a:p>
        </p:txBody>
      </p:sp>
      <p:sp>
        <p:nvSpPr>
          <p:cNvPr id="2" name="object 2"/>
          <p:cNvSpPr txBox="1">
            <a:spLocks noGrp="1"/>
          </p:cNvSpPr>
          <p:nvPr>
            <p:ph type="title"/>
          </p:nvPr>
        </p:nvSpPr>
        <p:spPr>
          <a:xfrm>
            <a:off x="581025" y="533400"/>
            <a:ext cx="7981950"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dirty="0"/>
              <a:t>Last</a:t>
            </a:r>
            <a:r>
              <a:rPr spc="-94" dirty="0"/>
              <a:t> </a:t>
            </a:r>
            <a:r>
              <a:rPr dirty="0"/>
              <a:t>thing:</a:t>
            </a:r>
            <a:r>
              <a:rPr spc="-98" dirty="0"/>
              <a:t> </a:t>
            </a:r>
            <a:r>
              <a:rPr spc="-8" dirty="0"/>
              <a:t>Configuration</a:t>
            </a:r>
            <a:r>
              <a:rPr spc="-94" dirty="0"/>
              <a:t> </a:t>
            </a:r>
            <a:r>
              <a:rPr spc="-8" dirty="0"/>
              <a:t>Management</a:t>
            </a:r>
          </a:p>
        </p:txBody>
      </p:sp>
      <p:sp>
        <p:nvSpPr>
          <p:cNvPr id="3" name="object 3"/>
          <p:cNvSpPr txBox="1">
            <a:spLocks noGrp="1"/>
          </p:cNvSpPr>
          <p:nvPr>
            <p:ph type="body" idx="1"/>
          </p:nvPr>
        </p:nvSpPr>
        <p:spPr>
          <a:xfrm>
            <a:off x="179785" y="1542062"/>
            <a:ext cx="8735615" cy="4617290"/>
          </a:xfrm>
          <a:prstGeom prst="rect">
            <a:avLst/>
          </a:prstGeom>
        </p:spPr>
        <p:txBody>
          <a:bodyPr vert="horz" wrap="square" lIns="0" tIns="47625" rIns="0" bIns="0" numCol="1" rtlCol="0" anchor="t" anchorCtr="0" compatLnSpc="1">
            <a:prstTxWarp prst="textNoShape">
              <a:avLst/>
            </a:prstTxWarp>
            <a:spAutoFit/>
          </a:bodyPr>
          <a:lstStyle/>
          <a:p>
            <a:pPr marL="180975" marR="201454" indent="-171450">
              <a:lnSpc>
                <a:spcPts val="2250"/>
              </a:lnSpc>
              <a:spcBef>
                <a:spcPts val="375"/>
              </a:spcBef>
              <a:buFont typeface="Arial"/>
              <a:buChar char="•"/>
              <a:tabLst>
                <a:tab pos="180975" algn="l"/>
              </a:tabLst>
            </a:pPr>
            <a:r>
              <a:rPr dirty="0"/>
              <a:t>Remember</a:t>
            </a:r>
            <a:r>
              <a:rPr spc="-53" dirty="0"/>
              <a:t> </a:t>
            </a:r>
            <a:r>
              <a:rPr dirty="0"/>
              <a:t>that</a:t>
            </a:r>
            <a:r>
              <a:rPr spc="-49" dirty="0"/>
              <a:t> </a:t>
            </a:r>
            <a:r>
              <a:rPr dirty="0"/>
              <a:t>all</a:t>
            </a:r>
            <a:r>
              <a:rPr spc="-53" dirty="0"/>
              <a:t> </a:t>
            </a:r>
            <a:r>
              <a:rPr dirty="0"/>
              <a:t>objects</a:t>
            </a:r>
            <a:r>
              <a:rPr spc="-49" dirty="0"/>
              <a:t> </a:t>
            </a:r>
            <a:r>
              <a:rPr dirty="0"/>
              <a:t>that</a:t>
            </a:r>
            <a:r>
              <a:rPr spc="-49" dirty="0"/>
              <a:t> </a:t>
            </a:r>
            <a:r>
              <a:rPr dirty="0"/>
              <a:t>you</a:t>
            </a:r>
            <a:r>
              <a:rPr spc="-45" dirty="0"/>
              <a:t> </a:t>
            </a:r>
            <a:r>
              <a:rPr dirty="0"/>
              <a:t>create,</a:t>
            </a:r>
            <a:r>
              <a:rPr spc="-49" dirty="0"/>
              <a:t> </a:t>
            </a:r>
            <a:r>
              <a:rPr dirty="0"/>
              <a:t>be</a:t>
            </a:r>
            <a:r>
              <a:rPr spc="-53" dirty="0"/>
              <a:t> </a:t>
            </a:r>
            <a:r>
              <a:rPr dirty="0"/>
              <a:t>they</a:t>
            </a:r>
            <a:r>
              <a:rPr spc="-53" dirty="0"/>
              <a:t> </a:t>
            </a:r>
            <a:r>
              <a:rPr dirty="0"/>
              <a:t>tables,</a:t>
            </a:r>
            <a:r>
              <a:rPr spc="-45" dirty="0"/>
              <a:t> </a:t>
            </a:r>
            <a:r>
              <a:rPr spc="-8" dirty="0"/>
              <a:t>indexes, constraints,</a:t>
            </a:r>
            <a:r>
              <a:rPr spc="-60" dirty="0"/>
              <a:t> </a:t>
            </a:r>
            <a:r>
              <a:rPr dirty="0"/>
              <a:t>triggers,</a:t>
            </a:r>
            <a:r>
              <a:rPr spc="-56" dirty="0"/>
              <a:t> </a:t>
            </a:r>
            <a:r>
              <a:rPr dirty="0"/>
              <a:t>stored</a:t>
            </a:r>
            <a:r>
              <a:rPr spc="-56" dirty="0"/>
              <a:t> </a:t>
            </a:r>
            <a:r>
              <a:rPr spc="-8" dirty="0"/>
              <a:t>procedures,</a:t>
            </a:r>
            <a:r>
              <a:rPr spc="-56" dirty="0"/>
              <a:t> </a:t>
            </a:r>
            <a:r>
              <a:rPr dirty="0"/>
              <a:t>functions,</a:t>
            </a:r>
            <a:r>
              <a:rPr spc="-60" dirty="0"/>
              <a:t> </a:t>
            </a:r>
            <a:r>
              <a:rPr dirty="0"/>
              <a:t>…</a:t>
            </a:r>
            <a:r>
              <a:rPr spc="-56" dirty="0"/>
              <a:t> </a:t>
            </a:r>
            <a:r>
              <a:rPr dirty="0"/>
              <a:t>exist</a:t>
            </a:r>
            <a:r>
              <a:rPr spc="-60" dirty="0"/>
              <a:t> </a:t>
            </a:r>
            <a:r>
              <a:rPr dirty="0"/>
              <a:t>in</a:t>
            </a:r>
            <a:r>
              <a:rPr spc="-56" dirty="0"/>
              <a:t> </a:t>
            </a:r>
            <a:r>
              <a:rPr spc="-19" dirty="0"/>
              <a:t>the </a:t>
            </a:r>
            <a:r>
              <a:rPr spc="-8" dirty="0"/>
              <a:t>database.</a:t>
            </a:r>
            <a:endParaRPr lang="en-US" spc="-8" dirty="0"/>
          </a:p>
          <a:p>
            <a:pPr marL="180975" marR="201454" indent="-171450">
              <a:lnSpc>
                <a:spcPts val="2250"/>
              </a:lnSpc>
              <a:spcBef>
                <a:spcPts val="375"/>
              </a:spcBef>
              <a:buFont typeface="Arial"/>
              <a:buChar char="•"/>
              <a:tabLst>
                <a:tab pos="180975" algn="l"/>
              </a:tabLst>
            </a:pPr>
            <a:endParaRPr spc="-8" dirty="0"/>
          </a:p>
          <a:p>
            <a:pPr marL="180975" marR="3810" indent="-171450">
              <a:lnSpc>
                <a:spcPts val="2250"/>
              </a:lnSpc>
              <a:spcBef>
                <a:spcPts val="829"/>
              </a:spcBef>
              <a:buFont typeface="Arial"/>
              <a:buChar char="•"/>
              <a:tabLst>
                <a:tab pos="180975" algn="l"/>
              </a:tabLst>
            </a:pPr>
            <a:r>
              <a:rPr dirty="0"/>
              <a:t>The</a:t>
            </a:r>
            <a:r>
              <a:rPr spc="-38" dirty="0"/>
              <a:t> </a:t>
            </a:r>
            <a:r>
              <a:rPr dirty="0"/>
              <a:t>data</a:t>
            </a:r>
            <a:r>
              <a:rPr spc="-34" dirty="0"/>
              <a:t> </a:t>
            </a:r>
            <a:r>
              <a:rPr dirty="0"/>
              <a:t>dictionary</a:t>
            </a:r>
            <a:r>
              <a:rPr spc="-38" dirty="0"/>
              <a:t> </a:t>
            </a:r>
            <a:r>
              <a:rPr dirty="0"/>
              <a:t>has</a:t>
            </a:r>
            <a:r>
              <a:rPr spc="-26" dirty="0"/>
              <a:t> </a:t>
            </a:r>
            <a:r>
              <a:rPr dirty="0"/>
              <a:t>the</a:t>
            </a:r>
            <a:r>
              <a:rPr spc="-38" dirty="0"/>
              <a:t> </a:t>
            </a:r>
            <a:r>
              <a:rPr dirty="0"/>
              <a:t>definition</a:t>
            </a:r>
            <a:r>
              <a:rPr spc="-30" dirty="0"/>
              <a:t> </a:t>
            </a:r>
            <a:r>
              <a:rPr dirty="0"/>
              <a:t>of</a:t>
            </a:r>
            <a:r>
              <a:rPr spc="-34" dirty="0"/>
              <a:t> </a:t>
            </a:r>
            <a:r>
              <a:rPr dirty="0"/>
              <a:t>these</a:t>
            </a:r>
            <a:r>
              <a:rPr spc="-34" dirty="0"/>
              <a:t> </a:t>
            </a:r>
            <a:r>
              <a:rPr dirty="0"/>
              <a:t>objects,</a:t>
            </a:r>
            <a:r>
              <a:rPr spc="-34" dirty="0"/>
              <a:t> </a:t>
            </a:r>
            <a:r>
              <a:rPr dirty="0"/>
              <a:t>and</a:t>
            </a:r>
            <a:r>
              <a:rPr spc="-30" dirty="0"/>
              <a:t> </a:t>
            </a:r>
            <a:r>
              <a:rPr spc="-8" dirty="0"/>
              <a:t>generally </a:t>
            </a:r>
            <a:r>
              <a:rPr dirty="0"/>
              <a:t>speaking,</a:t>
            </a:r>
            <a:r>
              <a:rPr spc="-26" dirty="0"/>
              <a:t> </a:t>
            </a:r>
            <a:r>
              <a:rPr dirty="0"/>
              <a:t>you</a:t>
            </a:r>
            <a:r>
              <a:rPr spc="-26" dirty="0"/>
              <a:t> </a:t>
            </a:r>
            <a:r>
              <a:rPr dirty="0"/>
              <a:t>can</a:t>
            </a:r>
            <a:r>
              <a:rPr spc="-23" dirty="0"/>
              <a:t> </a:t>
            </a:r>
            <a:r>
              <a:rPr dirty="0"/>
              <a:t>use</a:t>
            </a:r>
            <a:r>
              <a:rPr spc="-26" dirty="0"/>
              <a:t> </a:t>
            </a:r>
            <a:r>
              <a:rPr dirty="0"/>
              <a:t>utilities</a:t>
            </a:r>
            <a:r>
              <a:rPr spc="-23" dirty="0"/>
              <a:t> </a:t>
            </a:r>
            <a:r>
              <a:rPr dirty="0"/>
              <a:t>(either</a:t>
            </a:r>
            <a:r>
              <a:rPr spc="-26" dirty="0"/>
              <a:t> </a:t>
            </a:r>
            <a:r>
              <a:rPr dirty="0"/>
              <a:t>in</a:t>
            </a:r>
            <a:r>
              <a:rPr spc="-26" dirty="0"/>
              <a:t> </a:t>
            </a:r>
            <a:r>
              <a:rPr dirty="0"/>
              <a:t>the</a:t>
            </a:r>
            <a:r>
              <a:rPr spc="-26" dirty="0"/>
              <a:t> </a:t>
            </a:r>
            <a:r>
              <a:rPr dirty="0"/>
              <a:t>IDE</a:t>
            </a:r>
            <a:r>
              <a:rPr spc="-30" dirty="0"/>
              <a:t> </a:t>
            </a:r>
            <a:r>
              <a:rPr dirty="0"/>
              <a:t>or</a:t>
            </a:r>
            <a:r>
              <a:rPr spc="-26" dirty="0"/>
              <a:t> </a:t>
            </a:r>
            <a:r>
              <a:rPr dirty="0"/>
              <a:t>the</a:t>
            </a:r>
            <a:r>
              <a:rPr spc="-30" dirty="0"/>
              <a:t> </a:t>
            </a:r>
            <a:r>
              <a:rPr dirty="0"/>
              <a:t>RDBMS)</a:t>
            </a:r>
            <a:r>
              <a:rPr spc="-23" dirty="0"/>
              <a:t> </a:t>
            </a:r>
            <a:r>
              <a:rPr spc="-19" dirty="0"/>
              <a:t>to </a:t>
            </a:r>
            <a:r>
              <a:rPr dirty="0"/>
              <a:t>reverse</a:t>
            </a:r>
            <a:r>
              <a:rPr spc="-60" dirty="0"/>
              <a:t> </a:t>
            </a:r>
            <a:r>
              <a:rPr dirty="0"/>
              <a:t>engineer</a:t>
            </a:r>
            <a:r>
              <a:rPr spc="-56" dirty="0"/>
              <a:t> </a:t>
            </a:r>
            <a:r>
              <a:rPr dirty="0"/>
              <a:t>those</a:t>
            </a:r>
            <a:r>
              <a:rPr spc="-60" dirty="0"/>
              <a:t> </a:t>
            </a:r>
            <a:r>
              <a:rPr spc="-8" dirty="0"/>
              <a:t>objects.</a:t>
            </a:r>
            <a:endParaRPr lang="en-US" spc="-8" dirty="0"/>
          </a:p>
          <a:p>
            <a:pPr marL="180975" marR="3810" indent="-171450">
              <a:lnSpc>
                <a:spcPts val="2250"/>
              </a:lnSpc>
              <a:spcBef>
                <a:spcPts val="829"/>
              </a:spcBef>
              <a:buFont typeface="Arial"/>
              <a:buChar char="•"/>
              <a:tabLst>
                <a:tab pos="180975" algn="l"/>
              </a:tabLst>
            </a:pPr>
            <a:endParaRPr spc="-8" dirty="0"/>
          </a:p>
          <a:p>
            <a:pPr marL="180975" marR="85248" indent="-171450">
              <a:lnSpc>
                <a:spcPct val="90700"/>
              </a:lnSpc>
              <a:spcBef>
                <a:spcPts val="671"/>
              </a:spcBef>
              <a:buFont typeface="Arial"/>
              <a:buChar char="•"/>
              <a:tabLst>
                <a:tab pos="180975" algn="l"/>
              </a:tabLst>
            </a:pPr>
            <a:r>
              <a:rPr dirty="0"/>
              <a:t>MySQL</a:t>
            </a:r>
            <a:r>
              <a:rPr spc="-45" dirty="0"/>
              <a:t> </a:t>
            </a:r>
            <a:r>
              <a:rPr spc="-8" dirty="0"/>
              <a:t>Workbench</a:t>
            </a:r>
            <a:r>
              <a:rPr spc="-38" dirty="0"/>
              <a:t> </a:t>
            </a:r>
            <a:r>
              <a:rPr dirty="0"/>
              <a:t>has</a:t>
            </a:r>
            <a:r>
              <a:rPr spc="-38" dirty="0"/>
              <a:t> </a:t>
            </a:r>
            <a:r>
              <a:rPr dirty="0"/>
              <a:t>a</a:t>
            </a:r>
            <a:r>
              <a:rPr spc="-45" dirty="0"/>
              <a:t> </a:t>
            </a:r>
            <a:r>
              <a:rPr dirty="0"/>
              <a:t>way</a:t>
            </a:r>
            <a:r>
              <a:rPr spc="-45" dirty="0"/>
              <a:t> </a:t>
            </a:r>
            <a:r>
              <a:rPr dirty="0"/>
              <a:t>to</a:t>
            </a:r>
            <a:r>
              <a:rPr spc="-41" dirty="0"/>
              <a:t> </a:t>
            </a:r>
            <a:r>
              <a:rPr dirty="0"/>
              <a:t>reverse</a:t>
            </a:r>
            <a:r>
              <a:rPr spc="-49" dirty="0"/>
              <a:t> </a:t>
            </a:r>
            <a:r>
              <a:rPr dirty="0"/>
              <a:t>engineer</a:t>
            </a:r>
            <a:r>
              <a:rPr spc="-41" dirty="0"/>
              <a:t> </a:t>
            </a:r>
            <a:r>
              <a:rPr dirty="0"/>
              <a:t>an</a:t>
            </a:r>
            <a:r>
              <a:rPr spc="-38" dirty="0"/>
              <a:t> </a:t>
            </a:r>
            <a:r>
              <a:rPr dirty="0"/>
              <a:t>entire</a:t>
            </a:r>
            <a:r>
              <a:rPr spc="-49" dirty="0"/>
              <a:t> </a:t>
            </a:r>
            <a:r>
              <a:rPr spc="-8" dirty="0"/>
              <a:t>schema. </a:t>
            </a:r>
            <a:r>
              <a:rPr dirty="0"/>
              <a:t>Read</a:t>
            </a:r>
            <a:r>
              <a:rPr spc="-26" dirty="0"/>
              <a:t> </a:t>
            </a:r>
            <a:r>
              <a:rPr dirty="0"/>
              <a:t>about</a:t>
            </a:r>
            <a:r>
              <a:rPr spc="-26" dirty="0"/>
              <a:t> </a:t>
            </a:r>
            <a:r>
              <a:rPr dirty="0"/>
              <a:t>it</a:t>
            </a:r>
            <a:r>
              <a:rPr spc="-26" dirty="0"/>
              <a:t> </a:t>
            </a:r>
            <a:r>
              <a:rPr dirty="0"/>
              <a:t>at:</a:t>
            </a:r>
            <a:r>
              <a:rPr spc="-38" dirty="0"/>
              <a:t> </a:t>
            </a:r>
            <a:r>
              <a:rPr u="heavy" spc="-8" dirty="0">
                <a:solidFill>
                  <a:srgbClr val="0563C1"/>
                </a:solidFill>
                <a:uFill>
                  <a:solidFill>
                    <a:srgbClr val="0563C1"/>
                  </a:solidFill>
                </a:uFill>
              </a:rPr>
              <a:t>https://dev.mysql.com/doc/workbench/en/wb-</a:t>
            </a:r>
            <a:r>
              <a:rPr spc="-8" dirty="0">
                <a:solidFill>
                  <a:srgbClr val="0563C1"/>
                </a:solidFill>
              </a:rPr>
              <a:t> </a:t>
            </a:r>
            <a:r>
              <a:rPr u="heavy" spc="-23" dirty="0">
                <a:solidFill>
                  <a:srgbClr val="0563C1"/>
                </a:solidFill>
                <a:uFill>
                  <a:solidFill>
                    <a:srgbClr val="0563C1"/>
                  </a:solidFill>
                </a:uFill>
              </a:rPr>
              <a:t>reverse-</a:t>
            </a:r>
            <a:r>
              <a:rPr u="heavy" spc="-19" dirty="0">
                <a:solidFill>
                  <a:srgbClr val="0563C1"/>
                </a:solidFill>
                <a:uFill>
                  <a:solidFill>
                    <a:srgbClr val="0563C1"/>
                  </a:solidFill>
                </a:uFill>
              </a:rPr>
              <a:t>engineer-</a:t>
            </a:r>
            <a:r>
              <a:rPr u="heavy" spc="-8" dirty="0">
                <a:solidFill>
                  <a:srgbClr val="0563C1"/>
                </a:solidFill>
                <a:uFill>
                  <a:solidFill>
                    <a:srgbClr val="0563C1"/>
                  </a:solidFill>
                </a:uFill>
              </a:rPr>
              <a:t>live.html</a:t>
            </a:r>
            <a:r>
              <a:rPr spc="-8" dirty="0"/>
              <a:t>.</a:t>
            </a:r>
          </a:p>
        </p:txBody>
      </p:sp>
    </p:spTree>
  </p:cSld>
  <p:clrMapOvr>
    <a:masterClrMapping/>
  </p:clrMapOvr>
  <p:transition spd="med"/>
</p:sld>
</file>

<file path=ppt/slides/slide1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4254246" y="6428920"/>
            <a:ext cx="3683634"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9525">
              <a:spcBef>
                <a:spcPts val="30"/>
              </a:spcBef>
            </a:pPr>
            <a:r>
              <a:rPr lang="en-US" spc="-10"/>
              <a:t>Copyright</a:t>
            </a:r>
            <a:r>
              <a:rPr lang="en-US" spc="-15"/>
              <a:t> </a:t>
            </a:r>
            <a:r>
              <a:rPr lang="en-US"/>
              <a:t>©</a:t>
            </a:r>
            <a:r>
              <a:rPr lang="en-US" spc="-10"/>
              <a:t> </a:t>
            </a:r>
            <a:r>
              <a:rPr lang="en-US"/>
              <a:t>2016</a:t>
            </a:r>
            <a:r>
              <a:rPr lang="en-US" spc="-10"/>
              <a:t> </a:t>
            </a:r>
            <a:r>
              <a:rPr lang="en-US"/>
              <a:t>Ramez</a:t>
            </a:r>
            <a:r>
              <a:rPr lang="en-US" spc="-5"/>
              <a:t> </a:t>
            </a:r>
            <a:r>
              <a:rPr lang="en-US"/>
              <a:t>Elmasri</a:t>
            </a:r>
            <a:r>
              <a:rPr lang="en-US" spc="-15"/>
              <a:t> </a:t>
            </a:r>
            <a:r>
              <a:rPr lang="en-US"/>
              <a:t>and</a:t>
            </a:r>
            <a:r>
              <a:rPr lang="en-US" spc="-15"/>
              <a:t> </a:t>
            </a:r>
            <a:r>
              <a:rPr lang="en-US" spc="-10"/>
              <a:t>Shamkant</a:t>
            </a:r>
            <a:r>
              <a:rPr lang="en-US" spc="-15"/>
              <a:t> </a:t>
            </a:r>
            <a:r>
              <a:rPr lang="en-US"/>
              <a:t>B.</a:t>
            </a:r>
            <a:r>
              <a:rPr lang="en-US" spc="-10"/>
              <a:t> Navathe</a:t>
            </a:r>
            <a:endParaRPr spc="-8" dirty="0"/>
          </a:p>
        </p:txBody>
      </p:sp>
      <p:sp>
        <p:nvSpPr>
          <p:cNvPr id="5" name="object 5"/>
          <p:cNvSpPr txBox="1">
            <a:spLocks noGrp="1"/>
          </p:cNvSpPr>
          <p:nvPr>
            <p:ph type="sldNum" sz="quarter" idx="7"/>
          </p:nvPr>
        </p:nvSpPr>
        <p:spPr>
          <a:xfrm>
            <a:off x="11067415" y="6428920"/>
            <a:ext cx="2444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15570">
              <a:spcBef>
                <a:spcPts val="40"/>
              </a:spcBef>
            </a:pPr>
            <a:fld id="{81D60167-4931-47E6-BA6A-407CBD079E47}" type="slidenum">
              <a:rPr lang="en-US" spc="-50" smtClean="0"/>
              <a:pPr marL="115570">
                <a:spcBef>
                  <a:spcPts val="40"/>
                </a:spcBef>
              </a:pPr>
              <a:t>183</a:t>
            </a:fld>
            <a:endParaRPr spc="-19" dirty="0"/>
          </a:p>
        </p:txBody>
      </p:sp>
      <p:sp>
        <p:nvSpPr>
          <p:cNvPr id="2" name="object 2"/>
          <p:cNvSpPr txBox="1">
            <a:spLocks noGrp="1"/>
          </p:cNvSpPr>
          <p:nvPr>
            <p:ph type="title"/>
          </p:nvPr>
        </p:nvSpPr>
        <p:spPr>
          <a:xfrm>
            <a:off x="2102752" y="420677"/>
            <a:ext cx="5847160" cy="563616"/>
          </a:xfrm>
          <a:prstGeom prst="rect">
            <a:avLst/>
          </a:prstGeom>
        </p:spPr>
        <p:txBody>
          <a:bodyPr vert="horz" wrap="square" lIns="0" tIns="9525" rIns="0" bIns="0" numCol="1" rtlCol="0" anchor="b" anchorCtr="0" compatLnSpc="1">
            <a:prstTxWarp prst="textNoShape">
              <a:avLst/>
            </a:prstTxWarp>
            <a:spAutoFit/>
          </a:bodyPr>
          <a:lstStyle/>
          <a:p>
            <a:pPr marL="9525">
              <a:spcBef>
                <a:spcPts val="75"/>
              </a:spcBef>
            </a:pPr>
            <a:r>
              <a:rPr dirty="0"/>
              <a:t>Additional</a:t>
            </a:r>
            <a:r>
              <a:rPr spc="-150" dirty="0"/>
              <a:t> </a:t>
            </a:r>
            <a:r>
              <a:rPr spc="-8" dirty="0"/>
              <a:t>Resources</a:t>
            </a:r>
          </a:p>
        </p:txBody>
      </p:sp>
      <p:sp>
        <p:nvSpPr>
          <p:cNvPr id="3" name="object 3"/>
          <p:cNvSpPr txBox="1"/>
          <p:nvPr/>
        </p:nvSpPr>
        <p:spPr>
          <a:xfrm>
            <a:off x="24063" y="2240017"/>
            <a:ext cx="8762999" cy="2774799"/>
          </a:xfrm>
          <a:prstGeom prst="rect">
            <a:avLst/>
          </a:prstGeom>
        </p:spPr>
        <p:txBody>
          <a:bodyPr vert="horz" wrap="square" lIns="0" tIns="35243" rIns="0" bIns="0" rtlCol="0">
            <a:spAutoFit/>
          </a:bodyPr>
          <a:lstStyle/>
          <a:p>
            <a:pPr marL="180499" indent="-170974">
              <a:spcBef>
                <a:spcPts val="278"/>
              </a:spcBef>
              <a:buFont typeface="Arial"/>
              <a:buChar char="•"/>
              <a:tabLst>
                <a:tab pos="180499" algn="l"/>
              </a:tabLst>
            </a:pPr>
            <a:r>
              <a:rPr sz="2100" spc="-53" dirty="0">
                <a:latin typeface="Calibri"/>
                <a:cs typeface="Calibri"/>
              </a:rPr>
              <a:t>WATCH: </a:t>
            </a:r>
            <a:r>
              <a:rPr sz="2100" spc="-8" dirty="0">
                <a:latin typeface="Calibri"/>
                <a:cs typeface="Calibri"/>
              </a:rPr>
              <a:t>Trigger</a:t>
            </a:r>
            <a:r>
              <a:rPr sz="2100" spc="-53" dirty="0">
                <a:latin typeface="Calibri"/>
                <a:cs typeface="Calibri"/>
              </a:rPr>
              <a:t> </a:t>
            </a:r>
            <a:r>
              <a:rPr sz="2100" dirty="0">
                <a:latin typeface="Calibri"/>
                <a:cs typeface="Calibri"/>
              </a:rPr>
              <a:t>in</a:t>
            </a:r>
            <a:r>
              <a:rPr sz="2100" spc="-49" dirty="0">
                <a:latin typeface="Calibri"/>
                <a:cs typeface="Calibri"/>
              </a:rPr>
              <a:t> </a:t>
            </a:r>
            <a:r>
              <a:rPr sz="2100" spc="-8" dirty="0">
                <a:latin typeface="Calibri"/>
                <a:cs typeface="Calibri"/>
              </a:rPr>
              <a:t>MySQL</a:t>
            </a:r>
            <a:endParaRPr sz="2100" dirty="0">
              <a:latin typeface="Calibri"/>
              <a:cs typeface="Calibri"/>
            </a:endParaRPr>
          </a:p>
          <a:p>
            <a:pPr marL="522923" marR="44768" lvl="1" indent="-170497">
              <a:lnSpc>
                <a:spcPts val="1943"/>
              </a:lnSpc>
              <a:spcBef>
                <a:spcPts val="420"/>
              </a:spcBef>
              <a:buClr>
                <a:srgbClr val="000000"/>
              </a:buClr>
              <a:buFont typeface="Arial"/>
              <a:buChar char="•"/>
              <a:tabLst>
                <a:tab pos="523875" algn="l"/>
              </a:tabLst>
            </a:pPr>
            <a:r>
              <a:rPr sz="1800" u="heavy" spc="-15" dirty="0">
                <a:solidFill>
                  <a:srgbClr val="0563C1"/>
                </a:solidFill>
                <a:uFill>
                  <a:solidFill>
                    <a:srgbClr val="0563C1"/>
                  </a:solidFill>
                </a:uFill>
                <a:latin typeface="Calibri"/>
                <a:cs typeface="Calibri"/>
              </a:rPr>
              <a:t>https://northeastern.hosted.panopto.com/Panopto/Pages/Viewer.aspx?id=df</a:t>
            </a:r>
            <a:r>
              <a:rPr sz="1800" spc="-15" dirty="0">
                <a:solidFill>
                  <a:srgbClr val="0563C1"/>
                </a:solidFill>
                <a:latin typeface="Calibri"/>
                <a:cs typeface="Calibri"/>
              </a:rPr>
              <a:t> 	</a:t>
            </a:r>
            <a:r>
              <a:rPr sz="1800" u="heavy" spc="-8" dirty="0">
                <a:solidFill>
                  <a:srgbClr val="0563C1"/>
                </a:solidFill>
                <a:uFill>
                  <a:solidFill>
                    <a:srgbClr val="0563C1"/>
                  </a:solidFill>
                </a:uFill>
                <a:latin typeface="Calibri"/>
                <a:cs typeface="Calibri"/>
              </a:rPr>
              <a:t>b37c4e-c2d9-4631-</a:t>
            </a:r>
            <a:r>
              <a:rPr sz="1800" u="heavy" spc="-15" dirty="0">
                <a:solidFill>
                  <a:srgbClr val="0563C1"/>
                </a:solidFill>
                <a:uFill>
                  <a:solidFill>
                    <a:srgbClr val="0563C1"/>
                  </a:solidFill>
                </a:uFill>
                <a:latin typeface="Calibri"/>
                <a:cs typeface="Calibri"/>
              </a:rPr>
              <a:t>8cab-</a:t>
            </a:r>
            <a:r>
              <a:rPr sz="1800" u="heavy" spc="-8" dirty="0">
                <a:solidFill>
                  <a:srgbClr val="0563C1"/>
                </a:solidFill>
                <a:uFill>
                  <a:solidFill>
                    <a:srgbClr val="0563C1"/>
                  </a:solidFill>
                </a:uFill>
                <a:latin typeface="Calibri"/>
                <a:cs typeface="Calibri"/>
              </a:rPr>
              <a:t>abf40119446d&amp;start=0</a:t>
            </a:r>
            <a:endParaRPr sz="1800" dirty="0">
              <a:latin typeface="Calibri"/>
              <a:cs typeface="Calibri"/>
            </a:endParaRPr>
          </a:p>
          <a:p>
            <a:pPr marL="180499" indent="-170974">
              <a:spcBef>
                <a:spcPts val="446"/>
              </a:spcBef>
              <a:buFont typeface="Arial"/>
              <a:buChar char="•"/>
              <a:tabLst>
                <a:tab pos="180499" algn="l"/>
              </a:tabLst>
            </a:pPr>
            <a:r>
              <a:rPr sz="2100" spc="-53" dirty="0">
                <a:latin typeface="Calibri"/>
                <a:cs typeface="Calibri"/>
              </a:rPr>
              <a:t>WATCH:</a:t>
            </a:r>
            <a:r>
              <a:rPr sz="2100" spc="-45" dirty="0">
                <a:latin typeface="Calibri"/>
                <a:cs typeface="Calibri"/>
              </a:rPr>
              <a:t> </a:t>
            </a:r>
            <a:r>
              <a:rPr sz="2100" dirty="0">
                <a:latin typeface="Calibri"/>
                <a:cs typeface="Calibri"/>
              </a:rPr>
              <a:t>Building</a:t>
            </a:r>
            <a:r>
              <a:rPr sz="2100" spc="-45" dirty="0">
                <a:latin typeface="Calibri"/>
                <a:cs typeface="Calibri"/>
              </a:rPr>
              <a:t> </a:t>
            </a:r>
            <a:r>
              <a:rPr sz="2100" spc="-15" dirty="0">
                <a:latin typeface="Calibri"/>
                <a:cs typeface="Calibri"/>
              </a:rPr>
              <a:t>Triggers</a:t>
            </a:r>
            <a:r>
              <a:rPr sz="2100" spc="-41" dirty="0">
                <a:latin typeface="Calibri"/>
                <a:cs typeface="Calibri"/>
              </a:rPr>
              <a:t> </a:t>
            </a:r>
            <a:r>
              <a:rPr sz="2100" dirty="0">
                <a:latin typeface="Calibri"/>
                <a:cs typeface="Calibri"/>
              </a:rPr>
              <a:t>in</a:t>
            </a:r>
            <a:r>
              <a:rPr sz="2100" spc="-45" dirty="0">
                <a:latin typeface="Calibri"/>
                <a:cs typeface="Calibri"/>
              </a:rPr>
              <a:t> </a:t>
            </a:r>
            <a:r>
              <a:rPr sz="2100" dirty="0">
                <a:latin typeface="Calibri"/>
                <a:cs typeface="Calibri"/>
              </a:rPr>
              <a:t>MySQL</a:t>
            </a:r>
            <a:r>
              <a:rPr sz="2100" spc="-45" dirty="0">
                <a:latin typeface="Calibri"/>
                <a:cs typeface="Calibri"/>
              </a:rPr>
              <a:t> </a:t>
            </a:r>
            <a:r>
              <a:rPr sz="2100" spc="-8" dirty="0">
                <a:latin typeface="Calibri"/>
                <a:cs typeface="Calibri"/>
              </a:rPr>
              <a:t>Workbench</a:t>
            </a:r>
            <a:endParaRPr sz="2100" dirty="0">
              <a:latin typeface="Calibri"/>
              <a:cs typeface="Calibri"/>
            </a:endParaRPr>
          </a:p>
          <a:p>
            <a:pPr marL="522923" marR="3810" lvl="1" indent="-170497">
              <a:lnSpc>
                <a:spcPts val="1965"/>
              </a:lnSpc>
              <a:spcBef>
                <a:spcPts val="401"/>
              </a:spcBef>
              <a:buClr>
                <a:srgbClr val="000000"/>
              </a:buClr>
              <a:buFont typeface="Arial"/>
              <a:buChar char="•"/>
              <a:tabLst>
                <a:tab pos="523875" algn="l"/>
              </a:tabLst>
            </a:pPr>
            <a:r>
              <a:rPr sz="1800" u="heavy" spc="-15" dirty="0">
                <a:solidFill>
                  <a:srgbClr val="0563C1"/>
                </a:solidFill>
                <a:uFill>
                  <a:solidFill>
                    <a:srgbClr val="0563C1"/>
                  </a:solidFill>
                </a:uFill>
                <a:latin typeface="Calibri"/>
                <a:cs typeface="Calibri"/>
              </a:rPr>
              <a:t>https://northeastern.hosted.panopto.com/Panopto/Pages/Viewer.aspx?id=56</a:t>
            </a:r>
            <a:r>
              <a:rPr sz="1800" spc="-15" dirty="0">
                <a:solidFill>
                  <a:srgbClr val="0563C1"/>
                </a:solidFill>
                <a:latin typeface="Calibri"/>
                <a:cs typeface="Calibri"/>
              </a:rPr>
              <a:t> 	</a:t>
            </a:r>
            <a:r>
              <a:rPr sz="1800" u="heavy" spc="-8" dirty="0">
                <a:solidFill>
                  <a:srgbClr val="0563C1"/>
                </a:solidFill>
                <a:uFill>
                  <a:solidFill>
                    <a:srgbClr val="0563C1"/>
                  </a:solidFill>
                </a:uFill>
                <a:latin typeface="Calibri"/>
                <a:cs typeface="Calibri"/>
              </a:rPr>
              <a:t>93267e-35b9-458a-a066-ac5201265be8&amp;start=0</a:t>
            </a:r>
            <a:endParaRPr sz="1800" dirty="0">
              <a:latin typeface="Calibri"/>
              <a:cs typeface="Calibri"/>
            </a:endParaRPr>
          </a:p>
          <a:p>
            <a:pPr marL="180499" indent="-170974">
              <a:spcBef>
                <a:spcPts val="420"/>
              </a:spcBef>
              <a:buFont typeface="Arial"/>
              <a:buChar char="•"/>
              <a:tabLst>
                <a:tab pos="180499" algn="l"/>
              </a:tabLst>
            </a:pPr>
            <a:r>
              <a:rPr sz="2100" dirty="0">
                <a:latin typeface="Calibri"/>
                <a:cs typeface="Calibri"/>
              </a:rPr>
              <a:t>Practice:</a:t>
            </a:r>
            <a:r>
              <a:rPr sz="2100" spc="-98" dirty="0">
                <a:latin typeface="Calibri"/>
                <a:cs typeface="Calibri"/>
              </a:rPr>
              <a:t> </a:t>
            </a:r>
            <a:r>
              <a:rPr sz="2100" spc="-15" dirty="0">
                <a:latin typeface="Calibri"/>
                <a:cs typeface="Calibri"/>
              </a:rPr>
              <a:t>View</a:t>
            </a:r>
            <a:endParaRPr sz="2100" dirty="0">
              <a:latin typeface="Calibri"/>
              <a:cs typeface="Calibri"/>
            </a:endParaRPr>
          </a:p>
          <a:p>
            <a:pPr marL="522923" marR="253841" lvl="1" indent="-170497">
              <a:lnSpc>
                <a:spcPts val="1965"/>
              </a:lnSpc>
              <a:spcBef>
                <a:spcPts val="401"/>
              </a:spcBef>
              <a:buClr>
                <a:srgbClr val="000000"/>
              </a:buClr>
              <a:buFont typeface="Arial"/>
              <a:buChar char="•"/>
              <a:tabLst>
                <a:tab pos="523875" algn="l"/>
              </a:tabLst>
            </a:pPr>
            <a:r>
              <a:rPr sz="1800" u="heavy" spc="-15" dirty="0">
                <a:solidFill>
                  <a:srgbClr val="0563C1"/>
                </a:solidFill>
                <a:uFill>
                  <a:solidFill>
                    <a:srgbClr val="0563C1"/>
                  </a:solidFill>
                </a:uFill>
                <a:latin typeface="Calibri"/>
                <a:cs typeface="Calibri"/>
              </a:rPr>
              <a:t>https://northeastern.instructure.com/courses/123286/pages/10-</a:t>
            </a:r>
            <a:r>
              <a:rPr sz="1800" u="heavy" spc="-8" dirty="0">
                <a:solidFill>
                  <a:srgbClr val="0563C1"/>
                </a:solidFill>
                <a:uFill>
                  <a:solidFill>
                    <a:srgbClr val="0563C1"/>
                  </a:solidFill>
                </a:uFill>
                <a:latin typeface="Calibri"/>
                <a:cs typeface="Calibri"/>
              </a:rPr>
              <a:t>min-read-</a:t>
            </a:r>
            <a:r>
              <a:rPr sz="1800" spc="-8" dirty="0">
                <a:solidFill>
                  <a:srgbClr val="0563C1"/>
                </a:solidFill>
                <a:latin typeface="Calibri"/>
                <a:cs typeface="Calibri"/>
              </a:rPr>
              <a:t> 	</a:t>
            </a:r>
            <a:r>
              <a:rPr sz="1800" u="heavy" spc="-19" dirty="0">
                <a:solidFill>
                  <a:srgbClr val="0563C1"/>
                </a:solidFill>
                <a:uFill>
                  <a:solidFill>
                    <a:srgbClr val="0563C1"/>
                  </a:solidFill>
                </a:uFill>
                <a:latin typeface="Calibri"/>
                <a:cs typeface="Calibri"/>
              </a:rPr>
              <a:t>query-</a:t>
            </a:r>
            <a:r>
              <a:rPr sz="1800" u="heavy" spc="-15" dirty="0">
                <a:solidFill>
                  <a:srgbClr val="0563C1"/>
                </a:solidFill>
                <a:uFill>
                  <a:solidFill>
                    <a:srgbClr val="0563C1"/>
                  </a:solidFill>
                </a:uFill>
                <a:latin typeface="Calibri"/>
                <a:cs typeface="Calibri"/>
              </a:rPr>
              <a:t>and-</a:t>
            </a:r>
            <a:r>
              <a:rPr sz="1800" u="heavy" spc="-8" dirty="0">
                <a:solidFill>
                  <a:srgbClr val="0563C1"/>
                </a:solidFill>
                <a:uFill>
                  <a:solidFill>
                    <a:srgbClr val="0563C1"/>
                  </a:solidFill>
                </a:uFill>
                <a:latin typeface="Calibri"/>
                <a:cs typeface="Calibri"/>
              </a:rPr>
              <a:t>schema-</a:t>
            </a:r>
            <a:r>
              <a:rPr sz="1800" u="heavy" spc="-15" dirty="0">
                <a:solidFill>
                  <a:srgbClr val="0563C1"/>
                </a:solidFill>
                <a:uFill>
                  <a:solidFill>
                    <a:srgbClr val="0563C1"/>
                  </a:solidFill>
                </a:uFill>
                <a:latin typeface="Calibri"/>
                <a:cs typeface="Calibri"/>
              </a:rPr>
              <a:t>abstraction-</a:t>
            </a:r>
            <a:r>
              <a:rPr sz="1800" u="heavy" spc="-8" dirty="0">
                <a:solidFill>
                  <a:srgbClr val="0563C1"/>
                </a:solidFill>
                <a:uFill>
                  <a:solidFill>
                    <a:srgbClr val="0563C1"/>
                  </a:solidFill>
                </a:uFill>
                <a:latin typeface="Calibri"/>
                <a:cs typeface="Calibri"/>
              </a:rPr>
              <a:t>with-views</a:t>
            </a:r>
            <a:endParaRPr sz="1800" dirty="0">
              <a:latin typeface="Calibri"/>
              <a:cs typeface="Calibri"/>
            </a:endParaRPr>
          </a:p>
        </p:txBody>
      </p:sp>
    </p:spTree>
  </p:cSld>
  <p:clrMapOvr>
    <a:masterClrMapping/>
  </p:clrMapOvr>
  <p:transition spd="med"/>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CD85A-4296-0A00-A5E3-3E38D28CEEF5}"/>
              </a:ext>
            </a:extLst>
          </p:cNvPr>
          <p:cNvSpPr>
            <a:spLocks noGrp="1"/>
          </p:cNvSpPr>
          <p:nvPr>
            <p:ph type="title"/>
          </p:nvPr>
        </p:nvSpPr>
        <p:spPr>
          <a:xfrm>
            <a:off x="457201" y="859819"/>
            <a:ext cx="8473499" cy="507831"/>
          </a:xfrm>
        </p:spPr>
        <p:txBody>
          <a:bodyPr/>
          <a:lstStyle/>
          <a:p>
            <a:r>
              <a:rPr lang="en-US" dirty="0"/>
              <a:t>Review Deliverables (6:15 – 6:20)</a:t>
            </a:r>
          </a:p>
        </p:txBody>
      </p:sp>
      <p:sp>
        <p:nvSpPr>
          <p:cNvPr id="6" name="Text Placeholder 5">
            <a:extLst>
              <a:ext uri="{FF2B5EF4-FFF2-40B4-BE49-F238E27FC236}">
                <a16:creationId xmlns:a16="http://schemas.microsoft.com/office/drawing/2014/main" id="{DDFE5234-7A0D-4638-F56B-59690761EA0C}"/>
              </a:ext>
            </a:extLst>
          </p:cNvPr>
          <p:cNvSpPr>
            <a:spLocks noGrp="1"/>
          </p:cNvSpPr>
          <p:nvPr>
            <p:ph type="body" idx="1"/>
          </p:nvPr>
        </p:nvSpPr>
        <p:spPr>
          <a:xfrm>
            <a:off x="1" y="1752600"/>
            <a:ext cx="8930700" cy="4800600"/>
          </a:xfrm>
        </p:spPr>
        <p:txBody>
          <a:bodyPr>
            <a:normAutofit fontScale="77500" lnSpcReduction="20000"/>
          </a:bodyPr>
          <a:lstStyle/>
          <a:p>
            <a:pPr marL="728663"/>
            <a:r>
              <a:rPr lang="en-US" sz="4400" dirty="0"/>
              <a:t>Homework 06:</a:t>
            </a:r>
          </a:p>
          <a:p>
            <a:pPr marL="1128713" lvl="1"/>
            <a:r>
              <a:rPr lang="en-US" sz="4200" dirty="0"/>
              <a:t>Due By: Wednesday March 11, 2026 11:59 PM</a:t>
            </a:r>
          </a:p>
          <a:p>
            <a:pPr marL="1128713" lvl="1"/>
            <a:r>
              <a:rPr lang="en-US" sz="4200" dirty="0"/>
              <a:t>Available Until: Friday March 13, 2026 11:59 PM</a:t>
            </a:r>
          </a:p>
          <a:p>
            <a:pPr marL="728663"/>
            <a:r>
              <a:rPr lang="en-US" sz="4400" dirty="0"/>
              <a:t>Project Phase 03:</a:t>
            </a:r>
            <a:endParaRPr lang="en-US" sz="1800" dirty="0"/>
          </a:p>
          <a:p>
            <a:pPr marL="1128713" lvl="1"/>
            <a:r>
              <a:rPr lang="en-US" sz="4200" dirty="0"/>
              <a:t>Due By: Friday March 20, 2026 11:59 PM</a:t>
            </a:r>
          </a:p>
          <a:p>
            <a:pPr marL="1128713" lvl="1"/>
            <a:r>
              <a:rPr lang="en-US" sz="4200" dirty="0"/>
              <a:t>Available Until: </a:t>
            </a:r>
            <a:r>
              <a:rPr lang="en-US" sz="4200"/>
              <a:t>Sunday March 22, </a:t>
            </a:r>
            <a:r>
              <a:rPr lang="en-US" sz="4200" dirty="0"/>
              <a:t>2026 11:59 PM</a:t>
            </a:r>
          </a:p>
          <a:p>
            <a:pPr marL="728663"/>
            <a:endParaRPr lang="en-US" sz="4400" dirty="0"/>
          </a:p>
          <a:p>
            <a:pPr marL="1128713" lvl="1"/>
            <a:endParaRPr lang="en-US" sz="4200" dirty="0"/>
          </a:p>
        </p:txBody>
      </p:sp>
      <p:sp>
        <p:nvSpPr>
          <p:cNvPr id="5" name="Slide Number Placeholder 4">
            <a:extLst>
              <a:ext uri="{FF2B5EF4-FFF2-40B4-BE49-F238E27FC236}">
                <a16:creationId xmlns:a16="http://schemas.microsoft.com/office/drawing/2014/main" id="{71334ED0-FB7B-F75A-DCF9-824819ABF229}"/>
              </a:ext>
            </a:extLst>
          </p:cNvPr>
          <p:cNvSpPr>
            <a:spLocks noGrp="1"/>
          </p:cNvSpPr>
          <p:nvPr>
            <p:ph type="sldNum" sz="quarter" idx="7"/>
          </p:nvPr>
        </p:nvSpPr>
        <p:spPr>
          <a:xfrm>
            <a:off x="11092815" y="6428920"/>
            <a:ext cx="219075" cy="211454"/>
          </a:xfrm>
          <a:prstGeom prst="rect">
            <a:avLst/>
          </a:prstGeom>
        </p:spPr>
        <p:txBody>
          <a:bodyPr wrap="square" lIns="0" tIns="0" rIns="0" bIns="0">
            <a:spAutoFit/>
          </a:bodyPr>
          <a:lstStyle>
            <a:defPPr>
              <a:defRPr kern="0"/>
            </a:defPPr>
            <a:lvl1pPr>
              <a:defRPr sz="1200" b="0" i="0">
                <a:solidFill>
                  <a:srgbClr val="898989"/>
                </a:solidFill>
                <a:latin typeface="Calibri"/>
                <a:cs typeface="Calibri"/>
              </a:defRPr>
            </a:lvl1pPr>
          </a:lstStyle>
          <a:p>
            <a:pPr marL="12700">
              <a:spcBef>
                <a:spcPts val="40"/>
              </a:spcBef>
            </a:pPr>
            <a:fld id="{81D60167-4931-47E6-BA6A-407CBD079E47}" type="slidenum">
              <a:rPr lang="en-US" spc="-25" smtClean="0"/>
              <a:pPr marL="12700">
                <a:spcBef>
                  <a:spcPts val="40"/>
                </a:spcBef>
              </a:pPr>
              <a:t>184</a:t>
            </a:fld>
            <a:endParaRPr lang="en-US" spc="-19" dirty="0"/>
          </a:p>
        </p:txBody>
      </p:sp>
    </p:spTree>
    <p:extLst>
      <p:ext uri="{BB962C8B-B14F-4D97-AF65-F5344CB8AC3E}">
        <p14:creationId xmlns:p14="http://schemas.microsoft.com/office/powerpoint/2010/main" val="2157091541"/>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19320</TotalTime>
  <Words>14168</Words>
  <Application>Microsoft Office PowerPoint</Application>
  <PresentationFormat>Letter Paper (8.5x11 in)</PresentationFormat>
  <Paragraphs>1816</Paragraphs>
  <Slides>184</Slides>
  <Notes>67</Notes>
  <HiddenSlides>70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184</vt:i4>
      </vt:variant>
    </vt:vector>
  </HeadingPairs>
  <TitlesOfParts>
    <vt:vector size="196" baseType="lpstr">
      <vt:lpstr>Arial</vt:lpstr>
      <vt:lpstr>Calibri</vt:lpstr>
      <vt:lpstr>Calibri Light</vt:lpstr>
      <vt:lpstr>Courier New</vt:lpstr>
      <vt:lpstr>CourierNewPSMT</vt:lpstr>
      <vt:lpstr>Symbol</vt:lpstr>
      <vt:lpstr>Tahoma</vt:lpstr>
      <vt:lpstr>Times</vt:lpstr>
      <vt:lpstr>Times New Roman</vt:lpstr>
      <vt:lpstr>Verdana</vt:lpstr>
      <vt:lpstr>Wingdings</vt:lpstr>
      <vt:lpstr>Blends</vt:lpstr>
      <vt:lpstr>Database Management Systems CS 5200</vt:lpstr>
      <vt:lpstr>Plan for Today</vt:lpstr>
      <vt:lpstr> </vt:lpstr>
      <vt:lpstr>Chapter Outline</vt:lpstr>
      <vt:lpstr>Brief History of Origins of Algebra</vt:lpstr>
      <vt:lpstr>Relational Algebra Overview</vt:lpstr>
      <vt:lpstr>Relational Algebra Overview (continued)</vt:lpstr>
      <vt:lpstr>Relational Algebra Overview</vt:lpstr>
      <vt:lpstr>Relational Algebra Operations</vt:lpstr>
      <vt:lpstr>Relational Algebra Operations</vt:lpstr>
      <vt:lpstr>Database State for COMPANY</vt:lpstr>
      <vt:lpstr>Database State for COMPANY</vt:lpstr>
      <vt:lpstr>Unary Relational Operations: SELECT</vt:lpstr>
      <vt:lpstr>Unary Relational Operations: SELECT (continued)</vt:lpstr>
      <vt:lpstr>Unary Relational Operations: SELECT</vt:lpstr>
      <vt:lpstr>Unary Relational Operations: PROJECT</vt:lpstr>
      <vt:lpstr>Unary Relational Operations: PROJECT (cont.)</vt:lpstr>
      <vt:lpstr>Unary Relational Operations: PROJECT (contd.)</vt:lpstr>
      <vt:lpstr>Examples of applying SELECT and PROJECT operations</vt:lpstr>
      <vt:lpstr>Relational Algebra Expressions</vt:lpstr>
      <vt:lpstr>Single expression versus sequence of relational operations (Example)</vt:lpstr>
      <vt:lpstr>Unary Relational Operations: RENAME</vt:lpstr>
      <vt:lpstr>Unary Relational Operations: RENAME (continued)</vt:lpstr>
      <vt:lpstr>Example of applying multiple operations and RENAME</vt:lpstr>
      <vt:lpstr>Relational Algebra Operations from Set Theory </vt:lpstr>
      <vt:lpstr>Relational Algebra Operations from Set Theory: UNION </vt:lpstr>
      <vt:lpstr>Figure 8.3   Result of the UNION operation RESULT ← RESULT1 ∪ RESULT2.</vt:lpstr>
      <vt:lpstr>Relational Algebra Operations from Set Theory: INTERSECTION</vt:lpstr>
      <vt:lpstr>Relational Algebra Operations from Set Theory: SET DIFFERENCE (cont.) </vt:lpstr>
      <vt:lpstr>Example  UNION, INTERSECT, and DIFFERENCE</vt:lpstr>
      <vt:lpstr>Some properties of UNION, INTERSECT, and DIFFERENCE</vt:lpstr>
      <vt:lpstr>Relational Algebra Operations from Set Theory: CARTESIAN PRODUCT</vt:lpstr>
      <vt:lpstr>Relational Algebra Operations from Set Theory: CARTESIAN PRODUCT (cont.)</vt:lpstr>
      <vt:lpstr>Relational Algebra Operations from Set Theory: CARTESIAN PRODUCT (cont.)</vt:lpstr>
      <vt:lpstr>FEMALE_EMPS   SEX=’F’(EMPLOYEE) EMPNAMES   FNAME, LNAME, SSN (FEMALE_EMPS)</vt:lpstr>
      <vt:lpstr>EMP_DEPENDENTS   EMPNAMES x DEPENDENT</vt:lpstr>
      <vt:lpstr>ACTUAL_DEPS   SSN=ESSN(EMP_DEPENDENTS) RESULT   FNAME, LNAME, DEPENDENT_NAME (ACTUAL_DEPS)</vt:lpstr>
      <vt:lpstr>Binary Relational Operations: JOIN</vt:lpstr>
      <vt:lpstr>Binary Relational Operations: JOIN (cont.)</vt:lpstr>
      <vt:lpstr>Figure 8.6   Result of the JOIN operation DEPT_MGR ← DEPARTMENT|X|  Mgr_ssn=SsnEMPLOYEE.</vt:lpstr>
      <vt:lpstr>Some properties of JOIN</vt:lpstr>
      <vt:lpstr>Some properties of JOIN</vt:lpstr>
      <vt:lpstr>Binary Relational Operations:  NATURAL JOIN Operation</vt:lpstr>
      <vt:lpstr>Binary Relational Operations NATURAL JOIN (continued)</vt:lpstr>
      <vt:lpstr>Example of NATURAL JOIN operation</vt:lpstr>
      <vt:lpstr>Complete Set of Relational Operations</vt:lpstr>
      <vt:lpstr>Binary Relational Operations: DIVISION</vt:lpstr>
      <vt:lpstr>Example of DIVISION</vt:lpstr>
      <vt:lpstr>Table 8.1   Operations of Relational Algebra</vt:lpstr>
      <vt:lpstr>Table 8.1   Operations of Relational Algebra (continued)</vt:lpstr>
      <vt:lpstr>Relational Calculus</vt:lpstr>
      <vt:lpstr>Relational Calculus</vt:lpstr>
      <vt:lpstr>Relational Calculus (continued)</vt:lpstr>
      <vt:lpstr>Tuple Relational Calculus</vt:lpstr>
      <vt:lpstr>Tuple Relational Calculus (continued)</vt:lpstr>
      <vt:lpstr>Logical Operators</vt:lpstr>
      <vt:lpstr>The Existential and Universal Quantifiers </vt:lpstr>
      <vt:lpstr>The Existential and Universal  Quantifiers (continued)</vt:lpstr>
      <vt:lpstr>Example Query Using Existential Quantifier</vt:lpstr>
      <vt:lpstr>Example Query Using Universal Quantifier</vt:lpstr>
      <vt:lpstr>The Domain Relational Calculus </vt:lpstr>
      <vt:lpstr>The Domain Relational Calculus (continued)</vt:lpstr>
      <vt:lpstr>Example Query Using Domain Calculus</vt:lpstr>
      <vt:lpstr>Chapter Summary</vt:lpstr>
      <vt:lpstr>Is it 4:15 yet?</vt:lpstr>
      <vt:lpstr>Query Tree Notation</vt:lpstr>
      <vt:lpstr>PowerPoint Presentation</vt:lpstr>
      <vt:lpstr>Additional Relational Operations: Aggregate Functions and Grouping</vt:lpstr>
      <vt:lpstr>Aggregate Function Operation</vt:lpstr>
      <vt:lpstr>Using Grouping with Aggregation</vt:lpstr>
      <vt:lpstr>Figure 8.10   The aggregate function operation. </vt:lpstr>
      <vt:lpstr>Figure 7.1a   Results of GROUP BY and HAVING (in SQL). Q24.</vt:lpstr>
      <vt:lpstr>Additional Relational Operations (continued)</vt:lpstr>
      <vt:lpstr>Additional Relational Operations (continued)</vt:lpstr>
      <vt:lpstr>Figure 8.11   A two-level recursive query.</vt:lpstr>
      <vt:lpstr>Additional Relational Operations (continued)</vt:lpstr>
      <vt:lpstr>Additional Relational Operations (continued)</vt:lpstr>
      <vt:lpstr>Figure 8.12   The result of a LEFT OUTER JOIN operation.</vt:lpstr>
      <vt:lpstr>Additional Relational Operations (continued)</vt:lpstr>
      <vt:lpstr>Additional Relational Operations (continued)</vt:lpstr>
      <vt:lpstr>Examples of Queries in Relational Algebra : Procedural Form</vt:lpstr>
      <vt:lpstr>Examples of Queries in Relational Algebra – Single expressions</vt:lpstr>
      <vt:lpstr>Break (4:30 PM – 4:50 PM)    Please be punctual so that  we restart on time</vt:lpstr>
      <vt:lpstr>PowerPoint Presentation</vt:lpstr>
      <vt:lpstr>Specifying Constraints as Assertions and Actions as Triggers</vt:lpstr>
      <vt:lpstr>Specifying General Constraints as Assertions in SQL</vt:lpstr>
      <vt:lpstr>Introduction to Triggers in SQL</vt:lpstr>
      <vt:lpstr>USE OF TRIGGERS</vt:lpstr>
      <vt:lpstr>Specification of Triggers</vt:lpstr>
      <vt:lpstr>Trigger1 – Step 1</vt:lpstr>
      <vt:lpstr>Trigger1 – Step 2</vt:lpstr>
      <vt:lpstr>Q6.sql</vt:lpstr>
      <vt:lpstr>Trigger2 – Step 1</vt:lpstr>
      <vt:lpstr>Trigger2 – Step 2</vt:lpstr>
      <vt:lpstr>Trigger3 – Step 1</vt:lpstr>
      <vt:lpstr>Trigger3 – Step 2</vt:lpstr>
      <vt:lpstr>A Few Things to Note</vt:lpstr>
      <vt:lpstr>The Special Powers of a Trigger</vt:lpstr>
      <vt:lpstr>Views (Virtual Tables) in SQL</vt:lpstr>
      <vt:lpstr>Specification of Views in SQL</vt:lpstr>
      <vt:lpstr>Specification of Views in SQL (cont’d.)</vt:lpstr>
      <vt:lpstr>View Implementation, View Update, and Inline Views</vt:lpstr>
      <vt:lpstr>View Materialization</vt:lpstr>
      <vt:lpstr>View Materialization (contd.)</vt:lpstr>
      <vt:lpstr>View Update</vt:lpstr>
      <vt:lpstr>View Update and Inline Views</vt:lpstr>
      <vt:lpstr>Views as authorization mechanism</vt:lpstr>
      <vt:lpstr>Schema Change Statements in SQL</vt:lpstr>
      <vt:lpstr>The DROP Command</vt:lpstr>
      <vt:lpstr>The ALTER table command</vt:lpstr>
      <vt:lpstr>Adding and Dropping Constraints</vt:lpstr>
      <vt:lpstr>Dropping Columns, Default Values</vt:lpstr>
      <vt:lpstr>Chapter 10 Outline</vt:lpstr>
      <vt:lpstr>Introduction to SQL Programming Techniques</vt:lpstr>
      <vt:lpstr>Database Programming:  Techniques and Issues</vt:lpstr>
      <vt:lpstr>Approaches to Database Programming</vt:lpstr>
      <vt:lpstr>Impedance Mismatch</vt:lpstr>
      <vt:lpstr>Typical Sequence of Interaction in Database Programming</vt:lpstr>
      <vt:lpstr>Embedded SQL, Dynamic SQL, and SQLJ</vt:lpstr>
      <vt:lpstr>Retrieving Single Tuples with Embedded SQL</vt:lpstr>
      <vt:lpstr>Figure 10.1   C program variables used in the embedded SQL examples E1 and E2.</vt:lpstr>
      <vt:lpstr>Retrieving Single Tuples with Embedded SQL (cont’d.)</vt:lpstr>
      <vt:lpstr>Retrieving Single Tuples with Embedded SQL (cont’d.)</vt:lpstr>
      <vt:lpstr>Retrieving Single Tuples with Embedded SQL (cont’d.)</vt:lpstr>
      <vt:lpstr>Figure 10.2   Program segment E1, a C program segment with embedded SQL.</vt:lpstr>
      <vt:lpstr>Retrieving Multiple Tuples with Embedded SQL Using Cursors</vt:lpstr>
      <vt:lpstr>Figure 10.3   Program segment E2, a C program segment that uses cursors with embedded SQL for update purposes.</vt:lpstr>
      <vt:lpstr>Retrieving Multiple Tuples with Embedded SQL Using Cursors (cont’d.)</vt:lpstr>
      <vt:lpstr>Specifying Queries at Runtime Using Dynamic SQL</vt:lpstr>
      <vt:lpstr>Figure 10.4   Program segment E3, a C program segment that uses dynamic SQL for updating a table.</vt:lpstr>
      <vt:lpstr>SQLJ: Embedding SQL Commands in Java</vt:lpstr>
      <vt:lpstr>Figure 10.5   Importing classes needed for including SQLJ in Java programs in Oracle, and establishing a connection and default context.</vt:lpstr>
      <vt:lpstr>Figure 10.6   Java program variables used in SQLJ examples J1 and J2.</vt:lpstr>
      <vt:lpstr>Figure 10.7   Program segment J1, a Java program segment with SQLJ.</vt:lpstr>
      <vt:lpstr>Retrieving Multiple Tuples in SQLJ Using Iterators</vt:lpstr>
      <vt:lpstr>Figure 10.8   Program segment J2A, a Java program segment that uses a named iterator to print employee information in a particular department.</vt:lpstr>
      <vt:lpstr>Figure 10.9   Program segment J2B, a Java program segment that uses a positional iterator to print employee information in a particular department.</vt:lpstr>
      <vt:lpstr>Database Programming with Function Calls: SQL/CLI &amp; JDBC</vt:lpstr>
      <vt:lpstr>SQL/CLI: Using C as the Host Language</vt:lpstr>
      <vt:lpstr>SQL/CLI: Using C as the Host Language (cont’d.)</vt:lpstr>
      <vt:lpstr>Figure 10.10   Program segment CLI1, a C program segment with SQL/CLI.</vt:lpstr>
      <vt:lpstr>Figure 10.11   Program segment CLI2, a C program segment that uses SQL/CLI for a query with a collection of tuples in its result.</vt:lpstr>
      <vt:lpstr>JDBC: SQL Function Calls for Java Programming</vt:lpstr>
      <vt:lpstr>JDBC: SQL Function Calls for Java Programming</vt:lpstr>
      <vt:lpstr>Figure 10.12   Program segment JDBC1, a Java program segment with JDBC.</vt:lpstr>
      <vt:lpstr>Figure 10.13   Program segment JDBC2, a Java program segment that uses JDBC for a query with a collection of tuples in its result.</vt:lpstr>
      <vt:lpstr>Database Stored Procedures and SQL/PSM</vt:lpstr>
      <vt:lpstr>Database Stored Procedures and Functions (cont’d.)</vt:lpstr>
      <vt:lpstr>Database Stored Procedures and Functions (cont’d.)</vt:lpstr>
      <vt:lpstr>SQL/PSM: Extending SQL for Specifying Persistent Stored Modules</vt:lpstr>
      <vt:lpstr>Figure 10.14   Declaring a function in SQL/PSM.</vt:lpstr>
      <vt:lpstr>Case Statement</vt:lpstr>
      <vt:lpstr>SQL/PSM (cont’d.)</vt:lpstr>
      <vt:lpstr>Repeat Until Example</vt:lpstr>
      <vt:lpstr>Loop Flow Control</vt:lpstr>
      <vt:lpstr>Example:  write a procedure to update ”TOTALSALARY” in the deptsal table</vt:lpstr>
      <vt:lpstr>Simple and Efficient Version</vt:lpstr>
      <vt:lpstr>Alternative Version</vt:lpstr>
      <vt:lpstr>Modify so that procedure updates only department number passed as argument</vt:lpstr>
      <vt:lpstr>Example:  write a function that returns increased salary by amount</vt:lpstr>
      <vt:lpstr>Show and Drop </vt:lpstr>
      <vt:lpstr>Conditions and Handlers</vt:lpstr>
      <vt:lpstr>Comparing the Three Approaches</vt:lpstr>
      <vt:lpstr>Comparing the Three Approaches (cont’d.)</vt:lpstr>
      <vt:lpstr>Summary</vt:lpstr>
      <vt:lpstr>Is it 6:05 yet?</vt:lpstr>
      <vt:lpstr>PowerPoint Presentation</vt:lpstr>
      <vt:lpstr>Cursors</vt:lpstr>
      <vt:lpstr>Cursor1 – Step 1</vt:lpstr>
      <vt:lpstr>Cursor1 – Step 2</vt:lpstr>
      <vt:lpstr>Cursor1 – Step 3</vt:lpstr>
      <vt:lpstr>Cursor2 – Step 1</vt:lpstr>
      <vt:lpstr>Cursor2 – Step 2</vt:lpstr>
      <vt:lpstr>Q5.sql</vt:lpstr>
      <vt:lpstr>Implicit &amp; Explicit Cursors</vt:lpstr>
      <vt:lpstr>Changing column values in a trigger</vt:lpstr>
      <vt:lpstr>Viewing Your Triggers</vt:lpstr>
      <vt:lpstr>Viewing Your Triggers (Continued)</vt:lpstr>
      <vt:lpstr>Dynamic SQL - Step 1</vt:lpstr>
      <vt:lpstr>Q9.sql</vt:lpstr>
      <vt:lpstr>Dynamic SQL</vt:lpstr>
      <vt:lpstr>Last thing: Configuration Management</vt:lpstr>
      <vt:lpstr>Additional Resources</vt:lpstr>
      <vt:lpstr>Review Deliverables (6:15 – 6:20)</vt:lpstr>
    </vt:vector>
  </TitlesOfParts>
  <Manager/>
  <Company>©2007 Pearson Addison-Wesley. All rights reserved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subject>Data Modeling Using the Entity-Relationship (ER) Model</dc:subject>
  <dc:creator>Elmasri/Navathe</dc:creator>
  <cp:keywords/>
  <dc:description/>
  <cp:lastModifiedBy>Zantout; Rached N.</cp:lastModifiedBy>
  <cp:revision>129</cp:revision>
  <cp:lastPrinted>2001-11-04T00:51:13Z</cp:lastPrinted>
  <dcterms:created xsi:type="dcterms:W3CDTF">2005-02-25T19:46:41Z</dcterms:created>
  <dcterms:modified xsi:type="dcterms:W3CDTF">2026-02-27T07:04:02Z</dcterms:modified>
  <cp:category/>
</cp:coreProperties>
</file>