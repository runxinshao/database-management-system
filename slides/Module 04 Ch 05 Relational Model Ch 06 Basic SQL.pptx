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2"/>
  </p:notesMasterIdLst>
  <p:handoutMasterIdLst>
    <p:handoutMasterId r:id="rId113"/>
  </p:handoutMasterIdLst>
  <p:sldIdLst>
    <p:sldId id="256" r:id="rId2"/>
    <p:sldId id="311" r:id="rId3"/>
    <p:sldId id="376" r:id="rId4"/>
    <p:sldId id="326" r:id="rId5"/>
    <p:sldId id="437" r:id="rId6"/>
    <p:sldId id="438" r:id="rId7"/>
    <p:sldId id="439" r:id="rId8"/>
    <p:sldId id="440" r:id="rId9"/>
    <p:sldId id="359" r:id="rId10"/>
    <p:sldId id="441" r:id="rId11"/>
    <p:sldId id="331" r:id="rId12"/>
    <p:sldId id="442" r:id="rId13"/>
    <p:sldId id="443" r:id="rId14"/>
    <p:sldId id="353" r:id="rId15"/>
    <p:sldId id="444" r:id="rId16"/>
    <p:sldId id="335" r:id="rId17"/>
    <p:sldId id="336" r:id="rId18"/>
    <p:sldId id="337" r:id="rId19"/>
    <p:sldId id="445" r:id="rId20"/>
    <p:sldId id="338" r:id="rId21"/>
    <p:sldId id="446" r:id="rId22"/>
    <p:sldId id="447" r:id="rId23"/>
    <p:sldId id="340" r:id="rId24"/>
    <p:sldId id="448" r:id="rId25"/>
    <p:sldId id="449" r:id="rId26"/>
    <p:sldId id="362" r:id="rId27"/>
    <p:sldId id="342" r:id="rId28"/>
    <p:sldId id="343" r:id="rId29"/>
    <p:sldId id="363" r:id="rId30"/>
    <p:sldId id="450" r:id="rId31"/>
    <p:sldId id="451" r:id="rId32"/>
    <p:sldId id="348" r:id="rId33"/>
    <p:sldId id="356" r:id="rId34"/>
    <p:sldId id="344" r:id="rId35"/>
    <p:sldId id="452" r:id="rId36"/>
    <p:sldId id="345" r:id="rId37"/>
    <p:sldId id="453" r:id="rId38"/>
    <p:sldId id="364" r:id="rId39"/>
    <p:sldId id="346" r:id="rId40"/>
    <p:sldId id="350" r:id="rId41"/>
    <p:sldId id="351" r:id="rId42"/>
    <p:sldId id="454" r:id="rId43"/>
    <p:sldId id="455" r:id="rId44"/>
    <p:sldId id="456" r:id="rId45"/>
    <p:sldId id="457" r:id="rId46"/>
    <p:sldId id="323" r:id="rId47"/>
    <p:sldId id="352" r:id="rId48"/>
    <p:sldId id="513" r:id="rId49"/>
    <p:sldId id="263" r:id="rId50"/>
    <p:sldId id="458" r:id="rId51"/>
    <p:sldId id="459" r:id="rId52"/>
    <p:sldId id="460" r:id="rId53"/>
    <p:sldId id="461" r:id="rId54"/>
    <p:sldId id="462" r:id="rId55"/>
    <p:sldId id="463" r:id="rId56"/>
    <p:sldId id="464" r:id="rId57"/>
    <p:sldId id="465" r:id="rId58"/>
    <p:sldId id="467" r:id="rId59"/>
    <p:sldId id="470" r:id="rId60"/>
    <p:sldId id="514" r:id="rId61"/>
    <p:sldId id="515" r:id="rId62"/>
    <p:sldId id="517" r:id="rId63"/>
    <p:sldId id="518" r:id="rId64"/>
    <p:sldId id="519" r:id="rId65"/>
    <p:sldId id="516" r:id="rId66"/>
    <p:sldId id="471" r:id="rId67"/>
    <p:sldId id="468" r:id="rId68"/>
    <p:sldId id="469" r:id="rId69"/>
    <p:sldId id="472" r:id="rId70"/>
    <p:sldId id="473" r:id="rId71"/>
    <p:sldId id="474" r:id="rId72"/>
    <p:sldId id="475" r:id="rId73"/>
    <p:sldId id="476" r:id="rId74"/>
    <p:sldId id="477" r:id="rId75"/>
    <p:sldId id="478" r:id="rId76"/>
    <p:sldId id="479" r:id="rId77"/>
    <p:sldId id="480" r:id="rId78"/>
    <p:sldId id="481" r:id="rId79"/>
    <p:sldId id="482" r:id="rId80"/>
    <p:sldId id="501" r:id="rId81"/>
    <p:sldId id="502" r:id="rId82"/>
    <p:sldId id="503" r:id="rId83"/>
    <p:sldId id="504" r:id="rId84"/>
    <p:sldId id="505" r:id="rId85"/>
    <p:sldId id="507" r:id="rId86"/>
    <p:sldId id="483" r:id="rId87"/>
    <p:sldId id="498" r:id="rId88"/>
    <p:sldId id="484" r:id="rId89"/>
    <p:sldId id="485" r:id="rId90"/>
    <p:sldId id="486" r:id="rId91"/>
    <p:sldId id="487" r:id="rId92"/>
    <p:sldId id="488" r:id="rId93"/>
    <p:sldId id="499" r:id="rId94"/>
    <p:sldId id="489" r:id="rId95"/>
    <p:sldId id="490" r:id="rId96"/>
    <p:sldId id="491" r:id="rId97"/>
    <p:sldId id="508" r:id="rId98"/>
    <p:sldId id="492" r:id="rId99"/>
    <p:sldId id="500" r:id="rId100"/>
    <p:sldId id="509" r:id="rId101"/>
    <p:sldId id="493" r:id="rId102"/>
    <p:sldId id="510" r:id="rId103"/>
    <p:sldId id="511" r:id="rId104"/>
    <p:sldId id="512" r:id="rId105"/>
    <p:sldId id="495" r:id="rId106"/>
    <p:sldId id="496" r:id="rId107"/>
    <p:sldId id="497" r:id="rId108"/>
    <p:sldId id="397" r:id="rId109"/>
    <p:sldId id="398" r:id="rId110"/>
    <p:sldId id="400" r:id="rId111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7228"/>
    <a:srgbClr val="6E792B"/>
    <a:srgbClr val="76822E"/>
    <a:srgbClr val="4F571F"/>
    <a:srgbClr val="6F6A07"/>
    <a:srgbClr val="827C08"/>
    <a:srgbClr val="A29B0A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 showGuides="1">
      <p:cViewPr varScale="1">
        <p:scale>
          <a:sx n="64" d="100"/>
          <a:sy n="64" d="100"/>
        </p:scale>
        <p:origin x="1286" y="16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6.xml"/><Relationship Id="rId1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16A68092-CF13-DD04-3D17-07CE27B4E5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52E0C6D-31C3-E9E4-7D6D-61718A9E9A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9AB2CCB2-2848-2DB9-5FDA-6442AAF5A21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889D01F6-AE10-FCD9-1839-A51B96CCAC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351AF058-EF06-4E86-B0CF-8E829C7372B9}" type="slidenum">
              <a:rPr lang="en-CA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F772D29-12EB-84F0-66DC-EA0075AC256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F496E7B8-7C22-3AA7-CAE5-EB1718AED59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42DB1747-909E-D3B6-5B2B-BE2FF9DA81C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7B87163E-F5A3-06A0-7001-289C110C585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6A292DB2-D47F-3C03-C5A9-0430AFABBD3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87DEEAA5-903C-BBC5-442B-0442D4E1E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fld id="{DDED5556-99AE-43C9-B480-E20698757697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0380CE66-CB6E-6921-90DB-A35D4A9B0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313194B1-6790-7065-9F9E-33FDCAE38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AA8A171-3CA9-1B3F-5961-A6981DFAC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64D882-263C-4AA1-9386-95EEA7E0C145}" type="slidenum">
              <a:rPr lang="en-CA" altLang="en-US" sz="1200">
                <a:latin typeface="Tahoma" panose="020B0604030504040204" pitchFamily="34" charset="0"/>
              </a:rPr>
              <a:pPr/>
              <a:t>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EDA22423-0197-F1E6-6DD8-AE705835F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E584DD5-D362-448D-ACC9-38C125E84388}" type="slidenum">
              <a:rPr lang="en-CA" altLang="en-US" sz="1200">
                <a:latin typeface="Tahoma" panose="020B0604030504040204" pitchFamily="34" charset="0"/>
              </a:rPr>
              <a:pPr/>
              <a:t>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0482" name="Rectangle 1026">
            <a:extLst>
              <a:ext uri="{FF2B5EF4-FFF2-40B4-BE49-F238E27FC236}">
                <a16:creationId xmlns:a16="http://schemas.microsoft.com/office/drawing/2014/main" id="{3D6451AD-1996-AAA2-F710-A149D71E82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1027">
            <a:extLst>
              <a:ext uri="{FF2B5EF4-FFF2-40B4-BE49-F238E27FC236}">
                <a16:creationId xmlns:a16="http://schemas.microsoft.com/office/drawing/2014/main" id="{CF6A46F8-3B47-7D11-391F-C8ACF444F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3E1204CD-A9C6-017D-A211-D0EFEA1C41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62E8017-7C83-4C19-816C-9EA386A44C88}" type="slidenum">
              <a:rPr lang="en-CA" altLang="en-US" sz="1200">
                <a:latin typeface="Tahoma" panose="020B0604030504040204" pitchFamily="34" charset="0"/>
              </a:rPr>
              <a:pPr/>
              <a:t>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FB4C1141-4B40-F784-5BDC-9FE989ADA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513E04B-CBB4-169B-6FB9-52851F25AF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31BB8DFD-F63D-7EC8-EF65-2A0A613743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2A79BFB-6AFF-4E38-8603-09832DCFEB1B}" type="slidenum">
              <a:rPr lang="en-CA" altLang="en-US" sz="1200">
                <a:latin typeface="Tahoma" panose="020B0604030504040204" pitchFamily="34" charset="0"/>
              </a:rPr>
              <a:pPr/>
              <a:t>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4578" name="Rectangle 1026">
            <a:extLst>
              <a:ext uri="{FF2B5EF4-FFF2-40B4-BE49-F238E27FC236}">
                <a16:creationId xmlns:a16="http://schemas.microsoft.com/office/drawing/2014/main" id="{4C2E34D1-46CB-25DF-FEAF-D6E8E75ACD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1027">
            <a:extLst>
              <a:ext uri="{FF2B5EF4-FFF2-40B4-BE49-F238E27FC236}">
                <a16:creationId xmlns:a16="http://schemas.microsoft.com/office/drawing/2014/main" id="{04247774-9CE9-8B0C-A081-728FAEF1FA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9BC14BA0-9C38-19EE-C498-CF32CBB198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87FC9DE-7A91-4CF3-B2A2-5766FA74220B}" type="slidenum">
              <a:rPr lang="en-CA" altLang="en-US" sz="1200">
                <a:latin typeface="Tahoma" panose="020B0604030504040204" pitchFamily="34" charset="0"/>
              </a:rPr>
              <a:pPr/>
              <a:t>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101E92A1-6BB9-DE45-8222-15D2AD3474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1027">
            <a:extLst>
              <a:ext uri="{FF2B5EF4-FFF2-40B4-BE49-F238E27FC236}">
                <a16:creationId xmlns:a16="http://schemas.microsoft.com/office/drawing/2014/main" id="{41FD9DD5-5ADD-E30F-0AC3-CF3206B1D0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16DDE4D3-5E80-3282-89BC-CFC50BA6B7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7DD30DD-BDE7-4D6D-AE4D-F16B9C923F06}" type="slidenum">
              <a:rPr lang="en-CA" altLang="en-US" sz="1200">
                <a:latin typeface="Tahoma" panose="020B0604030504040204" pitchFamily="34" charset="0"/>
              </a:rPr>
              <a:pPr/>
              <a:t>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36581B25-D776-0F74-10B3-456D6136A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EE7E5A7-F1FC-2742-9719-FC42EB28EF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9B8639A3-1421-62CC-D253-B7BCD465FC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349E5A3-333A-468C-99CC-A0EC6BD0BF13}" type="slidenum">
              <a:rPr lang="en-CA" altLang="en-US" sz="1200">
                <a:latin typeface="Tahoma" panose="020B0604030504040204" pitchFamily="34" charset="0"/>
              </a:rPr>
              <a:pPr/>
              <a:t>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EF73DAE-7059-1505-A5A1-9A36033E45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7EB8B24A-DFB8-D2F8-4CE8-A4CBE080E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67285D4B-2EF3-817F-F823-29DB8F600F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3EB14B-F65D-4557-9CB2-5782A8C6B269}" type="slidenum">
              <a:rPr lang="en-CA" altLang="en-US" sz="1200">
                <a:latin typeface="Tahoma" panose="020B0604030504040204" pitchFamily="34" charset="0"/>
              </a:rPr>
              <a:pPr/>
              <a:t>10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2770" name="Rectangle 1026">
            <a:extLst>
              <a:ext uri="{FF2B5EF4-FFF2-40B4-BE49-F238E27FC236}">
                <a16:creationId xmlns:a16="http://schemas.microsoft.com/office/drawing/2014/main" id="{6DDD1FB4-1866-33D9-40B3-E3E3324D0A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1027">
            <a:extLst>
              <a:ext uri="{FF2B5EF4-FFF2-40B4-BE49-F238E27FC236}">
                <a16:creationId xmlns:a16="http://schemas.microsoft.com/office/drawing/2014/main" id="{A83F53EA-A2EB-76B0-7B62-EE3F480CD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52B4F0E5-56F5-039F-539D-FB18B944A0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1EF31A4-BEE1-4FEE-AAF6-403530CB7D59}" type="slidenum">
              <a:rPr lang="en-CA" altLang="en-US" sz="1200">
                <a:latin typeface="Tahoma" panose="020B0604030504040204" pitchFamily="34" charset="0"/>
              </a:rPr>
              <a:pPr/>
              <a:t>11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1F5CE277-86E3-EC53-0301-32A579C340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EA4923E-E8CD-C91B-CDC9-B6008E1B7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CCA04C95-7470-C2C8-81DD-06BEC7D550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EDA46B8-78CF-4523-A634-6F4F00742527}" type="slidenum">
              <a:rPr lang="en-CA" altLang="en-US" sz="1200">
                <a:latin typeface="Tahoma" panose="020B0604030504040204" pitchFamily="34" charset="0"/>
              </a:rPr>
              <a:pPr/>
              <a:t>12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6866" name="Rectangle 1026">
            <a:extLst>
              <a:ext uri="{FF2B5EF4-FFF2-40B4-BE49-F238E27FC236}">
                <a16:creationId xmlns:a16="http://schemas.microsoft.com/office/drawing/2014/main" id="{51197B91-3C95-6EB9-F5CD-9EE5607AF4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1027">
            <a:extLst>
              <a:ext uri="{FF2B5EF4-FFF2-40B4-BE49-F238E27FC236}">
                <a16:creationId xmlns:a16="http://schemas.microsoft.com/office/drawing/2014/main" id="{6A53E72E-14AF-E516-2BE9-814860017F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6977138F-4D8F-93CE-B306-6C98C92608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70B40F7-31E9-44EE-AC64-CFD882E4581E}" type="slidenum">
              <a:rPr lang="en-CA" altLang="en-US" sz="1200">
                <a:latin typeface="Tahoma" panose="020B0604030504040204" pitchFamily="34" charset="0"/>
              </a:rPr>
              <a:pPr/>
              <a:t>13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85372C6-D637-E7FC-4096-112F73E018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2431DAE-5B3C-AFE6-F107-CC7A4DE9C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A5C904E8-6C11-434B-0446-6A9CF6B149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DB46687-CED2-438A-A03F-618387A2CA7D}" type="slidenum">
              <a:rPr lang="en-CA" altLang="en-US" sz="1200">
                <a:latin typeface="Tahoma" panose="020B0604030504040204" pitchFamily="34" charset="0"/>
              </a:rPr>
              <a:pPr/>
              <a:t>14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0962" name="Rectangle 1026">
            <a:extLst>
              <a:ext uri="{FF2B5EF4-FFF2-40B4-BE49-F238E27FC236}">
                <a16:creationId xmlns:a16="http://schemas.microsoft.com/office/drawing/2014/main" id="{6D989B4D-C26D-20EC-E972-75032FBA88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1027">
            <a:extLst>
              <a:ext uri="{FF2B5EF4-FFF2-40B4-BE49-F238E27FC236}">
                <a16:creationId xmlns:a16="http://schemas.microsoft.com/office/drawing/2014/main" id="{EC78DF94-B11D-CC95-BD22-2F423BA1D1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88963A0E-CA24-577A-7E9B-23C443CD09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249630F-E28A-444F-BD6A-5900D94C60D9}" type="slidenum">
              <a:rPr lang="en-CA" altLang="en-US" sz="1200">
                <a:latin typeface="Tahoma" panose="020B0604030504040204" pitchFamily="34" charset="0"/>
              </a:rPr>
              <a:pPr/>
              <a:t>15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CB2AA536-1559-D990-CA8E-EEF11F56E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C114D46-4B2A-7613-1ABC-FE877E8A7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30241492-B39C-BD7B-ED37-00B1B949FF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D8D5A43-F6EB-42CB-963C-7052FAB55933}" type="slidenum">
              <a:rPr lang="en-CA" altLang="en-US" sz="1200">
                <a:latin typeface="Tahoma" panose="020B0604030504040204" pitchFamily="34" charset="0"/>
              </a:rPr>
              <a:pPr/>
              <a:t>16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22B40DAA-F01B-9D39-2AEB-4A0EFBE828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1027">
            <a:extLst>
              <a:ext uri="{FF2B5EF4-FFF2-40B4-BE49-F238E27FC236}">
                <a16:creationId xmlns:a16="http://schemas.microsoft.com/office/drawing/2014/main" id="{6F06C216-A8FD-9E0E-B511-E62C35D90A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C79A3797-0345-899D-149D-4668CB20A2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4C396A2-2DF3-4088-9C83-298AB1869EF6}" type="slidenum">
              <a:rPr lang="en-CA" altLang="en-US" sz="1200">
                <a:latin typeface="Tahoma" panose="020B0604030504040204" pitchFamily="34" charset="0"/>
              </a:rPr>
              <a:pPr/>
              <a:t>17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C5F39FCE-B8C9-CA8E-9980-BBF167C261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5A67D3F-8CAE-F547-F90C-126DBDC4F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B520FDA8-66B3-03E6-C000-D51DCFB562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7794B92-BA2A-4490-8FF7-A8C8922010EC}" type="slidenum">
              <a:rPr lang="en-CA" altLang="en-US" sz="1200">
                <a:latin typeface="Tahoma" panose="020B0604030504040204" pitchFamily="34" charset="0"/>
              </a:rPr>
              <a:pPr/>
              <a:t>18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49154" name="Rectangle 1026">
            <a:extLst>
              <a:ext uri="{FF2B5EF4-FFF2-40B4-BE49-F238E27FC236}">
                <a16:creationId xmlns:a16="http://schemas.microsoft.com/office/drawing/2014/main" id="{EF972648-234E-4A9A-3C00-062EB59014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1027">
            <a:extLst>
              <a:ext uri="{FF2B5EF4-FFF2-40B4-BE49-F238E27FC236}">
                <a16:creationId xmlns:a16="http://schemas.microsoft.com/office/drawing/2014/main" id="{A0535716-99E1-983F-F854-431FBC73DC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FA9CCC07-A1D1-C410-184C-9FD0DD3927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136B12E-DC6D-4C34-B5F6-DDE8852C5E79}" type="slidenum">
              <a:rPr lang="en-CA" altLang="en-US" sz="1200">
                <a:latin typeface="Tahoma" panose="020B0604030504040204" pitchFamily="34" charset="0"/>
              </a:rPr>
              <a:pPr/>
              <a:t>19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ABE05C91-F3B8-066C-314E-37BA34D863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3EBB5F03-E3F7-E995-73E5-0CFB46918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09367742-90C4-BBBE-D053-73A506AA88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1C6946E-7AB0-4C93-BC42-ACA890119992}" type="slidenum">
              <a:rPr lang="en-CA" altLang="en-US" sz="1200">
                <a:latin typeface="Tahoma" panose="020B0604030504040204" pitchFamily="34" charset="0"/>
              </a:rPr>
              <a:pPr/>
              <a:t>20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53250" name="Rectangle 1026">
            <a:extLst>
              <a:ext uri="{FF2B5EF4-FFF2-40B4-BE49-F238E27FC236}">
                <a16:creationId xmlns:a16="http://schemas.microsoft.com/office/drawing/2014/main" id="{985F26B5-6106-8604-FDDA-3F5EA469EE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1027">
            <a:extLst>
              <a:ext uri="{FF2B5EF4-FFF2-40B4-BE49-F238E27FC236}">
                <a16:creationId xmlns:a16="http://schemas.microsoft.com/office/drawing/2014/main" id="{9714446F-266F-0935-9DDA-716F0C946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616369BA-D5EF-90CD-6DA4-B626BFBF97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A7DD0D-A584-429C-95CF-E2344371D9B5}" type="slidenum">
              <a:rPr lang="en-CA" altLang="en-US" sz="1200">
                <a:latin typeface="Tahoma" panose="020B0604030504040204" pitchFamily="34" charset="0"/>
              </a:rPr>
              <a:pPr/>
              <a:t>21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CFB312B7-7F37-906F-96D3-AFAAA2FC5A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C7C2957-5629-4DD0-A68B-A1B77A2ADF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01966314-9A70-FD99-E004-305613A775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E00AAEC-4E3E-4538-AF0A-4198C5DB1778}" type="slidenum">
              <a:rPr lang="en-CA" altLang="en-US" sz="1200">
                <a:latin typeface="Tahoma" panose="020B0604030504040204" pitchFamily="34" charset="0"/>
              </a:rPr>
              <a:pPr/>
              <a:t>23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58370" name="Rectangle 1026">
            <a:extLst>
              <a:ext uri="{FF2B5EF4-FFF2-40B4-BE49-F238E27FC236}">
                <a16:creationId xmlns:a16="http://schemas.microsoft.com/office/drawing/2014/main" id="{AB941ACF-D999-5F6F-CD48-4F60A48FF4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1027">
            <a:extLst>
              <a:ext uri="{FF2B5EF4-FFF2-40B4-BE49-F238E27FC236}">
                <a16:creationId xmlns:a16="http://schemas.microsoft.com/office/drawing/2014/main" id="{2C0BD64F-E600-B81E-45F4-A11C32840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37510778-478C-972B-19F8-24F48EC99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9E24B2E-EFDD-416B-A4D8-2180565A3967}" type="slidenum">
              <a:rPr lang="en-CA" altLang="en-US" sz="1200">
                <a:latin typeface="Tahoma" panose="020B0604030504040204" pitchFamily="34" charset="0"/>
              </a:rPr>
              <a:pPr/>
              <a:t>24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E1CB4101-85A7-6F7E-669C-3EC3DFF2A2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EB26EAD-28EE-3A00-913A-3EC63EE35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C4A9C218-EDD4-205C-931D-F30A99D64A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F695CD1-81DD-46C8-B398-EF29FA4CC342}" type="slidenum">
              <a:rPr lang="en-CA" altLang="en-US" sz="1200">
                <a:latin typeface="Tahoma" panose="020B0604030504040204" pitchFamily="34" charset="0"/>
              </a:rPr>
              <a:pPr/>
              <a:t>25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2466" name="Rectangle 1026">
            <a:extLst>
              <a:ext uri="{FF2B5EF4-FFF2-40B4-BE49-F238E27FC236}">
                <a16:creationId xmlns:a16="http://schemas.microsoft.com/office/drawing/2014/main" id="{4BB7B2B8-F5D8-9F0C-E792-71DD277C57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1027">
            <a:extLst>
              <a:ext uri="{FF2B5EF4-FFF2-40B4-BE49-F238E27FC236}">
                <a16:creationId xmlns:a16="http://schemas.microsoft.com/office/drawing/2014/main" id="{15783AA0-87AE-E51F-B38A-E3FDF365B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19BCDCF6-18FF-9117-EBC0-3206D1B20D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C49AFC8-92FF-4F3C-AEDB-00643C5ADA21}" type="slidenum">
              <a:rPr lang="en-CA" altLang="en-US" sz="1200">
                <a:latin typeface="Tahoma" panose="020B0604030504040204" pitchFamily="34" charset="0"/>
              </a:rPr>
              <a:pPr/>
              <a:t>26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C2705C76-3B48-65F7-8D80-B69637BF2A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190FDD90-9244-4B9D-4E1E-BBC5BFC2E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AA39076A-9751-6BC5-5E08-6105F0A071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53AB82B-B6C6-4E1F-9F09-002B7400D292}" type="slidenum">
              <a:rPr lang="en-CA" altLang="en-US" sz="1200">
                <a:latin typeface="Tahoma" panose="020B0604030504040204" pitchFamily="34" charset="0"/>
              </a:rPr>
              <a:pPr/>
              <a:t>27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6562" name="Rectangle 1026">
            <a:extLst>
              <a:ext uri="{FF2B5EF4-FFF2-40B4-BE49-F238E27FC236}">
                <a16:creationId xmlns:a16="http://schemas.microsoft.com/office/drawing/2014/main" id="{BBE1DA5F-A4F9-17C3-4944-41BC170A16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1027">
            <a:extLst>
              <a:ext uri="{FF2B5EF4-FFF2-40B4-BE49-F238E27FC236}">
                <a16:creationId xmlns:a16="http://schemas.microsoft.com/office/drawing/2014/main" id="{A1EAE956-184A-7011-1AAB-C16363FDF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F930CED-8DE0-7F08-89E0-AC67A6AE57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24ED2F9-E032-4E6F-AE63-A74119571A56}" type="slidenum">
              <a:rPr lang="en-CA" altLang="en-US" sz="1200">
                <a:latin typeface="Tahoma" panose="020B0604030504040204" pitchFamily="34" charset="0"/>
              </a:rPr>
              <a:pPr/>
              <a:t>28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997BF7EB-39CC-7106-2421-9E9A6D7FF0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BB4D765B-AE17-956A-930B-37F90BF91B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A400745C-81B2-C0EA-DCEA-DF2F9307F0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100707-019B-4749-9200-F53618DB3DAA}" type="slidenum">
              <a:rPr lang="en-CA" altLang="en-US" sz="1200">
                <a:latin typeface="Tahoma" panose="020B0604030504040204" pitchFamily="34" charset="0"/>
              </a:rPr>
              <a:pPr/>
              <a:t>29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DD0CC1B6-64E5-9AF8-B3B3-DB897E70EC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78F74C1A-2782-5ABD-886C-9B26F37409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ECF64DD6-A586-0014-F8D7-B265B20AE8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B960E65-ADBE-40B4-88B7-1AB5669517C5}" type="slidenum">
              <a:rPr lang="en-CA" altLang="en-US" sz="1200">
                <a:latin typeface="Tahoma" panose="020B0604030504040204" pitchFamily="34" charset="0"/>
              </a:rPr>
              <a:pPr/>
              <a:t>32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BAA04B3F-7CD7-C5F4-C0A2-216882C389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6F531D0-EEA0-88AC-FD9F-25D9CDC0A4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6C325531-3326-C643-AA61-4B80E16115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77F979D-9D93-4A7D-9C20-802FE3F91A98}" type="slidenum">
              <a:rPr lang="en-CA" altLang="en-US" sz="1200">
                <a:latin typeface="Tahoma" panose="020B0604030504040204" pitchFamily="34" charset="0"/>
              </a:rPr>
              <a:pPr/>
              <a:t>33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451DF784-D8F5-C93D-453B-5C58840877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310BB4D4-E27E-14EA-8C03-4327EFA75D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80E273B7-13C5-ED3D-6C30-7F1EF2C469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69BAF2E-D946-469A-BD34-AD4357F97C71}" type="slidenum">
              <a:rPr lang="en-CA" altLang="en-US" sz="1200">
                <a:latin typeface="Tahoma" panose="020B0604030504040204" pitchFamily="34" charset="0"/>
              </a:rPr>
              <a:pPr/>
              <a:t>34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B10A4AF9-3654-1840-FC3D-B83E21B701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03731330-1DD6-CA3B-2B2A-92FDAF8CC1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2BEA2779-CF2E-82DE-2A24-A51E334139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B81592E-140A-4FCF-A377-E77401074451}" type="slidenum">
              <a:rPr lang="en-CA" altLang="en-US" sz="1200">
                <a:latin typeface="Tahoma" panose="020B0604030504040204" pitchFamily="34" charset="0"/>
              </a:rPr>
              <a:pPr/>
              <a:t>35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8168A6C5-0400-20C3-743F-CE341FA4F4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7C47FD97-5FE3-3739-9CEE-86344092E1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B243F24C-C917-5504-86EF-470C76B95E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10C539C-997B-418F-B284-3DDA10200CE3}" type="slidenum">
              <a:rPr lang="en-CA" altLang="en-US" sz="1200">
                <a:latin typeface="Tahoma" panose="020B0604030504040204" pitchFamily="34" charset="0"/>
              </a:rPr>
              <a:pPr/>
              <a:t>36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2056921F-52A6-F475-0C38-29D5A03B1E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8324FD36-AB68-33C7-D172-7F9E3F5D8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3F029155-8938-6B08-3EA7-C088E7F65A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049C061-27F5-4B5A-90E2-4995CCD96869}" type="slidenum">
              <a:rPr lang="en-CA" altLang="en-US" sz="1200">
                <a:latin typeface="Tahoma" panose="020B0604030504040204" pitchFamily="34" charset="0"/>
              </a:rPr>
              <a:pPr/>
              <a:t>37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95E0A69E-82A7-6ECB-4BC6-A5A13C101D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029DE80-8A2C-7779-ABA6-AA0EA24C35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25EB3048-176B-CE61-20AF-42DFE4ECB2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A6F9CD-98F7-4720-B259-0715DE35926A}" type="slidenum">
              <a:rPr lang="en-CA" altLang="en-US" sz="1200">
                <a:latin typeface="Tahoma" panose="020B0604030504040204" pitchFamily="34" charset="0"/>
              </a:rPr>
              <a:pPr/>
              <a:t>38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84925170-EAEC-FB82-77B8-FC102CB763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363FC4B-72A0-EA62-3560-0A23E231F7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F1CFC14B-1508-8AB0-1528-9CAD4AC86A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FC1B40C-F780-4BFC-A1B7-BB8364DD36BC}" type="slidenum">
              <a:rPr lang="en-CA" altLang="en-US" sz="1200">
                <a:latin typeface="Tahoma" panose="020B0604030504040204" pitchFamily="34" charset="0"/>
              </a:rPr>
              <a:pPr/>
              <a:t>39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24305EDC-61A8-1DD7-6925-A02FF36263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DACF298-E405-F2E9-77DD-8157AF4736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206F5307-5932-6020-49E6-C4354106D2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70D85C-31BB-473A-B0B5-77B54D2A4167}" type="slidenum">
              <a:rPr lang="en-CA" altLang="en-US" sz="1200">
                <a:latin typeface="Tahoma" panose="020B0604030504040204" pitchFamily="34" charset="0"/>
              </a:rPr>
              <a:pPr/>
              <a:t>40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EC975B82-C98D-4790-42BA-12FB2078B7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F65AD683-35B4-5B56-D604-B2DC070DD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328FDE7C-E413-4DEE-5371-76BB3D48EF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107C74-8FCF-48E0-A88D-95640283FE98}" type="slidenum">
              <a:rPr lang="en-CA" altLang="en-US" sz="1200">
                <a:latin typeface="Tahoma" panose="020B0604030504040204" pitchFamily="34" charset="0"/>
              </a:rPr>
              <a:pPr/>
              <a:t>41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184D465C-B670-FD0F-FF52-F564CEBDBF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C5E55001-F63D-1FAF-BCDD-74376FAFA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>
            <a:extLst>
              <a:ext uri="{FF2B5EF4-FFF2-40B4-BE49-F238E27FC236}">
                <a16:creationId xmlns:a16="http://schemas.microsoft.com/office/drawing/2014/main" id="{206B7540-CCC1-F33A-E67E-FAFE3141BF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0C63224-6E9F-4741-9ABA-B0A97357A8AF}" type="slidenum">
              <a:rPr lang="en-CA" altLang="en-US" sz="1200">
                <a:latin typeface="Tahoma" panose="020B0604030504040204" pitchFamily="34" charset="0"/>
              </a:rPr>
              <a:pPr/>
              <a:t>45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E97B4C22-A8D7-277C-4D36-CA7FDAE3A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588B2638-E580-845B-C18A-7E2C50295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>
            <a:extLst>
              <a:ext uri="{FF2B5EF4-FFF2-40B4-BE49-F238E27FC236}">
                <a16:creationId xmlns:a16="http://schemas.microsoft.com/office/drawing/2014/main" id="{65DC849F-E93E-F6DF-6EC2-E6960D0930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C027A0-25E5-4AE7-9FEE-3548C3B179D4}" type="slidenum">
              <a:rPr lang="en-CA" altLang="en-US" sz="1200">
                <a:latin typeface="Tahoma" panose="020B0604030504040204" pitchFamily="34" charset="0"/>
              </a:rPr>
              <a:pPr/>
              <a:t>47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95104B67-DFF2-CB27-4ACE-47901FB7DB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24BCE8C2-C368-7351-DB4A-0FF2EC545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E70B21E0-C974-22C6-2740-24786D1267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966EA43-45AC-A8E5-8AB1-A4FD122F5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3914EA00-BFC9-F3E7-C3BF-9E772BC24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2FDB67-521A-4A7D-ADAB-520D6B5A7138}" type="slidenum">
              <a:rPr lang="en-CA" altLang="en-US" sz="1200">
                <a:latin typeface="Tahoma" panose="020B0604030504040204" pitchFamily="34" charset="0"/>
              </a:rPr>
              <a:pPr/>
              <a:t>50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>
            <a:extLst>
              <a:ext uri="{FF2B5EF4-FFF2-40B4-BE49-F238E27FC236}">
                <a16:creationId xmlns:a16="http://schemas.microsoft.com/office/drawing/2014/main" id="{5CFCF2C0-FBD4-99CA-12EF-026ED4F4B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7176036-AE75-6D4A-DFF9-768927CD448B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3913C1F-C51A-7B47-2F8C-2F788BBE1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9462903-CCE8-C88A-1E50-06B92A51D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3913C1F-C51A-7B47-2F8C-2F788BBE1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9462903-CCE8-C88A-1E50-06B92A51D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2077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3913C1F-C51A-7B47-2F8C-2F788BBE1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9462903-CCE8-C88A-1E50-06B92A51D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8151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FE8B325-0FA7-7776-F44B-BECD04835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6F3FC55-7CBD-E164-3108-717195752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48172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FE8B325-0FA7-7776-F44B-BECD04835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6F3FC55-7CBD-E164-3108-717195752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684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FE8B325-0FA7-7776-F44B-BECD04835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6F3FC55-7CBD-E164-3108-717195752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5572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03913C1F-C51A-7B47-2F8C-2F788BBE1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9462903-CCE8-C88A-1E50-06B92A51D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63988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FE8B325-0FA7-7776-F44B-BECD04835E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6F3FC55-7CBD-E164-3108-717195752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81FAFDFF-5709-16EE-6ACE-5E8DDE454F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0A4BA60-9AE2-464E-BF7C-CCBEEB251046}" type="slidenum">
              <a:rPr lang="en-CA" altLang="en-US" sz="1200">
                <a:latin typeface="Tahoma" panose="020B0604030504040204" pitchFamily="34" charset="0"/>
              </a:rPr>
              <a:pPr/>
              <a:t>97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F27C2D84-FCC7-F0B9-2732-EA551AFCBE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E0E8950-2EBA-B4BB-7B40-416F0D592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E3F39AA1-26E3-105D-2035-4C90C6A799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937120-6A38-406A-8189-461F0FACD09E}" type="slidenum">
              <a:rPr lang="en-CA" altLang="en-US" sz="1200">
                <a:latin typeface="Tahoma" panose="020B0604030504040204" pitchFamily="34" charset="0"/>
              </a:rPr>
              <a:pPr/>
              <a:t>100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14C60BDB-C341-C265-99BA-4A8F493878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3AD53162-0D9C-E1D9-7755-45AE1F2DC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CE818E3D-F700-A699-4F59-0033C6749B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426A51-797B-46FB-8A31-B42827AE13A7}" type="slidenum">
              <a:rPr lang="en-CA" altLang="en-US" sz="1200">
                <a:latin typeface="Tahoma" panose="020B0604030504040204" pitchFamily="34" charset="0"/>
              </a:rPr>
              <a:pPr/>
              <a:t>102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D4F8E89-463B-D6A7-852A-429CFD2198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705598A7-FAC3-CF21-B271-171FB145FD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36D6B6ED-8275-D319-3C6B-7602118FF0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E3A2BDA-92F1-493F-8D96-068AD4338DE3}" type="slidenum">
              <a:rPr lang="en-CA" altLang="en-US" sz="1200">
                <a:latin typeface="Tahoma" panose="020B0604030504040204" pitchFamily="34" charset="0"/>
              </a:rPr>
              <a:pPr/>
              <a:t>103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21239CEF-7843-711D-EC3F-B4C25C38FA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B08AB7C0-11CB-72E8-27DD-9FEBD6C4B2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3D90184F-F168-E41B-557A-A340438624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9700FCB-63D5-4CF5-9F09-60B0BC889436}" type="slidenum">
              <a:rPr lang="en-CA" altLang="en-US" sz="1200">
                <a:latin typeface="Tahoma" panose="020B0604030504040204" pitchFamily="34" charset="0"/>
              </a:rPr>
              <a:pPr/>
              <a:t>104</a:t>
            </a:fld>
            <a:endParaRPr lang="en-CA" altLang="en-US" sz="1200">
              <a:latin typeface="Tahoma" panose="020B060403050404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5F7C0C2F-594A-9840-1211-DC1224D269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4D879769-A8CA-AC56-B857-2855E7254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>
            <a:extLst>
              <a:ext uri="{FF2B5EF4-FFF2-40B4-BE49-F238E27FC236}">
                <a16:creationId xmlns:a16="http://schemas.microsoft.com/office/drawing/2014/main" id="{4C16084C-5CC1-2B57-15F9-52AE0A91E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3" name="Rectangle 47">
            <a:extLst>
              <a:ext uri="{FF2B5EF4-FFF2-40B4-BE49-F238E27FC236}">
                <a16:creationId xmlns:a16="http://schemas.microsoft.com/office/drawing/2014/main" id="{9ECFA629-4CF7-BBED-A846-908F6C27A2DD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sp>
        <p:nvSpPr>
          <p:cNvPr id="4" name="Rectangle 48">
            <a:extLst>
              <a:ext uri="{FF2B5EF4-FFF2-40B4-BE49-F238E27FC236}">
                <a16:creationId xmlns:a16="http://schemas.microsoft.com/office/drawing/2014/main" id="{D087B386-0FDB-CD27-A5D4-B1802875C0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ea typeface="+mn-ea"/>
            </a:endParaRPr>
          </a:p>
        </p:txBody>
      </p:sp>
      <p:pic>
        <p:nvPicPr>
          <p:cNvPr id="5" name="Picture 35" descr="awtri_4c UPDATE_color">
            <a:extLst>
              <a:ext uri="{FF2B5EF4-FFF2-40B4-BE49-F238E27FC236}">
                <a16:creationId xmlns:a16="http://schemas.microsoft.com/office/drawing/2014/main" id="{157122AA-4BB9-DA9A-E105-B2FB68B84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6" descr="elmasri_thumb">
            <a:extLst>
              <a:ext uri="{FF2B5EF4-FFF2-40B4-BE49-F238E27FC236}">
                <a16:creationId xmlns:a16="http://schemas.microsoft.com/office/drawing/2014/main" id="{B30A908E-8BB1-DF30-8796-B4D497C8E2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412A5DBE-C1D9-7BC1-CA37-AA55ABB520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/>
            </a:lvl1pPr>
          </a:lstStyle>
          <a:p>
            <a:r>
              <a:rPr lang="en-US" altLang="en-US"/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2660467611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E438DC50-8399-7D0E-7CC9-076F54D810A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6D11F7FA-F962-4577-ADCF-9A3DA7313C6D}" type="slidenum">
              <a:rPr lang="en-US" altLang="en-US"/>
              <a:pPr/>
              <a:t>‹#›</a:t>
            </a:fld>
            <a:endParaRPr lang="en-CA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E06DFDE-0D8C-2BAB-A47A-828B1FF5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79378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05E02B4C-60DF-2D4A-09A6-5FDC2FB183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2DDCA2E4-E4E8-4707-8801-983347534CF6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39958384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92EFF6DF-CD1D-7B36-D415-E809929F957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6BF6EE21-B1DB-4459-9D16-66B86D8A2CE5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24346176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5E47F20-FE0F-8A99-7916-B7FFDB0D1B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5F0E453B-5D73-4993-99A9-0B2CC8584F7E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3065095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72099567-25E2-96B6-EDFE-7F8D534C27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9228F43B-1751-4133-BFDC-FCBB34AB8CDD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2979040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A9262FAE-CED8-1AE6-3940-72120743CA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1864B7D0-CEEA-40DC-BC32-EE9584BC8EF1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2086537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7C0F642-E8F4-6934-F2FE-167DD3273D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9291CF21-B795-44F6-8698-4D5963511A92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94350635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1EA5FE8D-DC64-2F97-5A4A-79F36DC9F94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EAB7105D-7781-4254-BB81-B8A68CFF1D86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58989041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7407615-DA2F-2C81-05B8-A65A5FB8BC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EB3B84DC-0E49-4764-A83F-DD74C6522E76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0034583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5485054-0749-7B3A-5BBF-CF2047EA052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Slide 3- </a:t>
            </a:r>
            <a:fld id="{A91B246A-188E-44DD-9E24-D255D121D829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08167641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>
            <a:extLst>
              <a:ext uri="{FF2B5EF4-FFF2-40B4-BE49-F238E27FC236}">
                <a16:creationId xmlns:a16="http://schemas.microsoft.com/office/drawing/2014/main" id="{B0E38FEA-4118-EC14-B467-5DB6031259F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>
              <a:extLst>
                <a:ext uri="{FF2B5EF4-FFF2-40B4-BE49-F238E27FC236}">
                  <a16:creationId xmlns:a16="http://schemas.microsoft.com/office/drawing/2014/main" id="{A2DE8DAD-1A83-F5B0-0EFD-08032DDD9FB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3" name="Group 44">
              <a:extLst>
                <a:ext uri="{FF2B5EF4-FFF2-40B4-BE49-F238E27FC236}">
                  <a16:creationId xmlns:a16="http://schemas.microsoft.com/office/drawing/2014/main" id="{582D6A6F-C337-774C-CE66-F9F191BB61C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id="{E54AD457-CB98-EDB6-528F-E2AD1C9B33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1035" name="Rectangle 32">
                <a:extLst>
                  <a:ext uri="{FF2B5EF4-FFF2-40B4-BE49-F238E27FC236}">
                    <a16:creationId xmlns:a16="http://schemas.microsoft.com/office/drawing/2014/main" id="{E8D9ED74-C546-E203-D27A-E69872DEE7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id="{EFB73BAF-E6B6-A271-774A-3D604C4C0864}"/>
              </a:ext>
            </a:extLst>
          </p:cNvPr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3FBC104B-7B17-A998-62AA-7000AB9FE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C46E5562-8FB5-0F52-6E7A-449EF9497FC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solidFill>
                  <a:srgbClr val="990033"/>
                </a:solidFill>
              </a:defRPr>
            </a:lvl1pPr>
          </a:lstStyle>
          <a:p>
            <a:r>
              <a:rPr lang="en-US" altLang="en-US"/>
              <a:t>Slide 3- </a:t>
            </a:r>
            <a:fld id="{63556D4A-20FD-4670-83D8-56E03A0EB71B}" type="slidenum">
              <a:rPr lang="en-US" altLang="en-US"/>
              <a:pPr/>
              <a:t>‹#›</a:t>
            </a:fld>
            <a:endParaRPr lang="en-CA" altLang="en-US"/>
          </a:p>
        </p:txBody>
      </p:sp>
      <p:sp>
        <p:nvSpPr>
          <p:cNvPr id="1030" name="Rectangle 21">
            <a:extLst>
              <a:ext uri="{FF2B5EF4-FFF2-40B4-BE49-F238E27FC236}">
                <a16:creationId xmlns:a16="http://schemas.microsoft.com/office/drawing/2014/main" id="{4D4C38C0-AB0B-5EE1-DF6E-7A365721C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id="{0F559BED-7145-F311-A90C-9CE1CCA44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900"/>
              <a:t>Copyright © 2016 Ramez Elmasr and Shamkant B. Navathei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/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6769" y="305903"/>
            <a:ext cx="6946690" cy="970298"/>
          </a:xfrm>
          <a:prstGeom prst="rect">
            <a:avLst/>
          </a:prstGeom>
        </p:spPr>
        <p:txBody>
          <a:bodyPr vert="horz" wrap="square" lIns="0" tIns="71914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R="3810" indent="9525" algn="ctr">
              <a:lnSpc>
                <a:spcPts val="3510"/>
              </a:lnSpc>
              <a:spcBef>
                <a:spcPts val="566"/>
              </a:spcBef>
            </a:pPr>
            <a:r>
              <a:rPr lang="en-US" spc="-8" dirty="0"/>
              <a:t>Database</a:t>
            </a:r>
            <a:r>
              <a:rPr lang="en-US" spc="-135" dirty="0"/>
              <a:t> </a:t>
            </a:r>
            <a:r>
              <a:rPr lang="en-US" spc="-8" dirty="0"/>
              <a:t>Management</a:t>
            </a:r>
            <a:r>
              <a:rPr lang="en-US" spc="-131" dirty="0"/>
              <a:t> </a:t>
            </a:r>
            <a:r>
              <a:rPr lang="en-US" spc="-8" dirty="0"/>
              <a:t>Systems</a:t>
            </a:r>
            <a:br>
              <a:rPr lang="en-US" spc="-8" dirty="0"/>
            </a:br>
            <a:r>
              <a:rPr lang="en-US" dirty="0"/>
              <a:t>CS</a:t>
            </a:r>
            <a:r>
              <a:rPr lang="en-US" spc="-4" dirty="0"/>
              <a:t> </a:t>
            </a:r>
            <a:r>
              <a:rPr lang="en-US" spc="-15" dirty="0"/>
              <a:t>5200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EEC073-C300-0BA6-BF8F-5EADB71A0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2133600"/>
            <a:ext cx="8294687" cy="4264024"/>
          </a:xfrm>
        </p:spPr>
        <p:txBody>
          <a:bodyPr/>
          <a:lstStyle/>
          <a:p>
            <a:r>
              <a:rPr lang="en-US" dirty="0"/>
              <a:t>Announcements:</a:t>
            </a:r>
          </a:p>
          <a:p>
            <a:pPr lvl="1"/>
            <a:r>
              <a:rPr lang="en-US" dirty="0"/>
              <a:t>Name Tents</a:t>
            </a:r>
          </a:p>
          <a:p>
            <a:pPr lvl="1"/>
            <a:r>
              <a:rPr lang="en-US" b="0" i="0" dirty="0">
                <a:solidFill>
                  <a:srgbClr val="1F1F1F"/>
                </a:solidFill>
                <a:effectLst/>
                <a:latin typeface="Google Sans Text"/>
              </a:rPr>
              <a:t>Can we use an identifying relationship with other than weak entity?</a:t>
            </a:r>
          </a:p>
          <a:p>
            <a:pPr lvl="2"/>
            <a:r>
              <a:rPr lang="en-US" dirty="0">
                <a:solidFill>
                  <a:srgbClr val="1F1F1F"/>
                </a:solidFill>
                <a:latin typeface="Google Sans Text"/>
              </a:rPr>
              <a:t>No because entities that are not weak have their primary keys.</a:t>
            </a:r>
          </a:p>
          <a:p>
            <a:pPr lvl="1"/>
            <a:r>
              <a:rPr lang="en-US" dirty="0">
                <a:solidFill>
                  <a:srgbClr val="1F1F1F"/>
                </a:solidFill>
                <a:latin typeface="Google Sans Text"/>
              </a:rPr>
              <a:t>Groups are formed.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2"/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216640" y="1039964"/>
            <a:ext cx="1764030" cy="375583"/>
          </a:xfrm>
          <a:prstGeom prst="rect">
            <a:avLst/>
          </a:prstGeom>
        </p:spPr>
        <p:txBody>
          <a:bodyPr vert="horz" wrap="square" lIns="0" tIns="97631" rIns="0" bIns="0" rtlCol="0">
            <a:spAutoFit/>
          </a:bodyPr>
          <a:lstStyle/>
          <a:p>
            <a:pPr marL="9525" algn="ctr">
              <a:spcBef>
                <a:spcPts val="769"/>
              </a:spcBef>
            </a:pPr>
            <a:r>
              <a:rPr lang="en-US" sz="1800" spc="-56" dirty="0">
                <a:latin typeface="Calibri"/>
                <a:cs typeface="Calibri"/>
              </a:rPr>
              <a:t>Rached Zantout</a:t>
            </a:r>
            <a:endParaRPr sz="1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42" y="437481"/>
            <a:ext cx="2076226" cy="5882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3E3999D-FC03-C440-417E-02768230A0F2}"/>
              </a:ext>
            </a:extLst>
          </p:cNvPr>
          <p:cNvSpPr/>
          <p:nvPr/>
        </p:nvSpPr>
        <p:spPr bwMode="auto">
          <a:xfrm>
            <a:off x="838200" y="6629400"/>
            <a:ext cx="32004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A03E2-6228-9F18-8E03-E94DA40D9E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3- </a:t>
            </a:r>
            <a:fld id="{6D11F7FA-F962-4577-ADCF-9A3DA7313C6D}" type="slidenum">
              <a:rPr lang="en-US" altLang="en-US" smtClean="0"/>
              <a:pPr/>
              <a:t>1</a:t>
            </a:fld>
            <a:endParaRPr lang="en-CA" alt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D23E-E664-BCCC-E837-3E07001F9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108" y="381000"/>
            <a:ext cx="7768590" cy="507831"/>
          </a:xfrm>
        </p:spPr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2D3C-C916-098A-F0BA-4594AC0AA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705" y="1885950"/>
            <a:ext cx="7768590" cy="449199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Module 4: Chapter 05 (75 minutes)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ea typeface="ＭＳ Ｐゴシック" charset="0"/>
              </a:rPr>
              <a:t>The Relational Data Model and Relational Database Constraints</a:t>
            </a:r>
          </a:p>
          <a:p>
            <a:pPr>
              <a:lnSpc>
                <a:spcPct val="150000"/>
              </a:lnSpc>
            </a:pPr>
            <a:r>
              <a:rPr lang="en-US" dirty="0"/>
              <a:t>Discussion (15 minutes)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Class Activity: Create a Mapping given an ER Diagram for a Case Study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Assign Homework 03</a:t>
            </a:r>
          </a:p>
          <a:p>
            <a:pPr>
              <a:lnSpc>
                <a:spcPct val="150000"/>
              </a:lnSpc>
            </a:pPr>
            <a:r>
              <a:rPr lang="en-US" dirty="0"/>
              <a:t>Break (20 minutes)</a:t>
            </a:r>
          </a:p>
          <a:p>
            <a:pPr>
              <a:lnSpc>
                <a:spcPct val="150000"/>
              </a:lnSpc>
            </a:pPr>
            <a:r>
              <a:rPr lang="en-US" dirty="0"/>
              <a:t>Module 4: Chapter 06 (75 minutes)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Basic SQL</a:t>
            </a:r>
          </a:p>
          <a:p>
            <a:pPr>
              <a:lnSpc>
                <a:spcPct val="150000"/>
              </a:lnSpc>
            </a:pPr>
            <a:r>
              <a:rPr lang="en-US" dirty="0"/>
              <a:t>Discussion (10 minutes)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Class Activity: EER diagram for a Library Inventory management system.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Assign Lab 03: SQL Basics, MySQL instance connect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Assign Project Phase 2: Deadline Feb 13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Review Deliverables (5 minutes)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49940-2FEB-61DC-5559-F0EF75A94C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2</a:t>
            </a:fld>
            <a:endParaRPr lang="en-US" spc="-19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A7182-3D9C-7185-025D-A602FB67F5EA}"/>
              </a:ext>
            </a:extLst>
          </p:cNvPr>
          <p:cNvSpPr/>
          <p:nvPr/>
        </p:nvSpPr>
        <p:spPr bwMode="auto">
          <a:xfrm>
            <a:off x="838200" y="6629400"/>
            <a:ext cx="3200400" cy="228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09819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D22D0C25-2650-4674-0A3B-C691BF0D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C9A1B-5795-B9F0-A8EC-FDBF1EA32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endParaRPr lang="en-US" dirty="0">
              <a:ea typeface="+mn-ea"/>
              <a:cs typeface="+mn-cs"/>
            </a:endParaRP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US" sz="3200" b="1" dirty="0">
                <a:ea typeface="+mn-ea"/>
                <a:cs typeface="+mn-cs"/>
              </a:rPr>
              <a:t>CHAPTER 5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endParaRPr lang="en-US" sz="3200" b="1" dirty="0">
              <a:ea typeface="+mn-ea"/>
              <a:cs typeface="+mn-cs"/>
            </a:endParaRPr>
          </a:p>
          <a:p>
            <a:pPr algn="ctr" eaLnBrk="1" hangingPunct="1">
              <a:buFont typeface="Wingdings" charset="0"/>
              <a:buNone/>
              <a:defRPr/>
            </a:pPr>
            <a:r>
              <a:rPr lang="en-US" sz="3600" dirty="0">
                <a:ea typeface="ＭＳ Ｐゴシック" charset="0"/>
              </a:rPr>
              <a:t>The Relational Data Model and Relational Database Constraints</a:t>
            </a:r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B333EF83-EE7C-A3D9-1B90-3FE40B6DD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1- </a:t>
            </a:r>
            <a:fld id="{CFB3AA37-E6C5-433B-9145-03E179133CF0}" type="slidenum">
              <a:rPr lang="en-US" altLang="en-US" sz="1400">
                <a:solidFill>
                  <a:srgbClr val="990033"/>
                </a:solidFill>
              </a:rPr>
              <a:pPr/>
              <a:t>3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3">
            <a:extLst>
              <a:ext uri="{FF2B5EF4-FFF2-40B4-BE49-F238E27FC236}">
                <a16:creationId xmlns:a16="http://schemas.microsoft.com/office/drawing/2014/main" id="{87FB056E-66EE-6765-C177-E31771D723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8F582261-D820-41F4-B0AF-3E71FE357AED}" type="slidenum">
              <a:rPr lang="en-US" altLang="en-US" sz="1400">
                <a:solidFill>
                  <a:srgbClr val="990033"/>
                </a:solidFill>
              </a:rPr>
              <a:pPr/>
              <a:t>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19458" name="Rectangle 6">
            <a:extLst>
              <a:ext uri="{FF2B5EF4-FFF2-40B4-BE49-F238E27FC236}">
                <a16:creationId xmlns:a16="http://schemas.microsoft.com/office/drawing/2014/main" id="{CC4A8CB4-7B84-4BAD-3AC8-6E202D70A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Outline</a:t>
            </a:r>
          </a:p>
        </p:txBody>
      </p:sp>
      <p:sp>
        <p:nvSpPr>
          <p:cNvPr id="19459" name="Rectangle 7">
            <a:extLst>
              <a:ext uri="{FF2B5EF4-FFF2-40B4-BE49-F238E27FC236}">
                <a16:creationId xmlns:a16="http://schemas.microsoft.com/office/drawing/2014/main" id="{33098161-73C6-8275-AA36-4D2D60F7B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Relational Model Concepts</a:t>
            </a:r>
          </a:p>
          <a:p>
            <a:pPr eaLnBrk="1" hangingPunct="1"/>
            <a:r>
              <a:rPr lang="en-US" altLang="en-US"/>
              <a:t>Relational Model Constraints and Relational Database Schemas</a:t>
            </a:r>
          </a:p>
          <a:p>
            <a:pPr eaLnBrk="1" hangingPunct="1"/>
            <a:r>
              <a:rPr lang="en-US" altLang="en-US"/>
              <a:t>Update Operations and Dealing with Constraint Violations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3">
            <a:extLst>
              <a:ext uri="{FF2B5EF4-FFF2-40B4-BE49-F238E27FC236}">
                <a16:creationId xmlns:a16="http://schemas.microsoft.com/office/drawing/2014/main" id="{A856AD39-388E-818E-0858-8E9ACA5F65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ECCCB206-947B-4AB8-AA21-A3A8713D5907}" type="slidenum">
              <a:rPr lang="en-US" altLang="en-US" sz="1400">
                <a:solidFill>
                  <a:srgbClr val="990033"/>
                </a:solidFill>
              </a:rPr>
              <a:pPr/>
              <a:t>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1506" name="Rectangle 4">
            <a:extLst>
              <a:ext uri="{FF2B5EF4-FFF2-40B4-BE49-F238E27FC236}">
                <a16:creationId xmlns:a16="http://schemas.microsoft.com/office/drawing/2014/main" id="{5F6A3BCF-D10A-137C-AF65-EE61B22EE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Relational Model Concepts</a:t>
            </a:r>
          </a:p>
        </p:txBody>
      </p:sp>
      <p:sp>
        <p:nvSpPr>
          <p:cNvPr id="21507" name="Rectangle 5">
            <a:extLst>
              <a:ext uri="{FF2B5EF4-FFF2-40B4-BE49-F238E27FC236}">
                <a16:creationId xmlns:a16="http://schemas.microsoft.com/office/drawing/2014/main" id="{29E31B64-E94C-FF12-C9A1-505C03202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relational Model of Data is based on the concept of a </a:t>
            </a:r>
            <a:r>
              <a:rPr lang="en-US" altLang="en-US" sz="2400" i="1"/>
              <a:t>Relation</a:t>
            </a:r>
          </a:p>
          <a:p>
            <a:pPr lvl="1" eaLnBrk="1" hangingPunct="1"/>
            <a:r>
              <a:rPr lang="en-US" altLang="en-US" sz="2200"/>
              <a:t>The strength of the relational approach to data management comes from the formal foundation provided by the theory of relations</a:t>
            </a:r>
          </a:p>
          <a:p>
            <a:pPr eaLnBrk="1" hangingPunct="1"/>
            <a:r>
              <a:rPr lang="en-US" altLang="en-US" sz="2400"/>
              <a:t>We review the essentials of the </a:t>
            </a:r>
            <a:r>
              <a:rPr lang="en-US" altLang="en-US" sz="2400" i="1"/>
              <a:t>formal relational model</a:t>
            </a:r>
            <a:r>
              <a:rPr lang="en-US" altLang="en-US" sz="2400"/>
              <a:t> in this chapter</a:t>
            </a:r>
          </a:p>
          <a:p>
            <a:pPr eaLnBrk="1" hangingPunct="1"/>
            <a:r>
              <a:rPr lang="en-US" altLang="en-US" sz="2400"/>
              <a:t>In </a:t>
            </a:r>
            <a:r>
              <a:rPr lang="en-US" altLang="en-US" sz="2400" i="1"/>
              <a:t>practice</a:t>
            </a:r>
            <a:r>
              <a:rPr lang="en-US" altLang="en-US" sz="2400"/>
              <a:t>, there is a </a:t>
            </a:r>
            <a:r>
              <a:rPr lang="en-US" altLang="en-US" sz="2400" i="1"/>
              <a:t>standard model</a:t>
            </a:r>
            <a:r>
              <a:rPr lang="en-US" altLang="en-US" sz="2400"/>
              <a:t> based on SQL – this is described in Chapters 6 and 7 as a language</a:t>
            </a:r>
          </a:p>
          <a:p>
            <a:pPr eaLnBrk="1" hangingPunct="1"/>
            <a:r>
              <a:rPr lang="en-US" altLang="en-US" sz="2400" u="sng"/>
              <a:t>Note:</a:t>
            </a:r>
            <a:r>
              <a:rPr lang="en-US" altLang="en-US" sz="2400"/>
              <a:t> There are several important differences between the </a:t>
            </a:r>
            <a:r>
              <a:rPr lang="en-US" altLang="en-US" sz="2400" i="1"/>
              <a:t>formal</a:t>
            </a:r>
            <a:r>
              <a:rPr lang="en-US" altLang="en-US" sz="2400"/>
              <a:t> model and the </a:t>
            </a:r>
            <a:r>
              <a:rPr lang="en-US" altLang="en-US" sz="2400" i="1"/>
              <a:t>practical</a:t>
            </a:r>
            <a:r>
              <a:rPr lang="en-US" altLang="en-US" sz="2400"/>
              <a:t> model, as we shall see</a:t>
            </a:r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3">
            <a:extLst>
              <a:ext uri="{FF2B5EF4-FFF2-40B4-BE49-F238E27FC236}">
                <a16:creationId xmlns:a16="http://schemas.microsoft.com/office/drawing/2014/main" id="{CE91808A-3028-8E2A-9E78-A9A74C711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74862BFC-A667-43AB-83D2-39EEB9786834}" type="slidenum">
              <a:rPr lang="en-US" altLang="en-US" sz="1400">
                <a:solidFill>
                  <a:srgbClr val="990033"/>
                </a:solidFill>
              </a:rPr>
              <a:pPr/>
              <a:t>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3554" name="Rectangle 5">
            <a:extLst>
              <a:ext uri="{FF2B5EF4-FFF2-40B4-BE49-F238E27FC236}">
                <a16:creationId xmlns:a16="http://schemas.microsoft.com/office/drawing/2014/main" id="{23508447-71BA-477A-77F1-231CE45F7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Relational Model Concepts</a:t>
            </a:r>
          </a:p>
        </p:txBody>
      </p:sp>
      <p:sp>
        <p:nvSpPr>
          <p:cNvPr id="23555" name="Rectangle 6">
            <a:extLst>
              <a:ext uri="{FF2B5EF4-FFF2-40B4-BE49-F238E27FC236}">
                <a16:creationId xmlns:a16="http://schemas.microsoft.com/office/drawing/2014/main" id="{D177177A-F6B3-37BF-9F8B-1ADA14AC1B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Relation is a mathematical concept based on the ideas of sets</a:t>
            </a:r>
          </a:p>
          <a:p>
            <a:pPr eaLnBrk="1" hangingPunct="1"/>
            <a:r>
              <a:rPr lang="en-US" altLang="en-US"/>
              <a:t>The model was first proposed by Dr. E.F. Codd of IBM Research in 1970 in the following paper:</a:t>
            </a:r>
          </a:p>
          <a:p>
            <a:pPr lvl="1" eaLnBrk="1" hangingPunct="1"/>
            <a:r>
              <a:rPr lang="en-US" altLang="en-US"/>
              <a:t>"A Relational Model for Large Shared Data Banks," Communications of the ACM, June 1970</a:t>
            </a:r>
          </a:p>
          <a:p>
            <a:pPr eaLnBrk="1" hangingPunct="1"/>
            <a:r>
              <a:rPr lang="en-US" altLang="en-US"/>
              <a:t>The above paper caused a major revolution in the field of database management and earned Dr. Codd the coveted ACM Turing Award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EC2E9B2-0327-A1C4-B751-3D622EA98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1133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3">
            <a:extLst>
              <a:ext uri="{FF2B5EF4-FFF2-40B4-BE49-F238E27FC236}">
                <a16:creationId xmlns:a16="http://schemas.microsoft.com/office/drawing/2014/main" id="{9A5EB212-9485-7AC6-5FBD-5ECAE61F9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12813495-3FD6-435D-A6A7-51E831D4F1C3}" type="slidenum">
              <a:rPr lang="en-US" altLang="en-US" sz="1400">
                <a:solidFill>
                  <a:srgbClr val="990033"/>
                </a:solidFill>
              </a:rPr>
              <a:pPr/>
              <a:t>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5602" name="Rectangle 4">
            <a:extLst>
              <a:ext uri="{FF2B5EF4-FFF2-40B4-BE49-F238E27FC236}">
                <a16:creationId xmlns:a16="http://schemas.microsoft.com/office/drawing/2014/main" id="{1D5388E2-5D11-686A-ADE5-4E27D1E5F6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Informal Definitions</a:t>
            </a:r>
          </a:p>
        </p:txBody>
      </p:sp>
      <p:sp>
        <p:nvSpPr>
          <p:cNvPr id="25603" name="Rectangle 5">
            <a:extLst>
              <a:ext uri="{FF2B5EF4-FFF2-40B4-BE49-F238E27FC236}">
                <a16:creationId xmlns:a16="http://schemas.microsoft.com/office/drawing/2014/main" id="{6D38A290-03F3-0C19-C866-06D296767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Informally, a </a:t>
            </a:r>
            <a:r>
              <a:rPr lang="en-US" altLang="en-US" sz="2300" b="1"/>
              <a:t>relation</a:t>
            </a:r>
            <a:r>
              <a:rPr lang="en-US" altLang="en-US" sz="2300"/>
              <a:t> looks like a </a:t>
            </a:r>
            <a:r>
              <a:rPr lang="en-US" altLang="en-US" sz="2300" b="1"/>
              <a:t>table</a:t>
            </a:r>
            <a:r>
              <a:rPr lang="en-US" altLang="en-US" sz="2300"/>
              <a:t> of values.</a:t>
            </a:r>
          </a:p>
          <a:p>
            <a:pPr eaLnBrk="1" hangingPunct="1">
              <a:lnSpc>
                <a:spcPct val="80000"/>
              </a:lnSpc>
            </a:pPr>
            <a:endParaRPr lang="en-US" altLang="en-US" sz="2300"/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A relation typically contains a </a:t>
            </a:r>
            <a:r>
              <a:rPr lang="en-US" altLang="en-US" sz="2300" b="1"/>
              <a:t>set of rows</a:t>
            </a:r>
            <a:r>
              <a:rPr lang="en-US" altLang="en-US" sz="230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altLang="en-US" sz="2300"/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The data elements in each </a:t>
            </a:r>
            <a:r>
              <a:rPr lang="en-US" altLang="en-US" sz="2300" b="1"/>
              <a:t>row</a:t>
            </a:r>
            <a:r>
              <a:rPr lang="en-US" altLang="en-US" sz="2300"/>
              <a:t> represent certain facts </a:t>
            </a:r>
            <a:br>
              <a:rPr lang="en-US" altLang="en-US" sz="2300"/>
            </a:br>
            <a:r>
              <a:rPr lang="en-US" altLang="en-US" sz="2300"/>
              <a:t>that correspond to a real-world </a:t>
            </a:r>
            <a:r>
              <a:rPr lang="en-US" altLang="en-US" sz="2300" b="1"/>
              <a:t>entity</a:t>
            </a:r>
            <a:r>
              <a:rPr lang="en-US" altLang="en-US" sz="2300"/>
              <a:t> or </a:t>
            </a:r>
            <a:r>
              <a:rPr lang="en-US" altLang="en-US" sz="2300" b="1"/>
              <a:t>relationship</a:t>
            </a:r>
            <a:endParaRPr lang="en-US" altLang="en-US" sz="2300"/>
          </a:p>
          <a:p>
            <a:pPr lvl="1" eaLnBrk="1" hangingPunct="1">
              <a:lnSpc>
                <a:spcPct val="80000"/>
              </a:lnSpc>
            </a:pPr>
            <a:r>
              <a:rPr lang="en-US" altLang="en-US" sz="2300"/>
              <a:t>In the formal model, rows are called </a:t>
            </a:r>
            <a:r>
              <a:rPr lang="en-US" altLang="en-US" sz="2100" b="1"/>
              <a:t>tuples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sz="2100"/>
          </a:p>
          <a:p>
            <a:pPr eaLnBrk="1" hangingPunct="1">
              <a:lnSpc>
                <a:spcPct val="80000"/>
              </a:lnSpc>
            </a:pPr>
            <a:r>
              <a:rPr lang="en-US" altLang="en-US" sz="2300"/>
              <a:t>Each </a:t>
            </a:r>
            <a:r>
              <a:rPr lang="en-US" altLang="en-US" sz="2300" b="1"/>
              <a:t>column</a:t>
            </a:r>
            <a:r>
              <a:rPr lang="en-US" altLang="en-US" sz="2300"/>
              <a:t> has a column header that gives an indication of the meaning of the data items in that column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100"/>
              <a:t>In the formal model, the column header is called an </a:t>
            </a:r>
            <a:br>
              <a:rPr lang="en-US" altLang="en-US" sz="2100"/>
            </a:br>
            <a:r>
              <a:rPr lang="en-US" altLang="en-US" sz="2100" b="1"/>
              <a:t>attribute name</a:t>
            </a:r>
            <a:r>
              <a:rPr lang="en-US" altLang="en-US" sz="2100"/>
              <a:t> (or just </a:t>
            </a:r>
            <a:r>
              <a:rPr lang="en-US" altLang="en-US" sz="2100" b="1"/>
              <a:t>attribute</a:t>
            </a:r>
            <a:r>
              <a:rPr lang="en-US" altLang="en-US" sz="2100"/>
              <a:t>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2">
            <a:extLst>
              <a:ext uri="{FF2B5EF4-FFF2-40B4-BE49-F238E27FC236}">
                <a16:creationId xmlns:a16="http://schemas.microsoft.com/office/drawing/2014/main" id="{E651EF15-ACAD-0359-1720-1A041AB63F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00B7A738-C9DF-4085-AB7F-E009DF5D8F6C}" type="slidenum">
              <a:rPr lang="en-US" altLang="en-US" sz="1400">
                <a:solidFill>
                  <a:srgbClr val="990033"/>
                </a:solidFill>
              </a:rPr>
              <a:pPr/>
              <a:t>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1F68758D-12E1-4FF4-9129-F52326F660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of a Relation</a:t>
            </a:r>
          </a:p>
        </p:txBody>
      </p:sp>
      <p:sp>
        <p:nvSpPr>
          <p:cNvPr id="27651" name="Rectangle 5">
            <a:extLst>
              <a:ext uri="{FF2B5EF4-FFF2-40B4-BE49-F238E27FC236}">
                <a16:creationId xmlns:a16="http://schemas.microsoft.com/office/drawing/2014/main" id="{128A2F23-164D-C244-758C-BF07645D2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6825" y="61595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27652" name="Picture 6" descr="fig05_01">
            <a:extLst>
              <a:ext uri="{FF2B5EF4-FFF2-40B4-BE49-F238E27FC236}">
                <a16:creationId xmlns:a16="http://schemas.microsoft.com/office/drawing/2014/main" id="{BB8B2B84-0243-976E-0511-D2FFC23CE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95525"/>
            <a:ext cx="848995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3">
            <a:extLst>
              <a:ext uri="{FF2B5EF4-FFF2-40B4-BE49-F238E27FC236}">
                <a16:creationId xmlns:a16="http://schemas.microsoft.com/office/drawing/2014/main" id="{D3D14AED-E779-9EBC-2570-BB3860926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1CB358AF-3331-4C45-A86C-C0B2B955CD86}" type="slidenum">
              <a:rPr lang="en-US" altLang="en-US" sz="1400">
                <a:solidFill>
                  <a:srgbClr val="990033"/>
                </a:solidFill>
              </a:rPr>
              <a:pPr/>
              <a:t>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2B17A71-D763-3208-4B14-D0B9AA4F2A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Informal Definitions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C459EBD-F36A-60A0-8447-FAA229C400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Key of a Relation:</a:t>
            </a:r>
          </a:p>
          <a:p>
            <a:pPr lvl="1" eaLnBrk="1" hangingPunct="1"/>
            <a:r>
              <a:rPr lang="en-US" altLang="en-US" sz="2500"/>
              <a:t>Each row has a value of a data item (or set of items) that uniquely identifies that row in the table</a:t>
            </a:r>
          </a:p>
          <a:p>
            <a:pPr lvl="2" eaLnBrk="1" hangingPunct="1"/>
            <a:r>
              <a:rPr lang="en-US" altLang="en-US" sz="2300"/>
              <a:t>Called the </a:t>
            </a:r>
            <a:r>
              <a:rPr lang="en-US" altLang="en-US" sz="2300" i="1"/>
              <a:t>key</a:t>
            </a:r>
          </a:p>
          <a:p>
            <a:pPr lvl="1" eaLnBrk="1" hangingPunct="1"/>
            <a:r>
              <a:rPr lang="en-US" altLang="en-US" sz="2500"/>
              <a:t>In the STUDENT table, SSN is the key</a:t>
            </a:r>
          </a:p>
          <a:p>
            <a:pPr lvl="1" eaLnBrk="1" hangingPunct="1"/>
            <a:endParaRPr lang="en-US" altLang="en-US" sz="2500"/>
          </a:p>
          <a:p>
            <a:pPr lvl="1" eaLnBrk="1" hangingPunct="1"/>
            <a:r>
              <a:rPr lang="en-US" altLang="en-US" sz="2500"/>
              <a:t>Sometimes row-ids or sequential numbers are assigned as keys to identify the rows in a table</a:t>
            </a:r>
          </a:p>
          <a:p>
            <a:pPr lvl="2" eaLnBrk="1" hangingPunct="1"/>
            <a:r>
              <a:rPr lang="en-US" altLang="en-US" sz="2300"/>
              <a:t>Called </a:t>
            </a:r>
            <a:r>
              <a:rPr lang="en-US" altLang="en-US" sz="2300" i="1"/>
              <a:t>artificial key</a:t>
            </a:r>
            <a:r>
              <a:rPr lang="en-US" altLang="en-US" sz="2300"/>
              <a:t> or </a:t>
            </a:r>
            <a:r>
              <a:rPr lang="en-US" altLang="en-US" sz="2300" i="1"/>
              <a:t>surrogate key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50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3">
            <a:extLst>
              <a:ext uri="{FF2B5EF4-FFF2-40B4-BE49-F238E27FC236}">
                <a16:creationId xmlns:a16="http://schemas.microsoft.com/office/drawing/2014/main" id="{98BE0B72-1C5B-5109-2A43-D00F9B038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B6709116-8F01-420F-BDBC-0608CD4FB25E}" type="slidenum">
              <a:rPr lang="en-US" altLang="en-US" sz="1400">
                <a:solidFill>
                  <a:srgbClr val="990033"/>
                </a:solidFill>
              </a:rPr>
              <a:pPr/>
              <a:t>10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1746" name="Rectangle 4">
            <a:extLst>
              <a:ext uri="{FF2B5EF4-FFF2-40B4-BE49-F238E27FC236}">
                <a16:creationId xmlns:a16="http://schemas.microsoft.com/office/drawing/2014/main" id="{0D158071-B597-90C8-73E8-73A5E72D9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Formal Definitions - Schema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49C3DAFB-9E19-E54B-D6A8-37BFFE664C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</a:t>
            </a:r>
            <a:r>
              <a:rPr lang="en-US" altLang="en-US" sz="2400" b="1"/>
              <a:t>Schema</a:t>
            </a:r>
            <a:r>
              <a:rPr lang="en-US" altLang="en-US" sz="2400"/>
              <a:t> (or description) of a Relation:</a:t>
            </a:r>
          </a:p>
          <a:p>
            <a:pPr lvl="1" eaLnBrk="1" hangingPunct="1"/>
            <a:r>
              <a:rPr lang="en-US" altLang="en-US" sz="2200"/>
              <a:t>Denoted by R(A1, A2, .....An)</a:t>
            </a:r>
          </a:p>
          <a:p>
            <a:pPr lvl="1" eaLnBrk="1" hangingPunct="1"/>
            <a:r>
              <a:rPr lang="en-US" altLang="en-US" sz="2200"/>
              <a:t>R is the </a:t>
            </a:r>
            <a:r>
              <a:rPr lang="en-US" altLang="en-US" sz="2200" b="1"/>
              <a:t>name</a:t>
            </a:r>
            <a:r>
              <a:rPr lang="en-US" altLang="en-US" sz="2200"/>
              <a:t> of the relation</a:t>
            </a:r>
          </a:p>
          <a:p>
            <a:pPr lvl="1" eaLnBrk="1" hangingPunct="1"/>
            <a:r>
              <a:rPr lang="en-US" altLang="en-US" sz="2200"/>
              <a:t>The </a:t>
            </a:r>
            <a:r>
              <a:rPr lang="en-US" altLang="en-US" sz="2200" b="1"/>
              <a:t>attributes</a:t>
            </a:r>
            <a:r>
              <a:rPr lang="en-US" altLang="en-US" sz="2200"/>
              <a:t> of the relation are A1, A2, ..., An</a:t>
            </a:r>
          </a:p>
          <a:p>
            <a:pPr eaLnBrk="1" hangingPunct="1"/>
            <a:r>
              <a:rPr lang="en-US" altLang="en-US" sz="2400"/>
              <a:t>Example: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	CUSTOMER (Cust-id, Cust-name, Address, Phone#)</a:t>
            </a:r>
          </a:p>
          <a:p>
            <a:pPr lvl="1" eaLnBrk="1" hangingPunct="1"/>
            <a:r>
              <a:rPr lang="en-US" altLang="en-US" sz="2200"/>
              <a:t>CUSTOMER is the relation name</a:t>
            </a:r>
          </a:p>
          <a:p>
            <a:pPr lvl="1" eaLnBrk="1" hangingPunct="1"/>
            <a:r>
              <a:rPr lang="en-US" altLang="en-US" sz="2200"/>
              <a:t>Defined over the four attributes: Cust-id, Cust-name, Address, Phone#</a:t>
            </a:r>
          </a:p>
          <a:p>
            <a:pPr eaLnBrk="1" hangingPunct="1"/>
            <a:r>
              <a:rPr lang="en-US" altLang="en-US" sz="2400"/>
              <a:t>Each attribute has a </a:t>
            </a:r>
            <a:r>
              <a:rPr lang="en-US" altLang="en-US" sz="2400" b="1"/>
              <a:t>domain</a:t>
            </a:r>
            <a:r>
              <a:rPr lang="en-US" altLang="en-US" sz="2400"/>
              <a:t> or a set of valid values. </a:t>
            </a:r>
          </a:p>
          <a:p>
            <a:pPr lvl="1" eaLnBrk="1" hangingPunct="1"/>
            <a:r>
              <a:rPr lang="en-US" altLang="en-US" sz="2200"/>
              <a:t>For example, the domain of Cust-id is 6 digit numbers.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3">
            <a:extLst>
              <a:ext uri="{FF2B5EF4-FFF2-40B4-BE49-F238E27FC236}">
                <a16:creationId xmlns:a16="http://schemas.microsoft.com/office/drawing/2014/main" id="{A4E417D1-B8B5-F9F4-356B-0ACA272C8A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CF8CC76A-3693-4131-BF9F-CE84466E7053}" type="slidenum">
              <a:rPr lang="en-US" altLang="en-US" sz="1400">
                <a:solidFill>
                  <a:srgbClr val="990033"/>
                </a:solidFill>
              </a:rPr>
              <a:pPr/>
              <a:t>11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3794" name="Rectangle 4">
            <a:extLst>
              <a:ext uri="{FF2B5EF4-FFF2-40B4-BE49-F238E27FC236}">
                <a16:creationId xmlns:a16="http://schemas.microsoft.com/office/drawing/2014/main" id="{7F0CD52B-C942-6BC1-4D99-59562285D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Formal Definitions - Tuple</a:t>
            </a:r>
          </a:p>
        </p:txBody>
      </p:sp>
      <p:sp>
        <p:nvSpPr>
          <p:cNvPr id="33795" name="Rectangle 5">
            <a:extLst>
              <a:ext uri="{FF2B5EF4-FFF2-40B4-BE49-F238E27FC236}">
                <a16:creationId xmlns:a16="http://schemas.microsoft.com/office/drawing/2014/main" id="{49D03AB5-7A56-8DA3-03AC-7EDF7F00D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A </a:t>
            </a:r>
            <a:r>
              <a:rPr lang="en-US" altLang="en-US" sz="2400" b="1"/>
              <a:t>tuple</a:t>
            </a:r>
            <a:r>
              <a:rPr lang="en-US" altLang="en-US" sz="2400"/>
              <a:t> is an ordered set of values (enclosed in angled brackets ‘&lt; … &gt;’)</a:t>
            </a:r>
          </a:p>
          <a:p>
            <a:pPr eaLnBrk="1" hangingPunct="1"/>
            <a:r>
              <a:rPr lang="en-US" altLang="en-US" sz="2400"/>
              <a:t>Each value is derived from an appropriate </a:t>
            </a:r>
            <a:r>
              <a:rPr lang="en-US" altLang="en-US" sz="2400" i="1"/>
              <a:t>domain</a:t>
            </a:r>
            <a:r>
              <a:rPr lang="en-US" altLang="en-US" sz="2400"/>
              <a:t>.</a:t>
            </a:r>
          </a:p>
          <a:p>
            <a:pPr eaLnBrk="1" hangingPunct="1"/>
            <a:r>
              <a:rPr lang="en-US" altLang="en-US" sz="2400"/>
              <a:t>A row in the CUSTOMER relation is a 4-tuple and would consist of four values, for example:</a:t>
            </a:r>
          </a:p>
          <a:p>
            <a:pPr lvl="1" eaLnBrk="1" hangingPunct="1"/>
            <a:r>
              <a:rPr lang="en-US" altLang="en-US" sz="2200"/>
              <a:t>&lt;632895, "John Smith", "101 Main St. Atlanta, GA  30332", "(404) 894-2000"&gt;</a:t>
            </a:r>
          </a:p>
          <a:p>
            <a:pPr lvl="1" eaLnBrk="1" hangingPunct="1"/>
            <a:r>
              <a:rPr lang="en-US" altLang="en-US" sz="2200"/>
              <a:t>This is called a 4-tuple as it has 4 values</a:t>
            </a:r>
          </a:p>
          <a:p>
            <a:pPr lvl="1" eaLnBrk="1" hangingPunct="1"/>
            <a:r>
              <a:rPr lang="en-US" altLang="en-US" sz="2200"/>
              <a:t>A tuple (row) in the CUSTOMER relation.</a:t>
            </a:r>
          </a:p>
          <a:p>
            <a:pPr eaLnBrk="1" hangingPunct="1"/>
            <a:r>
              <a:rPr lang="en-US" altLang="en-US" sz="2400"/>
              <a:t>A relation is a </a:t>
            </a:r>
            <a:r>
              <a:rPr lang="en-US" altLang="en-US" sz="2400" b="1"/>
              <a:t>set </a:t>
            </a:r>
            <a:r>
              <a:rPr lang="en-US" altLang="en-US" sz="2400"/>
              <a:t>of such tuples (rows)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3">
            <a:extLst>
              <a:ext uri="{FF2B5EF4-FFF2-40B4-BE49-F238E27FC236}">
                <a16:creationId xmlns:a16="http://schemas.microsoft.com/office/drawing/2014/main" id="{13AF92B5-54BF-DAFF-C783-D3190B4D66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8EDC3A20-3E9F-441D-BAD4-D1F617A32923}" type="slidenum">
              <a:rPr lang="en-US" altLang="en-US" sz="1400">
                <a:solidFill>
                  <a:srgbClr val="990033"/>
                </a:solidFill>
              </a:rPr>
              <a:pPr/>
              <a:t>12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5842" name="Rectangle 4">
            <a:extLst>
              <a:ext uri="{FF2B5EF4-FFF2-40B4-BE49-F238E27FC236}">
                <a16:creationId xmlns:a16="http://schemas.microsoft.com/office/drawing/2014/main" id="{CC4AF917-8C2B-FCDE-CAD8-D37A3E7139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Formal Definitions - Domain</a:t>
            </a: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A7F7A915-66EA-7A3C-9ABE-7C684A2B60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A </a:t>
            </a:r>
            <a:r>
              <a:rPr lang="en-US" altLang="en-US" sz="2000" b="1"/>
              <a:t>domain</a:t>
            </a:r>
            <a:r>
              <a:rPr lang="en-US" altLang="en-US" sz="2000"/>
              <a:t> has a logical definition: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Example: “USA_phone_numbers” are the set of 10 digit phone numbers valid in the U.S.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domain also has a data-type or a format defined for it.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The USA_phone_numbers may have a format: (ddd)ddd-dddd where each d is a decimal digit.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Dates have various formats such as year, month, date formatted as yyyy-mm-dd, or as dd mm,yyyy etc.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The attribute name designates the role played by a domain in a relation: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Used to interpret the meaning of the data elements corresponding to that 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900"/>
              <a:t>Example: The domain Date may be used to define two attributes named “Invoice-date” and “Payment-date” with different meanings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3">
            <a:extLst>
              <a:ext uri="{FF2B5EF4-FFF2-40B4-BE49-F238E27FC236}">
                <a16:creationId xmlns:a16="http://schemas.microsoft.com/office/drawing/2014/main" id="{5E8B82BF-F6AF-E4F7-B01D-DCA7186475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3AD8F1DA-CD5C-430C-B15D-FA900DC56F81}" type="slidenum">
              <a:rPr lang="en-US" altLang="en-US" sz="1400">
                <a:solidFill>
                  <a:srgbClr val="990033"/>
                </a:solidFill>
              </a:rPr>
              <a:pPr/>
              <a:t>13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7890" name="Rectangle 4">
            <a:extLst>
              <a:ext uri="{FF2B5EF4-FFF2-40B4-BE49-F238E27FC236}">
                <a16:creationId xmlns:a16="http://schemas.microsoft.com/office/drawing/2014/main" id="{496D27BC-F23B-CED4-890F-ECFA748B4A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Formal Definitions - State</a:t>
            </a:r>
          </a:p>
        </p:txBody>
      </p:sp>
      <p:sp>
        <p:nvSpPr>
          <p:cNvPr id="37891" name="Rectangle 5">
            <a:extLst>
              <a:ext uri="{FF2B5EF4-FFF2-40B4-BE49-F238E27FC236}">
                <a16:creationId xmlns:a16="http://schemas.microsoft.com/office/drawing/2014/main" id="{BA11EE61-7D32-0915-8B8C-EDD04EA932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The </a:t>
            </a:r>
            <a:r>
              <a:rPr lang="en-US" altLang="en-US" b="1"/>
              <a:t>relation state</a:t>
            </a:r>
            <a:r>
              <a:rPr lang="en-US" altLang="en-US"/>
              <a:t> is a subset of the Cartesian product of the domains of its attributes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each domain contains the set of all possible values the attribute can take.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Example: attribute Cust-name is defined over the domain of character strings of maximum length 25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dom(Cust-name) is varchar(25)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role these strings play in the CUSTOMER relation is that of the </a:t>
            </a:r>
            <a:r>
              <a:rPr lang="en-US" altLang="en-US" i="1"/>
              <a:t>name of a customer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3">
            <a:extLst>
              <a:ext uri="{FF2B5EF4-FFF2-40B4-BE49-F238E27FC236}">
                <a16:creationId xmlns:a16="http://schemas.microsoft.com/office/drawing/2014/main" id="{22834094-76F3-A140-D775-1384AB5AAC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6A5AECBD-44A4-4804-B2E9-9C9806403891}" type="slidenum">
              <a:rPr lang="en-US" altLang="en-US" sz="1400">
                <a:solidFill>
                  <a:srgbClr val="990033"/>
                </a:solidFill>
              </a:rPr>
              <a:pPr/>
              <a:t>14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1211B3EC-C65D-0514-CB93-806A06B988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Formal Definitions - Summary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C232932-157A-6BAA-CAFF-0CD6C397F3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Formally,</a:t>
            </a:r>
          </a:p>
          <a:p>
            <a:pPr lvl="1" eaLnBrk="1" hangingPunct="1"/>
            <a:r>
              <a:rPr lang="en-US" altLang="en-US" sz="2200"/>
              <a:t>Given R(A1, A2, .........., An)</a:t>
            </a:r>
          </a:p>
          <a:p>
            <a:pPr lvl="1" eaLnBrk="1" hangingPunct="1"/>
            <a:r>
              <a:rPr lang="en-US" altLang="en-US" sz="2200"/>
              <a:t> 	r(R) </a:t>
            </a:r>
            <a:r>
              <a:rPr lang="en-US" altLang="en-US" sz="2200">
                <a:sym typeface="Symbol" panose="05050102010706020507" pitchFamily="18" charset="2"/>
              </a:rPr>
              <a:t></a:t>
            </a:r>
            <a:r>
              <a:rPr lang="en-US" altLang="en-US" sz="2200"/>
              <a:t> dom (A1) X dom (A2) X ....X dom(An)</a:t>
            </a:r>
          </a:p>
          <a:p>
            <a:pPr eaLnBrk="1" hangingPunct="1"/>
            <a:r>
              <a:rPr lang="en-US" altLang="en-US" sz="2400"/>
              <a:t>R(A1, A2, …, An) is the </a:t>
            </a:r>
            <a:r>
              <a:rPr lang="en-US" altLang="en-US" sz="2400" b="1"/>
              <a:t>schema</a:t>
            </a:r>
            <a:r>
              <a:rPr lang="en-US" altLang="en-US" sz="2400"/>
              <a:t> of the relation</a:t>
            </a:r>
          </a:p>
          <a:p>
            <a:pPr eaLnBrk="1" hangingPunct="1"/>
            <a:r>
              <a:rPr lang="en-US" altLang="en-US" sz="2400"/>
              <a:t>R is the </a:t>
            </a:r>
            <a:r>
              <a:rPr lang="en-US" altLang="en-US" sz="2400" b="1"/>
              <a:t>name</a:t>
            </a:r>
            <a:r>
              <a:rPr lang="en-US" altLang="en-US" sz="2400"/>
              <a:t> of the relation</a:t>
            </a:r>
          </a:p>
          <a:p>
            <a:pPr eaLnBrk="1" hangingPunct="1"/>
            <a:r>
              <a:rPr lang="en-US" altLang="en-US" sz="2400"/>
              <a:t>A1, A2, …, An are the </a:t>
            </a:r>
            <a:r>
              <a:rPr lang="en-US" altLang="en-US" sz="2400" b="1"/>
              <a:t>attributes</a:t>
            </a:r>
            <a:r>
              <a:rPr lang="en-US" altLang="en-US" sz="2400"/>
              <a:t> of the relation</a:t>
            </a:r>
          </a:p>
          <a:p>
            <a:pPr eaLnBrk="1" hangingPunct="1"/>
            <a:r>
              <a:rPr lang="en-US" altLang="en-US" sz="2400"/>
              <a:t>r(R):  a specific </a:t>
            </a:r>
            <a:r>
              <a:rPr lang="en-US" altLang="en-US" sz="2400" b="1"/>
              <a:t>state</a:t>
            </a:r>
            <a:r>
              <a:rPr lang="en-US" altLang="en-US" sz="2400"/>
              <a:t> (or "value" or “population”) of relation R – this is a </a:t>
            </a:r>
            <a:r>
              <a:rPr lang="en-US" altLang="en-US" sz="2400" i="1"/>
              <a:t>set of tuples</a:t>
            </a:r>
            <a:r>
              <a:rPr lang="en-US" altLang="en-US" sz="2400"/>
              <a:t> (rows)</a:t>
            </a:r>
          </a:p>
          <a:p>
            <a:pPr lvl="1" eaLnBrk="1" hangingPunct="1"/>
            <a:r>
              <a:rPr lang="en-US" altLang="en-US" sz="2200"/>
              <a:t>r(R) = {t1, t2, …, tn} where each ti is an n-tuple</a:t>
            </a:r>
          </a:p>
          <a:p>
            <a:pPr lvl="1" eaLnBrk="1" hangingPunct="1"/>
            <a:r>
              <a:rPr lang="en-US" altLang="en-US" sz="2200"/>
              <a:t>ti = &lt;v1, v2, …, vn&gt; where each vj </a:t>
            </a:r>
            <a:r>
              <a:rPr lang="en-US" altLang="en-US" sz="2200" i="1"/>
              <a:t>element-of</a:t>
            </a:r>
            <a:r>
              <a:rPr lang="en-US" altLang="en-US" sz="2200"/>
              <a:t> dom(Aj)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3">
            <a:extLst>
              <a:ext uri="{FF2B5EF4-FFF2-40B4-BE49-F238E27FC236}">
                <a16:creationId xmlns:a16="http://schemas.microsoft.com/office/drawing/2014/main" id="{CC17AE04-C80E-393A-3924-090B06B9B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838836F6-D8B9-4FE5-AAF0-A36E0F2A79EC}" type="slidenum">
              <a:rPr lang="en-US" altLang="en-US" sz="1400">
                <a:solidFill>
                  <a:srgbClr val="990033"/>
                </a:solidFill>
              </a:rPr>
              <a:pPr/>
              <a:t>15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41986" name="Rectangle 4">
            <a:extLst>
              <a:ext uri="{FF2B5EF4-FFF2-40B4-BE49-F238E27FC236}">
                <a16:creationId xmlns:a16="http://schemas.microsoft.com/office/drawing/2014/main" id="{9162D463-A70B-F921-D5BE-B2641D1EB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Formal Definitions - Example</a:t>
            </a:r>
          </a:p>
        </p:txBody>
      </p:sp>
      <p:sp>
        <p:nvSpPr>
          <p:cNvPr id="41987" name="Rectangle 5">
            <a:extLst>
              <a:ext uri="{FF2B5EF4-FFF2-40B4-BE49-F238E27FC236}">
                <a16:creationId xmlns:a16="http://schemas.microsoft.com/office/drawing/2014/main" id="{4CF2FFD9-277B-F771-500C-CEC0F89D0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Let R(A1, A2) be a relation schema:</a:t>
            </a:r>
          </a:p>
          <a:p>
            <a:pPr lvl="1" eaLnBrk="1" hangingPunct="1"/>
            <a:r>
              <a:rPr lang="en-US" altLang="en-US" sz="2200"/>
              <a:t>Let dom(A1) = {0,1}</a:t>
            </a:r>
          </a:p>
          <a:p>
            <a:pPr lvl="1" eaLnBrk="1" hangingPunct="1"/>
            <a:r>
              <a:rPr lang="en-US" altLang="en-US" sz="2200"/>
              <a:t>Let  dom(A2) =  {a,b,c}</a:t>
            </a:r>
          </a:p>
          <a:p>
            <a:pPr eaLnBrk="1" hangingPunct="1"/>
            <a:r>
              <a:rPr lang="en-US" altLang="en-US" sz="2400"/>
              <a:t>Then: dom(A1) X dom(A2) is all possible combinations: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200"/>
              <a:t>{&lt;0,a&gt; , &lt;0,b&gt; , &lt;0,c&gt;, &lt;1,a&gt;, &lt;1,b&gt;, &lt;1,c&gt; }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200"/>
          </a:p>
          <a:p>
            <a:pPr eaLnBrk="1" hangingPunct="1"/>
            <a:r>
              <a:rPr lang="en-US" altLang="en-US" sz="2400"/>
              <a:t>The relation state r(R) </a:t>
            </a:r>
            <a:r>
              <a:rPr lang="en-US" altLang="en-US" sz="2400">
                <a:sym typeface="Symbol" panose="05050102010706020507" pitchFamily="18" charset="2"/>
              </a:rPr>
              <a:t></a:t>
            </a:r>
            <a:r>
              <a:rPr lang="en-US" altLang="en-US" sz="2400"/>
              <a:t> dom(A1) X dom(A2)</a:t>
            </a:r>
          </a:p>
          <a:p>
            <a:pPr eaLnBrk="1" hangingPunct="1"/>
            <a:r>
              <a:rPr lang="en-US" altLang="en-US" sz="2400"/>
              <a:t>For example: r(R) could be {&lt;0,a&gt; , &lt;0,b&gt; , &lt;1,c&gt; }</a:t>
            </a:r>
          </a:p>
          <a:p>
            <a:pPr lvl="1" eaLnBrk="1" hangingPunct="1"/>
            <a:r>
              <a:rPr lang="en-US" altLang="en-US" sz="2200"/>
              <a:t>this is one possible state (or “population” or “extension”) r of the relation R, defined over A1 and A2.</a:t>
            </a:r>
          </a:p>
          <a:p>
            <a:pPr lvl="1" eaLnBrk="1" hangingPunct="1"/>
            <a:r>
              <a:rPr lang="en-US" altLang="en-US" sz="2200"/>
              <a:t>It has three 2-tuples: &lt;0,a&gt; , &lt;0,b&gt; , &lt;1,c&gt; 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2">
            <a:extLst>
              <a:ext uri="{FF2B5EF4-FFF2-40B4-BE49-F238E27FC236}">
                <a16:creationId xmlns:a16="http://schemas.microsoft.com/office/drawing/2014/main" id="{FF6E787A-CEAB-D8D6-1030-DEAF1A9A9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7A56C9F2-3A24-47D7-87B1-32A044EB0778}" type="slidenum">
              <a:rPr lang="en-US" altLang="en-US" sz="1400">
                <a:solidFill>
                  <a:srgbClr val="990033"/>
                </a:solidFill>
              </a:rPr>
              <a:pPr/>
              <a:t>16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44034" name="Rectangle 42">
            <a:extLst>
              <a:ext uri="{FF2B5EF4-FFF2-40B4-BE49-F238E27FC236}">
                <a16:creationId xmlns:a16="http://schemas.microsoft.com/office/drawing/2014/main" id="{2AEFE467-DE50-06C4-CC43-84A7CE92D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Definition Summary</a:t>
            </a:r>
          </a:p>
        </p:txBody>
      </p:sp>
      <p:graphicFrame>
        <p:nvGraphicFramePr>
          <p:cNvPr id="686130" name="Group 50">
            <a:extLst>
              <a:ext uri="{FF2B5EF4-FFF2-40B4-BE49-F238E27FC236}">
                <a16:creationId xmlns:a16="http://schemas.microsoft.com/office/drawing/2014/main" id="{3CAD481D-61A7-CBCF-627B-CFC63BF0CD8B}"/>
              </a:ext>
            </a:extLst>
          </p:cNvPr>
          <p:cNvGraphicFramePr>
            <a:graphicFrameLocks noGrp="1"/>
          </p:cNvGraphicFramePr>
          <p:nvPr>
            <p:ph type="tbl" idx="4294967295"/>
            <p:extLst>
              <p:ext uri="{D42A27DB-BD31-4B8C-83A1-F6EECF244321}">
                <p14:modId xmlns:p14="http://schemas.microsoft.com/office/powerpoint/2010/main" val="2311269809"/>
              </p:ext>
            </p:extLst>
          </p:nvPr>
        </p:nvGraphicFramePr>
        <p:xfrm>
          <a:off x="457200" y="2209800"/>
          <a:ext cx="8050213" cy="3657488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" charset="0"/>
                        </a:rPr>
                        <a:t>Informal Terms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" charset="0"/>
                        </a:rPr>
                        <a:t>Formal Terms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" charset="0"/>
                        </a:rPr>
                        <a:t>Table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Times New Roman" pitchFamily="1" charset="0"/>
                        </a:rPr>
                        <a:t>Relation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Column Header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Attribute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All possible Column Values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Domain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Row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Tuple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24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Table Definition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Schema of a Relation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8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Populated Table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endParaRP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990033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</a:rPr>
                        <a:t>State of the Relation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2">
            <a:extLst>
              <a:ext uri="{FF2B5EF4-FFF2-40B4-BE49-F238E27FC236}">
                <a16:creationId xmlns:a16="http://schemas.microsoft.com/office/drawing/2014/main" id="{6A2CAD09-F704-0E83-A601-953D1E2F7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FF1D7492-7B3E-4812-800C-821395F9949C}" type="slidenum">
              <a:rPr lang="en-US" altLang="en-US" sz="1400">
                <a:solidFill>
                  <a:srgbClr val="990033"/>
                </a:solidFill>
              </a:rPr>
              <a:pPr/>
              <a:t>17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46082" name="Rectangle 7">
            <a:extLst>
              <a:ext uri="{FF2B5EF4-FFF2-40B4-BE49-F238E27FC236}">
                <a16:creationId xmlns:a16="http://schemas.microsoft.com/office/drawing/2014/main" id="{98D9E1B5-3A93-347F-F997-99FAF12E10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– A relation STUDENT</a:t>
            </a:r>
          </a:p>
        </p:txBody>
      </p:sp>
      <p:sp>
        <p:nvSpPr>
          <p:cNvPr id="46083" name="Rectangle 5">
            <a:extLst>
              <a:ext uri="{FF2B5EF4-FFF2-40B4-BE49-F238E27FC236}">
                <a16:creationId xmlns:a16="http://schemas.microsoft.com/office/drawing/2014/main" id="{690A6F6E-2308-740F-B636-B3824FC05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6825" y="61595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  <p:pic>
        <p:nvPicPr>
          <p:cNvPr id="46084" name="Picture 8" descr="fig05_01">
            <a:extLst>
              <a:ext uri="{FF2B5EF4-FFF2-40B4-BE49-F238E27FC236}">
                <a16:creationId xmlns:a16="http://schemas.microsoft.com/office/drawing/2014/main" id="{DB2FA749-A80D-0377-770D-2B71CE796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19325"/>
            <a:ext cx="8589963" cy="311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3">
            <a:extLst>
              <a:ext uri="{FF2B5EF4-FFF2-40B4-BE49-F238E27FC236}">
                <a16:creationId xmlns:a16="http://schemas.microsoft.com/office/drawing/2014/main" id="{16A6B03B-5D63-D6CC-FC65-26E0846E3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1FB4FF22-BA73-4EE5-894A-F110A1CFCE11}" type="slidenum">
              <a:rPr lang="en-US" altLang="en-US" sz="1400">
                <a:solidFill>
                  <a:srgbClr val="990033"/>
                </a:solidFill>
              </a:rPr>
              <a:pPr/>
              <a:t>18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48130" name="Rectangle 4">
            <a:extLst>
              <a:ext uri="{FF2B5EF4-FFF2-40B4-BE49-F238E27FC236}">
                <a16:creationId xmlns:a16="http://schemas.microsoft.com/office/drawing/2014/main" id="{00D0FAF6-D7FE-98BA-FFCD-ED4E0ACC9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Characteristics Of Relations</a:t>
            </a:r>
          </a:p>
        </p:txBody>
      </p:sp>
      <p:sp>
        <p:nvSpPr>
          <p:cNvPr id="48131" name="Rectangle 5">
            <a:extLst>
              <a:ext uri="{FF2B5EF4-FFF2-40B4-BE49-F238E27FC236}">
                <a16:creationId xmlns:a16="http://schemas.microsoft.com/office/drawing/2014/main" id="{60B82F87-6E83-7C91-DD1A-A81756435C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Ordering of tuples in a relation r(R):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The tuples are </a:t>
            </a:r>
            <a:r>
              <a:rPr lang="en-US" altLang="en-US" sz="2400" i="1"/>
              <a:t>not considered to be ordered</a:t>
            </a:r>
            <a:r>
              <a:rPr lang="en-US" altLang="en-US" sz="2400"/>
              <a:t>, even though they appear to be in the tabular form.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Ordering of attributes in a relation schema R (and of values within each tuple):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We will consider the attributes in R(A1, A2, ..., An) and the values in t=&lt;v1, v2, ..., vn&gt; to be ordered 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(However, a more general alternative definition  of relation does not require this ordering. It includes both the name and the value for each of the attributes ).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Example: t= { &lt;name, “John” &gt;, &lt;SSN, 123456789&gt; }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This representation may be called as “self-describing”.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2">
            <a:extLst>
              <a:ext uri="{FF2B5EF4-FFF2-40B4-BE49-F238E27FC236}">
                <a16:creationId xmlns:a16="http://schemas.microsoft.com/office/drawing/2014/main" id="{12B31172-4A2D-D627-9B13-63F418376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6900CFED-568F-4F9A-A4EF-65D02838A692}" type="slidenum">
              <a:rPr lang="en-US" altLang="en-US" sz="1400">
                <a:solidFill>
                  <a:srgbClr val="990033"/>
                </a:solidFill>
              </a:rPr>
              <a:pPr/>
              <a:t>19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6DCA7016-AACD-82A5-572B-8806B20ADE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Same state as previous Figure (but with different order of tuples)</a:t>
            </a:r>
          </a:p>
        </p:txBody>
      </p:sp>
      <p:pic>
        <p:nvPicPr>
          <p:cNvPr id="50179" name="Picture 5" descr="fig05_02">
            <a:extLst>
              <a:ext uri="{FF2B5EF4-FFF2-40B4-BE49-F238E27FC236}">
                <a16:creationId xmlns:a16="http://schemas.microsoft.com/office/drawing/2014/main" id="{BA319530-1F8D-6CA5-EDD0-0970F74A3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44750"/>
            <a:ext cx="8450263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3">
            <a:extLst>
              <a:ext uri="{FF2B5EF4-FFF2-40B4-BE49-F238E27FC236}">
                <a16:creationId xmlns:a16="http://schemas.microsoft.com/office/drawing/2014/main" id="{73DB22E0-77AF-11EA-3E87-5F695CA04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1CFBEC9C-B72C-48C4-BBF4-0186B5838703}" type="slidenum">
              <a:rPr lang="en-US" altLang="en-US" sz="1400">
                <a:solidFill>
                  <a:srgbClr val="990033"/>
                </a:solidFill>
              </a:rPr>
              <a:pPr/>
              <a:t>20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52226" name="Rectangle 6">
            <a:extLst>
              <a:ext uri="{FF2B5EF4-FFF2-40B4-BE49-F238E27FC236}">
                <a16:creationId xmlns:a16="http://schemas.microsoft.com/office/drawing/2014/main" id="{FB05373A-BAED-DD99-133E-78F23FBF8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Characteristics Of Relations</a:t>
            </a:r>
          </a:p>
        </p:txBody>
      </p:sp>
      <p:sp>
        <p:nvSpPr>
          <p:cNvPr id="52227" name="Rectangle 7">
            <a:extLst>
              <a:ext uri="{FF2B5EF4-FFF2-40B4-BE49-F238E27FC236}">
                <a16:creationId xmlns:a16="http://schemas.microsoft.com/office/drawing/2014/main" id="{C0232E68-C38C-6F63-5DB8-D2A385A679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Values in a tuple:</a:t>
            </a:r>
          </a:p>
          <a:p>
            <a:pPr lvl="1" eaLnBrk="1" hangingPunct="1"/>
            <a:r>
              <a:rPr lang="en-US" altLang="en-US"/>
              <a:t>All values are considered atomic (indivisible).</a:t>
            </a:r>
          </a:p>
          <a:p>
            <a:pPr lvl="1" eaLnBrk="1" hangingPunct="1"/>
            <a:r>
              <a:rPr lang="en-US" altLang="en-US"/>
              <a:t>Each value in a tuple must be from the domain of the attribute for that column</a:t>
            </a:r>
          </a:p>
          <a:p>
            <a:pPr lvl="2" eaLnBrk="1" hangingPunct="1"/>
            <a:r>
              <a:rPr lang="en-US" altLang="en-US"/>
              <a:t>If tuple t = &lt;v1, v2, …, vn&gt; is a tuple (row) in the relation state r of R(A1, A2, …, An)</a:t>
            </a:r>
          </a:p>
          <a:p>
            <a:pPr lvl="2" eaLnBrk="1" hangingPunct="1"/>
            <a:r>
              <a:rPr lang="en-US" altLang="en-US"/>
              <a:t>Then each </a:t>
            </a:r>
            <a:r>
              <a:rPr lang="en-US" altLang="en-US" i="1"/>
              <a:t>vi</a:t>
            </a:r>
            <a:r>
              <a:rPr lang="en-US" altLang="en-US"/>
              <a:t> must be a value from </a:t>
            </a:r>
            <a:r>
              <a:rPr lang="en-US" altLang="en-US" i="1"/>
              <a:t>dom(Ai)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A special </a:t>
            </a:r>
            <a:r>
              <a:rPr lang="en-US" altLang="en-US" b="1"/>
              <a:t>null</a:t>
            </a:r>
            <a:r>
              <a:rPr lang="en-US" altLang="en-US"/>
              <a:t> value is used to represent values that are unknown or not available or inapplicable in certain tuples. 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3">
            <a:extLst>
              <a:ext uri="{FF2B5EF4-FFF2-40B4-BE49-F238E27FC236}">
                <a16:creationId xmlns:a16="http://schemas.microsoft.com/office/drawing/2014/main" id="{2A26E78F-00C9-6E42-486C-3216AAE29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708B9499-C691-402F-ACC6-CDDE539263EF}" type="slidenum">
              <a:rPr lang="en-US" altLang="en-US" sz="1400">
                <a:solidFill>
                  <a:srgbClr val="990033"/>
                </a:solidFill>
              </a:rPr>
              <a:pPr/>
              <a:t>21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54274" name="Rectangle 4">
            <a:extLst>
              <a:ext uri="{FF2B5EF4-FFF2-40B4-BE49-F238E27FC236}">
                <a16:creationId xmlns:a16="http://schemas.microsoft.com/office/drawing/2014/main" id="{A952E0CB-D7C0-FA2F-EA3D-238899405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Characteristics Of Relations</a:t>
            </a:r>
          </a:p>
        </p:txBody>
      </p:sp>
      <p:sp>
        <p:nvSpPr>
          <p:cNvPr id="54275" name="Rectangle 5">
            <a:extLst>
              <a:ext uri="{FF2B5EF4-FFF2-40B4-BE49-F238E27FC236}">
                <a16:creationId xmlns:a16="http://schemas.microsoft.com/office/drawing/2014/main" id="{48959088-EB89-F5C7-5483-DD89DB6731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Notation:</a:t>
            </a:r>
          </a:p>
          <a:p>
            <a:pPr lvl="1" eaLnBrk="1" hangingPunct="1"/>
            <a:r>
              <a:rPr lang="en-US" altLang="en-US"/>
              <a:t>We refer to </a:t>
            </a:r>
            <a:r>
              <a:rPr lang="en-US" altLang="en-US" b="1"/>
              <a:t>component values</a:t>
            </a:r>
            <a:r>
              <a:rPr lang="en-US" altLang="en-US"/>
              <a:t> of a tuple t by:</a:t>
            </a:r>
          </a:p>
          <a:p>
            <a:pPr lvl="2" eaLnBrk="1" hangingPunct="1"/>
            <a:r>
              <a:rPr lang="en-US" altLang="en-US"/>
              <a:t>t[Ai] or t.Ai</a:t>
            </a:r>
          </a:p>
          <a:p>
            <a:pPr lvl="2" eaLnBrk="1" hangingPunct="1"/>
            <a:r>
              <a:rPr lang="en-US" altLang="en-US"/>
              <a:t>This is the value vi of attribute Ai for tuple t</a:t>
            </a:r>
          </a:p>
          <a:p>
            <a:pPr lvl="1" eaLnBrk="1" hangingPunct="1"/>
            <a:r>
              <a:rPr lang="en-US" altLang="en-US"/>
              <a:t>Similarly, t[Au, Av, ..., Aw] refers to the subtuple of t containing the values of attributes Au, Av, ..., Aw, respectively in t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B0DE8573-069E-7E49-D706-91D7EAE9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CONSTRAINTS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BAF3E666-EB00-D3BB-521E-84921DB96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/>
              <a:t>Constraints determine which values are permissible and which are not in the database.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/>
              <a:t>They are of three main types: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/>
              <a:t>1. </a:t>
            </a:r>
            <a:r>
              <a:rPr lang="en-US" altLang="en-US" sz="2400" b="1"/>
              <a:t>Inherent or Implicit Constraints</a:t>
            </a:r>
            <a:r>
              <a:rPr lang="en-US" altLang="en-US" sz="2400"/>
              <a:t>: These are based on the data model itself. (E.g., relational model does not allow a list as a value for any attribute)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/>
              <a:t>2. </a:t>
            </a:r>
            <a:r>
              <a:rPr lang="en-US" altLang="en-US" sz="2400" b="1"/>
              <a:t>Schema-based or Explicit Constraints</a:t>
            </a:r>
            <a:r>
              <a:rPr lang="en-US" altLang="en-US" sz="2400"/>
              <a:t>: They are expressed in the schema by using the facilities provided by the model. (E.g., max. cardinality ratio constraint in the ER model)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2400"/>
              <a:t>3. </a:t>
            </a:r>
            <a:r>
              <a:rPr lang="en-US" altLang="en-US" sz="2400" b="1"/>
              <a:t>Application based or semantic constraints</a:t>
            </a:r>
            <a:r>
              <a:rPr lang="en-US" altLang="en-US" sz="2400"/>
              <a:t>: These are beyond the expressive power of the model and must be specified and enforced by the application programs.</a:t>
            </a:r>
          </a:p>
        </p:txBody>
      </p:sp>
      <p:sp>
        <p:nvSpPr>
          <p:cNvPr id="56323" name="Slide Number Placeholder 3">
            <a:extLst>
              <a:ext uri="{FF2B5EF4-FFF2-40B4-BE49-F238E27FC236}">
                <a16:creationId xmlns:a16="http://schemas.microsoft.com/office/drawing/2014/main" id="{5F6F5EF8-5377-C650-FCAE-36F78349EE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01BACBD5-05B6-4CAA-A29C-37D8259351DF}" type="slidenum">
              <a:rPr lang="en-US" altLang="en-US" sz="1400">
                <a:solidFill>
                  <a:srgbClr val="990033"/>
                </a:solidFill>
              </a:rPr>
              <a:pPr/>
              <a:t>22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3">
            <a:extLst>
              <a:ext uri="{FF2B5EF4-FFF2-40B4-BE49-F238E27FC236}">
                <a16:creationId xmlns:a16="http://schemas.microsoft.com/office/drawing/2014/main" id="{F07641E8-05A3-7A98-C741-16F1A1296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96EA2270-F0A0-4FAA-855F-F634C8562542}" type="slidenum">
              <a:rPr lang="en-US" altLang="en-US" sz="1400">
                <a:solidFill>
                  <a:srgbClr val="990033"/>
                </a:solidFill>
              </a:rPr>
              <a:pPr/>
              <a:t>23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57346" name="Rectangle 4">
            <a:extLst>
              <a:ext uri="{FF2B5EF4-FFF2-40B4-BE49-F238E27FC236}">
                <a16:creationId xmlns:a16="http://schemas.microsoft.com/office/drawing/2014/main" id="{B9372E42-FE44-552B-74A0-E75C6C973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Relational Integrity Constraints</a:t>
            </a:r>
          </a:p>
        </p:txBody>
      </p:sp>
      <p:sp>
        <p:nvSpPr>
          <p:cNvPr id="57347" name="Rectangle 5">
            <a:extLst>
              <a:ext uri="{FF2B5EF4-FFF2-40B4-BE49-F238E27FC236}">
                <a16:creationId xmlns:a16="http://schemas.microsoft.com/office/drawing/2014/main" id="{62212BCF-E472-BE36-C51D-72A2E2BC4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Constraints are </a:t>
            </a:r>
            <a:r>
              <a:rPr lang="en-US" altLang="en-US" sz="2400" b="1"/>
              <a:t>conditions</a:t>
            </a:r>
            <a:r>
              <a:rPr lang="en-US" altLang="en-US" sz="2400"/>
              <a:t> that must hold on </a:t>
            </a:r>
            <a:r>
              <a:rPr lang="en-US" altLang="en-US" sz="2400" b="1"/>
              <a:t>all</a:t>
            </a:r>
            <a:r>
              <a:rPr lang="en-US" altLang="en-US" sz="2400"/>
              <a:t>  valid relation states.</a:t>
            </a:r>
          </a:p>
          <a:p>
            <a:pPr eaLnBrk="1" hangingPunct="1"/>
            <a:r>
              <a:rPr lang="en-US" altLang="en-US" sz="2400"/>
              <a:t>There are three </a:t>
            </a:r>
            <a:r>
              <a:rPr lang="en-US" altLang="en-US" sz="2400" i="1"/>
              <a:t>main types</a:t>
            </a:r>
            <a:r>
              <a:rPr lang="en-US" altLang="en-US" sz="2400"/>
              <a:t> of (explicit schema-based) constraints that can be expressed in the relational model:</a:t>
            </a:r>
          </a:p>
          <a:p>
            <a:pPr lvl="1" eaLnBrk="1" hangingPunct="1"/>
            <a:r>
              <a:rPr lang="en-US" altLang="en-US" sz="2200" b="1"/>
              <a:t>Key</a:t>
            </a:r>
            <a:r>
              <a:rPr lang="en-US" altLang="en-US" sz="2200"/>
              <a:t> constraints</a:t>
            </a:r>
          </a:p>
          <a:p>
            <a:pPr lvl="1" eaLnBrk="1" hangingPunct="1"/>
            <a:r>
              <a:rPr lang="en-US" altLang="en-US" sz="2200" b="1"/>
              <a:t>Entity</a:t>
            </a:r>
            <a:r>
              <a:rPr lang="en-US" altLang="en-US" sz="2200"/>
              <a:t> </a:t>
            </a:r>
            <a:r>
              <a:rPr lang="en-US" altLang="en-US" sz="2200" b="1"/>
              <a:t>integrity</a:t>
            </a:r>
            <a:r>
              <a:rPr lang="en-US" altLang="en-US" sz="2200"/>
              <a:t> constraints</a:t>
            </a:r>
          </a:p>
          <a:p>
            <a:pPr lvl="1" eaLnBrk="1" hangingPunct="1"/>
            <a:r>
              <a:rPr lang="en-US" altLang="en-US" sz="2200" b="1"/>
              <a:t>Referential integrity</a:t>
            </a:r>
            <a:r>
              <a:rPr lang="en-US" altLang="en-US" sz="2200"/>
              <a:t> constraints</a:t>
            </a:r>
          </a:p>
          <a:p>
            <a:pPr eaLnBrk="1" hangingPunct="1"/>
            <a:r>
              <a:rPr lang="en-US" altLang="en-US" sz="2400"/>
              <a:t>Another schema-based constraint is the </a:t>
            </a:r>
            <a:r>
              <a:rPr lang="en-US" altLang="en-US" sz="2400" b="1"/>
              <a:t>domain</a:t>
            </a:r>
            <a:r>
              <a:rPr lang="en-US" altLang="en-US" sz="2400"/>
              <a:t> constraint</a:t>
            </a:r>
          </a:p>
          <a:p>
            <a:pPr lvl="1" eaLnBrk="1" hangingPunct="1"/>
            <a:r>
              <a:rPr lang="en-US" altLang="en-US" sz="2200"/>
              <a:t>Every value in a tuple must be from the </a:t>
            </a:r>
            <a:r>
              <a:rPr lang="en-US" altLang="en-US" sz="2200" i="1"/>
              <a:t>domain of its attribute</a:t>
            </a:r>
            <a:r>
              <a:rPr lang="en-US" altLang="en-US" sz="2200"/>
              <a:t> (or it could be </a:t>
            </a:r>
            <a:r>
              <a:rPr lang="en-US" altLang="en-US" sz="2200" b="1"/>
              <a:t>null</a:t>
            </a:r>
            <a:r>
              <a:rPr lang="en-US" altLang="en-US" sz="2200"/>
              <a:t>, if allowed for that attribute)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3">
            <a:extLst>
              <a:ext uri="{FF2B5EF4-FFF2-40B4-BE49-F238E27FC236}">
                <a16:creationId xmlns:a16="http://schemas.microsoft.com/office/drawing/2014/main" id="{95ED5187-5D67-1660-74B7-60D2BD3B07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706AF86B-F809-42B9-8D8E-893BE3C9FA9B}" type="slidenum">
              <a:rPr lang="en-US" altLang="en-US" sz="1400">
                <a:solidFill>
                  <a:srgbClr val="990033"/>
                </a:solidFill>
              </a:rPr>
              <a:pPr/>
              <a:t>24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59394" name="Rectangle 6">
            <a:extLst>
              <a:ext uri="{FF2B5EF4-FFF2-40B4-BE49-F238E27FC236}">
                <a16:creationId xmlns:a16="http://schemas.microsoft.com/office/drawing/2014/main" id="{1A5ABF8B-3133-6C01-D3B1-A185E166B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Key Constraints</a:t>
            </a:r>
          </a:p>
        </p:txBody>
      </p:sp>
      <p:sp>
        <p:nvSpPr>
          <p:cNvPr id="59395" name="Rectangle 7">
            <a:extLst>
              <a:ext uri="{FF2B5EF4-FFF2-40B4-BE49-F238E27FC236}">
                <a16:creationId xmlns:a16="http://schemas.microsoft.com/office/drawing/2014/main" id="{A9AFDCEE-231B-39AA-C889-B5073C2E5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b="1"/>
              <a:t>Superkey</a:t>
            </a:r>
            <a:r>
              <a:rPr lang="en-US" altLang="en-US" sz="2400"/>
              <a:t> of R: </a:t>
            </a:r>
          </a:p>
          <a:p>
            <a:pPr lvl="1" eaLnBrk="1" hangingPunct="1"/>
            <a:r>
              <a:rPr lang="en-US" altLang="en-US" sz="2200"/>
              <a:t>Is a set of attributes SK of R with the following condition:</a:t>
            </a:r>
          </a:p>
          <a:p>
            <a:pPr lvl="2" eaLnBrk="1" hangingPunct="1"/>
            <a:r>
              <a:rPr lang="en-US" altLang="en-US" sz="2000"/>
              <a:t>No two tuples in any valid relation state r(R) will have the same value for SK</a:t>
            </a:r>
          </a:p>
          <a:p>
            <a:pPr lvl="2" eaLnBrk="1" hangingPunct="1"/>
            <a:r>
              <a:rPr lang="en-US" altLang="en-US" sz="2000"/>
              <a:t>That is, for any distinct tuples t1 and t2 in r(R), t1[SK] </a:t>
            </a:r>
            <a:r>
              <a:rPr lang="en-US" altLang="en-US" sz="2000">
                <a:sym typeface="Symbol" panose="05050102010706020507" pitchFamily="18" charset="2"/>
              </a:rPr>
              <a:t></a:t>
            </a:r>
            <a:r>
              <a:rPr lang="en-US" altLang="en-US" sz="2000"/>
              <a:t> t2[SK]</a:t>
            </a:r>
          </a:p>
          <a:p>
            <a:pPr lvl="2" eaLnBrk="1" hangingPunct="1"/>
            <a:r>
              <a:rPr lang="en-US" altLang="en-US" sz="2000"/>
              <a:t>This condition must hold in </a:t>
            </a:r>
            <a:r>
              <a:rPr lang="en-US" altLang="en-US" sz="2000" i="1"/>
              <a:t>any valid state</a:t>
            </a:r>
            <a:r>
              <a:rPr lang="en-US" altLang="en-US" sz="2000"/>
              <a:t> r(R)</a:t>
            </a:r>
          </a:p>
          <a:p>
            <a:pPr eaLnBrk="1" hangingPunct="1"/>
            <a:r>
              <a:rPr lang="en-US" altLang="en-US" sz="2400" b="1"/>
              <a:t>Key</a:t>
            </a:r>
            <a:r>
              <a:rPr lang="en-US" altLang="en-US" sz="2400"/>
              <a:t> of R:</a:t>
            </a:r>
          </a:p>
          <a:p>
            <a:pPr lvl="1" eaLnBrk="1" hangingPunct="1"/>
            <a:r>
              <a:rPr lang="en-US" altLang="en-US" sz="2200"/>
              <a:t>A "minimal" superkey</a:t>
            </a:r>
          </a:p>
          <a:p>
            <a:pPr lvl="1" eaLnBrk="1" hangingPunct="1"/>
            <a:r>
              <a:rPr lang="en-US" altLang="en-US" sz="2200"/>
              <a:t>That is, a key is a superkey K such that removal of any attribute from K results in a set of attributes that is not a superkey (does not possess the superkey uniqueness property)</a:t>
            </a:r>
          </a:p>
          <a:p>
            <a:pPr eaLnBrk="1" hangingPunct="1"/>
            <a:r>
              <a:rPr lang="en-US" altLang="en-US" sz="2400"/>
              <a:t>A Key is a Superkey but not vice versa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3">
            <a:extLst>
              <a:ext uri="{FF2B5EF4-FFF2-40B4-BE49-F238E27FC236}">
                <a16:creationId xmlns:a16="http://schemas.microsoft.com/office/drawing/2014/main" id="{11E8ADDF-EC56-7598-0192-D3ED447E14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B2821403-0EC2-434C-8C50-DB7AEB852E7B}" type="slidenum">
              <a:rPr lang="en-US" altLang="en-US" sz="1400">
                <a:solidFill>
                  <a:srgbClr val="990033"/>
                </a:solidFill>
              </a:rPr>
              <a:pPr/>
              <a:t>25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7866EF40-AD84-1377-FE39-B640798A4E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Key Constraints (continued)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48F9D0B9-320C-CD1A-8D87-1B409363E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Example: Consider the CAR relation schema:</a:t>
            </a:r>
          </a:p>
          <a:p>
            <a:pPr lvl="1" eaLnBrk="1" hangingPunct="1"/>
            <a:r>
              <a:rPr lang="en-US" altLang="en-US" sz="2200"/>
              <a:t>CAR(State, Reg#, SerialNo, Make, Model, Year)</a:t>
            </a:r>
          </a:p>
          <a:p>
            <a:pPr lvl="1" eaLnBrk="1" hangingPunct="1"/>
            <a:r>
              <a:rPr lang="en-US" altLang="en-US" sz="2200"/>
              <a:t>CAR has two keys:</a:t>
            </a:r>
          </a:p>
          <a:p>
            <a:pPr lvl="2" eaLnBrk="1" hangingPunct="1"/>
            <a:r>
              <a:rPr lang="en-US" altLang="en-US" sz="2000"/>
              <a:t>Key1 = {State, Reg#}</a:t>
            </a:r>
          </a:p>
          <a:p>
            <a:pPr lvl="2" eaLnBrk="1" hangingPunct="1"/>
            <a:r>
              <a:rPr lang="en-US" altLang="en-US" sz="2000"/>
              <a:t>Key2 = {SerialNo}</a:t>
            </a:r>
          </a:p>
          <a:p>
            <a:pPr lvl="1" eaLnBrk="1" hangingPunct="1"/>
            <a:r>
              <a:rPr lang="en-US" altLang="en-US" sz="2200"/>
              <a:t>Both are also superkeys of CAR</a:t>
            </a:r>
          </a:p>
          <a:p>
            <a:pPr lvl="1" eaLnBrk="1" hangingPunct="1"/>
            <a:r>
              <a:rPr lang="en-US" altLang="en-US" sz="2200"/>
              <a:t>{SerialNo, Make} is a superkey but </a:t>
            </a:r>
            <a:r>
              <a:rPr lang="en-US" altLang="en-US" sz="2200" i="1"/>
              <a:t>not</a:t>
            </a:r>
            <a:r>
              <a:rPr lang="en-US" altLang="en-US" sz="2200"/>
              <a:t> a key.</a:t>
            </a:r>
          </a:p>
          <a:p>
            <a:pPr eaLnBrk="1" hangingPunct="1"/>
            <a:r>
              <a:rPr lang="en-US" altLang="en-US" sz="2400"/>
              <a:t>In general:</a:t>
            </a:r>
          </a:p>
          <a:p>
            <a:pPr lvl="1" eaLnBrk="1" hangingPunct="1"/>
            <a:r>
              <a:rPr lang="en-US" altLang="en-US" sz="2200"/>
              <a:t>Any </a:t>
            </a:r>
            <a:r>
              <a:rPr lang="en-US" altLang="en-US" sz="2200" i="1"/>
              <a:t>key</a:t>
            </a:r>
            <a:r>
              <a:rPr lang="en-US" altLang="en-US" sz="2200"/>
              <a:t> is a </a:t>
            </a:r>
            <a:r>
              <a:rPr lang="en-US" altLang="en-US" sz="2200" i="1"/>
              <a:t>superkey </a:t>
            </a:r>
            <a:r>
              <a:rPr lang="en-US" altLang="en-US" sz="2200"/>
              <a:t>(but not vice versa)</a:t>
            </a:r>
          </a:p>
          <a:p>
            <a:pPr lvl="1" eaLnBrk="1" hangingPunct="1"/>
            <a:r>
              <a:rPr lang="en-US" altLang="en-US" sz="2200"/>
              <a:t>Any set of attributes that </a:t>
            </a:r>
            <a:r>
              <a:rPr lang="en-US" altLang="en-US" sz="2200" i="1"/>
              <a:t>includes a key</a:t>
            </a:r>
            <a:r>
              <a:rPr lang="en-US" altLang="en-US" sz="2200"/>
              <a:t> is a </a:t>
            </a:r>
            <a:r>
              <a:rPr lang="en-US" altLang="en-US" sz="2200" i="1"/>
              <a:t>superkey</a:t>
            </a:r>
          </a:p>
          <a:p>
            <a:pPr lvl="1" eaLnBrk="1" hangingPunct="1"/>
            <a:r>
              <a:rPr lang="en-US" altLang="en-US" sz="2200"/>
              <a:t>A </a:t>
            </a:r>
            <a:r>
              <a:rPr lang="en-US" altLang="en-US" sz="2200" i="1"/>
              <a:t>minimal</a:t>
            </a:r>
            <a:r>
              <a:rPr lang="en-US" altLang="en-US" sz="2200"/>
              <a:t> superkey is also a key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3">
            <a:extLst>
              <a:ext uri="{FF2B5EF4-FFF2-40B4-BE49-F238E27FC236}">
                <a16:creationId xmlns:a16="http://schemas.microsoft.com/office/drawing/2014/main" id="{E4974DF0-9828-43F5-88A6-3DF6611B7D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7504D830-0D45-4A72-9EF4-A5B31D06F836}" type="slidenum">
              <a:rPr lang="en-US" altLang="en-US" sz="1400">
                <a:solidFill>
                  <a:srgbClr val="990033"/>
                </a:solidFill>
              </a:rPr>
              <a:pPr/>
              <a:t>26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49BBE242-C2AA-9BD3-C8EE-2867AB6879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Key Constraints (continued)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C628311-35A3-69AD-6F6C-9D180795C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If a relation has several </a:t>
            </a:r>
            <a:r>
              <a:rPr lang="en-US" altLang="en-US" sz="2400" b="1"/>
              <a:t>candidate keys</a:t>
            </a:r>
            <a:r>
              <a:rPr lang="en-US" altLang="en-US" sz="2400"/>
              <a:t>, one is chosen arbitrarily to be the </a:t>
            </a:r>
            <a:r>
              <a:rPr lang="en-US" altLang="en-US" sz="2400" b="1"/>
              <a:t>primary key</a:t>
            </a:r>
            <a:r>
              <a:rPr lang="en-US" altLang="en-US" sz="2400"/>
              <a:t>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The primary key attributes are </a:t>
            </a:r>
            <a:r>
              <a:rPr lang="en-US" altLang="en-US" sz="2200" u="sng"/>
              <a:t>underlined</a:t>
            </a:r>
            <a:r>
              <a:rPr lang="en-US" altLang="en-US" sz="2200"/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Example: Consider the CAR relation schema: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CAR(State, Reg#, </a:t>
            </a:r>
            <a:r>
              <a:rPr lang="en-US" altLang="en-US" sz="2200" u="sng"/>
              <a:t>SerialNo</a:t>
            </a:r>
            <a:r>
              <a:rPr lang="en-US" altLang="en-US" sz="2200"/>
              <a:t>, Make, Model, Year)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We chose SerialNo as the primary key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The primary key value is used to </a:t>
            </a:r>
            <a:r>
              <a:rPr lang="en-US" altLang="en-US" sz="2400" i="1"/>
              <a:t>uniquely identify</a:t>
            </a:r>
            <a:r>
              <a:rPr lang="en-US" altLang="en-US" sz="2400"/>
              <a:t> each tuple in a relation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Provides the tuple identity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Also used to </a:t>
            </a:r>
            <a:r>
              <a:rPr lang="en-US" altLang="en-US" sz="2400" i="1"/>
              <a:t>reference</a:t>
            </a:r>
            <a:r>
              <a:rPr lang="en-US" altLang="en-US" sz="2400"/>
              <a:t> the tuple from another tuple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General rule: Choose as primary key the smallest of the candidate keys (in terms of size)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/>
              <a:t>Not always applicable – choice is sometimes subjective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2">
            <a:extLst>
              <a:ext uri="{FF2B5EF4-FFF2-40B4-BE49-F238E27FC236}">
                <a16:creationId xmlns:a16="http://schemas.microsoft.com/office/drawing/2014/main" id="{92299AE3-4B72-EB03-B3CE-1B2B87F1FA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BA3ADA32-F333-491F-9B50-5422966CC2BC}" type="slidenum">
              <a:rPr lang="en-US" altLang="en-US" sz="1400">
                <a:solidFill>
                  <a:srgbClr val="990033"/>
                </a:solidFill>
              </a:rPr>
              <a:pPr/>
              <a:t>27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65538" name="Rectangle 7">
            <a:extLst>
              <a:ext uri="{FF2B5EF4-FFF2-40B4-BE49-F238E27FC236}">
                <a16:creationId xmlns:a16="http://schemas.microsoft.com/office/drawing/2014/main" id="{FBE3CB9E-EDFB-497D-FC9C-F39576C29E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CAR table with two candidate keys – LicenseNumber chosen as Primary Key</a:t>
            </a:r>
          </a:p>
        </p:txBody>
      </p:sp>
      <p:pic>
        <p:nvPicPr>
          <p:cNvPr id="65539" name="Picture 9" descr="fig05_04">
            <a:extLst>
              <a:ext uri="{FF2B5EF4-FFF2-40B4-BE49-F238E27FC236}">
                <a16:creationId xmlns:a16="http://schemas.microsoft.com/office/drawing/2014/main" id="{E3D9A312-5785-BC37-E2DE-2F29B1A67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59050"/>
            <a:ext cx="84137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Number Placeholder 3">
            <a:extLst>
              <a:ext uri="{FF2B5EF4-FFF2-40B4-BE49-F238E27FC236}">
                <a16:creationId xmlns:a16="http://schemas.microsoft.com/office/drawing/2014/main" id="{75F05EDF-EBD6-D600-1064-04E601864B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541E3159-AD7A-4390-914E-728D3E105FA2}" type="slidenum">
              <a:rPr lang="en-US" altLang="en-US" sz="1400">
                <a:solidFill>
                  <a:srgbClr val="990033"/>
                </a:solidFill>
              </a:rPr>
              <a:pPr/>
              <a:t>28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67586" name="Rectangle 6">
            <a:extLst>
              <a:ext uri="{FF2B5EF4-FFF2-40B4-BE49-F238E27FC236}">
                <a16:creationId xmlns:a16="http://schemas.microsoft.com/office/drawing/2014/main" id="{28864C3D-5F57-96CD-E496-67466ADFF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Relational Database Schema</a:t>
            </a:r>
          </a:p>
        </p:txBody>
      </p:sp>
      <p:sp>
        <p:nvSpPr>
          <p:cNvPr id="67587" name="Rectangle 7">
            <a:extLst>
              <a:ext uri="{FF2B5EF4-FFF2-40B4-BE49-F238E27FC236}">
                <a16:creationId xmlns:a16="http://schemas.microsoft.com/office/drawing/2014/main" id="{A7B752DA-5847-C9E3-18EF-AFC138031E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Relational Database Schema:</a:t>
            </a:r>
          </a:p>
          <a:p>
            <a:pPr lvl="1" eaLnBrk="1" hangingPunct="1"/>
            <a:r>
              <a:rPr lang="en-US" altLang="en-US"/>
              <a:t>A set S of relation schemas that belong to the same database.</a:t>
            </a:r>
          </a:p>
          <a:p>
            <a:pPr lvl="1" eaLnBrk="1" hangingPunct="1"/>
            <a:r>
              <a:rPr lang="en-US" altLang="en-US"/>
              <a:t>S is the name of the whole </a:t>
            </a:r>
            <a:r>
              <a:rPr lang="en-US" altLang="en-US" b="1"/>
              <a:t>database schema</a:t>
            </a:r>
          </a:p>
          <a:p>
            <a:pPr lvl="1" eaLnBrk="1" hangingPunct="1"/>
            <a:r>
              <a:rPr lang="en-US" altLang="en-US"/>
              <a:t>S = {R1, R2, ..., Rn} and a set IC of integrity constraints.</a:t>
            </a:r>
          </a:p>
          <a:p>
            <a:pPr lvl="1" eaLnBrk="1" hangingPunct="1"/>
            <a:r>
              <a:rPr lang="en-US" altLang="en-US"/>
              <a:t>R1, R2, …, Rn are the names of the individual </a:t>
            </a:r>
            <a:r>
              <a:rPr lang="en-US" altLang="en-US" b="1"/>
              <a:t>relation schemas</a:t>
            </a:r>
            <a:r>
              <a:rPr lang="en-US" altLang="en-US"/>
              <a:t> within the database S</a:t>
            </a:r>
          </a:p>
          <a:p>
            <a:pPr eaLnBrk="1" hangingPunct="1"/>
            <a:r>
              <a:rPr lang="en-US" altLang="en-US"/>
              <a:t>Following slide shows a COMPANY database schema with 6 relation schemas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Number Placeholder 1">
            <a:extLst>
              <a:ext uri="{FF2B5EF4-FFF2-40B4-BE49-F238E27FC236}">
                <a16:creationId xmlns:a16="http://schemas.microsoft.com/office/drawing/2014/main" id="{8C8DC991-66FF-8360-E6F4-B90E67E88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A1487BE3-2BEF-4924-B7E9-C92871935B5B}" type="slidenum">
              <a:rPr lang="en-US" altLang="en-US" sz="1400">
                <a:solidFill>
                  <a:srgbClr val="990033"/>
                </a:solidFill>
              </a:rPr>
              <a:pPr/>
              <a:t>29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69634" name="Picture 5" descr="fig05_05">
            <a:extLst>
              <a:ext uri="{FF2B5EF4-FFF2-40B4-BE49-F238E27FC236}">
                <a16:creationId xmlns:a16="http://schemas.microsoft.com/office/drawing/2014/main" id="{A0639F52-74FD-4E31-2E5C-2FB539D61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0"/>
            <a:ext cx="8074025" cy="490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Text Box 6" descr="Pink tissue paper">
            <a:extLst>
              <a:ext uri="{FF2B5EF4-FFF2-40B4-BE49-F238E27FC236}">
                <a16:creationId xmlns:a16="http://schemas.microsoft.com/office/drawing/2014/main" id="{AE6AFFA0-09DE-9E15-06C4-380D43EA6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762000"/>
            <a:ext cx="6934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200">
                <a:solidFill>
                  <a:srgbClr val="800000"/>
                </a:solidFill>
              </a:rPr>
              <a:t>COMPANY Database Schema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4DF89EAF-BE94-3CD0-08D4-3EFFA7B9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Relational Database State</a:t>
            </a:r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CDDFE892-356F-0B19-C0B1-A6AB4F52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38" y="1563688"/>
            <a:ext cx="8294687" cy="4572000"/>
          </a:xfrm>
        </p:spPr>
        <p:txBody>
          <a:bodyPr/>
          <a:lstStyle/>
          <a:p>
            <a:r>
              <a:rPr lang="en-US" altLang="en-US" sz="2600"/>
              <a:t>A </a:t>
            </a:r>
            <a:r>
              <a:rPr lang="en-US" altLang="en-US" sz="2600" b="1"/>
              <a:t>relational database state</a:t>
            </a:r>
            <a:r>
              <a:rPr lang="en-US" altLang="en-US" sz="2600"/>
              <a:t> DB of </a:t>
            </a:r>
            <a:r>
              <a:rPr lang="en-US" altLang="en-US" sz="2600" i="1"/>
              <a:t>S</a:t>
            </a:r>
            <a:r>
              <a:rPr lang="en-US" altLang="en-US" sz="2600"/>
              <a:t> is a set of relation states DB = {</a:t>
            </a:r>
            <a:r>
              <a:rPr lang="en-US" altLang="en-US" sz="2600" i="1"/>
              <a:t>r</a:t>
            </a:r>
            <a:r>
              <a:rPr lang="en-US" altLang="en-US" sz="2600" baseline="-25000"/>
              <a:t>1</a:t>
            </a:r>
            <a:r>
              <a:rPr lang="en-US" altLang="en-US" sz="2600"/>
              <a:t>, </a:t>
            </a:r>
            <a:r>
              <a:rPr lang="en-US" altLang="en-US" sz="2600" i="1"/>
              <a:t>r</a:t>
            </a:r>
            <a:r>
              <a:rPr lang="en-US" altLang="en-US" sz="2600" baseline="-25000"/>
              <a:t>2</a:t>
            </a:r>
            <a:r>
              <a:rPr lang="en-US" altLang="en-US" sz="2600"/>
              <a:t>, ..., </a:t>
            </a:r>
            <a:r>
              <a:rPr lang="en-US" altLang="en-US" sz="2600" i="1"/>
              <a:t>r</a:t>
            </a:r>
            <a:r>
              <a:rPr lang="en-US" altLang="en-US" sz="2600" i="1" baseline="-25000"/>
              <a:t>m</a:t>
            </a:r>
            <a:r>
              <a:rPr lang="en-US" altLang="en-US" sz="2600"/>
              <a:t>} such that each </a:t>
            </a:r>
            <a:r>
              <a:rPr lang="en-US" altLang="en-US" sz="2600" i="1"/>
              <a:t>r</a:t>
            </a:r>
            <a:r>
              <a:rPr lang="en-US" altLang="en-US" sz="2600" i="1" baseline="-25000"/>
              <a:t>i</a:t>
            </a:r>
            <a:r>
              <a:rPr lang="en-US" altLang="en-US" sz="2600"/>
              <a:t> is a state of </a:t>
            </a:r>
            <a:r>
              <a:rPr lang="en-US" altLang="en-US" sz="2600" i="1"/>
              <a:t>R</a:t>
            </a:r>
            <a:r>
              <a:rPr lang="en-US" altLang="en-US" sz="2600" i="1" baseline="-25000"/>
              <a:t>i</a:t>
            </a:r>
            <a:r>
              <a:rPr lang="en-US" altLang="en-US" sz="2600"/>
              <a:t> and such that the </a:t>
            </a:r>
            <a:r>
              <a:rPr lang="en-US" altLang="en-US" sz="2600" i="1"/>
              <a:t>r</a:t>
            </a:r>
            <a:r>
              <a:rPr lang="en-US" altLang="en-US" sz="2600" i="1" baseline="-25000"/>
              <a:t>i</a:t>
            </a:r>
            <a:r>
              <a:rPr lang="en-US" altLang="en-US" sz="2600"/>
              <a:t> relation states satisfy the integrity constraints specified in IC. </a:t>
            </a:r>
          </a:p>
          <a:p>
            <a:r>
              <a:rPr lang="en-US" altLang="en-US" sz="2600"/>
              <a:t>A relational database </a:t>
            </a:r>
            <a:r>
              <a:rPr lang="en-US" altLang="en-US" sz="2600" i="1"/>
              <a:t>state</a:t>
            </a:r>
            <a:r>
              <a:rPr lang="en-US" altLang="en-US" sz="2600"/>
              <a:t> is sometimes called a relational database </a:t>
            </a:r>
            <a:r>
              <a:rPr lang="en-US" altLang="en-US" sz="2600" i="1"/>
              <a:t>snapshot</a:t>
            </a:r>
            <a:r>
              <a:rPr lang="en-US" altLang="en-US" sz="2600"/>
              <a:t> or </a:t>
            </a:r>
            <a:r>
              <a:rPr lang="en-US" altLang="en-US" sz="2600" i="1"/>
              <a:t>instance</a:t>
            </a:r>
            <a:r>
              <a:rPr lang="en-US" altLang="en-US" sz="2600"/>
              <a:t>. </a:t>
            </a:r>
          </a:p>
          <a:p>
            <a:r>
              <a:rPr lang="en-US" altLang="en-US" sz="2600"/>
              <a:t>We will not use the term </a:t>
            </a:r>
            <a:r>
              <a:rPr lang="en-US" altLang="en-US" sz="2600" i="1"/>
              <a:t>instance</a:t>
            </a:r>
            <a:r>
              <a:rPr lang="en-US" altLang="en-US" sz="2600"/>
              <a:t> since it also applies to single tuples.</a:t>
            </a:r>
          </a:p>
          <a:p>
            <a:r>
              <a:rPr lang="en-US" altLang="en-US" sz="2600"/>
              <a:t>A database state that does not meet the constraints is an invalid state</a:t>
            </a:r>
          </a:p>
        </p:txBody>
      </p:sp>
      <p:sp>
        <p:nvSpPr>
          <p:cNvPr id="71683" name="Slide Number Placeholder 3">
            <a:extLst>
              <a:ext uri="{FF2B5EF4-FFF2-40B4-BE49-F238E27FC236}">
                <a16:creationId xmlns:a16="http://schemas.microsoft.com/office/drawing/2014/main" id="{1611F03B-76B5-C58F-C3A0-37FDD08F8F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BEB07929-CB77-4DD5-967D-9E1667BACF5C}" type="slidenum">
              <a:rPr lang="en-US" altLang="en-US" sz="1400">
                <a:solidFill>
                  <a:srgbClr val="990033"/>
                </a:solidFill>
              </a:rPr>
              <a:pPr/>
              <a:t>30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Number Placeholder 3">
            <a:extLst>
              <a:ext uri="{FF2B5EF4-FFF2-40B4-BE49-F238E27FC236}">
                <a16:creationId xmlns:a16="http://schemas.microsoft.com/office/drawing/2014/main" id="{EEDF3BCA-CEAE-FDB1-7F02-9511B52DC5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63204B6C-6EAF-4A67-889C-E43BBAEFB89A}" type="slidenum">
              <a:rPr lang="en-US" altLang="en-US" sz="1400">
                <a:solidFill>
                  <a:srgbClr val="990033"/>
                </a:solidFill>
              </a:rPr>
              <a:pPr/>
              <a:t>31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284EF758-13B4-F073-3F00-A9F84F1A9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Populated database state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B75D1964-FB4E-75E4-7EDC-C0EBBA2906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Each </a:t>
            </a:r>
            <a:r>
              <a:rPr lang="en-US" altLang="en-US" sz="2400" i="1"/>
              <a:t>relation</a:t>
            </a:r>
            <a:r>
              <a:rPr lang="en-US" altLang="en-US" sz="2400"/>
              <a:t> will have many tuples in its current relation state</a:t>
            </a:r>
          </a:p>
          <a:p>
            <a:pPr eaLnBrk="1" hangingPunct="1"/>
            <a:r>
              <a:rPr lang="en-US" altLang="en-US" sz="2400"/>
              <a:t>The </a:t>
            </a:r>
            <a:r>
              <a:rPr lang="en-US" altLang="en-US" sz="2400" i="1"/>
              <a:t>relational database state</a:t>
            </a:r>
            <a:r>
              <a:rPr lang="en-US" altLang="en-US" sz="2400"/>
              <a:t> is a union of all the individual relation states</a:t>
            </a:r>
          </a:p>
          <a:p>
            <a:pPr eaLnBrk="1" hangingPunct="1"/>
            <a:r>
              <a:rPr lang="en-US" altLang="en-US" sz="2400"/>
              <a:t>Whenever the database is changed, a new state arises</a:t>
            </a:r>
          </a:p>
          <a:p>
            <a:pPr eaLnBrk="1" hangingPunct="1"/>
            <a:r>
              <a:rPr lang="en-US" altLang="en-US" sz="2400"/>
              <a:t>Basic operations for changing the database:</a:t>
            </a:r>
          </a:p>
          <a:p>
            <a:pPr lvl="1" eaLnBrk="1" hangingPunct="1"/>
            <a:r>
              <a:rPr lang="en-US" altLang="en-US" sz="2200"/>
              <a:t>INSERT a new tuple in a relation</a:t>
            </a:r>
          </a:p>
          <a:p>
            <a:pPr lvl="1" eaLnBrk="1" hangingPunct="1"/>
            <a:r>
              <a:rPr lang="en-US" altLang="en-US" sz="2200"/>
              <a:t>DELETE an existing tuple from a relation</a:t>
            </a:r>
          </a:p>
          <a:p>
            <a:pPr lvl="1" eaLnBrk="1" hangingPunct="1"/>
            <a:r>
              <a:rPr lang="en-US" altLang="en-US" sz="2200"/>
              <a:t>MODIFY an attribute of an existing tuple</a:t>
            </a:r>
          </a:p>
          <a:p>
            <a:pPr eaLnBrk="1" hangingPunct="1"/>
            <a:r>
              <a:rPr lang="en-US" altLang="en-US" sz="2400"/>
              <a:t>Next slide (Fig. 5.6) shows an example state for the COMPANY database schema shown in Fig. 5.5.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Number Placeholder 1">
            <a:extLst>
              <a:ext uri="{FF2B5EF4-FFF2-40B4-BE49-F238E27FC236}">
                <a16:creationId xmlns:a16="http://schemas.microsoft.com/office/drawing/2014/main" id="{CA2DCE66-E7B3-17B1-166F-936A7825F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D57274DE-3C67-4208-9C50-4EDF4213722A}" type="slidenum">
              <a:rPr lang="en-US" altLang="en-US" sz="1400">
                <a:solidFill>
                  <a:srgbClr val="990033"/>
                </a:solidFill>
              </a:rPr>
              <a:pPr/>
              <a:t>32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73730" name="Picture 9" descr="fig05_06">
            <a:extLst>
              <a:ext uri="{FF2B5EF4-FFF2-40B4-BE49-F238E27FC236}">
                <a16:creationId xmlns:a16="http://schemas.microsoft.com/office/drawing/2014/main" id="{46B2F04A-EF9E-981C-3BDD-A0C08DBFC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524000"/>
            <a:ext cx="394811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1" name="Text Box 10" descr="Pink tissue paper">
            <a:extLst>
              <a:ext uri="{FF2B5EF4-FFF2-40B4-BE49-F238E27FC236}">
                <a16:creationId xmlns:a16="http://schemas.microsoft.com/office/drawing/2014/main" id="{216E72C9-A50B-6DF9-F564-76EB38DCE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838200"/>
            <a:ext cx="708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800000"/>
                </a:solidFill>
              </a:rPr>
              <a:t>Populated database state for COMPANY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Number Placeholder 3">
            <a:extLst>
              <a:ext uri="{FF2B5EF4-FFF2-40B4-BE49-F238E27FC236}">
                <a16:creationId xmlns:a16="http://schemas.microsoft.com/office/drawing/2014/main" id="{32FA2454-CA92-D600-232D-60892F85C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26F8CAF2-C174-4F94-906A-6A79EF263002}" type="slidenum">
              <a:rPr lang="en-US" altLang="en-US" sz="1400">
                <a:solidFill>
                  <a:srgbClr val="990033"/>
                </a:solidFill>
              </a:rPr>
              <a:pPr/>
              <a:t>33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4ACD3A9-3B94-5AB6-9DBA-06A2EAFCC0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Entity Integrity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12D7E91A-DB08-58A3-2CBC-9FE49F6E70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b="1"/>
              <a:t>Entity Integrity:</a:t>
            </a:r>
          </a:p>
          <a:p>
            <a:pPr lvl="1" eaLnBrk="1" hangingPunct="1"/>
            <a:r>
              <a:rPr lang="en-US" altLang="en-US" sz="2400"/>
              <a:t>The </a:t>
            </a:r>
            <a:r>
              <a:rPr lang="en-US" altLang="en-US" sz="2400" i="1"/>
              <a:t>primary key attributes</a:t>
            </a:r>
            <a:r>
              <a:rPr lang="en-US" altLang="en-US" sz="2400"/>
              <a:t> PK of each relation schema R in S cannot have null values in any tuple of r(R).</a:t>
            </a:r>
          </a:p>
          <a:p>
            <a:pPr lvl="2" eaLnBrk="1" hangingPunct="1"/>
            <a:r>
              <a:rPr lang="en-US" altLang="en-US" sz="2000"/>
              <a:t>This is because primary key values are used to </a:t>
            </a:r>
            <a:r>
              <a:rPr lang="en-US" altLang="en-US" sz="2000" i="1"/>
              <a:t>identify</a:t>
            </a:r>
            <a:r>
              <a:rPr lang="en-US" altLang="en-US" sz="2000"/>
              <a:t> the individual tuples.</a:t>
            </a:r>
          </a:p>
          <a:p>
            <a:pPr lvl="2" eaLnBrk="1" hangingPunct="1"/>
            <a:r>
              <a:rPr lang="en-US" altLang="en-US" sz="2000"/>
              <a:t>t[PK] </a:t>
            </a:r>
            <a:r>
              <a:rPr lang="en-US" altLang="en-US" sz="2000">
                <a:sym typeface="Symbol" panose="05050102010706020507" pitchFamily="18" charset="2"/>
              </a:rPr>
              <a:t></a:t>
            </a:r>
            <a:r>
              <a:rPr lang="en-US" altLang="en-US" sz="2000"/>
              <a:t> null for any tuple t in r(R)</a:t>
            </a:r>
          </a:p>
          <a:p>
            <a:pPr lvl="2" eaLnBrk="1" hangingPunct="1"/>
            <a:r>
              <a:rPr lang="en-US" altLang="en-US" sz="2000"/>
              <a:t>If PK has several attributes, null is not allowed in any of these attributes</a:t>
            </a:r>
          </a:p>
          <a:p>
            <a:pPr lvl="1" eaLnBrk="1" hangingPunct="1"/>
            <a:r>
              <a:rPr lang="en-US" altLang="en-US" sz="2400"/>
              <a:t>Note: Other attributes of R may be constrained  to disallow null values, even though they are not members of the primary key.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Number Placeholder 3">
            <a:extLst>
              <a:ext uri="{FF2B5EF4-FFF2-40B4-BE49-F238E27FC236}">
                <a16:creationId xmlns:a16="http://schemas.microsoft.com/office/drawing/2014/main" id="{828EFDA7-B168-68C8-A22A-1F3FB042C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17CDAF5C-266D-4B48-9D9B-8C01B9866470}" type="slidenum">
              <a:rPr lang="en-US" altLang="en-US" sz="1400">
                <a:solidFill>
                  <a:srgbClr val="990033"/>
                </a:solidFill>
              </a:rPr>
              <a:pPr/>
              <a:t>34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77826" name="Rectangle 4">
            <a:extLst>
              <a:ext uri="{FF2B5EF4-FFF2-40B4-BE49-F238E27FC236}">
                <a16:creationId xmlns:a16="http://schemas.microsoft.com/office/drawing/2014/main" id="{50F0035D-3762-0B46-2CC8-6AC2CBE65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Referential Integrity</a:t>
            </a:r>
          </a:p>
        </p:txBody>
      </p:sp>
      <p:sp>
        <p:nvSpPr>
          <p:cNvPr id="77827" name="Rectangle 5">
            <a:extLst>
              <a:ext uri="{FF2B5EF4-FFF2-40B4-BE49-F238E27FC236}">
                <a16:creationId xmlns:a16="http://schemas.microsoft.com/office/drawing/2014/main" id="{2713BCBC-C59F-ABBF-C381-E36B3D27B4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constraint involving </a:t>
            </a:r>
            <a:r>
              <a:rPr lang="en-US" altLang="en-US" b="1"/>
              <a:t>two</a:t>
            </a:r>
            <a:r>
              <a:rPr lang="en-US" altLang="en-US"/>
              <a:t> relations</a:t>
            </a:r>
          </a:p>
          <a:p>
            <a:pPr lvl="1" eaLnBrk="1" hangingPunct="1"/>
            <a:r>
              <a:rPr lang="en-US" altLang="en-US"/>
              <a:t>The previous constraints involve a single  relation.</a:t>
            </a:r>
          </a:p>
          <a:p>
            <a:pPr eaLnBrk="1" hangingPunct="1"/>
            <a:r>
              <a:rPr lang="en-US" altLang="en-US"/>
              <a:t>Used to specify a </a:t>
            </a:r>
            <a:r>
              <a:rPr lang="en-US" altLang="en-US" b="1"/>
              <a:t>relationship</a:t>
            </a:r>
            <a:r>
              <a:rPr lang="en-US" altLang="en-US"/>
              <a:t> among tuples in two relations: </a:t>
            </a:r>
          </a:p>
          <a:p>
            <a:pPr lvl="1" eaLnBrk="1" hangingPunct="1"/>
            <a:r>
              <a:rPr lang="en-US" altLang="en-US"/>
              <a:t>The </a:t>
            </a:r>
            <a:r>
              <a:rPr lang="en-US" altLang="en-US" b="1"/>
              <a:t>referencing relation </a:t>
            </a:r>
            <a:r>
              <a:rPr lang="en-US" altLang="en-US"/>
              <a:t>and the </a:t>
            </a:r>
            <a:r>
              <a:rPr lang="en-US" altLang="en-US" b="1"/>
              <a:t>referenced relation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Number Placeholder 3">
            <a:extLst>
              <a:ext uri="{FF2B5EF4-FFF2-40B4-BE49-F238E27FC236}">
                <a16:creationId xmlns:a16="http://schemas.microsoft.com/office/drawing/2014/main" id="{324C4AD9-1F96-8120-115A-254734DA33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BB5C813E-EB4F-45B9-872C-64229C3A790C}" type="slidenum">
              <a:rPr lang="en-US" altLang="en-US" sz="1400">
                <a:solidFill>
                  <a:srgbClr val="990033"/>
                </a:solidFill>
              </a:rPr>
              <a:pPr/>
              <a:t>35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8055EA54-47C9-4243-C9B3-535AA65C3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Referential Integrity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2E84F7E-B75D-7C5A-070E-FDB39306DB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Tuples in the </a:t>
            </a:r>
            <a:r>
              <a:rPr lang="en-US" altLang="en-US" b="1"/>
              <a:t>referencing relation</a:t>
            </a:r>
            <a:r>
              <a:rPr lang="en-US" altLang="en-US"/>
              <a:t> R1 have attributes FK (called </a:t>
            </a:r>
            <a:r>
              <a:rPr lang="en-US" altLang="en-US" b="1"/>
              <a:t>foreign key</a:t>
            </a:r>
            <a:r>
              <a:rPr lang="en-US" altLang="en-US"/>
              <a:t> attributes) that reference the primary key attributes PK of the </a:t>
            </a:r>
            <a:r>
              <a:rPr lang="en-US" altLang="en-US" b="1"/>
              <a:t>referenced relation</a:t>
            </a:r>
            <a:r>
              <a:rPr lang="en-US" altLang="en-US"/>
              <a:t> R2.</a:t>
            </a:r>
          </a:p>
          <a:p>
            <a:pPr lvl="1" eaLnBrk="1" hangingPunct="1"/>
            <a:r>
              <a:rPr lang="en-US" altLang="en-US"/>
              <a:t>A tuple t1 in R1 is said to </a:t>
            </a:r>
            <a:r>
              <a:rPr lang="en-US" altLang="en-US" b="1"/>
              <a:t>reference</a:t>
            </a:r>
            <a:r>
              <a:rPr lang="en-US" altLang="en-US"/>
              <a:t> a tuple t2 in R2 if t1[FK] = t2[PK].</a:t>
            </a:r>
          </a:p>
          <a:p>
            <a:pPr eaLnBrk="1" hangingPunct="1"/>
            <a:r>
              <a:rPr lang="en-US" altLang="en-US"/>
              <a:t>A referential integrity constraint can be displayed in a relational database schema as a directed arc from R1.FK to R2. 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Number Placeholder 3">
            <a:extLst>
              <a:ext uri="{FF2B5EF4-FFF2-40B4-BE49-F238E27FC236}">
                <a16:creationId xmlns:a16="http://schemas.microsoft.com/office/drawing/2014/main" id="{09F84ECA-9E19-B060-D1B1-B52CD556BD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C9057BFF-E1E5-412B-9D5E-4322F96411EA}" type="slidenum">
              <a:rPr lang="en-US" altLang="en-US" sz="1400">
                <a:solidFill>
                  <a:srgbClr val="990033"/>
                </a:solidFill>
              </a:rPr>
              <a:pPr/>
              <a:t>36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81922" name="Rectangle 4">
            <a:extLst>
              <a:ext uri="{FF2B5EF4-FFF2-40B4-BE49-F238E27FC236}">
                <a16:creationId xmlns:a16="http://schemas.microsoft.com/office/drawing/2014/main" id="{52E2EE86-EC81-5DBC-4C3D-975E45BB1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Referential Integrity (or foreign key) </a:t>
            </a:r>
            <a:br>
              <a:rPr lang="en-US" altLang="en-US"/>
            </a:br>
            <a:r>
              <a:rPr lang="en-US" altLang="en-US"/>
              <a:t>Constraint</a:t>
            </a:r>
          </a:p>
        </p:txBody>
      </p:sp>
      <p:sp>
        <p:nvSpPr>
          <p:cNvPr id="81923" name="Rectangle 5">
            <a:extLst>
              <a:ext uri="{FF2B5EF4-FFF2-40B4-BE49-F238E27FC236}">
                <a16:creationId xmlns:a16="http://schemas.microsoft.com/office/drawing/2014/main" id="{FF23C465-C134-965B-13AE-57D50DC43B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Statement of the constraint</a:t>
            </a:r>
          </a:p>
          <a:p>
            <a:pPr lvl="1" eaLnBrk="1" hangingPunct="1"/>
            <a:r>
              <a:rPr lang="en-US" altLang="en-US"/>
              <a:t>The value in the foreign key column (or columns) FK of the the </a:t>
            </a:r>
            <a:r>
              <a:rPr lang="en-US" altLang="en-US" b="1"/>
              <a:t>referencing relation</a:t>
            </a:r>
            <a:r>
              <a:rPr lang="en-US" altLang="en-US"/>
              <a:t> R1 can be </a:t>
            </a:r>
            <a:r>
              <a:rPr lang="en-US" altLang="en-US" b="1"/>
              <a:t>either</a:t>
            </a:r>
            <a:r>
              <a:rPr lang="en-US" altLang="en-US"/>
              <a:t>:</a:t>
            </a:r>
          </a:p>
          <a:p>
            <a:pPr lvl="2" eaLnBrk="1" hangingPunct="1"/>
            <a:r>
              <a:rPr lang="en-US" altLang="en-US"/>
              <a:t>(1) a value of an existing primary key value of a corresponding primary key PK in the </a:t>
            </a:r>
            <a:r>
              <a:rPr lang="en-US" altLang="en-US" b="1"/>
              <a:t>referenced relation</a:t>
            </a:r>
            <a:r>
              <a:rPr lang="en-US" altLang="en-US"/>
              <a:t> R2, </a:t>
            </a:r>
            <a:r>
              <a:rPr lang="en-US" altLang="en-US" u="sng"/>
              <a:t>or</a:t>
            </a:r>
          </a:p>
          <a:p>
            <a:pPr lvl="2" eaLnBrk="1" hangingPunct="1"/>
            <a:r>
              <a:rPr lang="en-US" altLang="en-US"/>
              <a:t>(2) a </a:t>
            </a:r>
            <a:r>
              <a:rPr lang="en-US" altLang="en-US" b="1"/>
              <a:t>null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In case (2), the FK in R1 should </a:t>
            </a:r>
            <a:r>
              <a:rPr lang="en-US" altLang="en-US" b="1"/>
              <a:t>not</a:t>
            </a:r>
            <a:r>
              <a:rPr lang="en-US" altLang="en-US"/>
              <a:t> be a part of its own primary key.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Number Placeholder 3">
            <a:extLst>
              <a:ext uri="{FF2B5EF4-FFF2-40B4-BE49-F238E27FC236}">
                <a16:creationId xmlns:a16="http://schemas.microsoft.com/office/drawing/2014/main" id="{682BD89B-6710-F0BC-7A8D-19266D1230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F962DC61-155C-4438-83F6-3758665C29F4}" type="slidenum">
              <a:rPr lang="en-US" altLang="en-US" sz="1400">
                <a:solidFill>
                  <a:srgbClr val="990033"/>
                </a:solidFill>
              </a:rPr>
              <a:pPr/>
              <a:t>37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C1B9848F-7F7D-E1C8-2B86-B02584D15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Displaying a relational database schema and its constraints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84E2098C-D119-B1D7-89AA-AE05964A34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Each relation schema can be displayed as a row of attribute names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name of the relation is written above the attribute names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The primary key attribute (or attributes) will be underlined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 foreign key (referential integrity) constraints is displayed as a directed arc (arrow) from the foreign key attributes to the referenced table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/>
              <a:t>Can also point the the primary key of the referenced relation for clarity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Next slide shows the COMPANY </a:t>
            </a:r>
            <a:r>
              <a:rPr lang="en-US" altLang="en-US" sz="2400" b="1"/>
              <a:t>relational schema diagram with referential integrity constraints 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Number Placeholder 1">
            <a:extLst>
              <a:ext uri="{FF2B5EF4-FFF2-40B4-BE49-F238E27FC236}">
                <a16:creationId xmlns:a16="http://schemas.microsoft.com/office/drawing/2014/main" id="{EFEEA401-3022-2DC4-9225-973EFBD967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A71F0DE8-F9C9-4425-B537-DBD60C6DAAC3}" type="slidenum">
              <a:rPr lang="en-US" altLang="en-US" sz="1400">
                <a:solidFill>
                  <a:srgbClr val="990033"/>
                </a:solidFill>
              </a:rPr>
              <a:pPr/>
              <a:t>38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86018" name="Picture 5" descr="fig05_07">
            <a:extLst>
              <a:ext uri="{FF2B5EF4-FFF2-40B4-BE49-F238E27FC236}">
                <a16:creationId xmlns:a16="http://schemas.microsoft.com/office/drawing/2014/main" id="{E0F73FF8-CA72-2117-7B18-41D5DA89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92263"/>
            <a:ext cx="6477000" cy="480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9" name="Text Box 6" descr="Pink tissue paper">
            <a:extLst>
              <a:ext uri="{FF2B5EF4-FFF2-40B4-BE49-F238E27FC236}">
                <a16:creationId xmlns:a16="http://schemas.microsoft.com/office/drawing/2014/main" id="{0AB08A1A-A8D5-3483-D9EC-60F9EEAA6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762000"/>
            <a:ext cx="830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solidFill>
                  <a:srgbClr val="800000"/>
                </a:solidFill>
              </a:rPr>
              <a:t>Referential Integrity Constraints for COMPANY database 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Number Placeholder 3">
            <a:extLst>
              <a:ext uri="{FF2B5EF4-FFF2-40B4-BE49-F238E27FC236}">
                <a16:creationId xmlns:a16="http://schemas.microsoft.com/office/drawing/2014/main" id="{E68BD5F9-9CBD-65AC-094E-5C55041CE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0C8E852D-A0D4-4355-A9F7-09BD7BE594F1}" type="slidenum">
              <a:rPr lang="en-US" altLang="en-US" sz="1400">
                <a:solidFill>
                  <a:srgbClr val="990033"/>
                </a:solidFill>
              </a:rPr>
              <a:pPr/>
              <a:t>39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88066" name="Rectangle 4">
            <a:extLst>
              <a:ext uri="{FF2B5EF4-FFF2-40B4-BE49-F238E27FC236}">
                <a16:creationId xmlns:a16="http://schemas.microsoft.com/office/drawing/2014/main" id="{A1BFCC31-0D3B-7EB2-2C14-84033B844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Other Types of Constraints</a:t>
            </a:r>
          </a:p>
        </p:txBody>
      </p:sp>
      <p:sp>
        <p:nvSpPr>
          <p:cNvPr id="88067" name="Rectangle 5">
            <a:extLst>
              <a:ext uri="{FF2B5EF4-FFF2-40B4-BE49-F238E27FC236}">
                <a16:creationId xmlns:a16="http://schemas.microsoft.com/office/drawing/2014/main" id="{1D573748-5784-0C27-4685-F821A3B1D5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447800"/>
            <a:ext cx="8294687" cy="4724400"/>
          </a:xfrm>
        </p:spPr>
        <p:txBody>
          <a:bodyPr/>
          <a:lstStyle/>
          <a:p>
            <a:pPr eaLnBrk="1" hangingPunct="1"/>
            <a:r>
              <a:rPr lang="en-US" altLang="en-US" sz="2400"/>
              <a:t>Semantic Integrity Constraints:</a:t>
            </a:r>
          </a:p>
          <a:p>
            <a:pPr lvl="1" eaLnBrk="1" hangingPunct="1"/>
            <a:r>
              <a:rPr lang="en-US" altLang="en-US" sz="2400"/>
              <a:t>based on application semantics and cannot be expressed by the model per se</a:t>
            </a:r>
          </a:p>
          <a:p>
            <a:pPr lvl="1" eaLnBrk="1" hangingPunct="1"/>
            <a:r>
              <a:rPr lang="en-US" altLang="en-US" sz="2400"/>
              <a:t>Example: “the max. no. of hours per employee for all projects he or she works on is 56 hrs per week”</a:t>
            </a:r>
          </a:p>
          <a:p>
            <a:pPr eaLnBrk="1" hangingPunct="1"/>
            <a:r>
              <a:rPr lang="en-US" altLang="en-US" sz="2400"/>
              <a:t>A </a:t>
            </a:r>
            <a:r>
              <a:rPr lang="en-US" altLang="en-US" sz="2400" b="1"/>
              <a:t>constraint specification</a:t>
            </a:r>
            <a:r>
              <a:rPr lang="en-US" altLang="en-US" sz="2400"/>
              <a:t> language may have to be used to express these</a:t>
            </a:r>
          </a:p>
          <a:p>
            <a:pPr eaLnBrk="1" hangingPunct="1"/>
            <a:r>
              <a:rPr lang="en-US" altLang="en-US" sz="2400"/>
              <a:t>SQL-99 allows </a:t>
            </a:r>
            <a:r>
              <a:rPr lang="en-US" altLang="en-US" sz="2400" b="1"/>
              <a:t>CREATE TRIGGER </a:t>
            </a:r>
            <a:r>
              <a:rPr lang="en-US" altLang="en-US" sz="2400"/>
              <a:t>and </a:t>
            </a:r>
            <a:r>
              <a:rPr lang="en-US" altLang="en-US" sz="2400" b="1"/>
              <a:t>CREATE</a:t>
            </a:r>
            <a:r>
              <a:rPr lang="en-US" altLang="en-US" sz="2400"/>
              <a:t> </a:t>
            </a:r>
            <a:r>
              <a:rPr lang="en-US" altLang="en-US" sz="2400" b="1"/>
              <a:t>ASSERTION</a:t>
            </a:r>
            <a:r>
              <a:rPr lang="en-US" altLang="en-US" sz="2400"/>
              <a:t> to express some of these semantic constraints</a:t>
            </a:r>
          </a:p>
          <a:p>
            <a:pPr eaLnBrk="1" hangingPunct="1"/>
            <a:r>
              <a:rPr lang="en-US" altLang="en-US" sz="2400"/>
              <a:t>Keys, Permissibility of Null values, Candidate Keys (Unique in SQL), Foreign Keys, Referential Integrity etc. are expressed by the </a:t>
            </a:r>
            <a:r>
              <a:rPr lang="en-US" altLang="en-US" sz="2400" b="1"/>
              <a:t>CREATE TABLE </a:t>
            </a:r>
            <a:r>
              <a:rPr lang="en-US" altLang="en-US" sz="2400"/>
              <a:t>statement in SQL</a:t>
            </a:r>
            <a:r>
              <a:rPr lang="en-US" altLang="en-US"/>
              <a:t>.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Number Placeholder 3">
            <a:extLst>
              <a:ext uri="{FF2B5EF4-FFF2-40B4-BE49-F238E27FC236}">
                <a16:creationId xmlns:a16="http://schemas.microsoft.com/office/drawing/2014/main" id="{354279EA-038E-DEE7-6043-25C16BDA0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7BFA2E99-07E7-4CA9-A299-0074944740D1}" type="slidenum">
              <a:rPr lang="en-US" altLang="en-US" sz="1400">
                <a:solidFill>
                  <a:srgbClr val="990033"/>
                </a:solidFill>
              </a:rPr>
              <a:pPr/>
              <a:t>40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0114" name="Rectangle 1028">
            <a:extLst>
              <a:ext uri="{FF2B5EF4-FFF2-40B4-BE49-F238E27FC236}">
                <a16:creationId xmlns:a16="http://schemas.microsoft.com/office/drawing/2014/main" id="{46C30499-36CE-F5D3-F768-F076B9AD4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Update Operations on Relations</a:t>
            </a:r>
          </a:p>
        </p:txBody>
      </p:sp>
      <p:sp>
        <p:nvSpPr>
          <p:cNvPr id="90115" name="Rectangle 1029">
            <a:extLst>
              <a:ext uri="{FF2B5EF4-FFF2-40B4-BE49-F238E27FC236}">
                <a16:creationId xmlns:a16="http://schemas.microsoft.com/office/drawing/2014/main" id="{53706DE3-2266-293F-1351-BEE762AF7B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INSERT a tuple.</a:t>
            </a:r>
          </a:p>
          <a:p>
            <a:pPr eaLnBrk="1" hangingPunct="1"/>
            <a:r>
              <a:rPr lang="en-US" altLang="en-US"/>
              <a:t>DELETE a tuple.</a:t>
            </a:r>
          </a:p>
          <a:p>
            <a:pPr eaLnBrk="1" hangingPunct="1"/>
            <a:r>
              <a:rPr lang="en-US" altLang="en-US"/>
              <a:t>MODIFY a tuple.</a:t>
            </a:r>
          </a:p>
          <a:p>
            <a:pPr eaLnBrk="1" hangingPunct="1"/>
            <a:r>
              <a:rPr lang="en-US" altLang="en-US"/>
              <a:t>Integrity constraints should not be violated by the update operations.</a:t>
            </a:r>
          </a:p>
          <a:p>
            <a:pPr eaLnBrk="1" hangingPunct="1"/>
            <a:r>
              <a:rPr lang="en-US" altLang="en-US"/>
              <a:t>Several update operations may have to be grouped together.</a:t>
            </a:r>
          </a:p>
          <a:p>
            <a:pPr eaLnBrk="1" hangingPunct="1"/>
            <a:r>
              <a:rPr lang="en-US" altLang="en-US"/>
              <a:t>Updates may </a:t>
            </a:r>
            <a:r>
              <a:rPr lang="en-US" altLang="en-US" b="1"/>
              <a:t>propagate</a:t>
            </a:r>
            <a:r>
              <a:rPr lang="en-US" altLang="en-US"/>
              <a:t>  to cause other updates automatically. This may be necessary to maintain integrity constraints.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Number Placeholder 3">
            <a:extLst>
              <a:ext uri="{FF2B5EF4-FFF2-40B4-BE49-F238E27FC236}">
                <a16:creationId xmlns:a16="http://schemas.microsoft.com/office/drawing/2014/main" id="{C9C73F1F-A118-9D13-0FC5-FADADC244F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B346BFCA-4F2B-497C-9699-C28F555A46CE}" type="slidenum">
              <a:rPr lang="en-US" altLang="en-US" sz="1400">
                <a:solidFill>
                  <a:srgbClr val="990033"/>
                </a:solidFill>
              </a:rPr>
              <a:pPr/>
              <a:t>41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2162" name="Rectangle 4">
            <a:extLst>
              <a:ext uri="{FF2B5EF4-FFF2-40B4-BE49-F238E27FC236}">
                <a16:creationId xmlns:a16="http://schemas.microsoft.com/office/drawing/2014/main" id="{7956170D-F2F4-9D3E-1346-50E53C4C21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Update Operations on Relations</a:t>
            </a:r>
          </a:p>
        </p:txBody>
      </p:sp>
      <p:sp>
        <p:nvSpPr>
          <p:cNvPr id="92163" name="Rectangle 5">
            <a:extLst>
              <a:ext uri="{FF2B5EF4-FFF2-40B4-BE49-F238E27FC236}">
                <a16:creationId xmlns:a16="http://schemas.microsoft.com/office/drawing/2014/main" id="{2995C6DE-8A03-39D6-5A1E-E4C1844D0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case of integrity violation, several actions can be taken:</a:t>
            </a:r>
          </a:p>
          <a:p>
            <a:pPr lvl="1" eaLnBrk="1" hangingPunct="1"/>
            <a:r>
              <a:rPr lang="en-US" altLang="en-US"/>
              <a:t>Cancel the operation that causes the violation (RESTRICT or REJECT option)</a:t>
            </a:r>
          </a:p>
          <a:p>
            <a:pPr lvl="1" eaLnBrk="1" hangingPunct="1"/>
            <a:r>
              <a:rPr lang="en-US" altLang="en-US"/>
              <a:t>Perform the operation but inform the user of the violation</a:t>
            </a:r>
          </a:p>
          <a:p>
            <a:pPr lvl="1" eaLnBrk="1" hangingPunct="1"/>
            <a:r>
              <a:rPr lang="en-US" altLang="en-US"/>
              <a:t>Trigger additional updates so the violation is corrected (CASCADE option, SET NULL option)</a:t>
            </a:r>
          </a:p>
          <a:p>
            <a:pPr lvl="1" eaLnBrk="1" hangingPunct="1"/>
            <a:r>
              <a:rPr lang="en-US" altLang="en-US"/>
              <a:t>Execute a user-specified error-correction routine 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Number Placeholder 3">
            <a:extLst>
              <a:ext uri="{FF2B5EF4-FFF2-40B4-BE49-F238E27FC236}">
                <a16:creationId xmlns:a16="http://schemas.microsoft.com/office/drawing/2014/main" id="{1B462575-4F83-154E-32F0-A0E934AA76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5DD55E6E-F772-4DDB-A3E2-F762C51B4D83}" type="slidenum">
              <a:rPr lang="en-US" altLang="en-US" sz="1400">
                <a:solidFill>
                  <a:srgbClr val="990033"/>
                </a:solidFill>
              </a:rPr>
              <a:pPr/>
              <a:t>42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4210" name="Rectangle 1026">
            <a:extLst>
              <a:ext uri="{FF2B5EF4-FFF2-40B4-BE49-F238E27FC236}">
                <a16:creationId xmlns:a16="http://schemas.microsoft.com/office/drawing/2014/main" id="{1A14690C-4E16-9F0A-AD5C-9F50A75E59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violations for each operation</a:t>
            </a:r>
          </a:p>
        </p:txBody>
      </p:sp>
      <p:sp>
        <p:nvSpPr>
          <p:cNvPr id="94211" name="Rectangle 1027">
            <a:extLst>
              <a:ext uri="{FF2B5EF4-FFF2-40B4-BE49-F238E27FC236}">
                <a16:creationId xmlns:a16="http://schemas.microsoft.com/office/drawing/2014/main" id="{EF59FDEC-4F06-C417-4366-9215C00E2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INSERT may violate any of the constraints:</a:t>
            </a:r>
          </a:p>
          <a:p>
            <a:pPr lvl="1" eaLnBrk="1" hangingPunct="1"/>
            <a:r>
              <a:rPr lang="en-US" altLang="en-US" sz="2200"/>
              <a:t>Domain constraint:</a:t>
            </a:r>
          </a:p>
          <a:p>
            <a:pPr lvl="2" eaLnBrk="1" hangingPunct="1"/>
            <a:r>
              <a:rPr lang="en-US" altLang="en-US" sz="2000"/>
              <a:t>if one of the attribute values provided for the new tuple is not of the specified attribute domain</a:t>
            </a:r>
          </a:p>
          <a:p>
            <a:pPr lvl="1" eaLnBrk="1" hangingPunct="1"/>
            <a:r>
              <a:rPr lang="en-US" altLang="en-US" sz="2200"/>
              <a:t>Key constraint:</a:t>
            </a:r>
          </a:p>
          <a:p>
            <a:pPr lvl="2" eaLnBrk="1" hangingPunct="1"/>
            <a:r>
              <a:rPr lang="en-US" altLang="en-US" sz="2000"/>
              <a:t>if the value of a key attribute in the new tuple already exists in another tuple in the relation</a:t>
            </a:r>
          </a:p>
          <a:p>
            <a:pPr lvl="1" eaLnBrk="1" hangingPunct="1"/>
            <a:r>
              <a:rPr lang="en-US" altLang="en-US" sz="2200"/>
              <a:t>Referential integrity:</a:t>
            </a:r>
          </a:p>
          <a:p>
            <a:pPr lvl="2" eaLnBrk="1" hangingPunct="1"/>
            <a:r>
              <a:rPr lang="en-US" altLang="en-US" sz="2000"/>
              <a:t>if a foreign key value in the new tuple references a primary key value that does not exist in the referenced relation</a:t>
            </a:r>
          </a:p>
          <a:p>
            <a:pPr lvl="1" eaLnBrk="1" hangingPunct="1"/>
            <a:r>
              <a:rPr lang="en-US" altLang="en-US" sz="2200"/>
              <a:t>Entity integrity:</a:t>
            </a:r>
          </a:p>
          <a:p>
            <a:pPr lvl="2" eaLnBrk="1" hangingPunct="1"/>
            <a:r>
              <a:rPr lang="en-US" altLang="en-US" sz="2000"/>
              <a:t>if the primary key value is null in the new tuple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Number Placeholder 3">
            <a:extLst>
              <a:ext uri="{FF2B5EF4-FFF2-40B4-BE49-F238E27FC236}">
                <a16:creationId xmlns:a16="http://schemas.microsoft.com/office/drawing/2014/main" id="{A756069D-9761-9814-FED8-CBC39212A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F812F402-FC48-490A-BA88-AB1119ADA312}" type="slidenum">
              <a:rPr lang="en-US" altLang="en-US" sz="1400">
                <a:solidFill>
                  <a:srgbClr val="990033"/>
                </a:solidFill>
              </a:rPr>
              <a:pPr/>
              <a:t>43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8668FDF5-A084-C2E2-E3F5-9F53939198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violations for each operation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20C9358F-E850-A960-DA0F-EED86F2B2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DELETE may violate only referential integrity:</a:t>
            </a:r>
          </a:p>
          <a:p>
            <a:pPr lvl="1" eaLnBrk="1" hangingPunct="1"/>
            <a:r>
              <a:rPr lang="en-US" altLang="en-US" sz="2200"/>
              <a:t>If the primary key value of the tuple being deleted is referenced from other tuples in the database</a:t>
            </a:r>
          </a:p>
          <a:p>
            <a:pPr lvl="2" eaLnBrk="1" hangingPunct="1"/>
            <a:r>
              <a:rPr lang="en-US" altLang="en-US" sz="2000"/>
              <a:t>Can be remedied by several actions: RESTRICT, CASCADE, SET NULL (see Chapter 6 for more details)</a:t>
            </a:r>
          </a:p>
          <a:p>
            <a:pPr lvl="3" eaLnBrk="1" hangingPunct="1"/>
            <a:r>
              <a:rPr lang="en-US" altLang="en-US" sz="1800"/>
              <a:t>RESTRICT option: reject the deletion</a:t>
            </a:r>
          </a:p>
          <a:p>
            <a:pPr lvl="3" eaLnBrk="1" hangingPunct="1"/>
            <a:r>
              <a:rPr lang="en-US" altLang="en-US" sz="1800"/>
              <a:t>CASCADE option: propagate the new primary key value into the foreign keys of the referencing tuples</a:t>
            </a:r>
          </a:p>
          <a:p>
            <a:pPr lvl="3" eaLnBrk="1" hangingPunct="1"/>
            <a:r>
              <a:rPr lang="en-US" altLang="en-US" sz="1800"/>
              <a:t>SET NULL option: set the foreign keys of the referencing tuples to NULL</a:t>
            </a:r>
          </a:p>
          <a:p>
            <a:pPr lvl="1" eaLnBrk="1" hangingPunct="1"/>
            <a:r>
              <a:rPr lang="en-US" altLang="en-US" sz="2200"/>
              <a:t>One of the above options must be specified during database design for each foreign key constraint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Number Placeholder 3">
            <a:extLst>
              <a:ext uri="{FF2B5EF4-FFF2-40B4-BE49-F238E27FC236}">
                <a16:creationId xmlns:a16="http://schemas.microsoft.com/office/drawing/2014/main" id="{CEB374CB-A318-B123-F6FB-8B8A01D0F7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6CE97ED5-A089-43F4-A3C5-A37608723215}" type="slidenum">
              <a:rPr lang="en-US" altLang="en-US" sz="1400">
                <a:solidFill>
                  <a:srgbClr val="990033"/>
                </a:solidFill>
              </a:rPr>
              <a:pPr/>
              <a:t>44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6258" name="Rectangle 1026">
            <a:extLst>
              <a:ext uri="{FF2B5EF4-FFF2-40B4-BE49-F238E27FC236}">
                <a16:creationId xmlns:a16="http://schemas.microsoft.com/office/drawing/2014/main" id="{B3E20373-B613-0291-D2BD-D5F7B8366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Possible violations for each operation</a:t>
            </a:r>
          </a:p>
        </p:txBody>
      </p:sp>
      <p:sp>
        <p:nvSpPr>
          <p:cNvPr id="96259" name="Rectangle 1027">
            <a:extLst>
              <a:ext uri="{FF2B5EF4-FFF2-40B4-BE49-F238E27FC236}">
                <a16:creationId xmlns:a16="http://schemas.microsoft.com/office/drawing/2014/main" id="{4819264E-DDF3-DD82-C5ED-6EEBC492D8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UPDATE may violate domain constraint and NOT NULL constraint on an attribute being modified</a:t>
            </a:r>
          </a:p>
          <a:p>
            <a:pPr eaLnBrk="1" hangingPunct="1"/>
            <a:r>
              <a:rPr lang="en-US" altLang="en-US" sz="2400"/>
              <a:t>Any of the other constraints may also be violated, depending on the attribute being updated:</a:t>
            </a:r>
          </a:p>
          <a:p>
            <a:pPr lvl="1" eaLnBrk="1" hangingPunct="1"/>
            <a:r>
              <a:rPr lang="en-US" altLang="en-US" sz="2200"/>
              <a:t>Updating the primary key (PK):</a:t>
            </a:r>
          </a:p>
          <a:p>
            <a:pPr lvl="2" eaLnBrk="1" hangingPunct="1"/>
            <a:r>
              <a:rPr lang="en-US" altLang="en-US" sz="2000"/>
              <a:t>Similar to a DELETE followed by an INSERT</a:t>
            </a:r>
          </a:p>
          <a:p>
            <a:pPr lvl="2" eaLnBrk="1" hangingPunct="1"/>
            <a:r>
              <a:rPr lang="en-US" altLang="en-US" sz="2000"/>
              <a:t>Need to specify similar options to DELETE</a:t>
            </a:r>
          </a:p>
          <a:p>
            <a:pPr lvl="1" eaLnBrk="1" hangingPunct="1"/>
            <a:r>
              <a:rPr lang="en-US" altLang="en-US" sz="2200"/>
              <a:t>Updating a foreign key (FK):</a:t>
            </a:r>
          </a:p>
          <a:p>
            <a:pPr lvl="2" eaLnBrk="1" hangingPunct="1"/>
            <a:r>
              <a:rPr lang="en-US" altLang="en-US" sz="2000"/>
              <a:t>May violate referential integrity</a:t>
            </a:r>
          </a:p>
          <a:p>
            <a:pPr lvl="1" eaLnBrk="1" hangingPunct="1"/>
            <a:r>
              <a:rPr lang="en-US" altLang="en-US" sz="2200"/>
              <a:t>Updating an ordinary attribute (neither PK nor FK):</a:t>
            </a:r>
          </a:p>
          <a:p>
            <a:pPr lvl="2" eaLnBrk="1" hangingPunct="1"/>
            <a:r>
              <a:rPr lang="en-US" altLang="en-US" sz="2000"/>
              <a:t>Can only violate domain constraints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Number Placeholder 3">
            <a:extLst>
              <a:ext uri="{FF2B5EF4-FFF2-40B4-BE49-F238E27FC236}">
                <a16:creationId xmlns:a16="http://schemas.microsoft.com/office/drawing/2014/main" id="{3911C4D4-2B54-ECC6-6928-C47B8C96A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7264F6FE-0EBC-49D0-A11F-76F6DA6288FE}" type="slidenum">
              <a:rPr lang="en-US" altLang="en-US" sz="1400">
                <a:solidFill>
                  <a:srgbClr val="990033"/>
                </a:solidFill>
              </a:rPr>
              <a:pPr/>
              <a:t>45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6155348B-F454-F250-08E4-C033D074C2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1DEFBFC-B929-DDFE-8478-829F638E31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Presented Relational Model Concepts</a:t>
            </a:r>
          </a:p>
          <a:p>
            <a:pPr lvl="1" eaLnBrk="1" hangingPunct="1"/>
            <a:r>
              <a:rPr lang="en-US" altLang="en-US" sz="2200"/>
              <a:t>Definitions</a:t>
            </a:r>
          </a:p>
          <a:p>
            <a:pPr lvl="1" eaLnBrk="1" hangingPunct="1"/>
            <a:r>
              <a:rPr lang="en-US" altLang="en-US" sz="2200"/>
              <a:t>Characteristics of relations</a:t>
            </a:r>
          </a:p>
          <a:p>
            <a:pPr eaLnBrk="1" hangingPunct="1"/>
            <a:r>
              <a:rPr lang="en-US" altLang="en-US" sz="2400"/>
              <a:t>Discussed Relational Model Constraints and Relational Database Schemas</a:t>
            </a:r>
          </a:p>
          <a:p>
            <a:pPr lvl="1" eaLnBrk="1" hangingPunct="1"/>
            <a:r>
              <a:rPr lang="en-US" altLang="en-US" sz="2200"/>
              <a:t>Domain constraints </a:t>
            </a:r>
          </a:p>
          <a:p>
            <a:pPr lvl="1" eaLnBrk="1" hangingPunct="1"/>
            <a:r>
              <a:rPr lang="en-US" altLang="en-US" sz="2200"/>
              <a:t>Key constraints</a:t>
            </a:r>
          </a:p>
          <a:p>
            <a:pPr lvl="1" eaLnBrk="1" hangingPunct="1"/>
            <a:r>
              <a:rPr lang="en-US" altLang="en-US" sz="2200"/>
              <a:t>Entity integrity</a:t>
            </a:r>
          </a:p>
          <a:p>
            <a:pPr lvl="1" eaLnBrk="1" hangingPunct="1"/>
            <a:r>
              <a:rPr lang="en-US" altLang="en-US" sz="2200"/>
              <a:t>Referential integrity</a:t>
            </a:r>
          </a:p>
          <a:p>
            <a:pPr eaLnBrk="1" hangingPunct="1"/>
            <a:r>
              <a:rPr lang="en-US" altLang="en-US" sz="2400"/>
              <a:t>Described the Relational Update Operations and Dealing with Constraint Violations</a:t>
            </a:r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46</a:t>
            </a:fld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346" y="304800"/>
            <a:ext cx="8175308" cy="702115"/>
          </a:xfrm>
          <a:prstGeom prst="rect">
            <a:avLst/>
          </a:prstGeom>
        </p:spPr>
        <p:txBody>
          <a:bodyPr vert="horz" wrap="square" lIns="0" tIns="952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US" sz="4500" dirty="0"/>
              <a:t>Is it 4:15 yet?</a:t>
            </a:r>
            <a:endParaRPr sz="4500" dirty="0"/>
          </a:p>
        </p:txBody>
      </p:sp>
    </p:spTree>
    <p:extLst>
      <p:ext uri="{BB962C8B-B14F-4D97-AF65-F5344CB8AC3E}">
        <p14:creationId xmlns:p14="http://schemas.microsoft.com/office/powerpoint/2010/main" val="197391657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Number Placeholder 2">
            <a:extLst>
              <a:ext uri="{FF2B5EF4-FFF2-40B4-BE49-F238E27FC236}">
                <a16:creationId xmlns:a16="http://schemas.microsoft.com/office/drawing/2014/main" id="{3AD13855-D464-45D9-69C6-FC7F540734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>
                <a:solidFill>
                  <a:srgbClr val="990033"/>
                </a:solidFill>
              </a:rPr>
              <a:t>Slide 5- </a:t>
            </a:r>
            <a:fld id="{141A6754-2471-454E-9C4C-7E2D99C6455A}" type="slidenum">
              <a:rPr lang="en-US" altLang="en-US" sz="1400">
                <a:solidFill>
                  <a:srgbClr val="990033"/>
                </a:solidFill>
              </a:rPr>
              <a:pPr/>
              <a:t>47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99330" name="Rectangle 5">
            <a:extLst>
              <a:ext uri="{FF2B5EF4-FFF2-40B4-BE49-F238E27FC236}">
                <a16:creationId xmlns:a16="http://schemas.microsoft.com/office/drawing/2014/main" id="{50BE97DE-8711-F2B2-7C63-6FA9D766F7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3213"/>
            <a:ext cx="9144000" cy="992187"/>
          </a:xfrm>
        </p:spPr>
        <p:txBody>
          <a:bodyPr/>
          <a:lstStyle/>
          <a:p>
            <a:pPr eaLnBrk="1" hangingPunct="1"/>
            <a:r>
              <a:rPr lang="en-US" dirty="0"/>
              <a:t>Discussion 06 (4:15 – 4:30) Part 1 of 2: Relational Schema Diagram From Relations</a:t>
            </a:r>
            <a:endParaRPr lang="en-US" altLang="en-US" dirty="0"/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2317E3B6-518B-5669-498D-C11A5FF18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06550"/>
            <a:ext cx="8534400" cy="4216400"/>
          </a:xfrm>
          <a:prstGeom prst="rect">
            <a:avLst/>
          </a:prstGeom>
          <a:noFill/>
          <a:ln w="9525">
            <a:solidFill>
              <a:srgbClr val="9900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(Taken from Exercise 5.15)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Consider the following relations for a database that keeps track of student enrollment in courses and the books adopted for each course: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STUDENT(</a:t>
            </a:r>
            <a:r>
              <a:rPr lang="en-US" altLang="en-US" sz="2000" u="sng">
                <a:solidFill>
                  <a:schemeClr val="tx2"/>
                </a:solidFill>
                <a:latin typeface="Times New Roman" panose="02020603050405020304" pitchFamily="18" charset="0"/>
              </a:rPr>
              <a:t>SSN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Name, Major, Bdate)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COURSE(</a:t>
            </a:r>
            <a:r>
              <a:rPr lang="en-US" altLang="en-US" sz="2000" u="sng">
                <a:solidFill>
                  <a:schemeClr val="tx2"/>
                </a:solidFill>
                <a:latin typeface="Times New Roman" panose="02020603050405020304" pitchFamily="18" charset="0"/>
              </a:rPr>
              <a:t>Course#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Cname, Dept)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ENROLL(</a:t>
            </a:r>
            <a:r>
              <a:rPr lang="en-US" altLang="en-US" sz="2000" u="sng">
                <a:solidFill>
                  <a:schemeClr val="tx2"/>
                </a:solidFill>
                <a:latin typeface="Times New Roman" panose="02020603050405020304" pitchFamily="18" charset="0"/>
              </a:rPr>
              <a:t>SSN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u="sng">
                <a:solidFill>
                  <a:schemeClr val="tx2"/>
                </a:solidFill>
                <a:latin typeface="Times New Roman" panose="02020603050405020304" pitchFamily="18" charset="0"/>
              </a:rPr>
              <a:t>Course#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u="sng">
                <a:solidFill>
                  <a:schemeClr val="tx2"/>
                </a:solidFill>
                <a:latin typeface="Times New Roman" panose="02020603050405020304" pitchFamily="18" charset="0"/>
              </a:rPr>
              <a:t>Quarter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Grade)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BOOK_ADOPTION(</a:t>
            </a:r>
            <a:r>
              <a:rPr lang="en-US" altLang="en-US" sz="2000" u="sng">
                <a:solidFill>
                  <a:schemeClr val="tx2"/>
                </a:solidFill>
                <a:latin typeface="Times New Roman" panose="02020603050405020304" pitchFamily="18" charset="0"/>
              </a:rPr>
              <a:t>Course#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u="sng">
                <a:solidFill>
                  <a:schemeClr val="tx2"/>
                </a:solidFill>
                <a:latin typeface="Times New Roman" panose="02020603050405020304" pitchFamily="18" charset="0"/>
              </a:rPr>
              <a:t>Quarter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Book_ISBN)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TEXT(</a:t>
            </a:r>
            <a:r>
              <a:rPr lang="en-US" altLang="en-US" sz="2000" u="sng">
                <a:solidFill>
                  <a:schemeClr val="tx2"/>
                </a:solidFill>
                <a:latin typeface="Times New Roman" panose="02020603050405020304" pitchFamily="18" charset="0"/>
              </a:rPr>
              <a:t>Book_ISBN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Book_Title, Publisher, Author)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Draw a relational schema diagram specifying the foreign keys for this schema.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type of data&#10;&#10;Description automatically generated">
            <a:extLst>
              <a:ext uri="{FF2B5EF4-FFF2-40B4-BE49-F238E27FC236}">
                <a16:creationId xmlns:a16="http://schemas.microsoft.com/office/drawing/2014/main" id="{79FADAC9-CBFD-4574-C591-D606C81D6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180" y="2544871"/>
            <a:ext cx="6377204" cy="4125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9CD85A-4296-0A00-A5E3-3E38D28C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38200"/>
            <a:ext cx="8831535" cy="507831"/>
          </a:xfrm>
        </p:spPr>
        <p:txBody>
          <a:bodyPr/>
          <a:lstStyle/>
          <a:p>
            <a:r>
              <a:rPr lang="en-US" dirty="0"/>
              <a:t>Discussion 06 (4:15 – 4:30) Part 2 of 2: </a:t>
            </a: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Mapping ER to Relational Schema Diagram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1524000"/>
            <a:ext cx="8831535" cy="144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Given the ER Diagram of a case study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draw the corresponding relational Schema diagram with referential integrity constraints.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34ED0-FB7B-F75A-DCF9-824819ABF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48</a:t>
            </a:fld>
            <a:endParaRPr lang="en-US" spc="-19" dirty="0"/>
          </a:p>
        </p:txBody>
      </p:sp>
    </p:spTree>
    <p:extLst>
      <p:ext uri="{BB962C8B-B14F-4D97-AF65-F5344CB8AC3E}">
        <p14:creationId xmlns:p14="http://schemas.microsoft.com/office/powerpoint/2010/main" val="3916650138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49</a:t>
            </a:fld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2749897"/>
            <a:ext cx="8175308" cy="2779607"/>
          </a:xfrm>
          <a:prstGeom prst="rect">
            <a:avLst/>
          </a:prstGeom>
        </p:spPr>
        <p:txBody>
          <a:bodyPr vert="horz" wrap="square" lIns="0" tIns="952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US" sz="4500" spc="83" dirty="0"/>
              <a:t>Break (4:30 PM – 4:50 PM)</a:t>
            </a:r>
            <a:br>
              <a:rPr lang="en-US" sz="4500" spc="83" dirty="0"/>
            </a:br>
            <a:br>
              <a:rPr lang="en-US" sz="4500" spc="83" dirty="0"/>
            </a:br>
            <a:r>
              <a:rPr lang="en-US" sz="4500" spc="83" dirty="0"/>
              <a:t>Please be punctual so that </a:t>
            </a:r>
            <a:br>
              <a:rPr lang="en-US" sz="4500" spc="83" dirty="0"/>
            </a:br>
            <a:r>
              <a:rPr lang="en-US" sz="4500" spc="83" dirty="0"/>
              <a:t>we restart on time</a:t>
            </a:r>
            <a:endParaRPr sz="4500" dirty="0"/>
          </a:p>
        </p:txBody>
      </p:sp>
    </p:spTree>
    <p:extLst>
      <p:ext uri="{BB962C8B-B14F-4D97-AF65-F5344CB8AC3E}">
        <p14:creationId xmlns:p14="http://schemas.microsoft.com/office/powerpoint/2010/main" val="2113083631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44823CB-F102-EBB7-1E26-D26399537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8C99-740B-6A8C-CFF7-220D3039B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3200" b="1"/>
              <a:t>CHAPTER 6</a:t>
            </a:r>
          </a:p>
          <a:p>
            <a:pPr algn="ctr">
              <a:buFont typeface="Wingdings" panose="05000000000000000000" pitchFamily="2" charset="2"/>
              <a:buNone/>
            </a:pPr>
            <a:endParaRPr lang="en-US" altLang="en-US" sz="3200" b="1"/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 sz="4400"/>
              <a:t>Basic SQL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8A5B76C9-B419-3882-EDCF-6A7F0B59E0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5ABCED64-6DF8-4C1E-8435-3F14F0DC852E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0319A9C8-F955-4D78-B2EB-62E68D057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Chapter 6 Outline</a:t>
            </a: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2833D20-7613-5A8A-C583-00839CA00F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SQL Data Definition and Data Types</a:t>
            </a:r>
          </a:p>
          <a:p>
            <a:r>
              <a:rPr lang="en-US" altLang="en-US"/>
              <a:t>Specifying Constraints in SQL</a:t>
            </a:r>
          </a:p>
          <a:p>
            <a:r>
              <a:rPr lang="en-US" altLang="en-US"/>
              <a:t>Basic Retrieval Queries in SQL</a:t>
            </a:r>
          </a:p>
          <a:p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altLang="en-US"/>
              <a:t>,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en-US"/>
              <a:t>, 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altLang="en-US"/>
              <a:t> Statements in SQL</a:t>
            </a:r>
          </a:p>
          <a:p>
            <a:r>
              <a:rPr lang="en-US" altLang="en-US"/>
              <a:t>Additional Features of SQL</a:t>
            </a: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52DF7BFE-0FA6-A76D-54E4-2ACC76E7D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0D5377B2-F07B-1B49-B9D9-ED8A137BE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7796213" cy="687387"/>
          </a:xfrm>
        </p:spPr>
        <p:txBody>
          <a:bodyPr/>
          <a:lstStyle/>
          <a:p>
            <a:r>
              <a:rPr lang="en-US" altLang="en-US" dirty="0"/>
              <a:t>Basic SQL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957B55E2-7726-9885-D560-3B733AB1C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524000"/>
            <a:ext cx="8839200" cy="52578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SQL language </a:t>
            </a:r>
          </a:p>
          <a:p>
            <a:pPr lvl="1"/>
            <a:r>
              <a:rPr lang="en-US" altLang="en-US" sz="2400" dirty="0"/>
              <a:t>Considered one of the major reasons for the commercial success of relational databases</a:t>
            </a:r>
          </a:p>
          <a:p>
            <a:r>
              <a:rPr lang="en-US" altLang="en-US" dirty="0"/>
              <a:t>SQL </a:t>
            </a:r>
          </a:p>
          <a:p>
            <a:pPr lvl="1"/>
            <a:r>
              <a:rPr lang="en-US" altLang="en-US" sz="2400" dirty="0"/>
              <a:t>The origin of SQL is relational predicate calculus called tuple calculus (see Ch.8) which was proposed initially as the language SQUARE.</a:t>
            </a:r>
          </a:p>
          <a:p>
            <a:pPr lvl="1"/>
            <a:r>
              <a:rPr lang="en-US" altLang="en-US" dirty="0"/>
              <a:t>SQL </a:t>
            </a:r>
            <a:r>
              <a:rPr lang="en-US" altLang="en-US" sz="2000" dirty="0"/>
              <a:t>Actually comes from the word “SEQUEL” which was the original term used in the paper: “SEQUEL TO SQUARE” by Chamberlin and Boyce. IBM could not copyright that term, so they abbreviated to SQL and copyrighted the term SQL.</a:t>
            </a:r>
          </a:p>
          <a:p>
            <a:pPr lvl="1"/>
            <a:r>
              <a:rPr lang="en-US" altLang="en-US" sz="2400" dirty="0"/>
              <a:t>Now</a:t>
            </a:r>
            <a:r>
              <a:rPr lang="en-US" altLang="en-US" sz="2000" dirty="0"/>
              <a:t> popularly  known as “Structured Query language”.</a:t>
            </a:r>
          </a:p>
          <a:p>
            <a:pPr lvl="1"/>
            <a:r>
              <a:rPr lang="en-US" altLang="en-US" sz="2400" dirty="0"/>
              <a:t>SQL is an informal or practical rendering of the relational data model with syntax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39F4005F-0D2F-9884-48CD-858BB3E87F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160DBBA9-D79D-E3EC-C339-E200A6343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SQL Data Definition, Data Types, Standards</a:t>
            </a:r>
          </a:p>
        </p:txBody>
      </p:sp>
      <p:sp>
        <p:nvSpPr>
          <p:cNvPr id="20483" name="Content Placeholder 4">
            <a:extLst>
              <a:ext uri="{FF2B5EF4-FFF2-40B4-BE49-F238E27FC236}">
                <a16:creationId xmlns:a16="http://schemas.microsoft.com/office/drawing/2014/main" id="{A8B98784-D3F0-9952-D1AC-171295481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447800"/>
            <a:ext cx="8294687" cy="53340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Terminology:</a:t>
            </a:r>
          </a:p>
          <a:p>
            <a:pPr lvl="1"/>
            <a:r>
              <a:rPr lang="en-US" altLang="en-US" b="1" dirty="0"/>
              <a:t>Table</a:t>
            </a:r>
            <a:r>
              <a:rPr lang="en-US" altLang="en-US" dirty="0"/>
              <a:t>, </a:t>
            </a:r>
            <a:r>
              <a:rPr lang="en-US" altLang="en-US" b="1" dirty="0"/>
              <a:t>row</a:t>
            </a:r>
            <a:r>
              <a:rPr lang="en-US" altLang="en-US" dirty="0"/>
              <a:t>, and </a:t>
            </a:r>
            <a:r>
              <a:rPr lang="en-US" altLang="en-US" b="1" dirty="0"/>
              <a:t>column</a:t>
            </a:r>
            <a:r>
              <a:rPr lang="en-US" altLang="en-US" dirty="0"/>
              <a:t> used for relational model terms relation, tuple, and attribute</a:t>
            </a:r>
          </a:p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n-US" altLang="en-US" dirty="0"/>
              <a:t> statement</a:t>
            </a:r>
          </a:p>
          <a:p>
            <a:pPr lvl="1"/>
            <a:r>
              <a:rPr lang="en-US" altLang="en-US" dirty="0"/>
              <a:t>Main SQL command for data definition</a:t>
            </a:r>
          </a:p>
          <a:p>
            <a:r>
              <a:rPr lang="en-US" altLang="en-US" sz="2600" dirty="0"/>
              <a:t>The language has features for : </a:t>
            </a:r>
          </a:p>
          <a:p>
            <a:pPr lvl="1"/>
            <a:r>
              <a:rPr lang="en-US" altLang="en-US" sz="2400" dirty="0"/>
              <a:t>Data definition, Data Manipulation, Transaction control (Transact-SQL, Ch. 20), </a:t>
            </a:r>
          </a:p>
          <a:p>
            <a:pPr lvl="1"/>
            <a:r>
              <a:rPr lang="en-US" altLang="en-US" sz="2400" dirty="0"/>
              <a:t>Indexing (Ch.17), </a:t>
            </a:r>
          </a:p>
          <a:p>
            <a:pPr lvl="1"/>
            <a:r>
              <a:rPr lang="en-US" altLang="en-US" sz="2400" dirty="0"/>
              <a:t>Security specification (Grant and Revoke- see Ch.30),</a:t>
            </a:r>
          </a:p>
          <a:p>
            <a:pPr lvl="1"/>
            <a:r>
              <a:rPr lang="en-US" altLang="en-US" sz="2400" dirty="0"/>
              <a:t>Active databases (Ch.26), </a:t>
            </a:r>
          </a:p>
          <a:p>
            <a:pPr lvl="1"/>
            <a:r>
              <a:rPr lang="en-US" altLang="en-US" sz="2400" dirty="0"/>
              <a:t>Multi-media (Ch.26), </a:t>
            </a:r>
          </a:p>
          <a:p>
            <a:pPr lvl="1"/>
            <a:r>
              <a:rPr lang="en-US" altLang="en-US" sz="2400" dirty="0"/>
              <a:t>Distributed databases (Ch.23) </a:t>
            </a:r>
          </a:p>
          <a:p>
            <a:pPr lvl="1"/>
            <a:r>
              <a:rPr lang="en-US" altLang="en-US" sz="2400" dirty="0"/>
              <a:t>etc.</a:t>
            </a: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DD950455-952B-8008-D93B-B171CDC9A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6- 5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7975C367-EFB4-F6C0-A5A1-20B70A49D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SQL Standards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D74E8C47-1D46-142E-7886-A822A510D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7800"/>
            <a:ext cx="8915399" cy="5257800"/>
          </a:xfrm>
        </p:spPr>
        <p:txBody>
          <a:bodyPr>
            <a:normAutofit lnSpcReduction="10000"/>
          </a:bodyPr>
          <a:lstStyle/>
          <a:p>
            <a:r>
              <a:rPr lang="en-US" altLang="en-US" sz="2600" dirty="0"/>
              <a:t>SQL has gone through many standards: </a:t>
            </a:r>
          </a:p>
          <a:p>
            <a:pPr lvl="1"/>
            <a:r>
              <a:rPr lang="en-US" altLang="en-US" sz="2400" dirty="0"/>
              <a:t>starting with SQL-86 or SQL1.A. </a:t>
            </a:r>
          </a:p>
          <a:p>
            <a:pPr lvl="1"/>
            <a:r>
              <a:rPr lang="en-US" altLang="en-US" sz="2400" dirty="0"/>
              <a:t>SQL-92 is referred to as SQL-2. </a:t>
            </a:r>
          </a:p>
          <a:p>
            <a:r>
              <a:rPr lang="en-US" altLang="en-US" sz="2600" dirty="0"/>
              <a:t>Later standards (from SQL-1999) are divided into </a:t>
            </a:r>
            <a:r>
              <a:rPr lang="en-US" altLang="en-US" sz="2600" b="1" dirty="0"/>
              <a:t>core</a:t>
            </a:r>
            <a:r>
              <a:rPr lang="en-US" altLang="en-US" sz="2600" dirty="0"/>
              <a:t> specification and specialized </a:t>
            </a:r>
            <a:r>
              <a:rPr lang="en-US" altLang="en-US" sz="2600" b="1" dirty="0"/>
              <a:t>extensions</a:t>
            </a:r>
            <a:r>
              <a:rPr lang="en-US" altLang="en-US" sz="2600" dirty="0"/>
              <a:t>. </a:t>
            </a:r>
          </a:p>
          <a:p>
            <a:pPr lvl="1"/>
            <a:r>
              <a:rPr lang="en-US" altLang="en-US" sz="2400" dirty="0"/>
              <a:t>The extensions are implemented for different applications – such as data mining, data warehousing, multimedia etc. </a:t>
            </a:r>
          </a:p>
          <a:p>
            <a:r>
              <a:rPr lang="en-US" altLang="en-US" sz="2600" dirty="0"/>
              <a:t>SQL-2006 </a:t>
            </a:r>
          </a:p>
          <a:p>
            <a:pPr lvl="1"/>
            <a:r>
              <a:rPr lang="en-US" altLang="en-US" sz="2400" dirty="0"/>
              <a:t>added XML features (Ch. 13); </a:t>
            </a:r>
          </a:p>
          <a:p>
            <a:pPr lvl="1"/>
            <a:r>
              <a:rPr lang="en-US" altLang="en-US" sz="2400" dirty="0"/>
              <a:t>In 2008 they added Object-oriented features (Ch. 12). </a:t>
            </a:r>
          </a:p>
          <a:p>
            <a:r>
              <a:rPr lang="en-US" altLang="en-US" sz="2600" dirty="0"/>
              <a:t>SQL-3 is the current standard which started with SQL-1999. </a:t>
            </a:r>
          </a:p>
          <a:p>
            <a:pPr lvl="1"/>
            <a:r>
              <a:rPr lang="en-US" altLang="en-US" sz="2400" dirty="0"/>
              <a:t>It is not fully implemented in any RDBMS.</a:t>
            </a:r>
          </a:p>
          <a:p>
            <a:endParaRPr lang="en-US" altLang="en-US" b="1" dirty="0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8AD1F0F1-F5AE-B281-A65C-715AD50A5C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6- 6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820D15CB-4516-388E-AD04-9C7E9F63B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8458200" cy="992187"/>
          </a:xfrm>
        </p:spPr>
        <p:txBody>
          <a:bodyPr/>
          <a:lstStyle/>
          <a:p>
            <a:r>
              <a:rPr lang="en-US" altLang="en-US" dirty="0"/>
              <a:t>Schema and Catalog Concepts in SQL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1B42D1F-8A1E-19D1-FC6D-1439F9CC1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447800"/>
            <a:ext cx="8839200" cy="52578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We cover the basic standard SQL syntax – </a:t>
            </a:r>
          </a:p>
          <a:p>
            <a:pPr lvl="1"/>
            <a:r>
              <a:rPr lang="en-US" altLang="en-US" dirty="0"/>
              <a:t>there are variations in existing RDBMS systems</a:t>
            </a:r>
          </a:p>
          <a:p>
            <a:r>
              <a:rPr lang="en-US" altLang="en-US" b="1" dirty="0"/>
              <a:t>SQL schema </a:t>
            </a:r>
          </a:p>
          <a:p>
            <a:pPr lvl="1"/>
            <a:r>
              <a:rPr lang="en-US" altLang="en-US" sz="2400" dirty="0"/>
              <a:t>Identified by a </a:t>
            </a:r>
            <a:r>
              <a:rPr lang="en-US" altLang="en-US" sz="2400" b="1" dirty="0"/>
              <a:t>schema name</a:t>
            </a:r>
          </a:p>
          <a:p>
            <a:pPr lvl="1"/>
            <a:r>
              <a:rPr lang="en-US" altLang="en-US" sz="2400" dirty="0"/>
              <a:t>Includes an </a:t>
            </a:r>
            <a:r>
              <a:rPr lang="en-US" altLang="en-US" sz="2400" b="1" dirty="0"/>
              <a:t>authorization identifier </a:t>
            </a:r>
            <a:r>
              <a:rPr lang="en-US" altLang="en-US" sz="2400" dirty="0"/>
              <a:t>and </a:t>
            </a:r>
            <a:r>
              <a:rPr lang="en-US" altLang="en-US" sz="2400" b="1" dirty="0"/>
              <a:t>descriptors</a:t>
            </a:r>
            <a:r>
              <a:rPr lang="en-US" altLang="en-US" sz="2400" dirty="0"/>
              <a:t> for each element </a:t>
            </a:r>
          </a:p>
          <a:p>
            <a:r>
              <a:rPr lang="en-US" altLang="en-US" b="1" dirty="0"/>
              <a:t>Schema</a:t>
            </a:r>
            <a:r>
              <a:rPr lang="en-US" altLang="en-US" dirty="0"/>
              <a:t> </a:t>
            </a:r>
            <a:r>
              <a:rPr lang="en-US" altLang="en-US" b="1" dirty="0"/>
              <a:t>elements</a:t>
            </a:r>
            <a:r>
              <a:rPr lang="en-US" altLang="en-US" dirty="0"/>
              <a:t> include </a:t>
            </a:r>
          </a:p>
          <a:p>
            <a:pPr lvl="1"/>
            <a:r>
              <a:rPr lang="en-US" altLang="en-US" sz="2400" dirty="0"/>
              <a:t>Tables, constraints, views, domains, and other constructs</a:t>
            </a:r>
          </a:p>
          <a:p>
            <a:r>
              <a:rPr lang="en-US" altLang="en-US" dirty="0"/>
              <a:t>Each statement in SQL ends with a </a:t>
            </a:r>
            <a:r>
              <a:rPr lang="en-US" altLang="en-US" b="1" dirty="0"/>
              <a:t>semicolon</a:t>
            </a:r>
          </a:p>
          <a:p>
            <a:r>
              <a:rPr lang="en-US" altLang="en-US" b="1" dirty="0"/>
              <a:t>Catalog</a:t>
            </a:r>
          </a:p>
          <a:p>
            <a:pPr lvl="1"/>
            <a:r>
              <a:rPr lang="en-US" altLang="en-US" dirty="0"/>
              <a:t>Named collection of schemas in an SQL environment</a:t>
            </a:r>
          </a:p>
          <a:p>
            <a:r>
              <a:rPr lang="en-US" altLang="en-US" dirty="0"/>
              <a:t>SQL also has the concept of a cluster of catalogs.</a:t>
            </a:r>
            <a:endParaRPr lang="en-US" altLang="en-US" b="1" dirty="0"/>
          </a:p>
          <a:p>
            <a:endParaRPr lang="en-US" altLang="en-US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0C3A952B-8DD7-B0A0-600F-3BC0528B0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093F535A-517D-463F-B950-3EFD0C1F29A0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4">
            <a:extLst>
              <a:ext uri="{FF2B5EF4-FFF2-40B4-BE49-F238E27FC236}">
                <a16:creationId xmlns:a16="http://schemas.microsoft.com/office/drawing/2014/main" id="{3F70068A-8A62-0BB7-8977-6796793FB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3213"/>
            <a:ext cx="9144000" cy="992187"/>
          </a:xfrm>
        </p:spPr>
        <p:txBody>
          <a:bodyPr/>
          <a:lstStyle/>
          <a:p>
            <a:r>
              <a:rPr lang="en-US" altLang="en-US" dirty="0"/>
              <a:t>The CREATE SCHEMA Command in SQL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C3DDDC6E-041F-1A66-7C15-AD9851049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00200"/>
            <a:ext cx="8839200" cy="4572000"/>
          </a:xfrm>
        </p:spPr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 </a:t>
            </a:r>
            <a:r>
              <a:rPr lang="en-US" altLang="en-US" dirty="0"/>
              <a:t>statement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schema_name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Creates an empty schema owned by the current user.</a:t>
            </a:r>
          </a:p>
          <a:p>
            <a:pPr lvl="1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schema_name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marL="457200" lvl="1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AUTHORIZATION 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authorization_user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457200" lvl="1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[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schema_element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[ ... ]];</a:t>
            </a:r>
          </a:p>
          <a:p>
            <a:pPr lvl="2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Example:</a:t>
            </a:r>
          </a:p>
          <a:p>
            <a:pPr lvl="3"/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SCHEMA COMPANY AUTHORIZATION ‘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Jsmith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9F058B27-5B98-BFC7-8D92-4182CE71E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6- 8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83CF7854-E1FC-F050-9872-20475B3C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303213"/>
            <a:ext cx="8686800" cy="992187"/>
          </a:xfrm>
        </p:spPr>
        <p:txBody>
          <a:bodyPr/>
          <a:lstStyle/>
          <a:p>
            <a:r>
              <a:rPr lang="en-US" altLang="en-US" dirty="0"/>
              <a:t>The CREATE TABLE Command in SQL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BAF9B896-2AA4-66A1-9C6F-71892B41A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447800"/>
            <a:ext cx="8839200" cy="5257800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Specifying a new relation 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Provide name of table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Specify attributes, their types and initial constraints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Can optionally specify schema:</a:t>
            </a:r>
          </a:p>
          <a:p>
            <a:pPr lvl="1">
              <a:defRPr/>
            </a:pPr>
            <a:r>
              <a:rPr lang="en-US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CREATE TABLE COMPANY.EMPLOYEE ...</a:t>
            </a:r>
          </a:p>
          <a:p>
            <a:pPr marL="971550" lvl="1" indent="-514350">
              <a:buFont typeface="Wingdings" panose="05000000000000000000" pitchFamily="2" charset="2"/>
              <a:buNone/>
              <a:defRPr/>
            </a:pPr>
            <a:r>
              <a:rPr lang="en-US" dirty="0">
                <a:ea typeface="ＭＳ Ｐゴシック" charset="0"/>
              </a:rPr>
              <a:t>	or</a:t>
            </a:r>
          </a:p>
          <a:p>
            <a:pPr lvl="1">
              <a:defRPr/>
            </a:pPr>
            <a:r>
              <a:rPr lang="en-US" dirty="0">
                <a:latin typeface="Courier New" pitchFamily="49" charset="0"/>
                <a:ea typeface="ＭＳ Ｐゴシック" charset="0"/>
                <a:cs typeface="Courier New" pitchFamily="49" charset="0"/>
              </a:rPr>
              <a:t>CREATE TABLE EMPLOYEE ...</a:t>
            </a:r>
          </a:p>
          <a:p>
            <a:r>
              <a:rPr lang="en-US" altLang="en-US" b="1" dirty="0"/>
              <a:t>Base tables </a:t>
            </a:r>
            <a:r>
              <a:rPr lang="en-US" altLang="en-US" dirty="0"/>
              <a:t>(</a:t>
            </a:r>
            <a:r>
              <a:rPr lang="en-US" altLang="en-US" b="1" dirty="0"/>
              <a:t>base relations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Relation and its tuples are actually created and stored as a file by the DBMS</a:t>
            </a:r>
          </a:p>
          <a:p>
            <a:r>
              <a:rPr lang="en-US" altLang="en-US" b="1" dirty="0"/>
              <a:t>Virtual relations (views)</a:t>
            </a:r>
          </a:p>
          <a:p>
            <a:pPr lvl="1"/>
            <a:r>
              <a:rPr lang="en-US" altLang="en-US" dirty="0"/>
              <a:t>Created through the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CREATE VIEW </a:t>
            </a:r>
            <a:r>
              <a:rPr lang="en-US" altLang="en-US" dirty="0"/>
              <a:t>statement. Do not correspond to any physical file.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AB6787CD-A37D-614D-5229-EC2154BDF4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6- 9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FE91CC41-22EC-6DF7-FD27-DA2F1AF70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Verdana" panose="020B0604030504040204" pitchFamily="34" charset="0"/>
              </a:rPr>
              <a:t>COMPANY relational database schema (Fig. 5.7)</a:t>
            </a:r>
          </a:p>
        </p:txBody>
      </p:sp>
      <p:pic>
        <p:nvPicPr>
          <p:cNvPr id="26627" name="Picture 2" descr="fig05_07.jpg">
            <a:extLst>
              <a:ext uri="{FF2B5EF4-FFF2-40B4-BE49-F238E27FC236}">
                <a16:creationId xmlns:a16="http://schemas.microsoft.com/office/drawing/2014/main" id="{C3AD12FF-BD07-62EE-588B-75BA0C4FDC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524000"/>
            <a:ext cx="707707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22667FE8-4865-30B9-ED23-5662D29542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6- 11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46F6C7DB-4378-5AA8-313E-44CE74C9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8" y="169863"/>
            <a:ext cx="8126412" cy="1201737"/>
          </a:xfrm>
        </p:spPr>
        <p:txBody>
          <a:bodyPr anchor="ctr"/>
          <a:lstStyle/>
          <a:p>
            <a:r>
              <a:rPr lang="en-US" altLang="en-US" sz="2600">
                <a:latin typeface="Verdana" panose="020B0604030504040204" pitchFamily="34" charset="0"/>
              </a:rPr>
              <a:t>SQL CREATE TABLE data definition statements for defining the COMPANY schema from Figure 5.7 (Fig. 6.1)</a:t>
            </a:r>
            <a:endParaRPr lang="en-US" altLang="en-US" i="1">
              <a:latin typeface="Verdana" panose="020B0604030504040204" pitchFamily="34" charset="0"/>
            </a:endParaRPr>
          </a:p>
        </p:txBody>
      </p:sp>
      <p:pic>
        <p:nvPicPr>
          <p:cNvPr id="29699" name="Picture 2" descr="fig06_01continueda.jpg">
            <a:extLst>
              <a:ext uri="{FF2B5EF4-FFF2-40B4-BE49-F238E27FC236}">
                <a16:creationId xmlns:a16="http://schemas.microsoft.com/office/drawing/2014/main" id="{123A8D10-E9BD-5CE2-05D6-6D41E8B008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686"/>
          <a:stretch/>
        </p:blipFill>
        <p:spPr bwMode="auto">
          <a:xfrm>
            <a:off x="227427" y="3066222"/>
            <a:ext cx="8354014" cy="310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Slide Number Placeholder 3">
            <a:extLst>
              <a:ext uri="{FF2B5EF4-FFF2-40B4-BE49-F238E27FC236}">
                <a16:creationId xmlns:a16="http://schemas.microsoft.com/office/drawing/2014/main" id="{E2F4EC34-26BA-76B7-5962-17D447504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6- 14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2" name="Picture 2" descr="fig05_07.jpg">
            <a:extLst>
              <a:ext uri="{FF2B5EF4-FFF2-40B4-BE49-F238E27FC236}">
                <a16:creationId xmlns:a16="http://schemas.microsoft.com/office/drawing/2014/main" id="{5A7467B0-20A2-EA4F-A893-112BC2A118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4848"/>
          <a:stretch/>
        </p:blipFill>
        <p:spPr bwMode="auto">
          <a:xfrm>
            <a:off x="152400" y="1753972"/>
            <a:ext cx="8686800" cy="935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Tm="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46F6C7DB-4378-5AA8-313E-44CE74C9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8" y="169863"/>
            <a:ext cx="8126412" cy="1201737"/>
          </a:xfrm>
        </p:spPr>
        <p:txBody>
          <a:bodyPr anchor="ctr"/>
          <a:lstStyle/>
          <a:p>
            <a:r>
              <a:rPr lang="en-US" altLang="en-US" sz="2600">
                <a:latin typeface="Verdana" panose="020B0604030504040204" pitchFamily="34" charset="0"/>
              </a:rPr>
              <a:t>SQL CREATE TABLE data definition statements for defining the COMPANY schema from Figure 5.7 (Fig. 6.1)</a:t>
            </a:r>
            <a:endParaRPr lang="en-US" altLang="en-US" i="1">
              <a:latin typeface="Verdana" panose="020B0604030504040204" pitchFamily="34" charset="0"/>
            </a:endParaRPr>
          </a:p>
        </p:txBody>
      </p:sp>
      <p:pic>
        <p:nvPicPr>
          <p:cNvPr id="29699" name="Picture 2" descr="fig06_01continueda.jpg">
            <a:extLst>
              <a:ext uri="{FF2B5EF4-FFF2-40B4-BE49-F238E27FC236}">
                <a16:creationId xmlns:a16="http://schemas.microsoft.com/office/drawing/2014/main" id="{123A8D10-E9BD-5CE2-05D6-6D41E8B008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15" b="20054"/>
          <a:stretch/>
        </p:blipFill>
        <p:spPr bwMode="auto">
          <a:xfrm>
            <a:off x="0" y="3505200"/>
            <a:ext cx="8847298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Box 4">
            <a:extLst>
              <a:ext uri="{FF2B5EF4-FFF2-40B4-BE49-F238E27FC236}">
                <a16:creationId xmlns:a16="http://schemas.microsoft.com/office/drawing/2014/main" id="{F069BF0D-63BE-9787-4587-2815258A6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6124575"/>
            <a:ext cx="34750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i="1">
                <a:solidFill>
                  <a:schemeClr val="tx1"/>
                </a:solidFill>
                <a:latin typeface="Verdana" panose="020B0604030504040204" pitchFamily="34" charset="0"/>
              </a:rPr>
              <a:t>continued on next slide</a:t>
            </a:r>
          </a:p>
        </p:txBody>
      </p:sp>
      <p:sp>
        <p:nvSpPr>
          <p:cNvPr id="29701" name="Slide Number Placeholder 3">
            <a:extLst>
              <a:ext uri="{FF2B5EF4-FFF2-40B4-BE49-F238E27FC236}">
                <a16:creationId xmlns:a16="http://schemas.microsoft.com/office/drawing/2014/main" id="{E2F4EC34-26BA-76B7-5962-17D447504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6- 14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2" name="Picture 2" descr="fig05_07.jpg">
            <a:extLst>
              <a:ext uri="{FF2B5EF4-FFF2-40B4-BE49-F238E27FC236}">
                <a16:creationId xmlns:a16="http://schemas.microsoft.com/office/drawing/2014/main" id="{B4B71314-2D74-6556-2CA6-7212934303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67" r="45850" b="69697"/>
          <a:stretch/>
        </p:blipFill>
        <p:spPr bwMode="auto">
          <a:xfrm>
            <a:off x="1687027" y="1913731"/>
            <a:ext cx="5752584" cy="1029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4830973"/>
      </p:ext>
    </p:extLst>
  </p:cSld>
  <p:clrMapOvr>
    <a:masterClrMapping/>
  </p:clrMapOvr>
  <p:transition spd="med" advTm="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46F6C7DB-4378-5AA8-313E-44CE74C9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8" y="169863"/>
            <a:ext cx="8126412" cy="1201737"/>
          </a:xfrm>
        </p:spPr>
        <p:txBody>
          <a:bodyPr anchor="ctr"/>
          <a:lstStyle/>
          <a:p>
            <a:r>
              <a:rPr lang="en-US" altLang="en-US" sz="2600">
                <a:latin typeface="Verdana" panose="020B0604030504040204" pitchFamily="34" charset="0"/>
              </a:rPr>
              <a:t>SQL CREATE TABLE data definition statements for defining the COMPANY schema from Figure 5.7 (Fig. 6.1)</a:t>
            </a:r>
            <a:endParaRPr lang="en-US" altLang="en-US" i="1">
              <a:latin typeface="Verdana" panose="020B0604030504040204" pitchFamily="34" charset="0"/>
            </a:endParaRPr>
          </a:p>
        </p:txBody>
      </p:sp>
      <p:pic>
        <p:nvPicPr>
          <p:cNvPr id="29699" name="Picture 2" descr="fig06_01continueda.jpg">
            <a:extLst>
              <a:ext uri="{FF2B5EF4-FFF2-40B4-BE49-F238E27FC236}">
                <a16:creationId xmlns:a16="http://schemas.microsoft.com/office/drawing/2014/main" id="{123A8D10-E9BD-5CE2-05D6-6D41E8B008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46"/>
          <a:stretch/>
        </p:blipFill>
        <p:spPr bwMode="auto">
          <a:xfrm>
            <a:off x="1" y="3727242"/>
            <a:ext cx="8839200" cy="1392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0" name="TextBox 4">
            <a:extLst>
              <a:ext uri="{FF2B5EF4-FFF2-40B4-BE49-F238E27FC236}">
                <a16:creationId xmlns:a16="http://schemas.microsoft.com/office/drawing/2014/main" id="{F069BF0D-63BE-9787-4587-2815258A6C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6124575"/>
            <a:ext cx="34750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i="1">
                <a:solidFill>
                  <a:schemeClr val="tx1"/>
                </a:solidFill>
                <a:latin typeface="Verdana" panose="020B0604030504040204" pitchFamily="34" charset="0"/>
              </a:rPr>
              <a:t>continued on next slide</a:t>
            </a:r>
          </a:p>
        </p:txBody>
      </p:sp>
      <p:sp>
        <p:nvSpPr>
          <p:cNvPr id="29701" name="Slide Number Placeholder 3">
            <a:extLst>
              <a:ext uri="{FF2B5EF4-FFF2-40B4-BE49-F238E27FC236}">
                <a16:creationId xmlns:a16="http://schemas.microsoft.com/office/drawing/2014/main" id="{E2F4EC34-26BA-76B7-5962-17D447504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6- 14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2" name="Picture 2" descr="fig05_07.jpg">
            <a:extLst>
              <a:ext uri="{FF2B5EF4-FFF2-40B4-BE49-F238E27FC236}">
                <a16:creationId xmlns:a16="http://schemas.microsoft.com/office/drawing/2014/main" id="{DEAF529B-D50E-D139-9E13-03A6DC6531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48" r="72768" b="54312"/>
          <a:stretch/>
        </p:blipFill>
        <p:spPr bwMode="auto">
          <a:xfrm>
            <a:off x="2362200" y="1862962"/>
            <a:ext cx="4087015" cy="1156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5162532"/>
      </p:ext>
    </p:extLst>
  </p:cSld>
  <p:clrMapOvr>
    <a:masterClrMapping/>
  </p:clrMapOvr>
  <p:transition spd="med" advTm="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C86A4139-3712-A925-B912-E38ED88F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>
                <a:latin typeface="Verdana" panose="020B0604030504040204" pitchFamily="34" charset="0"/>
              </a:rPr>
              <a:t>SQL CREATE TABLE data definition statements for defining the COMPANY schema from Figure 5.7 (Fig. 6.1)</a:t>
            </a:r>
            <a:r>
              <a:rPr lang="en-US" altLang="en-US" sz="2800">
                <a:latin typeface="Verdana" panose="020B0604030504040204" pitchFamily="34" charset="0"/>
              </a:rPr>
              <a:t>-continued</a:t>
            </a:r>
            <a:endParaRPr lang="en-US" altLang="en-US" sz="2600" i="1">
              <a:latin typeface="Verdana" panose="020B0604030504040204" pitchFamily="34" charset="0"/>
            </a:endParaRPr>
          </a:p>
        </p:txBody>
      </p:sp>
      <p:pic>
        <p:nvPicPr>
          <p:cNvPr id="31747" name="Picture 2" descr="fig06_01continuedb.jpg">
            <a:extLst>
              <a:ext uri="{FF2B5EF4-FFF2-40B4-BE49-F238E27FC236}">
                <a16:creationId xmlns:a16="http://schemas.microsoft.com/office/drawing/2014/main" id="{55265C96-55F2-F3C2-E054-ECA36F7B42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574"/>
          <a:stretch/>
        </p:blipFill>
        <p:spPr bwMode="auto">
          <a:xfrm>
            <a:off x="76200" y="3516796"/>
            <a:ext cx="8839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78038D03-F74A-0FE8-FE54-5AF5B5D01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6- 15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9B9316-E585-A63C-75E5-531BBA7496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515" r="51077" b="36364"/>
          <a:stretch/>
        </p:blipFill>
        <p:spPr>
          <a:xfrm>
            <a:off x="1295400" y="1827213"/>
            <a:ext cx="6924676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54574"/>
      </p:ext>
    </p:extLst>
  </p:cSld>
  <p:clrMapOvr>
    <a:masterClrMapping/>
  </p:clrMapOvr>
  <p:transition spd="med" advTm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C86A4139-3712-A925-B912-E38ED88F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>
                <a:latin typeface="Verdana" panose="020B0604030504040204" pitchFamily="34" charset="0"/>
              </a:rPr>
              <a:t>SQL CREATE TABLE data definition statements for defining the COMPANY schema from Figure 5.7 (Fig. 6.1)</a:t>
            </a:r>
            <a:r>
              <a:rPr lang="en-US" altLang="en-US" sz="2800">
                <a:latin typeface="Verdana" panose="020B0604030504040204" pitchFamily="34" charset="0"/>
              </a:rPr>
              <a:t>-continued</a:t>
            </a:r>
            <a:endParaRPr lang="en-US" altLang="en-US" sz="2600" i="1">
              <a:latin typeface="Verdana" panose="020B0604030504040204" pitchFamily="34" charset="0"/>
            </a:endParaRPr>
          </a:p>
        </p:txBody>
      </p:sp>
      <p:pic>
        <p:nvPicPr>
          <p:cNvPr id="31747" name="Picture 2" descr="fig06_01continuedb.jpg">
            <a:extLst>
              <a:ext uri="{FF2B5EF4-FFF2-40B4-BE49-F238E27FC236}">
                <a16:creationId xmlns:a16="http://schemas.microsoft.com/office/drawing/2014/main" id="{55265C96-55F2-F3C2-E054-ECA36F7B42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26" b="36066"/>
          <a:stretch/>
        </p:blipFill>
        <p:spPr bwMode="auto">
          <a:xfrm>
            <a:off x="91661" y="3886200"/>
            <a:ext cx="8813800" cy="1888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78038D03-F74A-0FE8-FE54-5AF5B5D01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6- 15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0ABB1C-5669-3933-CBF1-5357E783FE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182" r="71534" b="19697"/>
          <a:stretch/>
        </p:blipFill>
        <p:spPr>
          <a:xfrm>
            <a:off x="1981200" y="1772785"/>
            <a:ext cx="4784528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69497"/>
      </p:ext>
    </p:extLst>
  </p:cSld>
  <p:clrMapOvr>
    <a:masterClrMapping/>
  </p:clrMapOvr>
  <p:transition spd="med" advTm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C86A4139-3712-A925-B912-E38ED88F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>
                <a:latin typeface="Verdana" panose="020B0604030504040204" pitchFamily="34" charset="0"/>
              </a:rPr>
              <a:t>SQL CREATE TABLE data definition statements for defining the COMPANY schema from Figure 5.7 (Fig. 6.1)</a:t>
            </a:r>
            <a:r>
              <a:rPr lang="en-US" altLang="en-US" sz="2800">
                <a:latin typeface="Verdana" panose="020B0604030504040204" pitchFamily="34" charset="0"/>
              </a:rPr>
              <a:t>-continued</a:t>
            </a:r>
            <a:endParaRPr lang="en-US" altLang="en-US" sz="2600" i="1">
              <a:latin typeface="Verdana" panose="020B0604030504040204" pitchFamily="34" charset="0"/>
            </a:endParaRPr>
          </a:p>
        </p:txBody>
      </p:sp>
      <p:pic>
        <p:nvPicPr>
          <p:cNvPr id="31747" name="Picture 2" descr="fig06_01continuedb.jpg">
            <a:extLst>
              <a:ext uri="{FF2B5EF4-FFF2-40B4-BE49-F238E27FC236}">
                <a16:creationId xmlns:a16="http://schemas.microsoft.com/office/drawing/2014/main" id="{55265C96-55F2-F3C2-E054-ECA36F7B42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34"/>
          <a:stretch/>
        </p:blipFill>
        <p:spPr bwMode="auto">
          <a:xfrm>
            <a:off x="253448" y="3810000"/>
            <a:ext cx="8437418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78038D03-F74A-0FE8-FE54-5AF5B5D01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6- 15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69BCB1-0171-1FE1-3F4A-88B3978D99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848" r="34926" b="1515"/>
          <a:stretch/>
        </p:blipFill>
        <p:spPr>
          <a:xfrm>
            <a:off x="228600" y="1928191"/>
            <a:ext cx="8698972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96718"/>
      </p:ext>
    </p:extLst>
  </p:cSld>
  <p:clrMapOvr>
    <a:masterClrMapping/>
  </p:clrMapOvr>
  <p:transition spd="med" advTm="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46F6C7DB-4378-5AA8-313E-44CE74C97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8" y="169863"/>
            <a:ext cx="8126412" cy="1201737"/>
          </a:xfrm>
        </p:spPr>
        <p:txBody>
          <a:bodyPr anchor="ctr"/>
          <a:lstStyle/>
          <a:p>
            <a:r>
              <a:rPr lang="en-US" altLang="en-US" sz="2600">
                <a:latin typeface="Verdana" panose="020B0604030504040204" pitchFamily="34" charset="0"/>
              </a:rPr>
              <a:t>SQL CREATE TABLE data definition statements for defining the COMPANY schema from Figure 5.7 (Fig. 6.1)</a:t>
            </a:r>
            <a:endParaRPr lang="en-US" altLang="en-US" i="1">
              <a:latin typeface="Verdana" panose="020B0604030504040204" pitchFamily="34" charset="0"/>
            </a:endParaRPr>
          </a:p>
        </p:txBody>
      </p:sp>
      <p:pic>
        <p:nvPicPr>
          <p:cNvPr id="29699" name="Picture 2" descr="fig06_01continueda.jpg">
            <a:extLst>
              <a:ext uri="{FF2B5EF4-FFF2-40B4-BE49-F238E27FC236}">
                <a16:creationId xmlns:a16="http://schemas.microsoft.com/office/drawing/2014/main" id="{123A8D10-E9BD-5CE2-05D6-6D41E8B00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524000"/>
            <a:ext cx="6324600" cy="4969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Slide Number Placeholder 3">
            <a:extLst>
              <a:ext uri="{FF2B5EF4-FFF2-40B4-BE49-F238E27FC236}">
                <a16:creationId xmlns:a16="http://schemas.microsoft.com/office/drawing/2014/main" id="{E2F4EC34-26BA-76B7-5962-17D447504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6- 14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498958"/>
      </p:ext>
    </p:extLst>
  </p:cSld>
  <p:clrMapOvr>
    <a:masterClrMapping/>
  </p:clrMapOvr>
  <p:transition spd="med" advTm="0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C86A4139-3712-A925-B912-E38ED88F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>
                <a:latin typeface="Verdana" panose="020B0604030504040204" pitchFamily="34" charset="0"/>
              </a:rPr>
              <a:t>SQL CREATE TABLE data definition statements for defining the COMPANY schema from Figure 5.7 (Fig. 6.1)</a:t>
            </a:r>
            <a:r>
              <a:rPr lang="en-US" altLang="en-US" sz="2800">
                <a:latin typeface="Verdana" panose="020B0604030504040204" pitchFamily="34" charset="0"/>
              </a:rPr>
              <a:t>-continued</a:t>
            </a:r>
            <a:endParaRPr lang="en-US" altLang="en-US" sz="2600" i="1">
              <a:latin typeface="Verdana" panose="020B0604030504040204" pitchFamily="34" charset="0"/>
            </a:endParaRPr>
          </a:p>
        </p:txBody>
      </p:sp>
      <p:pic>
        <p:nvPicPr>
          <p:cNvPr id="31747" name="Picture 2" descr="fig06_01continuedb.jpg">
            <a:extLst>
              <a:ext uri="{FF2B5EF4-FFF2-40B4-BE49-F238E27FC236}">
                <a16:creationId xmlns:a16="http://schemas.microsoft.com/office/drawing/2014/main" id="{55265C96-55F2-F3C2-E054-ECA36F7B42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93850"/>
            <a:ext cx="6934200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78038D03-F74A-0FE8-FE54-5AF5B5D01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6- 15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09A23A6E-74D8-FE0F-939B-D9A63D3BB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>
                <a:latin typeface="Verdana" panose="020B0604030504040204" pitchFamily="34" charset="0"/>
              </a:rPr>
              <a:t>One possible database state for the COMPANY relational database schema (Fig. 5.6)</a:t>
            </a:r>
          </a:p>
        </p:txBody>
      </p:sp>
      <p:pic>
        <p:nvPicPr>
          <p:cNvPr id="27651" name="Picture 3" descr="fig05_06continueda.jpg">
            <a:extLst>
              <a:ext uri="{FF2B5EF4-FFF2-40B4-BE49-F238E27FC236}">
                <a16:creationId xmlns:a16="http://schemas.microsoft.com/office/drawing/2014/main" id="{2E518087-0EE1-5971-2E6F-42E3667F1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8229600" cy="497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59438F81-8F90-C2A6-89DE-CFEE54358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6- 12</a:t>
            </a:r>
          </a:p>
        </p:txBody>
      </p:sp>
    </p:spTree>
  </p:cSld>
  <p:clrMapOvr>
    <a:masterClrMapping/>
  </p:clrMapOvr>
  <p:transition spd="med" advTm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F87B6930-D596-4C19-7771-6514823A2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328613"/>
            <a:ext cx="7796212" cy="992187"/>
          </a:xfrm>
        </p:spPr>
        <p:txBody>
          <a:bodyPr/>
          <a:lstStyle/>
          <a:p>
            <a:r>
              <a:rPr lang="en-US" altLang="en-US" sz="2600">
                <a:latin typeface="Verdana" panose="020B0604030504040204" pitchFamily="34" charset="0"/>
              </a:rPr>
              <a:t>One possible database state for the COMPANY relational database schema – continued (Fig. 5.6)</a:t>
            </a:r>
          </a:p>
        </p:txBody>
      </p:sp>
      <p:pic>
        <p:nvPicPr>
          <p:cNvPr id="28675" name="Picture 2" descr="fig05_06continuedb.jpg">
            <a:extLst>
              <a:ext uri="{FF2B5EF4-FFF2-40B4-BE49-F238E27FC236}">
                <a16:creationId xmlns:a16="http://schemas.microsoft.com/office/drawing/2014/main" id="{943624EF-519A-4D35-B370-A0F28074F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524000"/>
            <a:ext cx="82296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7FD8EB1B-3480-400A-A738-4AE896C4F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6- 13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4">
            <a:extLst>
              <a:ext uri="{FF2B5EF4-FFF2-40B4-BE49-F238E27FC236}">
                <a16:creationId xmlns:a16="http://schemas.microsoft.com/office/drawing/2014/main" id="{388002EF-A9E0-06C4-E642-8C583B685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CREATE TABLE Command in SQL (cont’d.)</a:t>
            </a:r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F00BD338-6F71-8D79-07FA-79C978B6C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8991599" cy="4572000"/>
          </a:xfrm>
        </p:spPr>
        <p:txBody>
          <a:bodyPr/>
          <a:lstStyle/>
          <a:p>
            <a:r>
              <a:rPr lang="en-US" altLang="en-US" dirty="0"/>
              <a:t>Some foreign keys may cause errors </a:t>
            </a:r>
          </a:p>
          <a:p>
            <a:pPr lvl="1"/>
            <a:r>
              <a:rPr lang="en-US" altLang="en-US" dirty="0"/>
              <a:t>Specified either via: </a:t>
            </a:r>
          </a:p>
          <a:p>
            <a:pPr lvl="2"/>
            <a:r>
              <a:rPr lang="en-US" altLang="en-US" dirty="0"/>
              <a:t>Circular references </a:t>
            </a:r>
          </a:p>
          <a:p>
            <a:pPr lvl="2"/>
            <a:r>
              <a:rPr lang="en-US" altLang="en-US" dirty="0"/>
              <a:t>Or because they refer to a table that has not yet been created</a:t>
            </a:r>
          </a:p>
          <a:p>
            <a:pPr lvl="1"/>
            <a:r>
              <a:rPr lang="en-US" altLang="en-US" dirty="0"/>
              <a:t>DBA’s have ways to stop referential integrity enforcement to get around this problem.</a:t>
            </a:r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FC2713E2-47EC-F52F-426C-50358145C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6- 16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ED4BE26A-DE52-3DFD-9742-7FDD0F97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Attribute Data Types and Domains in SQL</a:t>
            </a: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93B53514-C5FC-E3E8-9339-50D054D1F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1" y="1828800"/>
            <a:ext cx="8915400" cy="4343400"/>
          </a:xfrm>
        </p:spPr>
        <p:txBody>
          <a:bodyPr/>
          <a:lstStyle/>
          <a:p>
            <a:r>
              <a:rPr lang="en-US" altLang="en-US" dirty="0"/>
              <a:t>Basic </a:t>
            </a:r>
            <a:r>
              <a:rPr lang="en-US" altLang="en-US" b="1" dirty="0"/>
              <a:t>data types</a:t>
            </a:r>
          </a:p>
          <a:p>
            <a:pPr lvl="1"/>
            <a:r>
              <a:rPr lang="en-US" altLang="en-US" b="1" dirty="0"/>
              <a:t>Numeric </a:t>
            </a:r>
            <a:r>
              <a:rPr lang="en-US" altLang="en-US" dirty="0"/>
              <a:t>data types </a:t>
            </a:r>
          </a:p>
          <a:p>
            <a:pPr lvl="2"/>
            <a:r>
              <a:rPr lang="en-US" altLang="en-US" dirty="0"/>
              <a:t>Integer numbers: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INTEGER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/>
              <a:t>, and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SMALLINT</a:t>
            </a:r>
          </a:p>
          <a:p>
            <a:pPr lvl="2"/>
            <a:r>
              <a:rPr lang="en-US" altLang="en-US" dirty="0"/>
              <a:t>Floating-point (real) numbers: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en-US" altLang="en-US" dirty="0"/>
              <a:t>or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REAL</a:t>
            </a:r>
            <a:r>
              <a:rPr lang="en-US" altLang="en-US" dirty="0"/>
              <a:t>, and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PRECISION</a:t>
            </a:r>
          </a:p>
          <a:p>
            <a:pPr lvl="1"/>
            <a:r>
              <a:rPr lang="en-US" altLang="en-US" b="1" dirty="0"/>
              <a:t>Character-string </a:t>
            </a:r>
            <a:r>
              <a:rPr lang="en-US" altLang="en-US" dirty="0"/>
              <a:t>data types </a:t>
            </a:r>
          </a:p>
          <a:p>
            <a:pPr lvl="2"/>
            <a:r>
              <a:rPr lang="en-US" altLang="en-US" dirty="0"/>
              <a:t>Fixed length: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CHARACTER(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altLang="en-US" dirty="0"/>
              <a:t>Varying length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VARCHAR(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cs typeface="Courier New" panose="02070309020205020404" pitchFamily="49" charset="0"/>
              </a:rPr>
              <a:t>,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 VARYING(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altLang="en-US" dirty="0">
                <a:cs typeface="Courier New" panose="02070309020205020404" pitchFamily="49" charset="0"/>
              </a:rPr>
              <a:t>,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CHARACTER VARYING(</a:t>
            </a: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872C7A45-A1FA-2FFA-3E02-063E87760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6- 17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4">
            <a:extLst>
              <a:ext uri="{FF2B5EF4-FFF2-40B4-BE49-F238E27FC236}">
                <a16:creationId xmlns:a16="http://schemas.microsoft.com/office/drawing/2014/main" id="{8FDE46D5-E6C3-19FD-EF7D-DF859114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Attribute Data Types and Domains in SQL (cont’d.)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ACBF586F-B32D-26D1-BC3B-EF2C691A7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b="1"/>
              <a:t>Bit-string</a:t>
            </a:r>
            <a:r>
              <a:rPr lang="en-US" altLang="en-US"/>
              <a:t> data types </a:t>
            </a:r>
          </a:p>
          <a:p>
            <a:pPr lvl="2"/>
            <a:r>
              <a:rPr lang="en-US" altLang="en-US"/>
              <a:t>Fixed length: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BIT(</a:t>
            </a:r>
            <a:r>
              <a:rPr lang="en-US" altLang="en-US" i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altLang="en-US"/>
              <a:t>Varying length: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BIT VARYING(</a:t>
            </a:r>
            <a:r>
              <a:rPr lang="en-US" altLang="en-US" i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altLang="en-US" b="1"/>
              <a:t>Boolean</a:t>
            </a:r>
            <a:r>
              <a:rPr lang="en-US" altLang="en-US"/>
              <a:t> data type </a:t>
            </a:r>
          </a:p>
          <a:p>
            <a:pPr lvl="2"/>
            <a:r>
              <a:rPr lang="en-US" altLang="en-US"/>
              <a:t>Values of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TRUE </a:t>
            </a:r>
            <a:r>
              <a:rPr lang="en-US" altLang="en-US"/>
              <a:t>or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FALSE </a:t>
            </a:r>
            <a:r>
              <a:rPr lang="en-US" altLang="en-US"/>
              <a:t>or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</a:p>
          <a:p>
            <a:pPr lvl="1"/>
            <a:r>
              <a:rPr lang="en-US" altLang="en-US" b="1"/>
              <a:t>DATE</a:t>
            </a:r>
            <a:r>
              <a:rPr lang="en-US" altLang="en-US"/>
              <a:t> data type </a:t>
            </a:r>
          </a:p>
          <a:p>
            <a:pPr lvl="2"/>
            <a:r>
              <a:rPr lang="en-US" altLang="en-US"/>
              <a:t>Ten positions</a:t>
            </a:r>
          </a:p>
          <a:p>
            <a:pPr lvl="2"/>
            <a:r>
              <a:rPr lang="en-US" altLang="en-US">
                <a:cs typeface="Courier New" panose="02070309020205020404" pitchFamily="49" charset="0"/>
              </a:rPr>
              <a:t>Components are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  <a:r>
              <a:rPr lang="en-US" altLang="en-US"/>
              <a:t>,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MONTH</a:t>
            </a:r>
            <a:r>
              <a:rPr lang="en-US" altLang="en-US"/>
              <a:t>, </a:t>
            </a:r>
            <a:r>
              <a:rPr lang="en-US" altLang="en-US">
                <a:cs typeface="Courier New" panose="02070309020205020404" pitchFamily="49" charset="0"/>
              </a:rPr>
              <a:t>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DAY </a:t>
            </a:r>
            <a:r>
              <a:rPr lang="en-US" altLang="en-US">
                <a:cs typeface="Courier New" panose="02070309020205020404" pitchFamily="49" charset="0"/>
              </a:rPr>
              <a:t>in the form YYYY-MM-DD</a:t>
            </a:r>
          </a:p>
          <a:p>
            <a:pPr lvl="2"/>
            <a:r>
              <a:rPr lang="en-US" altLang="en-US">
                <a:cs typeface="Courier New" panose="02070309020205020404" pitchFamily="49" charset="0"/>
              </a:rPr>
              <a:t>Multiple mapping functions available in RDBMSs to change date formats</a:t>
            </a:r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57A2AD0E-C2F1-CB9E-46FE-CFA020C84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6- 18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4">
            <a:extLst>
              <a:ext uri="{FF2B5EF4-FFF2-40B4-BE49-F238E27FC236}">
                <a16:creationId xmlns:a16="http://schemas.microsoft.com/office/drawing/2014/main" id="{884A37DC-2648-C1A4-7302-8D835D9E3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Attribute Data Types and Domains in SQL (cont’d.)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8D855F2-A27D-BD77-2EE6-3E713D9D0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550988"/>
            <a:ext cx="8294687" cy="45720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charset="0"/>
              </a:rPr>
              <a:t>Additional data types</a:t>
            </a:r>
          </a:p>
          <a:p>
            <a:pPr lvl="1">
              <a:defRPr/>
            </a:pPr>
            <a:r>
              <a:rPr lang="en-US" altLang="en-US" b="1" dirty="0">
                <a:ea typeface="ＭＳ Ｐゴシック" charset="0"/>
              </a:rPr>
              <a:t>Timestamp</a:t>
            </a:r>
            <a:r>
              <a:rPr lang="en-US" altLang="en-US" dirty="0">
                <a:ea typeface="ＭＳ Ｐゴシック" charset="0"/>
              </a:rPr>
              <a:t> data type </a:t>
            </a:r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r>
              <a:rPr lang="en-US" altLang="en-US" dirty="0">
                <a:ea typeface="ＭＳ Ｐゴシック" charset="0"/>
              </a:rPr>
              <a:t>Includes the 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DATE</a:t>
            </a:r>
            <a:r>
              <a:rPr lang="en-US" altLang="en-US" dirty="0">
                <a:ea typeface="ＭＳ Ｐゴシック" charset="0"/>
              </a:rPr>
              <a:t> and 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TIME</a:t>
            </a:r>
            <a:r>
              <a:rPr lang="en-US" altLang="en-US" dirty="0">
                <a:ea typeface="ＭＳ Ｐゴシック" charset="0"/>
              </a:rPr>
              <a:t> fields</a:t>
            </a:r>
          </a:p>
          <a:p>
            <a:pPr lvl="2">
              <a:defRPr/>
            </a:pPr>
            <a:r>
              <a:rPr lang="en-US" altLang="en-US" dirty="0">
                <a:ea typeface="ＭＳ Ｐゴシック" charset="0"/>
              </a:rPr>
              <a:t>Plus a minimum of six positions for decimal fractions of seconds</a:t>
            </a:r>
          </a:p>
          <a:p>
            <a:pPr lvl="2">
              <a:defRPr/>
            </a:pPr>
            <a:r>
              <a:rPr lang="en-US" altLang="en-US" dirty="0">
                <a:ea typeface="ＭＳ Ｐゴシック" charset="0"/>
              </a:rPr>
              <a:t>Optional 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WITH TIME ZONE</a:t>
            </a:r>
            <a:r>
              <a:rPr lang="en-US" altLang="en-US" dirty="0">
                <a:ea typeface="ＭＳ Ｐゴシック" charset="0"/>
              </a:rPr>
              <a:t> qualifier</a:t>
            </a:r>
          </a:p>
          <a:p>
            <a:pPr lvl="1">
              <a:defRPr/>
            </a:pPr>
            <a:r>
              <a:rPr lang="en-US" altLang="en-US" b="1" dirty="0">
                <a:ea typeface="ＭＳ Ｐゴシック" charset="0"/>
                <a:cs typeface="Courier New" panose="02070309020205020404" pitchFamily="49" charset="0"/>
              </a:rPr>
              <a:t>INTERVAL</a:t>
            </a:r>
            <a:r>
              <a:rPr lang="en-US" altLang="en-US" dirty="0">
                <a:ea typeface="ＭＳ Ｐゴシック" charset="0"/>
              </a:rPr>
              <a:t> data type</a:t>
            </a:r>
          </a:p>
          <a:p>
            <a:pPr lvl="2">
              <a:defRPr/>
            </a:pPr>
            <a:r>
              <a:rPr lang="en-US" altLang="en-US" dirty="0">
                <a:ea typeface="ＭＳ Ｐゴシック" charset="0"/>
              </a:rPr>
              <a:t>Specifies a relative value that can be used to increment or decrement an absolute value of a date, time, or timestamp</a:t>
            </a:r>
          </a:p>
          <a:p>
            <a:pPr lvl="1">
              <a:defRPr/>
            </a:pPr>
            <a:r>
              <a:rPr lang="en-US" altLang="en-US" sz="2400" b="1" dirty="0">
                <a:ea typeface="ＭＳ Ｐゴシック" charset="0"/>
              </a:rPr>
              <a:t>DATE, TIME, Timestamp, INTERVAL </a:t>
            </a:r>
            <a:r>
              <a:rPr lang="en-US" altLang="en-US" sz="2400" dirty="0">
                <a:ea typeface="ＭＳ Ｐゴシック" charset="0"/>
              </a:rPr>
              <a:t> data types can be </a:t>
            </a:r>
            <a:r>
              <a:rPr lang="en-US" altLang="en-US" sz="2400" b="1" dirty="0">
                <a:ea typeface="ＭＳ Ｐゴシック" charset="0"/>
              </a:rPr>
              <a:t>cast</a:t>
            </a:r>
            <a:r>
              <a:rPr lang="en-US" altLang="en-US" sz="2400" dirty="0">
                <a:ea typeface="ＭＳ Ｐゴシック" charset="0"/>
              </a:rPr>
              <a:t> or converted to string formats for comparison.  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572A33D1-1AB9-DEB9-C8EE-1BC1A896E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6- 19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4">
            <a:extLst>
              <a:ext uri="{FF2B5EF4-FFF2-40B4-BE49-F238E27FC236}">
                <a16:creationId xmlns:a16="http://schemas.microsoft.com/office/drawing/2014/main" id="{DFAEE074-9BF5-105E-15DD-EFF7E68E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Attribute Data Types and Domains in SQL (cont’d.)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BC3113FB-F97C-5420-517B-7E8826353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613" y="1447800"/>
            <a:ext cx="8294687" cy="4572000"/>
          </a:xfrm>
        </p:spPr>
        <p:txBody>
          <a:bodyPr/>
          <a:lstStyle/>
          <a:p>
            <a:r>
              <a:rPr lang="en-US" altLang="en-US" b="1"/>
              <a:t>Domain </a:t>
            </a:r>
          </a:p>
          <a:p>
            <a:pPr lvl="1"/>
            <a:r>
              <a:rPr lang="en-US" altLang="en-US"/>
              <a:t>Name used with the attribute specification</a:t>
            </a:r>
          </a:p>
          <a:p>
            <a:pPr lvl="1"/>
            <a:r>
              <a:rPr lang="en-US" altLang="en-US"/>
              <a:t>Makes it easier to change the data type for a domain that is used by numerous attributes </a:t>
            </a:r>
          </a:p>
          <a:p>
            <a:pPr lvl="1"/>
            <a:r>
              <a:rPr lang="en-US" altLang="en-US"/>
              <a:t>Improves schema readability</a:t>
            </a:r>
          </a:p>
          <a:p>
            <a:pPr lvl="1"/>
            <a:r>
              <a:rPr lang="en-US" altLang="en-US">
                <a:cs typeface="Courier New" panose="02070309020205020404" pitchFamily="49" charset="0"/>
              </a:rPr>
              <a:t>Example:</a:t>
            </a:r>
          </a:p>
          <a:p>
            <a:pPr lvl="2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CREATE DOMAIN SSN_TYPE AS CHAR(9);</a:t>
            </a:r>
          </a:p>
          <a:p>
            <a:r>
              <a:rPr lang="en-US" altLang="en-US" b="1"/>
              <a:t>TYPE</a:t>
            </a:r>
          </a:p>
          <a:p>
            <a:pPr lvl="1"/>
            <a:r>
              <a:rPr lang="en-US" altLang="en-US"/>
              <a:t>User Defined Types (UDTs) are supported for object-oriented applications. (See Ch.12) Uses the command:   </a:t>
            </a:r>
            <a:r>
              <a:rPr lang="en-US" altLang="en-US" sz="240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TYPE</a:t>
            </a: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C23B9E8D-D8F8-719F-2F22-D40369A3F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A47414E1-9EC3-4361-9CE3-F40A6017BFC4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7149404E-C5C0-A7C8-E0C5-E3B557819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Constraints in SQL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EAE03CD0-CD76-F76D-83A9-77FF7A2E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en-US" b="1" dirty="0">
                <a:ea typeface="ＭＳ Ｐゴシック" charset="0"/>
              </a:rPr>
              <a:t>Basic constraints:</a:t>
            </a:r>
          </a:p>
          <a:p>
            <a:pPr>
              <a:defRPr/>
            </a:pPr>
            <a:r>
              <a:rPr lang="en-US" altLang="en-US" dirty="0">
                <a:ea typeface="ＭＳ Ｐゴシック" charset="0"/>
              </a:rPr>
              <a:t>Relational Model has 3 basic constraint types that are supported in SQL:</a:t>
            </a:r>
          </a:p>
          <a:p>
            <a:pPr lvl="1">
              <a:defRPr/>
            </a:pPr>
            <a:r>
              <a:rPr lang="en-US" altLang="en-US" b="1" dirty="0">
                <a:ea typeface="ＭＳ Ｐゴシック" charset="0"/>
              </a:rPr>
              <a:t>Key</a:t>
            </a:r>
            <a:r>
              <a:rPr lang="en-US" altLang="en-US" dirty="0">
                <a:ea typeface="ＭＳ Ｐゴシック" charset="0"/>
              </a:rPr>
              <a:t> constraint: A primary key value cannot be duplicated</a:t>
            </a:r>
          </a:p>
          <a:p>
            <a:pPr lvl="1">
              <a:defRPr/>
            </a:pPr>
            <a:r>
              <a:rPr lang="en-US" altLang="en-US" b="1" dirty="0">
                <a:ea typeface="ＭＳ Ｐゴシック" charset="0"/>
              </a:rPr>
              <a:t>Entity Integrity </a:t>
            </a:r>
            <a:r>
              <a:rPr lang="en-US" altLang="en-US" dirty="0">
                <a:ea typeface="ＭＳ Ｐゴシック" charset="0"/>
              </a:rPr>
              <a:t>Constraint: A primary key value cannot be null</a:t>
            </a:r>
          </a:p>
          <a:p>
            <a:pPr lvl="1">
              <a:defRPr/>
            </a:pPr>
            <a:r>
              <a:rPr lang="en-US" altLang="en-US" b="1" dirty="0">
                <a:ea typeface="ＭＳ Ｐゴシック" charset="0"/>
              </a:rPr>
              <a:t>Referential integrity </a:t>
            </a:r>
            <a:r>
              <a:rPr lang="en-US" altLang="en-US" dirty="0">
                <a:ea typeface="ＭＳ Ｐゴシック" charset="0"/>
              </a:rPr>
              <a:t>constraints : The “foreign key “ must have a value that is already present as a primary key, or may be null.</a:t>
            </a: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BAB908CE-6056-1102-2E65-19EBEBE761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15CBD9A2-E4EC-4052-973D-00D45731F979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88F73019-161F-C9A9-FA55-0E8314C36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Attribute Constraints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994ED971-3EEB-C3E7-7EAB-F60F11B27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6050"/>
            <a:ext cx="8228013" cy="4524375"/>
          </a:xfrm>
        </p:spPr>
        <p:txBody>
          <a:bodyPr/>
          <a:lstStyle/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en-US"/>
              <a:t>Other Restrictions on attribute domains: </a:t>
            </a:r>
          </a:p>
          <a:p>
            <a:r>
              <a:rPr lang="en-US" altLang="en-US"/>
              <a:t>Default value of an attribute</a:t>
            </a:r>
          </a:p>
          <a:p>
            <a:pPr marL="457200" lvl="1" indent="0"/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DEFAULT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&lt;value&gt; </a:t>
            </a:r>
          </a:p>
          <a:p>
            <a:pPr marL="457200" lvl="1" indent="0">
              <a:buClr>
                <a:srgbClr val="990033"/>
              </a:buClr>
              <a:buSzPct val="60000"/>
            </a:pPr>
            <a:r>
              <a:rPr lang="en-US" altLang="en-US" sz="2800"/>
              <a:t>NULL</a:t>
            </a:r>
            <a:r>
              <a:rPr lang="en-US" altLang="en-US" sz="3200"/>
              <a:t> </a:t>
            </a:r>
            <a:r>
              <a:rPr lang="en-US" altLang="en-US" sz="2800">
                <a:solidFill>
                  <a:schemeClr val="tx2"/>
                </a:solidFill>
              </a:rPr>
              <a:t>is not permitted for a particular attribute </a:t>
            </a:r>
            <a:r>
              <a:rPr lang="en-US" altLang="en-US" sz="2800"/>
              <a:t>(NOT NULL)</a:t>
            </a:r>
          </a:p>
          <a:p>
            <a:r>
              <a:rPr lang="en-US" altLang="en-US" sz="2600" b="1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clause</a:t>
            </a:r>
          </a:p>
          <a:p>
            <a:pPr marL="457200" lvl="1" indent="0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Dnumber INT NOT NULL CHECK (Dnumber &gt; 0 AND Dnumber &lt; 21);</a:t>
            </a:r>
          </a:p>
          <a:p>
            <a:pPr marL="457200" lvl="1" indent="0">
              <a:buFont typeface="Wingdings" panose="05000000000000000000" pitchFamily="2" charset="2"/>
              <a:buNone/>
            </a:pPr>
            <a:endParaRPr lang="en-US" alt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B6FEE3FE-CA83-B40C-3547-4349A9E9A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6- 22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F719B918-9265-ACCE-A917-68EF845B1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Key and Referential Integrity Constraints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2364C2D1-AECA-DD2B-B0F7-9E0E636C3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PRIMARY KEY </a:t>
            </a:r>
            <a:r>
              <a:rPr lang="en-US" altLang="en-US"/>
              <a:t>clause </a:t>
            </a:r>
          </a:p>
          <a:p>
            <a:pPr lvl="1"/>
            <a:r>
              <a:rPr lang="en-US" altLang="en-US"/>
              <a:t>Specifies one or more attributes that make up the primary key of a relation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Dnumber INT PRIMARY KEY;</a:t>
            </a:r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UNIQUE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clause </a:t>
            </a:r>
          </a:p>
          <a:p>
            <a:pPr lvl="1"/>
            <a:r>
              <a:rPr lang="en-US" altLang="en-US"/>
              <a:t>Specifies alternate (secondary) keys (called CANDIDATE keys in the relational model).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Dname VARCHAR(15) UNIQUE;</a:t>
            </a: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E143BB74-941E-1006-11ED-58F01E439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C79FE37A-6746-4EA5-9EAA-AD022C48A2B7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4">
            <a:extLst>
              <a:ext uri="{FF2B5EF4-FFF2-40B4-BE49-F238E27FC236}">
                <a16:creationId xmlns:a16="http://schemas.microsoft.com/office/drawing/2014/main" id="{5201DDD1-6286-0C57-33C2-51A6B921C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Key and Referential Integrity Constraints (cont’d.)</a:t>
            </a:r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5C71E872-5A40-E4A5-2377-9AA225DF2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FOREIGN</a:t>
            </a:r>
            <a:r>
              <a:rPr lang="en-US" altLang="en-US" b="1"/>
              <a:t>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n-US" altLang="en-US" b="1"/>
              <a:t> </a:t>
            </a:r>
            <a:r>
              <a:rPr lang="en-US" altLang="en-US"/>
              <a:t>clause</a:t>
            </a:r>
          </a:p>
          <a:p>
            <a:pPr lvl="1"/>
            <a:r>
              <a:rPr lang="en-US" altLang="en-US"/>
              <a:t>Default operation: reject update on violation</a:t>
            </a:r>
          </a:p>
          <a:p>
            <a:pPr lvl="1"/>
            <a:r>
              <a:rPr lang="en-US" altLang="en-US"/>
              <a:t>Attach </a:t>
            </a:r>
            <a:r>
              <a:rPr lang="en-US" altLang="en-US" b="1"/>
              <a:t>referential triggered action </a:t>
            </a:r>
            <a:r>
              <a:rPr lang="en-US" altLang="en-US"/>
              <a:t>clause</a:t>
            </a:r>
          </a:p>
          <a:p>
            <a:pPr lvl="2"/>
            <a:r>
              <a:rPr lang="en-US" altLang="en-US"/>
              <a:t>Options include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SET NULL</a:t>
            </a:r>
            <a:r>
              <a:rPr lang="en-US" altLang="en-US"/>
              <a:t>,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en-US" altLang="en-US"/>
              <a:t>, 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SET DEFAULT</a:t>
            </a:r>
          </a:p>
          <a:p>
            <a:pPr lvl="2"/>
            <a:r>
              <a:rPr lang="en-US" altLang="en-US"/>
              <a:t>Action taken by the DBMS for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SET NULL</a:t>
            </a:r>
            <a:r>
              <a:rPr lang="en-US" altLang="en-US"/>
              <a:t> or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SET DEFAULT</a:t>
            </a:r>
            <a:r>
              <a:rPr lang="en-US" altLang="en-US"/>
              <a:t> is the same for both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ON DELETE</a:t>
            </a:r>
            <a:r>
              <a:rPr lang="en-US" altLang="en-US"/>
              <a:t> 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ON UPDATE</a:t>
            </a:r>
          </a:p>
          <a:p>
            <a:pPr lvl="2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CASCADE</a:t>
            </a:r>
            <a:r>
              <a:rPr lang="en-US" altLang="en-US"/>
              <a:t> option suitable for “relationship” relations</a:t>
            </a:r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2D0577DA-3408-6CF3-0BCD-0BB46AE167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24E395C2-568C-49D6-9169-BD2F0A828E0B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193961E8-B5FD-9106-9419-E6575E641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Giving Names to Constraints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00845CE8-F460-7881-580C-248090843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Using the Keyword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CONSTRAINT</a:t>
            </a:r>
          </a:p>
          <a:p>
            <a:pPr lvl="1"/>
            <a:r>
              <a:rPr lang="en-US" altLang="en-US"/>
              <a:t>Name a constraint</a:t>
            </a:r>
          </a:p>
          <a:p>
            <a:pPr lvl="1"/>
            <a:r>
              <a:rPr lang="en-US" altLang="en-US"/>
              <a:t>Useful for later altering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AF38E5BD-C901-BF02-D94D-E34402842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15DFAFF7-B3DB-46B8-AA9A-D8DC8774FCF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0F126131-9630-B435-C69F-C322682B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600">
                <a:latin typeface="Verdana" panose="020B0604030504040204" pitchFamily="34" charset="0"/>
              </a:rPr>
              <a:t>Default attribute values and referential integrity triggered action specification (Fig. 6.2)</a:t>
            </a:r>
          </a:p>
        </p:txBody>
      </p:sp>
      <p:pic>
        <p:nvPicPr>
          <p:cNvPr id="44035" name="Picture 2" descr="fig06_02.jpg">
            <a:extLst>
              <a:ext uri="{FF2B5EF4-FFF2-40B4-BE49-F238E27FC236}">
                <a16:creationId xmlns:a16="http://schemas.microsoft.com/office/drawing/2014/main" id="{AE1F6F63-4A1C-723A-C18E-60020D5721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863" y="1600200"/>
            <a:ext cx="53721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9AC21353-17B0-FF1F-A39E-EF497427F5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50FC78B7-FFA0-43C6-B322-09333EA67E4E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 advTm="0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99BCCCC8-A157-C326-00A6-55ACA18FB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Specifying Constraints on Tuples Using CHECK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517EB9B3-9CA4-0BCA-F500-D80E67D71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72000"/>
          </a:xfrm>
        </p:spPr>
        <p:txBody>
          <a:bodyPr/>
          <a:lstStyle/>
          <a:p>
            <a:pPr marL="342900" lvl="1" indent="-342900">
              <a:buClr>
                <a:srgbClr val="990033"/>
              </a:buClr>
              <a:buSzPct val="60000"/>
              <a:defRPr/>
            </a:pPr>
            <a:r>
              <a:rPr lang="en-US" altLang="en-US" dirty="0">
                <a:ea typeface="ＭＳ Ｐゴシック" charset="0"/>
              </a:rPr>
              <a:t>Additional Constraints on individual tuples within a relation are also possible using CHECK </a:t>
            </a:r>
          </a:p>
          <a:p>
            <a:pPr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CHECK </a:t>
            </a:r>
            <a:r>
              <a:rPr lang="en-US" altLang="en-US" dirty="0">
                <a:ea typeface="ＭＳ Ｐゴシック" charset="0"/>
              </a:rPr>
              <a:t>clauses at the end of a 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CREATE TABLE</a:t>
            </a:r>
            <a:r>
              <a:rPr lang="en-US" altLang="en-US" dirty="0">
                <a:ea typeface="ＭＳ Ｐゴシック" charset="0"/>
              </a:rPr>
              <a:t> statement</a:t>
            </a:r>
          </a:p>
          <a:p>
            <a:pPr lvl="1">
              <a:defRPr/>
            </a:pPr>
            <a:r>
              <a:rPr lang="en-US" altLang="en-US" dirty="0">
                <a:ea typeface="ＭＳ Ｐゴシック" charset="0"/>
              </a:rPr>
              <a:t>Apply to each tuple individually</a:t>
            </a:r>
          </a:p>
          <a:p>
            <a:pPr lvl="1"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Example:</a:t>
            </a:r>
          </a:p>
          <a:p>
            <a:pPr lvl="2"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CHECK(</a:t>
            </a:r>
            <a:r>
              <a:rPr lang="en-US" altLang="en-US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Dept_create_date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&lt;= </a:t>
            </a:r>
            <a:r>
              <a:rPr lang="en-US" altLang="en-US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Mgr_start_date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);</a:t>
            </a:r>
          </a:p>
          <a:p>
            <a:pPr lvl="2"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CREATE TABLE Student (</a:t>
            </a:r>
          </a:p>
          <a:p>
            <a:pPr marL="914400" lvl="2" indent="0">
              <a:buNone/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 </a:t>
            </a:r>
            <a:r>
              <a:rPr lang="en-US" altLang="en-US" dirty="0" err="1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student_id</a:t>
            </a: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INT PRIMARY KEY,</a:t>
            </a:r>
          </a:p>
          <a:p>
            <a:pPr marL="914400" lvl="2" indent="0">
              <a:buNone/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    age INT CHECK (age &gt;= 18 AND age &lt;= 60)</a:t>
            </a:r>
          </a:p>
          <a:p>
            <a:pPr marL="914400" lvl="2" indent="0">
              <a:buNone/>
              <a:defRPr/>
            </a:pPr>
            <a:r>
              <a:rPr lang="en-US" altLang="en-US" dirty="0">
                <a:latin typeface="Courier New" panose="02070309020205020404" pitchFamily="49" charset="0"/>
                <a:ea typeface="ＭＳ Ｐゴシック" charset="0"/>
                <a:cs typeface="Courier New" panose="02070309020205020404" pitchFamily="49" charset="0"/>
              </a:rPr>
              <a:t>);</a:t>
            </a:r>
          </a:p>
          <a:p>
            <a:pPr lvl="2">
              <a:defRPr/>
            </a:pPr>
            <a:endParaRPr lang="en-US" altLang="en-US" dirty="0">
              <a:latin typeface="Courier New" panose="02070309020205020404" pitchFamily="49" charset="0"/>
              <a:ea typeface="ＭＳ Ｐゴシック" charset="0"/>
              <a:cs typeface="Courier New" panose="02070309020205020404" pitchFamily="49" charset="0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86A8AEDE-A83D-5B9F-BF7C-59D044C7A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F52E2F58-F501-4C3F-8626-ED11BDDEDD40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14D0634F-E4E6-CA23-ABB7-AFC61F2AE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Retrieval Queries in SQL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C8D6A3D1-CDA2-C32A-3938-DA355608B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8915399" cy="4572000"/>
          </a:xfrm>
        </p:spPr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dirty="0"/>
              <a:t> statement</a:t>
            </a:r>
          </a:p>
          <a:p>
            <a:pPr lvl="1"/>
            <a:r>
              <a:rPr lang="en-US" altLang="en-US" dirty="0"/>
              <a:t>One basic statement for retrieving information from a database</a:t>
            </a:r>
          </a:p>
          <a:p>
            <a:r>
              <a:rPr lang="en-US" altLang="en-US" dirty="0"/>
              <a:t>SQL allows a table to have two or more tuples that are identical in all their attribute values</a:t>
            </a:r>
          </a:p>
          <a:p>
            <a:pPr lvl="1"/>
            <a:r>
              <a:rPr lang="en-US" altLang="en-US" dirty="0"/>
              <a:t>Unlike relational model (relational model is strictly set-theory based)</a:t>
            </a:r>
          </a:p>
          <a:p>
            <a:pPr lvl="1"/>
            <a:r>
              <a:rPr lang="en-US" altLang="en-US" dirty="0"/>
              <a:t>Multiset or bag behavior</a:t>
            </a:r>
          </a:p>
          <a:p>
            <a:pPr lvl="1"/>
            <a:r>
              <a:rPr lang="en-US" altLang="en-US" dirty="0"/>
              <a:t>Tuple-id may be used as a key</a:t>
            </a: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205D96BA-5967-FBD3-730D-EC77D2781B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4A4637F1-E7CB-4A71-ACA6-6E3964FD626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A8BE95C8-EC32-036D-9F0A-E2ACE15F0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SELECT-FROM-WHERE Structure of Basic SQL Queries</a:t>
            </a: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573FD74A-A931-8938-A9CB-94ACFFA98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Basic form of the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/>
              <a:t> statement:</a:t>
            </a:r>
          </a:p>
        </p:txBody>
      </p:sp>
      <p:pic>
        <p:nvPicPr>
          <p:cNvPr id="47108" name="Picture 3">
            <a:extLst>
              <a:ext uri="{FF2B5EF4-FFF2-40B4-BE49-F238E27FC236}">
                <a16:creationId xmlns:a16="http://schemas.microsoft.com/office/drawing/2014/main" id="{06607AAB-89F1-6EBD-3A34-67ED40995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0" y="2590800"/>
            <a:ext cx="88117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9" name="Slide Number Placeholder 3">
            <a:extLst>
              <a:ext uri="{FF2B5EF4-FFF2-40B4-BE49-F238E27FC236}">
                <a16:creationId xmlns:a16="http://schemas.microsoft.com/office/drawing/2014/main" id="{09D90CF0-967A-E82B-824D-D96BE0F6A8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68D4E19C-43CB-41F4-A80A-8BF443D5653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4">
            <a:extLst>
              <a:ext uri="{FF2B5EF4-FFF2-40B4-BE49-F238E27FC236}">
                <a16:creationId xmlns:a16="http://schemas.microsoft.com/office/drawing/2014/main" id="{6710F7D0-F7D7-90DF-7DA3-61FB2F2CC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28600"/>
            <a:ext cx="8228013" cy="1143000"/>
          </a:xfrm>
        </p:spPr>
        <p:txBody>
          <a:bodyPr/>
          <a:lstStyle/>
          <a:p>
            <a:r>
              <a:rPr lang="en-US" altLang="en-US"/>
              <a:t>The SELECT-FROM-WHERE Structure of Basic SQL Queries (cont’d.)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A6EAE474-EF51-4C5D-0D82-91DC999A6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57400"/>
            <a:ext cx="8228013" cy="4071938"/>
          </a:xfrm>
        </p:spPr>
        <p:txBody>
          <a:bodyPr/>
          <a:lstStyle/>
          <a:p>
            <a:r>
              <a:rPr lang="en-US" altLang="en-US"/>
              <a:t>Logical comparison operators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=, &lt;, &lt;=, &gt;, &gt;=,</a:t>
            </a:r>
            <a:r>
              <a:rPr lang="en-US" altLang="en-US"/>
              <a:t> and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&lt;&gt;</a:t>
            </a:r>
          </a:p>
          <a:p>
            <a:r>
              <a:rPr lang="en-US" altLang="en-US" b="1"/>
              <a:t>Projection attributes</a:t>
            </a:r>
          </a:p>
          <a:p>
            <a:pPr lvl="1"/>
            <a:r>
              <a:rPr lang="en-US" altLang="en-US"/>
              <a:t>Attributes whose values are to be retrieved </a:t>
            </a:r>
          </a:p>
          <a:p>
            <a:r>
              <a:rPr lang="en-US" altLang="en-US" b="1"/>
              <a:t>Selection condition</a:t>
            </a:r>
          </a:p>
          <a:p>
            <a:pPr lvl="1"/>
            <a:r>
              <a:rPr lang="en-US" altLang="en-US"/>
              <a:t>Boolean condition that must be true for any retrieved tuple. Selection conditions include join conditions (see Ch.8) when multiple relations are involved.</a:t>
            </a:r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A1B8D990-C0FC-756D-EE9A-A0DEAA0EF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6- 30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3">
            <a:extLst>
              <a:ext uri="{FF2B5EF4-FFF2-40B4-BE49-F238E27FC236}">
                <a16:creationId xmlns:a16="http://schemas.microsoft.com/office/drawing/2014/main" id="{048A898B-3F54-F550-C24F-B493B79AA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447800"/>
            <a:ext cx="683418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155" name="Picture 4">
            <a:extLst>
              <a:ext uri="{FF2B5EF4-FFF2-40B4-BE49-F238E27FC236}">
                <a16:creationId xmlns:a16="http://schemas.microsoft.com/office/drawing/2014/main" id="{12A7ED1E-C965-0818-441D-8679E733C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95600"/>
            <a:ext cx="68453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Title 4">
            <a:extLst>
              <a:ext uri="{FF2B5EF4-FFF2-40B4-BE49-F238E27FC236}">
                <a16:creationId xmlns:a16="http://schemas.microsoft.com/office/drawing/2014/main" id="{8AFCBF6D-B789-E77B-CC43-814F3F32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Basic Retrieval Queries</a:t>
            </a:r>
          </a:p>
        </p:txBody>
      </p:sp>
      <p:sp>
        <p:nvSpPr>
          <p:cNvPr id="49159" name="Slide Number Placeholder 3">
            <a:extLst>
              <a:ext uri="{FF2B5EF4-FFF2-40B4-BE49-F238E27FC236}">
                <a16:creationId xmlns:a16="http://schemas.microsoft.com/office/drawing/2014/main" id="{63DB4EED-4994-5B81-7CE6-825B97592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6- 31</a:t>
            </a:r>
            <a:endParaRPr lang="en-CA" altLang="en-US" sz="1400">
              <a:solidFill>
                <a:srgbClr val="990033"/>
              </a:solidFill>
            </a:endParaRPr>
          </a:p>
        </p:txBody>
      </p:sp>
      <p:pic>
        <p:nvPicPr>
          <p:cNvPr id="50179" name="Picture 4">
            <a:extLst>
              <a:ext uri="{FF2B5EF4-FFF2-40B4-BE49-F238E27FC236}">
                <a16:creationId xmlns:a16="http://schemas.microsoft.com/office/drawing/2014/main" id="{6DE8EEFB-8848-AF83-E798-8111BEEF1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495800"/>
            <a:ext cx="73310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E08B31B6-5DA5-C460-F990-BF8A97FEA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Ambiguous Attribute Names 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DF13FAB2-A165-759D-C836-AC8BFBD53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Same name can be used for two (or more) attributes in different relations</a:t>
            </a:r>
          </a:p>
          <a:p>
            <a:pPr lvl="1"/>
            <a:r>
              <a:rPr lang="en-US" altLang="en-US"/>
              <a:t>As long as the attributes are in different relations</a:t>
            </a:r>
          </a:p>
          <a:p>
            <a:pPr lvl="1"/>
            <a:r>
              <a:rPr lang="en-US" altLang="en-US"/>
              <a:t>Must </a:t>
            </a:r>
            <a:r>
              <a:rPr lang="en-US" altLang="en-US" b="1"/>
              <a:t>qualify</a:t>
            </a:r>
            <a:r>
              <a:rPr lang="en-US" altLang="en-US"/>
              <a:t> the attribute name with the relation name to prevent ambiguity</a:t>
            </a:r>
          </a:p>
        </p:txBody>
      </p:sp>
      <p:pic>
        <p:nvPicPr>
          <p:cNvPr id="51204" name="Picture 4">
            <a:extLst>
              <a:ext uri="{FF2B5EF4-FFF2-40B4-BE49-F238E27FC236}">
                <a16:creationId xmlns:a16="http://schemas.microsoft.com/office/drawing/2014/main" id="{7854F870-8D02-1CAD-3013-3E926DE0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" y="4267200"/>
            <a:ext cx="8941268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Slide Number Placeholder 3">
            <a:extLst>
              <a:ext uri="{FF2B5EF4-FFF2-40B4-BE49-F238E27FC236}">
                <a16:creationId xmlns:a16="http://schemas.microsoft.com/office/drawing/2014/main" id="{290B42C8-8C72-22DD-8664-264B7B484E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6- 33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4">
            <a:extLst>
              <a:ext uri="{FF2B5EF4-FFF2-40B4-BE49-F238E27FC236}">
                <a16:creationId xmlns:a16="http://schemas.microsoft.com/office/drawing/2014/main" id="{83F2DB37-8289-379F-F255-878F25A9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Aliasing, and Renaming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E0A9C933-BE35-06B6-714C-1571DD166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676400"/>
            <a:ext cx="8294687" cy="5029200"/>
          </a:xfrm>
        </p:spPr>
        <p:txBody>
          <a:bodyPr>
            <a:normAutofit lnSpcReduction="10000"/>
          </a:bodyPr>
          <a:lstStyle/>
          <a:p>
            <a:r>
              <a:rPr lang="en-US" altLang="en-US" b="1" dirty="0"/>
              <a:t>Aliases</a:t>
            </a:r>
            <a:r>
              <a:rPr lang="en-US" altLang="en-US" dirty="0"/>
              <a:t> or </a:t>
            </a:r>
            <a:r>
              <a:rPr lang="en-US" altLang="en-US" b="1" dirty="0"/>
              <a:t>tuple variables</a:t>
            </a:r>
          </a:p>
          <a:p>
            <a:pPr lvl="1"/>
            <a:r>
              <a:rPr lang="en-US" altLang="en-US" dirty="0"/>
              <a:t>Declare alternative relation names E and S to refer to the EMPLOYEE relation twice in a query: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/>
              <a:t>Query 8.</a:t>
            </a:r>
            <a:r>
              <a:rPr lang="en-US" altLang="en-US" sz="2000" dirty="0"/>
              <a:t> For each employee, retrieve the employee’s first and last name and the first and last name of his or her immediate supervisor.</a:t>
            </a:r>
            <a:endParaRPr lang="en-US" altLang="en-US" sz="1600" dirty="0"/>
          </a:p>
          <a:p>
            <a:r>
              <a:rPr lang="en-US" altLang="en-US" sz="2000" dirty="0"/>
              <a:t>	</a:t>
            </a:r>
            <a:r>
              <a:rPr lang="en-US" altLang="en-US" sz="2000" b="1" dirty="0"/>
              <a:t>SELECT</a:t>
            </a:r>
            <a:r>
              <a:rPr lang="en-US" altLang="en-US" sz="2000" dirty="0"/>
              <a:t>  </a:t>
            </a:r>
            <a:r>
              <a:rPr lang="en-US" altLang="en-US" sz="2000" dirty="0" err="1"/>
              <a:t>E.Fname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E.Lname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S.Fname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S.Lname</a:t>
            </a:r>
            <a:endParaRPr lang="en-US" altLang="en-US" sz="12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		</a:t>
            </a:r>
            <a:r>
              <a:rPr lang="en-US" altLang="en-US" sz="2000" b="1" dirty="0"/>
              <a:t>FROM</a:t>
            </a:r>
            <a:r>
              <a:rPr lang="en-US" altLang="en-US" sz="2000" dirty="0"/>
              <a:t>	EMPLOYEE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E, EMPLOYEE </a:t>
            </a:r>
            <a:r>
              <a:rPr lang="en-US" altLang="en-US" sz="2000" b="1" dirty="0"/>
              <a:t>AS</a:t>
            </a:r>
            <a:r>
              <a:rPr lang="en-US" altLang="en-US" sz="2000" dirty="0"/>
              <a:t> S</a:t>
            </a:r>
            <a:endParaRPr lang="en-US" altLang="en-US" sz="12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		</a:t>
            </a:r>
            <a:r>
              <a:rPr lang="en-US" altLang="en-US" sz="2000" b="1" dirty="0"/>
              <a:t>WHERE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E.Super_ssn</a:t>
            </a:r>
            <a:r>
              <a:rPr lang="en-US" altLang="en-US" sz="2000" dirty="0"/>
              <a:t>=</a:t>
            </a:r>
            <a:r>
              <a:rPr lang="en-US" altLang="en-US" sz="2000" dirty="0" err="1"/>
              <a:t>S.Ssn</a:t>
            </a:r>
            <a:r>
              <a:rPr lang="en-US" altLang="en-US" sz="2000" dirty="0"/>
              <a:t>;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r>
              <a:rPr lang="en-US" altLang="en-US" dirty="0"/>
              <a:t>Recommended practice to abbreviate names and to prefix same or similar attribute from multiple tables.</a:t>
            </a:r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5645B31F-07DD-93EF-DA9D-6723C8D89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6- 34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EC6CC234-D352-F040-468C-DC85C7AE2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Aliasing,Renaming and Tuple Variables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AEC71-AEB1-E69F-3387-19E156A04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05000"/>
            <a:ext cx="8991599" cy="4267200"/>
          </a:xfrm>
        </p:spPr>
        <p:txBody>
          <a:bodyPr/>
          <a:lstStyle/>
          <a:p>
            <a:pPr lvl="1"/>
            <a:r>
              <a:rPr lang="en-US" altLang="en-US" sz="2800" dirty="0">
                <a:cs typeface="Courier New" panose="02070309020205020404" pitchFamily="49" charset="0"/>
              </a:rPr>
              <a:t>The attribute names can also be renamed</a:t>
            </a:r>
            <a:endParaRPr lang="en-US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 AS E(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Mi, Ln,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Ssn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Bd,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Sex, Sal,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Sssn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Dno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altLang="en-US" sz="2800" dirty="0">
                <a:cs typeface="Courier New" panose="02070309020205020404" pitchFamily="49" charset="0"/>
              </a:rPr>
              <a:t>Note that the relation EMPLOYEE now has a variable name E which corresponds to a tuple variable</a:t>
            </a:r>
          </a:p>
          <a:p>
            <a:pPr lvl="1"/>
            <a:r>
              <a:rPr lang="en-US" altLang="en-US" sz="2800" dirty="0">
                <a:cs typeface="Courier New" panose="02070309020205020404" pitchFamily="49" charset="0"/>
              </a:rPr>
              <a:t>The “AS” may be dropped in most SQL implementations</a:t>
            </a:r>
          </a:p>
          <a:p>
            <a:endParaRPr lang="en-US" altLang="en-US" dirty="0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4A13677B-7FB2-7061-2CDA-49EB6DC8DC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A7EFEF9A-6BDB-40DE-AD53-F38BB6CB9142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D38B5C6E-63E7-81BF-5114-319FC9A48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Unspecified WHERE Clause</a:t>
            </a:r>
            <a:br>
              <a:rPr lang="en-US" altLang="en-US"/>
            </a:br>
            <a:r>
              <a:rPr lang="en-US" altLang="en-US"/>
              <a:t>and Use of the Asterisk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D0D126EC-0D79-9B5C-357E-E3659994B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Missing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altLang="en-US" dirty="0"/>
              <a:t>clause </a:t>
            </a:r>
          </a:p>
          <a:p>
            <a:pPr lvl="1"/>
            <a:r>
              <a:rPr lang="en-US" altLang="en-US" dirty="0"/>
              <a:t>Indicates no condition on tuple selection</a:t>
            </a:r>
          </a:p>
          <a:p>
            <a:r>
              <a:rPr lang="en-US" altLang="en-US" dirty="0">
                <a:cs typeface="Courier New" panose="02070309020205020404" pitchFamily="49" charset="0"/>
              </a:rPr>
              <a:t>Effect is a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CROSS PRODUCT</a:t>
            </a:r>
          </a:p>
          <a:p>
            <a:pPr lvl="1"/>
            <a:r>
              <a:rPr lang="en-US" altLang="en-US" dirty="0"/>
              <a:t>Result is all possible tuple combinations </a:t>
            </a:r>
          </a:p>
          <a:p>
            <a:pPr lvl="2"/>
            <a:r>
              <a:rPr lang="en-US" altLang="en-US" dirty="0"/>
              <a:t>or the Algebra operation of Cartesian Product result </a:t>
            </a:r>
          </a:p>
        </p:txBody>
      </p:sp>
      <p:pic>
        <p:nvPicPr>
          <p:cNvPr id="54276" name="Picture 2">
            <a:extLst>
              <a:ext uri="{FF2B5EF4-FFF2-40B4-BE49-F238E27FC236}">
                <a16:creationId xmlns:a16="http://schemas.microsoft.com/office/drawing/2014/main" id="{DC393CCC-9F63-8641-0D69-A36B71CDE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187" y="4343400"/>
            <a:ext cx="67659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7" name="Slide Number Placeholder 3">
            <a:extLst>
              <a:ext uri="{FF2B5EF4-FFF2-40B4-BE49-F238E27FC236}">
                <a16:creationId xmlns:a16="http://schemas.microsoft.com/office/drawing/2014/main" id="{0D99B95A-9089-A60F-C018-ABB13A08CD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6- 36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6">
            <a:extLst>
              <a:ext uri="{FF2B5EF4-FFF2-40B4-BE49-F238E27FC236}">
                <a16:creationId xmlns:a16="http://schemas.microsoft.com/office/drawing/2014/main" id="{F52541BC-91F0-F46C-E576-7E7BB113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Unspecified WHERE Clause</a:t>
            </a:r>
            <a:br>
              <a:rPr lang="en-US" altLang="en-US"/>
            </a:br>
            <a:r>
              <a:rPr lang="en-US" altLang="en-US"/>
              <a:t>and Use of the Asterisk (cont’d.)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CB344DD6-712C-24BF-BDFB-EB43AA271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Specify an asterisk (*)</a:t>
            </a:r>
          </a:p>
          <a:p>
            <a:pPr lvl="1"/>
            <a:r>
              <a:rPr lang="en-US" altLang="en-US"/>
              <a:t>Retrieve all the attribute values of the selected tuples</a:t>
            </a:r>
          </a:p>
          <a:p>
            <a:pPr lvl="1"/>
            <a:r>
              <a:rPr lang="en-US" altLang="en-US"/>
              <a:t>The * can be prefixed by the relation name; e.g., EMPLOYEE *</a:t>
            </a:r>
          </a:p>
          <a:p>
            <a:pPr lvl="1"/>
            <a:endParaRPr lang="en-US" altLang="en-US"/>
          </a:p>
        </p:txBody>
      </p:sp>
      <p:pic>
        <p:nvPicPr>
          <p:cNvPr id="55300" name="Picture 3">
            <a:extLst>
              <a:ext uri="{FF2B5EF4-FFF2-40B4-BE49-F238E27FC236}">
                <a16:creationId xmlns:a16="http://schemas.microsoft.com/office/drawing/2014/main" id="{02E49EFA-7999-D444-359D-DE5A79BBE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037013"/>
            <a:ext cx="5562600" cy="243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Slide Number Placeholder 3">
            <a:extLst>
              <a:ext uri="{FF2B5EF4-FFF2-40B4-BE49-F238E27FC236}">
                <a16:creationId xmlns:a16="http://schemas.microsoft.com/office/drawing/2014/main" id="{ED38DDFF-AE25-1220-7022-D336FD91C1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6- 37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697E584C-351E-C7E8-737A-00E444B29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Tables as Sets in SQL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E96A6E05-A1F1-955A-E896-1FF3F4290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/>
              <a:t>SQL does not automatically eliminate duplicate tuples in query results </a:t>
            </a:r>
          </a:p>
          <a:p>
            <a:r>
              <a:rPr lang="en-US" altLang="en-US" sz="2400"/>
              <a:t>For aggregate operations (See sec 7.1.7) duplicates must be accounted for</a:t>
            </a:r>
          </a:p>
          <a:p>
            <a:r>
              <a:rPr lang="en-US" altLang="en-US" sz="2400"/>
              <a:t>Use the keyword </a:t>
            </a: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DISTINCT</a:t>
            </a:r>
            <a:r>
              <a:rPr lang="en-US" altLang="en-US" sz="2400"/>
              <a:t> in the </a:t>
            </a:r>
            <a:r>
              <a:rPr lang="en-US" alt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altLang="en-US" sz="2400"/>
              <a:t> clause</a:t>
            </a:r>
          </a:p>
          <a:p>
            <a:pPr lvl="1"/>
            <a:r>
              <a:rPr lang="en-US" altLang="en-US"/>
              <a:t>Only distinct tuples should remain in the result</a:t>
            </a:r>
          </a:p>
        </p:txBody>
      </p:sp>
      <p:pic>
        <p:nvPicPr>
          <p:cNvPr id="56324" name="Picture 2">
            <a:extLst>
              <a:ext uri="{FF2B5EF4-FFF2-40B4-BE49-F238E27FC236}">
                <a16:creationId xmlns:a16="http://schemas.microsoft.com/office/drawing/2014/main" id="{6455BF98-8AE0-5F9F-57F5-AEDB617F5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191000"/>
            <a:ext cx="6629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5" name="Slide Number Placeholder 3">
            <a:extLst>
              <a:ext uri="{FF2B5EF4-FFF2-40B4-BE49-F238E27FC236}">
                <a16:creationId xmlns:a16="http://schemas.microsoft.com/office/drawing/2014/main" id="{767D0615-1A8F-D320-DA9F-62E70EAD3C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6- 38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5">
            <a:extLst>
              <a:ext uri="{FF2B5EF4-FFF2-40B4-BE49-F238E27FC236}">
                <a16:creationId xmlns:a16="http://schemas.microsoft.com/office/drawing/2014/main" id="{2BE2AE54-37B8-EB34-7EDF-8FD094362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Tables as Sets in SQL (cont’d.)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9DF83812-D331-C714-1C11-A93B39607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7800"/>
            <a:ext cx="8915399" cy="4572000"/>
          </a:xfrm>
        </p:spPr>
        <p:txBody>
          <a:bodyPr/>
          <a:lstStyle/>
          <a:p>
            <a:r>
              <a:rPr lang="en-US" altLang="en-US" dirty="0"/>
              <a:t>Set operations</a:t>
            </a:r>
          </a:p>
          <a:p>
            <a:pPr lvl="1"/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altLang="en-US" dirty="0"/>
              <a:t>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US" altLang="en-US" dirty="0"/>
              <a:t> (difference),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INTERSECT</a:t>
            </a:r>
          </a:p>
          <a:p>
            <a:pPr lvl="1"/>
            <a:r>
              <a:rPr lang="en-US" altLang="en-US" dirty="0"/>
              <a:t>Corresponding multiset operations: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UNION</a:t>
            </a:r>
            <a:r>
              <a:rPr lang="en-US" altLang="en-US" dirty="0"/>
              <a:t>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n-US" altLang="en-US" dirty="0"/>
              <a:t>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altLang="en-US" dirty="0"/>
              <a:t>,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INTERSECT</a:t>
            </a:r>
            <a:r>
              <a:rPr lang="en-US" altLang="en-US" dirty="0"/>
              <a:t>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Type compatibility is needed for these operations to be valid</a:t>
            </a:r>
          </a:p>
        </p:txBody>
      </p:sp>
      <p:pic>
        <p:nvPicPr>
          <p:cNvPr id="57348" name="Picture 2">
            <a:extLst>
              <a:ext uri="{FF2B5EF4-FFF2-40B4-BE49-F238E27FC236}">
                <a16:creationId xmlns:a16="http://schemas.microsoft.com/office/drawing/2014/main" id="{CB3A5F5D-0A0D-2CAE-77B4-3AF2C0CB5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886200"/>
            <a:ext cx="6251713" cy="280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9" name="Slide Number Placeholder 3">
            <a:extLst>
              <a:ext uri="{FF2B5EF4-FFF2-40B4-BE49-F238E27FC236}">
                <a16:creationId xmlns:a16="http://schemas.microsoft.com/office/drawing/2014/main" id="{9E753D2D-51C5-6295-167B-C78A67923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6- 39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7975A175-350E-B70B-6561-8AB4C590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Substring Pattern Matching and Arithmetic Operators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66453998-EE71-45FC-E9D0-59BCB5275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713" y="1447800"/>
            <a:ext cx="8523287" cy="4572000"/>
          </a:xfrm>
        </p:spPr>
        <p:txBody>
          <a:bodyPr/>
          <a:lstStyle/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altLang="en-US" b="1"/>
              <a:t> </a:t>
            </a:r>
            <a:r>
              <a:rPr lang="en-US" altLang="en-US"/>
              <a:t>comparison operator</a:t>
            </a:r>
          </a:p>
          <a:p>
            <a:pPr lvl="1"/>
            <a:r>
              <a:rPr lang="en-US" altLang="en-US"/>
              <a:t>Used for string </a:t>
            </a:r>
            <a:r>
              <a:rPr lang="en-US" altLang="en-US" b="1"/>
              <a:t>pattern matching</a:t>
            </a:r>
          </a:p>
          <a:p>
            <a:pPr lvl="1"/>
            <a:r>
              <a:rPr lang="en-US" altLang="en-US"/>
              <a:t>% replaces an arbitrary number of zero or more characters</a:t>
            </a:r>
          </a:p>
          <a:p>
            <a:pPr lvl="1"/>
            <a:r>
              <a:rPr lang="en-US" altLang="en-US"/>
              <a:t>underscore (_) replaces a single character</a:t>
            </a:r>
          </a:p>
          <a:p>
            <a:pPr lvl="1"/>
            <a:r>
              <a:rPr lang="en-US" altLang="en-US">
                <a:solidFill>
                  <a:schemeClr val="tx2"/>
                </a:solidFill>
              </a:rPr>
              <a:t>Examples: </a:t>
            </a:r>
            <a:r>
              <a:rPr lang="en-US" altLang="en-US" b="1"/>
              <a:t>WHERE</a:t>
            </a:r>
            <a:r>
              <a:rPr lang="en-US" altLang="en-US"/>
              <a:t> Address </a:t>
            </a:r>
            <a:r>
              <a:rPr lang="en-US" altLang="en-US" b="1"/>
              <a:t>LIKE</a:t>
            </a:r>
            <a:r>
              <a:rPr lang="en-US" altLang="en-US"/>
              <a:t> ‘%Houston,TX%’;</a:t>
            </a:r>
          </a:p>
          <a:p>
            <a:pPr lvl="1"/>
            <a:r>
              <a:rPr lang="en-US" altLang="en-US" b="1"/>
              <a:t>WHERE</a:t>
            </a:r>
            <a:r>
              <a:rPr lang="en-US" altLang="en-US"/>
              <a:t> Ssn </a:t>
            </a:r>
            <a:r>
              <a:rPr lang="en-US" altLang="en-US" b="1"/>
              <a:t>LIKE</a:t>
            </a:r>
            <a:r>
              <a:rPr lang="en-US" altLang="en-US"/>
              <a:t> ‘_ _ 1_ _ 8901’;</a:t>
            </a:r>
          </a:p>
          <a:p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BETWEEN</a:t>
            </a:r>
            <a:r>
              <a:rPr lang="en-US" altLang="en-US"/>
              <a:t> comparison operator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600"/>
              <a:t>E.g., in Q14 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600" b="1">
                <a:solidFill>
                  <a:srgbClr val="800000"/>
                </a:solidFill>
              </a:rPr>
              <a:t>WHERE</a:t>
            </a:r>
            <a:r>
              <a:rPr lang="en-US" altLang="en-US" sz="2600">
                <a:solidFill>
                  <a:srgbClr val="800000"/>
                </a:solidFill>
              </a:rPr>
              <a:t>(Salary </a:t>
            </a:r>
            <a:r>
              <a:rPr lang="en-US" altLang="en-US" sz="2600" b="1">
                <a:solidFill>
                  <a:srgbClr val="800000"/>
                </a:solidFill>
              </a:rPr>
              <a:t>BETWEEN</a:t>
            </a:r>
            <a:r>
              <a:rPr lang="en-US" altLang="en-US" sz="2600">
                <a:solidFill>
                  <a:srgbClr val="800000"/>
                </a:solidFill>
              </a:rPr>
              <a:t> 30000 </a:t>
            </a:r>
            <a:r>
              <a:rPr lang="en-US" altLang="en-US" sz="2600" b="1">
                <a:solidFill>
                  <a:srgbClr val="800000"/>
                </a:solidFill>
              </a:rPr>
              <a:t>AND</a:t>
            </a:r>
            <a:r>
              <a:rPr lang="en-US" altLang="en-US" sz="2600">
                <a:solidFill>
                  <a:srgbClr val="800000"/>
                </a:solidFill>
              </a:rPr>
              <a:t> 40000)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600">
                <a:solidFill>
                  <a:srgbClr val="800000"/>
                </a:solidFill>
              </a:rPr>
              <a:t>                         </a:t>
            </a:r>
            <a:r>
              <a:rPr lang="en-US" altLang="en-US" sz="2600" b="1">
                <a:solidFill>
                  <a:srgbClr val="800000"/>
                </a:solidFill>
              </a:rPr>
              <a:t> AND </a:t>
            </a:r>
            <a:r>
              <a:rPr lang="en-US" altLang="en-US" sz="2600">
                <a:solidFill>
                  <a:srgbClr val="800000"/>
                </a:solidFill>
              </a:rPr>
              <a:t>Dno = 5;</a:t>
            </a:r>
          </a:p>
          <a:p>
            <a:endParaRPr lang="en-US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F5F20A79-CC3F-9181-802D-739FE5230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6- 40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D271C88A-4258-03F3-478B-E455C56D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Arithmetic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93BA2-4D0F-7D8F-7287-1BCB495DD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8800"/>
            <a:ext cx="8294688" cy="4572000"/>
          </a:xfrm>
        </p:spPr>
        <p:txBody>
          <a:bodyPr/>
          <a:lstStyle/>
          <a:p>
            <a:r>
              <a:rPr lang="en-US" altLang="en-US"/>
              <a:t>Standard arithmetic operators:</a:t>
            </a:r>
          </a:p>
          <a:p>
            <a:pPr lvl="1"/>
            <a:r>
              <a:rPr lang="en-US" altLang="en-US"/>
              <a:t>Addition (+), subtraction (–), multiplication (*), and division (/) may be included as a part of </a:t>
            </a:r>
            <a:r>
              <a:rPr lang="en-US" altLang="en-US" b="1"/>
              <a:t>SELECT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 sz="2000" b="1"/>
              <a:t>Query 13.</a:t>
            </a:r>
            <a:r>
              <a:rPr lang="en-US" altLang="en-US" sz="2000"/>
              <a:t> Show the resulting salaries if every employee working on the ‘ProductX’ project is given a 10 percent raise.</a:t>
            </a:r>
          </a:p>
          <a:p>
            <a:endParaRPr lang="en-US" altLang="en-US" sz="200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b="1"/>
              <a:t>SELECT</a:t>
            </a:r>
            <a:r>
              <a:rPr lang="en-US" altLang="en-US" sz="2000"/>
              <a:t>  E.Fname, E.Lname, 1.1 * E.Salary </a:t>
            </a:r>
            <a:r>
              <a:rPr lang="en-US" altLang="en-US" sz="2000" b="1"/>
              <a:t>AS</a:t>
            </a:r>
            <a:r>
              <a:rPr lang="en-US" altLang="en-US" sz="2000"/>
              <a:t> Increased_sal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b="1"/>
              <a:t>FROM</a:t>
            </a:r>
            <a:r>
              <a:rPr lang="en-US" altLang="en-US" sz="2000"/>
              <a:t>  EMPLOYEE </a:t>
            </a:r>
            <a:r>
              <a:rPr lang="en-US" altLang="en-US" sz="2000" b="1"/>
              <a:t>AS</a:t>
            </a:r>
            <a:r>
              <a:rPr lang="en-US" altLang="en-US" sz="2000"/>
              <a:t> E, WORKS_ON </a:t>
            </a:r>
            <a:r>
              <a:rPr lang="en-US" altLang="en-US" sz="2000" b="1"/>
              <a:t>AS</a:t>
            </a:r>
            <a:r>
              <a:rPr lang="en-US" altLang="en-US" sz="2000"/>
              <a:t> W, PROJECT </a:t>
            </a:r>
            <a:r>
              <a:rPr lang="en-US" altLang="en-US" sz="2000" b="1"/>
              <a:t>AS</a:t>
            </a:r>
            <a:r>
              <a:rPr lang="en-US" altLang="en-US" sz="2000"/>
              <a:t> P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2000" b="1"/>
              <a:t>WHERE</a:t>
            </a:r>
            <a:r>
              <a:rPr lang="en-US" altLang="en-US" sz="2000"/>
              <a:t>  E.Ssn=W.Essn </a:t>
            </a:r>
            <a:r>
              <a:rPr lang="en-US" altLang="en-US" sz="2000" b="1"/>
              <a:t>AND</a:t>
            </a:r>
            <a:r>
              <a:rPr lang="en-US" altLang="en-US" sz="2000"/>
              <a:t> W.Pno=P.Pnumber </a:t>
            </a:r>
            <a:r>
              <a:rPr lang="en-US" altLang="en-US" sz="2000" b="1"/>
              <a:t>AND </a:t>
            </a:r>
            <a:r>
              <a:rPr lang="en-US" altLang="en-US" sz="2000"/>
              <a:t>P.Pname=‘ProductX’;</a:t>
            </a:r>
          </a:p>
          <a:p>
            <a:pPr lvl="1"/>
            <a:endParaRPr lang="en-US" altLang="en-US" sz="2000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28446A1C-2512-A044-2B4F-410833AEBC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2BC95325-FD52-43EF-B007-1AA815A00FB9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4A67B9A0-3DEA-B812-920F-0FC45B2D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Ordering of Query Results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2B05D236-6A83-016A-38F9-89A248A04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Use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ORDER BY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clause</a:t>
            </a:r>
          </a:p>
          <a:p>
            <a:pPr lvl="1"/>
            <a:r>
              <a:rPr lang="en-US" altLang="en-US"/>
              <a:t>Keyword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DESC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to see result in a descending order of values</a:t>
            </a:r>
          </a:p>
          <a:p>
            <a:pPr lvl="1"/>
            <a:r>
              <a:rPr lang="en-US" altLang="en-US"/>
              <a:t>Keyword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to specify ascending order explicitly</a:t>
            </a:r>
          </a:p>
          <a:p>
            <a:pPr lvl="1"/>
            <a:r>
              <a:rPr lang="en-US" altLang="en-US"/>
              <a:t>Typically placed at the end of the query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ORDER BY D.Dname DESC, E.Lname ASC, E.Fname ASC</a:t>
            </a: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09670B85-4B63-75BD-67F6-EDEB3B2720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954FAC88-D8B5-453C-9B65-3D9B0CB7F58E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A9211758-A738-12BC-F573-20A710E0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050"/>
            <a:ext cx="8685213" cy="1143000"/>
          </a:xfrm>
        </p:spPr>
        <p:txBody>
          <a:bodyPr/>
          <a:lstStyle/>
          <a:p>
            <a:br>
              <a:rPr lang="en-US" altLang="en-US"/>
            </a:br>
            <a:r>
              <a:rPr lang="en-US" altLang="en-US"/>
              <a:t>Basic SQL Retrieval Query Block</a:t>
            </a:r>
          </a:p>
        </p:txBody>
      </p:sp>
      <p:pic>
        <p:nvPicPr>
          <p:cNvPr id="61443" name="Picture 3">
            <a:extLst>
              <a:ext uri="{FF2B5EF4-FFF2-40B4-BE49-F238E27FC236}">
                <a16:creationId xmlns:a16="http://schemas.microsoft.com/office/drawing/2014/main" id="{B38DC697-B0D7-D7FF-9ACF-C202C8872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667000"/>
            <a:ext cx="3989388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A2D1C45E-58DE-F988-9FD9-19E1D9F368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6- 43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>
            <a:extLst>
              <a:ext uri="{FF2B5EF4-FFF2-40B4-BE49-F238E27FC236}">
                <a16:creationId xmlns:a16="http://schemas.microsoft.com/office/drawing/2014/main" id="{F4D29057-83E5-DB04-C970-1CAAF8B41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INSERT, DELETE, and UPDATE Statements in SQL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564FBE88-93C3-CF58-296F-9F0A89428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Three commands used to modify the database: </a:t>
            </a:r>
          </a:p>
          <a:p>
            <a:pPr lvl="1"/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altLang="en-US"/>
              <a:t>,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en-US"/>
              <a:t>, </a:t>
            </a:r>
            <a:r>
              <a:rPr lang="en-US" altLang="en-US" sz="2800">
                <a:solidFill>
                  <a:schemeClr val="tx2"/>
                </a:solidFill>
              </a:rPr>
              <a:t>and</a:t>
            </a:r>
            <a:r>
              <a:rPr lang="en-US" altLang="en-US"/>
              <a:t>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</a:p>
          <a:p>
            <a:r>
              <a:rPr lang="en-US" altLang="en-US" sz="260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typically inserts a tuple (row) in a relation (table)</a:t>
            </a:r>
          </a:p>
          <a:p>
            <a:r>
              <a:rPr lang="en-US" altLang="en-US" sz="260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may update a number of tuples (rows) in a relation (table) that satisfy the condition</a:t>
            </a:r>
          </a:p>
          <a:p>
            <a:r>
              <a:rPr lang="en-US" altLang="en-US" sz="2600">
                <a:solidFill>
                  <a:srgbClr val="8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/>
              <a:t>may also update a number of tuples (rows) in a relation (table) that satisfy the condition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62468" name="Slide Number Placeholder 3">
            <a:extLst>
              <a:ext uri="{FF2B5EF4-FFF2-40B4-BE49-F238E27FC236}">
                <a16:creationId xmlns:a16="http://schemas.microsoft.com/office/drawing/2014/main" id="{8F4B1A94-50F9-C6E6-3648-AC01BA9D4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6- 44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6">
            <a:extLst>
              <a:ext uri="{FF2B5EF4-FFF2-40B4-BE49-F238E27FC236}">
                <a16:creationId xmlns:a16="http://schemas.microsoft.com/office/drawing/2014/main" id="{851E29D9-950E-0C92-D914-EEF8BB622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INSERT</a:t>
            </a:r>
          </a:p>
        </p:txBody>
      </p:sp>
      <p:sp>
        <p:nvSpPr>
          <p:cNvPr id="63491" name="Rectangle 7">
            <a:extLst>
              <a:ext uri="{FF2B5EF4-FFF2-40B4-BE49-F238E27FC236}">
                <a16:creationId xmlns:a16="http://schemas.microsoft.com/office/drawing/2014/main" id="{9F175485-A7AA-A7C0-D730-3AB68359EA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 its simplest form, it is used to add one or more tuples to a relation</a:t>
            </a:r>
          </a:p>
          <a:p>
            <a:r>
              <a:rPr lang="en-US" altLang="en-US"/>
              <a:t>Attribute values should be listed in the same order as the attributes were specified in the </a:t>
            </a:r>
            <a:r>
              <a:rPr lang="en-US" altLang="en-US" b="1"/>
              <a:t>CREATE TABLE</a:t>
            </a:r>
            <a:r>
              <a:rPr lang="en-US" altLang="en-US"/>
              <a:t> command</a:t>
            </a:r>
          </a:p>
          <a:p>
            <a:r>
              <a:rPr lang="en-US" altLang="en-US"/>
              <a:t>Constraints on data types are observed automatically</a:t>
            </a:r>
          </a:p>
          <a:p>
            <a:r>
              <a:rPr lang="en-US" altLang="en-US"/>
              <a:t>Any integrity constraints as a part of the DDL specification are enforced</a:t>
            </a: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489AA76B-8776-AFDB-FC57-76970F89B8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6- 45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F774E388-93B7-911D-E30C-EB2E8B33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INSERT Command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9E92207D-5D1E-06E0-1E57-A753FE917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Specify the relation name and a list of values for the tuple. All values including nulls are supplied.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endParaRPr lang="en-US" altLang="en-US"/>
          </a:p>
          <a:p>
            <a:r>
              <a:rPr lang="en-US" altLang="en-US"/>
              <a:t>The variation below inserts multiple tuples where a new table is loaded values from the result of a query.</a:t>
            </a:r>
          </a:p>
          <a:p>
            <a:endParaRPr lang="en-US" altLang="en-US"/>
          </a:p>
        </p:txBody>
      </p:sp>
      <p:pic>
        <p:nvPicPr>
          <p:cNvPr id="65540" name="Picture 2">
            <a:extLst>
              <a:ext uri="{FF2B5EF4-FFF2-40B4-BE49-F238E27FC236}">
                <a16:creationId xmlns:a16="http://schemas.microsoft.com/office/drawing/2014/main" id="{10C15AB8-2F75-7B6F-A56C-A95F711B09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667000"/>
            <a:ext cx="70294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1" name="Picture 3">
            <a:extLst>
              <a:ext uri="{FF2B5EF4-FFF2-40B4-BE49-F238E27FC236}">
                <a16:creationId xmlns:a16="http://schemas.microsoft.com/office/drawing/2014/main" id="{11BB4C0E-09FD-2F5E-EC4A-D17CADED4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4948238"/>
            <a:ext cx="7113587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2" name="Slide Number Placeholder 3">
            <a:extLst>
              <a:ext uri="{FF2B5EF4-FFF2-40B4-BE49-F238E27FC236}">
                <a16:creationId xmlns:a16="http://schemas.microsoft.com/office/drawing/2014/main" id="{9A5CB550-F835-B2AE-3AFE-54560556B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6- 46</a:t>
            </a:r>
          </a:p>
        </p:txBody>
      </p:sp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8559EF75-3AB1-1232-C611-BBFE692E9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BULK LOADING OF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3F464-D35F-B744-AB65-3D810BDDA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 dirty="0"/>
              <a:t>Another variation of </a:t>
            </a:r>
            <a:r>
              <a:rPr lang="en-US" altLang="en-US" sz="2600" b="1" dirty="0"/>
              <a:t>INSERT </a:t>
            </a:r>
            <a:r>
              <a:rPr lang="en-US" altLang="en-US" sz="2600" dirty="0"/>
              <a:t>is used for bulk-loading of several tuples into tables</a:t>
            </a:r>
          </a:p>
          <a:p>
            <a:r>
              <a:rPr lang="en-US" altLang="en-US" sz="2600" dirty="0"/>
              <a:t>A new table TNEW can be created with the same attributes as T and using LIKE and DATA in the syntax, it can be loaded with entire data.</a:t>
            </a:r>
          </a:p>
          <a:p>
            <a:r>
              <a:rPr lang="en-US" altLang="en-US" sz="2600" dirty="0"/>
              <a:t>EXAMPLE: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990033"/>
                </a:solidFill>
              </a:rPr>
              <a:t>CREATE TABLE</a:t>
            </a:r>
            <a:r>
              <a:rPr lang="en-US" altLang="en-US" sz="2000" dirty="0">
                <a:solidFill>
                  <a:srgbClr val="990033"/>
                </a:solidFill>
              </a:rPr>
              <a:t> D5EMPS  </a:t>
            </a:r>
            <a:r>
              <a:rPr lang="en-US" altLang="en-US" sz="2000" b="1" dirty="0">
                <a:solidFill>
                  <a:srgbClr val="990033"/>
                </a:solidFill>
              </a:rPr>
              <a:t>LIKE  </a:t>
            </a:r>
            <a:r>
              <a:rPr lang="en-US" altLang="en-US" sz="2000" dirty="0">
                <a:solidFill>
                  <a:srgbClr val="990033"/>
                </a:solidFill>
              </a:rPr>
              <a:t>EMPLOYEE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990033"/>
                </a:solidFill>
              </a:rPr>
              <a:t>		(</a:t>
            </a:r>
            <a:r>
              <a:rPr lang="en-US" altLang="en-US" sz="2000" b="1" dirty="0">
                <a:solidFill>
                  <a:srgbClr val="990033"/>
                </a:solidFill>
              </a:rPr>
              <a:t>SELECT</a:t>
            </a:r>
            <a:r>
              <a:rPr lang="en-US" altLang="en-US" sz="2000" dirty="0">
                <a:solidFill>
                  <a:srgbClr val="990033"/>
                </a:solidFill>
              </a:rPr>
              <a:t>   E.*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990033"/>
                </a:solidFill>
              </a:rPr>
              <a:t>		 </a:t>
            </a:r>
            <a:r>
              <a:rPr lang="en-US" altLang="en-US" sz="2000" b="1" dirty="0">
                <a:solidFill>
                  <a:srgbClr val="990033"/>
                </a:solidFill>
              </a:rPr>
              <a:t>FROM</a:t>
            </a:r>
            <a:r>
              <a:rPr lang="en-US" altLang="en-US" sz="2000" dirty="0">
                <a:solidFill>
                  <a:srgbClr val="990033"/>
                </a:solidFill>
              </a:rPr>
              <a:t>	      EMPLOYEE </a:t>
            </a:r>
            <a:r>
              <a:rPr lang="en-US" altLang="en-US" sz="2000" b="1" dirty="0">
                <a:solidFill>
                  <a:srgbClr val="990033"/>
                </a:solidFill>
              </a:rPr>
              <a:t>AS </a:t>
            </a:r>
            <a:r>
              <a:rPr lang="en-US" altLang="en-US" sz="2000" dirty="0">
                <a:solidFill>
                  <a:srgbClr val="990033"/>
                </a:solidFill>
              </a:rPr>
              <a:t>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990033"/>
                </a:solidFill>
              </a:rPr>
              <a:t>		</a:t>
            </a:r>
            <a:r>
              <a:rPr lang="en-US" altLang="en-US" sz="2000" b="1" dirty="0">
                <a:solidFill>
                  <a:srgbClr val="990033"/>
                </a:solidFill>
              </a:rPr>
              <a:t>WHERE</a:t>
            </a:r>
            <a:r>
              <a:rPr lang="en-US" altLang="en-US" sz="2000" dirty="0">
                <a:solidFill>
                  <a:srgbClr val="990033"/>
                </a:solidFill>
              </a:rPr>
              <a:t>     </a:t>
            </a:r>
            <a:r>
              <a:rPr lang="en-US" altLang="en-US" sz="2000" dirty="0" err="1">
                <a:solidFill>
                  <a:srgbClr val="990033"/>
                </a:solidFill>
              </a:rPr>
              <a:t>E.Dno</a:t>
            </a:r>
            <a:r>
              <a:rPr lang="en-US" altLang="en-US" sz="2000" dirty="0">
                <a:solidFill>
                  <a:srgbClr val="990033"/>
                </a:solidFill>
              </a:rPr>
              <a:t>=5)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990033"/>
                </a:solidFill>
              </a:rPr>
              <a:t> </a:t>
            </a:r>
            <a:r>
              <a:rPr lang="en-US" altLang="en-US" sz="2000" b="1" dirty="0">
                <a:solidFill>
                  <a:srgbClr val="990033"/>
                </a:solidFill>
              </a:rPr>
              <a:t>WITH DATA</a:t>
            </a:r>
            <a:r>
              <a:rPr lang="en-US" altLang="en-US" sz="2000" dirty="0">
                <a:solidFill>
                  <a:srgbClr val="990033"/>
                </a:solidFill>
              </a:rPr>
              <a:t>;</a:t>
            </a: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720126A7-2478-26A1-674B-3F16A6A3E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34200" y="6477000"/>
            <a:ext cx="1905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74899AF8-D877-4016-992A-47EBA80F5C74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6">
            <a:extLst>
              <a:ext uri="{FF2B5EF4-FFF2-40B4-BE49-F238E27FC236}">
                <a16:creationId xmlns:a16="http://schemas.microsoft.com/office/drawing/2014/main" id="{7F9232C2-4995-8DF3-8B96-DABAA8536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DELETE</a:t>
            </a:r>
          </a:p>
        </p:txBody>
      </p:sp>
      <p:sp>
        <p:nvSpPr>
          <p:cNvPr id="67587" name="Rectangle 7">
            <a:extLst>
              <a:ext uri="{FF2B5EF4-FFF2-40B4-BE49-F238E27FC236}">
                <a16:creationId xmlns:a16="http://schemas.microsoft.com/office/drawing/2014/main" id="{17BE5873-BD5A-E372-4378-B9B9C5791B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Removes tuples from a relation</a:t>
            </a:r>
          </a:p>
          <a:p>
            <a:pPr lvl="1"/>
            <a:r>
              <a:rPr lang="en-US" altLang="en-US" sz="2400"/>
              <a:t>Includes a WHERE-clause to select the tuples to be deleted</a:t>
            </a:r>
          </a:p>
          <a:p>
            <a:pPr lvl="1"/>
            <a:r>
              <a:rPr lang="en-US" altLang="en-US" sz="2400"/>
              <a:t>Referential integrity should be enforced</a:t>
            </a:r>
          </a:p>
          <a:p>
            <a:pPr lvl="1"/>
            <a:r>
              <a:rPr lang="en-US" altLang="en-US" sz="2400"/>
              <a:t>Tuples are deleted from only </a:t>
            </a:r>
            <a:r>
              <a:rPr lang="en-US" altLang="en-US" sz="2400" i="1"/>
              <a:t>one table</a:t>
            </a:r>
            <a:r>
              <a:rPr lang="en-US" altLang="en-US" sz="2400"/>
              <a:t> at a time (unless CASCADE is specified on a referential integrity constraint)</a:t>
            </a:r>
          </a:p>
          <a:p>
            <a:pPr lvl="1"/>
            <a:r>
              <a:rPr lang="en-US" altLang="en-US" sz="2400"/>
              <a:t>A missing WHERE-clause specifies that </a:t>
            </a:r>
            <a:r>
              <a:rPr lang="en-US" altLang="en-US" sz="2400" i="1"/>
              <a:t>all tuples</a:t>
            </a:r>
            <a:r>
              <a:rPr lang="en-US" altLang="en-US" sz="2400"/>
              <a:t> in the relation are to be deleted; the table then becomes an empty table</a:t>
            </a:r>
          </a:p>
          <a:p>
            <a:pPr lvl="1"/>
            <a:r>
              <a:rPr lang="en-US" altLang="en-US" sz="2400"/>
              <a:t>The number of tuples deleted depends on the number of tuples in the relation that satisfy the WHERE-clause</a:t>
            </a:r>
          </a:p>
          <a:p>
            <a:endParaRPr lang="en-US" altLang="en-US" sz="2400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AFA5EE18-B986-86BC-DCD2-8DAF75D3A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6- 48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>
            <a:extLst>
              <a:ext uri="{FF2B5EF4-FFF2-40B4-BE49-F238E27FC236}">
                <a16:creationId xmlns:a16="http://schemas.microsoft.com/office/drawing/2014/main" id="{3015548C-8F37-95BC-AAC2-655405ABE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DELETE Command</a:t>
            </a:r>
          </a:p>
        </p:txBody>
      </p:sp>
      <p:sp>
        <p:nvSpPr>
          <p:cNvPr id="69635" name="Content Placeholder 2">
            <a:extLst>
              <a:ext uri="{FF2B5EF4-FFF2-40B4-BE49-F238E27FC236}">
                <a16:creationId xmlns:a16="http://schemas.microsoft.com/office/drawing/2014/main" id="{DA4482B7-23C9-4725-F75A-467B09E84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Removes tuples from a relation</a:t>
            </a:r>
          </a:p>
          <a:p>
            <a:pPr lvl="1"/>
            <a:r>
              <a:rPr lang="en-US" altLang="en-US"/>
              <a:t>Includes a </a:t>
            </a:r>
            <a:r>
              <a:rPr lang="en-US" altLang="en-US"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altLang="en-US"/>
              <a:t> clause to select the tuples to be deleted. The number of tuples deleted will vary.</a:t>
            </a:r>
          </a:p>
        </p:txBody>
      </p:sp>
      <p:pic>
        <p:nvPicPr>
          <p:cNvPr id="69636" name="Picture 2">
            <a:extLst>
              <a:ext uri="{FF2B5EF4-FFF2-40B4-BE49-F238E27FC236}">
                <a16:creationId xmlns:a16="http://schemas.microsoft.com/office/drawing/2014/main" id="{5207430D-4FF7-855B-C375-0D40FD177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7"/>
          <a:stretch>
            <a:fillRect/>
          </a:stretch>
        </p:blipFill>
        <p:spPr bwMode="auto">
          <a:xfrm>
            <a:off x="1752600" y="3348038"/>
            <a:ext cx="4979988" cy="267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Slide Number Placeholder 3">
            <a:extLst>
              <a:ext uri="{FF2B5EF4-FFF2-40B4-BE49-F238E27FC236}">
                <a16:creationId xmlns:a16="http://schemas.microsoft.com/office/drawing/2014/main" id="{1AA7F97A-50A9-8941-E601-546AAC9B1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6- 49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6">
            <a:extLst>
              <a:ext uri="{FF2B5EF4-FFF2-40B4-BE49-F238E27FC236}">
                <a16:creationId xmlns:a16="http://schemas.microsoft.com/office/drawing/2014/main" id="{3D0368B9-BFF0-DE8A-C7C3-5ED8EAAAA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UPDATE</a:t>
            </a:r>
          </a:p>
        </p:txBody>
      </p:sp>
      <p:sp>
        <p:nvSpPr>
          <p:cNvPr id="70659" name="Rectangle 7">
            <a:extLst>
              <a:ext uri="{FF2B5EF4-FFF2-40B4-BE49-F238E27FC236}">
                <a16:creationId xmlns:a16="http://schemas.microsoft.com/office/drawing/2014/main" id="{8D2F438A-5140-5606-D1E9-C8C42103D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Used to modify attribute values of one or more selected tuples</a:t>
            </a:r>
          </a:p>
          <a:p>
            <a:r>
              <a:rPr lang="en-US" altLang="en-US"/>
              <a:t>A WHERE-clause selects the tuples to be modified</a:t>
            </a:r>
          </a:p>
          <a:p>
            <a:r>
              <a:rPr lang="en-US" altLang="en-US"/>
              <a:t>An additional SET-clause specifies the attributes to be modified and their new values</a:t>
            </a:r>
          </a:p>
          <a:p>
            <a:r>
              <a:rPr lang="en-US" altLang="en-US"/>
              <a:t>Each command modifies tuples </a:t>
            </a:r>
            <a:r>
              <a:rPr lang="en-US" altLang="en-US" i="1"/>
              <a:t>in the same relation</a:t>
            </a:r>
          </a:p>
          <a:p>
            <a:r>
              <a:rPr lang="en-US" altLang="en-US"/>
              <a:t>Referential integrity specified as part of DDL specification is enforced</a:t>
            </a:r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566F5405-20E2-059F-B270-1C5427CDF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6- 50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6">
            <a:extLst>
              <a:ext uri="{FF2B5EF4-FFF2-40B4-BE49-F238E27FC236}">
                <a16:creationId xmlns:a16="http://schemas.microsoft.com/office/drawing/2014/main" id="{335E84D8-161C-F25B-4225-BB1B4163FA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UPDATE (contd.)</a:t>
            </a:r>
          </a:p>
        </p:txBody>
      </p:sp>
      <p:sp>
        <p:nvSpPr>
          <p:cNvPr id="160772" name="Rectangle 7">
            <a:extLst>
              <a:ext uri="{FF2B5EF4-FFF2-40B4-BE49-F238E27FC236}">
                <a16:creationId xmlns:a16="http://schemas.microsoft.com/office/drawing/2014/main" id="{357172BB-B3B3-5686-3757-1889C8D2AE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Example: Change the location and controlling department number of project number 10 to 'Bellaire' and 5, respectively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/>
              <a:t>U5:	UPDATE 	PROJECT</a:t>
            </a:r>
            <a:br>
              <a:rPr lang="en-US" altLang="en-US"/>
            </a:br>
            <a:r>
              <a:rPr lang="en-US" altLang="en-US"/>
              <a:t>		SET		PLOCATION = 'Bellaire', 					DNUM = 5</a:t>
            </a:r>
            <a:br>
              <a:rPr lang="en-US" altLang="en-US"/>
            </a:br>
            <a:r>
              <a:rPr lang="en-US" altLang="en-US"/>
              <a:t>		WHERE	PNUMBER=10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B6FE9178-EED2-FC18-46F2-02B2E0806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6- 51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3">
            <a:extLst>
              <a:ext uri="{FF2B5EF4-FFF2-40B4-BE49-F238E27FC236}">
                <a16:creationId xmlns:a16="http://schemas.microsoft.com/office/drawing/2014/main" id="{BE428504-FFC1-47A3-4F98-22A2E0CB23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</a:t>
            </a:r>
            <a:fld id="{942D0279-9CD2-41DC-96E2-1F3E28E2330D}" type="slidenum">
              <a:rPr lang="en-US" altLang="en-US" sz="140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en-CA" altLang="en-US" sz="1400">
              <a:solidFill>
                <a:srgbClr val="990033"/>
              </a:solidFill>
            </a:endParaRPr>
          </a:p>
        </p:txBody>
      </p:sp>
      <p:sp>
        <p:nvSpPr>
          <p:cNvPr id="74755" name="Rectangle 6">
            <a:extLst>
              <a:ext uri="{FF2B5EF4-FFF2-40B4-BE49-F238E27FC236}">
                <a16:creationId xmlns:a16="http://schemas.microsoft.com/office/drawing/2014/main" id="{4F0108BA-9D9C-DDE5-A67F-2323365B8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UPDATE (contd.)</a:t>
            </a:r>
          </a:p>
        </p:txBody>
      </p:sp>
      <p:sp>
        <p:nvSpPr>
          <p:cNvPr id="74756" name="Rectangle 7">
            <a:extLst>
              <a:ext uri="{FF2B5EF4-FFF2-40B4-BE49-F238E27FC236}">
                <a16:creationId xmlns:a16="http://schemas.microsoft.com/office/drawing/2014/main" id="{717CFAEB-7E20-01CE-9BCB-210767EC1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400"/>
              <a:t>Example: Give all employees in the 'Research' department a 10% raise in salary.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200"/>
              <a:t>U6:	UPDATE 	EMPLOYEE</a:t>
            </a:r>
            <a:br>
              <a:rPr lang="en-US" altLang="en-US" sz="2200"/>
            </a:br>
            <a:r>
              <a:rPr lang="en-US" altLang="en-US" sz="2200"/>
              <a:t>	SET		SALARY = SALARY *1.1</a:t>
            </a:r>
            <a:br>
              <a:rPr lang="en-US" altLang="en-US" sz="2200"/>
            </a:br>
            <a:r>
              <a:rPr lang="en-US" altLang="en-US" sz="2200"/>
              <a:t>	WHERE	DNO  IN (SELECT	DNUMBER</a:t>
            </a:r>
            <a:br>
              <a:rPr lang="en-US" altLang="en-US" sz="2200"/>
            </a:br>
            <a:r>
              <a:rPr lang="en-US" altLang="en-US" sz="2200"/>
              <a:t>			    FROM	DEPARTMENT</a:t>
            </a:r>
            <a:br>
              <a:rPr lang="en-US" altLang="en-US" sz="2200"/>
            </a:br>
            <a:r>
              <a:rPr lang="en-US" altLang="en-US" sz="2200"/>
              <a:t>			    WHERE	DNAME='Research')</a:t>
            </a:r>
            <a:br>
              <a:rPr lang="en-US" altLang="en-US" sz="2200"/>
            </a:br>
            <a:endParaRPr lang="en-US" altLang="en-US" sz="2200"/>
          </a:p>
          <a:p>
            <a:pPr>
              <a:lnSpc>
                <a:spcPct val="80000"/>
              </a:lnSpc>
            </a:pPr>
            <a:r>
              <a:rPr lang="en-US" altLang="en-US" sz="2400"/>
              <a:t>In this request, the modified SALARY value depends on the original SALARY value in each tuple</a:t>
            </a:r>
          </a:p>
          <a:p>
            <a:pPr>
              <a:lnSpc>
                <a:spcPct val="80000"/>
              </a:lnSpc>
            </a:pPr>
            <a:endParaRPr lang="en-US" altLang="en-US" sz="2400"/>
          </a:p>
          <a:p>
            <a:pPr lvl="1">
              <a:lnSpc>
                <a:spcPct val="80000"/>
              </a:lnSpc>
            </a:pPr>
            <a:r>
              <a:rPr lang="en-US" altLang="en-US" sz="2400"/>
              <a:t>The reference to the SALARY attribute on the right of = refers to the old SALARY value before modification</a:t>
            </a:r>
          </a:p>
          <a:p>
            <a:pPr lvl="1">
              <a:lnSpc>
                <a:spcPct val="80000"/>
              </a:lnSpc>
            </a:pPr>
            <a:r>
              <a:rPr lang="en-US" altLang="en-US" sz="2400"/>
              <a:t>The reference to the SALARY attribute on the left of = refers to the new SALARY value after modification</a:t>
            </a:r>
            <a:br>
              <a:rPr lang="en-US" altLang="en-US" sz="2400"/>
            </a:br>
            <a:endParaRPr lang="en-US" altLang="en-US" sz="2400"/>
          </a:p>
        </p:txBody>
      </p:sp>
    </p:spTree>
  </p:cSld>
  <p:clrMapOvr>
    <a:masterClrMapping/>
  </p:clrMapOvr>
  <p:transition spd="med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>
            <a:extLst>
              <a:ext uri="{FF2B5EF4-FFF2-40B4-BE49-F238E27FC236}">
                <a16:creationId xmlns:a16="http://schemas.microsoft.com/office/drawing/2014/main" id="{43D07228-79A0-9213-9AA7-F631EA8A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Additional Features of SQL</a:t>
            </a:r>
          </a:p>
        </p:txBody>
      </p:sp>
      <p:sp>
        <p:nvSpPr>
          <p:cNvPr id="76803" name="Content Placeholder 2">
            <a:extLst>
              <a:ext uri="{FF2B5EF4-FFF2-40B4-BE49-F238E27FC236}">
                <a16:creationId xmlns:a16="http://schemas.microsoft.com/office/drawing/2014/main" id="{4676D157-EC2F-A4C7-D388-A08E07156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600"/>
              <a:t>Techniques for specifying complex retrieval queries (see Ch.7)</a:t>
            </a:r>
          </a:p>
          <a:p>
            <a:r>
              <a:rPr lang="en-US" altLang="en-US" sz="2600"/>
              <a:t>Writing programs in various programming languages that include SQL statements: Embedded and dynamic SQL, SQL/CLI (Call Level Interface) and its predecessor ODBC, SQL/PSM (Persistent Stored Module) (See Ch.10)</a:t>
            </a:r>
          </a:p>
          <a:p>
            <a:r>
              <a:rPr lang="en-US" altLang="en-US" sz="2600"/>
              <a:t>Set of commands for specifying physical database design parameters, file structures for relations, and access paths, e.g., CREATE INDEX</a:t>
            </a:r>
          </a:p>
        </p:txBody>
      </p:sp>
      <p:sp>
        <p:nvSpPr>
          <p:cNvPr id="76804" name="Slide Number Placeholder 3">
            <a:extLst>
              <a:ext uri="{FF2B5EF4-FFF2-40B4-BE49-F238E27FC236}">
                <a16:creationId xmlns:a16="http://schemas.microsoft.com/office/drawing/2014/main" id="{572A3F21-48AB-77DB-B1A4-460989E7D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6- 53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>
            <a:extLst>
              <a:ext uri="{FF2B5EF4-FFF2-40B4-BE49-F238E27FC236}">
                <a16:creationId xmlns:a16="http://schemas.microsoft.com/office/drawing/2014/main" id="{1167EAB2-C943-D3B7-02CE-BAB5E054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Additional Features of SQL (cont’d.)</a:t>
            </a:r>
          </a:p>
        </p:txBody>
      </p:sp>
      <p:sp>
        <p:nvSpPr>
          <p:cNvPr id="77827" name="Content Placeholder 2">
            <a:extLst>
              <a:ext uri="{FF2B5EF4-FFF2-40B4-BE49-F238E27FC236}">
                <a16:creationId xmlns:a16="http://schemas.microsoft.com/office/drawing/2014/main" id="{DDAB5687-E542-C68D-2254-DB18A4955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Transaction control commands (Ch.20)</a:t>
            </a:r>
          </a:p>
          <a:p>
            <a:r>
              <a:rPr lang="en-US" altLang="en-US"/>
              <a:t>Specifying the granting and revoking of privileges to users (Ch.30)</a:t>
            </a:r>
          </a:p>
          <a:p>
            <a:r>
              <a:rPr lang="en-US" altLang="en-US"/>
              <a:t>Constructs for creating triggers (Ch.26)</a:t>
            </a:r>
          </a:p>
          <a:p>
            <a:r>
              <a:rPr lang="en-US" altLang="en-US"/>
              <a:t>Enhanced relational systems known as object-relational define relations as classes. Abstract data types (called User Defined Types- UDTs) are supported with CREATE TYPE</a:t>
            </a:r>
          </a:p>
          <a:p>
            <a:r>
              <a:rPr lang="en-US" altLang="en-US"/>
              <a:t>New technologies such as XML (Ch.13) and OLAP (Ch.29) are added to versions of SQL</a:t>
            </a: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652C54C0-1B99-C91C-30CF-B5BDFDC0A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6- 54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007F3807-A8E3-F219-8B8C-D5496414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8F6E099A-397B-F620-8E1A-8ECBCE7E9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SQL </a:t>
            </a:r>
          </a:p>
          <a:p>
            <a:pPr lvl="1"/>
            <a:r>
              <a:rPr lang="en-US" altLang="en-US"/>
              <a:t>A Comprehensive language for relational database management</a:t>
            </a:r>
          </a:p>
          <a:p>
            <a:pPr lvl="1"/>
            <a:r>
              <a:rPr lang="en-US" altLang="en-US"/>
              <a:t>Data definition, queries, updates, constraint specification, and view definition</a:t>
            </a:r>
          </a:p>
          <a:p>
            <a:r>
              <a:rPr lang="en-US" altLang="en-US"/>
              <a:t>Covered :</a:t>
            </a:r>
          </a:p>
          <a:p>
            <a:pPr lvl="1"/>
            <a:r>
              <a:rPr lang="en-US" altLang="en-US"/>
              <a:t>Data definition commands for creating tables </a:t>
            </a:r>
          </a:p>
          <a:p>
            <a:pPr lvl="1"/>
            <a:r>
              <a:rPr lang="en-US" altLang="en-US"/>
              <a:t>Commands for constraint specification</a:t>
            </a:r>
          </a:p>
          <a:p>
            <a:pPr lvl="1"/>
            <a:r>
              <a:rPr lang="en-US" altLang="en-US"/>
              <a:t>Simple retrieval queries</a:t>
            </a:r>
          </a:p>
          <a:p>
            <a:pPr lvl="1"/>
            <a:r>
              <a:rPr lang="en-US" altLang="en-US"/>
              <a:t>Database update commands</a:t>
            </a:r>
          </a:p>
        </p:txBody>
      </p:sp>
      <p:sp>
        <p:nvSpPr>
          <p:cNvPr id="78852" name="Slide Number Placeholder 3">
            <a:extLst>
              <a:ext uri="{FF2B5EF4-FFF2-40B4-BE49-F238E27FC236}">
                <a16:creationId xmlns:a16="http://schemas.microsoft.com/office/drawing/2014/main" id="{640C353A-67DF-95FB-3DFB-27438368D1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990033"/>
                </a:solidFill>
              </a:rPr>
              <a:t>Slide 6- 55</a:t>
            </a:r>
            <a:endParaRPr lang="en-CA" altLang="en-US" sz="140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108</a:t>
            </a:fld>
            <a:endParaRPr spc="-19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1" y="2714826"/>
            <a:ext cx="8175308" cy="702115"/>
          </a:xfrm>
          <a:prstGeom prst="rect">
            <a:avLst/>
          </a:prstGeom>
        </p:spPr>
        <p:txBody>
          <a:bodyPr vert="horz" wrap="square" lIns="0" tIns="9525" rIns="0" bIns="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9525" algn="ctr">
              <a:spcBef>
                <a:spcPts val="75"/>
              </a:spcBef>
            </a:pPr>
            <a:r>
              <a:rPr lang="en-US" sz="4500" dirty="0"/>
              <a:t>Is it 6:05 yet?</a:t>
            </a:r>
            <a:endParaRPr sz="4500" dirty="0"/>
          </a:p>
        </p:txBody>
      </p:sp>
    </p:spTree>
    <p:extLst>
      <p:ext uri="{BB962C8B-B14F-4D97-AF65-F5344CB8AC3E}">
        <p14:creationId xmlns:p14="http://schemas.microsoft.com/office/powerpoint/2010/main" val="4289596156"/>
      </p:ext>
    </p:extLst>
  </p:cSld>
  <p:clrMapOvr>
    <a:masterClrMapping/>
  </p:clrMapOvr>
  <p:transition spd="med"/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D85A-4296-0A00-A5E3-3E38D28C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36" y="838200"/>
            <a:ext cx="8473499" cy="507831"/>
          </a:xfrm>
        </p:spPr>
        <p:txBody>
          <a:bodyPr/>
          <a:lstStyle/>
          <a:p>
            <a:r>
              <a:rPr lang="en-US" dirty="0"/>
              <a:t>Discussion 07 (6:05 – 6:15)</a:t>
            </a:r>
            <a:br>
              <a:rPr lang="en-US" dirty="0"/>
            </a:b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SQL for case study of Discussion 06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" y="2057400"/>
            <a:ext cx="8473499" cy="4371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Write SQL Queries for the case study of Discussion 06 like the examples we have seen in the lecture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34ED0-FB7B-F75A-DCF9-824819ABF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109</a:t>
            </a:fld>
            <a:endParaRPr lang="en-US" spc="-19" dirty="0"/>
          </a:p>
        </p:txBody>
      </p:sp>
    </p:spTree>
    <p:extLst>
      <p:ext uri="{BB962C8B-B14F-4D97-AF65-F5344CB8AC3E}">
        <p14:creationId xmlns:p14="http://schemas.microsoft.com/office/powerpoint/2010/main" val="1699317792"/>
      </p:ext>
    </p:extLst>
  </p:cSld>
  <p:clrMapOvr>
    <a:masterClrMapping/>
  </p:clrMapOvr>
  <p:transition spd="med"/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D85A-4296-0A00-A5E3-3E38D28C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859819"/>
            <a:ext cx="8473499" cy="507831"/>
          </a:xfrm>
        </p:spPr>
        <p:txBody>
          <a:bodyPr/>
          <a:lstStyle/>
          <a:p>
            <a:r>
              <a:rPr lang="en-US" dirty="0"/>
              <a:t>Review Deliverables (6:15 – 6:20)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5234-7A0D-4638-F56B-59690761E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1" y="1752600"/>
            <a:ext cx="8473499" cy="4800600"/>
          </a:xfrm>
        </p:spPr>
        <p:txBody>
          <a:bodyPr>
            <a:normAutofit fontScale="55000" lnSpcReduction="20000"/>
          </a:bodyPr>
          <a:lstStyle/>
          <a:p>
            <a:pPr marL="728663"/>
            <a:r>
              <a:rPr lang="en-US" sz="4400" dirty="0"/>
              <a:t>Discussion 06:</a:t>
            </a:r>
          </a:p>
          <a:p>
            <a:pPr marL="1128713" lvl="1"/>
            <a:r>
              <a:rPr lang="en-US" sz="4200" dirty="0"/>
              <a:t>Should have been submitted by 4:30 PM.</a:t>
            </a:r>
          </a:p>
          <a:p>
            <a:pPr marL="728663"/>
            <a:r>
              <a:rPr lang="en-US" sz="4400" dirty="0"/>
              <a:t>Discussion 07:</a:t>
            </a:r>
          </a:p>
          <a:p>
            <a:pPr marL="1128713" lvl="1"/>
            <a:r>
              <a:rPr lang="en-US" sz="4200" dirty="0"/>
              <a:t>Should have been submitted by 6:20 PM.</a:t>
            </a:r>
          </a:p>
          <a:p>
            <a:pPr marL="728663"/>
            <a:r>
              <a:rPr lang="en-US" sz="4400" dirty="0"/>
              <a:t>Homework 03:</a:t>
            </a:r>
          </a:p>
          <a:p>
            <a:pPr marL="1128713" lvl="1"/>
            <a:r>
              <a:rPr lang="en-US" sz="4200" dirty="0"/>
              <a:t>Due By: Wednesday January 28, 2026 3:00 PM</a:t>
            </a:r>
          </a:p>
          <a:p>
            <a:pPr marL="1128713" lvl="1"/>
            <a:r>
              <a:rPr lang="en-US" sz="4200" dirty="0"/>
              <a:t>Available Until: Friday January 30, 2026 3:00 PM</a:t>
            </a:r>
          </a:p>
          <a:p>
            <a:pPr marL="728663"/>
            <a:r>
              <a:rPr lang="en-US" sz="4400"/>
              <a:t>Lab 05:</a:t>
            </a:r>
            <a:endParaRPr lang="en-US" sz="1800" dirty="0"/>
          </a:p>
          <a:p>
            <a:pPr marL="1128713" lvl="1"/>
            <a:r>
              <a:rPr lang="en-US" sz="4200" dirty="0"/>
              <a:t>Due By:</a:t>
            </a:r>
          </a:p>
          <a:p>
            <a:pPr marL="1128713" lvl="1"/>
            <a:r>
              <a:rPr lang="en-US" sz="4200" dirty="0"/>
              <a:t>Available Until:</a:t>
            </a:r>
          </a:p>
          <a:p>
            <a:pPr marL="728663"/>
            <a:r>
              <a:rPr lang="en-US" sz="4400" dirty="0"/>
              <a:t>Project Phase 2:</a:t>
            </a:r>
            <a:endParaRPr lang="en-US" sz="1800" dirty="0"/>
          </a:p>
          <a:p>
            <a:pPr marL="1128713" lvl="1"/>
            <a:r>
              <a:rPr lang="en-US" sz="4200" dirty="0"/>
              <a:t>Due By:</a:t>
            </a:r>
          </a:p>
          <a:p>
            <a:pPr marL="1128713" lvl="1"/>
            <a:r>
              <a:rPr lang="en-US" sz="4200" dirty="0"/>
              <a:t>Available Until:</a:t>
            </a:r>
          </a:p>
          <a:p>
            <a:pPr marL="728663"/>
            <a:endParaRPr lang="en-US" sz="4400" dirty="0"/>
          </a:p>
          <a:p>
            <a:pPr marL="1128713" lvl="1"/>
            <a:endParaRPr lang="en-US" sz="4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334ED0-FB7B-F75A-DCF9-824819ABF2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11092815" y="6428920"/>
            <a:ext cx="2190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40"/>
              </a:spcBef>
            </a:pPr>
            <a:fld id="{81D60167-4931-47E6-BA6A-407CBD079E47}" type="slidenum">
              <a:rPr lang="en-US" spc="-25" smtClean="0"/>
              <a:pPr marL="12700">
                <a:spcBef>
                  <a:spcPts val="40"/>
                </a:spcBef>
              </a:pPr>
              <a:t>110</a:t>
            </a:fld>
            <a:endParaRPr lang="en-US" spc="-19" dirty="0"/>
          </a:p>
        </p:txBody>
      </p:sp>
    </p:spTree>
    <p:extLst>
      <p:ext uri="{BB962C8B-B14F-4D97-AF65-F5344CB8AC3E}">
        <p14:creationId xmlns:p14="http://schemas.microsoft.com/office/powerpoint/2010/main" val="2447840948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8086</TotalTime>
  <Words>6955</Words>
  <Application>Microsoft Office PowerPoint</Application>
  <PresentationFormat>Letter Paper (8.5x11 in)</PresentationFormat>
  <Paragraphs>834</Paragraphs>
  <Slides>110</Slides>
  <Notes>53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22" baseType="lpstr">
      <vt:lpstr>ＭＳ Ｐゴシック</vt:lpstr>
      <vt:lpstr>Aptos</vt:lpstr>
      <vt:lpstr>Arial</vt:lpstr>
      <vt:lpstr>Calibri</vt:lpstr>
      <vt:lpstr>Courier New</vt:lpstr>
      <vt:lpstr>Google Sans Text</vt:lpstr>
      <vt:lpstr>Symbol</vt:lpstr>
      <vt:lpstr>Tahoma</vt:lpstr>
      <vt:lpstr>Times New Roman</vt:lpstr>
      <vt:lpstr>Verdana</vt:lpstr>
      <vt:lpstr>Wingdings</vt:lpstr>
      <vt:lpstr>Blends</vt:lpstr>
      <vt:lpstr>Database Management Systems CS 5200</vt:lpstr>
      <vt:lpstr>Plan for Today</vt:lpstr>
      <vt:lpstr> </vt:lpstr>
      <vt:lpstr>Chapter Outline</vt:lpstr>
      <vt:lpstr>Relational Model Concepts</vt:lpstr>
      <vt:lpstr>Relational Model Concepts</vt:lpstr>
      <vt:lpstr>Informal Definitions</vt:lpstr>
      <vt:lpstr>Example of a Relation</vt:lpstr>
      <vt:lpstr>Informal Definitions</vt:lpstr>
      <vt:lpstr>Formal Definitions - Schema</vt:lpstr>
      <vt:lpstr>Formal Definitions - Tuple</vt:lpstr>
      <vt:lpstr>Formal Definitions - Domain</vt:lpstr>
      <vt:lpstr>Formal Definitions - State</vt:lpstr>
      <vt:lpstr>Formal Definitions - Summary</vt:lpstr>
      <vt:lpstr>Formal Definitions - Example</vt:lpstr>
      <vt:lpstr>Definition Summary</vt:lpstr>
      <vt:lpstr>Example – A relation STUDENT</vt:lpstr>
      <vt:lpstr>Characteristics Of Relations</vt:lpstr>
      <vt:lpstr>Same state as previous Figure (but with different order of tuples)</vt:lpstr>
      <vt:lpstr>Characteristics Of Relations</vt:lpstr>
      <vt:lpstr>Characteristics Of Relations</vt:lpstr>
      <vt:lpstr>CONSTRAINTS</vt:lpstr>
      <vt:lpstr>Relational Integrity Constraints</vt:lpstr>
      <vt:lpstr>Key Constraints</vt:lpstr>
      <vt:lpstr>Key Constraints (continued)</vt:lpstr>
      <vt:lpstr>Key Constraints (continued)</vt:lpstr>
      <vt:lpstr>CAR table with two candidate keys – LicenseNumber chosen as Primary Key</vt:lpstr>
      <vt:lpstr>Relational Database Schema</vt:lpstr>
      <vt:lpstr>PowerPoint Presentation</vt:lpstr>
      <vt:lpstr>Relational Database State</vt:lpstr>
      <vt:lpstr>Populated database state</vt:lpstr>
      <vt:lpstr>PowerPoint Presentation</vt:lpstr>
      <vt:lpstr>Entity Integrity</vt:lpstr>
      <vt:lpstr>Referential Integrity</vt:lpstr>
      <vt:lpstr>Referential Integrity</vt:lpstr>
      <vt:lpstr>Referential Integrity (or foreign key)  Constraint</vt:lpstr>
      <vt:lpstr>Displaying a relational database schema and its constraints</vt:lpstr>
      <vt:lpstr>PowerPoint Presentation</vt:lpstr>
      <vt:lpstr>Other Types of Constraints</vt:lpstr>
      <vt:lpstr>Update Operations on Relations</vt:lpstr>
      <vt:lpstr>Update Operations on Relations</vt:lpstr>
      <vt:lpstr>Possible violations for each operation</vt:lpstr>
      <vt:lpstr>Possible violations for each operation</vt:lpstr>
      <vt:lpstr>Possible violations for each operation</vt:lpstr>
      <vt:lpstr>Summary</vt:lpstr>
      <vt:lpstr>Is it 4:15 yet?</vt:lpstr>
      <vt:lpstr>Discussion 06 (4:15 – 4:30) Part 1 of 2: Relational Schema Diagram From Relations</vt:lpstr>
      <vt:lpstr>Discussion 06 (4:15 – 4:30) Part 2 of 2: Mapping ER to Relational Schema Diagram</vt:lpstr>
      <vt:lpstr>Break (4:30 PM – 4:50 PM)  Please be punctual so that  we restart on time</vt:lpstr>
      <vt:lpstr> </vt:lpstr>
      <vt:lpstr>Chapter 6 Outline</vt:lpstr>
      <vt:lpstr>Basic SQL</vt:lpstr>
      <vt:lpstr>SQL Data Definition, Data Types, Standards</vt:lpstr>
      <vt:lpstr>SQL Standards</vt:lpstr>
      <vt:lpstr>Schema and Catalog Concepts in SQL</vt:lpstr>
      <vt:lpstr>The CREATE SCHEMA Command in SQL</vt:lpstr>
      <vt:lpstr>The CREATE TABLE Command in SQL</vt:lpstr>
      <vt:lpstr>COMPANY relational database schema (Fig. 5.7)</vt:lpstr>
      <vt:lpstr>SQL CREATE TABLE data definition statements for defining the COMPANY schema from Figure 5.7 (Fig. 6.1)</vt:lpstr>
      <vt:lpstr>SQL CREATE TABLE data definition statements for defining the COMPANY schema from Figure 5.7 (Fig. 6.1)</vt:lpstr>
      <vt:lpstr>SQL CREATE TABLE data definition statements for defining the COMPANY schema from Figure 5.7 (Fig. 6.1)</vt:lpstr>
      <vt:lpstr>SQL CREATE TABLE data definition statements for defining the COMPANY schema from Figure 5.7 (Fig. 6.1)-continued</vt:lpstr>
      <vt:lpstr>SQL CREATE TABLE data definition statements for defining the COMPANY schema from Figure 5.7 (Fig. 6.1)-continued</vt:lpstr>
      <vt:lpstr>SQL CREATE TABLE data definition statements for defining the COMPANY schema from Figure 5.7 (Fig. 6.1)-continued</vt:lpstr>
      <vt:lpstr>SQL CREATE TABLE data definition statements for defining the COMPANY schema from Figure 5.7 (Fig. 6.1)</vt:lpstr>
      <vt:lpstr>SQL CREATE TABLE data definition statements for defining the COMPANY schema from Figure 5.7 (Fig. 6.1)-continued</vt:lpstr>
      <vt:lpstr>One possible database state for the COMPANY relational database schema (Fig. 5.6)</vt:lpstr>
      <vt:lpstr>One possible database state for the COMPANY relational database schema – continued (Fig. 5.6)</vt:lpstr>
      <vt:lpstr>The CREATE TABLE Command in SQL (cont’d.)</vt:lpstr>
      <vt:lpstr>Attribute Data Types and Domains in SQL</vt:lpstr>
      <vt:lpstr>Attribute Data Types and Domains in SQL (cont’d.)</vt:lpstr>
      <vt:lpstr>Attribute Data Types and Domains in SQL (cont’d.)</vt:lpstr>
      <vt:lpstr>Attribute Data Types and Domains in SQL (cont’d.)</vt:lpstr>
      <vt:lpstr>Specifying Constraints in SQL</vt:lpstr>
      <vt:lpstr>Specifying Attribute Constraints</vt:lpstr>
      <vt:lpstr>Specifying Key and Referential Integrity Constraints</vt:lpstr>
      <vt:lpstr>Specifying Key and Referential Integrity Constraints (cont’d.)</vt:lpstr>
      <vt:lpstr>Giving Names to Constraints</vt:lpstr>
      <vt:lpstr>Default attribute values and referential integrity triggered action specification (Fig. 6.2)</vt:lpstr>
      <vt:lpstr>Specifying Constraints on Tuples Using CHECK</vt:lpstr>
      <vt:lpstr>Basic Retrieval Queries in SQL</vt:lpstr>
      <vt:lpstr>The SELECT-FROM-WHERE Structure of Basic SQL Queries</vt:lpstr>
      <vt:lpstr>The SELECT-FROM-WHERE Structure of Basic SQL Queries (cont’d.)</vt:lpstr>
      <vt:lpstr>Basic Retrieval Queries</vt:lpstr>
      <vt:lpstr>Ambiguous Attribute Names </vt:lpstr>
      <vt:lpstr>Aliasing, and Renaming</vt:lpstr>
      <vt:lpstr>Aliasing,Renaming and Tuple Variables (contd.)</vt:lpstr>
      <vt:lpstr>Unspecified WHERE Clause and Use of the Asterisk</vt:lpstr>
      <vt:lpstr>Unspecified WHERE Clause and Use of the Asterisk (cont’d.)</vt:lpstr>
      <vt:lpstr>Tables as Sets in SQL</vt:lpstr>
      <vt:lpstr>Tables as Sets in SQL (cont’d.)</vt:lpstr>
      <vt:lpstr>Substring Pattern Matching and Arithmetic Operators</vt:lpstr>
      <vt:lpstr>Arithmetic Operations</vt:lpstr>
      <vt:lpstr>Ordering of Query Results</vt:lpstr>
      <vt:lpstr> Basic SQL Retrieval Query Block</vt:lpstr>
      <vt:lpstr>INSERT, DELETE, and UPDATE Statements in SQL</vt:lpstr>
      <vt:lpstr>INSERT</vt:lpstr>
      <vt:lpstr>The INSERT Command</vt:lpstr>
      <vt:lpstr>BULK LOADING OF TABLES</vt:lpstr>
      <vt:lpstr>DELETE</vt:lpstr>
      <vt:lpstr>The DELETE Command</vt:lpstr>
      <vt:lpstr>UPDATE</vt:lpstr>
      <vt:lpstr>UPDATE (contd.)</vt:lpstr>
      <vt:lpstr>UPDATE (contd.)</vt:lpstr>
      <vt:lpstr>Additional Features of SQL</vt:lpstr>
      <vt:lpstr>Additional Features of SQL (cont’d.)</vt:lpstr>
      <vt:lpstr>Summary</vt:lpstr>
      <vt:lpstr>Is it 6:05 yet?</vt:lpstr>
      <vt:lpstr>Discussion 07 (6:05 – 6:15) SQL for case study of Discussion 06</vt:lpstr>
      <vt:lpstr>Review Deliverables (6:15 – 6:20)</vt:lpstr>
    </vt:vector>
  </TitlesOfParts>
  <Manager/>
  <Company>©2007 Pearson Addison-Wesley. All rights reserved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</dc:title>
  <dc:subject>Data Modeling Using the Entity-Relationship (ER) Model</dc:subject>
  <dc:creator>Elmasri/Navathe</dc:creator>
  <cp:keywords/>
  <dc:description/>
  <cp:lastModifiedBy>Zantout; Rached N.</cp:lastModifiedBy>
  <cp:revision>104</cp:revision>
  <cp:lastPrinted>2001-11-04T00:51:13Z</cp:lastPrinted>
  <dcterms:created xsi:type="dcterms:W3CDTF">2005-02-25T19:46:41Z</dcterms:created>
  <dcterms:modified xsi:type="dcterms:W3CDTF">2026-01-30T22:38:33Z</dcterms:modified>
  <cp:category/>
</cp:coreProperties>
</file>