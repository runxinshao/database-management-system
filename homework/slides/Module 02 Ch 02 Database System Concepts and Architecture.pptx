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3"/>
  </p:notesMasterIdLst>
  <p:handoutMasterIdLst>
    <p:handoutMasterId r:id="rId104"/>
  </p:handoutMasterIdLst>
  <p:sldIdLst>
    <p:sldId id="256" r:id="rId2"/>
    <p:sldId id="311" r:id="rId3"/>
    <p:sldId id="395" r:id="rId4"/>
    <p:sldId id="325" r:id="rId5"/>
    <p:sldId id="389" r:id="rId6"/>
    <p:sldId id="376" r:id="rId7"/>
    <p:sldId id="379" r:id="rId8"/>
    <p:sldId id="380" r:id="rId9"/>
    <p:sldId id="335" r:id="rId10"/>
    <p:sldId id="336" r:id="rId11"/>
    <p:sldId id="337" r:id="rId12"/>
    <p:sldId id="381" r:id="rId13"/>
    <p:sldId id="382" r:id="rId14"/>
    <p:sldId id="384" r:id="rId15"/>
    <p:sldId id="402" r:id="rId16"/>
    <p:sldId id="383" r:id="rId17"/>
    <p:sldId id="338" r:id="rId18"/>
    <p:sldId id="342" r:id="rId19"/>
    <p:sldId id="343" r:id="rId20"/>
    <p:sldId id="344" r:id="rId21"/>
    <p:sldId id="340" r:id="rId22"/>
    <p:sldId id="345" r:id="rId23"/>
    <p:sldId id="346" r:id="rId24"/>
    <p:sldId id="347" r:id="rId25"/>
    <p:sldId id="385" r:id="rId26"/>
    <p:sldId id="348" r:id="rId27"/>
    <p:sldId id="349" r:id="rId28"/>
    <p:sldId id="350" r:id="rId29"/>
    <p:sldId id="351" r:id="rId30"/>
    <p:sldId id="352" r:id="rId31"/>
    <p:sldId id="353" r:id="rId32"/>
    <p:sldId id="323" r:id="rId33"/>
    <p:sldId id="365" r:id="rId34"/>
    <p:sldId id="386" r:id="rId35"/>
    <p:sldId id="366" r:id="rId36"/>
    <p:sldId id="387" r:id="rId37"/>
    <p:sldId id="367" r:id="rId38"/>
    <p:sldId id="354" r:id="rId39"/>
    <p:sldId id="370" r:id="rId40"/>
    <p:sldId id="372" r:id="rId41"/>
    <p:sldId id="371" r:id="rId42"/>
    <p:sldId id="368" r:id="rId43"/>
    <p:sldId id="369" r:id="rId44"/>
    <p:sldId id="392" r:id="rId45"/>
    <p:sldId id="396" r:id="rId46"/>
    <p:sldId id="361" r:id="rId47"/>
    <p:sldId id="355" r:id="rId48"/>
    <p:sldId id="357" r:id="rId49"/>
    <p:sldId id="360" r:id="rId50"/>
    <p:sldId id="401" r:id="rId51"/>
    <p:sldId id="263" r:id="rId52"/>
    <p:sldId id="410" r:id="rId53"/>
    <p:sldId id="374" r:id="rId54"/>
    <p:sldId id="327" r:id="rId55"/>
    <p:sldId id="399" r:id="rId56"/>
    <p:sldId id="375" r:id="rId57"/>
    <p:sldId id="328" r:id="rId58"/>
    <p:sldId id="411" r:id="rId59"/>
    <p:sldId id="412" r:id="rId60"/>
    <p:sldId id="329" r:id="rId61"/>
    <p:sldId id="330" r:id="rId62"/>
    <p:sldId id="377" r:id="rId63"/>
    <p:sldId id="413" r:id="rId64"/>
    <p:sldId id="332" r:id="rId65"/>
    <p:sldId id="414" r:id="rId66"/>
    <p:sldId id="333" r:id="rId67"/>
    <p:sldId id="378" r:id="rId68"/>
    <p:sldId id="404" r:id="rId69"/>
    <p:sldId id="334" r:id="rId70"/>
    <p:sldId id="415" r:id="rId71"/>
    <p:sldId id="391" r:id="rId72"/>
    <p:sldId id="416" r:id="rId73"/>
    <p:sldId id="417" r:id="rId74"/>
    <p:sldId id="418" r:id="rId75"/>
    <p:sldId id="419" r:id="rId76"/>
    <p:sldId id="420" r:id="rId77"/>
    <p:sldId id="421" r:id="rId78"/>
    <p:sldId id="422" r:id="rId79"/>
    <p:sldId id="423" r:id="rId80"/>
    <p:sldId id="424" r:id="rId81"/>
    <p:sldId id="425" r:id="rId82"/>
    <p:sldId id="339" r:id="rId83"/>
    <p:sldId id="426" r:id="rId84"/>
    <p:sldId id="427" r:id="rId85"/>
    <p:sldId id="341" r:id="rId86"/>
    <p:sldId id="397" r:id="rId87"/>
    <p:sldId id="398" r:id="rId88"/>
    <p:sldId id="400" r:id="rId89"/>
    <p:sldId id="428" r:id="rId90"/>
    <p:sldId id="429" r:id="rId91"/>
    <p:sldId id="430" r:id="rId92"/>
    <p:sldId id="431" r:id="rId93"/>
    <p:sldId id="393" r:id="rId94"/>
    <p:sldId id="432" r:id="rId95"/>
    <p:sldId id="433" r:id="rId96"/>
    <p:sldId id="405" r:id="rId97"/>
    <p:sldId id="406" r:id="rId98"/>
    <p:sldId id="407" r:id="rId99"/>
    <p:sldId id="434" r:id="rId100"/>
    <p:sldId id="435" r:id="rId101"/>
    <p:sldId id="436" r:id="rId102"/>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7228"/>
    <a:srgbClr val="6E792B"/>
    <a:srgbClr val="76822E"/>
    <a:srgbClr val="4F571F"/>
    <a:srgbClr val="6F6A07"/>
    <a:srgbClr val="827C08"/>
    <a:srgbClr val="A29B0A"/>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showGuides="1">
      <p:cViewPr>
        <p:scale>
          <a:sx n="80" d="100"/>
          <a:sy n="80" d="100"/>
        </p:scale>
        <p:origin x="826" y="-398"/>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showGuides="1">
      <p:cViewPr>
        <p:scale>
          <a:sx n="100" d="100"/>
          <a:sy n="100" d="100"/>
        </p:scale>
        <p:origin x="-780" y="21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6A68092-CF13-DD04-3D17-07CE27B4E5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0419" name="Rectangle 3">
            <a:extLst>
              <a:ext uri="{FF2B5EF4-FFF2-40B4-BE49-F238E27FC236}">
                <a16:creationId xmlns:a16="http://schemas.microsoft.com/office/drawing/2014/main" id="{252E0C6D-31C3-E9E4-7D6D-61718A9E9A39}"/>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pPr>
              <a:defRPr/>
            </a:pPr>
            <a:endParaRPr lang="en-CA"/>
          </a:p>
        </p:txBody>
      </p:sp>
      <p:sp>
        <p:nvSpPr>
          <p:cNvPr id="60420" name="Rectangle 4">
            <a:extLst>
              <a:ext uri="{FF2B5EF4-FFF2-40B4-BE49-F238E27FC236}">
                <a16:creationId xmlns:a16="http://schemas.microsoft.com/office/drawing/2014/main" id="{9AB2CCB2-2848-2DB9-5FDA-6442AAF5A218}"/>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0421" name="Rectangle 5">
            <a:extLst>
              <a:ext uri="{FF2B5EF4-FFF2-40B4-BE49-F238E27FC236}">
                <a16:creationId xmlns:a16="http://schemas.microsoft.com/office/drawing/2014/main" id="{889D01F6-AE10-FCD9-1839-A51B96CCACAE}"/>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351AF058-EF06-4E86-B0CF-8E829C7372B9}" type="slidenum">
              <a:rPr lang="en-CA" altLang="en-US"/>
              <a:pPr/>
              <a:t>‹#›</a:t>
            </a:fld>
            <a:endParaRPr lang="en-CA"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F772D29-12EB-84F0-66DC-EA0075AC256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1443" name="Rectangle 3">
            <a:extLst>
              <a:ext uri="{FF2B5EF4-FFF2-40B4-BE49-F238E27FC236}">
                <a16:creationId xmlns:a16="http://schemas.microsoft.com/office/drawing/2014/main" id="{F496E7B8-7C22-3AA7-CAE5-EB1718AED591}"/>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pPr>
              <a:defRPr/>
            </a:pPr>
            <a:endParaRPr lang="en-CA"/>
          </a:p>
        </p:txBody>
      </p:sp>
      <p:sp>
        <p:nvSpPr>
          <p:cNvPr id="14340" name="Rectangle 4">
            <a:extLst>
              <a:ext uri="{FF2B5EF4-FFF2-40B4-BE49-F238E27FC236}">
                <a16:creationId xmlns:a16="http://schemas.microsoft.com/office/drawing/2014/main" id="{42DB1747-909E-D3B6-5B2B-BE2FF9DA81C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5" name="Rectangle 5">
            <a:extLst>
              <a:ext uri="{FF2B5EF4-FFF2-40B4-BE49-F238E27FC236}">
                <a16:creationId xmlns:a16="http://schemas.microsoft.com/office/drawing/2014/main" id="{7B87163E-F5A3-06A0-7001-289C110C585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61446" name="Rectangle 6">
            <a:extLst>
              <a:ext uri="{FF2B5EF4-FFF2-40B4-BE49-F238E27FC236}">
                <a16:creationId xmlns:a16="http://schemas.microsoft.com/office/drawing/2014/main" id="{6A292DB2-D47F-3C03-C5A9-0430AFABBD3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pPr>
              <a:defRPr/>
            </a:pPr>
            <a:endParaRPr lang="en-CA"/>
          </a:p>
        </p:txBody>
      </p:sp>
      <p:sp>
        <p:nvSpPr>
          <p:cNvPr id="61447" name="Rectangle 7">
            <a:extLst>
              <a:ext uri="{FF2B5EF4-FFF2-40B4-BE49-F238E27FC236}">
                <a16:creationId xmlns:a16="http://schemas.microsoft.com/office/drawing/2014/main" id="{87DEEAA5-903C-BBC5-442B-0442D4E1E022}"/>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DDED5556-99AE-43C9-B480-E20698757697}"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6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F713A6C1-3B02-5C6E-7891-E10106ED8F4E}"/>
              </a:ext>
            </a:extLst>
          </p:cNvPr>
          <p:cNvSpPr>
            <a:spLocks noGrp="1" noRot="1" noChangeAspect="1"/>
          </p:cNvSpPr>
          <p:nvPr>
            <p:ph type="sldImg"/>
          </p:nvPr>
        </p:nvSpPr>
        <p:spPr>
          <a:ln/>
        </p:spPr>
      </p:sp>
      <p:sp>
        <p:nvSpPr>
          <p:cNvPr id="18434" name="Notes Placeholder 2">
            <a:extLst>
              <a:ext uri="{FF2B5EF4-FFF2-40B4-BE49-F238E27FC236}">
                <a16:creationId xmlns:a16="http://schemas.microsoft.com/office/drawing/2014/main" id="{05159543-69DA-B16D-0740-A0ADC697D8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5" name="Slide Number Placeholder 3">
            <a:extLst>
              <a:ext uri="{FF2B5EF4-FFF2-40B4-BE49-F238E27FC236}">
                <a16:creationId xmlns:a16="http://schemas.microsoft.com/office/drawing/2014/main" id="{7CE6D0D7-CD4A-DED7-7FA2-090B85C682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988D49F-CA70-4E6E-AA32-37B5FAEC1BB0}" type="slidenum">
              <a:rPr lang="en-CA" altLang="en-US" sz="1200">
                <a:latin typeface="Tahoma" panose="020B0604030504040204" pitchFamily="34" charset="0"/>
              </a:rPr>
              <a:pPr/>
              <a:t>3</a:t>
            </a:fld>
            <a:endParaRPr lang="en-CA" altLang="en-US" sz="120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B549E2B-283A-C6E7-4DE2-A8F8449B70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C819652-89DD-4288-B0AA-7DF24D164D40}" type="slidenum">
              <a:rPr lang="en-CA" altLang="en-US" sz="1200">
                <a:latin typeface="Tahoma" panose="020B0604030504040204" pitchFamily="34" charset="0"/>
              </a:rPr>
              <a:pPr/>
              <a:t>4</a:t>
            </a:fld>
            <a:endParaRPr lang="en-CA" altLang="en-US" sz="1200">
              <a:latin typeface="Tahoma" panose="020B0604030504040204" pitchFamily="34" charset="0"/>
            </a:endParaRPr>
          </a:p>
        </p:txBody>
      </p:sp>
      <p:sp>
        <p:nvSpPr>
          <p:cNvPr id="20482" name="Rectangle 2">
            <a:extLst>
              <a:ext uri="{FF2B5EF4-FFF2-40B4-BE49-F238E27FC236}">
                <a16:creationId xmlns:a16="http://schemas.microsoft.com/office/drawing/2014/main" id="{A52CEBAB-FA6C-B49E-81FF-42E7907361A5}"/>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1D95D809-B6BF-BA3A-983D-0EBC7F93F4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9F6E8970-0BA9-199C-12B1-EA0DEAB980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B0B9884-00F8-4AC4-B212-5DC9744DAC8E}" type="slidenum">
              <a:rPr lang="en-CA" altLang="en-US" sz="1200">
                <a:latin typeface="Tahoma" panose="020B0604030504040204" pitchFamily="34" charset="0"/>
              </a:rPr>
              <a:pPr/>
              <a:t>9</a:t>
            </a:fld>
            <a:endParaRPr lang="en-CA" altLang="en-US" sz="1200">
              <a:latin typeface="Tahoma" panose="020B0604030504040204" pitchFamily="34" charset="0"/>
            </a:endParaRPr>
          </a:p>
        </p:txBody>
      </p:sp>
      <p:sp>
        <p:nvSpPr>
          <p:cNvPr id="50178" name="Rectangle 2">
            <a:extLst>
              <a:ext uri="{FF2B5EF4-FFF2-40B4-BE49-F238E27FC236}">
                <a16:creationId xmlns:a16="http://schemas.microsoft.com/office/drawing/2014/main" id="{D70D5081-1099-288C-4B2F-D38B4A63012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F7FDE531-6478-E5F0-5B83-22628BEEE8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4845B6FF-9BF1-AA28-85A1-1729A91F6B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4D757B4-0CF5-4625-B1CD-40BCA5700D0C}" type="slidenum">
              <a:rPr lang="en-CA" altLang="en-US" sz="1200">
                <a:latin typeface="Tahoma" panose="020B0604030504040204" pitchFamily="34" charset="0"/>
              </a:rPr>
              <a:pPr/>
              <a:t>10</a:t>
            </a:fld>
            <a:endParaRPr lang="en-CA" altLang="en-US" sz="1200">
              <a:latin typeface="Tahoma" panose="020B0604030504040204" pitchFamily="34" charset="0"/>
            </a:endParaRPr>
          </a:p>
        </p:txBody>
      </p:sp>
      <p:sp>
        <p:nvSpPr>
          <p:cNvPr id="52226" name="Rectangle 2">
            <a:extLst>
              <a:ext uri="{FF2B5EF4-FFF2-40B4-BE49-F238E27FC236}">
                <a16:creationId xmlns:a16="http://schemas.microsoft.com/office/drawing/2014/main" id="{2BB2408C-9AE5-B402-BCD7-822ACA3A2156}"/>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617EC999-139C-0B3C-6DB2-AB41A9C16D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85989D88-0CCE-7525-73DD-D6BEE2E7A0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6EFD55F-54A9-4EBD-B640-BA0EA8349A3F}" type="slidenum">
              <a:rPr lang="en-CA" altLang="en-US" sz="1200">
                <a:latin typeface="Tahoma" panose="020B0604030504040204" pitchFamily="34" charset="0"/>
              </a:rPr>
              <a:pPr/>
              <a:t>11</a:t>
            </a:fld>
            <a:endParaRPr lang="en-CA" altLang="en-US" sz="1200">
              <a:latin typeface="Tahoma" panose="020B0604030504040204" pitchFamily="34" charset="0"/>
            </a:endParaRPr>
          </a:p>
        </p:txBody>
      </p:sp>
      <p:sp>
        <p:nvSpPr>
          <p:cNvPr id="54274" name="Rectangle 2">
            <a:extLst>
              <a:ext uri="{FF2B5EF4-FFF2-40B4-BE49-F238E27FC236}">
                <a16:creationId xmlns:a16="http://schemas.microsoft.com/office/drawing/2014/main" id="{94F6386B-5487-7D81-EE31-32F57A7BB54A}"/>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A47FE098-1B26-4F89-8E74-C542B9C3F8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A0CCBDC4-0A1E-B19A-02BF-9BF6B79F99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C7C7474-6294-4FBC-B78A-40D4D2F8AACE}" type="slidenum">
              <a:rPr lang="en-CA" altLang="en-US" sz="1200">
                <a:latin typeface="Tahoma" panose="020B0604030504040204" pitchFamily="34" charset="0"/>
              </a:rPr>
              <a:pPr/>
              <a:t>16</a:t>
            </a:fld>
            <a:endParaRPr lang="en-CA" altLang="en-US" sz="1200">
              <a:latin typeface="Tahoma" panose="020B0604030504040204" pitchFamily="34" charset="0"/>
            </a:endParaRPr>
          </a:p>
        </p:txBody>
      </p:sp>
      <p:sp>
        <p:nvSpPr>
          <p:cNvPr id="59394" name="Rectangle 2050">
            <a:extLst>
              <a:ext uri="{FF2B5EF4-FFF2-40B4-BE49-F238E27FC236}">
                <a16:creationId xmlns:a16="http://schemas.microsoft.com/office/drawing/2014/main" id="{FDFFCB20-D5D5-979B-9112-5B3FD184F347}"/>
              </a:ext>
            </a:extLst>
          </p:cNvPr>
          <p:cNvSpPr>
            <a:spLocks noGrp="1" noRot="1" noChangeAspect="1" noChangeArrowheads="1" noTextEdit="1"/>
          </p:cNvSpPr>
          <p:nvPr>
            <p:ph type="sldImg"/>
          </p:nvPr>
        </p:nvSpPr>
        <p:spPr>
          <a:ln/>
        </p:spPr>
      </p:sp>
      <p:sp>
        <p:nvSpPr>
          <p:cNvPr id="59395" name="Rectangle 2051">
            <a:extLst>
              <a:ext uri="{FF2B5EF4-FFF2-40B4-BE49-F238E27FC236}">
                <a16:creationId xmlns:a16="http://schemas.microsoft.com/office/drawing/2014/main" id="{99FD189C-988F-0625-02D8-615BF73C89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79FC614D-5108-9290-1FD0-DDE5B0FB30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CA11DBC-BEFF-4A6E-A505-06E16E8002F2}" type="slidenum">
              <a:rPr lang="en-CA" altLang="en-US" sz="1200">
                <a:latin typeface="Tahoma" panose="020B0604030504040204" pitchFamily="34" charset="0"/>
              </a:rPr>
              <a:pPr/>
              <a:t>17</a:t>
            </a:fld>
            <a:endParaRPr lang="en-CA" altLang="en-US" sz="1200">
              <a:latin typeface="Tahoma" panose="020B0604030504040204" pitchFamily="34" charset="0"/>
            </a:endParaRPr>
          </a:p>
        </p:txBody>
      </p:sp>
      <p:sp>
        <p:nvSpPr>
          <p:cNvPr id="61442" name="Rectangle 2">
            <a:extLst>
              <a:ext uri="{FF2B5EF4-FFF2-40B4-BE49-F238E27FC236}">
                <a16:creationId xmlns:a16="http://schemas.microsoft.com/office/drawing/2014/main" id="{3B2DC30B-2454-FD47-0807-9A87D10CC316}"/>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7B6F2E07-5771-0D62-4386-1CB9152A4F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165975E4-8CF2-8D60-8A6F-8E2824D39B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F6363A8-F970-4C33-920B-D89ED519DE0B}" type="slidenum">
              <a:rPr lang="en-CA" altLang="en-US" sz="1200">
                <a:latin typeface="Tahoma" panose="020B0604030504040204" pitchFamily="34" charset="0"/>
              </a:rPr>
              <a:pPr/>
              <a:t>18</a:t>
            </a:fld>
            <a:endParaRPr lang="en-CA" altLang="en-US" sz="1200">
              <a:latin typeface="Tahoma" panose="020B0604030504040204" pitchFamily="34" charset="0"/>
            </a:endParaRPr>
          </a:p>
        </p:txBody>
      </p:sp>
      <p:sp>
        <p:nvSpPr>
          <p:cNvPr id="63490" name="Rectangle 2">
            <a:extLst>
              <a:ext uri="{FF2B5EF4-FFF2-40B4-BE49-F238E27FC236}">
                <a16:creationId xmlns:a16="http://schemas.microsoft.com/office/drawing/2014/main" id="{DE7F6519-ED9F-166E-9DC3-CCAB519408EC}"/>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492F2F3B-EDF0-1BA9-C564-3C733A1EC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13CC0AC3-B1C3-38C8-F49B-D9DD3973BF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E33A2D2-E9B0-47F8-8121-B29956401C5D}" type="slidenum">
              <a:rPr lang="en-CA" altLang="en-US" sz="1200">
                <a:latin typeface="Tahoma" panose="020B0604030504040204" pitchFamily="34" charset="0"/>
              </a:rPr>
              <a:pPr/>
              <a:t>19</a:t>
            </a:fld>
            <a:endParaRPr lang="en-CA" altLang="en-US" sz="1200">
              <a:latin typeface="Tahoma" panose="020B0604030504040204" pitchFamily="34" charset="0"/>
            </a:endParaRPr>
          </a:p>
        </p:txBody>
      </p:sp>
      <p:sp>
        <p:nvSpPr>
          <p:cNvPr id="65538" name="Rectangle 2">
            <a:extLst>
              <a:ext uri="{FF2B5EF4-FFF2-40B4-BE49-F238E27FC236}">
                <a16:creationId xmlns:a16="http://schemas.microsoft.com/office/drawing/2014/main" id="{DD52975C-8A2E-568F-B91D-5143231CF0BC}"/>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AE1E26B2-0FD7-C95F-F722-A8B9164C43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9C6810E-E95F-8CC0-4207-D1AABCA22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5AEED29-CA80-4AFB-A5DE-E2A0388FF112}" type="slidenum">
              <a:rPr lang="en-CA" altLang="en-US" sz="1200">
                <a:latin typeface="Tahoma" panose="020B0604030504040204" pitchFamily="34" charset="0"/>
              </a:rPr>
              <a:pPr/>
              <a:t>20</a:t>
            </a:fld>
            <a:endParaRPr lang="en-CA" altLang="en-US" sz="1200">
              <a:latin typeface="Tahoma" panose="020B0604030504040204" pitchFamily="34" charset="0"/>
            </a:endParaRPr>
          </a:p>
        </p:txBody>
      </p:sp>
      <p:sp>
        <p:nvSpPr>
          <p:cNvPr id="67586" name="Rectangle 2">
            <a:extLst>
              <a:ext uri="{FF2B5EF4-FFF2-40B4-BE49-F238E27FC236}">
                <a16:creationId xmlns:a16="http://schemas.microsoft.com/office/drawing/2014/main" id="{870B40DF-35ED-0B08-BCA5-9E86BC861D28}"/>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9A538B3E-A4B4-F4B3-B577-DE33885930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362BE7C7-113D-CC86-25B6-3A2B4D0467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9740CC5-63A8-45BF-88AC-EAFBF1A07BCA}" type="slidenum">
              <a:rPr lang="en-CA" altLang="en-US" sz="1200">
                <a:latin typeface="Tahoma" panose="020B0604030504040204" pitchFamily="34" charset="0"/>
              </a:rPr>
              <a:pPr/>
              <a:t>21</a:t>
            </a:fld>
            <a:endParaRPr lang="en-CA" altLang="en-US" sz="1200">
              <a:latin typeface="Tahoma" panose="020B0604030504040204" pitchFamily="34" charset="0"/>
            </a:endParaRPr>
          </a:p>
        </p:txBody>
      </p:sp>
      <p:sp>
        <p:nvSpPr>
          <p:cNvPr id="69634" name="Rectangle 2">
            <a:extLst>
              <a:ext uri="{FF2B5EF4-FFF2-40B4-BE49-F238E27FC236}">
                <a16:creationId xmlns:a16="http://schemas.microsoft.com/office/drawing/2014/main" id="{68943F2E-CCC4-E427-40B4-480DB837C0BE}"/>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8DE4A32C-549A-82E0-8E85-C7E2DFA1F5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328A5E8D-2276-48EA-7A37-FBD26E27E3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00452D3-BACD-4F22-A6C6-0A447F377A95}" type="slidenum">
              <a:rPr lang="en-CA" altLang="en-US" sz="1200">
                <a:latin typeface="Tahoma" panose="020B0604030504040204" pitchFamily="34" charset="0"/>
              </a:rPr>
              <a:pPr/>
              <a:t>22</a:t>
            </a:fld>
            <a:endParaRPr lang="en-CA" altLang="en-US" sz="1200">
              <a:latin typeface="Tahoma" panose="020B0604030504040204" pitchFamily="34" charset="0"/>
            </a:endParaRPr>
          </a:p>
        </p:txBody>
      </p:sp>
      <p:sp>
        <p:nvSpPr>
          <p:cNvPr id="71682" name="Rectangle 2">
            <a:extLst>
              <a:ext uri="{FF2B5EF4-FFF2-40B4-BE49-F238E27FC236}">
                <a16:creationId xmlns:a16="http://schemas.microsoft.com/office/drawing/2014/main" id="{2B2B29EA-0C9D-EC2A-85C7-219D2EFD18D0}"/>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60BC1337-B1AB-096D-B023-46D26C5CB6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10A017E5-7CC3-2730-8BEE-A105E0A744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29456D2-7E00-4D24-BEDA-E27F6F09814A}" type="slidenum">
              <a:rPr lang="en-CA" altLang="en-US" sz="1200">
                <a:latin typeface="Tahoma" panose="020B0604030504040204" pitchFamily="34" charset="0"/>
              </a:rPr>
              <a:pPr/>
              <a:t>23</a:t>
            </a:fld>
            <a:endParaRPr lang="en-CA" altLang="en-US" sz="1200">
              <a:latin typeface="Tahoma" panose="020B0604030504040204" pitchFamily="34" charset="0"/>
            </a:endParaRPr>
          </a:p>
        </p:txBody>
      </p:sp>
      <p:sp>
        <p:nvSpPr>
          <p:cNvPr id="73730" name="Rectangle 2">
            <a:extLst>
              <a:ext uri="{FF2B5EF4-FFF2-40B4-BE49-F238E27FC236}">
                <a16:creationId xmlns:a16="http://schemas.microsoft.com/office/drawing/2014/main" id="{398905E2-98E8-842F-9226-BD89A0C5B2C9}"/>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F48765BD-F6B9-EB89-B398-7AE2888DC2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5204973F-D46F-307E-B48A-8DFE8400C2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6EEE9A1-3A9A-499D-B28E-6E71C390FAF7}" type="slidenum">
              <a:rPr lang="en-CA" altLang="en-US" sz="1200">
                <a:latin typeface="Tahoma" panose="020B0604030504040204" pitchFamily="34" charset="0"/>
              </a:rPr>
              <a:pPr/>
              <a:t>24</a:t>
            </a:fld>
            <a:endParaRPr lang="en-CA" altLang="en-US" sz="1200">
              <a:latin typeface="Tahoma" panose="020B0604030504040204" pitchFamily="34" charset="0"/>
            </a:endParaRPr>
          </a:p>
        </p:txBody>
      </p:sp>
      <p:sp>
        <p:nvSpPr>
          <p:cNvPr id="75778" name="Rectangle 2">
            <a:extLst>
              <a:ext uri="{FF2B5EF4-FFF2-40B4-BE49-F238E27FC236}">
                <a16:creationId xmlns:a16="http://schemas.microsoft.com/office/drawing/2014/main" id="{6CD2E874-9CBC-454E-6040-BE9F7FA4C310}"/>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9BC4B001-C2AD-A15D-D3FE-A34623C6E4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12CF28F3-2F20-0048-E2B0-1868468992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0AE4A6C-5B08-48B9-9ED3-38DE5FC2BFCB}" type="slidenum">
              <a:rPr lang="en-CA" altLang="en-US" sz="1200">
                <a:latin typeface="Tahoma" panose="020B0604030504040204" pitchFamily="34" charset="0"/>
              </a:rPr>
              <a:pPr/>
              <a:t>25</a:t>
            </a:fld>
            <a:endParaRPr lang="en-CA" altLang="en-US" sz="1200">
              <a:latin typeface="Tahoma" panose="020B0604030504040204" pitchFamily="34" charset="0"/>
            </a:endParaRPr>
          </a:p>
        </p:txBody>
      </p:sp>
      <p:sp>
        <p:nvSpPr>
          <p:cNvPr id="77826" name="Rectangle 2">
            <a:extLst>
              <a:ext uri="{FF2B5EF4-FFF2-40B4-BE49-F238E27FC236}">
                <a16:creationId xmlns:a16="http://schemas.microsoft.com/office/drawing/2014/main" id="{4B19DA4A-5B32-3A49-F049-CF917BCEB5B7}"/>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6269085E-3999-C946-8731-ACF4C0CF86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69F1A21-FCAB-CB21-EAD4-9816447F6E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AB8091D-E83C-4447-8112-3B3249AE43BC}" type="slidenum">
              <a:rPr lang="en-CA" altLang="en-US" sz="1200">
                <a:latin typeface="Tahoma" panose="020B0604030504040204" pitchFamily="34" charset="0"/>
              </a:rPr>
              <a:pPr/>
              <a:t>26</a:t>
            </a:fld>
            <a:endParaRPr lang="en-CA" altLang="en-US" sz="1200">
              <a:latin typeface="Tahoma" panose="020B0604030504040204" pitchFamily="34" charset="0"/>
            </a:endParaRPr>
          </a:p>
        </p:txBody>
      </p:sp>
      <p:sp>
        <p:nvSpPr>
          <p:cNvPr id="79874" name="Rectangle 1026">
            <a:extLst>
              <a:ext uri="{FF2B5EF4-FFF2-40B4-BE49-F238E27FC236}">
                <a16:creationId xmlns:a16="http://schemas.microsoft.com/office/drawing/2014/main" id="{A0E1D141-F968-B546-8419-908814359718}"/>
              </a:ext>
            </a:extLst>
          </p:cNvPr>
          <p:cNvSpPr>
            <a:spLocks noGrp="1" noRot="1" noChangeAspect="1" noChangeArrowheads="1" noTextEdit="1"/>
          </p:cNvSpPr>
          <p:nvPr>
            <p:ph type="sldImg"/>
          </p:nvPr>
        </p:nvSpPr>
        <p:spPr>
          <a:ln/>
        </p:spPr>
      </p:sp>
      <p:sp>
        <p:nvSpPr>
          <p:cNvPr id="79875" name="Rectangle 1027">
            <a:extLst>
              <a:ext uri="{FF2B5EF4-FFF2-40B4-BE49-F238E27FC236}">
                <a16:creationId xmlns:a16="http://schemas.microsoft.com/office/drawing/2014/main" id="{C97A829C-4FEA-45C4-F13A-49380743E6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183EBE6-2AD3-C64A-BFD7-B0651B593A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BD74233-BA5A-440B-8AD9-EE4B95B25BFB}" type="slidenum">
              <a:rPr lang="en-CA" altLang="en-US" sz="1200">
                <a:latin typeface="Tahoma" panose="020B0604030504040204" pitchFamily="34" charset="0"/>
              </a:rPr>
              <a:pPr/>
              <a:t>27</a:t>
            </a:fld>
            <a:endParaRPr lang="en-CA" altLang="en-US" sz="1200">
              <a:latin typeface="Tahoma" panose="020B0604030504040204" pitchFamily="34" charset="0"/>
            </a:endParaRPr>
          </a:p>
        </p:txBody>
      </p:sp>
      <p:sp>
        <p:nvSpPr>
          <p:cNvPr id="81922" name="Rectangle 2">
            <a:extLst>
              <a:ext uri="{FF2B5EF4-FFF2-40B4-BE49-F238E27FC236}">
                <a16:creationId xmlns:a16="http://schemas.microsoft.com/office/drawing/2014/main" id="{BAE21E01-3B05-B18F-8310-625AC3426676}"/>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838B63C1-9C01-A196-42AF-91ED9D71AA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463964EF-2C80-C55C-8594-CBEEB08181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3C447A1-1700-49EA-93E2-D2923A059140}" type="slidenum">
              <a:rPr lang="en-CA" altLang="en-US" sz="1200">
                <a:latin typeface="Tahoma" panose="020B0604030504040204" pitchFamily="34" charset="0"/>
              </a:rPr>
              <a:pPr/>
              <a:t>28</a:t>
            </a:fld>
            <a:endParaRPr lang="en-CA" altLang="en-US" sz="1200">
              <a:latin typeface="Tahoma" panose="020B0604030504040204" pitchFamily="34" charset="0"/>
            </a:endParaRPr>
          </a:p>
        </p:txBody>
      </p:sp>
      <p:sp>
        <p:nvSpPr>
          <p:cNvPr id="83970" name="Rectangle 2">
            <a:extLst>
              <a:ext uri="{FF2B5EF4-FFF2-40B4-BE49-F238E27FC236}">
                <a16:creationId xmlns:a16="http://schemas.microsoft.com/office/drawing/2014/main" id="{803D16F4-6268-C587-5631-2621F8CC6E44}"/>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61C43338-B79C-25D0-F008-66927DC2AB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29315745-284F-AF5A-FDC4-237D8E7EB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9751499-AA16-4E54-9433-6D0BCAADF7FF}" type="slidenum">
              <a:rPr lang="en-CA" altLang="en-US" sz="1200">
                <a:latin typeface="Tahoma" panose="020B0604030504040204" pitchFamily="34" charset="0"/>
              </a:rPr>
              <a:pPr/>
              <a:t>29</a:t>
            </a:fld>
            <a:endParaRPr lang="en-CA" altLang="en-US" sz="1200">
              <a:latin typeface="Tahoma" panose="020B0604030504040204" pitchFamily="34" charset="0"/>
            </a:endParaRPr>
          </a:p>
        </p:txBody>
      </p:sp>
      <p:sp>
        <p:nvSpPr>
          <p:cNvPr id="86018" name="Rectangle 2">
            <a:extLst>
              <a:ext uri="{FF2B5EF4-FFF2-40B4-BE49-F238E27FC236}">
                <a16:creationId xmlns:a16="http://schemas.microsoft.com/office/drawing/2014/main" id="{FED83312-6663-5951-8836-E770A5B64875}"/>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CF767B38-AE98-7ABA-20B6-0C47BC4532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608BDD5D-38CE-48D9-F251-14FC0A665B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FFC78FD-0736-4E50-82E6-964E9C62E357}" type="slidenum">
              <a:rPr lang="en-CA" altLang="en-US" sz="1200">
                <a:latin typeface="Tahoma" panose="020B0604030504040204" pitchFamily="34" charset="0"/>
              </a:rPr>
              <a:pPr/>
              <a:t>30</a:t>
            </a:fld>
            <a:endParaRPr lang="en-CA" altLang="en-US" sz="1200">
              <a:latin typeface="Tahoma" panose="020B0604030504040204" pitchFamily="34" charset="0"/>
            </a:endParaRPr>
          </a:p>
        </p:txBody>
      </p:sp>
      <p:sp>
        <p:nvSpPr>
          <p:cNvPr id="88066" name="Rectangle 2">
            <a:extLst>
              <a:ext uri="{FF2B5EF4-FFF2-40B4-BE49-F238E27FC236}">
                <a16:creationId xmlns:a16="http://schemas.microsoft.com/office/drawing/2014/main" id="{BD42B77B-5F99-29ED-FA1B-F5C46AF78B8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6B04BEFC-CF99-1AF5-7F57-8E307F4F26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01FDB149-9D35-8014-B5C1-EC917C02CE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83407AE-8D81-4991-9F97-36A91FDB8ACB}" type="slidenum">
              <a:rPr lang="en-CA" altLang="en-US" sz="1200">
                <a:latin typeface="Tahoma" panose="020B0604030504040204" pitchFamily="34" charset="0"/>
              </a:rPr>
              <a:pPr/>
              <a:t>31</a:t>
            </a:fld>
            <a:endParaRPr lang="en-CA" altLang="en-US" sz="1200">
              <a:latin typeface="Tahoma" panose="020B0604030504040204" pitchFamily="34" charset="0"/>
            </a:endParaRPr>
          </a:p>
        </p:txBody>
      </p:sp>
      <p:sp>
        <p:nvSpPr>
          <p:cNvPr id="90114" name="Rectangle 2">
            <a:extLst>
              <a:ext uri="{FF2B5EF4-FFF2-40B4-BE49-F238E27FC236}">
                <a16:creationId xmlns:a16="http://schemas.microsoft.com/office/drawing/2014/main" id="{6E38106D-77FD-AE61-C31F-82FD3646609E}"/>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206857DA-A2A5-427C-F479-0637455E3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1C28AAE7-3AA0-6A91-6700-2B67072560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5A05099-7F66-444D-B313-16F04E7DFE9D}" type="slidenum">
              <a:rPr lang="en-CA" altLang="en-US" sz="1200">
                <a:latin typeface="Tahoma" panose="020B0604030504040204" pitchFamily="34" charset="0"/>
              </a:rPr>
              <a:pPr/>
              <a:t>38</a:t>
            </a:fld>
            <a:endParaRPr lang="en-CA" altLang="en-US" sz="1200">
              <a:latin typeface="Tahoma" panose="020B0604030504040204" pitchFamily="34" charset="0"/>
            </a:endParaRPr>
          </a:p>
        </p:txBody>
      </p:sp>
      <p:sp>
        <p:nvSpPr>
          <p:cNvPr id="97282" name="Rectangle 2">
            <a:extLst>
              <a:ext uri="{FF2B5EF4-FFF2-40B4-BE49-F238E27FC236}">
                <a16:creationId xmlns:a16="http://schemas.microsoft.com/office/drawing/2014/main" id="{5C47D792-09C1-B284-6CDF-DE891E80D393}"/>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0219D897-A7BE-64EE-702F-74F95FBF32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90D54C69-47F0-3D9E-1147-D0EB374DF7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4031F07-7709-4B02-BE8D-B330741AF2A1}" type="slidenum">
              <a:rPr lang="en-CA" altLang="en-US" sz="1200">
                <a:latin typeface="Tahoma" panose="020B0604030504040204" pitchFamily="34" charset="0"/>
              </a:rPr>
              <a:pPr/>
              <a:t>46</a:t>
            </a:fld>
            <a:endParaRPr lang="en-CA" altLang="en-US" sz="1200">
              <a:latin typeface="Tahoma" panose="020B0604030504040204" pitchFamily="34" charset="0"/>
            </a:endParaRPr>
          </a:p>
        </p:txBody>
      </p:sp>
      <p:sp>
        <p:nvSpPr>
          <p:cNvPr id="106498" name="Rectangle 1026">
            <a:extLst>
              <a:ext uri="{FF2B5EF4-FFF2-40B4-BE49-F238E27FC236}">
                <a16:creationId xmlns:a16="http://schemas.microsoft.com/office/drawing/2014/main" id="{D1B321D2-FCDC-AA1A-170B-D66CB59BB16D}"/>
              </a:ext>
            </a:extLst>
          </p:cNvPr>
          <p:cNvSpPr>
            <a:spLocks noGrp="1" noRot="1" noChangeAspect="1" noChangeArrowheads="1" noTextEdit="1"/>
          </p:cNvSpPr>
          <p:nvPr>
            <p:ph type="sldImg"/>
          </p:nvPr>
        </p:nvSpPr>
        <p:spPr>
          <a:ln/>
        </p:spPr>
      </p:sp>
      <p:sp>
        <p:nvSpPr>
          <p:cNvPr id="106499" name="Rectangle 1027">
            <a:extLst>
              <a:ext uri="{FF2B5EF4-FFF2-40B4-BE49-F238E27FC236}">
                <a16:creationId xmlns:a16="http://schemas.microsoft.com/office/drawing/2014/main" id="{D3970049-553E-8A8A-B7FC-410EE9E7ED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013278C4-AACC-9D3C-6683-BCB281A458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60DC3F8-5FDB-4AE0-9C71-874CFA34C2E2}" type="slidenum">
              <a:rPr lang="en-CA" altLang="en-US" sz="1200">
                <a:latin typeface="Tahoma" panose="020B0604030504040204" pitchFamily="34" charset="0"/>
              </a:rPr>
              <a:pPr/>
              <a:t>47</a:t>
            </a:fld>
            <a:endParaRPr lang="en-CA" altLang="en-US" sz="1200">
              <a:latin typeface="Tahoma" panose="020B0604030504040204" pitchFamily="34" charset="0"/>
            </a:endParaRPr>
          </a:p>
        </p:txBody>
      </p:sp>
      <p:sp>
        <p:nvSpPr>
          <p:cNvPr id="108546" name="Rectangle 1026">
            <a:extLst>
              <a:ext uri="{FF2B5EF4-FFF2-40B4-BE49-F238E27FC236}">
                <a16:creationId xmlns:a16="http://schemas.microsoft.com/office/drawing/2014/main" id="{23AA2460-EB39-2089-3F21-C6E47C082F0A}"/>
              </a:ext>
            </a:extLst>
          </p:cNvPr>
          <p:cNvSpPr>
            <a:spLocks noGrp="1" noRot="1" noChangeAspect="1" noChangeArrowheads="1" noTextEdit="1"/>
          </p:cNvSpPr>
          <p:nvPr>
            <p:ph type="sldImg"/>
          </p:nvPr>
        </p:nvSpPr>
        <p:spPr>
          <a:ln/>
        </p:spPr>
      </p:sp>
      <p:sp>
        <p:nvSpPr>
          <p:cNvPr id="108547" name="Rectangle 1027">
            <a:extLst>
              <a:ext uri="{FF2B5EF4-FFF2-40B4-BE49-F238E27FC236}">
                <a16:creationId xmlns:a16="http://schemas.microsoft.com/office/drawing/2014/main" id="{5354AEC9-CECA-9FB7-9F6A-911CEACA81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C244F772-CC3C-29E5-F904-44C2D39576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8E6B3DF-669A-4CA3-8782-9D0559B5083D}" type="slidenum">
              <a:rPr lang="en-CA" altLang="en-US" sz="1200">
                <a:latin typeface="Tahoma" panose="020B0604030504040204" pitchFamily="34" charset="0"/>
              </a:rPr>
              <a:pPr/>
              <a:t>48</a:t>
            </a:fld>
            <a:endParaRPr lang="en-CA" altLang="en-US" sz="1200">
              <a:latin typeface="Tahoma" panose="020B0604030504040204" pitchFamily="34" charset="0"/>
            </a:endParaRPr>
          </a:p>
        </p:txBody>
      </p:sp>
      <p:sp>
        <p:nvSpPr>
          <p:cNvPr id="110594" name="Rectangle 1026">
            <a:extLst>
              <a:ext uri="{FF2B5EF4-FFF2-40B4-BE49-F238E27FC236}">
                <a16:creationId xmlns:a16="http://schemas.microsoft.com/office/drawing/2014/main" id="{ED8A36F7-6906-27E9-EBFB-EE34FB625CC0}"/>
              </a:ext>
            </a:extLst>
          </p:cNvPr>
          <p:cNvSpPr>
            <a:spLocks noGrp="1" noRot="1" noChangeAspect="1" noChangeArrowheads="1" noTextEdit="1"/>
          </p:cNvSpPr>
          <p:nvPr>
            <p:ph type="sldImg"/>
          </p:nvPr>
        </p:nvSpPr>
        <p:spPr>
          <a:ln/>
        </p:spPr>
      </p:sp>
      <p:sp>
        <p:nvSpPr>
          <p:cNvPr id="110595" name="Rectangle 1027">
            <a:extLst>
              <a:ext uri="{FF2B5EF4-FFF2-40B4-BE49-F238E27FC236}">
                <a16:creationId xmlns:a16="http://schemas.microsoft.com/office/drawing/2014/main" id="{AF4080DE-7B72-01BC-479F-7B1614DCE0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a:extLst>
              <a:ext uri="{FF2B5EF4-FFF2-40B4-BE49-F238E27FC236}">
                <a16:creationId xmlns:a16="http://schemas.microsoft.com/office/drawing/2014/main" id="{3BA97D57-EE2C-0DDE-4ED8-A0B83125CE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327CEBF-4404-43DD-BC02-0B89F666C9DF}" type="slidenum">
              <a:rPr lang="en-CA" altLang="en-US" sz="1200">
                <a:latin typeface="Tahoma" panose="020B0604030504040204" pitchFamily="34" charset="0"/>
              </a:rPr>
              <a:pPr/>
              <a:t>49</a:t>
            </a:fld>
            <a:endParaRPr lang="en-CA" altLang="en-US" sz="1200">
              <a:latin typeface="Tahoma" panose="020B0604030504040204" pitchFamily="34" charset="0"/>
            </a:endParaRPr>
          </a:p>
        </p:txBody>
      </p:sp>
      <p:sp>
        <p:nvSpPr>
          <p:cNvPr id="112642" name="Rectangle 1026">
            <a:extLst>
              <a:ext uri="{FF2B5EF4-FFF2-40B4-BE49-F238E27FC236}">
                <a16:creationId xmlns:a16="http://schemas.microsoft.com/office/drawing/2014/main" id="{0A1D7416-507C-AB09-D7D7-15C47DE4E6D4}"/>
              </a:ext>
            </a:extLst>
          </p:cNvPr>
          <p:cNvSpPr>
            <a:spLocks noGrp="1" noRot="1" noChangeAspect="1" noChangeArrowheads="1" noTextEdit="1"/>
          </p:cNvSpPr>
          <p:nvPr>
            <p:ph type="sldImg"/>
          </p:nvPr>
        </p:nvSpPr>
        <p:spPr>
          <a:ln/>
        </p:spPr>
      </p:sp>
      <p:sp>
        <p:nvSpPr>
          <p:cNvPr id="112643" name="Rectangle 1027">
            <a:extLst>
              <a:ext uri="{FF2B5EF4-FFF2-40B4-BE49-F238E27FC236}">
                <a16:creationId xmlns:a16="http://schemas.microsoft.com/office/drawing/2014/main" id="{B3EC5636-AB03-7227-7768-08E9D406A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3E80CDB-EE93-935A-3498-F2A690A1D321}"/>
              </a:ext>
            </a:extLst>
          </p:cNvPr>
          <p:cNvSpPr>
            <a:spLocks noGrp="1" noRot="1" noChangeAspect="1"/>
          </p:cNvSpPr>
          <p:nvPr>
            <p:ph type="sldImg"/>
          </p:nvPr>
        </p:nvSpPr>
        <p:spPr>
          <a:ln/>
        </p:spPr>
      </p:sp>
      <p:sp>
        <p:nvSpPr>
          <p:cNvPr id="18434" name="Notes Placeholder 2">
            <a:extLst>
              <a:ext uri="{FF2B5EF4-FFF2-40B4-BE49-F238E27FC236}">
                <a16:creationId xmlns:a16="http://schemas.microsoft.com/office/drawing/2014/main" id="{7B2BD581-3414-13F0-3C52-591769B79A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5" name="Slide Number Placeholder 3">
            <a:extLst>
              <a:ext uri="{FF2B5EF4-FFF2-40B4-BE49-F238E27FC236}">
                <a16:creationId xmlns:a16="http://schemas.microsoft.com/office/drawing/2014/main" id="{BEA1345D-50AD-ABEF-90EA-7EC828F08B3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0606669-3411-4320-8D63-D25FFD742150}" type="slidenum">
              <a:rPr lang="en-CA" altLang="en-US" sz="1200">
                <a:latin typeface="Tahoma" panose="020B0604030504040204" pitchFamily="34" charset="0"/>
              </a:rPr>
              <a:pPr/>
              <a:t>52</a:t>
            </a:fld>
            <a:endParaRPr lang="en-CA" altLang="en-US" sz="1200">
              <a:latin typeface="Tahoma" panose="020B060403050404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39CD05F0-D676-89E8-81E9-D05873611F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7AAF0DE-F97B-4C08-81E3-20084F0D19AE}" type="slidenum">
              <a:rPr lang="en-CA" altLang="en-US" sz="1200">
                <a:latin typeface="Tahoma" panose="020B0604030504040204" pitchFamily="34" charset="0"/>
              </a:rPr>
              <a:pPr/>
              <a:t>53</a:t>
            </a:fld>
            <a:endParaRPr lang="en-CA" altLang="en-US" sz="1200">
              <a:latin typeface="Tahoma" panose="020B0604030504040204" pitchFamily="34" charset="0"/>
            </a:endParaRPr>
          </a:p>
        </p:txBody>
      </p:sp>
      <p:sp>
        <p:nvSpPr>
          <p:cNvPr id="20482" name="Rectangle 2">
            <a:extLst>
              <a:ext uri="{FF2B5EF4-FFF2-40B4-BE49-F238E27FC236}">
                <a16:creationId xmlns:a16="http://schemas.microsoft.com/office/drawing/2014/main" id="{BF4D0B95-0280-E2BD-4567-E0F42C83D9CA}"/>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7B655A38-3E1B-E2F2-8666-7FFB35A7C8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5916EB8-B64C-E4F3-4F11-32BE355DB0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77C8E1E-DCD9-4554-BD5E-5C2EEE631193}" type="slidenum">
              <a:rPr lang="en-CA" altLang="en-US" sz="1200">
                <a:latin typeface="Tahoma" panose="020B0604030504040204" pitchFamily="34" charset="0"/>
              </a:rPr>
              <a:pPr/>
              <a:t>54</a:t>
            </a:fld>
            <a:endParaRPr lang="en-CA" altLang="en-US" sz="1200">
              <a:latin typeface="Tahoma" panose="020B0604030504040204" pitchFamily="34" charset="0"/>
            </a:endParaRPr>
          </a:p>
        </p:txBody>
      </p:sp>
      <p:sp>
        <p:nvSpPr>
          <p:cNvPr id="22530" name="Rectangle 1026">
            <a:extLst>
              <a:ext uri="{FF2B5EF4-FFF2-40B4-BE49-F238E27FC236}">
                <a16:creationId xmlns:a16="http://schemas.microsoft.com/office/drawing/2014/main" id="{8DD83839-E3A7-37B8-4040-7C07A7CD51EF}"/>
              </a:ext>
            </a:extLst>
          </p:cNvPr>
          <p:cNvSpPr>
            <a:spLocks noGrp="1" noRot="1" noChangeAspect="1" noChangeArrowheads="1" noTextEdit="1"/>
          </p:cNvSpPr>
          <p:nvPr>
            <p:ph type="sldImg"/>
          </p:nvPr>
        </p:nvSpPr>
        <p:spPr>
          <a:ln/>
        </p:spPr>
      </p:sp>
      <p:sp>
        <p:nvSpPr>
          <p:cNvPr id="22531" name="Rectangle 1027">
            <a:extLst>
              <a:ext uri="{FF2B5EF4-FFF2-40B4-BE49-F238E27FC236}">
                <a16:creationId xmlns:a16="http://schemas.microsoft.com/office/drawing/2014/main" id="{85716A5B-1DAF-7514-270E-6456587B40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8008B5A-AC9E-6572-DE8E-882166F386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9A0E52D-5279-48D6-A2EC-5349BF825124}" type="slidenum">
              <a:rPr lang="en-CA" altLang="en-US" sz="1200">
                <a:latin typeface="Tahoma" panose="020B0604030504040204" pitchFamily="34" charset="0"/>
              </a:rPr>
              <a:pPr/>
              <a:t>55</a:t>
            </a:fld>
            <a:endParaRPr lang="en-CA" altLang="en-US" sz="1200">
              <a:latin typeface="Tahoma" panose="020B0604030504040204" pitchFamily="34" charset="0"/>
            </a:endParaRPr>
          </a:p>
        </p:txBody>
      </p:sp>
      <p:sp>
        <p:nvSpPr>
          <p:cNvPr id="24578" name="Rectangle 2">
            <a:extLst>
              <a:ext uri="{FF2B5EF4-FFF2-40B4-BE49-F238E27FC236}">
                <a16:creationId xmlns:a16="http://schemas.microsoft.com/office/drawing/2014/main" id="{D8A9FDC2-46B6-5B6B-9406-32EFFBC928B3}"/>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8E70504C-72E5-90C6-21C2-B57AD24B28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F0F896A0-BED9-A496-0DE7-97E5515E7B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63B3F98-2203-4CE8-8B30-3E12A34F197D}" type="slidenum">
              <a:rPr lang="en-CA" altLang="en-US" sz="1200">
                <a:latin typeface="Tahoma" panose="020B0604030504040204" pitchFamily="34" charset="0"/>
              </a:rPr>
              <a:pPr/>
              <a:t>56</a:t>
            </a:fld>
            <a:endParaRPr lang="en-CA" altLang="en-US" sz="1200">
              <a:latin typeface="Tahoma" panose="020B0604030504040204" pitchFamily="34" charset="0"/>
            </a:endParaRPr>
          </a:p>
        </p:txBody>
      </p:sp>
      <p:sp>
        <p:nvSpPr>
          <p:cNvPr id="26626" name="Rectangle 1026">
            <a:extLst>
              <a:ext uri="{FF2B5EF4-FFF2-40B4-BE49-F238E27FC236}">
                <a16:creationId xmlns:a16="http://schemas.microsoft.com/office/drawing/2014/main" id="{7015883F-5C01-1A18-C517-BCD094DF617A}"/>
              </a:ext>
            </a:extLst>
          </p:cNvPr>
          <p:cNvSpPr>
            <a:spLocks noGrp="1" noRot="1" noChangeAspect="1" noChangeArrowheads="1" noTextEdit="1"/>
          </p:cNvSpPr>
          <p:nvPr>
            <p:ph type="sldImg"/>
          </p:nvPr>
        </p:nvSpPr>
        <p:spPr>
          <a:ln/>
        </p:spPr>
      </p:sp>
      <p:sp>
        <p:nvSpPr>
          <p:cNvPr id="26627" name="Rectangle 1027">
            <a:extLst>
              <a:ext uri="{FF2B5EF4-FFF2-40B4-BE49-F238E27FC236}">
                <a16:creationId xmlns:a16="http://schemas.microsoft.com/office/drawing/2014/main" id="{F4BF2C96-BB76-5D34-B8EB-9C2A3E4900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790C2FE-255E-45CF-9484-037B16531F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5F5743B-2AA7-4222-8C79-8C4425906CB8}" type="slidenum">
              <a:rPr lang="en-CA" altLang="en-US" sz="1200">
                <a:latin typeface="Tahoma" panose="020B0604030504040204" pitchFamily="34" charset="0"/>
              </a:rPr>
              <a:pPr/>
              <a:t>57</a:t>
            </a:fld>
            <a:endParaRPr lang="en-CA" altLang="en-US" sz="1200">
              <a:latin typeface="Tahoma" panose="020B0604030504040204" pitchFamily="34" charset="0"/>
            </a:endParaRPr>
          </a:p>
        </p:txBody>
      </p:sp>
      <p:sp>
        <p:nvSpPr>
          <p:cNvPr id="28674" name="Rectangle 2">
            <a:extLst>
              <a:ext uri="{FF2B5EF4-FFF2-40B4-BE49-F238E27FC236}">
                <a16:creationId xmlns:a16="http://schemas.microsoft.com/office/drawing/2014/main" id="{2FDAD346-25BE-B155-7816-45CFA5CA3844}"/>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B3D0697-EA2B-44E5-F22B-8EAEF2B240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91AAB58E-F353-E5DF-7D39-97234DEB51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D053263-AF25-4AF1-95A5-F698D34E352A}" type="slidenum">
              <a:rPr lang="en-CA" altLang="en-US" sz="1200">
                <a:latin typeface="Tahoma" panose="020B0604030504040204" pitchFamily="34" charset="0"/>
              </a:rPr>
              <a:pPr/>
              <a:t>58</a:t>
            </a:fld>
            <a:endParaRPr lang="en-CA" altLang="en-US" sz="1200">
              <a:latin typeface="Tahoma" panose="020B0604030504040204" pitchFamily="34" charset="0"/>
            </a:endParaRPr>
          </a:p>
        </p:txBody>
      </p:sp>
      <p:sp>
        <p:nvSpPr>
          <p:cNvPr id="30722" name="Rectangle 1026">
            <a:extLst>
              <a:ext uri="{FF2B5EF4-FFF2-40B4-BE49-F238E27FC236}">
                <a16:creationId xmlns:a16="http://schemas.microsoft.com/office/drawing/2014/main" id="{FA057D30-5A34-7D4E-B418-30DED310D6C6}"/>
              </a:ext>
            </a:extLst>
          </p:cNvPr>
          <p:cNvSpPr>
            <a:spLocks noGrp="1" noRot="1" noChangeAspect="1" noChangeArrowheads="1" noTextEdit="1"/>
          </p:cNvSpPr>
          <p:nvPr>
            <p:ph type="sldImg"/>
          </p:nvPr>
        </p:nvSpPr>
        <p:spPr>
          <a:ln/>
        </p:spPr>
      </p:sp>
      <p:sp>
        <p:nvSpPr>
          <p:cNvPr id="30723" name="Rectangle 1027">
            <a:extLst>
              <a:ext uri="{FF2B5EF4-FFF2-40B4-BE49-F238E27FC236}">
                <a16:creationId xmlns:a16="http://schemas.microsoft.com/office/drawing/2014/main" id="{9022A203-5FCC-62B6-F705-B3A8052777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32ADC218-8459-EF25-A333-6711E73FA5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7CD8896-D909-4071-AC4A-CA1140CAEFC7}" type="slidenum">
              <a:rPr lang="en-CA" altLang="en-US" sz="1200">
                <a:latin typeface="Tahoma" panose="020B0604030504040204" pitchFamily="34" charset="0"/>
              </a:rPr>
              <a:pPr/>
              <a:t>59</a:t>
            </a:fld>
            <a:endParaRPr lang="en-CA" altLang="en-US" sz="1200">
              <a:latin typeface="Tahoma" panose="020B0604030504040204" pitchFamily="34" charset="0"/>
            </a:endParaRPr>
          </a:p>
        </p:txBody>
      </p:sp>
      <p:sp>
        <p:nvSpPr>
          <p:cNvPr id="32770" name="Rectangle 2">
            <a:extLst>
              <a:ext uri="{FF2B5EF4-FFF2-40B4-BE49-F238E27FC236}">
                <a16:creationId xmlns:a16="http://schemas.microsoft.com/office/drawing/2014/main" id="{4F2C3207-8F90-0603-146C-4FBE05B9DD57}"/>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78C5E0E4-DE56-9F69-FE6A-7F6F10CC0A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DA5F8297-1BF4-E8AB-954D-23D9534F3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E9A4D6C-AA8C-4F0A-8811-06DAB7014CA5}" type="slidenum">
              <a:rPr lang="en-CA" altLang="en-US" sz="1200">
                <a:latin typeface="Tahoma" panose="020B0604030504040204" pitchFamily="34" charset="0"/>
              </a:rPr>
              <a:pPr/>
              <a:t>60</a:t>
            </a:fld>
            <a:endParaRPr lang="en-CA" altLang="en-US" sz="1200">
              <a:latin typeface="Tahoma" panose="020B0604030504040204" pitchFamily="34" charset="0"/>
            </a:endParaRPr>
          </a:p>
        </p:txBody>
      </p:sp>
      <p:sp>
        <p:nvSpPr>
          <p:cNvPr id="34818" name="Rectangle 1026">
            <a:extLst>
              <a:ext uri="{FF2B5EF4-FFF2-40B4-BE49-F238E27FC236}">
                <a16:creationId xmlns:a16="http://schemas.microsoft.com/office/drawing/2014/main" id="{CFFC776C-74EA-C6B4-D93D-DD5A45A19CC8}"/>
              </a:ext>
            </a:extLst>
          </p:cNvPr>
          <p:cNvSpPr>
            <a:spLocks noGrp="1" noRot="1" noChangeAspect="1" noChangeArrowheads="1" noTextEdit="1"/>
          </p:cNvSpPr>
          <p:nvPr>
            <p:ph type="sldImg"/>
          </p:nvPr>
        </p:nvSpPr>
        <p:spPr>
          <a:ln/>
        </p:spPr>
      </p:sp>
      <p:sp>
        <p:nvSpPr>
          <p:cNvPr id="34819" name="Rectangle 1027">
            <a:extLst>
              <a:ext uri="{FF2B5EF4-FFF2-40B4-BE49-F238E27FC236}">
                <a16:creationId xmlns:a16="http://schemas.microsoft.com/office/drawing/2014/main" id="{7364085A-3CC2-433E-A7F8-08308B8511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A8E568C3-AD7D-889D-F9C0-EEEE4330F2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343B383-9F28-4778-8F9E-9D9FBBFF2D24}" type="slidenum">
              <a:rPr lang="en-CA" altLang="en-US" sz="1200">
                <a:latin typeface="Tahoma" panose="020B0604030504040204" pitchFamily="34" charset="0"/>
              </a:rPr>
              <a:pPr/>
              <a:t>61</a:t>
            </a:fld>
            <a:endParaRPr lang="en-CA" altLang="en-US" sz="1200">
              <a:latin typeface="Tahoma" panose="020B0604030504040204" pitchFamily="34" charset="0"/>
            </a:endParaRPr>
          </a:p>
        </p:txBody>
      </p:sp>
      <p:sp>
        <p:nvSpPr>
          <p:cNvPr id="36866" name="Rectangle 2">
            <a:extLst>
              <a:ext uri="{FF2B5EF4-FFF2-40B4-BE49-F238E27FC236}">
                <a16:creationId xmlns:a16="http://schemas.microsoft.com/office/drawing/2014/main" id="{066CF2C9-E349-FFDF-A4DB-72DEFFF0842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FBAA316-217E-667F-8D12-B8042D5FCA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FA47D224-56BD-F947-C776-DAF497CFB4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6D2BD9C-3F4A-4048-8B1D-CA7703116EB2}" type="slidenum">
              <a:rPr lang="en-CA" altLang="en-US" sz="1200">
                <a:latin typeface="Tahoma" panose="020B0604030504040204" pitchFamily="34" charset="0"/>
              </a:rPr>
              <a:pPr/>
              <a:t>62</a:t>
            </a:fld>
            <a:endParaRPr lang="en-CA" altLang="en-US" sz="1200">
              <a:latin typeface="Tahoma" panose="020B0604030504040204" pitchFamily="34" charset="0"/>
            </a:endParaRPr>
          </a:p>
        </p:txBody>
      </p:sp>
      <p:sp>
        <p:nvSpPr>
          <p:cNvPr id="38914" name="Rectangle 1026">
            <a:extLst>
              <a:ext uri="{FF2B5EF4-FFF2-40B4-BE49-F238E27FC236}">
                <a16:creationId xmlns:a16="http://schemas.microsoft.com/office/drawing/2014/main" id="{93B0D7A2-E3CB-E5D1-DA58-321F0DE8DF54}"/>
              </a:ext>
            </a:extLst>
          </p:cNvPr>
          <p:cNvSpPr>
            <a:spLocks noGrp="1" noRot="1" noChangeAspect="1" noChangeArrowheads="1" noTextEdit="1"/>
          </p:cNvSpPr>
          <p:nvPr>
            <p:ph type="sldImg"/>
          </p:nvPr>
        </p:nvSpPr>
        <p:spPr>
          <a:ln/>
        </p:spPr>
      </p:sp>
      <p:sp>
        <p:nvSpPr>
          <p:cNvPr id="38915" name="Rectangle 1027">
            <a:extLst>
              <a:ext uri="{FF2B5EF4-FFF2-40B4-BE49-F238E27FC236}">
                <a16:creationId xmlns:a16="http://schemas.microsoft.com/office/drawing/2014/main" id="{FD0B7821-6755-803F-B2EC-11A6189234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D807DF66-B4A8-AC49-73C5-0D6B9F743D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32B93AC-EFA2-4C16-A9D5-8A61C9CAAFCF}" type="slidenum">
              <a:rPr lang="en-CA" altLang="en-US" sz="1200">
                <a:latin typeface="Tahoma" panose="020B0604030504040204" pitchFamily="34" charset="0"/>
              </a:rPr>
              <a:pPr/>
              <a:t>63</a:t>
            </a:fld>
            <a:endParaRPr lang="en-CA" altLang="en-US" sz="1200">
              <a:latin typeface="Tahoma" panose="020B0604030504040204" pitchFamily="34" charset="0"/>
            </a:endParaRPr>
          </a:p>
        </p:txBody>
      </p:sp>
      <p:sp>
        <p:nvSpPr>
          <p:cNvPr id="40962" name="Rectangle 2">
            <a:extLst>
              <a:ext uri="{FF2B5EF4-FFF2-40B4-BE49-F238E27FC236}">
                <a16:creationId xmlns:a16="http://schemas.microsoft.com/office/drawing/2014/main" id="{B5DEB41C-3701-88E5-C255-D5AC24CA6F0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01ADC84-1B29-E901-6883-628AD7AB5C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480F2E40-F667-F7E2-523C-BE7C493736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2585099-76A2-47D3-8978-3EEFDC687975}" type="slidenum">
              <a:rPr lang="en-CA" altLang="en-US" sz="1200">
                <a:latin typeface="Tahoma" panose="020B0604030504040204" pitchFamily="34" charset="0"/>
              </a:rPr>
              <a:pPr/>
              <a:t>64</a:t>
            </a:fld>
            <a:endParaRPr lang="en-CA" altLang="en-US" sz="1200">
              <a:latin typeface="Tahoma" panose="020B0604030504040204" pitchFamily="34" charset="0"/>
            </a:endParaRPr>
          </a:p>
        </p:txBody>
      </p:sp>
      <p:sp>
        <p:nvSpPr>
          <p:cNvPr id="43010" name="Rectangle 1026">
            <a:extLst>
              <a:ext uri="{FF2B5EF4-FFF2-40B4-BE49-F238E27FC236}">
                <a16:creationId xmlns:a16="http://schemas.microsoft.com/office/drawing/2014/main" id="{D460F00C-DBAE-111B-B1AD-E885F863612E}"/>
              </a:ext>
            </a:extLst>
          </p:cNvPr>
          <p:cNvSpPr>
            <a:spLocks noGrp="1" noRot="1" noChangeAspect="1" noChangeArrowheads="1" noTextEdit="1"/>
          </p:cNvSpPr>
          <p:nvPr>
            <p:ph type="sldImg"/>
          </p:nvPr>
        </p:nvSpPr>
        <p:spPr>
          <a:ln/>
        </p:spPr>
      </p:sp>
      <p:sp>
        <p:nvSpPr>
          <p:cNvPr id="43011" name="Rectangle 1027">
            <a:extLst>
              <a:ext uri="{FF2B5EF4-FFF2-40B4-BE49-F238E27FC236}">
                <a16:creationId xmlns:a16="http://schemas.microsoft.com/office/drawing/2014/main" id="{F1BBB99C-82CD-24B1-61D3-46E134E03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7880C552-CD21-9E9A-D65B-CE74A97B15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8921F24-881D-477A-8BCA-1BDD71254CEA}" type="slidenum">
              <a:rPr lang="en-CA" altLang="en-US" sz="1200">
                <a:latin typeface="Tahoma" panose="020B0604030504040204" pitchFamily="34" charset="0"/>
              </a:rPr>
              <a:pPr/>
              <a:t>65</a:t>
            </a:fld>
            <a:endParaRPr lang="en-CA" altLang="en-US" sz="1200">
              <a:latin typeface="Tahoma" panose="020B0604030504040204" pitchFamily="34" charset="0"/>
            </a:endParaRPr>
          </a:p>
        </p:txBody>
      </p:sp>
      <p:sp>
        <p:nvSpPr>
          <p:cNvPr id="45058" name="Rectangle 2">
            <a:extLst>
              <a:ext uri="{FF2B5EF4-FFF2-40B4-BE49-F238E27FC236}">
                <a16:creationId xmlns:a16="http://schemas.microsoft.com/office/drawing/2014/main" id="{920185F4-9F1F-87D8-CFB1-AC94E503C3DD}"/>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86ED0A07-D60C-022C-F99D-7FAA6AD68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9EE2B7B7-9F9E-8DB4-CCBD-ED2E713B36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2F5AA17-B5BE-48BE-B1D3-B471035EDC6B}" type="slidenum">
              <a:rPr lang="en-CA" altLang="en-US" sz="1200">
                <a:latin typeface="Tahoma" panose="020B0604030504040204" pitchFamily="34" charset="0"/>
              </a:rPr>
              <a:pPr/>
              <a:t>66</a:t>
            </a:fld>
            <a:endParaRPr lang="en-CA" altLang="en-US" sz="1200">
              <a:latin typeface="Tahoma" panose="020B0604030504040204" pitchFamily="34" charset="0"/>
            </a:endParaRPr>
          </a:p>
        </p:txBody>
      </p:sp>
      <p:sp>
        <p:nvSpPr>
          <p:cNvPr id="47106" name="Rectangle 1026">
            <a:extLst>
              <a:ext uri="{FF2B5EF4-FFF2-40B4-BE49-F238E27FC236}">
                <a16:creationId xmlns:a16="http://schemas.microsoft.com/office/drawing/2014/main" id="{22E3BFC6-3793-9010-0A13-CBBE10604078}"/>
              </a:ext>
            </a:extLst>
          </p:cNvPr>
          <p:cNvSpPr>
            <a:spLocks noGrp="1" noRot="1" noChangeAspect="1" noChangeArrowheads="1" noTextEdit="1"/>
          </p:cNvSpPr>
          <p:nvPr>
            <p:ph type="sldImg"/>
          </p:nvPr>
        </p:nvSpPr>
        <p:spPr>
          <a:ln/>
        </p:spPr>
      </p:sp>
      <p:sp>
        <p:nvSpPr>
          <p:cNvPr id="47107" name="Rectangle 1027">
            <a:extLst>
              <a:ext uri="{FF2B5EF4-FFF2-40B4-BE49-F238E27FC236}">
                <a16:creationId xmlns:a16="http://schemas.microsoft.com/office/drawing/2014/main" id="{792FA59B-4403-ED0D-00E5-15C39FA46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C24092DB-B5D4-31B6-C4C0-E9555B8D9C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41A4402-3BEA-4CC6-B4D9-6DD9F2AC3267}" type="slidenum">
              <a:rPr lang="en-CA" altLang="en-US" sz="1200">
                <a:latin typeface="Tahoma" panose="020B0604030504040204" pitchFamily="34" charset="0"/>
              </a:rPr>
              <a:pPr/>
              <a:t>67</a:t>
            </a:fld>
            <a:endParaRPr lang="en-CA" altLang="en-US" sz="1200">
              <a:latin typeface="Tahoma" panose="020B0604030504040204" pitchFamily="34" charset="0"/>
            </a:endParaRPr>
          </a:p>
        </p:txBody>
      </p:sp>
      <p:sp>
        <p:nvSpPr>
          <p:cNvPr id="49154" name="Rectangle 2">
            <a:extLst>
              <a:ext uri="{FF2B5EF4-FFF2-40B4-BE49-F238E27FC236}">
                <a16:creationId xmlns:a16="http://schemas.microsoft.com/office/drawing/2014/main" id="{6FD14913-E153-AEAC-1F52-4DAA336F5EF4}"/>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335C254F-0DCE-3A1D-90D5-868516C27D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77C7D155-72C9-82D6-5390-4820F79C34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F1F685C-6479-46A7-9A6C-652ECA07FA39}" type="slidenum">
              <a:rPr lang="en-CA" altLang="en-US" sz="1200">
                <a:latin typeface="Tahoma" panose="020B0604030504040204" pitchFamily="34" charset="0"/>
              </a:rPr>
              <a:pPr/>
              <a:t>69</a:t>
            </a:fld>
            <a:endParaRPr lang="en-CA" altLang="en-US" sz="1200">
              <a:latin typeface="Tahoma" panose="020B0604030504040204" pitchFamily="34" charset="0"/>
            </a:endParaRPr>
          </a:p>
        </p:txBody>
      </p:sp>
      <p:sp>
        <p:nvSpPr>
          <p:cNvPr id="52226" name="Rectangle 1026">
            <a:extLst>
              <a:ext uri="{FF2B5EF4-FFF2-40B4-BE49-F238E27FC236}">
                <a16:creationId xmlns:a16="http://schemas.microsoft.com/office/drawing/2014/main" id="{20C12778-C5D8-45AA-EFDB-59B0F50D021D}"/>
              </a:ext>
            </a:extLst>
          </p:cNvPr>
          <p:cNvSpPr>
            <a:spLocks noGrp="1" noRot="1" noChangeAspect="1" noChangeArrowheads="1" noTextEdit="1"/>
          </p:cNvSpPr>
          <p:nvPr>
            <p:ph type="sldImg"/>
          </p:nvPr>
        </p:nvSpPr>
        <p:spPr>
          <a:ln/>
        </p:spPr>
      </p:sp>
      <p:sp>
        <p:nvSpPr>
          <p:cNvPr id="52227" name="Rectangle 1027">
            <a:extLst>
              <a:ext uri="{FF2B5EF4-FFF2-40B4-BE49-F238E27FC236}">
                <a16:creationId xmlns:a16="http://schemas.microsoft.com/office/drawing/2014/main" id="{D19AE50F-2FB1-9543-37EA-B875E11553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850A3FFF-BA04-CC94-636A-710BFFEF5B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E29E6FD-3734-439F-A82B-FBA8D8584DA5}" type="slidenum">
              <a:rPr lang="en-CA" altLang="en-US" sz="1200">
                <a:latin typeface="Tahoma" panose="020B0604030504040204" pitchFamily="34" charset="0"/>
              </a:rPr>
              <a:pPr/>
              <a:t>70</a:t>
            </a:fld>
            <a:endParaRPr lang="en-CA" altLang="en-US" sz="1200">
              <a:latin typeface="Tahoma" panose="020B0604030504040204" pitchFamily="34" charset="0"/>
            </a:endParaRPr>
          </a:p>
        </p:txBody>
      </p:sp>
      <p:sp>
        <p:nvSpPr>
          <p:cNvPr id="54274" name="Rectangle 2">
            <a:extLst>
              <a:ext uri="{FF2B5EF4-FFF2-40B4-BE49-F238E27FC236}">
                <a16:creationId xmlns:a16="http://schemas.microsoft.com/office/drawing/2014/main" id="{61693FC1-D4ED-B75D-EA56-7FDF656E5761}"/>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3FE04417-813B-437E-094E-8545BBF920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D7CBF68E-1A16-0155-0D22-D91A4815FF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1991182-E2E7-4B1C-8917-0F4516E0CDF4}" type="slidenum">
              <a:rPr lang="en-CA" altLang="en-US" sz="1200">
                <a:latin typeface="Tahoma" panose="020B0604030504040204" pitchFamily="34" charset="0"/>
              </a:rPr>
              <a:pPr/>
              <a:t>72</a:t>
            </a:fld>
            <a:endParaRPr lang="en-CA" altLang="en-US" sz="1200">
              <a:latin typeface="Tahoma" panose="020B0604030504040204" pitchFamily="34" charset="0"/>
            </a:endParaRPr>
          </a:p>
        </p:txBody>
      </p:sp>
      <p:sp>
        <p:nvSpPr>
          <p:cNvPr id="57346" name="Rectangle 1026">
            <a:extLst>
              <a:ext uri="{FF2B5EF4-FFF2-40B4-BE49-F238E27FC236}">
                <a16:creationId xmlns:a16="http://schemas.microsoft.com/office/drawing/2014/main" id="{FACAB2B7-A0D0-995A-8705-A77479665E67}"/>
              </a:ext>
            </a:extLst>
          </p:cNvPr>
          <p:cNvSpPr>
            <a:spLocks noGrp="1" noRot="1" noChangeAspect="1" noChangeArrowheads="1" noTextEdit="1"/>
          </p:cNvSpPr>
          <p:nvPr>
            <p:ph type="sldImg"/>
          </p:nvPr>
        </p:nvSpPr>
        <p:spPr>
          <a:ln/>
        </p:spPr>
      </p:sp>
      <p:sp>
        <p:nvSpPr>
          <p:cNvPr id="57347" name="Rectangle 1027">
            <a:extLst>
              <a:ext uri="{FF2B5EF4-FFF2-40B4-BE49-F238E27FC236}">
                <a16:creationId xmlns:a16="http://schemas.microsoft.com/office/drawing/2014/main" id="{A54D7134-A8DF-69C8-D4B6-521390FFB6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09B8498A-968B-A996-E46A-039306F09A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31FEB68-64EC-4BF4-9444-99F9BC2EBAA3}" type="slidenum">
              <a:rPr lang="en-CA" altLang="en-US" sz="1200">
                <a:latin typeface="Tahoma" panose="020B0604030504040204" pitchFamily="34" charset="0"/>
              </a:rPr>
              <a:pPr/>
              <a:t>73</a:t>
            </a:fld>
            <a:endParaRPr lang="en-CA" altLang="en-US" sz="1200">
              <a:latin typeface="Tahoma" panose="020B0604030504040204" pitchFamily="34" charset="0"/>
            </a:endParaRPr>
          </a:p>
        </p:txBody>
      </p:sp>
      <p:sp>
        <p:nvSpPr>
          <p:cNvPr id="59394" name="Rectangle 2">
            <a:extLst>
              <a:ext uri="{FF2B5EF4-FFF2-40B4-BE49-F238E27FC236}">
                <a16:creationId xmlns:a16="http://schemas.microsoft.com/office/drawing/2014/main" id="{8C8F912B-CF97-AEB2-262F-DD2B4522A892}"/>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F0A4DB1B-A99A-984C-19FA-CCFE3DE767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85269137-993F-3B08-B111-5A7438E4AF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B908276-EA42-42BE-81E6-5B8102A456F0}" type="slidenum">
              <a:rPr lang="en-CA" altLang="en-US" sz="1200">
                <a:latin typeface="Tahoma" panose="020B0604030504040204" pitchFamily="34" charset="0"/>
              </a:rPr>
              <a:pPr/>
              <a:t>74</a:t>
            </a:fld>
            <a:endParaRPr lang="en-CA" altLang="en-US" sz="1200">
              <a:latin typeface="Tahoma" panose="020B0604030504040204" pitchFamily="34" charset="0"/>
            </a:endParaRPr>
          </a:p>
        </p:txBody>
      </p:sp>
      <p:sp>
        <p:nvSpPr>
          <p:cNvPr id="61442" name="Rectangle 1026">
            <a:extLst>
              <a:ext uri="{FF2B5EF4-FFF2-40B4-BE49-F238E27FC236}">
                <a16:creationId xmlns:a16="http://schemas.microsoft.com/office/drawing/2014/main" id="{1373C149-633A-0AFA-4C7A-56049879D56A}"/>
              </a:ext>
            </a:extLst>
          </p:cNvPr>
          <p:cNvSpPr>
            <a:spLocks noGrp="1" noRot="1" noChangeAspect="1" noChangeArrowheads="1" noTextEdit="1"/>
          </p:cNvSpPr>
          <p:nvPr>
            <p:ph type="sldImg"/>
          </p:nvPr>
        </p:nvSpPr>
        <p:spPr>
          <a:ln/>
        </p:spPr>
      </p:sp>
      <p:sp>
        <p:nvSpPr>
          <p:cNvPr id="61443" name="Rectangle 1027">
            <a:extLst>
              <a:ext uri="{FF2B5EF4-FFF2-40B4-BE49-F238E27FC236}">
                <a16:creationId xmlns:a16="http://schemas.microsoft.com/office/drawing/2014/main" id="{BA664A15-CC49-CAA1-1ED9-B44D8104B2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A8DDAE3C-EE92-D09C-2FC9-CD2F90197A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BD8C452-8C72-44B6-8A36-C84056F88903}" type="slidenum">
              <a:rPr lang="en-CA" altLang="en-US" sz="1200">
                <a:latin typeface="Tahoma" panose="020B0604030504040204" pitchFamily="34" charset="0"/>
              </a:rPr>
              <a:pPr/>
              <a:t>75</a:t>
            </a:fld>
            <a:endParaRPr lang="en-CA" altLang="en-US" sz="1200">
              <a:latin typeface="Tahoma" panose="020B0604030504040204" pitchFamily="34" charset="0"/>
            </a:endParaRPr>
          </a:p>
        </p:txBody>
      </p:sp>
      <p:sp>
        <p:nvSpPr>
          <p:cNvPr id="63490" name="Rectangle 2">
            <a:extLst>
              <a:ext uri="{FF2B5EF4-FFF2-40B4-BE49-F238E27FC236}">
                <a16:creationId xmlns:a16="http://schemas.microsoft.com/office/drawing/2014/main" id="{872EAB5F-E129-E5A3-EE9B-E2D7432B96AE}"/>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AC965536-DE87-7898-EE6B-CFB5DD118E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8C96B9C9-89A5-A6E8-3F0D-D5CB59CDF9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490883B-5451-490D-91BA-AE396C4FD63E}" type="slidenum">
              <a:rPr lang="en-CA" altLang="en-US" sz="1200">
                <a:latin typeface="Tahoma" panose="020B0604030504040204" pitchFamily="34" charset="0"/>
              </a:rPr>
              <a:pPr/>
              <a:t>76</a:t>
            </a:fld>
            <a:endParaRPr lang="en-CA" altLang="en-US" sz="1200">
              <a:latin typeface="Tahoma" panose="020B0604030504040204" pitchFamily="34" charset="0"/>
            </a:endParaRPr>
          </a:p>
        </p:txBody>
      </p:sp>
      <p:sp>
        <p:nvSpPr>
          <p:cNvPr id="65538" name="Rectangle 1026">
            <a:extLst>
              <a:ext uri="{FF2B5EF4-FFF2-40B4-BE49-F238E27FC236}">
                <a16:creationId xmlns:a16="http://schemas.microsoft.com/office/drawing/2014/main" id="{960ED4BA-E9D6-394F-7EBE-0A58EB77D89C}"/>
              </a:ext>
            </a:extLst>
          </p:cNvPr>
          <p:cNvSpPr>
            <a:spLocks noGrp="1" noRot="1" noChangeAspect="1" noChangeArrowheads="1" noTextEdit="1"/>
          </p:cNvSpPr>
          <p:nvPr>
            <p:ph type="sldImg"/>
          </p:nvPr>
        </p:nvSpPr>
        <p:spPr>
          <a:ln/>
        </p:spPr>
      </p:sp>
      <p:sp>
        <p:nvSpPr>
          <p:cNvPr id="65539" name="Rectangle 1027">
            <a:extLst>
              <a:ext uri="{FF2B5EF4-FFF2-40B4-BE49-F238E27FC236}">
                <a16:creationId xmlns:a16="http://schemas.microsoft.com/office/drawing/2014/main" id="{408ECE36-81F0-39F2-83C6-8923826CD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DA8C0F28-E89E-43C6-1D64-A8A4346040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3872C61-E06F-42BE-A8BE-44B4363022F5}" type="slidenum">
              <a:rPr lang="en-CA" altLang="en-US" sz="1200">
                <a:latin typeface="Tahoma" panose="020B0604030504040204" pitchFamily="34" charset="0"/>
              </a:rPr>
              <a:pPr/>
              <a:t>77</a:t>
            </a:fld>
            <a:endParaRPr lang="en-CA" altLang="en-US" sz="1200">
              <a:latin typeface="Tahoma" panose="020B0604030504040204" pitchFamily="34" charset="0"/>
            </a:endParaRPr>
          </a:p>
        </p:txBody>
      </p:sp>
      <p:sp>
        <p:nvSpPr>
          <p:cNvPr id="67586" name="Rectangle 2">
            <a:extLst>
              <a:ext uri="{FF2B5EF4-FFF2-40B4-BE49-F238E27FC236}">
                <a16:creationId xmlns:a16="http://schemas.microsoft.com/office/drawing/2014/main" id="{DA4DEE4C-CE4C-2C04-F042-5A0B0A01BA28}"/>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83ADDE65-9D23-9DBE-1409-7196D32D43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4F439090-F1A7-200E-A160-7FD9E44878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9C7FBAD-C0BA-4878-A09E-C883C141F94E}" type="slidenum">
              <a:rPr lang="en-CA" altLang="en-US" sz="1200">
                <a:latin typeface="Tahoma" panose="020B0604030504040204" pitchFamily="34" charset="0"/>
              </a:rPr>
              <a:pPr/>
              <a:t>78</a:t>
            </a:fld>
            <a:endParaRPr lang="en-CA" altLang="en-US" sz="1200">
              <a:latin typeface="Tahoma" panose="020B0604030504040204" pitchFamily="34" charset="0"/>
            </a:endParaRPr>
          </a:p>
        </p:txBody>
      </p:sp>
      <p:sp>
        <p:nvSpPr>
          <p:cNvPr id="69634" name="Rectangle 2">
            <a:extLst>
              <a:ext uri="{FF2B5EF4-FFF2-40B4-BE49-F238E27FC236}">
                <a16:creationId xmlns:a16="http://schemas.microsoft.com/office/drawing/2014/main" id="{8343E348-F0EA-13F7-9373-B8E99FBD7635}"/>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EC04BA19-0C9A-B6C8-9CE8-07B5CCA392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859FCCCB-BBC7-AD50-EFB4-524FE64E2D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3BFE15D-81A8-41E0-A6D9-213C614B2EA2}" type="slidenum">
              <a:rPr lang="en-CA" altLang="en-US" sz="1200">
                <a:latin typeface="Tahoma" panose="020B0604030504040204" pitchFamily="34" charset="0"/>
              </a:rPr>
              <a:pPr/>
              <a:t>79</a:t>
            </a:fld>
            <a:endParaRPr lang="en-CA" altLang="en-US" sz="1200">
              <a:latin typeface="Tahoma" panose="020B0604030504040204" pitchFamily="34" charset="0"/>
            </a:endParaRPr>
          </a:p>
        </p:txBody>
      </p:sp>
      <p:sp>
        <p:nvSpPr>
          <p:cNvPr id="71682" name="Rectangle 2">
            <a:extLst>
              <a:ext uri="{FF2B5EF4-FFF2-40B4-BE49-F238E27FC236}">
                <a16:creationId xmlns:a16="http://schemas.microsoft.com/office/drawing/2014/main" id="{9A35CEF7-8F35-31FB-484C-53DE440F7335}"/>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13347E1E-E40A-39CD-334B-48C32B412C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3DDCE615-D1FE-7C8C-5DE3-18C77E5409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3D40684-7683-4BF1-AFC7-8AD2F7B559E1}" type="slidenum">
              <a:rPr lang="en-CA" altLang="en-US" sz="1200">
                <a:latin typeface="Tahoma" panose="020B0604030504040204" pitchFamily="34" charset="0"/>
              </a:rPr>
              <a:pPr/>
              <a:t>80</a:t>
            </a:fld>
            <a:endParaRPr lang="en-CA" altLang="en-US" sz="1200">
              <a:latin typeface="Tahoma" panose="020B0604030504040204" pitchFamily="34" charset="0"/>
            </a:endParaRPr>
          </a:p>
        </p:txBody>
      </p:sp>
      <p:sp>
        <p:nvSpPr>
          <p:cNvPr id="73730" name="Rectangle 2">
            <a:extLst>
              <a:ext uri="{FF2B5EF4-FFF2-40B4-BE49-F238E27FC236}">
                <a16:creationId xmlns:a16="http://schemas.microsoft.com/office/drawing/2014/main" id="{59E0BC47-CC76-382E-DEE6-A732397C4676}"/>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4D906D5A-5DDA-634B-0289-BF6F636737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3DFD620F-539B-5186-0D4A-99EC657E4C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6D0E61F-FDA1-422D-87A8-80C9582FDEA3}" type="slidenum">
              <a:rPr lang="en-CA" altLang="en-US" sz="1200">
                <a:latin typeface="Tahoma" panose="020B0604030504040204" pitchFamily="34" charset="0"/>
              </a:rPr>
              <a:pPr/>
              <a:t>81</a:t>
            </a:fld>
            <a:endParaRPr lang="en-CA" altLang="en-US" sz="1200">
              <a:latin typeface="Tahoma" panose="020B0604030504040204" pitchFamily="34" charset="0"/>
            </a:endParaRPr>
          </a:p>
        </p:txBody>
      </p:sp>
      <p:sp>
        <p:nvSpPr>
          <p:cNvPr id="75778" name="Rectangle 2">
            <a:extLst>
              <a:ext uri="{FF2B5EF4-FFF2-40B4-BE49-F238E27FC236}">
                <a16:creationId xmlns:a16="http://schemas.microsoft.com/office/drawing/2014/main" id="{F73229DC-AF86-A89B-69DA-A0A7AFD573A8}"/>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FFDADFBC-22C8-049F-E771-715463FCBA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F59CAF1C-97B3-0462-A443-C972BF1F90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C7389E9-4224-4EE1-ADA2-81C9C5EEA693}" type="slidenum">
              <a:rPr lang="en-CA" altLang="en-US" sz="1200">
                <a:latin typeface="Tahoma" panose="020B0604030504040204" pitchFamily="34" charset="0"/>
              </a:rPr>
              <a:pPr/>
              <a:t>82</a:t>
            </a:fld>
            <a:endParaRPr lang="en-CA" altLang="en-US" sz="1200">
              <a:latin typeface="Tahoma" panose="020B0604030504040204" pitchFamily="34" charset="0"/>
            </a:endParaRPr>
          </a:p>
        </p:txBody>
      </p:sp>
      <p:sp>
        <p:nvSpPr>
          <p:cNvPr id="77826" name="Rectangle 2">
            <a:extLst>
              <a:ext uri="{FF2B5EF4-FFF2-40B4-BE49-F238E27FC236}">
                <a16:creationId xmlns:a16="http://schemas.microsoft.com/office/drawing/2014/main" id="{A0EC0963-F81D-73ED-1437-826198D04135}"/>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5EC55346-6E41-2818-300D-977A87A11E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2F0C73AA-35DA-AD5A-0115-C9DCFDA64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EC27FE8-91AE-4E32-90AA-43E7EE63AB80}" type="slidenum">
              <a:rPr lang="en-CA" altLang="en-US" sz="1200">
                <a:latin typeface="Tahoma" panose="020B0604030504040204" pitchFamily="34" charset="0"/>
              </a:rPr>
              <a:pPr/>
              <a:t>83</a:t>
            </a:fld>
            <a:endParaRPr lang="en-CA" altLang="en-US" sz="1200">
              <a:latin typeface="Tahoma" panose="020B0604030504040204" pitchFamily="34" charset="0"/>
            </a:endParaRPr>
          </a:p>
        </p:txBody>
      </p:sp>
      <p:sp>
        <p:nvSpPr>
          <p:cNvPr id="79874" name="Rectangle 2">
            <a:extLst>
              <a:ext uri="{FF2B5EF4-FFF2-40B4-BE49-F238E27FC236}">
                <a16:creationId xmlns:a16="http://schemas.microsoft.com/office/drawing/2014/main" id="{12E95ADE-4658-3FAA-A776-520215763331}"/>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C2C047B-8CFB-C406-7EC7-C0BA2ACE36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015F4F69-E38B-C5E9-433E-08EB80D3A8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FAB5E92-7F74-4BE3-A7C0-6E8A657BD3BC}" type="slidenum">
              <a:rPr lang="en-CA" altLang="en-US" sz="1200">
                <a:latin typeface="Tahoma" panose="020B0604030504040204" pitchFamily="34" charset="0"/>
              </a:rPr>
              <a:pPr/>
              <a:t>84</a:t>
            </a:fld>
            <a:endParaRPr lang="en-CA" altLang="en-US" sz="1200">
              <a:latin typeface="Tahoma" panose="020B0604030504040204" pitchFamily="34" charset="0"/>
            </a:endParaRPr>
          </a:p>
        </p:txBody>
      </p:sp>
      <p:sp>
        <p:nvSpPr>
          <p:cNvPr id="81922" name="Rectangle 2">
            <a:extLst>
              <a:ext uri="{FF2B5EF4-FFF2-40B4-BE49-F238E27FC236}">
                <a16:creationId xmlns:a16="http://schemas.microsoft.com/office/drawing/2014/main" id="{0F8E36C9-18FE-F83C-E1CE-B912D4D2EC33}"/>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170FC8-F350-3C22-482E-00ED9447ED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36FFA631-AEFD-9EE4-ED2D-EBAF6C9B79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E29E243-221E-4889-A2B6-D357C183425B}" type="slidenum">
              <a:rPr lang="en-CA" altLang="en-US" sz="1200">
                <a:latin typeface="Tahoma" panose="020B0604030504040204" pitchFamily="34" charset="0"/>
              </a:rPr>
              <a:pPr/>
              <a:t>85</a:t>
            </a:fld>
            <a:endParaRPr lang="en-CA" altLang="en-US" sz="1200">
              <a:latin typeface="Tahoma" panose="020B0604030504040204" pitchFamily="34" charset="0"/>
            </a:endParaRPr>
          </a:p>
        </p:txBody>
      </p:sp>
      <p:sp>
        <p:nvSpPr>
          <p:cNvPr id="83970" name="Rectangle 2">
            <a:extLst>
              <a:ext uri="{FF2B5EF4-FFF2-40B4-BE49-F238E27FC236}">
                <a16:creationId xmlns:a16="http://schemas.microsoft.com/office/drawing/2014/main" id="{C61B45F3-C4B4-5B31-D6EB-CC40A1F28D1B}"/>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31AA8083-FA85-D374-D92C-70A9290421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C89C04C2-3FE3-B189-F17F-60A04FE2B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D0152A0-7583-40D8-B059-F6141CE9A467}" type="slidenum">
              <a:rPr lang="en-CA" altLang="en-US" sz="1200">
                <a:latin typeface="Tahoma" panose="020B0604030504040204" pitchFamily="34" charset="0"/>
              </a:rPr>
              <a:pPr/>
              <a:t>89</a:t>
            </a:fld>
            <a:endParaRPr lang="en-CA" altLang="en-US" sz="1200">
              <a:latin typeface="Tahoma" panose="020B0604030504040204" pitchFamily="34" charset="0"/>
            </a:endParaRPr>
          </a:p>
        </p:txBody>
      </p:sp>
      <p:sp>
        <p:nvSpPr>
          <p:cNvPr id="86018" name="Rectangle 2">
            <a:extLst>
              <a:ext uri="{FF2B5EF4-FFF2-40B4-BE49-F238E27FC236}">
                <a16:creationId xmlns:a16="http://schemas.microsoft.com/office/drawing/2014/main" id="{F2BDB0BD-8729-1DEC-3953-146C8BB7638D}"/>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EA295DCC-6A60-4496-CE77-424E9C3787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232916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432DD2A8-F5B4-C118-BE54-52E9C21762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29EE878-4F62-4808-8EBA-A5854B1FFD93}" type="slidenum">
              <a:rPr lang="en-CA" altLang="en-US" sz="1200">
                <a:latin typeface="Tahoma" panose="020B0604030504040204" pitchFamily="34" charset="0"/>
              </a:rPr>
              <a:pPr/>
              <a:t>90</a:t>
            </a:fld>
            <a:endParaRPr lang="en-CA" altLang="en-US" sz="1200">
              <a:latin typeface="Tahoma" panose="020B0604030504040204" pitchFamily="34" charset="0"/>
            </a:endParaRPr>
          </a:p>
        </p:txBody>
      </p:sp>
      <p:sp>
        <p:nvSpPr>
          <p:cNvPr id="88066" name="Rectangle 2">
            <a:extLst>
              <a:ext uri="{FF2B5EF4-FFF2-40B4-BE49-F238E27FC236}">
                <a16:creationId xmlns:a16="http://schemas.microsoft.com/office/drawing/2014/main" id="{94DAA01F-7069-1B87-329D-2A2432CBAB87}"/>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63501397-AFE5-55B9-451B-3BD3146B7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9089988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D419AA57-93F5-E729-B84D-A1CB40FE67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D622FCA-6ECD-4F65-8246-2FB2DBFB8069}" type="slidenum">
              <a:rPr lang="en-CA" altLang="en-US" sz="1200">
                <a:latin typeface="Tahoma" panose="020B0604030504040204" pitchFamily="34" charset="0"/>
              </a:rPr>
              <a:pPr/>
              <a:t>91</a:t>
            </a:fld>
            <a:endParaRPr lang="en-CA" altLang="en-US" sz="1200">
              <a:latin typeface="Tahoma" panose="020B0604030504040204" pitchFamily="34" charset="0"/>
            </a:endParaRPr>
          </a:p>
        </p:txBody>
      </p:sp>
      <p:sp>
        <p:nvSpPr>
          <p:cNvPr id="90114" name="Rectangle 2">
            <a:extLst>
              <a:ext uri="{FF2B5EF4-FFF2-40B4-BE49-F238E27FC236}">
                <a16:creationId xmlns:a16="http://schemas.microsoft.com/office/drawing/2014/main" id="{D16800E0-BC31-51E1-4CA5-0D7DFF2256FB}"/>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F2F9621D-3B0C-E7D3-A2AF-479560EE91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0891146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58EC8728-3CD6-2466-86B8-99A688FC1C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226ADC4-D48A-418A-97D4-54A4DAAD58FF}" type="slidenum">
              <a:rPr lang="en-CA" altLang="en-US" sz="1200">
                <a:latin typeface="Tahoma" panose="020B0604030504040204" pitchFamily="34" charset="0"/>
              </a:rPr>
              <a:pPr/>
              <a:t>92</a:t>
            </a:fld>
            <a:endParaRPr lang="en-CA" altLang="en-US" sz="1200">
              <a:latin typeface="Tahoma" panose="020B0604030504040204" pitchFamily="34" charset="0"/>
            </a:endParaRPr>
          </a:p>
        </p:txBody>
      </p:sp>
      <p:sp>
        <p:nvSpPr>
          <p:cNvPr id="92162" name="Rectangle 2">
            <a:extLst>
              <a:ext uri="{FF2B5EF4-FFF2-40B4-BE49-F238E27FC236}">
                <a16:creationId xmlns:a16="http://schemas.microsoft.com/office/drawing/2014/main" id="{875C5451-D6AB-DB7C-FD08-323975B15FCA}"/>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AC2D40F8-EE89-CF38-DE60-CFED8D391E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373765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86C954FD-7146-5EFC-3A14-EBA758B6CF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2A9C616-3E4E-4FA1-AF40-DCF9C25C554D}" type="slidenum">
              <a:rPr lang="en-CA" altLang="en-US" sz="1200">
                <a:latin typeface="Tahoma" panose="020B0604030504040204" pitchFamily="34" charset="0"/>
              </a:rPr>
              <a:pPr/>
              <a:t>94</a:t>
            </a:fld>
            <a:endParaRPr lang="en-CA" altLang="en-US" sz="1200">
              <a:latin typeface="Tahoma" panose="020B0604030504040204" pitchFamily="34" charset="0"/>
            </a:endParaRPr>
          </a:p>
        </p:txBody>
      </p:sp>
      <p:sp>
        <p:nvSpPr>
          <p:cNvPr id="95234" name="Rectangle 2">
            <a:extLst>
              <a:ext uri="{FF2B5EF4-FFF2-40B4-BE49-F238E27FC236}">
                <a16:creationId xmlns:a16="http://schemas.microsoft.com/office/drawing/2014/main" id="{7AF4D9EE-3EC8-6DC7-CFB3-179722539A1D}"/>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B241D921-E488-868A-F30F-550AAA6CEE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5815688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AE16EBC2-A1A0-BAE1-B0E9-CDBB4C9AAE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35569FF-C686-4283-A944-CBC9D2433CD3}" type="slidenum">
              <a:rPr lang="en-CA" altLang="en-US" sz="1200">
                <a:latin typeface="Tahoma" panose="020B0604030504040204" pitchFamily="34" charset="0"/>
              </a:rPr>
              <a:pPr/>
              <a:t>95</a:t>
            </a:fld>
            <a:endParaRPr lang="en-CA" altLang="en-US" sz="1200">
              <a:latin typeface="Tahoma" panose="020B0604030504040204" pitchFamily="34" charset="0"/>
            </a:endParaRPr>
          </a:p>
        </p:txBody>
      </p:sp>
      <p:sp>
        <p:nvSpPr>
          <p:cNvPr id="97282" name="Rectangle 2">
            <a:extLst>
              <a:ext uri="{FF2B5EF4-FFF2-40B4-BE49-F238E27FC236}">
                <a16:creationId xmlns:a16="http://schemas.microsoft.com/office/drawing/2014/main" id="{5E99F015-A37B-C92A-325F-20E6D2624D1D}"/>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566F19CE-EFDE-5FDA-ED7F-83FF23707E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1233314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a:extLst>
              <a:ext uri="{FF2B5EF4-FFF2-40B4-BE49-F238E27FC236}">
                <a16:creationId xmlns:a16="http://schemas.microsoft.com/office/drawing/2014/main" id="{1E8FB83E-10E2-DC94-BC4D-D32E18EB03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87A443C-78EE-45B7-9E95-0445290B300A}" type="slidenum">
              <a:rPr lang="en-CA" altLang="en-US" sz="1200">
                <a:latin typeface="Tahoma" panose="020B0604030504040204" pitchFamily="34" charset="0"/>
              </a:rPr>
              <a:pPr/>
              <a:t>99</a:t>
            </a:fld>
            <a:endParaRPr lang="en-CA" altLang="en-US" sz="1200">
              <a:latin typeface="Tahoma" panose="020B0604030504040204" pitchFamily="34" charset="0"/>
            </a:endParaRPr>
          </a:p>
        </p:txBody>
      </p:sp>
      <p:sp>
        <p:nvSpPr>
          <p:cNvPr id="102402" name="Rectangle 2">
            <a:extLst>
              <a:ext uri="{FF2B5EF4-FFF2-40B4-BE49-F238E27FC236}">
                <a16:creationId xmlns:a16="http://schemas.microsoft.com/office/drawing/2014/main" id="{F673AA83-F2BB-AA8B-CC51-9F3B19CDDD51}"/>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E384F172-F725-1EBF-358F-D7530341D7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230747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2" name="Rectangle 44">
            <a:extLst>
              <a:ext uri="{FF2B5EF4-FFF2-40B4-BE49-F238E27FC236}">
                <a16:creationId xmlns:a16="http://schemas.microsoft.com/office/drawing/2014/main" id="{4C16084C-5CC1-2B57-15F9-52AE0A91E4F2}"/>
              </a:ext>
            </a:extLst>
          </p:cNvPr>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sp>
        <p:nvSpPr>
          <p:cNvPr id="3" name="Rectangle 47">
            <a:extLst>
              <a:ext uri="{FF2B5EF4-FFF2-40B4-BE49-F238E27FC236}">
                <a16:creationId xmlns:a16="http://schemas.microsoft.com/office/drawing/2014/main" id="{9ECFA629-4CF7-BBED-A846-908F6C27A2DD}"/>
              </a:ext>
            </a:extLst>
          </p:cNvPr>
          <p:cNvSpPr>
            <a:spLocks noChangeArrowheads="1"/>
          </p:cNvSpPr>
          <p:nvPr userDrawn="1"/>
        </p:nvSpPr>
        <p:spPr bwMode="auto">
          <a:xfrm rot="16200000">
            <a:off x="3500437" y="-985837"/>
            <a:ext cx="2143125" cy="9144000"/>
          </a:xfrm>
          <a:prstGeom prst="rect">
            <a:avLst/>
          </a:prstGeom>
          <a:solidFill>
            <a:srgbClr val="677228">
              <a:alpha val="43921"/>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sp>
        <p:nvSpPr>
          <p:cNvPr id="4" name="Rectangle 48">
            <a:extLst>
              <a:ext uri="{FF2B5EF4-FFF2-40B4-BE49-F238E27FC236}">
                <a16:creationId xmlns:a16="http://schemas.microsoft.com/office/drawing/2014/main" id="{D087B386-0FDB-CD27-A5D4-B1802875C0F5}"/>
              </a:ext>
            </a:extLst>
          </p:cNvPr>
          <p:cNvSpPr>
            <a:spLocks noChangeArrowheads="1"/>
          </p:cNvSpPr>
          <p:nvPr userDrawn="1"/>
        </p:nvSpPr>
        <p:spPr bwMode="auto">
          <a:xfrm>
            <a:off x="7315200" y="2438400"/>
            <a:ext cx="1828800" cy="2290763"/>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ea typeface="+mn-ea"/>
            </a:endParaRPr>
          </a:p>
        </p:txBody>
      </p:sp>
      <p:pic>
        <p:nvPicPr>
          <p:cNvPr id="5" name="Picture 35" descr="awtri_4c UPDATE_color">
            <a:extLst>
              <a:ext uri="{FF2B5EF4-FFF2-40B4-BE49-F238E27FC236}">
                <a16:creationId xmlns:a16="http://schemas.microsoft.com/office/drawing/2014/main" id="{157122AA-4BB9-DA9A-E105-B2FB68B84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6" descr="elmasri_thumb">
            <a:extLst>
              <a:ext uri="{FF2B5EF4-FFF2-40B4-BE49-F238E27FC236}">
                <a16:creationId xmlns:a16="http://schemas.microsoft.com/office/drawing/2014/main" id="{B30A908E-8BB1-DF30-8796-B4D497C8E20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p:cNvSpPr>
            <a:spLocks noGrp="1" noChangeArrowheads="1"/>
          </p:cNvSpPr>
          <p:nvPr>
            <p:ph type="ctrTitle" sz="quarter"/>
          </p:nvPr>
        </p:nvSpPr>
        <p:spPr>
          <a:xfrm>
            <a:off x="228600" y="152400"/>
            <a:ext cx="7086600" cy="2286000"/>
          </a:xfrm>
        </p:spPr>
        <p:txBody>
          <a:bodyPr wrap="none" anchor="ctr"/>
          <a:lstStyle>
            <a:lvl1pPr>
              <a:defRPr sz="6600">
                <a:solidFill>
                  <a:srgbClr val="990033"/>
                </a:solidFill>
              </a:defRPr>
            </a:lvl1pPr>
          </a:lstStyle>
          <a:p>
            <a:r>
              <a:rPr lang="en-US"/>
              <a:t>Click to edit Master title style</a:t>
            </a:r>
          </a:p>
        </p:txBody>
      </p:sp>
      <p:sp>
        <p:nvSpPr>
          <p:cNvPr id="4134" name="Rectangle 38" descr="Pink tissue paper"/>
          <p:cNvSpPr>
            <a:spLocks noGrp="1" noChangeArrowheads="1"/>
          </p:cNvSpPr>
          <p:nvPr>
            <p:ph type="subTitle" sz="quarter" idx="1"/>
          </p:nvPr>
        </p:nvSpPr>
        <p:spPr>
          <a:xfrm>
            <a:off x="304800" y="2590800"/>
            <a:ext cx="6629400" cy="1905000"/>
          </a:xfrm>
        </p:spPr>
        <p:txBody>
          <a:bodyPr/>
          <a:lstStyle>
            <a:lvl1pPr marL="0" indent="0">
              <a:buFont typeface="Wingdings" pitchFamily="2" charset="2"/>
              <a:buNone/>
              <a:defRPr sz="3200"/>
            </a:lvl1pPr>
          </a:lstStyle>
          <a:p>
            <a:r>
              <a:rPr lang="en-US"/>
              <a:t>Click to edit Master subtitle style</a:t>
            </a:r>
          </a:p>
        </p:txBody>
      </p:sp>
      <p:sp>
        <p:nvSpPr>
          <p:cNvPr id="7" name="Rectangle 29">
            <a:extLst>
              <a:ext uri="{FF2B5EF4-FFF2-40B4-BE49-F238E27FC236}">
                <a16:creationId xmlns:a16="http://schemas.microsoft.com/office/drawing/2014/main" id="{412A5DBE-C1D9-7BC1-CA37-AA55ABB520D8}"/>
              </a:ext>
            </a:extLst>
          </p:cNvPr>
          <p:cNvSpPr>
            <a:spLocks noGrp="1" noChangeArrowheads="1"/>
          </p:cNvSpPr>
          <p:nvPr>
            <p:ph type="ftr" sz="quarter" idx="10"/>
          </p:nvPr>
        </p:nvSpPr>
        <p:spPr bwMode="auto">
          <a:xfrm>
            <a:off x="838200" y="6397625"/>
            <a:ext cx="4495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900"/>
            </a:lvl1pPr>
          </a:lstStyle>
          <a:p>
            <a:r>
              <a:rPr lang="en-US" altLang="en-US"/>
              <a:t>Northeastern University</a:t>
            </a:r>
          </a:p>
        </p:txBody>
      </p:sp>
    </p:spTree>
    <p:extLst>
      <p:ext uri="{BB962C8B-B14F-4D97-AF65-F5344CB8AC3E}">
        <p14:creationId xmlns:p14="http://schemas.microsoft.com/office/powerpoint/2010/main" val="266046761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E438DC50-8399-7D0E-7CC9-076F54D810A3}"/>
              </a:ext>
            </a:extLst>
          </p:cNvPr>
          <p:cNvSpPr>
            <a:spLocks noGrp="1" noChangeArrowheads="1"/>
          </p:cNvSpPr>
          <p:nvPr>
            <p:ph type="sldNum" sz="quarter" idx="10"/>
          </p:nvPr>
        </p:nvSpPr>
        <p:spPr>
          <a:ln/>
        </p:spPr>
        <p:txBody>
          <a:bodyPr/>
          <a:lstStyle>
            <a:lvl1pPr>
              <a:defRPr/>
            </a:lvl1pPr>
          </a:lstStyle>
          <a:p>
            <a:r>
              <a:rPr lang="en-US" altLang="en-US"/>
              <a:t>Slide 3- </a:t>
            </a:r>
            <a:fld id="{6D11F7FA-F962-4577-ADCF-9A3DA7313C6D}" type="slidenum">
              <a:rPr lang="en-US" altLang="en-US"/>
              <a:pPr/>
              <a:t>‹#›</a:t>
            </a:fld>
            <a:endParaRPr lang="en-CA" altLang="en-US"/>
          </a:p>
        </p:txBody>
      </p:sp>
      <p:sp>
        <p:nvSpPr>
          <p:cNvPr id="5" name="Title 4">
            <a:extLst>
              <a:ext uri="{FF2B5EF4-FFF2-40B4-BE49-F238E27FC236}">
                <a16:creationId xmlns:a16="http://schemas.microsoft.com/office/drawing/2014/main" id="{2E06DFDE-0D8C-2BAB-A47A-828B1FF5574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279378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a:extLst>
              <a:ext uri="{FF2B5EF4-FFF2-40B4-BE49-F238E27FC236}">
                <a16:creationId xmlns:a16="http://schemas.microsoft.com/office/drawing/2014/main" id="{05E02B4C-60DF-2D4A-09A6-5FDC2FB18326}"/>
              </a:ext>
            </a:extLst>
          </p:cNvPr>
          <p:cNvSpPr>
            <a:spLocks noGrp="1" noChangeArrowheads="1"/>
          </p:cNvSpPr>
          <p:nvPr>
            <p:ph type="sldNum" sz="quarter" idx="10"/>
          </p:nvPr>
        </p:nvSpPr>
        <p:spPr>
          <a:ln/>
        </p:spPr>
        <p:txBody>
          <a:bodyPr/>
          <a:lstStyle>
            <a:lvl1pPr>
              <a:defRPr/>
            </a:lvl1pPr>
          </a:lstStyle>
          <a:p>
            <a:r>
              <a:rPr lang="en-US" altLang="en-US"/>
              <a:t>Slide 3- </a:t>
            </a:r>
            <a:fld id="{2DDCA2E4-E4E8-4707-8801-983347534CF6}" type="slidenum">
              <a:rPr lang="en-US" altLang="en-US"/>
              <a:pPr/>
              <a:t>‹#›</a:t>
            </a:fld>
            <a:endParaRPr lang="en-CA" altLang="en-US"/>
          </a:p>
        </p:txBody>
      </p:sp>
    </p:spTree>
    <p:extLst>
      <p:ext uri="{BB962C8B-B14F-4D97-AF65-F5344CB8AC3E}">
        <p14:creationId xmlns:p14="http://schemas.microsoft.com/office/powerpoint/2010/main" val="239958384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92EFF6DF-CD1D-7B36-D415-E809929F957E}"/>
              </a:ext>
            </a:extLst>
          </p:cNvPr>
          <p:cNvSpPr>
            <a:spLocks noGrp="1" noChangeArrowheads="1"/>
          </p:cNvSpPr>
          <p:nvPr>
            <p:ph type="sldNum" sz="quarter" idx="10"/>
          </p:nvPr>
        </p:nvSpPr>
        <p:spPr>
          <a:ln/>
        </p:spPr>
        <p:txBody>
          <a:bodyPr/>
          <a:lstStyle>
            <a:lvl1pPr>
              <a:defRPr/>
            </a:lvl1pPr>
          </a:lstStyle>
          <a:p>
            <a:r>
              <a:rPr lang="en-US" altLang="en-US"/>
              <a:t>Slide 3- </a:t>
            </a:r>
            <a:fld id="{6BF6EE21-B1DB-4459-9D16-66B86D8A2CE5}" type="slidenum">
              <a:rPr lang="en-US" altLang="en-US"/>
              <a:pPr/>
              <a:t>‹#›</a:t>
            </a:fld>
            <a:endParaRPr lang="en-CA" altLang="en-US"/>
          </a:p>
        </p:txBody>
      </p:sp>
    </p:spTree>
    <p:extLst>
      <p:ext uri="{BB962C8B-B14F-4D97-AF65-F5344CB8AC3E}">
        <p14:creationId xmlns:p14="http://schemas.microsoft.com/office/powerpoint/2010/main" val="424346176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C5E47F20-FE0F-8A99-7916-B7FFDB0D1B9F}"/>
              </a:ext>
            </a:extLst>
          </p:cNvPr>
          <p:cNvSpPr>
            <a:spLocks noGrp="1" noChangeArrowheads="1"/>
          </p:cNvSpPr>
          <p:nvPr>
            <p:ph type="sldNum" sz="quarter" idx="10"/>
          </p:nvPr>
        </p:nvSpPr>
        <p:spPr>
          <a:ln/>
        </p:spPr>
        <p:txBody>
          <a:bodyPr/>
          <a:lstStyle>
            <a:lvl1pPr>
              <a:defRPr/>
            </a:lvl1pPr>
          </a:lstStyle>
          <a:p>
            <a:r>
              <a:rPr lang="en-US" altLang="en-US"/>
              <a:t>Slide 3- </a:t>
            </a:r>
            <a:fld id="{5F0E453B-5D73-4993-99A9-0B2CC8584F7E}" type="slidenum">
              <a:rPr lang="en-US" altLang="en-US"/>
              <a:pPr/>
              <a:t>‹#›</a:t>
            </a:fld>
            <a:endParaRPr lang="en-CA" altLang="en-US"/>
          </a:p>
        </p:txBody>
      </p:sp>
    </p:spTree>
    <p:extLst>
      <p:ext uri="{BB962C8B-B14F-4D97-AF65-F5344CB8AC3E}">
        <p14:creationId xmlns:p14="http://schemas.microsoft.com/office/powerpoint/2010/main" val="313065095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72099567-25E2-96B6-EDFE-7F8D534C2719}"/>
              </a:ext>
            </a:extLst>
          </p:cNvPr>
          <p:cNvSpPr>
            <a:spLocks noGrp="1" noChangeArrowheads="1"/>
          </p:cNvSpPr>
          <p:nvPr>
            <p:ph type="sldNum" sz="quarter" idx="10"/>
          </p:nvPr>
        </p:nvSpPr>
        <p:spPr>
          <a:ln/>
        </p:spPr>
        <p:txBody>
          <a:bodyPr/>
          <a:lstStyle>
            <a:lvl1pPr>
              <a:defRPr/>
            </a:lvl1pPr>
          </a:lstStyle>
          <a:p>
            <a:r>
              <a:rPr lang="en-US" altLang="en-US"/>
              <a:t>Slide 3- </a:t>
            </a:r>
            <a:fld id="{9228F43B-1751-4133-BFDC-FCBB34AB8CDD}" type="slidenum">
              <a:rPr lang="en-US" altLang="en-US"/>
              <a:pPr/>
              <a:t>‹#›</a:t>
            </a:fld>
            <a:endParaRPr lang="en-CA" altLang="en-US"/>
          </a:p>
        </p:txBody>
      </p:sp>
    </p:spTree>
    <p:extLst>
      <p:ext uri="{BB962C8B-B14F-4D97-AF65-F5344CB8AC3E}">
        <p14:creationId xmlns:p14="http://schemas.microsoft.com/office/powerpoint/2010/main" val="282979040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A9262FAE-CED8-1AE6-3940-72120743CAF6}"/>
              </a:ext>
            </a:extLst>
          </p:cNvPr>
          <p:cNvSpPr>
            <a:spLocks noGrp="1" noChangeArrowheads="1"/>
          </p:cNvSpPr>
          <p:nvPr>
            <p:ph type="sldNum" sz="quarter" idx="10"/>
          </p:nvPr>
        </p:nvSpPr>
        <p:spPr>
          <a:ln/>
        </p:spPr>
        <p:txBody>
          <a:bodyPr/>
          <a:lstStyle>
            <a:lvl1pPr>
              <a:defRPr/>
            </a:lvl1pPr>
          </a:lstStyle>
          <a:p>
            <a:r>
              <a:rPr lang="en-US" altLang="en-US"/>
              <a:t>Slide 3- </a:t>
            </a:r>
            <a:fld id="{1864B7D0-CEEA-40DC-BC32-EE9584BC8EF1}" type="slidenum">
              <a:rPr lang="en-US" altLang="en-US"/>
              <a:pPr/>
              <a:t>‹#›</a:t>
            </a:fld>
            <a:endParaRPr lang="en-CA" altLang="en-US"/>
          </a:p>
        </p:txBody>
      </p:sp>
    </p:spTree>
    <p:extLst>
      <p:ext uri="{BB962C8B-B14F-4D97-AF65-F5344CB8AC3E}">
        <p14:creationId xmlns:p14="http://schemas.microsoft.com/office/powerpoint/2010/main" val="20208653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67C0F642-E8F4-6934-F2FE-167DD3273D1C}"/>
              </a:ext>
            </a:extLst>
          </p:cNvPr>
          <p:cNvSpPr>
            <a:spLocks noGrp="1" noChangeArrowheads="1"/>
          </p:cNvSpPr>
          <p:nvPr>
            <p:ph type="sldNum" sz="quarter" idx="10"/>
          </p:nvPr>
        </p:nvSpPr>
        <p:spPr>
          <a:ln/>
        </p:spPr>
        <p:txBody>
          <a:bodyPr/>
          <a:lstStyle>
            <a:lvl1pPr>
              <a:defRPr/>
            </a:lvl1pPr>
          </a:lstStyle>
          <a:p>
            <a:r>
              <a:rPr lang="en-US" altLang="en-US"/>
              <a:t>Slide 3- </a:t>
            </a:r>
            <a:fld id="{9291CF21-B795-44F6-8698-4D5963511A92}" type="slidenum">
              <a:rPr lang="en-US" altLang="en-US"/>
              <a:pPr/>
              <a:t>‹#›</a:t>
            </a:fld>
            <a:endParaRPr lang="en-CA" altLang="en-US"/>
          </a:p>
        </p:txBody>
      </p:sp>
    </p:spTree>
    <p:extLst>
      <p:ext uri="{BB962C8B-B14F-4D97-AF65-F5344CB8AC3E}">
        <p14:creationId xmlns:p14="http://schemas.microsoft.com/office/powerpoint/2010/main" val="94350635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a:extLst>
              <a:ext uri="{FF2B5EF4-FFF2-40B4-BE49-F238E27FC236}">
                <a16:creationId xmlns:a16="http://schemas.microsoft.com/office/drawing/2014/main" id="{1EA5FE8D-DC64-2F97-5A4A-79F36DC9F943}"/>
              </a:ext>
            </a:extLst>
          </p:cNvPr>
          <p:cNvSpPr>
            <a:spLocks noGrp="1" noChangeArrowheads="1"/>
          </p:cNvSpPr>
          <p:nvPr>
            <p:ph type="sldNum" sz="quarter" idx="10"/>
          </p:nvPr>
        </p:nvSpPr>
        <p:spPr>
          <a:ln/>
        </p:spPr>
        <p:txBody>
          <a:bodyPr/>
          <a:lstStyle>
            <a:lvl1pPr>
              <a:defRPr/>
            </a:lvl1pPr>
          </a:lstStyle>
          <a:p>
            <a:r>
              <a:rPr lang="en-US" altLang="en-US"/>
              <a:t>Slide 3- </a:t>
            </a:r>
            <a:fld id="{EAB7105D-7781-4254-BB81-B8A68CFF1D86}" type="slidenum">
              <a:rPr lang="en-US" altLang="en-US"/>
              <a:pPr/>
              <a:t>‹#›</a:t>
            </a:fld>
            <a:endParaRPr lang="en-CA" altLang="en-US"/>
          </a:p>
        </p:txBody>
      </p:sp>
    </p:spTree>
    <p:extLst>
      <p:ext uri="{BB962C8B-B14F-4D97-AF65-F5344CB8AC3E}">
        <p14:creationId xmlns:p14="http://schemas.microsoft.com/office/powerpoint/2010/main" val="258989041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37407615-DA2F-2C81-05B8-A65A5FB8BCDC}"/>
              </a:ext>
            </a:extLst>
          </p:cNvPr>
          <p:cNvSpPr>
            <a:spLocks noGrp="1" noChangeArrowheads="1"/>
          </p:cNvSpPr>
          <p:nvPr>
            <p:ph type="sldNum" sz="quarter" idx="10"/>
          </p:nvPr>
        </p:nvSpPr>
        <p:spPr>
          <a:ln/>
        </p:spPr>
        <p:txBody>
          <a:bodyPr/>
          <a:lstStyle>
            <a:lvl1pPr>
              <a:defRPr/>
            </a:lvl1pPr>
          </a:lstStyle>
          <a:p>
            <a:r>
              <a:rPr lang="en-US" altLang="en-US"/>
              <a:t>Slide 3- </a:t>
            </a:r>
            <a:fld id="{EB3B84DC-0E49-4764-A83F-DD74C6522E76}" type="slidenum">
              <a:rPr lang="en-US" altLang="en-US"/>
              <a:pPr/>
              <a:t>‹#›</a:t>
            </a:fld>
            <a:endParaRPr lang="en-CA" altLang="en-US"/>
          </a:p>
        </p:txBody>
      </p:sp>
    </p:spTree>
    <p:extLst>
      <p:ext uri="{BB962C8B-B14F-4D97-AF65-F5344CB8AC3E}">
        <p14:creationId xmlns:p14="http://schemas.microsoft.com/office/powerpoint/2010/main" val="100345839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85485054-0749-7B3A-5BBF-CF2047EA0529}"/>
              </a:ext>
            </a:extLst>
          </p:cNvPr>
          <p:cNvSpPr>
            <a:spLocks noGrp="1" noChangeArrowheads="1"/>
          </p:cNvSpPr>
          <p:nvPr>
            <p:ph type="sldNum" sz="quarter" idx="10"/>
          </p:nvPr>
        </p:nvSpPr>
        <p:spPr>
          <a:ln/>
        </p:spPr>
        <p:txBody>
          <a:bodyPr/>
          <a:lstStyle>
            <a:lvl1pPr>
              <a:defRPr/>
            </a:lvl1pPr>
          </a:lstStyle>
          <a:p>
            <a:r>
              <a:rPr lang="en-US" altLang="en-US"/>
              <a:t>Slide 3- </a:t>
            </a:r>
            <a:fld id="{A91B246A-188E-44DD-9E24-D255D121D829}" type="slidenum">
              <a:rPr lang="en-US" altLang="en-US"/>
              <a:pPr/>
              <a:t>‹#›</a:t>
            </a:fld>
            <a:endParaRPr lang="en-CA" altLang="en-US"/>
          </a:p>
        </p:txBody>
      </p:sp>
    </p:spTree>
    <p:extLst>
      <p:ext uri="{BB962C8B-B14F-4D97-AF65-F5344CB8AC3E}">
        <p14:creationId xmlns:p14="http://schemas.microsoft.com/office/powerpoint/2010/main" val="308167641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a:extLst>
              <a:ext uri="{FF2B5EF4-FFF2-40B4-BE49-F238E27FC236}">
                <a16:creationId xmlns:a16="http://schemas.microsoft.com/office/drawing/2014/main" id="{B0E38FEA-4118-EC14-B467-5DB6031259FE}"/>
              </a:ext>
            </a:extLst>
          </p:cNvPr>
          <p:cNvGrpSpPr>
            <a:grpSpLocks/>
          </p:cNvGrpSpPr>
          <p:nvPr userDrawn="1"/>
        </p:nvGrpSpPr>
        <p:grpSpPr bwMode="auto">
          <a:xfrm>
            <a:off x="8936038" y="1449388"/>
            <a:ext cx="207962" cy="5408612"/>
            <a:chOff x="5606" y="889"/>
            <a:chExt cx="154" cy="3431"/>
          </a:xfrm>
        </p:grpSpPr>
        <p:sp>
          <p:nvSpPr>
            <p:cNvPr id="1032" name="Rectangle 38">
              <a:extLst>
                <a:ext uri="{FF2B5EF4-FFF2-40B4-BE49-F238E27FC236}">
                  <a16:creationId xmlns:a16="http://schemas.microsoft.com/office/drawing/2014/main" id="{A2DE8DAD-1A83-F5B0-0EFD-08032DDD9FBE}"/>
                </a:ext>
              </a:extLst>
            </p:cNvPr>
            <p:cNvSpPr>
              <a:spLocks noChangeArrowheads="1"/>
            </p:cNvSpPr>
            <p:nvPr userDrawn="1"/>
          </p:nvSpPr>
          <p:spPr bwMode="gray">
            <a:xfrm flipH="1">
              <a:off x="5685" y="889"/>
              <a:ext cx="75" cy="3431"/>
            </a:xfrm>
            <a:prstGeom prst="rect">
              <a:avLst/>
            </a:prstGeom>
            <a:solidFill>
              <a:srgbClr val="677228"/>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grpSp>
          <p:nvGrpSpPr>
            <p:cNvPr id="1033" name="Group 44">
              <a:extLst>
                <a:ext uri="{FF2B5EF4-FFF2-40B4-BE49-F238E27FC236}">
                  <a16:creationId xmlns:a16="http://schemas.microsoft.com/office/drawing/2014/main" id="{582D6A6F-C337-774C-CE66-F9F191BB61CB}"/>
                </a:ext>
              </a:extLst>
            </p:cNvPr>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E54AD457-CB98-EDB6-528F-E2AD1C9B33CF}"/>
                  </a:ext>
                </a:extLst>
              </p:cNvPr>
              <p:cNvSpPr>
                <a:spLocks noChangeArrowheads="1"/>
              </p:cNvSpPr>
              <p:nvPr userDrawn="1"/>
            </p:nvSpPr>
            <p:spPr bwMode="gray">
              <a:xfrm rot="10800000" flipH="1">
                <a:off x="5606" y="889"/>
                <a:ext cx="58" cy="3431"/>
              </a:xfrm>
              <a:prstGeom prst="rect">
                <a:avLst/>
              </a:prstGeom>
              <a:solidFill>
                <a:schemeClr val="tx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sp>
            <p:nvSpPr>
              <p:cNvPr id="1035" name="Rectangle 32">
                <a:extLst>
                  <a:ext uri="{FF2B5EF4-FFF2-40B4-BE49-F238E27FC236}">
                    <a16:creationId xmlns:a16="http://schemas.microsoft.com/office/drawing/2014/main" id="{E8D9ED74-C546-E203-D27A-E69872DEE72E}"/>
                  </a:ext>
                </a:extLst>
              </p:cNvPr>
              <p:cNvSpPr>
                <a:spLocks noChangeArrowheads="1"/>
              </p:cNvSpPr>
              <p:nvPr userDrawn="1"/>
            </p:nvSpPr>
            <p:spPr bwMode="gray">
              <a:xfrm rot="10800000" flipH="1">
                <a:off x="5654" y="889"/>
                <a:ext cx="58" cy="3431"/>
              </a:xfrm>
              <a:prstGeom prst="rect">
                <a:avLst/>
              </a:prstGeom>
              <a:solidFill>
                <a:srgbClr val="990033"/>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grpSp>
      </p:grpSp>
      <p:sp>
        <p:nvSpPr>
          <p:cNvPr id="1027" name="Rectangle 37">
            <a:extLst>
              <a:ext uri="{FF2B5EF4-FFF2-40B4-BE49-F238E27FC236}">
                <a16:creationId xmlns:a16="http://schemas.microsoft.com/office/drawing/2014/main" id="{EFB73BAF-E6B6-A271-774A-3D604C4C0864}"/>
              </a:ext>
            </a:extLst>
          </p:cNvPr>
          <p:cNvSpPr>
            <a:spLocks noChangeArrowheads="1"/>
          </p:cNvSpPr>
          <p:nvPr userDrawn="1"/>
        </p:nvSpPr>
        <p:spPr bwMode="gray">
          <a:xfrm rot="-5400000">
            <a:off x="3845719" y="-3845719"/>
            <a:ext cx="1449388" cy="9140825"/>
          </a:xfrm>
          <a:prstGeom prst="rect">
            <a:avLst/>
          </a:prstGeom>
          <a:solidFill>
            <a:srgbClr val="677228">
              <a:alpha val="36078"/>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a typeface="+mn-ea"/>
            </a:endParaRPr>
          </a:p>
        </p:txBody>
      </p:sp>
      <p:sp>
        <p:nvSpPr>
          <p:cNvPr id="1028" name="Rectangle 9">
            <a:extLst>
              <a:ext uri="{FF2B5EF4-FFF2-40B4-BE49-F238E27FC236}">
                <a16:creationId xmlns:a16="http://schemas.microsoft.com/office/drawing/2014/main" id="{3FBC104B-7B17-A998-62AA-7000AB9FE0BF}"/>
              </a:ext>
            </a:extLst>
          </p:cNvPr>
          <p:cNvSpPr>
            <a:spLocks noGrp="1" noChangeArrowheads="1"/>
          </p:cNvSpPr>
          <p:nvPr>
            <p:ph type="title"/>
          </p:nvPr>
        </p:nvSpPr>
        <p:spPr bwMode="auto">
          <a:xfrm>
            <a:off x="228600" y="303213"/>
            <a:ext cx="7796213"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5" name="Rectangle 13">
            <a:extLst>
              <a:ext uri="{FF2B5EF4-FFF2-40B4-BE49-F238E27FC236}">
                <a16:creationId xmlns:a16="http://schemas.microsoft.com/office/drawing/2014/main" id="{C46E5562-8FB5-0F52-6E7A-449EF9497FCE}"/>
              </a:ext>
            </a:extLst>
          </p:cNvPr>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r>
              <a:rPr lang="en-US" altLang="en-US"/>
              <a:t>Slide 3- </a:t>
            </a:r>
            <a:fld id="{63556D4A-20FD-4670-83D8-56E03A0EB71B}" type="slidenum">
              <a:rPr lang="en-US" altLang="en-US"/>
              <a:pPr/>
              <a:t>‹#›</a:t>
            </a:fld>
            <a:endParaRPr lang="en-CA" altLang="en-US"/>
          </a:p>
        </p:txBody>
      </p:sp>
      <p:sp>
        <p:nvSpPr>
          <p:cNvPr id="1030" name="Rectangle 21">
            <a:extLst>
              <a:ext uri="{FF2B5EF4-FFF2-40B4-BE49-F238E27FC236}">
                <a16:creationId xmlns:a16="http://schemas.microsoft.com/office/drawing/2014/main" id="{4D4C38C0-AB0B-5EE1-DF6E-7A365721C1CA}"/>
              </a:ext>
            </a:extLst>
          </p:cNvPr>
          <p:cNvSpPr>
            <a:spLocks noGrp="1" noChangeArrowheads="1"/>
          </p:cNvSpPr>
          <p:nvPr>
            <p:ph type="body" idx="1"/>
          </p:nvPr>
        </p:nvSpPr>
        <p:spPr bwMode="auto">
          <a:xfrm>
            <a:off x="239713" y="1600200"/>
            <a:ext cx="82946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Rectangle 30">
            <a:extLst>
              <a:ext uri="{FF2B5EF4-FFF2-40B4-BE49-F238E27FC236}">
                <a16:creationId xmlns:a16="http://schemas.microsoft.com/office/drawing/2014/main" id="{0F559BED-7145-F311-A90C-9CE1CCA44A4D}"/>
              </a:ext>
            </a:extLst>
          </p:cNvPr>
          <p:cNvSpPr>
            <a:spLocks noChangeArrowheads="1"/>
          </p:cNvSpPr>
          <p:nvPr/>
        </p:nvSpPr>
        <p:spPr bwMode="auto">
          <a:xfrm>
            <a:off x="838200" y="639762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en-US" sz="900"/>
              <a:t>Copyright © 2016 Ramez Elmasr and Shamkant B. Navathei</a:t>
            </a:r>
          </a:p>
        </p:txBody>
      </p:sp>
    </p:spTree>
  </p:cSld>
  <p:clrMap bg1="lt1" tx1="dk1" bg2="lt2" tx2="dk2" accent1="accent1" accent2="accent2" accent3="accent3" accent4="accent4" accent5="accent5" accent6="accent6" hlink="hlink" folHlink="folHlink"/>
  <p:sldLayoutIdLst>
    <p:sldLayoutId id="2147483756"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hf hdr="0"/>
  <p:txStyles>
    <p:titleStyle>
      <a:lvl1pPr algn="l" rtl="0" eaLnBrk="0" fontAlgn="base" hangingPunct="0">
        <a:spcBef>
          <a:spcPct val="0"/>
        </a:spcBef>
        <a:spcAft>
          <a:spcPct val="0"/>
        </a:spcAft>
        <a:defRPr sz="3600">
          <a:solidFill>
            <a:srgbClr val="800000"/>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2pPr>
      <a:lvl3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3pPr>
      <a:lvl4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4pPr>
      <a:lvl5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ＭＳ Ｐゴシック"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a:solidFill>
            <a:schemeClr val="tx2"/>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a:solidFill>
            <a:srgbClr val="800000"/>
          </a:solidFill>
          <a:latin typeface="+mn-lt"/>
          <a:ea typeface="MS PGothic" panose="020B0600070205080204" pitchFamily="34" charset="-128"/>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a:solidFill>
            <a:schemeClr val="tx2"/>
          </a:solidFill>
          <a:latin typeface="+mn-lt"/>
          <a:ea typeface="MS PGothic" panose="020B0600070205080204" pitchFamily="34" charset="-128"/>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a:solidFill>
            <a:srgbClr val="800000"/>
          </a:solidFill>
          <a:latin typeface="+mn-lt"/>
          <a:ea typeface="MS PGothic" panose="020B0600070205080204" pitchFamily="34" charset="-128"/>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mn-lt"/>
          <a:ea typeface="MS PGothic" panose="020B0600070205080204" pitchFamily="34" charset="-128"/>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6769" y="305903"/>
            <a:ext cx="6946690" cy="970298"/>
          </a:xfrm>
          <a:prstGeom prst="rect">
            <a:avLst/>
          </a:prstGeom>
        </p:spPr>
        <p:txBody>
          <a:bodyPr vert="horz" wrap="square" lIns="0" tIns="71914" rIns="0" bIns="0" numCol="1" rtlCol="0" anchor="b" anchorCtr="0" compatLnSpc="1">
            <a:prstTxWarp prst="textNoShape">
              <a:avLst/>
            </a:prstTxWarp>
            <a:spAutoFit/>
          </a:bodyPr>
          <a:lstStyle/>
          <a:p>
            <a:pPr marR="3810" indent="9525" algn="ctr">
              <a:lnSpc>
                <a:spcPts val="3510"/>
              </a:lnSpc>
              <a:spcBef>
                <a:spcPts val="566"/>
              </a:spcBef>
            </a:pPr>
            <a:r>
              <a:rPr lang="en-US" spc="-8" dirty="0"/>
              <a:t>Database</a:t>
            </a:r>
            <a:r>
              <a:rPr lang="en-US" spc="-135" dirty="0"/>
              <a:t> </a:t>
            </a:r>
            <a:r>
              <a:rPr lang="en-US" spc="-8" dirty="0"/>
              <a:t>Management</a:t>
            </a:r>
            <a:r>
              <a:rPr lang="en-US" spc="-131" dirty="0"/>
              <a:t> </a:t>
            </a:r>
            <a:r>
              <a:rPr lang="en-US" spc="-8" dirty="0"/>
              <a:t>Systems</a:t>
            </a:r>
            <a:br>
              <a:rPr lang="en-US" spc="-8" dirty="0"/>
            </a:br>
            <a:r>
              <a:rPr lang="en-US" dirty="0"/>
              <a:t>CS</a:t>
            </a:r>
            <a:r>
              <a:rPr lang="en-US" spc="-4" dirty="0"/>
              <a:t> </a:t>
            </a:r>
            <a:r>
              <a:rPr lang="en-US" spc="-15" dirty="0"/>
              <a:t>5200</a:t>
            </a:r>
          </a:p>
        </p:txBody>
      </p:sp>
      <p:sp>
        <p:nvSpPr>
          <p:cNvPr id="8" name="Content Placeholder 7">
            <a:extLst>
              <a:ext uri="{FF2B5EF4-FFF2-40B4-BE49-F238E27FC236}">
                <a16:creationId xmlns:a16="http://schemas.microsoft.com/office/drawing/2014/main" id="{0EEEC073-C300-0BA6-BF8F-5EADB71A0948}"/>
              </a:ext>
            </a:extLst>
          </p:cNvPr>
          <p:cNvSpPr>
            <a:spLocks noGrp="1"/>
          </p:cNvSpPr>
          <p:nvPr>
            <p:ph idx="1"/>
          </p:nvPr>
        </p:nvSpPr>
        <p:spPr>
          <a:xfrm>
            <a:off x="239713" y="2133600"/>
            <a:ext cx="8294687" cy="4264024"/>
          </a:xfrm>
        </p:spPr>
        <p:txBody>
          <a:bodyPr/>
          <a:lstStyle/>
          <a:p>
            <a:r>
              <a:rPr lang="en-US" dirty="0"/>
              <a:t>Announcements:</a:t>
            </a:r>
          </a:p>
          <a:p>
            <a:pPr lvl="1"/>
            <a:r>
              <a:rPr lang="en-US" dirty="0"/>
              <a:t>Online Office Hours Link.</a:t>
            </a:r>
          </a:p>
          <a:p>
            <a:pPr lvl="1"/>
            <a:r>
              <a:rPr lang="en-US" dirty="0"/>
              <a:t>Name Tents</a:t>
            </a:r>
          </a:p>
          <a:p>
            <a:pPr lvl="2"/>
            <a:endParaRPr lang="en-US" dirty="0"/>
          </a:p>
          <a:p>
            <a:pPr lvl="1"/>
            <a:endParaRPr lang="en-US" sz="2000" dirty="0">
              <a:effectLst/>
              <a:latin typeface="Times New Roman" panose="02020603050405020304" pitchFamily="18" charset="0"/>
              <a:ea typeface="Times New Roman" panose="02020603050405020304" pitchFamily="18" charset="0"/>
            </a:endParaRPr>
          </a:p>
          <a:p>
            <a:pPr lvl="2"/>
            <a:endParaRPr lang="en-US" dirty="0"/>
          </a:p>
        </p:txBody>
      </p:sp>
      <p:sp>
        <p:nvSpPr>
          <p:cNvPr id="3" name="object 3"/>
          <p:cNvSpPr txBox="1"/>
          <p:nvPr/>
        </p:nvSpPr>
        <p:spPr>
          <a:xfrm>
            <a:off x="216640" y="1039964"/>
            <a:ext cx="1764030" cy="375583"/>
          </a:xfrm>
          <a:prstGeom prst="rect">
            <a:avLst/>
          </a:prstGeom>
        </p:spPr>
        <p:txBody>
          <a:bodyPr vert="horz" wrap="square" lIns="0" tIns="97631" rIns="0" bIns="0" rtlCol="0">
            <a:spAutoFit/>
          </a:bodyPr>
          <a:lstStyle/>
          <a:p>
            <a:pPr marL="9525" algn="ctr">
              <a:spcBef>
                <a:spcPts val="769"/>
              </a:spcBef>
            </a:pPr>
            <a:r>
              <a:rPr lang="en-US" sz="1800" spc="-56" dirty="0">
                <a:latin typeface="Calibri"/>
                <a:cs typeface="Calibri"/>
              </a:rPr>
              <a:t>Rached Zantout</a:t>
            </a:r>
            <a:endParaRPr sz="1800" dirty="0">
              <a:latin typeface="Calibri"/>
              <a:cs typeface="Calibri"/>
            </a:endParaRPr>
          </a:p>
        </p:txBody>
      </p:sp>
      <p:pic>
        <p:nvPicPr>
          <p:cNvPr id="4" name="object 4"/>
          <p:cNvPicPr/>
          <p:nvPr/>
        </p:nvPicPr>
        <p:blipFill>
          <a:blip r:embed="rId2" cstate="print"/>
          <a:stretch>
            <a:fillRect/>
          </a:stretch>
        </p:blipFill>
        <p:spPr>
          <a:xfrm>
            <a:off x="60542" y="437481"/>
            <a:ext cx="2076226" cy="588263"/>
          </a:xfrm>
          <a:prstGeom prst="rect">
            <a:avLst/>
          </a:prstGeom>
        </p:spPr>
      </p:pic>
      <p:sp>
        <p:nvSpPr>
          <p:cNvPr id="9" name="Rectangle 8">
            <a:extLst>
              <a:ext uri="{FF2B5EF4-FFF2-40B4-BE49-F238E27FC236}">
                <a16:creationId xmlns:a16="http://schemas.microsoft.com/office/drawing/2014/main" id="{C3E3999D-FC03-C440-417E-02768230A0F2}"/>
              </a:ext>
            </a:extLst>
          </p:cNvPr>
          <p:cNvSpPr/>
          <p:nvPr/>
        </p:nvSpPr>
        <p:spPr bwMode="auto">
          <a:xfrm>
            <a:off x="838200" y="6629400"/>
            <a:ext cx="3200400" cy="2286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5" name="Slide Number Placeholder 4">
            <a:extLst>
              <a:ext uri="{FF2B5EF4-FFF2-40B4-BE49-F238E27FC236}">
                <a16:creationId xmlns:a16="http://schemas.microsoft.com/office/drawing/2014/main" id="{CE9A03E2-6228-9F18-8E03-E94DA40D9E62}"/>
              </a:ext>
            </a:extLst>
          </p:cNvPr>
          <p:cNvSpPr>
            <a:spLocks noGrp="1"/>
          </p:cNvSpPr>
          <p:nvPr>
            <p:ph type="sldNum" sz="quarter" idx="10"/>
          </p:nvPr>
        </p:nvSpPr>
        <p:spPr/>
        <p:txBody>
          <a:bodyPr/>
          <a:lstStyle/>
          <a:p>
            <a:r>
              <a:rPr lang="en-US" altLang="en-US"/>
              <a:t>Slide 3- </a:t>
            </a:r>
            <a:fld id="{6D11F7FA-F962-4577-ADCF-9A3DA7313C6D}" type="slidenum">
              <a:rPr lang="en-US" altLang="en-US" smtClean="0"/>
              <a:pPr/>
              <a:t>1</a:t>
            </a:fld>
            <a:endParaRPr lang="en-CA"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AD23E-E664-BCCC-E837-3E07001F972D}"/>
              </a:ext>
            </a:extLst>
          </p:cNvPr>
          <p:cNvSpPr>
            <a:spLocks noGrp="1"/>
          </p:cNvSpPr>
          <p:nvPr>
            <p:ph type="title"/>
          </p:nvPr>
        </p:nvSpPr>
        <p:spPr>
          <a:xfrm>
            <a:off x="721108" y="381000"/>
            <a:ext cx="7768590" cy="507831"/>
          </a:xfrm>
        </p:spPr>
        <p:txBody>
          <a:bodyPr/>
          <a:lstStyle/>
          <a:p>
            <a:r>
              <a:rPr lang="en-US" dirty="0"/>
              <a:t>Plan for Today</a:t>
            </a:r>
          </a:p>
        </p:txBody>
      </p:sp>
      <p:sp>
        <p:nvSpPr>
          <p:cNvPr id="3" name="Text Placeholder 2">
            <a:extLst>
              <a:ext uri="{FF2B5EF4-FFF2-40B4-BE49-F238E27FC236}">
                <a16:creationId xmlns:a16="http://schemas.microsoft.com/office/drawing/2014/main" id="{00762D3C-C916-098A-F0BA-4594AC0AA438}"/>
              </a:ext>
            </a:extLst>
          </p:cNvPr>
          <p:cNvSpPr>
            <a:spLocks noGrp="1"/>
          </p:cNvSpPr>
          <p:nvPr>
            <p:ph type="body" idx="1"/>
          </p:nvPr>
        </p:nvSpPr>
        <p:spPr>
          <a:xfrm>
            <a:off x="687705" y="1885950"/>
            <a:ext cx="7768590" cy="4491990"/>
          </a:xfrm>
        </p:spPr>
        <p:txBody>
          <a:bodyPr>
            <a:normAutofit fontScale="55000" lnSpcReduction="20000"/>
          </a:bodyPr>
          <a:lstStyle/>
          <a:p>
            <a:pPr>
              <a:lnSpc>
                <a:spcPct val="150000"/>
              </a:lnSpc>
            </a:pPr>
            <a:r>
              <a:rPr lang="en-US" dirty="0"/>
              <a:t>Module 3: Chapter 03 Part 2 of 2 (75 minutes)</a:t>
            </a:r>
          </a:p>
          <a:p>
            <a:pPr lvl="1">
              <a:lnSpc>
                <a:spcPct val="150000"/>
              </a:lnSpc>
            </a:pPr>
            <a:r>
              <a:rPr lang="en-US" dirty="0">
                <a:ea typeface="ＭＳ Ｐゴシック" charset="0"/>
              </a:rPr>
              <a:t>Database System Concepts and Architecture - Continued</a:t>
            </a:r>
            <a:endParaRPr lang="en-US" dirty="0"/>
          </a:p>
          <a:p>
            <a:pPr>
              <a:lnSpc>
                <a:spcPct val="150000"/>
              </a:lnSpc>
            </a:pPr>
            <a:r>
              <a:rPr lang="en-US" dirty="0"/>
              <a:t>Discussion (15 minutes)</a:t>
            </a:r>
          </a:p>
          <a:p>
            <a:pPr lvl="1">
              <a:lnSpc>
                <a:spcPct val="150000"/>
              </a:lnSpc>
            </a:pPr>
            <a:r>
              <a:rPr lang="en-US" dirty="0"/>
              <a:t>Class Activity: Create an ER Diagram for a Case Study</a:t>
            </a:r>
          </a:p>
          <a:p>
            <a:pPr lvl="1">
              <a:lnSpc>
                <a:spcPct val="150000"/>
              </a:lnSpc>
            </a:pPr>
            <a:r>
              <a:rPr lang="en-US" dirty="0"/>
              <a:t>Assign Homework 02</a:t>
            </a:r>
          </a:p>
          <a:p>
            <a:pPr>
              <a:lnSpc>
                <a:spcPct val="150000"/>
              </a:lnSpc>
            </a:pPr>
            <a:r>
              <a:rPr lang="en-US" dirty="0"/>
              <a:t>Break (20 minutes)</a:t>
            </a:r>
          </a:p>
          <a:p>
            <a:pPr>
              <a:lnSpc>
                <a:spcPct val="150000"/>
              </a:lnSpc>
            </a:pPr>
            <a:r>
              <a:rPr lang="en-US" dirty="0"/>
              <a:t>Module 3: Chapter 04 (75 minutes)</a:t>
            </a:r>
          </a:p>
          <a:p>
            <a:pPr lvl="1">
              <a:lnSpc>
                <a:spcPct val="150000"/>
              </a:lnSpc>
            </a:pPr>
            <a:r>
              <a:rPr lang="en-US" dirty="0"/>
              <a:t>Enhanced ER Model</a:t>
            </a:r>
          </a:p>
          <a:p>
            <a:pPr>
              <a:lnSpc>
                <a:spcPct val="150000"/>
              </a:lnSpc>
            </a:pPr>
            <a:r>
              <a:rPr lang="en-US" dirty="0"/>
              <a:t>Discussion (10 minutes)</a:t>
            </a:r>
          </a:p>
          <a:p>
            <a:pPr lvl="1">
              <a:lnSpc>
                <a:spcPct val="150000"/>
              </a:lnSpc>
            </a:pPr>
            <a:r>
              <a:rPr lang="en-US" dirty="0"/>
              <a:t>Class Activity: EER diagram for a Library Inventory management system.</a:t>
            </a:r>
          </a:p>
          <a:p>
            <a:pPr lvl="1">
              <a:lnSpc>
                <a:spcPct val="150000"/>
              </a:lnSpc>
            </a:pPr>
            <a:r>
              <a:rPr lang="en-US" dirty="0"/>
              <a:t>Assign Lab 02: ER Modeling</a:t>
            </a:r>
          </a:p>
          <a:p>
            <a:pPr>
              <a:lnSpc>
                <a:spcPct val="150000"/>
              </a:lnSpc>
            </a:pPr>
            <a:r>
              <a:rPr lang="en-US" dirty="0"/>
              <a:t>Review Deliverables (5 minutes)</a:t>
            </a:r>
          </a:p>
        </p:txBody>
      </p:sp>
      <p:sp>
        <p:nvSpPr>
          <p:cNvPr id="6" name="Slide Number Placeholder 5">
            <a:extLst>
              <a:ext uri="{FF2B5EF4-FFF2-40B4-BE49-F238E27FC236}">
                <a16:creationId xmlns:a16="http://schemas.microsoft.com/office/drawing/2014/main" id="{2CF49940-2FEB-61DC-5559-F0EF75A94C53}"/>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2</a:t>
            </a:fld>
            <a:endParaRPr lang="en-US" spc="-19" dirty="0"/>
          </a:p>
        </p:txBody>
      </p:sp>
      <p:sp>
        <p:nvSpPr>
          <p:cNvPr id="7" name="Rectangle 6">
            <a:extLst>
              <a:ext uri="{FF2B5EF4-FFF2-40B4-BE49-F238E27FC236}">
                <a16:creationId xmlns:a16="http://schemas.microsoft.com/office/drawing/2014/main" id="{EA6A7182-3D9C-7185-025D-A602FB67F5EA}"/>
              </a:ext>
            </a:extLst>
          </p:cNvPr>
          <p:cNvSpPr/>
          <p:nvPr/>
        </p:nvSpPr>
        <p:spPr bwMode="auto">
          <a:xfrm>
            <a:off x="838200" y="6629400"/>
            <a:ext cx="3200400" cy="2286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40709819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D5A6EF44-DB6B-C0BA-AD99-1475097F79EF}"/>
              </a:ext>
            </a:extLst>
          </p:cNvPr>
          <p:cNvSpPr>
            <a:spLocks noGrp="1"/>
          </p:cNvSpPr>
          <p:nvPr>
            <p:ph type="title"/>
          </p:nvPr>
        </p:nvSpPr>
        <p:spPr>
          <a:xfrm>
            <a:off x="228600" y="303213"/>
            <a:ext cx="7796213" cy="992187"/>
          </a:xfrm>
        </p:spPr>
        <p:txBody>
          <a:bodyPr/>
          <a:lstStyle/>
          <a:p>
            <a:r>
              <a:rPr lang="en-US" altLang="en-US"/>
              <a:t> </a:t>
            </a:r>
          </a:p>
        </p:txBody>
      </p:sp>
      <p:sp>
        <p:nvSpPr>
          <p:cNvPr id="3" name="Content Placeholder 2">
            <a:extLst>
              <a:ext uri="{FF2B5EF4-FFF2-40B4-BE49-F238E27FC236}">
                <a16:creationId xmlns:a16="http://schemas.microsoft.com/office/drawing/2014/main" id="{08E484ED-F74F-B90F-D7FF-C268CD03BBD1}"/>
              </a:ext>
            </a:extLst>
          </p:cNvPr>
          <p:cNvSpPr>
            <a:spLocks noGrp="1"/>
          </p:cNvSpPr>
          <p:nvPr>
            <p:ph idx="1"/>
          </p:nvPr>
        </p:nvSpPr>
        <p:spPr/>
        <p:txBody>
          <a:bodyPr/>
          <a:lstStyle/>
          <a:p>
            <a:pPr>
              <a:defRPr/>
            </a:pPr>
            <a:endParaRPr lang="en-US" dirty="0">
              <a:ea typeface="+mn-ea"/>
              <a:cs typeface="+mn-cs"/>
            </a:endParaRPr>
          </a:p>
          <a:p>
            <a:pPr>
              <a:defRPr/>
            </a:pPr>
            <a:endParaRPr lang="en-US" dirty="0">
              <a:ea typeface="+mn-ea"/>
              <a:cs typeface="+mn-cs"/>
            </a:endParaRPr>
          </a:p>
          <a:p>
            <a:pPr>
              <a:defRPr/>
            </a:pPr>
            <a:endParaRPr lang="en-US" dirty="0">
              <a:ea typeface="+mn-ea"/>
              <a:cs typeface="+mn-cs"/>
            </a:endParaRPr>
          </a:p>
          <a:p>
            <a:pPr marL="0" indent="0" algn="ctr">
              <a:buFont typeface="Wingdings" panose="05000000000000000000" pitchFamily="2" charset="2"/>
              <a:buNone/>
              <a:defRPr/>
            </a:pPr>
            <a:r>
              <a:rPr lang="en-US" sz="3200" b="1" dirty="0">
                <a:ea typeface="+mn-ea"/>
                <a:cs typeface="+mn-cs"/>
              </a:rPr>
              <a:t>CHAPTER 3 - continued</a:t>
            </a:r>
          </a:p>
          <a:p>
            <a:pPr marL="0" indent="0" algn="ctr">
              <a:buFont typeface="Wingdings" panose="05000000000000000000" pitchFamily="2" charset="2"/>
              <a:buNone/>
              <a:defRPr/>
            </a:pPr>
            <a:endParaRPr lang="en-US" sz="3200" b="1" dirty="0">
              <a:ea typeface="+mn-ea"/>
              <a:cs typeface="+mn-cs"/>
            </a:endParaRPr>
          </a:p>
          <a:p>
            <a:pPr algn="ctr" eaLnBrk="1" hangingPunct="1">
              <a:buFont typeface="Wingdings" charset="0"/>
              <a:buNone/>
              <a:defRPr/>
            </a:pPr>
            <a:r>
              <a:rPr lang="en-US" sz="3600" dirty="0">
                <a:ea typeface="ＭＳ Ｐゴシック" charset="0"/>
              </a:rPr>
              <a:t>Data Modeling Using the </a:t>
            </a:r>
            <a:br>
              <a:rPr lang="en-US" sz="3600" dirty="0">
                <a:ea typeface="ＭＳ Ｐゴシック" charset="0"/>
              </a:rPr>
            </a:br>
            <a:r>
              <a:rPr lang="en-US" sz="3600" dirty="0">
                <a:ea typeface="ＭＳ Ｐゴシック" charset="0"/>
              </a:rPr>
              <a:t>Entity-Relationship (ER) Model</a:t>
            </a:r>
          </a:p>
        </p:txBody>
      </p:sp>
      <p:sp>
        <p:nvSpPr>
          <p:cNvPr id="17411" name="Slide Number Placeholder 3">
            <a:extLst>
              <a:ext uri="{FF2B5EF4-FFF2-40B4-BE49-F238E27FC236}">
                <a16:creationId xmlns:a16="http://schemas.microsoft.com/office/drawing/2014/main" id="{521EFD64-011D-3657-8ED9-C32DB15BDD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1- </a:t>
            </a:r>
            <a:fld id="{40CDAB40-89E8-4C11-8445-2E8D23731E24}" type="slidenum">
              <a:rPr lang="en-US" altLang="en-US" sz="1400">
                <a:solidFill>
                  <a:srgbClr val="990033"/>
                </a:solidFill>
              </a:rPr>
              <a:pPr/>
              <a:t>3</a:t>
            </a:fld>
            <a:endParaRPr lang="en-CA" altLang="en-US" sz="1400">
              <a:solidFill>
                <a:srgbClr val="990033"/>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3">
            <a:extLst>
              <a:ext uri="{FF2B5EF4-FFF2-40B4-BE49-F238E27FC236}">
                <a16:creationId xmlns:a16="http://schemas.microsoft.com/office/drawing/2014/main" id="{97A64BFB-7392-6FDF-C938-AA65C44CE67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5DDF8118-AE11-453B-A79D-2905040DDB91}" type="slidenum">
              <a:rPr lang="en-US" altLang="en-US" sz="1400">
                <a:solidFill>
                  <a:srgbClr val="990033"/>
                </a:solidFill>
              </a:rPr>
              <a:pPr/>
              <a:t>4</a:t>
            </a:fld>
            <a:endParaRPr lang="en-CA" altLang="en-US" sz="1400">
              <a:solidFill>
                <a:srgbClr val="990033"/>
              </a:solidFill>
            </a:endParaRPr>
          </a:p>
        </p:txBody>
      </p:sp>
      <p:sp>
        <p:nvSpPr>
          <p:cNvPr id="19458" name="Rectangle 4">
            <a:extLst>
              <a:ext uri="{FF2B5EF4-FFF2-40B4-BE49-F238E27FC236}">
                <a16:creationId xmlns:a16="http://schemas.microsoft.com/office/drawing/2014/main" id="{04A40290-1162-7F85-8D8A-6FCBB540C848}"/>
              </a:ext>
            </a:extLst>
          </p:cNvPr>
          <p:cNvSpPr>
            <a:spLocks noGrp="1" noChangeArrowheads="1"/>
          </p:cNvSpPr>
          <p:nvPr>
            <p:ph type="title"/>
          </p:nvPr>
        </p:nvSpPr>
        <p:spPr>
          <a:xfrm>
            <a:off x="228600" y="303213"/>
            <a:ext cx="7796213" cy="992187"/>
          </a:xfrm>
        </p:spPr>
        <p:txBody>
          <a:bodyPr/>
          <a:lstStyle/>
          <a:p>
            <a:pPr eaLnBrk="1" hangingPunct="1"/>
            <a:r>
              <a:rPr lang="en-US" altLang="en-US"/>
              <a:t>Chapter Outline</a:t>
            </a:r>
          </a:p>
        </p:txBody>
      </p:sp>
      <p:sp>
        <p:nvSpPr>
          <p:cNvPr id="19459" name="Rectangle 5">
            <a:extLst>
              <a:ext uri="{FF2B5EF4-FFF2-40B4-BE49-F238E27FC236}">
                <a16:creationId xmlns:a16="http://schemas.microsoft.com/office/drawing/2014/main" id="{B8EAAD7F-ECC5-3456-293D-413A470570C4}"/>
              </a:ext>
            </a:extLst>
          </p:cNvPr>
          <p:cNvSpPr>
            <a:spLocks noGrp="1" noChangeArrowheads="1"/>
          </p:cNvSpPr>
          <p:nvPr>
            <p:ph type="body" idx="1"/>
          </p:nvPr>
        </p:nvSpPr>
        <p:spPr/>
        <p:txBody>
          <a:bodyPr/>
          <a:lstStyle/>
          <a:p>
            <a:pPr eaLnBrk="1" hangingPunct="1">
              <a:lnSpc>
                <a:spcPct val="90000"/>
              </a:lnSpc>
            </a:pPr>
            <a:r>
              <a:rPr lang="en-US" altLang="en-US" sz="2400" strike="sngStrike" dirty="0"/>
              <a:t>Overview of Database Design Process</a:t>
            </a:r>
          </a:p>
          <a:p>
            <a:pPr eaLnBrk="1" hangingPunct="1">
              <a:lnSpc>
                <a:spcPct val="90000"/>
              </a:lnSpc>
            </a:pPr>
            <a:r>
              <a:rPr lang="en-US" altLang="en-US" sz="2400" strike="sngStrike" dirty="0"/>
              <a:t>Example Database Application (COMPANY)</a:t>
            </a:r>
          </a:p>
          <a:p>
            <a:pPr eaLnBrk="1" hangingPunct="1">
              <a:lnSpc>
                <a:spcPct val="90000"/>
              </a:lnSpc>
            </a:pPr>
            <a:r>
              <a:rPr lang="en-US" altLang="en-US" sz="2400" strike="sngStrike" dirty="0"/>
              <a:t>ER Model Concepts</a:t>
            </a:r>
          </a:p>
          <a:p>
            <a:pPr lvl="1" eaLnBrk="1" hangingPunct="1">
              <a:lnSpc>
                <a:spcPct val="90000"/>
              </a:lnSpc>
            </a:pPr>
            <a:r>
              <a:rPr lang="en-US" altLang="en-US" sz="2200" strike="sngStrike" dirty="0"/>
              <a:t>Entities and Attributes</a:t>
            </a:r>
          </a:p>
          <a:p>
            <a:pPr lvl="1" eaLnBrk="1" hangingPunct="1">
              <a:lnSpc>
                <a:spcPct val="90000"/>
              </a:lnSpc>
            </a:pPr>
            <a:r>
              <a:rPr lang="en-US" altLang="en-US" sz="2200" strike="sngStrike" dirty="0"/>
              <a:t>Entity Types, Value Sets, and Key Attributes</a:t>
            </a:r>
          </a:p>
          <a:p>
            <a:pPr lvl="1" eaLnBrk="1" hangingPunct="1">
              <a:lnSpc>
                <a:spcPct val="90000"/>
              </a:lnSpc>
            </a:pPr>
            <a:r>
              <a:rPr lang="en-US" altLang="en-US" sz="2200" dirty="0"/>
              <a:t>Relationships and Relationship Types</a:t>
            </a:r>
          </a:p>
          <a:p>
            <a:pPr lvl="1" eaLnBrk="1" hangingPunct="1">
              <a:lnSpc>
                <a:spcPct val="90000"/>
              </a:lnSpc>
            </a:pPr>
            <a:r>
              <a:rPr lang="en-US" altLang="en-US" sz="2200" dirty="0"/>
              <a:t>Weak Entity Types</a:t>
            </a:r>
          </a:p>
          <a:p>
            <a:pPr lvl="1" eaLnBrk="1" hangingPunct="1">
              <a:lnSpc>
                <a:spcPct val="90000"/>
              </a:lnSpc>
            </a:pPr>
            <a:r>
              <a:rPr lang="en-US" altLang="en-US" sz="2200" dirty="0"/>
              <a:t>Roles and Attributes in Relationship Types</a:t>
            </a:r>
          </a:p>
          <a:p>
            <a:pPr eaLnBrk="1" hangingPunct="1">
              <a:lnSpc>
                <a:spcPct val="90000"/>
              </a:lnSpc>
            </a:pPr>
            <a:r>
              <a:rPr lang="en-US" altLang="en-US" sz="2400" dirty="0"/>
              <a:t>ER Diagrams - Notation</a:t>
            </a:r>
          </a:p>
          <a:p>
            <a:pPr eaLnBrk="1" hangingPunct="1">
              <a:lnSpc>
                <a:spcPct val="90000"/>
              </a:lnSpc>
            </a:pPr>
            <a:r>
              <a:rPr lang="en-US" altLang="en-US" sz="2400" dirty="0"/>
              <a:t>ER Diagram for COMPANY Schema</a:t>
            </a:r>
          </a:p>
          <a:p>
            <a:pPr eaLnBrk="1" hangingPunct="1">
              <a:lnSpc>
                <a:spcPct val="90000"/>
              </a:lnSpc>
            </a:pPr>
            <a:r>
              <a:rPr lang="en-US" altLang="en-US" sz="2400" dirty="0"/>
              <a:t>Alternative Notations – UML class diagrams, others</a:t>
            </a:r>
          </a:p>
          <a:p>
            <a:pPr eaLnBrk="1" hangingPunct="1">
              <a:lnSpc>
                <a:spcPct val="90000"/>
              </a:lnSpc>
            </a:pPr>
            <a:r>
              <a:rPr lang="en-US" altLang="en-US" sz="2400" dirty="0"/>
              <a:t>Relationships of Higher Degree</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97E91A9-FB1E-F6B1-9FCE-74FD4B4B6B07}"/>
              </a:ext>
            </a:extLst>
          </p:cNvPr>
          <p:cNvSpPr>
            <a:spLocks noGrp="1" noChangeArrowheads="1"/>
          </p:cNvSpPr>
          <p:nvPr>
            <p:ph type="title"/>
          </p:nvPr>
        </p:nvSpPr>
        <p:spPr>
          <a:xfrm>
            <a:off x="609599" y="1447800"/>
            <a:ext cx="1143001" cy="5225656"/>
          </a:xfrm>
        </p:spPr>
        <p:txBody>
          <a:bodyPr vert="vert270"/>
          <a:lstStyle/>
          <a:p>
            <a:pPr algn="ctr" eaLnBrk="1" hangingPunct="1"/>
            <a:r>
              <a:rPr lang="en-US" altLang="en-US" sz="3200" dirty="0"/>
              <a:t>NOTATION for </a:t>
            </a:r>
            <a:br>
              <a:rPr lang="en-US" altLang="en-US" sz="3200" dirty="0"/>
            </a:br>
            <a:r>
              <a:rPr lang="en-US" altLang="en-US" sz="3200" dirty="0"/>
              <a:t>ER diagrams</a:t>
            </a:r>
          </a:p>
        </p:txBody>
      </p:sp>
      <p:pic>
        <p:nvPicPr>
          <p:cNvPr id="44035" name="Picture 4" descr="fig03_14">
            <a:extLst>
              <a:ext uri="{FF2B5EF4-FFF2-40B4-BE49-F238E27FC236}">
                <a16:creationId xmlns:a16="http://schemas.microsoft.com/office/drawing/2014/main" id="{61602EED-039D-CB93-0B8C-9D6641094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087"/>
            <a:ext cx="5010411" cy="667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3" name="Slide Number Placeholder 3">
            <a:extLst>
              <a:ext uri="{FF2B5EF4-FFF2-40B4-BE49-F238E27FC236}">
                <a16:creationId xmlns:a16="http://schemas.microsoft.com/office/drawing/2014/main" id="{1D0C90FE-E4A7-7BC5-2A7D-6DB3B060B2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dirty="0">
                <a:solidFill>
                  <a:srgbClr val="990033"/>
                </a:solidFill>
              </a:rPr>
              <a:t>Slide 3- </a:t>
            </a:r>
            <a:fld id="{D536CF88-D690-489F-AA52-910D5E684670}" type="slidenum">
              <a:rPr lang="en-US" altLang="en-US" sz="1400">
                <a:solidFill>
                  <a:srgbClr val="990033"/>
                </a:solidFill>
              </a:rPr>
              <a:pPr/>
              <a:t>5</a:t>
            </a:fld>
            <a:endParaRPr lang="en-CA" altLang="en-US" sz="1400" dirty="0">
              <a:solidFill>
                <a:srgbClr val="990033"/>
              </a:solidFil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3">
            <a:extLst>
              <a:ext uri="{FF2B5EF4-FFF2-40B4-BE49-F238E27FC236}">
                <a16:creationId xmlns:a16="http://schemas.microsoft.com/office/drawing/2014/main" id="{06D4D9E6-5EC8-6B04-716A-A57E3FF4FB2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F5D13B6A-C341-433C-92B9-BC6A2024EAD4}" type="slidenum">
              <a:rPr lang="en-US" altLang="en-US" sz="1400">
                <a:solidFill>
                  <a:srgbClr val="990033"/>
                </a:solidFill>
              </a:rPr>
              <a:pPr/>
              <a:t>6</a:t>
            </a:fld>
            <a:endParaRPr lang="en-CA" altLang="en-US" sz="1400">
              <a:solidFill>
                <a:srgbClr val="990033"/>
              </a:solidFill>
            </a:endParaRPr>
          </a:p>
        </p:txBody>
      </p:sp>
      <p:sp>
        <p:nvSpPr>
          <p:cNvPr id="45058" name="Rectangle 1026">
            <a:extLst>
              <a:ext uri="{FF2B5EF4-FFF2-40B4-BE49-F238E27FC236}">
                <a16:creationId xmlns:a16="http://schemas.microsoft.com/office/drawing/2014/main" id="{412F38C8-AE71-4E0C-999A-0EA77008B897}"/>
              </a:ext>
            </a:extLst>
          </p:cNvPr>
          <p:cNvSpPr>
            <a:spLocks noGrp="1" noChangeArrowheads="1"/>
          </p:cNvSpPr>
          <p:nvPr>
            <p:ph type="title"/>
          </p:nvPr>
        </p:nvSpPr>
        <p:spPr>
          <a:xfrm>
            <a:off x="228600" y="303213"/>
            <a:ext cx="7796213" cy="992187"/>
          </a:xfrm>
        </p:spPr>
        <p:txBody>
          <a:bodyPr/>
          <a:lstStyle/>
          <a:p>
            <a:pPr eaLnBrk="1" hangingPunct="1"/>
            <a:r>
              <a:rPr lang="en-US" altLang="en-US" sz="3200"/>
              <a:t>Entity Type CAR with two keys and a corresponding Entity Set</a:t>
            </a:r>
          </a:p>
        </p:txBody>
      </p:sp>
      <p:pic>
        <p:nvPicPr>
          <p:cNvPr id="45059" name="Picture 1028" descr="fig03_07">
            <a:extLst>
              <a:ext uri="{FF2B5EF4-FFF2-40B4-BE49-F238E27FC236}">
                <a16:creationId xmlns:a16="http://schemas.microsoft.com/office/drawing/2014/main" id="{D80A422E-6BA4-C39A-C0B0-C4C333073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00200"/>
            <a:ext cx="7010400"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3">
            <a:extLst>
              <a:ext uri="{FF2B5EF4-FFF2-40B4-BE49-F238E27FC236}">
                <a16:creationId xmlns:a16="http://schemas.microsoft.com/office/drawing/2014/main" id="{BEC47E5D-1D7D-395C-6AD8-A41D48C15F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77B09336-C7F8-448C-8545-A0CF112925CE}" type="slidenum">
              <a:rPr lang="en-US" altLang="en-US" sz="1400">
                <a:solidFill>
                  <a:srgbClr val="990033"/>
                </a:solidFill>
              </a:rPr>
              <a:pPr/>
              <a:t>7</a:t>
            </a:fld>
            <a:endParaRPr lang="en-CA" altLang="en-US" sz="1400">
              <a:solidFill>
                <a:srgbClr val="990033"/>
              </a:solidFill>
            </a:endParaRPr>
          </a:p>
        </p:txBody>
      </p:sp>
      <p:sp>
        <p:nvSpPr>
          <p:cNvPr id="47106" name="Rectangle 2">
            <a:extLst>
              <a:ext uri="{FF2B5EF4-FFF2-40B4-BE49-F238E27FC236}">
                <a16:creationId xmlns:a16="http://schemas.microsoft.com/office/drawing/2014/main" id="{690D8129-532F-C6ED-71FC-E3CB71025F80}"/>
              </a:ext>
            </a:extLst>
          </p:cNvPr>
          <p:cNvSpPr>
            <a:spLocks noGrp="1" noChangeArrowheads="1"/>
          </p:cNvSpPr>
          <p:nvPr>
            <p:ph type="title"/>
          </p:nvPr>
        </p:nvSpPr>
        <p:spPr>
          <a:xfrm>
            <a:off x="1143000" y="1436318"/>
            <a:ext cx="685800" cy="4993709"/>
          </a:xfrm>
        </p:spPr>
        <p:txBody>
          <a:bodyPr vert="vert270"/>
          <a:lstStyle/>
          <a:p>
            <a:pPr algn="ctr" eaLnBrk="1" hangingPunct="1"/>
            <a:r>
              <a:rPr lang="en-US" altLang="en-US" dirty="0"/>
              <a:t>Initial Design of </a:t>
            </a:r>
            <a:br>
              <a:rPr lang="en-US" altLang="en-US" dirty="0"/>
            </a:br>
            <a:r>
              <a:rPr lang="en-US" altLang="en-US" dirty="0"/>
              <a:t>Entity Types</a:t>
            </a:r>
            <a:br>
              <a:rPr lang="en-US" altLang="en-US" dirty="0"/>
            </a:br>
            <a:r>
              <a:rPr lang="en-US" altLang="en-US" sz="1400" dirty="0"/>
              <a:t>EMPLOYEE, DEPARTMENT, PROJECT, DEPENDENT</a:t>
            </a:r>
            <a:endParaRPr lang="en-US" altLang="en-US" sz="2400" dirty="0"/>
          </a:p>
        </p:txBody>
      </p:sp>
      <p:pic>
        <p:nvPicPr>
          <p:cNvPr id="47107" name="Picture 4" descr="fig03_08">
            <a:extLst>
              <a:ext uri="{FF2B5EF4-FFF2-40B4-BE49-F238E27FC236}">
                <a16:creationId xmlns:a16="http://schemas.microsoft.com/office/drawing/2014/main" id="{F4A14F13-032F-FEC9-AE83-A660B63CAC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695" y="33434"/>
            <a:ext cx="6477000" cy="639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3">
            <a:extLst>
              <a:ext uri="{FF2B5EF4-FFF2-40B4-BE49-F238E27FC236}">
                <a16:creationId xmlns:a16="http://schemas.microsoft.com/office/drawing/2014/main" id="{1D19D57E-ACE3-B908-9FC6-79A58C515E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ADF19369-64D4-418B-A8E1-5C4D09B04B2E}" type="slidenum">
              <a:rPr lang="en-US" altLang="en-US" sz="1400">
                <a:solidFill>
                  <a:srgbClr val="990033"/>
                </a:solidFill>
              </a:rPr>
              <a:pPr/>
              <a:t>8</a:t>
            </a:fld>
            <a:endParaRPr lang="en-CA" altLang="en-US" sz="1400">
              <a:solidFill>
                <a:srgbClr val="990033"/>
              </a:solidFill>
            </a:endParaRPr>
          </a:p>
        </p:txBody>
      </p:sp>
      <p:sp>
        <p:nvSpPr>
          <p:cNvPr id="48130" name="Rectangle 2">
            <a:extLst>
              <a:ext uri="{FF2B5EF4-FFF2-40B4-BE49-F238E27FC236}">
                <a16:creationId xmlns:a16="http://schemas.microsoft.com/office/drawing/2014/main" id="{0F6347A1-58EF-337B-4CCC-A007D243A1CB}"/>
              </a:ext>
            </a:extLst>
          </p:cNvPr>
          <p:cNvSpPr>
            <a:spLocks noGrp="1" noChangeArrowheads="1"/>
          </p:cNvSpPr>
          <p:nvPr>
            <p:ph type="title"/>
          </p:nvPr>
        </p:nvSpPr>
        <p:spPr>
          <a:xfrm>
            <a:off x="228600" y="303213"/>
            <a:ext cx="7796213" cy="992187"/>
          </a:xfrm>
        </p:spPr>
        <p:txBody>
          <a:bodyPr/>
          <a:lstStyle/>
          <a:p>
            <a:pPr eaLnBrk="1" hangingPunct="1"/>
            <a:r>
              <a:rPr lang="en-US" altLang="en-US" sz="3200"/>
              <a:t>Refining the initial design by introducing </a:t>
            </a:r>
            <a:r>
              <a:rPr lang="en-US" altLang="en-US" sz="3200" b="1"/>
              <a:t>relationships</a:t>
            </a:r>
          </a:p>
        </p:txBody>
      </p:sp>
      <p:sp>
        <p:nvSpPr>
          <p:cNvPr id="48131" name="Rectangle 3">
            <a:extLst>
              <a:ext uri="{FF2B5EF4-FFF2-40B4-BE49-F238E27FC236}">
                <a16:creationId xmlns:a16="http://schemas.microsoft.com/office/drawing/2014/main" id="{E4B1FBB2-6AAE-9185-A957-132442315D79}"/>
              </a:ext>
            </a:extLst>
          </p:cNvPr>
          <p:cNvSpPr>
            <a:spLocks noGrp="1" noChangeArrowheads="1"/>
          </p:cNvSpPr>
          <p:nvPr>
            <p:ph type="body" idx="1"/>
          </p:nvPr>
        </p:nvSpPr>
        <p:spPr/>
        <p:txBody>
          <a:bodyPr/>
          <a:lstStyle/>
          <a:p>
            <a:pPr eaLnBrk="1" hangingPunct="1"/>
            <a:r>
              <a:rPr lang="en-US" altLang="en-US"/>
              <a:t>The initial design is typically not complete</a:t>
            </a:r>
          </a:p>
          <a:p>
            <a:pPr eaLnBrk="1" hangingPunct="1"/>
            <a:r>
              <a:rPr lang="en-US" altLang="en-US"/>
              <a:t>Some aspects in the requirements will be represented as </a:t>
            </a:r>
            <a:r>
              <a:rPr lang="en-US" altLang="en-US" b="1"/>
              <a:t>relationships</a:t>
            </a:r>
            <a:endParaRPr lang="en-US" altLang="en-US"/>
          </a:p>
          <a:p>
            <a:pPr eaLnBrk="1" hangingPunct="1"/>
            <a:r>
              <a:rPr lang="en-US" altLang="en-US"/>
              <a:t>ER model has three main concepts:</a:t>
            </a:r>
          </a:p>
          <a:p>
            <a:pPr lvl="1" eaLnBrk="1" hangingPunct="1"/>
            <a:r>
              <a:rPr lang="en-US" altLang="en-US"/>
              <a:t>Entities (and their entity types and entity sets)</a:t>
            </a:r>
          </a:p>
          <a:p>
            <a:pPr lvl="1" eaLnBrk="1" hangingPunct="1"/>
            <a:r>
              <a:rPr lang="en-US" altLang="en-US"/>
              <a:t>Attributes (simple, composite, multivalued)</a:t>
            </a:r>
          </a:p>
          <a:p>
            <a:pPr lvl="1" eaLnBrk="1" hangingPunct="1"/>
            <a:r>
              <a:rPr lang="en-US" altLang="en-US"/>
              <a:t>Relationships (and their relationship types and relationship sets)</a:t>
            </a:r>
          </a:p>
          <a:p>
            <a:pPr eaLnBrk="1" hangingPunct="1"/>
            <a:r>
              <a:rPr lang="en-US" altLang="en-US"/>
              <a:t>We introduce relationship concepts next</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3">
            <a:extLst>
              <a:ext uri="{FF2B5EF4-FFF2-40B4-BE49-F238E27FC236}">
                <a16:creationId xmlns:a16="http://schemas.microsoft.com/office/drawing/2014/main" id="{A6AB312E-B410-2D07-DDF1-22C4215FD66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724939C4-F768-44B0-A3D4-C74C060A17EA}" type="slidenum">
              <a:rPr lang="en-US" altLang="en-US" sz="1400">
                <a:solidFill>
                  <a:srgbClr val="990033"/>
                </a:solidFill>
              </a:rPr>
              <a:pPr/>
              <a:t>9</a:t>
            </a:fld>
            <a:endParaRPr lang="en-CA" altLang="en-US" sz="1400">
              <a:solidFill>
                <a:srgbClr val="990033"/>
              </a:solidFill>
            </a:endParaRPr>
          </a:p>
        </p:txBody>
      </p:sp>
      <p:sp>
        <p:nvSpPr>
          <p:cNvPr id="49154" name="Rectangle 4">
            <a:extLst>
              <a:ext uri="{FF2B5EF4-FFF2-40B4-BE49-F238E27FC236}">
                <a16:creationId xmlns:a16="http://schemas.microsoft.com/office/drawing/2014/main" id="{ABA2DA1B-8E2A-D1BA-F4D9-10898174C706}"/>
              </a:ext>
            </a:extLst>
          </p:cNvPr>
          <p:cNvSpPr>
            <a:spLocks noGrp="1" noChangeArrowheads="1"/>
          </p:cNvSpPr>
          <p:nvPr>
            <p:ph type="title"/>
          </p:nvPr>
        </p:nvSpPr>
        <p:spPr>
          <a:xfrm>
            <a:off x="228600" y="303213"/>
            <a:ext cx="7796213" cy="992187"/>
          </a:xfrm>
        </p:spPr>
        <p:txBody>
          <a:bodyPr/>
          <a:lstStyle/>
          <a:p>
            <a:pPr eaLnBrk="1" hangingPunct="1"/>
            <a:r>
              <a:rPr lang="en-US" altLang="en-US" sz="3200"/>
              <a:t>Relationships and Relationship Types (1)</a:t>
            </a:r>
          </a:p>
        </p:txBody>
      </p:sp>
      <p:sp>
        <p:nvSpPr>
          <p:cNvPr id="49155" name="Rectangle 5">
            <a:extLst>
              <a:ext uri="{FF2B5EF4-FFF2-40B4-BE49-F238E27FC236}">
                <a16:creationId xmlns:a16="http://schemas.microsoft.com/office/drawing/2014/main" id="{C8084B63-B5B9-5EF5-75B5-98B9EF9489F4}"/>
              </a:ext>
            </a:extLst>
          </p:cNvPr>
          <p:cNvSpPr>
            <a:spLocks noGrp="1" noChangeArrowheads="1"/>
          </p:cNvSpPr>
          <p:nvPr>
            <p:ph type="body" idx="1"/>
          </p:nvPr>
        </p:nvSpPr>
        <p:spPr/>
        <p:txBody>
          <a:bodyPr/>
          <a:lstStyle/>
          <a:p>
            <a:pPr eaLnBrk="1" hangingPunct="1">
              <a:lnSpc>
                <a:spcPct val="80000"/>
              </a:lnSpc>
            </a:pPr>
            <a:r>
              <a:rPr lang="en-US" altLang="en-US" sz="2400"/>
              <a:t>A </a:t>
            </a:r>
            <a:r>
              <a:rPr lang="en-US" altLang="en-US" sz="2400" b="1"/>
              <a:t>relationship</a:t>
            </a:r>
            <a:r>
              <a:rPr lang="en-US" altLang="en-US" sz="2400"/>
              <a:t> relates two or more distinct entities with a specific meaning.</a:t>
            </a:r>
          </a:p>
          <a:p>
            <a:pPr lvl="1" eaLnBrk="1" hangingPunct="1">
              <a:lnSpc>
                <a:spcPct val="80000"/>
              </a:lnSpc>
            </a:pPr>
            <a:r>
              <a:rPr lang="en-US" altLang="en-US" sz="2100"/>
              <a:t>For example, EMPLOYEE John Smith </a:t>
            </a:r>
            <a:r>
              <a:rPr lang="en-US" altLang="en-US" sz="2100" i="1"/>
              <a:t>works on</a:t>
            </a:r>
            <a:r>
              <a:rPr lang="en-US" altLang="en-US" sz="2100"/>
              <a:t> the ProductX PROJECT, or EMPLOYEE Franklin Wong </a:t>
            </a:r>
            <a:r>
              <a:rPr lang="en-US" altLang="en-US" sz="2100" i="1"/>
              <a:t>manages</a:t>
            </a:r>
            <a:r>
              <a:rPr lang="en-US" altLang="en-US" sz="2100"/>
              <a:t> the Research DEPARTMENT.</a:t>
            </a:r>
          </a:p>
          <a:p>
            <a:pPr eaLnBrk="1" hangingPunct="1">
              <a:lnSpc>
                <a:spcPct val="80000"/>
              </a:lnSpc>
            </a:pPr>
            <a:r>
              <a:rPr lang="en-US" altLang="en-US" sz="2400"/>
              <a:t>Relationships of the same type are grouped or typed into a </a:t>
            </a:r>
            <a:r>
              <a:rPr lang="en-US" altLang="en-US" sz="2400" b="1"/>
              <a:t>relationship type</a:t>
            </a:r>
            <a:r>
              <a:rPr lang="en-US" altLang="en-US" sz="2400"/>
              <a:t>.</a:t>
            </a:r>
          </a:p>
          <a:p>
            <a:pPr lvl="1" eaLnBrk="1" hangingPunct="1">
              <a:lnSpc>
                <a:spcPct val="80000"/>
              </a:lnSpc>
            </a:pPr>
            <a:r>
              <a:rPr lang="en-US" altLang="en-US" sz="2100"/>
              <a:t>For example, the WORKS_ON relationship type in which EMPLOYEEs and PROJECTs participate, or the MANAGES relationship type in which EMPLOYEEs and DEPARTMENTs participate.</a:t>
            </a:r>
          </a:p>
          <a:p>
            <a:pPr eaLnBrk="1" hangingPunct="1">
              <a:lnSpc>
                <a:spcPct val="80000"/>
              </a:lnSpc>
            </a:pPr>
            <a:r>
              <a:rPr lang="en-US" altLang="en-US" sz="2400"/>
              <a:t>The degree of a relationship type is the number of participating entity types. </a:t>
            </a:r>
          </a:p>
          <a:p>
            <a:pPr lvl="1" eaLnBrk="1" hangingPunct="1">
              <a:lnSpc>
                <a:spcPct val="80000"/>
              </a:lnSpc>
            </a:pPr>
            <a:r>
              <a:rPr lang="en-US" altLang="en-US" sz="2100"/>
              <a:t>Both MANAGES and WORKS_ON are </a:t>
            </a:r>
            <a:r>
              <a:rPr lang="en-US" altLang="en-US" sz="2100" i="1"/>
              <a:t>binary</a:t>
            </a:r>
            <a:r>
              <a:rPr lang="en-US" altLang="en-US" sz="2100"/>
              <a:t> relationships.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2">
            <a:extLst>
              <a:ext uri="{FF2B5EF4-FFF2-40B4-BE49-F238E27FC236}">
                <a16:creationId xmlns:a16="http://schemas.microsoft.com/office/drawing/2014/main" id="{362BE212-803E-B340-E8F9-D115C89E51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A1C28B64-9200-4C3D-B26E-FEFD88143E02}" type="slidenum">
              <a:rPr lang="en-US" altLang="en-US" sz="1400">
                <a:solidFill>
                  <a:srgbClr val="990033"/>
                </a:solidFill>
              </a:rPr>
              <a:pPr/>
              <a:t>10</a:t>
            </a:fld>
            <a:endParaRPr lang="en-CA" altLang="en-US" sz="1400">
              <a:solidFill>
                <a:srgbClr val="990033"/>
              </a:solidFill>
            </a:endParaRPr>
          </a:p>
        </p:txBody>
      </p:sp>
      <p:sp>
        <p:nvSpPr>
          <p:cNvPr id="51202" name="Rectangle 15">
            <a:extLst>
              <a:ext uri="{FF2B5EF4-FFF2-40B4-BE49-F238E27FC236}">
                <a16:creationId xmlns:a16="http://schemas.microsoft.com/office/drawing/2014/main" id="{A42E7BA9-1C1B-2EFF-FB5D-CD40F113AEEF}"/>
              </a:ext>
            </a:extLst>
          </p:cNvPr>
          <p:cNvSpPr>
            <a:spLocks noGrp="1" noChangeArrowheads="1"/>
          </p:cNvSpPr>
          <p:nvPr>
            <p:ph type="title"/>
          </p:nvPr>
        </p:nvSpPr>
        <p:spPr>
          <a:xfrm>
            <a:off x="152400" y="290513"/>
            <a:ext cx="8763000" cy="776287"/>
          </a:xfrm>
          <a:noFill/>
        </p:spPr>
        <p:txBody>
          <a:bodyPr/>
          <a:lstStyle/>
          <a:p>
            <a:pPr eaLnBrk="1" hangingPunct="1"/>
            <a:r>
              <a:rPr lang="en-US" altLang="en-US" sz="2800"/>
              <a:t>Relationship instances of the WORKS_FOR N:1 relationship between EMPLOYEE and DEPARTMENT</a:t>
            </a:r>
          </a:p>
        </p:txBody>
      </p:sp>
      <p:pic>
        <p:nvPicPr>
          <p:cNvPr id="51203" name="Picture 31" descr="fig03_09">
            <a:extLst>
              <a:ext uri="{FF2B5EF4-FFF2-40B4-BE49-F238E27FC236}">
                <a16:creationId xmlns:a16="http://schemas.microsoft.com/office/drawing/2014/main" id="{8820EE1C-CE8F-B82E-4310-96DADB40E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08138"/>
            <a:ext cx="7924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2">
            <a:extLst>
              <a:ext uri="{FF2B5EF4-FFF2-40B4-BE49-F238E27FC236}">
                <a16:creationId xmlns:a16="http://schemas.microsoft.com/office/drawing/2014/main" id="{CEF87952-D884-777B-BA28-FD9979D4AB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2E5497C6-5569-40C4-8D22-C1C3F278C08B}" type="slidenum">
              <a:rPr lang="en-US" altLang="en-US" sz="1400">
                <a:solidFill>
                  <a:srgbClr val="990033"/>
                </a:solidFill>
              </a:rPr>
              <a:pPr/>
              <a:t>11</a:t>
            </a:fld>
            <a:endParaRPr lang="en-CA" altLang="en-US" sz="1400">
              <a:solidFill>
                <a:srgbClr val="990033"/>
              </a:solidFill>
            </a:endParaRPr>
          </a:p>
        </p:txBody>
      </p:sp>
      <p:sp>
        <p:nvSpPr>
          <p:cNvPr id="53250" name="Rectangle 20">
            <a:extLst>
              <a:ext uri="{FF2B5EF4-FFF2-40B4-BE49-F238E27FC236}">
                <a16:creationId xmlns:a16="http://schemas.microsoft.com/office/drawing/2014/main" id="{C72BDCCC-ACCB-D64C-9D13-B63F0777D029}"/>
              </a:ext>
            </a:extLst>
          </p:cNvPr>
          <p:cNvSpPr>
            <a:spLocks noGrp="1" noChangeArrowheads="1"/>
          </p:cNvSpPr>
          <p:nvPr>
            <p:ph type="title"/>
          </p:nvPr>
        </p:nvSpPr>
        <p:spPr>
          <a:xfrm>
            <a:off x="296863" y="85725"/>
            <a:ext cx="8496300" cy="1143000"/>
          </a:xfrm>
          <a:noFill/>
        </p:spPr>
        <p:txBody>
          <a:bodyPr/>
          <a:lstStyle/>
          <a:p>
            <a:pPr eaLnBrk="1" hangingPunct="1"/>
            <a:r>
              <a:rPr lang="en-US" altLang="en-US" sz="2800"/>
              <a:t>Relationship instances of the M:N  WORKS_ON relationship between EMPLOYEE and PROJECT</a:t>
            </a:r>
          </a:p>
        </p:txBody>
      </p:sp>
      <p:sp>
        <p:nvSpPr>
          <p:cNvPr id="53251" name="Text Box 21">
            <a:extLst>
              <a:ext uri="{FF2B5EF4-FFF2-40B4-BE49-F238E27FC236}">
                <a16:creationId xmlns:a16="http://schemas.microsoft.com/office/drawing/2014/main" id="{FF4D1C7B-0C07-EC92-10FB-43F9283E859B}"/>
              </a:ext>
            </a:extLst>
          </p:cNvPr>
          <p:cNvSpPr txBox="1">
            <a:spLocks noChangeArrowheads="1"/>
          </p:cNvSpPr>
          <p:nvPr/>
        </p:nvSpPr>
        <p:spPr bwMode="auto">
          <a:xfrm>
            <a:off x="685800" y="1822450"/>
            <a:ext cx="8099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spcBef>
                <a:spcPct val="50000"/>
              </a:spcBef>
            </a:pPr>
            <a:endParaRPr lang="en-US" altLang="en-US">
              <a:solidFill>
                <a:schemeClr val="bg2"/>
              </a:solidFill>
              <a:latin typeface="Times New Roman" panose="02020603050405020304" pitchFamily="18" charset="0"/>
            </a:endParaRPr>
          </a:p>
        </p:txBody>
      </p:sp>
      <p:pic>
        <p:nvPicPr>
          <p:cNvPr id="53252" name="Picture 38" descr="fig03_13">
            <a:extLst>
              <a:ext uri="{FF2B5EF4-FFF2-40B4-BE49-F238E27FC236}">
                <a16:creationId xmlns:a16="http://schemas.microsoft.com/office/drawing/2014/main" id="{A8A92506-106C-9868-28C5-7E3DA003D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13" y="1644650"/>
            <a:ext cx="6948487" cy="478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3">
            <a:extLst>
              <a:ext uri="{FF2B5EF4-FFF2-40B4-BE49-F238E27FC236}">
                <a16:creationId xmlns:a16="http://schemas.microsoft.com/office/drawing/2014/main" id="{D7553715-7980-44B8-1308-2E7C29A45D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A0DDBD12-03B6-4164-8954-A748427C2EE7}" type="slidenum">
              <a:rPr lang="en-US" altLang="en-US" sz="1400">
                <a:solidFill>
                  <a:srgbClr val="990033"/>
                </a:solidFill>
              </a:rPr>
              <a:pPr/>
              <a:t>12</a:t>
            </a:fld>
            <a:endParaRPr lang="en-CA" altLang="en-US" sz="1400">
              <a:solidFill>
                <a:srgbClr val="990033"/>
              </a:solidFill>
            </a:endParaRPr>
          </a:p>
        </p:txBody>
      </p:sp>
      <p:sp>
        <p:nvSpPr>
          <p:cNvPr id="55298" name="Rectangle 2050">
            <a:extLst>
              <a:ext uri="{FF2B5EF4-FFF2-40B4-BE49-F238E27FC236}">
                <a16:creationId xmlns:a16="http://schemas.microsoft.com/office/drawing/2014/main" id="{3C0FD0E5-7144-43D1-D67B-CC4F2F54E8E2}"/>
              </a:ext>
            </a:extLst>
          </p:cNvPr>
          <p:cNvSpPr>
            <a:spLocks noGrp="1" noChangeArrowheads="1"/>
          </p:cNvSpPr>
          <p:nvPr>
            <p:ph type="title"/>
          </p:nvPr>
        </p:nvSpPr>
        <p:spPr>
          <a:xfrm>
            <a:off x="228600" y="303213"/>
            <a:ext cx="7796213" cy="992187"/>
          </a:xfrm>
        </p:spPr>
        <p:txBody>
          <a:bodyPr/>
          <a:lstStyle/>
          <a:p>
            <a:pPr eaLnBrk="1" hangingPunct="1"/>
            <a:r>
              <a:rPr lang="en-US" altLang="en-US" sz="3200"/>
              <a:t>Relationship type vs. relationship set (1)</a:t>
            </a:r>
          </a:p>
        </p:txBody>
      </p:sp>
      <p:sp>
        <p:nvSpPr>
          <p:cNvPr id="55299" name="Rectangle 2051">
            <a:extLst>
              <a:ext uri="{FF2B5EF4-FFF2-40B4-BE49-F238E27FC236}">
                <a16:creationId xmlns:a16="http://schemas.microsoft.com/office/drawing/2014/main" id="{2A85E03F-38C8-725E-B294-36F33F07BBE5}"/>
              </a:ext>
            </a:extLst>
          </p:cNvPr>
          <p:cNvSpPr>
            <a:spLocks noGrp="1" noChangeArrowheads="1"/>
          </p:cNvSpPr>
          <p:nvPr>
            <p:ph type="body" idx="1"/>
          </p:nvPr>
        </p:nvSpPr>
        <p:spPr/>
        <p:txBody>
          <a:bodyPr/>
          <a:lstStyle/>
          <a:p>
            <a:pPr eaLnBrk="1" hangingPunct="1"/>
            <a:r>
              <a:rPr lang="en-US" altLang="en-US"/>
              <a:t>Relationship Type:</a:t>
            </a:r>
          </a:p>
          <a:p>
            <a:pPr lvl="1" eaLnBrk="1" hangingPunct="1"/>
            <a:r>
              <a:rPr lang="en-US" altLang="en-US"/>
              <a:t>Is the schema description of a relationship</a:t>
            </a:r>
          </a:p>
          <a:p>
            <a:pPr lvl="1" eaLnBrk="1" hangingPunct="1"/>
            <a:r>
              <a:rPr lang="en-US" altLang="en-US"/>
              <a:t>Identifies the relationship name and the participating entity types</a:t>
            </a:r>
          </a:p>
          <a:p>
            <a:pPr lvl="1" eaLnBrk="1" hangingPunct="1"/>
            <a:r>
              <a:rPr lang="en-US" altLang="en-US"/>
              <a:t>Also identifies certain relationship constraints</a:t>
            </a:r>
          </a:p>
          <a:p>
            <a:pPr eaLnBrk="1" hangingPunct="1"/>
            <a:r>
              <a:rPr lang="en-US" altLang="en-US"/>
              <a:t>Relationship Set:</a:t>
            </a:r>
          </a:p>
          <a:p>
            <a:pPr lvl="1" eaLnBrk="1" hangingPunct="1"/>
            <a:r>
              <a:rPr lang="en-US" altLang="en-US"/>
              <a:t>The current set of relationship instances represented in the database</a:t>
            </a:r>
          </a:p>
          <a:p>
            <a:pPr lvl="1" eaLnBrk="1" hangingPunct="1"/>
            <a:r>
              <a:rPr lang="en-US" altLang="en-US"/>
              <a:t>The current </a:t>
            </a:r>
            <a:r>
              <a:rPr lang="en-US" altLang="en-US" i="1"/>
              <a:t>state</a:t>
            </a:r>
            <a:r>
              <a:rPr lang="en-US" altLang="en-US"/>
              <a:t> of a relationship type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3">
            <a:extLst>
              <a:ext uri="{FF2B5EF4-FFF2-40B4-BE49-F238E27FC236}">
                <a16:creationId xmlns:a16="http://schemas.microsoft.com/office/drawing/2014/main" id="{F54901A5-86DC-FA0B-D76E-C42601E5547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BC37C346-447E-4CA6-900F-1BE98F966F72}" type="slidenum">
              <a:rPr lang="en-US" altLang="en-US" sz="1400">
                <a:solidFill>
                  <a:srgbClr val="990033"/>
                </a:solidFill>
              </a:rPr>
              <a:pPr/>
              <a:t>13</a:t>
            </a:fld>
            <a:endParaRPr lang="en-CA" altLang="en-US" sz="1400">
              <a:solidFill>
                <a:srgbClr val="990033"/>
              </a:solidFill>
            </a:endParaRPr>
          </a:p>
        </p:txBody>
      </p:sp>
      <p:sp>
        <p:nvSpPr>
          <p:cNvPr id="56322" name="Rectangle 2">
            <a:extLst>
              <a:ext uri="{FF2B5EF4-FFF2-40B4-BE49-F238E27FC236}">
                <a16:creationId xmlns:a16="http://schemas.microsoft.com/office/drawing/2014/main" id="{364E7953-C509-9886-290B-0476311B6AEB}"/>
              </a:ext>
            </a:extLst>
          </p:cNvPr>
          <p:cNvSpPr>
            <a:spLocks noGrp="1" noChangeArrowheads="1"/>
          </p:cNvSpPr>
          <p:nvPr>
            <p:ph type="title"/>
          </p:nvPr>
        </p:nvSpPr>
        <p:spPr>
          <a:xfrm>
            <a:off x="228600" y="303213"/>
            <a:ext cx="7796213" cy="992187"/>
          </a:xfrm>
        </p:spPr>
        <p:txBody>
          <a:bodyPr/>
          <a:lstStyle/>
          <a:p>
            <a:pPr eaLnBrk="1" hangingPunct="1"/>
            <a:r>
              <a:rPr lang="en-US" altLang="en-US" sz="3200"/>
              <a:t>Relationship type vs. relationship set (2)</a:t>
            </a:r>
          </a:p>
        </p:txBody>
      </p:sp>
      <p:sp>
        <p:nvSpPr>
          <p:cNvPr id="56323" name="Rectangle 3">
            <a:extLst>
              <a:ext uri="{FF2B5EF4-FFF2-40B4-BE49-F238E27FC236}">
                <a16:creationId xmlns:a16="http://schemas.microsoft.com/office/drawing/2014/main" id="{00E2CB98-C8BE-0E42-64EF-EFA0A04A9ED5}"/>
              </a:ext>
            </a:extLst>
          </p:cNvPr>
          <p:cNvSpPr>
            <a:spLocks noGrp="1" noChangeArrowheads="1"/>
          </p:cNvSpPr>
          <p:nvPr>
            <p:ph type="body" idx="1"/>
          </p:nvPr>
        </p:nvSpPr>
        <p:spPr/>
        <p:txBody>
          <a:bodyPr/>
          <a:lstStyle/>
          <a:p>
            <a:pPr eaLnBrk="1" hangingPunct="1"/>
            <a:r>
              <a:rPr lang="en-US" altLang="en-US" sz="2400"/>
              <a:t>Previous figures displayed the relationship sets</a:t>
            </a:r>
          </a:p>
          <a:p>
            <a:pPr eaLnBrk="1" hangingPunct="1"/>
            <a:r>
              <a:rPr lang="en-US" altLang="en-US" sz="2400"/>
              <a:t>Each instance in the set relates individual participating entities – one from each participating entity type</a:t>
            </a:r>
          </a:p>
          <a:p>
            <a:pPr eaLnBrk="1" hangingPunct="1"/>
            <a:r>
              <a:rPr lang="en-US" altLang="en-US" sz="2400"/>
              <a:t>In ER diagrams, we represent the </a:t>
            </a:r>
            <a:r>
              <a:rPr lang="en-US" altLang="en-US" sz="2400" i="1"/>
              <a:t>relationship type </a:t>
            </a:r>
            <a:r>
              <a:rPr lang="en-US" altLang="en-US" sz="2400"/>
              <a:t>as follows:</a:t>
            </a:r>
          </a:p>
          <a:p>
            <a:pPr lvl="1" eaLnBrk="1" hangingPunct="1"/>
            <a:r>
              <a:rPr lang="en-US" altLang="en-US" sz="2400"/>
              <a:t>Diamond-shaped box is used to display a relationship type</a:t>
            </a:r>
          </a:p>
          <a:p>
            <a:pPr lvl="1" eaLnBrk="1" hangingPunct="1"/>
            <a:r>
              <a:rPr lang="en-US" altLang="en-US" sz="2400"/>
              <a:t>Connected to the participating entity types via straight lines</a:t>
            </a:r>
          </a:p>
          <a:p>
            <a:pPr lvl="1" eaLnBrk="1" hangingPunct="1"/>
            <a:r>
              <a:rPr lang="en-US" altLang="en-US" sz="2400"/>
              <a:t>Note that the relationship type is not shown with an arrow. The name should be typically be readable from left to right and top to bottom.</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3">
            <a:extLst>
              <a:ext uri="{FF2B5EF4-FFF2-40B4-BE49-F238E27FC236}">
                <a16:creationId xmlns:a16="http://schemas.microsoft.com/office/drawing/2014/main" id="{AA0D56C1-7852-78D5-F37F-671130DC41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FA2BDCB3-8834-4552-9396-990F87F205AB}" type="slidenum">
              <a:rPr lang="en-US" altLang="en-US" sz="1400">
                <a:solidFill>
                  <a:srgbClr val="990033"/>
                </a:solidFill>
              </a:rPr>
              <a:pPr/>
              <a:t>14</a:t>
            </a:fld>
            <a:endParaRPr lang="en-CA" altLang="en-US" sz="1400">
              <a:solidFill>
                <a:srgbClr val="990033"/>
              </a:solidFill>
            </a:endParaRPr>
          </a:p>
        </p:txBody>
      </p:sp>
      <p:sp>
        <p:nvSpPr>
          <p:cNvPr id="57346" name="Rectangle 2050">
            <a:extLst>
              <a:ext uri="{FF2B5EF4-FFF2-40B4-BE49-F238E27FC236}">
                <a16:creationId xmlns:a16="http://schemas.microsoft.com/office/drawing/2014/main" id="{B019C163-5CDC-7232-AE4C-9FD8B62C14F8}"/>
              </a:ext>
            </a:extLst>
          </p:cNvPr>
          <p:cNvSpPr>
            <a:spLocks noGrp="1" noChangeArrowheads="1"/>
          </p:cNvSpPr>
          <p:nvPr>
            <p:ph type="title"/>
          </p:nvPr>
        </p:nvSpPr>
        <p:spPr>
          <a:xfrm>
            <a:off x="228600" y="303213"/>
            <a:ext cx="7796213" cy="992187"/>
          </a:xfrm>
        </p:spPr>
        <p:txBody>
          <a:bodyPr/>
          <a:lstStyle/>
          <a:p>
            <a:pPr eaLnBrk="1" hangingPunct="1"/>
            <a:r>
              <a:rPr lang="en-US" altLang="en-US" sz="3200"/>
              <a:t>Refining the COMPANY database schema by introducing relationships</a:t>
            </a:r>
          </a:p>
        </p:txBody>
      </p:sp>
      <p:sp>
        <p:nvSpPr>
          <p:cNvPr id="57347" name="Rectangle 2051">
            <a:extLst>
              <a:ext uri="{FF2B5EF4-FFF2-40B4-BE49-F238E27FC236}">
                <a16:creationId xmlns:a16="http://schemas.microsoft.com/office/drawing/2014/main" id="{611D7B3E-074D-CE66-BB4B-3371BBF754EC}"/>
              </a:ext>
            </a:extLst>
          </p:cNvPr>
          <p:cNvSpPr>
            <a:spLocks noGrp="1" noChangeArrowheads="1"/>
          </p:cNvSpPr>
          <p:nvPr>
            <p:ph type="body" idx="1"/>
          </p:nvPr>
        </p:nvSpPr>
        <p:spPr/>
        <p:txBody>
          <a:bodyPr/>
          <a:lstStyle/>
          <a:p>
            <a:pPr eaLnBrk="1" hangingPunct="1"/>
            <a:r>
              <a:rPr lang="en-US" altLang="en-US" sz="2400"/>
              <a:t>By examining the requirements, six relationship types are identified</a:t>
            </a:r>
          </a:p>
          <a:p>
            <a:pPr eaLnBrk="1" hangingPunct="1"/>
            <a:r>
              <a:rPr lang="en-US" altLang="en-US" sz="2400"/>
              <a:t>All are </a:t>
            </a:r>
            <a:r>
              <a:rPr lang="en-US" altLang="en-US" sz="2400" i="1"/>
              <a:t>binary</a:t>
            </a:r>
            <a:r>
              <a:rPr lang="en-US" altLang="en-US" sz="2400"/>
              <a:t> relationships( degree 2)</a:t>
            </a:r>
          </a:p>
          <a:p>
            <a:pPr eaLnBrk="1" hangingPunct="1"/>
            <a:r>
              <a:rPr lang="en-US" altLang="en-US" sz="2400"/>
              <a:t>Listed below with their participating entity types:</a:t>
            </a:r>
          </a:p>
          <a:p>
            <a:pPr lvl="1" eaLnBrk="1" hangingPunct="1"/>
            <a:r>
              <a:rPr lang="en-US" altLang="en-US" sz="2200"/>
              <a:t>WORKS_FOR (between EMPLOYEE, DEPARTMENT)</a:t>
            </a:r>
          </a:p>
          <a:p>
            <a:pPr lvl="1" eaLnBrk="1" hangingPunct="1"/>
            <a:r>
              <a:rPr lang="en-US" altLang="en-US" sz="2200"/>
              <a:t>MANAGES (also between EMPLOYEE, DEPARTMENT)</a:t>
            </a:r>
          </a:p>
          <a:p>
            <a:pPr lvl="1" eaLnBrk="1" hangingPunct="1"/>
            <a:r>
              <a:rPr lang="en-US" altLang="en-US" sz="2200"/>
              <a:t>CONTROLS (between DEPARTMENT, PROJECT)</a:t>
            </a:r>
          </a:p>
          <a:p>
            <a:pPr lvl="1" eaLnBrk="1" hangingPunct="1"/>
            <a:r>
              <a:rPr lang="en-US" altLang="en-US" sz="2200"/>
              <a:t>WORKS_ON (between EMPLOYEE, PROJECT)</a:t>
            </a:r>
          </a:p>
          <a:p>
            <a:pPr lvl="1" eaLnBrk="1" hangingPunct="1"/>
            <a:r>
              <a:rPr lang="en-US" altLang="en-US" sz="2200"/>
              <a:t>SUPERVISION (between EMPLOYEE (as subordinate), EMPLOYEE (as supervisor))</a:t>
            </a:r>
          </a:p>
          <a:p>
            <a:pPr lvl="1" eaLnBrk="1" hangingPunct="1"/>
            <a:r>
              <a:rPr lang="en-US" altLang="en-US" sz="2200"/>
              <a:t>DEPENDENTS_OF (between EMPLOYEE, DEPENDENT)</a:t>
            </a:r>
          </a:p>
          <a:p>
            <a:pPr lvl="1" eaLnBrk="1" hangingPunct="1"/>
            <a:endParaRPr lang="en-US" altLang="en-US" sz="220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3">
            <a:extLst>
              <a:ext uri="{FF2B5EF4-FFF2-40B4-BE49-F238E27FC236}">
                <a16:creationId xmlns:a16="http://schemas.microsoft.com/office/drawing/2014/main" id="{BEC47E5D-1D7D-395C-6AD8-A41D48C15F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77B09336-C7F8-448C-8545-A0CF112925CE}" type="slidenum">
              <a:rPr lang="en-US" altLang="en-US" sz="1400">
                <a:solidFill>
                  <a:srgbClr val="990033"/>
                </a:solidFill>
              </a:rPr>
              <a:pPr/>
              <a:t>15</a:t>
            </a:fld>
            <a:endParaRPr lang="en-CA" altLang="en-US" sz="1400">
              <a:solidFill>
                <a:srgbClr val="990033"/>
              </a:solidFill>
            </a:endParaRPr>
          </a:p>
        </p:txBody>
      </p:sp>
      <p:sp>
        <p:nvSpPr>
          <p:cNvPr id="47106" name="Rectangle 2">
            <a:extLst>
              <a:ext uri="{FF2B5EF4-FFF2-40B4-BE49-F238E27FC236}">
                <a16:creationId xmlns:a16="http://schemas.microsoft.com/office/drawing/2014/main" id="{690D8129-532F-C6ED-71FC-E3CB71025F80}"/>
              </a:ext>
            </a:extLst>
          </p:cNvPr>
          <p:cNvSpPr>
            <a:spLocks noGrp="1" noChangeArrowheads="1"/>
          </p:cNvSpPr>
          <p:nvPr>
            <p:ph type="title"/>
          </p:nvPr>
        </p:nvSpPr>
        <p:spPr>
          <a:xfrm>
            <a:off x="1143000" y="1436318"/>
            <a:ext cx="685800" cy="4993709"/>
          </a:xfrm>
        </p:spPr>
        <p:txBody>
          <a:bodyPr vert="vert270"/>
          <a:lstStyle/>
          <a:p>
            <a:pPr algn="ctr" eaLnBrk="1" hangingPunct="1"/>
            <a:r>
              <a:rPr lang="en-US" altLang="en-US" dirty="0"/>
              <a:t>Initial Design of </a:t>
            </a:r>
            <a:br>
              <a:rPr lang="en-US" altLang="en-US" dirty="0"/>
            </a:br>
            <a:r>
              <a:rPr lang="en-US" altLang="en-US" dirty="0"/>
              <a:t>Entity Types</a:t>
            </a:r>
            <a:br>
              <a:rPr lang="en-US" altLang="en-US" dirty="0"/>
            </a:br>
            <a:r>
              <a:rPr lang="en-US" altLang="en-US" sz="1400" dirty="0"/>
              <a:t>EMPLOYEE, DEPARTMENT, PROJECT, DEPENDENT</a:t>
            </a:r>
            <a:endParaRPr lang="en-US" altLang="en-US" sz="2400" dirty="0"/>
          </a:p>
        </p:txBody>
      </p:sp>
      <p:pic>
        <p:nvPicPr>
          <p:cNvPr id="47107" name="Picture 4" descr="fig03_08">
            <a:extLst>
              <a:ext uri="{FF2B5EF4-FFF2-40B4-BE49-F238E27FC236}">
                <a16:creationId xmlns:a16="http://schemas.microsoft.com/office/drawing/2014/main" id="{F4A14F13-032F-FEC9-AE83-A660B63CAC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695" y="33434"/>
            <a:ext cx="6477000" cy="639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054646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2">
            <a:extLst>
              <a:ext uri="{FF2B5EF4-FFF2-40B4-BE49-F238E27FC236}">
                <a16:creationId xmlns:a16="http://schemas.microsoft.com/office/drawing/2014/main" id="{C044DA46-E4F9-065D-7B1F-9C1AE91B51C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CFF0F275-B733-4E86-B4F6-072575007036}" type="slidenum">
              <a:rPr lang="en-US" altLang="en-US" sz="1400">
                <a:solidFill>
                  <a:srgbClr val="990033"/>
                </a:solidFill>
              </a:rPr>
              <a:pPr/>
              <a:t>16</a:t>
            </a:fld>
            <a:endParaRPr lang="en-CA" altLang="en-US" sz="1400">
              <a:solidFill>
                <a:srgbClr val="990033"/>
              </a:solidFill>
            </a:endParaRPr>
          </a:p>
        </p:txBody>
      </p:sp>
      <p:sp>
        <p:nvSpPr>
          <p:cNvPr id="58370" name="Rectangle 2">
            <a:extLst>
              <a:ext uri="{FF2B5EF4-FFF2-40B4-BE49-F238E27FC236}">
                <a16:creationId xmlns:a16="http://schemas.microsoft.com/office/drawing/2014/main" id="{FD07D03A-278D-1D68-519E-AC8E0AAE05A0}"/>
              </a:ext>
            </a:extLst>
          </p:cNvPr>
          <p:cNvSpPr>
            <a:spLocks noGrp="1" noChangeArrowheads="1"/>
          </p:cNvSpPr>
          <p:nvPr>
            <p:ph type="title"/>
          </p:nvPr>
        </p:nvSpPr>
        <p:spPr>
          <a:xfrm>
            <a:off x="622300" y="215900"/>
            <a:ext cx="7940675" cy="768350"/>
          </a:xfrm>
          <a:noFill/>
        </p:spPr>
        <p:txBody>
          <a:bodyPr/>
          <a:lstStyle/>
          <a:p>
            <a:pPr eaLnBrk="1" hangingPunct="1"/>
            <a:r>
              <a:rPr lang="en-US" altLang="en-US" sz="3200"/>
              <a:t>ER DIAGRAM – Relationship Types are:</a:t>
            </a:r>
            <a:br>
              <a:rPr lang="en-US" altLang="en-US" sz="3200"/>
            </a:br>
            <a:r>
              <a:rPr lang="en-US" altLang="en-US" sz="1400" b="1"/>
              <a:t>WORKS_FOR, MANAGES, WORKS_ON, CONTROLS, SUPERVISION, DEPENDENTS_OF</a:t>
            </a:r>
          </a:p>
        </p:txBody>
      </p:sp>
      <p:pic>
        <p:nvPicPr>
          <p:cNvPr id="58371" name="Picture 4" descr="fig03_02">
            <a:extLst>
              <a:ext uri="{FF2B5EF4-FFF2-40B4-BE49-F238E27FC236}">
                <a16:creationId xmlns:a16="http://schemas.microsoft.com/office/drawing/2014/main" id="{F4A4C0D6-A5F6-1136-4C42-3A98EAE74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65275"/>
            <a:ext cx="5181600"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a:extLst>
              <a:ext uri="{FF2B5EF4-FFF2-40B4-BE49-F238E27FC236}">
                <a16:creationId xmlns:a16="http://schemas.microsoft.com/office/drawing/2014/main" id="{EF84F8D3-99BC-FCFB-6D12-8FB01C6C121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C97849B9-B3B1-4A8F-B058-6F47ED71EFA9}" type="slidenum">
              <a:rPr lang="en-US" altLang="en-US" sz="1400">
                <a:solidFill>
                  <a:srgbClr val="990033"/>
                </a:solidFill>
              </a:rPr>
              <a:pPr/>
              <a:t>17</a:t>
            </a:fld>
            <a:endParaRPr lang="en-CA" altLang="en-US" sz="1400">
              <a:solidFill>
                <a:srgbClr val="990033"/>
              </a:solidFill>
            </a:endParaRPr>
          </a:p>
        </p:txBody>
      </p:sp>
      <p:sp>
        <p:nvSpPr>
          <p:cNvPr id="60418" name="Rectangle 4">
            <a:extLst>
              <a:ext uri="{FF2B5EF4-FFF2-40B4-BE49-F238E27FC236}">
                <a16:creationId xmlns:a16="http://schemas.microsoft.com/office/drawing/2014/main" id="{2B397845-EAFD-82F3-37FD-C457F451F912}"/>
              </a:ext>
            </a:extLst>
          </p:cNvPr>
          <p:cNvSpPr>
            <a:spLocks noGrp="1" noChangeArrowheads="1"/>
          </p:cNvSpPr>
          <p:nvPr>
            <p:ph type="title"/>
          </p:nvPr>
        </p:nvSpPr>
        <p:spPr>
          <a:xfrm>
            <a:off x="228600" y="303213"/>
            <a:ext cx="7796213" cy="992187"/>
          </a:xfrm>
        </p:spPr>
        <p:txBody>
          <a:bodyPr/>
          <a:lstStyle/>
          <a:p>
            <a:pPr eaLnBrk="1" hangingPunct="1"/>
            <a:r>
              <a:rPr lang="en-US" altLang="en-US"/>
              <a:t>Discussion on Relationship Types</a:t>
            </a:r>
          </a:p>
        </p:txBody>
      </p:sp>
      <p:sp>
        <p:nvSpPr>
          <p:cNvPr id="60419" name="Rectangle 5">
            <a:extLst>
              <a:ext uri="{FF2B5EF4-FFF2-40B4-BE49-F238E27FC236}">
                <a16:creationId xmlns:a16="http://schemas.microsoft.com/office/drawing/2014/main" id="{E4C4C183-79F5-AE0A-DFD4-9592065DB13F}"/>
              </a:ext>
            </a:extLst>
          </p:cNvPr>
          <p:cNvSpPr>
            <a:spLocks noGrp="1" noChangeArrowheads="1"/>
          </p:cNvSpPr>
          <p:nvPr>
            <p:ph type="body" idx="1"/>
          </p:nvPr>
        </p:nvSpPr>
        <p:spPr/>
        <p:txBody>
          <a:bodyPr/>
          <a:lstStyle/>
          <a:p>
            <a:pPr eaLnBrk="1" hangingPunct="1"/>
            <a:r>
              <a:rPr lang="en-US" altLang="en-US" sz="2400"/>
              <a:t>In the refined design, some attributes from the initial entity types are refined into relationships:</a:t>
            </a:r>
          </a:p>
          <a:p>
            <a:pPr lvl="1" eaLnBrk="1" hangingPunct="1"/>
            <a:r>
              <a:rPr lang="en-US" altLang="en-US" sz="2200"/>
              <a:t>Manager of DEPARTMENT -&gt; MANAGES</a:t>
            </a:r>
          </a:p>
          <a:p>
            <a:pPr lvl="1" eaLnBrk="1" hangingPunct="1"/>
            <a:r>
              <a:rPr lang="en-US" altLang="en-US" sz="2200"/>
              <a:t>Works_on of EMPLOYEE -&gt; WORKS_ON</a:t>
            </a:r>
          </a:p>
          <a:p>
            <a:pPr lvl="1" eaLnBrk="1" hangingPunct="1"/>
            <a:r>
              <a:rPr lang="en-US" altLang="en-US" sz="2200"/>
              <a:t>Department of EMPLOYEE -&gt; WORKS_FOR</a:t>
            </a:r>
          </a:p>
          <a:p>
            <a:pPr lvl="1" eaLnBrk="1" hangingPunct="1"/>
            <a:r>
              <a:rPr lang="en-US" altLang="en-US" sz="2200"/>
              <a:t>etc</a:t>
            </a:r>
          </a:p>
          <a:p>
            <a:pPr eaLnBrk="1" hangingPunct="1"/>
            <a:r>
              <a:rPr lang="en-US" altLang="en-US" sz="2400"/>
              <a:t>In general, more than one relationship type can exist between the same participating entity types </a:t>
            </a:r>
          </a:p>
          <a:p>
            <a:pPr lvl="1" eaLnBrk="1" hangingPunct="1"/>
            <a:r>
              <a:rPr lang="en-US" altLang="en-US" sz="2200"/>
              <a:t>MANAGES and WORKS_FOR are distinct relationship types between EMPLOYEE and DEPARTMENT</a:t>
            </a:r>
          </a:p>
          <a:p>
            <a:pPr lvl="1" eaLnBrk="1" hangingPunct="1"/>
            <a:r>
              <a:rPr lang="en-US" altLang="en-US" sz="2200"/>
              <a:t>Different meanings and different relationship instances.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3">
            <a:extLst>
              <a:ext uri="{FF2B5EF4-FFF2-40B4-BE49-F238E27FC236}">
                <a16:creationId xmlns:a16="http://schemas.microsoft.com/office/drawing/2014/main" id="{D3E61A7E-F191-6BD9-C2CD-C5476D6748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6F118CC5-6E87-4827-9136-AEA78554C614}" type="slidenum">
              <a:rPr lang="en-US" altLang="en-US" sz="1400">
                <a:solidFill>
                  <a:srgbClr val="990033"/>
                </a:solidFill>
              </a:rPr>
              <a:pPr/>
              <a:t>18</a:t>
            </a:fld>
            <a:endParaRPr lang="en-CA" altLang="en-US" sz="1400">
              <a:solidFill>
                <a:srgbClr val="990033"/>
              </a:solidFill>
            </a:endParaRPr>
          </a:p>
        </p:txBody>
      </p:sp>
      <p:sp>
        <p:nvSpPr>
          <p:cNvPr id="62466" name="Rectangle 1028">
            <a:extLst>
              <a:ext uri="{FF2B5EF4-FFF2-40B4-BE49-F238E27FC236}">
                <a16:creationId xmlns:a16="http://schemas.microsoft.com/office/drawing/2014/main" id="{2CA1BC88-38A4-9DC3-AE5E-4E16DBA3B113}"/>
              </a:ext>
            </a:extLst>
          </p:cNvPr>
          <p:cNvSpPr>
            <a:spLocks noGrp="1" noChangeArrowheads="1"/>
          </p:cNvSpPr>
          <p:nvPr>
            <p:ph type="title"/>
          </p:nvPr>
        </p:nvSpPr>
        <p:spPr>
          <a:xfrm>
            <a:off x="228600" y="303213"/>
            <a:ext cx="7796213" cy="992187"/>
          </a:xfrm>
        </p:spPr>
        <p:txBody>
          <a:bodyPr/>
          <a:lstStyle/>
          <a:p>
            <a:pPr eaLnBrk="1" hangingPunct="1"/>
            <a:r>
              <a:rPr lang="en-US" altLang="en-US"/>
              <a:t>Constraints on Relationships</a:t>
            </a:r>
          </a:p>
        </p:txBody>
      </p:sp>
      <p:sp>
        <p:nvSpPr>
          <p:cNvPr id="62467" name="Rectangle 1029">
            <a:extLst>
              <a:ext uri="{FF2B5EF4-FFF2-40B4-BE49-F238E27FC236}">
                <a16:creationId xmlns:a16="http://schemas.microsoft.com/office/drawing/2014/main" id="{A014B625-063A-6748-2EE9-A2726FEB1C90}"/>
              </a:ext>
            </a:extLst>
          </p:cNvPr>
          <p:cNvSpPr>
            <a:spLocks noGrp="1" noChangeArrowheads="1"/>
          </p:cNvSpPr>
          <p:nvPr>
            <p:ph type="body" idx="1"/>
          </p:nvPr>
        </p:nvSpPr>
        <p:spPr/>
        <p:txBody>
          <a:bodyPr/>
          <a:lstStyle/>
          <a:p>
            <a:pPr eaLnBrk="1" hangingPunct="1"/>
            <a:r>
              <a:rPr lang="en-US" altLang="en-US" sz="2400"/>
              <a:t>Constraints on Relationship Types</a:t>
            </a:r>
          </a:p>
          <a:p>
            <a:pPr lvl="1" eaLnBrk="1" hangingPunct="1"/>
            <a:r>
              <a:rPr lang="en-US" altLang="en-US" sz="2200"/>
              <a:t>(Also known as ratio constraints)</a:t>
            </a:r>
          </a:p>
          <a:p>
            <a:pPr lvl="1" eaLnBrk="1" hangingPunct="1"/>
            <a:r>
              <a:rPr lang="en-US" altLang="en-US" sz="2200"/>
              <a:t>Cardinality Ratio (specifies </a:t>
            </a:r>
            <a:r>
              <a:rPr lang="en-US" altLang="en-US" sz="2200" i="1"/>
              <a:t>maximum</a:t>
            </a:r>
            <a:r>
              <a:rPr lang="en-US" altLang="en-US" sz="2200"/>
              <a:t> participation) </a:t>
            </a:r>
          </a:p>
          <a:p>
            <a:pPr lvl="2" eaLnBrk="1" hangingPunct="1"/>
            <a:r>
              <a:rPr lang="en-US" altLang="en-US" sz="2000"/>
              <a:t>One-to-one (1:1)</a:t>
            </a:r>
          </a:p>
          <a:p>
            <a:pPr lvl="2" eaLnBrk="1" hangingPunct="1"/>
            <a:r>
              <a:rPr lang="en-US" altLang="en-US" sz="2000"/>
              <a:t>One-to-many (1:N) or Many-to-one (N:1)</a:t>
            </a:r>
          </a:p>
          <a:p>
            <a:pPr lvl="2" eaLnBrk="1" hangingPunct="1"/>
            <a:r>
              <a:rPr lang="en-US" altLang="en-US" sz="2000"/>
              <a:t>Many-to-many (M:N)</a:t>
            </a:r>
          </a:p>
          <a:p>
            <a:pPr lvl="1" eaLnBrk="1" hangingPunct="1"/>
            <a:r>
              <a:rPr lang="en-US" altLang="en-US" sz="2200"/>
              <a:t>Existence Dependency Constraint (specifies </a:t>
            </a:r>
            <a:r>
              <a:rPr lang="en-US" altLang="en-US" sz="2200" i="1"/>
              <a:t>minimum</a:t>
            </a:r>
            <a:r>
              <a:rPr lang="en-US" altLang="en-US" sz="2200"/>
              <a:t> participation) (also called participation constraint)</a:t>
            </a:r>
          </a:p>
          <a:p>
            <a:pPr lvl="2" eaLnBrk="1" hangingPunct="1"/>
            <a:r>
              <a:rPr lang="en-US" altLang="en-US" sz="2000"/>
              <a:t>zero (optional participation, not existence-dependent)</a:t>
            </a:r>
          </a:p>
          <a:p>
            <a:pPr lvl="2" eaLnBrk="1" hangingPunct="1"/>
            <a:r>
              <a:rPr lang="en-US" altLang="en-US" sz="2000"/>
              <a:t>one or more (mandatory participation, existence-dependent)</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Number Placeholder 2">
            <a:extLst>
              <a:ext uri="{FF2B5EF4-FFF2-40B4-BE49-F238E27FC236}">
                <a16:creationId xmlns:a16="http://schemas.microsoft.com/office/drawing/2014/main" id="{B2626773-6C84-933B-776D-7F2F44917C2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DC731D80-D790-4589-B4E1-405A2458D440}" type="slidenum">
              <a:rPr lang="en-US" altLang="en-US" sz="1400">
                <a:solidFill>
                  <a:srgbClr val="990033"/>
                </a:solidFill>
              </a:rPr>
              <a:pPr/>
              <a:t>19</a:t>
            </a:fld>
            <a:endParaRPr lang="en-CA" altLang="en-US" sz="1400">
              <a:solidFill>
                <a:srgbClr val="990033"/>
              </a:solidFill>
            </a:endParaRPr>
          </a:p>
        </p:txBody>
      </p:sp>
      <p:sp>
        <p:nvSpPr>
          <p:cNvPr id="64514" name="Rectangle 1039">
            <a:extLst>
              <a:ext uri="{FF2B5EF4-FFF2-40B4-BE49-F238E27FC236}">
                <a16:creationId xmlns:a16="http://schemas.microsoft.com/office/drawing/2014/main" id="{F55C0085-5AB1-E476-AD25-9FE55046A0AF}"/>
              </a:ext>
            </a:extLst>
          </p:cNvPr>
          <p:cNvSpPr>
            <a:spLocks noGrp="1" noChangeArrowheads="1"/>
          </p:cNvSpPr>
          <p:nvPr>
            <p:ph type="title"/>
          </p:nvPr>
        </p:nvSpPr>
        <p:spPr>
          <a:xfrm>
            <a:off x="228600" y="325438"/>
            <a:ext cx="8418513" cy="533400"/>
          </a:xfrm>
          <a:noFill/>
        </p:spPr>
        <p:txBody>
          <a:bodyPr/>
          <a:lstStyle/>
          <a:p>
            <a:pPr eaLnBrk="1" hangingPunct="1"/>
            <a:r>
              <a:rPr lang="en-US" altLang="en-US"/>
              <a:t>Many-to-one (N:1) Relationship</a:t>
            </a:r>
          </a:p>
        </p:txBody>
      </p:sp>
      <p:pic>
        <p:nvPicPr>
          <p:cNvPr id="64515" name="Picture 1054" descr="fig03_09">
            <a:extLst>
              <a:ext uri="{FF2B5EF4-FFF2-40B4-BE49-F238E27FC236}">
                <a16:creationId xmlns:a16="http://schemas.microsoft.com/office/drawing/2014/main" id="{2F1DF2D8-02EC-30AF-CD5E-0FE25045D3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92275"/>
            <a:ext cx="7772400" cy="463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2">
            <a:extLst>
              <a:ext uri="{FF2B5EF4-FFF2-40B4-BE49-F238E27FC236}">
                <a16:creationId xmlns:a16="http://schemas.microsoft.com/office/drawing/2014/main" id="{048B6A9D-86E2-DF96-BE06-90420F65F8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538AE066-5967-4151-9BEC-2675781F9049}" type="slidenum">
              <a:rPr lang="en-US" altLang="en-US" sz="1400">
                <a:solidFill>
                  <a:srgbClr val="990033"/>
                </a:solidFill>
              </a:rPr>
              <a:pPr/>
              <a:t>20</a:t>
            </a:fld>
            <a:endParaRPr lang="en-CA" altLang="en-US" sz="1400">
              <a:solidFill>
                <a:srgbClr val="990033"/>
              </a:solidFill>
            </a:endParaRPr>
          </a:p>
        </p:txBody>
      </p:sp>
      <p:sp>
        <p:nvSpPr>
          <p:cNvPr id="66562" name="Rectangle 1044">
            <a:extLst>
              <a:ext uri="{FF2B5EF4-FFF2-40B4-BE49-F238E27FC236}">
                <a16:creationId xmlns:a16="http://schemas.microsoft.com/office/drawing/2014/main" id="{DAF9CDA4-9EBD-54A8-73AB-3B2B5962BCDF}"/>
              </a:ext>
            </a:extLst>
          </p:cNvPr>
          <p:cNvSpPr>
            <a:spLocks noGrp="1" noChangeArrowheads="1"/>
          </p:cNvSpPr>
          <p:nvPr>
            <p:ph type="title"/>
          </p:nvPr>
        </p:nvSpPr>
        <p:spPr>
          <a:xfrm>
            <a:off x="296863" y="85725"/>
            <a:ext cx="8496300" cy="1143000"/>
          </a:xfrm>
          <a:noFill/>
        </p:spPr>
        <p:txBody>
          <a:bodyPr/>
          <a:lstStyle/>
          <a:p>
            <a:pPr eaLnBrk="1" hangingPunct="1"/>
            <a:r>
              <a:rPr lang="en-US" altLang="en-US" sz="4000"/>
              <a:t>Many-to-many (M:N) Relationship</a:t>
            </a:r>
          </a:p>
        </p:txBody>
      </p:sp>
      <p:pic>
        <p:nvPicPr>
          <p:cNvPr id="66563" name="Picture 1062" descr="fig03_13">
            <a:extLst>
              <a:ext uri="{FF2B5EF4-FFF2-40B4-BE49-F238E27FC236}">
                <a16:creationId xmlns:a16="http://schemas.microsoft.com/office/drawing/2014/main" id="{ADFCA55F-0336-F646-2A5B-CF282F609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676400"/>
            <a:ext cx="6781800" cy="466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3">
            <a:extLst>
              <a:ext uri="{FF2B5EF4-FFF2-40B4-BE49-F238E27FC236}">
                <a16:creationId xmlns:a16="http://schemas.microsoft.com/office/drawing/2014/main" id="{D3CCE28E-6ADC-90FE-7B5F-E8D1784444C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A102C9A7-7604-4BEA-9FC8-75F44527BD1E}" type="slidenum">
              <a:rPr lang="en-US" altLang="en-US" sz="1400">
                <a:solidFill>
                  <a:srgbClr val="990033"/>
                </a:solidFill>
              </a:rPr>
              <a:pPr/>
              <a:t>21</a:t>
            </a:fld>
            <a:endParaRPr lang="en-CA" altLang="en-US" sz="1400">
              <a:solidFill>
                <a:srgbClr val="990033"/>
              </a:solidFill>
            </a:endParaRPr>
          </a:p>
        </p:txBody>
      </p:sp>
      <p:sp>
        <p:nvSpPr>
          <p:cNvPr id="68610" name="Rectangle 1028">
            <a:extLst>
              <a:ext uri="{FF2B5EF4-FFF2-40B4-BE49-F238E27FC236}">
                <a16:creationId xmlns:a16="http://schemas.microsoft.com/office/drawing/2014/main" id="{CD9843EB-2528-341B-DB1B-2F89DB1149CA}"/>
              </a:ext>
            </a:extLst>
          </p:cNvPr>
          <p:cNvSpPr>
            <a:spLocks noGrp="1" noChangeArrowheads="1"/>
          </p:cNvSpPr>
          <p:nvPr>
            <p:ph type="title"/>
          </p:nvPr>
        </p:nvSpPr>
        <p:spPr>
          <a:xfrm>
            <a:off x="228600" y="303213"/>
            <a:ext cx="7796213" cy="992187"/>
          </a:xfrm>
        </p:spPr>
        <p:txBody>
          <a:bodyPr/>
          <a:lstStyle/>
          <a:p>
            <a:pPr eaLnBrk="1" hangingPunct="1"/>
            <a:r>
              <a:rPr lang="en-US" altLang="en-US"/>
              <a:t>Recursive Relationship Type</a:t>
            </a:r>
          </a:p>
        </p:txBody>
      </p:sp>
      <p:sp>
        <p:nvSpPr>
          <p:cNvPr id="68611" name="Rectangle 1029">
            <a:extLst>
              <a:ext uri="{FF2B5EF4-FFF2-40B4-BE49-F238E27FC236}">
                <a16:creationId xmlns:a16="http://schemas.microsoft.com/office/drawing/2014/main" id="{AEEA50E6-3FCE-CFA8-9B5A-9720D3C12238}"/>
              </a:ext>
            </a:extLst>
          </p:cNvPr>
          <p:cNvSpPr>
            <a:spLocks noGrp="1" noChangeArrowheads="1"/>
          </p:cNvSpPr>
          <p:nvPr>
            <p:ph type="body" idx="1"/>
          </p:nvPr>
        </p:nvSpPr>
        <p:spPr/>
        <p:txBody>
          <a:bodyPr/>
          <a:lstStyle/>
          <a:p>
            <a:pPr eaLnBrk="1" hangingPunct="1"/>
            <a:r>
              <a:rPr lang="en-US" altLang="en-US" sz="2400"/>
              <a:t>A relationship type between the same participating entity type in </a:t>
            </a:r>
            <a:r>
              <a:rPr lang="en-US" altLang="en-US" sz="2400" b="1"/>
              <a:t>distinct roles</a:t>
            </a:r>
          </a:p>
          <a:p>
            <a:pPr eaLnBrk="1" hangingPunct="1"/>
            <a:r>
              <a:rPr lang="en-US" altLang="en-US" sz="2400"/>
              <a:t>Also called a</a:t>
            </a:r>
            <a:r>
              <a:rPr lang="en-US" altLang="en-US" sz="2400" b="1"/>
              <a:t> self-referencing </a:t>
            </a:r>
            <a:r>
              <a:rPr lang="en-US" altLang="en-US" sz="2400"/>
              <a:t>relationship type.</a:t>
            </a:r>
          </a:p>
          <a:p>
            <a:pPr eaLnBrk="1" hangingPunct="1"/>
            <a:r>
              <a:rPr lang="en-US" altLang="en-US" sz="2400"/>
              <a:t>Example: the SUPERVISION relationship</a:t>
            </a:r>
          </a:p>
          <a:p>
            <a:pPr eaLnBrk="1" hangingPunct="1"/>
            <a:r>
              <a:rPr lang="en-US" altLang="en-US" sz="2400"/>
              <a:t>EMPLOYEE participates twice in two distinct roles:</a:t>
            </a:r>
          </a:p>
          <a:p>
            <a:pPr lvl="1" eaLnBrk="1" hangingPunct="1"/>
            <a:r>
              <a:rPr lang="en-US" altLang="en-US" sz="2200"/>
              <a:t>supervisor (or boss) role</a:t>
            </a:r>
          </a:p>
          <a:p>
            <a:pPr lvl="1" eaLnBrk="1" hangingPunct="1"/>
            <a:r>
              <a:rPr lang="en-US" altLang="en-US" sz="2200"/>
              <a:t>supervisee (or subordinate) role</a:t>
            </a:r>
          </a:p>
          <a:p>
            <a:pPr eaLnBrk="1" hangingPunct="1"/>
            <a:r>
              <a:rPr lang="en-US" altLang="en-US" sz="2400"/>
              <a:t>Each relationship instance relates two distinct EMPLOYEE entities:</a:t>
            </a:r>
          </a:p>
          <a:p>
            <a:pPr lvl="1" eaLnBrk="1" hangingPunct="1"/>
            <a:r>
              <a:rPr lang="en-US" altLang="en-US" sz="2200"/>
              <a:t>One employee in </a:t>
            </a:r>
            <a:r>
              <a:rPr lang="en-US" altLang="en-US" sz="2200" i="1"/>
              <a:t>supervisor</a:t>
            </a:r>
            <a:r>
              <a:rPr lang="en-US" altLang="en-US" sz="2200"/>
              <a:t> role</a:t>
            </a:r>
          </a:p>
          <a:p>
            <a:pPr lvl="1" eaLnBrk="1" hangingPunct="1"/>
            <a:r>
              <a:rPr lang="en-US" altLang="en-US" sz="2200"/>
              <a:t>One employee in </a:t>
            </a:r>
            <a:r>
              <a:rPr lang="en-US" altLang="en-US" sz="2200" i="1"/>
              <a:t>supervisee</a:t>
            </a:r>
            <a:r>
              <a:rPr lang="en-US" altLang="en-US" sz="2200"/>
              <a:t> role</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3">
            <a:extLst>
              <a:ext uri="{FF2B5EF4-FFF2-40B4-BE49-F238E27FC236}">
                <a16:creationId xmlns:a16="http://schemas.microsoft.com/office/drawing/2014/main" id="{ED99EE98-4294-B256-008A-F9D0A3C14DA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DD1AAF6B-80C3-474D-B686-2F662142051D}" type="slidenum">
              <a:rPr lang="en-US" altLang="en-US" sz="1400">
                <a:solidFill>
                  <a:srgbClr val="990033"/>
                </a:solidFill>
              </a:rPr>
              <a:pPr/>
              <a:t>22</a:t>
            </a:fld>
            <a:endParaRPr lang="en-CA" altLang="en-US" sz="1400">
              <a:solidFill>
                <a:srgbClr val="990033"/>
              </a:solidFill>
            </a:endParaRPr>
          </a:p>
        </p:txBody>
      </p:sp>
      <p:sp>
        <p:nvSpPr>
          <p:cNvPr id="70658" name="Rectangle 1028">
            <a:extLst>
              <a:ext uri="{FF2B5EF4-FFF2-40B4-BE49-F238E27FC236}">
                <a16:creationId xmlns:a16="http://schemas.microsoft.com/office/drawing/2014/main" id="{B50DD963-421D-4A87-2C1C-D53E124322D2}"/>
              </a:ext>
            </a:extLst>
          </p:cNvPr>
          <p:cNvSpPr>
            <a:spLocks noGrp="1" noChangeArrowheads="1"/>
          </p:cNvSpPr>
          <p:nvPr>
            <p:ph type="title"/>
          </p:nvPr>
        </p:nvSpPr>
        <p:spPr>
          <a:xfrm>
            <a:off x="228600" y="303213"/>
            <a:ext cx="7796213" cy="992187"/>
          </a:xfrm>
          <a:noFill/>
        </p:spPr>
        <p:txBody>
          <a:bodyPr/>
          <a:lstStyle/>
          <a:p>
            <a:pPr eaLnBrk="1" hangingPunct="1"/>
            <a:r>
              <a:rPr lang="en-US" altLang="en-US" sz="4000"/>
              <a:t>Displaying a recursive relationship</a:t>
            </a:r>
          </a:p>
        </p:txBody>
      </p:sp>
      <p:sp>
        <p:nvSpPr>
          <p:cNvPr id="70659" name="Rectangle 1029">
            <a:extLst>
              <a:ext uri="{FF2B5EF4-FFF2-40B4-BE49-F238E27FC236}">
                <a16:creationId xmlns:a16="http://schemas.microsoft.com/office/drawing/2014/main" id="{7A4F50DB-E8A2-3AC9-3995-1A9E45232E5E}"/>
              </a:ext>
            </a:extLst>
          </p:cNvPr>
          <p:cNvSpPr>
            <a:spLocks noGrp="1" noChangeArrowheads="1"/>
          </p:cNvSpPr>
          <p:nvPr>
            <p:ph type="body" idx="1"/>
          </p:nvPr>
        </p:nvSpPr>
        <p:spPr/>
        <p:txBody>
          <a:bodyPr/>
          <a:lstStyle/>
          <a:p>
            <a:pPr eaLnBrk="1" hangingPunct="1">
              <a:lnSpc>
                <a:spcPct val="80000"/>
              </a:lnSpc>
            </a:pPr>
            <a:r>
              <a:rPr lang="en-US" altLang="en-US"/>
              <a:t>In a recursive relationship type.</a:t>
            </a:r>
          </a:p>
          <a:p>
            <a:pPr lvl="1" eaLnBrk="1" hangingPunct="1">
              <a:lnSpc>
                <a:spcPct val="80000"/>
              </a:lnSpc>
            </a:pPr>
            <a:r>
              <a:rPr lang="en-US" altLang="en-US" sz="2800"/>
              <a:t>Both participations are same entity type in different roles.</a:t>
            </a:r>
          </a:p>
          <a:p>
            <a:pPr lvl="1" eaLnBrk="1" hangingPunct="1">
              <a:lnSpc>
                <a:spcPct val="80000"/>
              </a:lnSpc>
            </a:pPr>
            <a:r>
              <a:rPr lang="en-US" altLang="en-US" sz="2800"/>
              <a:t>For example, SUPERVISION relationships between EMPLOYEE (in role of supervisor or boss) and (another) EMPLOYEE (in role of subordinate or worker).</a:t>
            </a:r>
          </a:p>
          <a:p>
            <a:pPr eaLnBrk="1" hangingPunct="1">
              <a:lnSpc>
                <a:spcPct val="80000"/>
              </a:lnSpc>
            </a:pPr>
            <a:r>
              <a:rPr lang="en-US" altLang="en-US"/>
              <a:t>In following figure, first role participation labeled with 1 and second role participation labeled with 2.</a:t>
            </a:r>
          </a:p>
          <a:p>
            <a:pPr eaLnBrk="1" hangingPunct="1">
              <a:lnSpc>
                <a:spcPct val="80000"/>
              </a:lnSpc>
            </a:pPr>
            <a:r>
              <a:rPr lang="en-US" altLang="en-US"/>
              <a:t>In ER diagram, need to display role names to distinguish participations.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2">
            <a:extLst>
              <a:ext uri="{FF2B5EF4-FFF2-40B4-BE49-F238E27FC236}">
                <a16:creationId xmlns:a16="http://schemas.microsoft.com/office/drawing/2014/main" id="{293B7B20-8307-D320-361D-8D3F53C2A2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C42A4F37-55FE-4751-B777-E13D656AF02A}" type="slidenum">
              <a:rPr lang="en-US" altLang="en-US" sz="1400">
                <a:solidFill>
                  <a:srgbClr val="990033"/>
                </a:solidFill>
              </a:rPr>
              <a:pPr/>
              <a:t>23</a:t>
            </a:fld>
            <a:endParaRPr lang="en-CA" altLang="en-US" sz="1400">
              <a:solidFill>
                <a:srgbClr val="990033"/>
              </a:solidFill>
            </a:endParaRPr>
          </a:p>
        </p:txBody>
      </p:sp>
      <p:sp>
        <p:nvSpPr>
          <p:cNvPr id="72706" name="Rectangle 1037">
            <a:extLst>
              <a:ext uri="{FF2B5EF4-FFF2-40B4-BE49-F238E27FC236}">
                <a16:creationId xmlns:a16="http://schemas.microsoft.com/office/drawing/2014/main" id="{B90AE8E0-82D7-9BD2-13BB-493AE6B8A1CC}"/>
              </a:ext>
            </a:extLst>
          </p:cNvPr>
          <p:cNvSpPr>
            <a:spLocks noGrp="1" noChangeArrowheads="1"/>
          </p:cNvSpPr>
          <p:nvPr>
            <p:ph type="title"/>
          </p:nvPr>
        </p:nvSpPr>
        <p:spPr>
          <a:xfrm>
            <a:off x="474663" y="-76200"/>
            <a:ext cx="8364537" cy="1052513"/>
          </a:xfrm>
          <a:noFill/>
        </p:spPr>
        <p:txBody>
          <a:bodyPr/>
          <a:lstStyle/>
          <a:p>
            <a:pPr eaLnBrk="1" hangingPunct="1"/>
            <a:r>
              <a:rPr lang="en-US" altLang="en-US"/>
              <a:t>A Recursive Relationship Supervision`</a:t>
            </a:r>
          </a:p>
        </p:txBody>
      </p:sp>
      <p:pic>
        <p:nvPicPr>
          <p:cNvPr id="72707" name="Picture 1074" descr="fig03_11">
            <a:extLst>
              <a:ext uri="{FF2B5EF4-FFF2-40B4-BE49-F238E27FC236}">
                <a16:creationId xmlns:a16="http://schemas.microsoft.com/office/drawing/2014/main" id="{E20EBD17-27AA-1128-E1C0-BB3E9D547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3" y="1752600"/>
            <a:ext cx="7754937"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2">
            <a:extLst>
              <a:ext uri="{FF2B5EF4-FFF2-40B4-BE49-F238E27FC236}">
                <a16:creationId xmlns:a16="http://schemas.microsoft.com/office/drawing/2014/main" id="{4A868C3C-915A-EA94-3443-352918C8686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5A113239-5F0A-4857-A122-E050A105354E}" type="slidenum">
              <a:rPr lang="en-US" altLang="en-US" sz="1400">
                <a:solidFill>
                  <a:srgbClr val="990033"/>
                </a:solidFill>
              </a:rPr>
              <a:pPr/>
              <a:t>24</a:t>
            </a:fld>
            <a:endParaRPr lang="en-CA" altLang="en-US" sz="1400">
              <a:solidFill>
                <a:srgbClr val="990033"/>
              </a:solidFill>
            </a:endParaRPr>
          </a:p>
        </p:txBody>
      </p:sp>
      <p:sp>
        <p:nvSpPr>
          <p:cNvPr id="74754" name="Rectangle 2">
            <a:extLst>
              <a:ext uri="{FF2B5EF4-FFF2-40B4-BE49-F238E27FC236}">
                <a16:creationId xmlns:a16="http://schemas.microsoft.com/office/drawing/2014/main" id="{5D417F68-9AB0-D466-2538-C6899FE5CF31}"/>
              </a:ext>
            </a:extLst>
          </p:cNvPr>
          <p:cNvSpPr>
            <a:spLocks noGrp="1" noChangeArrowheads="1"/>
          </p:cNvSpPr>
          <p:nvPr>
            <p:ph type="title"/>
          </p:nvPr>
        </p:nvSpPr>
        <p:spPr>
          <a:xfrm>
            <a:off x="622300" y="215900"/>
            <a:ext cx="7940675" cy="768350"/>
          </a:xfrm>
          <a:noFill/>
        </p:spPr>
        <p:txBody>
          <a:bodyPr anchor="ctr"/>
          <a:lstStyle/>
          <a:p>
            <a:pPr eaLnBrk="1" hangingPunct="1">
              <a:lnSpc>
                <a:spcPct val="90000"/>
              </a:lnSpc>
            </a:pPr>
            <a:r>
              <a:rPr lang="en-US" altLang="en-US" sz="2800" b="1"/>
              <a:t>Recursive Relationship Type is: </a:t>
            </a:r>
            <a:r>
              <a:rPr lang="en-US" altLang="en-US" sz="2400" b="1"/>
              <a:t>SUPERVISION</a:t>
            </a:r>
            <a:br>
              <a:rPr lang="en-US" altLang="en-US" sz="2400" b="1"/>
            </a:br>
            <a:r>
              <a:rPr lang="en-US" altLang="en-US" sz="2800" b="1"/>
              <a:t>(participation role names are shown)</a:t>
            </a:r>
            <a:endParaRPr lang="en-US" altLang="en-US" sz="2400" b="1"/>
          </a:p>
        </p:txBody>
      </p:sp>
      <p:pic>
        <p:nvPicPr>
          <p:cNvPr id="74755" name="Picture 4" descr="fig03_02">
            <a:extLst>
              <a:ext uri="{FF2B5EF4-FFF2-40B4-BE49-F238E27FC236}">
                <a16:creationId xmlns:a16="http://schemas.microsoft.com/office/drawing/2014/main" id="{6FAC527B-F90C-A906-48D6-47409C8E5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524000"/>
            <a:ext cx="5156200"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3">
            <a:extLst>
              <a:ext uri="{FF2B5EF4-FFF2-40B4-BE49-F238E27FC236}">
                <a16:creationId xmlns:a16="http://schemas.microsoft.com/office/drawing/2014/main" id="{7EEF55B9-5A78-10CC-5D6E-20FC41086A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4E6EBB9C-284E-4C52-988A-5A2B8C5EC231}" type="slidenum">
              <a:rPr lang="en-US" altLang="en-US" sz="1400">
                <a:solidFill>
                  <a:srgbClr val="990033"/>
                </a:solidFill>
              </a:rPr>
              <a:pPr/>
              <a:t>25</a:t>
            </a:fld>
            <a:endParaRPr lang="en-CA" altLang="en-US" sz="1400">
              <a:solidFill>
                <a:srgbClr val="990033"/>
              </a:solidFill>
            </a:endParaRPr>
          </a:p>
        </p:txBody>
      </p:sp>
      <p:sp>
        <p:nvSpPr>
          <p:cNvPr id="76802" name="Rectangle 2050">
            <a:extLst>
              <a:ext uri="{FF2B5EF4-FFF2-40B4-BE49-F238E27FC236}">
                <a16:creationId xmlns:a16="http://schemas.microsoft.com/office/drawing/2014/main" id="{31F52BCA-5467-0D7C-80C5-9803C6534806}"/>
              </a:ext>
            </a:extLst>
          </p:cNvPr>
          <p:cNvSpPr>
            <a:spLocks noGrp="1" noChangeArrowheads="1"/>
          </p:cNvSpPr>
          <p:nvPr>
            <p:ph type="title"/>
          </p:nvPr>
        </p:nvSpPr>
        <p:spPr>
          <a:xfrm>
            <a:off x="228600" y="303213"/>
            <a:ext cx="7796213" cy="992187"/>
          </a:xfrm>
        </p:spPr>
        <p:txBody>
          <a:bodyPr/>
          <a:lstStyle/>
          <a:p>
            <a:pPr eaLnBrk="1" hangingPunct="1"/>
            <a:r>
              <a:rPr lang="en-US" altLang="en-US"/>
              <a:t>Weak Entity Types</a:t>
            </a:r>
          </a:p>
        </p:txBody>
      </p:sp>
      <p:sp>
        <p:nvSpPr>
          <p:cNvPr id="76803" name="Rectangle 2051">
            <a:extLst>
              <a:ext uri="{FF2B5EF4-FFF2-40B4-BE49-F238E27FC236}">
                <a16:creationId xmlns:a16="http://schemas.microsoft.com/office/drawing/2014/main" id="{733BB9A9-4F90-DC7F-FB47-E80F0335099B}"/>
              </a:ext>
            </a:extLst>
          </p:cNvPr>
          <p:cNvSpPr>
            <a:spLocks noGrp="1" noChangeArrowheads="1"/>
          </p:cNvSpPr>
          <p:nvPr>
            <p:ph type="body" idx="1"/>
          </p:nvPr>
        </p:nvSpPr>
        <p:spPr/>
        <p:txBody>
          <a:bodyPr/>
          <a:lstStyle/>
          <a:p>
            <a:pPr eaLnBrk="1" hangingPunct="1">
              <a:lnSpc>
                <a:spcPct val="90000"/>
              </a:lnSpc>
            </a:pPr>
            <a:r>
              <a:rPr lang="en-US" altLang="en-US" sz="2000" dirty="0"/>
              <a:t>An entity that does not have a key attribute and that is identification-dependent on another entity type.</a:t>
            </a:r>
          </a:p>
          <a:p>
            <a:pPr eaLnBrk="1" hangingPunct="1">
              <a:lnSpc>
                <a:spcPct val="90000"/>
              </a:lnSpc>
            </a:pPr>
            <a:r>
              <a:rPr lang="en-US" altLang="en-US" sz="2000" dirty="0"/>
              <a:t>A weak entity must participate in an identifying relationship type with an owner or identifying entity type</a:t>
            </a:r>
          </a:p>
          <a:p>
            <a:pPr eaLnBrk="1" hangingPunct="1">
              <a:lnSpc>
                <a:spcPct val="90000"/>
              </a:lnSpc>
            </a:pPr>
            <a:r>
              <a:rPr lang="en-US" altLang="en-US" sz="2000" dirty="0"/>
              <a:t>Entities are identified by the combination of:</a:t>
            </a:r>
          </a:p>
          <a:p>
            <a:pPr lvl="1" eaLnBrk="1" hangingPunct="1">
              <a:lnSpc>
                <a:spcPct val="90000"/>
              </a:lnSpc>
            </a:pPr>
            <a:r>
              <a:rPr lang="en-US" altLang="en-US" sz="2000" dirty="0"/>
              <a:t>A partial key of the weak entity type</a:t>
            </a:r>
          </a:p>
          <a:p>
            <a:pPr lvl="1" eaLnBrk="1" hangingPunct="1">
              <a:lnSpc>
                <a:spcPct val="90000"/>
              </a:lnSpc>
            </a:pPr>
            <a:r>
              <a:rPr lang="en-US" altLang="en-US" sz="2000" dirty="0"/>
              <a:t>The particular entity they are related to in the identifying relationship type</a:t>
            </a:r>
          </a:p>
          <a:p>
            <a:pPr eaLnBrk="1" hangingPunct="1">
              <a:lnSpc>
                <a:spcPct val="90000"/>
              </a:lnSpc>
            </a:pPr>
            <a:r>
              <a:rPr lang="en-US" altLang="en-US" sz="2000" b="1" dirty="0"/>
              <a:t>Example: </a:t>
            </a:r>
          </a:p>
          <a:p>
            <a:pPr lvl="1" eaLnBrk="1" hangingPunct="1">
              <a:lnSpc>
                <a:spcPct val="90000"/>
              </a:lnSpc>
            </a:pPr>
            <a:r>
              <a:rPr lang="en-US" altLang="en-US" sz="2000" dirty="0"/>
              <a:t>A DEPENDENT entity is identified by the dependent’s first name, </a:t>
            </a:r>
            <a:r>
              <a:rPr lang="en-US" altLang="en-US" sz="2000" i="1" dirty="0"/>
              <a:t>and</a:t>
            </a:r>
            <a:r>
              <a:rPr lang="en-US" altLang="en-US" sz="2000" dirty="0"/>
              <a:t> the specific EMPLOYEE with whom the dependent is related</a:t>
            </a:r>
          </a:p>
          <a:p>
            <a:pPr lvl="1" eaLnBrk="1" hangingPunct="1">
              <a:lnSpc>
                <a:spcPct val="90000"/>
              </a:lnSpc>
            </a:pPr>
            <a:r>
              <a:rPr lang="en-US" altLang="en-US" sz="2000" dirty="0"/>
              <a:t>Name of DEPENDENT is the </a:t>
            </a:r>
            <a:r>
              <a:rPr lang="en-US" altLang="en-US" sz="2000" i="1" dirty="0"/>
              <a:t>partial key</a:t>
            </a:r>
          </a:p>
          <a:p>
            <a:pPr lvl="1" eaLnBrk="1" hangingPunct="1">
              <a:lnSpc>
                <a:spcPct val="90000"/>
              </a:lnSpc>
            </a:pPr>
            <a:r>
              <a:rPr lang="en-US" altLang="en-US" sz="2000" dirty="0"/>
              <a:t>DEPENDENT is a </a:t>
            </a:r>
            <a:r>
              <a:rPr lang="en-US" altLang="en-US" sz="2000" i="1" dirty="0"/>
              <a:t>weak entity type</a:t>
            </a:r>
          </a:p>
          <a:p>
            <a:pPr lvl="1" eaLnBrk="1" hangingPunct="1">
              <a:lnSpc>
                <a:spcPct val="90000"/>
              </a:lnSpc>
            </a:pPr>
            <a:r>
              <a:rPr lang="en-US" altLang="en-US" sz="2000" dirty="0"/>
              <a:t>EMPLOYEE is its identifying entity type via the identifying relationship type DEPENDENT_OF</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3">
            <a:extLst>
              <a:ext uri="{FF2B5EF4-FFF2-40B4-BE49-F238E27FC236}">
                <a16:creationId xmlns:a16="http://schemas.microsoft.com/office/drawing/2014/main" id="{43238D2D-5892-12FD-B2EF-B26E82E6B8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79A9111A-B6B8-42F9-99EE-7201C92E5981}" type="slidenum">
              <a:rPr lang="en-US" altLang="en-US" sz="1400">
                <a:solidFill>
                  <a:srgbClr val="990033"/>
                </a:solidFill>
              </a:rPr>
              <a:pPr/>
              <a:t>26</a:t>
            </a:fld>
            <a:endParaRPr lang="en-CA" altLang="en-US" sz="1400">
              <a:solidFill>
                <a:srgbClr val="990033"/>
              </a:solidFill>
            </a:endParaRPr>
          </a:p>
        </p:txBody>
      </p:sp>
      <p:sp>
        <p:nvSpPr>
          <p:cNvPr id="78850" name="Rectangle 6">
            <a:extLst>
              <a:ext uri="{FF2B5EF4-FFF2-40B4-BE49-F238E27FC236}">
                <a16:creationId xmlns:a16="http://schemas.microsoft.com/office/drawing/2014/main" id="{5B24DA2C-A281-E888-EBFB-00D0340B28D9}"/>
              </a:ext>
            </a:extLst>
          </p:cNvPr>
          <p:cNvSpPr>
            <a:spLocks noGrp="1" noChangeArrowheads="1"/>
          </p:cNvSpPr>
          <p:nvPr>
            <p:ph type="title"/>
          </p:nvPr>
        </p:nvSpPr>
        <p:spPr>
          <a:xfrm>
            <a:off x="228600" y="303213"/>
            <a:ext cx="7796213" cy="992187"/>
          </a:xfrm>
        </p:spPr>
        <p:txBody>
          <a:bodyPr/>
          <a:lstStyle/>
          <a:p>
            <a:pPr eaLnBrk="1" hangingPunct="1"/>
            <a:r>
              <a:rPr lang="en-US" altLang="en-US"/>
              <a:t>Attributes of Relationship types</a:t>
            </a:r>
          </a:p>
        </p:txBody>
      </p:sp>
      <p:sp>
        <p:nvSpPr>
          <p:cNvPr id="78851" name="Rectangle 7">
            <a:extLst>
              <a:ext uri="{FF2B5EF4-FFF2-40B4-BE49-F238E27FC236}">
                <a16:creationId xmlns:a16="http://schemas.microsoft.com/office/drawing/2014/main" id="{8042CBC8-EFF5-A67B-5D93-2C2B5965EFD9}"/>
              </a:ext>
            </a:extLst>
          </p:cNvPr>
          <p:cNvSpPr>
            <a:spLocks noGrp="1" noChangeArrowheads="1"/>
          </p:cNvSpPr>
          <p:nvPr>
            <p:ph type="body" idx="1"/>
          </p:nvPr>
        </p:nvSpPr>
        <p:spPr/>
        <p:txBody>
          <a:bodyPr/>
          <a:lstStyle/>
          <a:p>
            <a:pPr eaLnBrk="1" hangingPunct="1">
              <a:lnSpc>
                <a:spcPct val="90000"/>
              </a:lnSpc>
            </a:pPr>
            <a:r>
              <a:rPr lang="en-US" altLang="en-US" dirty="0"/>
              <a:t>A relationship type can have attributes:</a:t>
            </a:r>
          </a:p>
          <a:p>
            <a:pPr lvl="1" eaLnBrk="1" hangingPunct="1">
              <a:lnSpc>
                <a:spcPct val="90000"/>
              </a:lnSpc>
            </a:pPr>
            <a:r>
              <a:rPr lang="en-US" altLang="en-US" dirty="0"/>
              <a:t>For example, </a:t>
            </a:r>
            <a:r>
              <a:rPr lang="en-US" altLang="en-US" dirty="0" err="1"/>
              <a:t>HoursPerWeek</a:t>
            </a:r>
            <a:r>
              <a:rPr lang="en-US" altLang="en-US" dirty="0"/>
              <a:t> of WORKS_ON</a:t>
            </a:r>
          </a:p>
          <a:p>
            <a:pPr lvl="1" eaLnBrk="1" hangingPunct="1">
              <a:lnSpc>
                <a:spcPct val="90000"/>
              </a:lnSpc>
            </a:pPr>
            <a:r>
              <a:rPr lang="en-US" altLang="en-US" dirty="0"/>
              <a:t>Its value for each relationship instance describes the number of hours per week that an EMPLOYEE works on a PROJECT.</a:t>
            </a:r>
          </a:p>
          <a:p>
            <a:pPr lvl="2" eaLnBrk="1" hangingPunct="1">
              <a:lnSpc>
                <a:spcPct val="90000"/>
              </a:lnSpc>
            </a:pPr>
            <a:r>
              <a:rPr lang="en-US" altLang="en-US" dirty="0"/>
              <a:t>A value of </a:t>
            </a:r>
            <a:r>
              <a:rPr lang="en-US" altLang="en-US" dirty="0" err="1"/>
              <a:t>HoursPerWeek</a:t>
            </a:r>
            <a:r>
              <a:rPr lang="en-US" altLang="en-US" dirty="0"/>
              <a:t> depends on a particular (employee, project) combination</a:t>
            </a:r>
          </a:p>
          <a:p>
            <a:pPr lvl="1" eaLnBrk="1" hangingPunct="1">
              <a:lnSpc>
                <a:spcPct val="90000"/>
              </a:lnSpc>
            </a:pPr>
            <a:r>
              <a:rPr lang="en-US" altLang="en-US" dirty="0"/>
              <a:t>Most relationship attributes are used with M:N relationships</a:t>
            </a:r>
          </a:p>
          <a:p>
            <a:pPr lvl="2" eaLnBrk="1" hangingPunct="1">
              <a:lnSpc>
                <a:spcPct val="90000"/>
              </a:lnSpc>
            </a:pPr>
            <a:r>
              <a:rPr lang="en-US" altLang="en-US" dirty="0"/>
              <a:t>In 1:N relationships, they can be transferred to the entity type on the N-side of the relationship</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2">
            <a:extLst>
              <a:ext uri="{FF2B5EF4-FFF2-40B4-BE49-F238E27FC236}">
                <a16:creationId xmlns:a16="http://schemas.microsoft.com/office/drawing/2014/main" id="{92D806A4-1C9A-1BF1-AC68-5811C138175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17D6B25A-B724-4AE6-B4EA-A0F3A52B5897}" type="slidenum">
              <a:rPr lang="en-US" altLang="en-US" sz="1400">
                <a:solidFill>
                  <a:srgbClr val="990033"/>
                </a:solidFill>
              </a:rPr>
              <a:pPr/>
              <a:t>27</a:t>
            </a:fld>
            <a:endParaRPr lang="en-CA" altLang="en-US" sz="1400">
              <a:solidFill>
                <a:srgbClr val="990033"/>
              </a:solidFill>
            </a:endParaRPr>
          </a:p>
        </p:txBody>
      </p:sp>
      <p:sp>
        <p:nvSpPr>
          <p:cNvPr id="80898" name="Rectangle 2">
            <a:extLst>
              <a:ext uri="{FF2B5EF4-FFF2-40B4-BE49-F238E27FC236}">
                <a16:creationId xmlns:a16="http://schemas.microsoft.com/office/drawing/2014/main" id="{093F9DC0-2CFB-72FE-F740-9B7EEBE2393C}"/>
              </a:ext>
            </a:extLst>
          </p:cNvPr>
          <p:cNvSpPr>
            <a:spLocks noGrp="1" noChangeArrowheads="1"/>
          </p:cNvSpPr>
          <p:nvPr>
            <p:ph type="title"/>
          </p:nvPr>
        </p:nvSpPr>
        <p:spPr>
          <a:xfrm>
            <a:off x="0" y="152400"/>
            <a:ext cx="9144000" cy="1143000"/>
          </a:xfrm>
          <a:noFill/>
        </p:spPr>
        <p:txBody>
          <a:bodyPr/>
          <a:lstStyle/>
          <a:p>
            <a:pPr eaLnBrk="1" hangingPunct="1"/>
            <a:r>
              <a:rPr lang="en-US" altLang="en-US"/>
              <a:t>Example Attribute of a Relationship Type: </a:t>
            </a:r>
            <a:br>
              <a:rPr lang="en-US" altLang="en-US"/>
            </a:br>
            <a:r>
              <a:rPr lang="en-US" altLang="en-US"/>
              <a:t>Hours of WORKS_ON</a:t>
            </a:r>
          </a:p>
        </p:txBody>
      </p:sp>
      <p:pic>
        <p:nvPicPr>
          <p:cNvPr id="80899" name="Picture 4" descr="fig03_02">
            <a:extLst>
              <a:ext uri="{FF2B5EF4-FFF2-40B4-BE49-F238E27FC236}">
                <a16:creationId xmlns:a16="http://schemas.microsoft.com/office/drawing/2014/main" id="{FD55E4DB-AAA5-8CC2-EC73-F2BB65F08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579563"/>
            <a:ext cx="5080000"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Number Placeholder 3">
            <a:extLst>
              <a:ext uri="{FF2B5EF4-FFF2-40B4-BE49-F238E27FC236}">
                <a16:creationId xmlns:a16="http://schemas.microsoft.com/office/drawing/2014/main" id="{EF2530DC-F3B5-4546-53F1-566496C65CA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94C37111-8342-40BB-9BAE-EC75AA67DC9D}" type="slidenum">
              <a:rPr lang="en-US" altLang="en-US" sz="1400">
                <a:solidFill>
                  <a:srgbClr val="990033"/>
                </a:solidFill>
              </a:rPr>
              <a:pPr/>
              <a:t>28</a:t>
            </a:fld>
            <a:endParaRPr lang="en-CA" altLang="en-US" sz="1400">
              <a:solidFill>
                <a:srgbClr val="990033"/>
              </a:solidFill>
            </a:endParaRPr>
          </a:p>
        </p:txBody>
      </p:sp>
      <p:sp>
        <p:nvSpPr>
          <p:cNvPr id="82946" name="Rectangle 4">
            <a:extLst>
              <a:ext uri="{FF2B5EF4-FFF2-40B4-BE49-F238E27FC236}">
                <a16:creationId xmlns:a16="http://schemas.microsoft.com/office/drawing/2014/main" id="{9271E53A-8704-F43B-075B-DE2C76E80985}"/>
              </a:ext>
            </a:extLst>
          </p:cNvPr>
          <p:cNvSpPr>
            <a:spLocks noGrp="1" noChangeArrowheads="1"/>
          </p:cNvSpPr>
          <p:nvPr>
            <p:ph type="title"/>
          </p:nvPr>
        </p:nvSpPr>
        <p:spPr>
          <a:xfrm>
            <a:off x="228600" y="303213"/>
            <a:ext cx="7796213" cy="992187"/>
          </a:xfrm>
        </p:spPr>
        <p:txBody>
          <a:bodyPr/>
          <a:lstStyle/>
          <a:p>
            <a:pPr eaLnBrk="1" hangingPunct="1"/>
            <a:r>
              <a:rPr lang="en-US" altLang="en-US"/>
              <a:t>Notation for Constraints on Relationships</a:t>
            </a:r>
          </a:p>
        </p:txBody>
      </p:sp>
      <p:sp>
        <p:nvSpPr>
          <p:cNvPr id="82947" name="Rectangle 5">
            <a:extLst>
              <a:ext uri="{FF2B5EF4-FFF2-40B4-BE49-F238E27FC236}">
                <a16:creationId xmlns:a16="http://schemas.microsoft.com/office/drawing/2014/main" id="{B3115AE2-CD3E-6BAC-A7CD-268054FD3C5E}"/>
              </a:ext>
            </a:extLst>
          </p:cNvPr>
          <p:cNvSpPr>
            <a:spLocks noGrp="1" noChangeArrowheads="1"/>
          </p:cNvSpPr>
          <p:nvPr>
            <p:ph type="body" idx="1"/>
          </p:nvPr>
        </p:nvSpPr>
        <p:spPr/>
        <p:txBody>
          <a:bodyPr/>
          <a:lstStyle/>
          <a:p>
            <a:pPr eaLnBrk="1" hangingPunct="1">
              <a:lnSpc>
                <a:spcPct val="90000"/>
              </a:lnSpc>
            </a:pPr>
            <a:r>
              <a:rPr lang="en-US" altLang="en-US"/>
              <a:t>Cardinality ratio (of a binary relationship): 1:1, 1:N, N:1, or M:N</a:t>
            </a:r>
          </a:p>
          <a:p>
            <a:pPr lvl="1" eaLnBrk="1" hangingPunct="1">
              <a:lnSpc>
                <a:spcPct val="90000"/>
              </a:lnSpc>
            </a:pPr>
            <a:r>
              <a:rPr lang="en-US" altLang="en-US"/>
              <a:t>Shown by placing appropriate numbers on the relationship edges.</a:t>
            </a:r>
          </a:p>
          <a:p>
            <a:pPr eaLnBrk="1" hangingPunct="1">
              <a:lnSpc>
                <a:spcPct val="90000"/>
              </a:lnSpc>
            </a:pPr>
            <a:r>
              <a:rPr lang="en-US" altLang="en-US"/>
              <a:t>Participation constraint (on each participating entity type): total (called existence dependency) or partial.</a:t>
            </a:r>
          </a:p>
          <a:p>
            <a:pPr lvl="1" eaLnBrk="1" hangingPunct="1">
              <a:lnSpc>
                <a:spcPct val="90000"/>
              </a:lnSpc>
            </a:pPr>
            <a:r>
              <a:rPr lang="en-US" altLang="en-US"/>
              <a:t>Total shown by double line, partial by single line.</a:t>
            </a:r>
          </a:p>
          <a:p>
            <a:pPr eaLnBrk="1" hangingPunct="1">
              <a:lnSpc>
                <a:spcPct val="90000"/>
              </a:lnSpc>
            </a:pPr>
            <a:r>
              <a:rPr lang="en-US" altLang="en-US"/>
              <a:t>NOTE: These are easy to specify for Binary Relationship Types.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3">
            <a:extLst>
              <a:ext uri="{FF2B5EF4-FFF2-40B4-BE49-F238E27FC236}">
                <a16:creationId xmlns:a16="http://schemas.microsoft.com/office/drawing/2014/main" id="{1972549A-290E-4B35-33C7-1A9A1C01A1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AC9923CE-2974-402E-A02E-5F7942577C67}" type="slidenum">
              <a:rPr lang="en-US" altLang="en-US" sz="1400">
                <a:solidFill>
                  <a:srgbClr val="990033"/>
                </a:solidFill>
              </a:rPr>
              <a:pPr/>
              <a:t>29</a:t>
            </a:fld>
            <a:endParaRPr lang="en-CA" altLang="en-US" sz="1400">
              <a:solidFill>
                <a:srgbClr val="990033"/>
              </a:solidFill>
            </a:endParaRPr>
          </a:p>
        </p:txBody>
      </p:sp>
      <p:sp>
        <p:nvSpPr>
          <p:cNvPr id="84994" name="Rectangle 4">
            <a:extLst>
              <a:ext uri="{FF2B5EF4-FFF2-40B4-BE49-F238E27FC236}">
                <a16:creationId xmlns:a16="http://schemas.microsoft.com/office/drawing/2014/main" id="{DE9FA670-8596-294C-0020-0DF56660FF6A}"/>
              </a:ext>
            </a:extLst>
          </p:cNvPr>
          <p:cNvSpPr>
            <a:spLocks noGrp="1" noChangeArrowheads="1"/>
          </p:cNvSpPr>
          <p:nvPr>
            <p:ph type="title"/>
          </p:nvPr>
        </p:nvSpPr>
        <p:spPr>
          <a:xfrm>
            <a:off x="228600" y="303213"/>
            <a:ext cx="7796213" cy="992187"/>
          </a:xfrm>
        </p:spPr>
        <p:txBody>
          <a:bodyPr/>
          <a:lstStyle/>
          <a:p>
            <a:pPr eaLnBrk="1" hangingPunct="1"/>
            <a:r>
              <a:rPr lang="en-US" altLang="en-US"/>
              <a:t>Alternative (min, max) notation for relationship structural constraints:</a:t>
            </a:r>
          </a:p>
        </p:txBody>
      </p:sp>
      <p:sp>
        <p:nvSpPr>
          <p:cNvPr id="84995" name="Rectangle 5">
            <a:extLst>
              <a:ext uri="{FF2B5EF4-FFF2-40B4-BE49-F238E27FC236}">
                <a16:creationId xmlns:a16="http://schemas.microsoft.com/office/drawing/2014/main" id="{57FDA431-0809-8419-7E71-3E344D498283}"/>
              </a:ext>
            </a:extLst>
          </p:cNvPr>
          <p:cNvSpPr>
            <a:spLocks noGrp="1" noChangeArrowheads="1"/>
          </p:cNvSpPr>
          <p:nvPr>
            <p:ph type="body" idx="1"/>
          </p:nvPr>
        </p:nvSpPr>
        <p:spPr/>
        <p:txBody>
          <a:bodyPr/>
          <a:lstStyle/>
          <a:p>
            <a:pPr eaLnBrk="1" hangingPunct="1">
              <a:lnSpc>
                <a:spcPct val="80000"/>
              </a:lnSpc>
            </a:pPr>
            <a:r>
              <a:rPr lang="en-US" altLang="en-US" sz="2000"/>
              <a:t>Specified on each participation of an entity type E in a relationship type R</a:t>
            </a:r>
          </a:p>
          <a:p>
            <a:pPr eaLnBrk="1" hangingPunct="1">
              <a:lnSpc>
                <a:spcPct val="80000"/>
              </a:lnSpc>
            </a:pPr>
            <a:r>
              <a:rPr lang="en-US" altLang="en-US" sz="2000"/>
              <a:t>Specifies that each entity e in E participates in at least </a:t>
            </a:r>
            <a:r>
              <a:rPr lang="en-US" altLang="en-US" sz="2000" i="1"/>
              <a:t>min</a:t>
            </a:r>
            <a:r>
              <a:rPr lang="en-US" altLang="en-US" sz="2000"/>
              <a:t> and at most </a:t>
            </a:r>
            <a:r>
              <a:rPr lang="en-US" altLang="en-US" sz="2000" i="1"/>
              <a:t>max</a:t>
            </a:r>
            <a:r>
              <a:rPr lang="en-US" altLang="en-US" sz="2000"/>
              <a:t> relationship instances in R</a:t>
            </a:r>
          </a:p>
          <a:p>
            <a:pPr eaLnBrk="1" hangingPunct="1">
              <a:lnSpc>
                <a:spcPct val="80000"/>
              </a:lnSpc>
            </a:pPr>
            <a:r>
              <a:rPr lang="en-US" altLang="en-US" sz="2000"/>
              <a:t>Default(no constraint): min</a:t>
            </a:r>
            <a:r>
              <a:rPr lang="en-US" altLang="en-US" sz="2000">
                <a:sym typeface="Symbol" panose="05050102010706020507" pitchFamily="18" charset="2"/>
              </a:rPr>
              <a:t>=0, max=n (signifying no limit)</a:t>
            </a:r>
          </a:p>
          <a:p>
            <a:pPr eaLnBrk="1" hangingPunct="1">
              <a:lnSpc>
                <a:spcPct val="80000"/>
              </a:lnSpc>
            </a:pPr>
            <a:r>
              <a:rPr lang="en-US" altLang="en-US" sz="2000">
                <a:sym typeface="Symbol" panose="05050102010706020507" pitchFamily="18" charset="2"/>
              </a:rPr>
              <a:t>Must have minmax, min0, max 1</a:t>
            </a:r>
          </a:p>
          <a:p>
            <a:pPr eaLnBrk="1" hangingPunct="1">
              <a:lnSpc>
                <a:spcPct val="80000"/>
              </a:lnSpc>
            </a:pPr>
            <a:r>
              <a:rPr lang="en-US" altLang="en-US" sz="2000">
                <a:sym typeface="Symbol" panose="05050102010706020507" pitchFamily="18" charset="2"/>
              </a:rPr>
              <a:t>Derived from the knowledge of mini-world constraints</a:t>
            </a:r>
          </a:p>
          <a:p>
            <a:pPr eaLnBrk="1" hangingPunct="1">
              <a:lnSpc>
                <a:spcPct val="80000"/>
              </a:lnSpc>
            </a:pPr>
            <a:r>
              <a:rPr lang="en-US" altLang="en-US" sz="2000">
                <a:sym typeface="Symbol" panose="05050102010706020507" pitchFamily="18" charset="2"/>
              </a:rPr>
              <a:t>Examples:</a:t>
            </a:r>
          </a:p>
          <a:p>
            <a:pPr lvl="1" eaLnBrk="1" hangingPunct="1">
              <a:lnSpc>
                <a:spcPct val="80000"/>
              </a:lnSpc>
            </a:pPr>
            <a:r>
              <a:rPr lang="en-US" altLang="en-US" sz="2000">
                <a:sym typeface="Symbol" panose="05050102010706020507" pitchFamily="18" charset="2"/>
              </a:rPr>
              <a:t>A department has exactly one manager and an employee can manage at most one department.</a:t>
            </a:r>
          </a:p>
          <a:p>
            <a:pPr lvl="2" eaLnBrk="1" hangingPunct="1">
              <a:lnSpc>
                <a:spcPct val="80000"/>
              </a:lnSpc>
            </a:pPr>
            <a:r>
              <a:rPr lang="en-US" altLang="en-US" sz="1800">
                <a:sym typeface="Symbol" panose="05050102010706020507" pitchFamily="18" charset="2"/>
              </a:rPr>
              <a:t>Specify (0,1) for participation of EMPLOYEE in MANAGES</a:t>
            </a:r>
          </a:p>
          <a:p>
            <a:pPr lvl="2" eaLnBrk="1" hangingPunct="1">
              <a:lnSpc>
                <a:spcPct val="80000"/>
              </a:lnSpc>
            </a:pPr>
            <a:r>
              <a:rPr lang="en-US" altLang="en-US" sz="1800">
                <a:sym typeface="Symbol" panose="05050102010706020507" pitchFamily="18" charset="2"/>
              </a:rPr>
              <a:t>Specify (1,1) for participation of DEPARTMENT in MANAGES</a:t>
            </a:r>
          </a:p>
          <a:p>
            <a:pPr lvl="1" eaLnBrk="1" hangingPunct="1">
              <a:lnSpc>
                <a:spcPct val="80000"/>
              </a:lnSpc>
            </a:pPr>
            <a:r>
              <a:rPr lang="en-US" altLang="en-US" sz="2000">
                <a:sym typeface="Symbol" panose="05050102010706020507" pitchFamily="18" charset="2"/>
              </a:rPr>
              <a:t>An employee can work for exactly one department but a department can have any number of employees.</a:t>
            </a:r>
          </a:p>
          <a:p>
            <a:pPr lvl="2" eaLnBrk="1" hangingPunct="1">
              <a:lnSpc>
                <a:spcPct val="80000"/>
              </a:lnSpc>
            </a:pPr>
            <a:r>
              <a:rPr lang="en-US" altLang="en-US" sz="1800">
                <a:sym typeface="Symbol" panose="05050102010706020507" pitchFamily="18" charset="2"/>
              </a:rPr>
              <a:t>Specify (1,1) for participation of EMPLOYEE in WORKS_FOR</a:t>
            </a:r>
          </a:p>
          <a:p>
            <a:pPr lvl="2" eaLnBrk="1" hangingPunct="1">
              <a:lnSpc>
                <a:spcPct val="80000"/>
              </a:lnSpc>
            </a:pPr>
            <a:r>
              <a:rPr lang="en-US" altLang="en-US" sz="1800">
                <a:sym typeface="Symbol" panose="05050102010706020507" pitchFamily="18" charset="2"/>
              </a:rPr>
              <a:t>Specify (0,n) for participation of DEPARTMENT in WORKS_FOR</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Number Placeholder 3">
            <a:extLst>
              <a:ext uri="{FF2B5EF4-FFF2-40B4-BE49-F238E27FC236}">
                <a16:creationId xmlns:a16="http://schemas.microsoft.com/office/drawing/2014/main" id="{679F8078-6027-A163-AF34-0DAB29028D3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108A424F-D2FC-4217-BD42-767C0725A524}" type="slidenum">
              <a:rPr lang="en-US" altLang="en-US" sz="1400">
                <a:solidFill>
                  <a:srgbClr val="990033"/>
                </a:solidFill>
              </a:rPr>
              <a:pPr/>
              <a:t>30</a:t>
            </a:fld>
            <a:endParaRPr lang="en-CA" altLang="en-US" sz="1400">
              <a:solidFill>
                <a:srgbClr val="990033"/>
              </a:solidFill>
            </a:endParaRPr>
          </a:p>
        </p:txBody>
      </p:sp>
      <p:sp>
        <p:nvSpPr>
          <p:cNvPr id="87042" name="Rectangle 24">
            <a:extLst>
              <a:ext uri="{FF2B5EF4-FFF2-40B4-BE49-F238E27FC236}">
                <a16:creationId xmlns:a16="http://schemas.microsoft.com/office/drawing/2014/main" id="{50E78533-5285-768D-53B1-26167A3783CF}"/>
              </a:ext>
            </a:extLst>
          </p:cNvPr>
          <p:cNvSpPr>
            <a:spLocks noGrp="1" noChangeArrowheads="1"/>
          </p:cNvSpPr>
          <p:nvPr>
            <p:ph type="title"/>
          </p:nvPr>
        </p:nvSpPr>
        <p:spPr>
          <a:xfrm>
            <a:off x="228600" y="303213"/>
            <a:ext cx="7796213" cy="992187"/>
          </a:xfrm>
          <a:noFill/>
        </p:spPr>
        <p:txBody>
          <a:bodyPr/>
          <a:lstStyle/>
          <a:p>
            <a:pPr eaLnBrk="1" hangingPunct="1"/>
            <a:r>
              <a:rPr lang="en-US" altLang="en-US"/>
              <a:t>The (min,max) notation for relationship constraints</a:t>
            </a:r>
          </a:p>
        </p:txBody>
      </p:sp>
      <p:pic>
        <p:nvPicPr>
          <p:cNvPr id="87043" name="Picture 27" descr="Slide3-40">
            <a:extLst>
              <a:ext uri="{FF2B5EF4-FFF2-40B4-BE49-F238E27FC236}">
                <a16:creationId xmlns:a16="http://schemas.microsoft.com/office/drawing/2014/main" id="{298E6AC2-E742-CDF5-5170-183AE12C4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3" y="2209800"/>
            <a:ext cx="7773987" cy="28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 Box 28" descr="Pink tissue paper">
            <a:extLst>
              <a:ext uri="{FF2B5EF4-FFF2-40B4-BE49-F238E27FC236}">
                <a16:creationId xmlns:a16="http://schemas.microsoft.com/office/drawing/2014/main" id="{78D11FE9-EE2E-F249-A580-2A0A5369C541}"/>
              </a:ext>
            </a:extLst>
          </p:cNvPr>
          <p:cNvSpPr txBox="1">
            <a:spLocks noChangeArrowheads="1"/>
          </p:cNvSpPr>
          <p:nvPr/>
        </p:nvSpPr>
        <p:spPr bwMode="auto">
          <a:xfrm>
            <a:off x="1295400" y="5410200"/>
            <a:ext cx="6477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a:t>Read the min,max numbers next to the entity type and looking </a:t>
            </a:r>
            <a:r>
              <a:rPr lang="en-US" altLang="en-US" b="1"/>
              <a:t>away from </a:t>
            </a:r>
            <a:r>
              <a:rPr lang="en-US" altLang="en-US"/>
              <a:t>the entity type</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Number Placeholder 3">
            <a:extLst>
              <a:ext uri="{FF2B5EF4-FFF2-40B4-BE49-F238E27FC236}">
                <a16:creationId xmlns:a16="http://schemas.microsoft.com/office/drawing/2014/main" id="{3BB41860-85DB-7BAA-F66D-01B109BC16B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0810717B-EBBE-45C8-99A4-2A4F49AF8CE9}" type="slidenum">
              <a:rPr lang="en-US" altLang="en-US" sz="1400">
                <a:solidFill>
                  <a:srgbClr val="990033"/>
                </a:solidFill>
              </a:rPr>
              <a:pPr/>
              <a:t>31</a:t>
            </a:fld>
            <a:endParaRPr lang="en-CA" altLang="en-US" sz="1400">
              <a:solidFill>
                <a:srgbClr val="990033"/>
              </a:solidFill>
            </a:endParaRPr>
          </a:p>
        </p:txBody>
      </p:sp>
      <p:sp>
        <p:nvSpPr>
          <p:cNvPr id="89090" name="Rectangle 2">
            <a:extLst>
              <a:ext uri="{FF2B5EF4-FFF2-40B4-BE49-F238E27FC236}">
                <a16:creationId xmlns:a16="http://schemas.microsoft.com/office/drawing/2014/main" id="{B35FBAE2-FF39-8650-CFF3-99DA20BAD833}"/>
              </a:ext>
            </a:extLst>
          </p:cNvPr>
          <p:cNvSpPr>
            <a:spLocks noGrp="1" noChangeArrowheads="1"/>
          </p:cNvSpPr>
          <p:nvPr>
            <p:ph type="title"/>
          </p:nvPr>
        </p:nvSpPr>
        <p:spPr>
          <a:xfrm>
            <a:off x="250825" y="303213"/>
            <a:ext cx="8534400" cy="842962"/>
          </a:xfrm>
          <a:noFill/>
        </p:spPr>
        <p:txBody>
          <a:bodyPr/>
          <a:lstStyle/>
          <a:p>
            <a:pPr algn="ctr" eaLnBrk="1" hangingPunct="1"/>
            <a:r>
              <a:rPr lang="en-US" altLang="en-US" sz="3200" dirty="0"/>
              <a:t>COMPANY ER Schema Diagram </a:t>
            </a:r>
            <a:br>
              <a:rPr lang="en-US" altLang="en-US" sz="3200" dirty="0"/>
            </a:br>
            <a:r>
              <a:rPr lang="en-US" altLang="en-US" sz="3200" dirty="0"/>
              <a:t>using (min, max) notation</a:t>
            </a:r>
          </a:p>
        </p:txBody>
      </p:sp>
      <p:pic>
        <p:nvPicPr>
          <p:cNvPr id="89091" name="Picture 4" descr="fig03_15">
            <a:extLst>
              <a:ext uri="{FF2B5EF4-FFF2-40B4-BE49-F238E27FC236}">
                <a16:creationId xmlns:a16="http://schemas.microsoft.com/office/drawing/2014/main" id="{5AC779A0-F679-FD43-8937-EFBFC8EF4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3" y="1600200"/>
            <a:ext cx="4586287"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32</a:t>
            </a:fld>
            <a:endParaRPr spc="-19" dirty="0"/>
          </a:p>
        </p:txBody>
      </p:sp>
      <p:sp>
        <p:nvSpPr>
          <p:cNvPr id="2" name="object 2"/>
          <p:cNvSpPr txBox="1">
            <a:spLocks noGrp="1"/>
          </p:cNvSpPr>
          <p:nvPr>
            <p:ph type="title"/>
          </p:nvPr>
        </p:nvSpPr>
        <p:spPr>
          <a:xfrm>
            <a:off x="484346" y="304800"/>
            <a:ext cx="8175308" cy="702115"/>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dirty="0"/>
              <a:t>Is it 4:15 yet?</a:t>
            </a:r>
            <a:endParaRPr sz="4500" dirty="0"/>
          </a:p>
        </p:txBody>
      </p:sp>
    </p:spTree>
    <p:extLst>
      <p:ext uri="{BB962C8B-B14F-4D97-AF65-F5344CB8AC3E}">
        <p14:creationId xmlns:p14="http://schemas.microsoft.com/office/powerpoint/2010/main" val="197391657"/>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Number Placeholder 3">
            <a:extLst>
              <a:ext uri="{FF2B5EF4-FFF2-40B4-BE49-F238E27FC236}">
                <a16:creationId xmlns:a16="http://schemas.microsoft.com/office/drawing/2014/main" id="{B12C4691-1DC3-4CC8-5D04-2474F21473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0D8CA065-3D4A-40AD-A234-4F7B73A4CEBD}" type="slidenum">
              <a:rPr lang="en-US" altLang="en-US" sz="1400">
                <a:solidFill>
                  <a:srgbClr val="990033"/>
                </a:solidFill>
              </a:rPr>
              <a:pPr/>
              <a:t>33</a:t>
            </a:fld>
            <a:endParaRPr lang="en-CA" altLang="en-US" sz="1400">
              <a:solidFill>
                <a:srgbClr val="990033"/>
              </a:solidFill>
            </a:endParaRPr>
          </a:p>
        </p:txBody>
      </p:sp>
      <p:sp>
        <p:nvSpPr>
          <p:cNvPr id="91138" name="Rectangle 2">
            <a:extLst>
              <a:ext uri="{FF2B5EF4-FFF2-40B4-BE49-F238E27FC236}">
                <a16:creationId xmlns:a16="http://schemas.microsoft.com/office/drawing/2014/main" id="{E9F32B0C-C7BC-D8C0-A511-0DC43EFA3F0E}"/>
              </a:ext>
            </a:extLst>
          </p:cNvPr>
          <p:cNvSpPr>
            <a:spLocks noGrp="1" noChangeArrowheads="1"/>
          </p:cNvSpPr>
          <p:nvPr>
            <p:ph type="title"/>
          </p:nvPr>
        </p:nvSpPr>
        <p:spPr>
          <a:xfrm>
            <a:off x="228600" y="303213"/>
            <a:ext cx="7796213" cy="992187"/>
          </a:xfrm>
        </p:spPr>
        <p:txBody>
          <a:bodyPr/>
          <a:lstStyle/>
          <a:p>
            <a:pPr eaLnBrk="1" hangingPunct="1"/>
            <a:r>
              <a:rPr lang="en-US" altLang="en-US"/>
              <a:t>Alternative diagrammatic notation</a:t>
            </a:r>
          </a:p>
        </p:txBody>
      </p:sp>
      <p:sp>
        <p:nvSpPr>
          <p:cNvPr id="91139" name="Rectangle 3">
            <a:extLst>
              <a:ext uri="{FF2B5EF4-FFF2-40B4-BE49-F238E27FC236}">
                <a16:creationId xmlns:a16="http://schemas.microsoft.com/office/drawing/2014/main" id="{1A54C59E-4BD0-1DAC-CA80-02082471F204}"/>
              </a:ext>
            </a:extLst>
          </p:cNvPr>
          <p:cNvSpPr>
            <a:spLocks noGrp="1" noChangeArrowheads="1"/>
          </p:cNvSpPr>
          <p:nvPr>
            <p:ph type="body" idx="1"/>
          </p:nvPr>
        </p:nvSpPr>
        <p:spPr/>
        <p:txBody>
          <a:bodyPr/>
          <a:lstStyle/>
          <a:p>
            <a:pPr eaLnBrk="1" hangingPunct="1"/>
            <a:r>
              <a:rPr lang="en-US" altLang="en-US"/>
              <a:t>ER diagrams is one popular example for displaying database schemas</a:t>
            </a:r>
          </a:p>
          <a:p>
            <a:pPr eaLnBrk="1" hangingPunct="1"/>
            <a:r>
              <a:rPr lang="en-US" altLang="en-US"/>
              <a:t>Many other notations exist in the literature and in various database design and modeling tools</a:t>
            </a:r>
          </a:p>
          <a:p>
            <a:pPr eaLnBrk="1" hangingPunct="1"/>
            <a:r>
              <a:rPr lang="en-US" altLang="en-US"/>
              <a:t>Appendix A illustrates some of the alternative notations that have been used</a:t>
            </a:r>
          </a:p>
          <a:p>
            <a:pPr eaLnBrk="1" hangingPunct="1"/>
            <a:r>
              <a:rPr lang="en-US" altLang="en-US"/>
              <a:t>UML class diagrams is representative of another way of displaying ER concepts that is used in several commercial design tools</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Number Placeholder 3">
            <a:extLst>
              <a:ext uri="{FF2B5EF4-FFF2-40B4-BE49-F238E27FC236}">
                <a16:creationId xmlns:a16="http://schemas.microsoft.com/office/drawing/2014/main" id="{CFB8F8E6-424D-18DF-DEC8-962B6E5DC4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1FEAE2BD-A5DA-4828-B305-C7610BD4936C}" type="slidenum">
              <a:rPr lang="en-US" altLang="en-US" sz="1400">
                <a:solidFill>
                  <a:srgbClr val="990033"/>
                </a:solidFill>
              </a:rPr>
              <a:pPr/>
              <a:t>34</a:t>
            </a:fld>
            <a:endParaRPr lang="en-CA" altLang="en-US" sz="1400">
              <a:solidFill>
                <a:srgbClr val="990033"/>
              </a:solidFill>
            </a:endParaRPr>
          </a:p>
        </p:txBody>
      </p:sp>
      <p:sp>
        <p:nvSpPr>
          <p:cNvPr id="92162" name="Rectangle 2">
            <a:extLst>
              <a:ext uri="{FF2B5EF4-FFF2-40B4-BE49-F238E27FC236}">
                <a16:creationId xmlns:a16="http://schemas.microsoft.com/office/drawing/2014/main" id="{BE6165AB-1FA3-A2C2-8403-0FA246A52250}"/>
              </a:ext>
            </a:extLst>
          </p:cNvPr>
          <p:cNvSpPr>
            <a:spLocks noGrp="1" noChangeArrowheads="1"/>
          </p:cNvSpPr>
          <p:nvPr>
            <p:ph type="title"/>
          </p:nvPr>
        </p:nvSpPr>
        <p:spPr>
          <a:xfrm>
            <a:off x="228600" y="303213"/>
            <a:ext cx="7796213" cy="992187"/>
          </a:xfrm>
        </p:spPr>
        <p:txBody>
          <a:bodyPr/>
          <a:lstStyle/>
          <a:p>
            <a:pPr eaLnBrk="1" hangingPunct="1"/>
            <a:r>
              <a:rPr lang="en-US" altLang="en-US" sz="3200"/>
              <a:t>Summary of notation for ER diagrams</a:t>
            </a:r>
          </a:p>
        </p:txBody>
      </p:sp>
      <p:pic>
        <p:nvPicPr>
          <p:cNvPr id="92163" name="Picture 4" descr="fig03_14">
            <a:extLst>
              <a:ext uri="{FF2B5EF4-FFF2-40B4-BE49-F238E27FC236}">
                <a16:creationId xmlns:a16="http://schemas.microsoft.com/office/drawing/2014/main" id="{8EED6C12-8DA0-5B7D-EEE5-B4438E68D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163" y="1600200"/>
            <a:ext cx="3754437" cy="499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Number Placeholder 3">
            <a:extLst>
              <a:ext uri="{FF2B5EF4-FFF2-40B4-BE49-F238E27FC236}">
                <a16:creationId xmlns:a16="http://schemas.microsoft.com/office/drawing/2014/main" id="{7FFCB3A6-27C6-C3E9-137F-29D29D5E0DE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FFA97285-3B82-471A-9FF2-86CC6EFE1F39}" type="slidenum">
              <a:rPr lang="en-US" altLang="en-US" sz="1400">
                <a:solidFill>
                  <a:srgbClr val="990033"/>
                </a:solidFill>
              </a:rPr>
              <a:pPr/>
              <a:t>35</a:t>
            </a:fld>
            <a:endParaRPr lang="en-CA" altLang="en-US" sz="1400">
              <a:solidFill>
                <a:srgbClr val="990033"/>
              </a:solidFill>
            </a:endParaRPr>
          </a:p>
        </p:txBody>
      </p:sp>
      <p:sp>
        <p:nvSpPr>
          <p:cNvPr id="93186" name="Rectangle 2">
            <a:extLst>
              <a:ext uri="{FF2B5EF4-FFF2-40B4-BE49-F238E27FC236}">
                <a16:creationId xmlns:a16="http://schemas.microsoft.com/office/drawing/2014/main" id="{6456C71C-083A-94AA-0C71-B0699388319F}"/>
              </a:ext>
            </a:extLst>
          </p:cNvPr>
          <p:cNvSpPr>
            <a:spLocks noGrp="1" noChangeArrowheads="1"/>
          </p:cNvSpPr>
          <p:nvPr>
            <p:ph type="title"/>
          </p:nvPr>
        </p:nvSpPr>
        <p:spPr>
          <a:xfrm>
            <a:off x="228600" y="303213"/>
            <a:ext cx="7796213" cy="992187"/>
          </a:xfrm>
        </p:spPr>
        <p:txBody>
          <a:bodyPr/>
          <a:lstStyle/>
          <a:p>
            <a:pPr eaLnBrk="1" hangingPunct="1"/>
            <a:r>
              <a:rPr lang="en-US" altLang="en-US" sz="3200"/>
              <a:t>UML class diagrams</a:t>
            </a:r>
          </a:p>
        </p:txBody>
      </p:sp>
      <p:sp>
        <p:nvSpPr>
          <p:cNvPr id="93187" name="Rectangle 3">
            <a:extLst>
              <a:ext uri="{FF2B5EF4-FFF2-40B4-BE49-F238E27FC236}">
                <a16:creationId xmlns:a16="http://schemas.microsoft.com/office/drawing/2014/main" id="{34D631A8-4DCC-11EB-50C1-3F795CE91FD5}"/>
              </a:ext>
            </a:extLst>
          </p:cNvPr>
          <p:cNvSpPr>
            <a:spLocks noGrp="1" noChangeArrowheads="1"/>
          </p:cNvSpPr>
          <p:nvPr>
            <p:ph type="body" idx="1"/>
          </p:nvPr>
        </p:nvSpPr>
        <p:spPr/>
        <p:txBody>
          <a:bodyPr/>
          <a:lstStyle/>
          <a:p>
            <a:pPr eaLnBrk="1" hangingPunct="1">
              <a:lnSpc>
                <a:spcPct val="80000"/>
              </a:lnSpc>
            </a:pPr>
            <a:r>
              <a:rPr lang="en-US" altLang="en-US" sz="2400"/>
              <a:t>Represent classes (similar to entity types) as large rounded boxes with three sections:</a:t>
            </a:r>
          </a:p>
          <a:p>
            <a:pPr lvl="1" eaLnBrk="1" hangingPunct="1">
              <a:lnSpc>
                <a:spcPct val="80000"/>
              </a:lnSpc>
            </a:pPr>
            <a:r>
              <a:rPr lang="en-US" altLang="en-US" sz="2200"/>
              <a:t>Top section includes entity type (class) name</a:t>
            </a:r>
          </a:p>
          <a:p>
            <a:pPr lvl="1" eaLnBrk="1" hangingPunct="1">
              <a:lnSpc>
                <a:spcPct val="80000"/>
              </a:lnSpc>
            </a:pPr>
            <a:r>
              <a:rPr lang="en-US" altLang="en-US" sz="2200"/>
              <a:t>Second section includes attributes</a:t>
            </a:r>
          </a:p>
          <a:p>
            <a:pPr lvl="1" eaLnBrk="1" hangingPunct="1">
              <a:lnSpc>
                <a:spcPct val="80000"/>
              </a:lnSpc>
            </a:pPr>
            <a:r>
              <a:rPr lang="en-US" altLang="en-US" sz="2200"/>
              <a:t>Third section includes class operations (operations are not in basic ER model)</a:t>
            </a:r>
          </a:p>
          <a:p>
            <a:pPr eaLnBrk="1" hangingPunct="1">
              <a:lnSpc>
                <a:spcPct val="80000"/>
              </a:lnSpc>
            </a:pPr>
            <a:r>
              <a:rPr lang="en-US" altLang="en-US" sz="2400"/>
              <a:t>Relationships (called associations) represented as lines connecting the classes</a:t>
            </a:r>
          </a:p>
          <a:p>
            <a:pPr lvl="1" eaLnBrk="1" hangingPunct="1">
              <a:lnSpc>
                <a:spcPct val="80000"/>
              </a:lnSpc>
            </a:pPr>
            <a:r>
              <a:rPr lang="en-US" altLang="en-US" sz="2200"/>
              <a:t>Other UML terminology also differs from ER terminology</a:t>
            </a:r>
          </a:p>
          <a:p>
            <a:pPr eaLnBrk="1" hangingPunct="1">
              <a:lnSpc>
                <a:spcPct val="80000"/>
              </a:lnSpc>
            </a:pPr>
            <a:r>
              <a:rPr lang="en-US" altLang="en-US" sz="2400"/>
              <a:t>Used in database design and object-oriented software design</a:t>
            </a:r>
          </a:p>
          <a:p>
            <a:pPr eaLnBrk="1" hangingPunct="1">
              <a:lnSpc>
                <a:spcPct val="80000"/>
              </a:lnSpc>
            </a:pPr>
            <a:r>
              <a:rPr lang="en-US" altLang="en-US" sz="2400"/>
              <a:t>UML has many other types of diagrams for software design</a:t>
            </a:r>
          </a:p>
          <a:p>
            <a:pPr eaLnBrk="1" hangingPunct="1">
              <a:lnSpc>
                <a:spcPct val="80000"/>
              </a:lnSpc>
            </a:pPr>
            <a:endParaRPr lang="en-US" altLang="en-US" sz="2400"/>
          </a:p>
          <a:p>
            <a:pPr eaLnBrk="1" hangingPunct="1">
              <a:lnSpc>
                <a:spcPct val="80000"/>
              </a:lnSpc>
            </a:pPr>
            <a:endParaRPr lang="en-US" altLang="en-US" sz="240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Number Placeholder 3">
            <a:extLst>
              <a:ext uri="{FF2B5EF4-FFF2-40B4-BE49-F238E27FC236}">
                <a16:creationId xmlns:a16="http://schemas.microsoft.com/office/drawing/2014/main" id="{9C369C1D-844B-2C68-66F3-648E28C893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4408549E-5694-4F36-81DE-0BBAC55C5668}" type="slidenum">
              <a:rPr lang="en-US" altLang="en-US" sz="1400">
                <a:solidFill>
                  <a:srgbClr val="990033"/>
                </a:solidFill>
              </a:rPr>
              <a:pPr/>
              <a:t>36</a:t>
            </a:fld>
            <a:endParaRPr lang="en-CA" altLang="en-US" sz="1400">
              <a:solidFill>
                <a:srgbClr val="990033"/>
              </a:solidFill>
            </a:endParaRPr>
          </a:p>
        </p:txBody>
      </p:sp>
      <p:sp>
        <p:nvSpPr>
          <p:cNvPr id="94210" name="Rectangle 2">
            <a:extLst>
              <a:ext uri="{FF2B5EF4-FFF2-40B4-BE49-F238E27FC236}">
                <a16:creationId xmlns:a16="http://schemas.microsoft.com/office/drawing/2014/main" id="{EE01A2DE-47BD-FEF1-45C8-00B3A3FE741C}"/>
              </a:ext>
            </a:extLst>
          </p:cNvPr>
          <p:cNvSpPr>
            <a:spLocks noGrp="1" noChangeArrowheads="1"/>
          </p:cNvSpPr>
          <p:nvPr>
            <p:ph type="title"/>
          </p:nvPr>
        </p:nvSpPr>
        <p:spPr>
          <a:xfrm>
            <a:off x="228600" y="303213"/>
            <a:ext cx="7796213" cy="992187"/>
          </a:xfrm>
        </p:spPr>
        <p:txBody>
          <a:bodyPr/>
          <a:lstStyle/>
          <a:p>
            <a:pPr eaLnBrk="1" hangingPunct="1"/>
            <a:r>
              <a:rPr lang="en-US" altLang="en-US" sz="3200"/>
              <a:t>UML class diagram for COMPANY database schema</a:t>
            </a:r>
          </a:p>
        </p:txBody>
      </p:sp>
      <p:pic>
        <p:nvPicPr>
          <p:cNvPr id="94211" name="Picture 4" descr="fig03_16">
            <a:extLst>
              <a:ext uri="{FF2B5EF4-FFF2-40B4-BE49-F238E27FC236}">
                <a16:creationId xmlns:a16="http://schemas.microsoft.com/office/drawing/2014/main" id="{A05918DC-8151-3850-B91D-2012C9D7C6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988" y="1600200"/>
            <a:ext cx="6854825" cy="489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Number Placeholder 3">
            <a:extLst>
              <a:ext uri="{FF2B5EF4-FFF2-40B4-BE49-F238E27FC236}">
                <a16:creationId xmlns:a16="http://schemas.microsoft.com/office/drawing/2014/main" id="{911A5B52-8545-0843-4B8E-297A01C28DA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CD887EE7-98C2-42A1-A6A6-50D0E40E4AC4}" type="slidenum">
              <a:rPr lang="en-US" altLang="en-US" sz="1400">
                <a:solidFill>
                  <a:srgbClr val="990033"/>
                </a:solidFill>
              </a:rPr>
              <a:pPr/>
              <a:t>37</a:t>
            </a:fld>
            <a:endParaRPr lang="en-CA" altLang="en-US" sz="1400">
              <a:solidFill>
                <a:srgbClr val="990033"/>
              </a:solidFill>
            </a:endParaRPr>
          </a:p>
        </p:txBody>
      </p:sp>
      <p:sp>
        <p:nvSpPr>
          <p:cNvPr id="95234" name="Rectangle 2">
            <a:extLst>
              <a:ext uri="{FF2B5EF4-FFF2-40B4-BE49-F238E27FC236}">
                <a16:creationId xmlns:a16="http://schemas.microsoft.com/office/drawing/2014/main" id="{3AFA2032-D753-6BA3-9526-7F66ADB11263}"/>
              </a:ext>
            </a:extLst>
          </p:cNvPr>
          <p:cNvSpPr>
            <a:spLocks noGrp="1" noChangeArrowheads="1"/>
          </p:cNvSpPr>
          <p:nvPr>
            <p:ph type="title"/>
          </p:nvPr>
        </p:nvSpPr>
        <p:spPr>
          <a:xfrm>
            <a:off x="228600" y="303213"/>
            <a:ext cx="7796213" cy="992187"/>
          </a:xfrm>
        </p:spPr>
        <p:txBody>
          <a:bodyPr/>
          <a:lstStyle/>
          <a:p>
            <a:pPr eaLnBrk="1" hangingPunct="1"/>
            <a:r>
              <a:rPr lang="en-US" altLang="en-US" sz="3200"/>
              <a:t>Other alternative diagrammatic notations</a:t>
            </a:r>
          </a:p>
        </p:txBody>
      </p:sp>
      <p:pic>
        <p:nvPicPr>
          <p:cNvPr id="95235" name="Picture 4" descr="figA_01">
            <a:extLst>
              <a:ext uri="{FF2B5EF4-FFF2-40B4-BE49-F238E27FC236}">
                <a16:creationId xmlns:a16="http://schemas.microsoft.com/office/drawing/2014/main" id="{5BE44D04-B431-C603-022B-FD2E03366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625" y="1524000"/>
            <a:ext cx="4041775"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Number Placeholder 3">
            <a:extLst>
              <a:ext uri="{FF2B5EF4-FFF2-40B4-BE49-F238E27FC236}">
                <a16:creationId xmlns:a16="http://schemas.microsoft.com/office/drawing/2014/main" id="{543695F3-8FA1-F351-5F23-A9F6441727E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85BB8655-8B34-4ED9-A9F5-5F8EEF76C608}" type="slidenum">
              <a:rPr lang="en-US" altLang="en-US" sz="1400">
                <a:solidFill>
                  <a:srgbClr val="990033"/>
                </a:solidFill>
              </a:rPr>
              <a:pPr/>
              <a:t>38</a:t>
            </a:fld>
            <a:endParaRPr lang="en-CA" altLang="en-US" sz="1400">
              <a:solidFill>
                <a:srgbClr val="990033"/>
              </a:solidFill>
            </a:endParaRPr>
          </a:p>
        </p:txBody>
      </p:sp>
      <p:sp>
        <p:nvSpPr>
          <p:cNvPr id="96258" name="Rectangle 4">
            <a:extLst>
              <a:ext uri="{FF2B5EF4-FFF2-40B4-BE49-F238E27FC236}">
                <a16:creationId xmlns:a16="http://schemas.microsoft.com/office/drawing/2014/main" id="{8BF55DF0-AA5D-0BAA-6996-27F3E41C21CC}"/>
              </a:ext>
            </a:extLst>
          </p:cNvPr>
          <p:cNvSpPr>
            <a:spLocks noGrp="1" noChangeArrowheads="1"/>
          </p:cNvSpPr>
          <p:nvPr>
            <p:ph type="title"/>
          </p:nvPr>
        </p:nvSpPr>
        <p:spPr>
          <a:xfrm>
            <a:off x="228600" y="303213"/>
            <a:ext cx="7796213" cy="992187"/>
          </a:xfrm>
        </p:spPr>
        <p:txBody>
          <a:bodyPr/>
          <a:lstStyle/>
          <a:p>
            <a:pPr eaLnBrk="1" hangingPunct="1"/>
            <a:r>
              <a:rPr lang="en-US" altLang="en-US"/>
              <a:t>Relationships of Higher Degree</a:t>
            </a:r>
          </a:p>
        </p:txBody>
      </p:sp>
      <p:sp>
        <p:nvSpPr>
          <p:cNvPr id="96259" name="Rectangle 5">
            <a:extLst>
              <a:ext uri="{FF2B5EF4-FFF2-40B4-BE49-F238E27FC236}">
                <a16:creationId xmlns:a16="http://schemas.microsoft.com/office/drawing/2014/main" id="{920585B9-80C7-08BF-F3A3-1E1CCABAA628}"/>
              </a:ext>
            </a:extLst>
          </p:cNvPr>
          <p:cNvSpPr>
            <a:spLocks noGrp="1" noChangeArrowheads="1"/>
          </p:cNvSpPr>
          <p:nvPr>
            <p:ph type="body" idx="1"/>
          </p:nvPr>
        </p:nvSpPr>
        <p:spPr/>
        <p:txBody>
          <a:bodyPr/>
          <a:lstStyle/>
          <a:p>
            <a:pPr eaLnBrk="1" hangingPunct="1"/>
            <a:r>
              <a:rPr lang="en-US" altLang="en-US"/>
              <a:t>Relationship types of degree 2 are called binary</a:t>
            </a:r>
          </a:p>
          <a:p>
            <a:pPr eaLnBrk="1" hangingPunct="1"/>
            <a:r>
              <a:rPr lang="en-US" altLang="en-US"/>
              <a:t>Relationship types of degree 3 are called ternary and of degree n are called n-ary</a:t>
            </a:r>
          </a:p>
          <a:p>
            <a:pPr eaLnBrk="1" hangingPunct="1"/>
            <a:r>
              <a:rPr lang="en-US" altLang="en-US"/>
              <a:t>In general, an n-ary relationship is not equivalent to n binary relationships</a:t>
            </a:r>
          </a:p>
          <a:p>
            <a:pPr eaLnBrk="1" hangingPunct="1"/>
            <a:r>
              <a:rPr lang="en-US" altLang="en-US"/>
              <a:t>Constraints are harder to specify for higher-degree relationships (n &gt; 2) than for binary relationships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Number Placeholder 3">
            <a:extLst>
              <a:ext uri="{FF2B5EF4-FFF2-40B4-BE49-F238E27FC236}">
                <a16:creationId xmlns:a16="http://schemas.microsoft.com/office/drawing/2014/main" id="{7759C808-F1D3-60FE-0384-5A410F8AF5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FCB944F1-F8F0-440A-9FA0-B2D1ECF60CCA}" type="slidenum">
              <a:rPr lang="en-US" altLang="en-US" sz="1400">
                <a:solidFill>
                  <a:srgbClr val="990033"/>
                </a:solidFill>
              </a:rPr>
              <a:pPr/>
              <a:t>39</a:t>
            </a:fld>
            <a:endParaRPr lang="en-CA" altLang="en-US" sz="1400">
              <a:solidFill>
                <a:srgbClr val="990033"/>
              </a:solidFill>
            </a:endParaRPr>
          </a:p>
        </p:txBody>
      </p:sp>
      <p:sp>
        <p:nvSpPr>
          <p:cNvPr id="98306" name="Rectangle 2">
            <a:extLst>
              <a:ext uri="{FF2B5EF4-FFF2-40B4-BE49-F238E27FC236}">
                <a16:creationId xmlns:a16="http://schemas.microsoft.com/office/drawing/2014/main" id="{7D4C3392-183E-7D54-C747-A04DAB26E3FF}"/>
              </a:ext>
            </a:extLst>
          </p:cNvPr>
          <p:cNvSpPr>
            <a:spLocks noGrp="1" noChangeArrowheads="1"/>
          </p:cNvSpPr>
          <p:nvPr>
            <p:ph type="title"/>
          </p:nvPr>
        </p:nvSpPr>
        <p:spPr>
          <a:xfrm>
            <a:off x="228600" y="303213"/>
            <a:ext cx="7796213" cy="992187"/>
          </a:xfrm>
        </p:spPr>
        <p:txBody>
          <a:bodyPr/>
          <a:lstStyle/>
          <a:p>
            <a:pPr eaLnBrk="1" hangingPunct="1"/>
            <a:r>
              <a:rPr lang="en-US" altLang="en-US" sz="3200"/>
              <a:t>Discussion of n-ary relationships (n &gt; 2)</a:t>
            </a:r>
          </a:p>
        </p:txBody>
      </p:sp>
      <p:sp>
        <p:nvSpPr>
          <p:cNvPr id="98307" name="Rectangle 3">
            <a:extLst>
              <a:ext uri="{FF2B5EF4-FFF2-40B4-BE49-F238E27FC236}">
                <a16:creationId xmlns:a16="http://schemas.microsoft.com/office/drawing/2014/main" id="{8CC3BA92-8692-A9CA-B3E7-04D166D54202}"/>
              </a:ext>
            </a:extLst>
          </p:cNvPr>
          <p:cNvSpPr>
            <a:spLocks noGrp="1" noChangeArrowheads="1"/>
          </p:cNvSpPr>
          <p:nvPr>
            <p:ph type="body" idx="1"/>
          </p:nvPr>
        </p:nvSpPr>
        <p:spPr/>
        <p:txBody>
          <a:bodyPr/>
          <a:lstStyle/>
          <a:p>
            <a:pPr eaLnBrk="1" hangingPunct="1"/>
            <a:r>
              <a:rPr lang="en-US" altLang="en-US" sz="2400"/>
              <a:t>In general, 3 binary relationships can represent different information than a single ternary relationship (see Figure 3.17a and b on next slide)</a:t>
            </a:r>
          </a:p>
          <a:p>
            <a:pPr eaLnBrk="1" hangingPunct="1"/>
            <a:r>
              <a:rPr lang="en-US" altLang="en-US" sz="2400"/>
              <a:t>If needed, the binary and n-ary relationships can all be included in the schema design (see Figure 3.17a and b, where all relationships convey different meanings)</a:t>
            </a:r>
          </a:p>
          <a:p>
            <a:pPr eaLnBrk="1" hangingPunct="1"/>
            <a:r>
              <a:rPr lang="en-US" altLang="en-US" sz="2400"/>
              <a:t>In some cases, a ternary relationship can be represented as a weak entity if the data model allows a weak entity type to have multiple identifying relationships (and hence multiple owner entity types) (see Figure 3.17c)</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Number Placeholder 3">
            <a:extLst>
              <a:ext uri="{FF2B5EF4-FFF2-40B4-BE49-F238E27FC236}">
                <a16:creationId xmlns:a16="http://schemas.microsoft.com/office/drawing/2014/main" id="{DF420798-E95C-C225-1872-F035E6D196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FA9C2F49-6542-464F-AA5B-909F5F859471}" type="slidenum">
              <a:rPr lang="en-US" altLang="en-US" sz="1400">
                <a:solidFill>
                  <a:srgbClr val="990033"/>
                </a:solidFill>
              </a:rPr>
              <a:pPr/>
              <a:t>40</a:t>
            </a:fld>
            <a:endParaRPr lang="en-CA" altLang="en-US" sz="1400">
              <a:solidFill>
                <a:srgbClr val="990033"/>
              </a:solidFill>
            </a:endParaRPr>
          </a:p>
        </p:txBody>
      </p:sp>
      <p:sp>
        <p:nvSpPr>
          <p:cNvPr id="99330" name="Rectangle 1026">
            <a:extLst>
              <a:ext uri="{FF2B5EF4-FFF2-40B4-BE49-F238E27FC236}">
                <a16:creationId xmlns:a16="http://schemas.microsoft.com/office/drawing/2014/main" id="{2C9FEF56-A466-B374-066A-89903E885609}"/>
              </a:ext>
            </a:extLst>
          </p:cNvPr>
          <p:cNvSpPr>
            <a:spLocks noGrp="1" noChangeArrowheads="1"/>
          </p:cNvSpPr>
          <p:nvPr>
            <p:ph type="title"/>
          </p:nvPr>
        </p:nvSpPr>
        <p:spPr>
          <a:xfrm>
            <a:off x="228600" y="303213"/>
            <a:ext cx="7796213" cy="992187"/>
          </a:xfrm>
        </p:spPr>
        <p:txBody>
          <a:bodyPr/>
          <a:lstStyle/>
          <a:p>
            <a:pPr eaLnBrk="1" hangingPunct="1"/>
            <a:r>
              <a:rPr lang="en-US" altLang="en-US"/>
              <a:t>Example of a ternary relationship</a:t>
            </a:r>
          </a:p>
        </p:txBody>
      </p:sp>
      <p:pic>
        <p:nvPicPr>
          <p:cNvPr id="99331" name="Picture 1029" descr="fig03_17">
            <a:extLst>
              <a:ext uri="{FF2B5EF4-FFF2-40B4-BE49-F238E27FC236}">
                <a16:creationId xmlns:a16="http://schemas.microsoft.com/office/drawing/2014/main" id="{65E79957-DA93-7F86-69B0-E40014F87D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24000"/>
            <a:ext cx="419576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Number Placeholder 3">
            <a:extLst>
              <a:ext uri="{FF2B5EF4-FFF2-40B4-BE49-F238E27FC236}">
                <a16:creationId xmlns:a16="http://schemas.microsoft.com/office/drawing/2014/main" id="{DF4F3475-4FF8-17DD-94D3-D92723277FA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E5481F5A-C191-4F4F-B258-486AEBF7D23B}" type="slidenum">
              <a:rPr lang="en-US" altLang="en-US" sz="1400">
                <a:solidFill>
                  <a:srgbClr val="990033"/>
                </a:solidFill>
              </a:rPr>
              <a:pPr/>
              <a:t>41</a:t>
            </a:fld>
            <a:endParaRPr lang="en-CA" altLang="en-US" sz="1400">
              <a:solidFill>
                <a:srgbClr val="990033"/>
              </a:solidFill>
            </a:endParaRPr>
          </a:p>
        </p:txBody>
      </p:sp>
      <p:sp>
        <p:nvSpPr>
          <p:cNvPr id="100354" name="Rectangle 1026">
            <a:extLst>
              <a:ext uri="{FF2B5EF4-FFF2-40B4-BE49-F238E27FC236}">
                <a16:creationId xmlns:a16="http://schemas.microsoft.com/office/drawing/2014/main" id="{AA863178-35A8-F3A6-F6B3-F2D7E3F3C8BC}"/>
              </a:ext>
            </a:extLst>
          </p:cNvPr>
          <p:cNvSpPr>
            <a:spLocks noGrp="1" noChangeArrowheads="1"/>
          </p:cNvSpPr>
          <p:nvPr>
            <p:ph type="title"/>
          </p:nvPr>
        </p:nvSpPr>
        <p:spPr>
          <a:xfrm>
            <a:off x="228600" y="303213"/>
            <a:ext cx="7796213" cy="992187"/>
          </a:xfrm>
        </p:spPr>
        <p:txBody>
          <a:bodyPr/>
          <a:lstStyle/>
          <a:p>
            <a:pPr eaLnBrk="1" hangingPunct="1"/>
            <a:r>
              <a:rPr lang="en-US" altLang="en-US" sz="3200"/>
              <a:t>Discussion of n-ary relationships (n &gt; 2)</a:t>
            </a:r>
          </a:p>
        </p:txBody>
      </p:sp>
      <p:sp>
        <p:nvSpPr>
          <p:cNvPr id="100355" name="Rectangle 1027">
            <a:extLst>
              <a:ext uri="{FF2B5EF4-FFF2-40B4-BE49-F238E27FC236}">
                <a16:creationId xmlns:a16="http://schemas.microsoft.com/office/drawing/2014/main" id="{9D9B21F0-7D74-7B2D-34AC-F8399D4E4C3D}"/>
              </a:ext>
            </a:extLst>
          </p:cNvPr>
          <p:cNvSpPr>
            <a:spLocks noGrp="1" noChangeArrowheads="1"/>
          </p:cNvSpPr>
          <p:nvPr>
            <p:ph type="body" idx="1"/>
          </p:nvPr>
        </p:nvSpPr>
        <p:spPr/>
        <p:txBody>
          <a:bodyPr/>
          <a:lstStyle/>
          <a:p>
            <a:pPr eaLnBrk="1" hangingPunct="1"/>
            <a:r>
              <a:rPr lang="en-US" altLang="en-US"/>
              <a:t>If a particular binary relationship can be derived from a higher-degree relationship at all times, then it is redundant</a:t>
            </a:r>
          </a:p>
          <a:p>
            <a:pPr eaLnBrk="1" hangingPunct="1"/>
            <a:r>
              <a:rPr lang="en-US" altLang="en-US"/>
              <a:t>For example, the TAUGHT_DURING binary relationship in Figure 3.18 (see next slide) can be derived from the ternary relationship OFFERS (based on the meaning of the relationships)</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Number Placeholder 3">
            <a:extLst>
              <a:ext uri="{FF2B5EF4-FFF2-40B4-BE49-F238E27FC236}">
                <a16:creationId xmlns:a16="http://schemas.microsoft.com/office/drawing/2014/main" id="{CEF10CE5-EAE2-4238-64D8-18CFB2557AF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67C5633A-861F-415A-A000-BD3FBBB266E0}" type="slidenum">
              <a:rPr lang="en-US" altLang="en-US" sz="1400">
                <a:solidFill>
                  <a:srgbClr val="990033"/>
                </a:solidFill>
              </a:rPr>
              <a:pPr/>
              <a:t>42</a:t>
            </a:fld>
            <a:endParaRPr lang="en-CA" altLang="en-US" sz="1400">
              <a:solidFill>
                <a:srgbClr val="990033"/>
              </a:solidFill>
            </a:endParaRPr>
          </a:p>
        </p:txBody>
      </p:sp>
      <p:sp>
        <p:nvSpPr>
          <p:cNvPr id="101378" name="Rectangle 1026">
            <a:extLst>
              <a:ext uri="{FF2B5EF4-FFF2-40B4-BE49-F238E27FC236}">
                <a16:creationId xmlns:a16="http://schemas.microsoft.com/office/drawing/2014/main" id="{8921DD8B-D965-8702-94DB-0AEC23711114}"/>
              </a:ext>
            </a:extLst>
          </p:cNvPr>
          <p:cNvSpPr>
            <a:spLocks noGrp="1" noChangeArrowheads="1"/>
          </p:cNvSpPr>
          <p:nvPr>
            <p:ph type="title"/>
          </p:nvPr>
        </p:nvSpPr>
        <p:spPr>
          <a:xfrm>
            <a:off x="228600" y="303213"/>
            <a:ext cx="7796213" cy="992187"/>
          </a:xfrm>
        </p:spPr>
        <p:txBody>
          <a:bodyPr/>
          <a:lstStyle/>
          <a:p>
            <a:pPr eaLnBrk="1" hangingPunct="1"/>
            <a:r>
              <a:rPr lang="en-US" altLang="en-US" sz="3200"/>
              <a:t>Another example of a ternary relationship</a:t>
            </a:r>
          </a:p>
        </p:txBody>
      </p:sp>
      <p:pic>
        <p:nvPicPr>
          <p:cNvPr id="101379" name="Picture 1029" descr="fig03_18">
            <a:extLst>
              <a:ext uri="{FF2B5EF4-FFF2-40B4-BE49-F238E27FC236}">
                <a16:creationId xmlns:a16="http://schemas.microsoft.com/office/drawing/2014/main" id="{7CA0EE35-C984-AE47-A323-1753057BED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13" y="1905000"/>
            <a:ext cx="7989887"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Number Placeholder 3">
            <a:extLst>
              <a:ext uri="{FF2B5EF4-FFF2-40B4-BE49-F238E27FC236}">
                <a16:creationId xmlns:a16="http://schemas.microsoft.com/office/drawing/2014/main" id="{7EE429EA-6DFA-8C71-C3C1-C94DEE036F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97059B2D-82A3-408F-A3CC-453B46AAD11E}" type="slidenum">
              <a:rPr lang="en-US" altLang="en-US" sz="1400">
                <a:solidFill>
                  <a:srgbClr val="990033"/>
                </a:solidFill>
              </a:rPr>
              <a:pPr/>
              <a:t>43</a:t>
            </a:fld>
            <a:endParaRPr lang="en-CA" altLang="en-US" sz="1400">
              <a:solidFill>
                <a:srgbClr val="990033"/>
              </a:solidFill>
            </a:endParaRPr>
          </a:p>
        </p:txBody>
      </p:sp>
      <p:sp>
        <p:nvSpPr>
          <p:cNvPr id="102402" name="Rectangle 1026">
            <a:extLst>
              <a:ext uri="{FF2B5EF4-FFF2-40B4-BE49-F238E27FC236}">
                <a16:creationId xmlns:a16="http://schemas.microsoft.com/office/drawing/2014/main" id="{DF4BF2B3-F92E-6A8E-ED16-F4FC49E90917}"/>
              </a:ext>
            </a:extLst>
          </p:cNvPr>
          <p:cNvSpPr>
            <a:spLocks noGrp="1" noChangeArrowheads="1"/>
          </p:cNvSpPr>
          <p:nvPr>
            <p:ph type="title"/>
          </p:nvPr>
        </p:nvSpPr>
        <p:spPr>
          <a:xfrm>
            <a:off x="228600" y="303213"/>
            <a:ext cx="7796213" cy="992187"/>
          </a:xfrm>
        </p:spPr>
        <p:txBody>
          <a:bodyPr/>
          <a:lstStyle/>
          <a:p>
            <a:pPr eaLnBrk="1" hangingPunct="1"/>
            <a:r>
              <a:rPr lang="en-US" altLang="en-US" sz="3200"/>
              <a:t>Displaying constraints on higher-degree relationships</a:t>
            </a:r>
          </a:p>
        </p:txBody>
      </p:sp>
      <p:sp>
        <p:nvSpPr>
          <p:cNvPr id="102403" name="Rectangle 1027">
            <a:extLst>
              <a:ext uri="{FF2B5EF4-FFF2-40B4-BE49-F238E27FC236}">
                <a16:creationId xmlns:a16="http://schemas.microsoft.com/office/drawing/2014/main" id="{EDFFA43D-2F4F-3284-ED43-FD459501FE48}"/>
              </a:ext>
            </a:extLst>
          </p:cNvPr>
          <p:cNvSpPr>
            <a:spLocks noGrp="1" noChangeArrowheads="1"/>
          </p:cNvSpPr>
          <p:nvPr>
            <p:ph type="body" idx="1"/>
          </p:nvPr>
        </p:nvSpPr>
        <p:spPr/>
        <p:txBody>
          <a:bodyPr/>
          <a:lstStyle/>
          <a:p>
            <a:pPr eaLnBrk="1" hangingPunct="1"/>
            <a:r>
              <a:rPr lang="en-US" altLang="en-US" sz="2400"/>
              <a:t>The (min, max) constraints can be displayed on the edges – however, they do not fully describe the constraints</a:t>
            </a:r>
          </a:p>
          <a:p>
            <a:pPr eaLnBrk="1" hangingPunct="1"/>
            <a:r>
              <a:rPr lang="en-US" altLang="en-US" sz="2400"/>
              <a:t>Displaying a 1, M, or N indicates additional constraints</a:t>
            </a:r>
          </a:p>
          <a:p>
            <a:pPr lvl="1" eaLnBrk="1" hangingPunct="1"/>
            <a:r>
              <a:rPr lang="en-US" altLang="en-US" sz="2200"/>
              <a:t>An M or N indicates no constraint</a:t>
            </a:r>
          </a:p>
          <a:p>
            <a:pPr lvl="1" eaLnBrk="1" hangingPunct="1"/>
            <a:r>
              <a:rPr lang="en-US" altLang="en-US" sz="2200"/>
              <a:t>A 1 indicates that an entity can participate in at most one relationship instance </a:t>
            </a:r>
            <a:r>
              <a:rPr lang="en-US" altLang="en-US" sz="2200" i="1"/>
              <a:t>that has a particular combination of the other participating entities</a:t>
            </a:r>
          </a:p>
          <a:p>
            <a:pPr eaLnBrk="1" hangingPunct="1"/>
            <a:r>
              <a:rPr lang="en-US" altLang="en-US" sz="2400"/>
              <a:t>In general, both (min, max) and 1, M, or N are needed to describe fully the constraints</a:t>
            </a:r>
          </a:p>
          <a:p>
            <a:pPr eaLnBrk="1" hangingPunct="1"/>
            <a:r>
              <a:rPr lang="en-US" altLang="en-US" sz="2400"/>
              <a:t>Overall, the constraint specification is difficult and possibly ambiguous when we consider relationships of a degree higher than two.</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87057711-E229-BE17-C84F-DA116F12CD31}"/>
              </a:ext>
            </a:extLst>
          </p:cNvPr>
          <p:cNvSpPr>
            <a:spLocks noGrp="1"/>
          </p:cNvSpPr>
          <p:nvPr>
            <p:ph type="title"/>
          </p:nvPr>
        </p:nvSpPr>
        <p:spPr>
          <a:xfrm>
            <a:off x="228600" y="303213"/>
            <a:ext cx="7796213" cy="992187"/>
          </a:xfrm>
        </p:spPr>
        <p:txBody>
          <a:bodyPr/>
          <a:lstStyle/>
          <a:p>
            <a:pPr algn="ctr"/>
            <a:r>
              <a:rPr lang="en-US" altLang="en-US" dirty="0"/>
              <a:t>Another Example: </a:t>
            </a:r>
            <a:br>
              <a:rPr lang="en-US" altLang="en-US" dirty="0"/>
            </a:br>
            <a:r>
              <a:rPr lang="en-US" altLang="en-US" dirty="0"/>
              <a:t>A UNIVERSITY Database</a:t>
            </a:r>
          </a:p>
        </p:txBody>
      </p:sp>
      <p:sp>
        <p:nvSpPr>
          <p:cNvPr id="103426" name="Content Placeholder 2">
            <a:extLst>
              <a:ext uri="{FF2B5EF4-FFF2-40B4-BE49-F238E27FC236}">
                <a16:creationId xmlns:a16="http://schemas.microsoft.com/office/drawing/2014/main" id="{C018622B-1502-8B83-2914-31F58E5F6419}"/>
              </a:ext>
            </a:extLst>
          </p:cNvPr>
          <p:cNvSpPr>
            <a:spLocks noGrp="1"/>
          </p:cNvSpPr>
          <p:nvPr>
            <p:ph idx="1"/>
          </p:nvPr>
        </p:nvSpPr>
        <p:spPr/>
        <p:txBody>
          <a:bodyPr/>
          <a:lstStyle/>
          <a:p>
            <a:r>
              <a:rPr lang="en-US" altLang="en-US"/>
              <a:t>To keep track of the enrollments in classes and student grades, another database is to be designed.</a:t>
            </a:r>
          </a:p>
          <a:p>
            <a:r>
              <a:rPr lang="en-US" altLang="en-US"/>
              <a:t>It keeps track of the COLLEGEs, DEPARTMENTs within each college, the COURSEs offered by departments, and SECTIONs of courses, INSTRUCTORs who teach the sections etc.</a:t>
            </a:r>
          </a:p>
          <a:p>
            <a:r>
              <a:rPr lang="en-US" altLang="en-US"/>
              <a:t>These entity types and the relationships among these entity types are shown on the next slide in Figure 3.20.</a:t>
            </a:r>
          </a:p>
        </p:txBody>
      </p:sp>
      <p:sp>
        <p:nvSpPr>
          <p:cNvPr id="103427" name="Slide Number Placeholder 3">
            <a:extLst>
              <a:ext uri="{FF2B5EF4-FFF2-40B4-BE49-F238E27FC236}">
                <a16:creationId xmlns:a16="http://schemas.microsoft.com/office/drawing/2014/main" id="{57715043-E604-DFCF-C244-32A16CF623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611E0454-D2B1-4B53-AB9E-69C3ED57110B}" type="slidenum">
              <a:rPr lang="en-US" altLang="en-US" sz="1400">
                <a:solidFill>
                  <a:srgbClr val="990033"/>
                </a:solidFill>
              </a:rPr>
              <a:pPr/>
              <a:t>44</a:t>
            </a:fld>
            <a:endParaRPr lang="en-CA" altLang="en-US" sz="1400">
              <a:solidFill>
                <a:srgbClr val="990033"/>
              </a:solidFill>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80119432-AEB9-34DD-ACD9-FE7722732555}"/>
              </a:ext>
            </a:extLst>
          </p:cNvPr>
          <p:cNvSpPr>
            <a:spLocks noGrp="1"/>
          </p:cNvSpPr>
          <p:nvPr>
            <p:ph type="title"/>
          </p:nvPr>
        </p:nvSpPr>
        <p:spPr>
          <a:xfrm>
            <a:off x="228600" y="303213"/>
            <a:ext cx="7796213" cy="992187"/>
          </a:xfrm>
        </p:spPr>
        <p:txBody>
          <a:bodyPr/>
          <a:lstStyle/>
          <a:p>
            <a:pPr eaLnBrk="1" hangingPunct="1"/>
            <a:r>
              <a:rPr lang="en-US" altLang="en-US">
                <a:latin typeface="Calibri Light" panose="020F0302020204030204" pitchFamily="34" charset="0"/>
              </a:rPr>
              <a:t>UNIVERSITY database conceptual schema</a:t>
            </a:r>
          </a:p>
        </p:txBody>
      </p:sp>
      <p:sp>
        <p:nvSpPr>
          <p:cNvPr id="94211" name="Slide Number Placeholder 3">
            <a:extLst>
              <a:ext uri="{FF2B5EF4-FFF2-40B4-BE49-F238E27FC236}">
                <a16:creationId xmlns:a16="http://schemas.microsoft.com/office/drawing/2014/main" id="{BF15E040-C5DD-A454-5E17-B1D1485BB3C6}"/>
              </a:ext>
            </a:extLst>
          </p:cNvPr>
          <p:cNvSpPr>
            <a:spLocks noGrp="1"/>
          </p:cNvSpPr>
          <p:nvPr>
            <p:ph type="sldNum" sz="quarter" idx="10"/>
          </p:nvPr>
        </p:nvSpPr>
        <p:spPr>
          <a:xfrm>
            <a:off x="6457950" y="6356350"/>
            <a:ext cx="20574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DC1CB132-1E25-4757-AFC7-E981A3523463}" type="slidenum">
              <a:rPr lang="en-US" altLang="en-US" sz="1400">
                <a:solidFill>
                  <a:srgbClr val="990033"/>
                </a:solidFill>
              </a:rPr>
              <a:pPr/>
              <a:t>45</a:t>
            </a:fld>
            <a:endParaRPr lang="en-CA" altLang="en-US" sz="1400">
              <a:solidFill>
                <a:srgbClr val="990033"/>
              </a:solidFill>
            </a:endParaRPr>
          </a:p>
        </p:txBody>
      </p:sp>
      <p:sp>
        <p:nvSpPr>
          <p:cNvPr id="104451" name="Footer Placeholder 1">
            <a:extLst>
              <a:ext uri="{FF2B5EF4-FFF2-40B4-BE49-F238E27FC236}">
                <a16:creationId xmlns:a16="http://schemas.microsoft.com/office/drawing/2014/main" id="{CD2DA532-0D39-577E-03BB-BA3A1B7A7893}"/>
              </a:ext>
            </a:extLst>
          </p:cNvPr>
          <p:cNvSpPr>
            <a:spLocks noGrp="1"/>
          </p:cNvSpPr>
          <p:nvPr>
            <p:ph type="ftr" sz="quarter" idx="4294967295"/>
          </p:nvPr>
        </p:nvSpPr>
        <p:spPr bwMode="auto">
          <a:xfrm>
            <a:off x="3028950" y="6356350"/>
            <a:ext cx="30861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900">
                <a:solidFill>
                  <a:srgbClr val="898989"/>
                </a:solidFill>
              </a:rPr>
              <a:t>Northeastern University</a:t>
            </a:r>
          </a:p>
        </p:txBody>
      </p:sp>
      <p:pic>
        <p:nvPicPr>
          <p:cNvPr id="104452" name="Picture 3">
            <a:extLst>
              <a:ext uri="{FF2B5EF4-FFF2-40B4-BE49-F238E27FC236}">
                <a16:creationId xmlns:a16="http://schemas.microsoft.com/office/drawing/2014/main" id="{D71586E1-B3D2-E82D-2A83-CA63B9BAC1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6588" y="1690688"/>
            <a:ext cx="7888287"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3" name="Picture 5">
            <a:extLst>
              <a:ext uri="{FF2B5EF4-FFF2-40B4-BE49-F238E27FC236}">
                <a16:creationId xmlns:a16="http://schemas.microsoft.com/office/drawing/2014/main" id="{A1CE14A5-B1BD-C5CB-1EB0-62E5456B54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7063" y="1243013"/>
            <a:ext cx="7889875"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4" name="Picture 6">
            <a:extLst>
              <a:ext uri="{FF2B5EF4-FFF2-40B4-BE49-F238E27FC236}">
                <a16:creationId xmlns:a16="http://schemas.microsoft.com/office/drawing/2014/main" id="{7D166B65-AD95-765E-3F85-62FE605B4B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5038" y="1690688"/>
            <a:ext cx="4733925"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Number Placeholder 3">
            <a:extLst>
              <a:ext uri="{FF2B5EF4-FFF2-40B4-BE49-F238E27FC236}">
                <a16:creationId xmlns:a16="http://schemas.microsoft.com/office/drawing/2014/main" id="{FD6CF3CA-4501-E72E-2007-554109E8EF1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46AB0599-71E7-48A1-9AAF-22F307517375}" type="slidenum">
              <a:rPr lang="en-US" altLang="en-US" sz="1400">
                <a:solidFill>
                  <a:srgbClr val="990033"/>
                </a:solidFill>
              </a:rPr>
              <a:pPr/>
              <a:t>46</a:t>
            </a:fld>
            <a:endParaRPr lang="en-CA" altLang="en-US" sz="1400">
              <a:solidFill>
                <a:srgbClr val="990033"/>
              </a:solidFill>
            </a:endParaRPr>
          </a:p>
        </p:txBody>
      </p:sp>
      <p:sp>
        <p:nvSpPr>
          <p:cNvPr id="105474" name="Rectangle 2">
            <a:extLst>
              <a:ext uri="{FF2B5EF4-FFF2-40B4-BE49-F238E27FC236}">
                <a16:creationId xmlns:a16="http://schemas.microsoft.com/office/drawing/2014/main" id="{0375F9C8-9854-2479-C553-0E65FD085689}"/>
              </a:ext>
            </a:extLst>
          </p:cNvPr>
          <p:cNvSpPr>
            <a:spLocks noGrp="1" noChangeArrowheads="1"/>
          </p:cNvSpPr>
          <p:nvPr>
            <p:ph type="title"/>
          </p:nvPr>
        </p:nvSpPr>
        <p:spPr>
          <a:xfrm>
            <a:off x="228600" y="303213"/>
            <a:ext cx="7796213" cy="992187"/>
          </a:xfrm>
        </p:spPr>
        <p:txBody>
          <a:bodyPr/>
          <a:lstStyle/>
          <a:p>
            <a:pPr eaLnBrk="1" hangingPunct="1"/>
            <a:r>
              <a:rPr lang="en-US" altLang="en-US"/>
              <a:t>Chapter Summary</a:t>
            </a:r>
          </a:p>
        </p:txBody>
      </p:sp>
      <p:sp>
        <p:nvSpPr>
          <p:cNvPr id="105475" name="Rectangle 3">
            <a:extLst>
              <a:ext uri="{FF2B5EF4-FFF2-40B4-BE49-F238E27FC236}">
                <a16:creationId xmlns:a16="http://schemas.microsoft.com/office/drawing/2014/main" id="{28CEC2F7-4F6B-3ABC-82F1-39EF92F15D47}"/>
              </a:ext>
            </a:extLst>
          </p:cNvPr>
          <p:cNvSpPr>
            <a:spLocks noGrp="1" noChangeArrowheads="1"/>
          </p:cNvSpPr>
          <p:nvPr>
            <p:ph type="body" idx="1"/>
          </p:nvPr>
        </p:nvSpPr>
        <p:spPr/>
        <p:txBody>
          <a:bodyPr/>
          <a:lstStyle/>
          <a:p>
            <a:pPr eaLnBrk="1" hangingPunct="1"/>
            <a:r>
              <a:rPr lang="en-US" altLang="en-US"/>
              <a:t>ER Model Concepts: Entities, attributes, relationships</a:t>
            </a:r>
          </a:p>
          <a:p>
            <a:pPr eaLnBrk="1" hangingPunct="1"/>
            <a:r>
              <a:rPr lang="en-US" altLang="en-US"/>
              <a:t>Constraints in the ER model</a:t>
            </a:r>
          </a:p>
          <a:p>
            <a:pPr eaLnBrk="1" hangingPunct="1"/>
            <a:r>
              <a:rPr lang="en-US" altLang="en-US"/>
              <a:t>Using ER in step-by-step mode conceptual schema design for the COMPANY database</a:t>
            </a:r>
          </a:p>
          <a:p>
            <a:pPr eaLnBrk="1" hangingPunct="1"/>
            <a:r>
              <a:rPr lang="en-US" altLang="en-US"/>
              <a:t>ER Diagrams - Notation</a:t>
            </a:r>
          </a:p>
          <a:p>
            <a:pPr eaLnBrk="1" hangingPunct="1"/>
            <a:r>
              <a:rPr lang="en-US" altLang="en-US"/>
              <a:t>Alternative Notations – UML class diagrams, others</a:t>
            </a:r>
          </a:p>
          <a:p>
            <a:pPr eaLnBrk="1" hangingPunct="1"/>
            <a:r>
              <a:rPr lang="en-US" altLang="en-US"/>
              <a:t>Binary Relationship types and those of higher degree.</a:t>
            </a:r>
          </a:p>
          <a:p>
            <a:pPr eaLnBrk="1" hangingPunct="1"/>
            <a:endParaRPr lang="en-US" altLang="en-US"/>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Number Placeholder 3">
            <a:extLst>
              <a:ext uri="{FF2B5EF4-FFF2-40B4-BE49-F238E27FC236}">
                <a16:creationId xmlns:a16="http://schemas.microsoft.com/office/drawing/2014/main" id="{CE8A2D35-3070-A702-50AD-A169FD5F0B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822EB023-27AD-4F0F-AADA-EAA3DE06AEC3}" type="slidenum">
              <a:rPr lang="en-US" altLang="en-US" sz="1400">
                <a:solidFill>
                  <a:srgbClr val="990033"/>
                </a:solidFill>
              </a:rPr>
              <a:pPr/>
              <a:t>47</a:t>
            </a:fld>
            <a:endParaRPr lang="en-CA" altLang="en-US" sz="1400">
              <a:solidFill>
                <a:srgbClr val="990033"/>
              </a:solidFill>
            </a:endParaRPr>
          </a:p>
        </p:txBody>
      </p:sp>
      <p:sp>
        <p:nvSpPr>
          <p:cNvPr id="107522" name="Rectangle 4">
            <a:extLst>
              <a:ext uri="{FF2B5EF4-FFF2-40B4-BE49-F238E27FC236}">
                <a16:creationId xmlns:a16="http://schemas.microsoft.com/office/drawing/2014/main" id="{47FA86B8-79AE-3DEA-231A-F3A3E7B1F285}"/>
              </a:ext>
            </a:extLst>
          </p:cNvPr>
          <p:cNvSpPr>
            <a:spLocks noGrp="1" noChangeArrowheads="1"/>
          </p:cNvSpPr>
          <p:nvPr>
            <p:ph type="title"/>
          </p:nvPr>
        </p:nvSpPr>
        <p:spPr>
          <a:xfrm>
            <a:off x="228600" y="303213"/>
            <a:ext cx="7796213" cy="992187"/>
          </a:xfrm>
        </p:spPr>
        <p:txBody>
          <a:bodyPr/>
          <a:lstStyle/>
          <a:p>
            <a:pPr eaLnBrk="1" hangingPunct="1"/>
            <a:r>
              <a:rPr lang="en-US" altLang="en-US"/>
              <a:t>Data Modeling Tools (Additional Material )</a:t>
            </a:r>
          </a:p>
        </p:txBody>
      </p:sp>
      <p:sp>
        <p:nvSpPr>
          <p:cNvPr id="107523" name="Rectangle 5">
            <a:extLst>
              <a:ext uri="{FF2B5EF4-FFF2-40B4-BE49-F238E27FC236}">
                <a16:creationId xmlns:a16="http://schemas.microsoft.com/office/drawing/2014/main" id="{D94E0437-45BC-9C72-A904-4D78B4B10DA5}"/>
              </a:ext>
            </a:extLst>
          </p:cNvPr>
          <p:cNvSpPr>
            <a:spLocks noGrp="1" noChangeArrowheads="1"/>
          </p:cNvSpPr>
          <p:nvPr>
            <p:ph type="body" idx="1"/>
          </p:nvPr>
        </p:nvSpPr>
        <p:spPr/>
        <p:txBody>
          <a:bodyPr/>
          <a:lstStyle/>
          <a:p>
            <a:pPr eaLnBrk="1" hangingPunct="1">
              <a:lnSpc>
                <a:spcPct val="90000"/>
              </a:lnSpc>
            </a:pPr>
            <a:r>
              <a:rPr lang="en-US" altLang="en-US" sz="2400"/>
              <a:t>A number of popular tools that cover conceptual modeling and mapping into relational schema design. </a:t>
            </a:r>
          </a:p>
          <a:p>
            <a:pPr lvl="1" eaLnBrk="1" hangingPunct="1">
              <a:lnSpc>
                <a:spcPct val="90000"/>
              </a:lnSpc>
            </a:pPr>
            <a:r>
              <a:rPr lang="en-US" altLang="en-US" sz="2200"/>
              <a:t>Examples: ERWin, S- Designer (Enterprise Application Suite), ER- Studio,  etc.</a:t>
            </a:r>
          </a:p>
          <a:p>
            <a:pPr eaLnBrk="1" hangingPunct="1">
              <a:lnSpc>
                <a:spcPct val="90000"/>
              </a:lnSpc>
            </a:pPr>
            <a:r>
              <a:rPr lang="en-US" altLang="en-US" sz="2400"/>
              <a:t>POSITIVES: </a:t>
            </a:r>
          </a:p>
          <a:p>
            <a:pPr lvl="1" eaLnBrk="1" hangingPunct="1">
              <a:lnSpc>
                <a:spcPct val="90000"/>
              </a:lnSpc>
            </a:pPr>
            <a:r>
              <a:rPr lang="en-US" altLang="en-US" sz="2200"/>
              <a:t>Serves as documentation of application requirements, easy user interface - mostly graphics editor support</a:t>
            </a:r>
          </a:p>
          <a:p>
            <a:pPr eaLnBrk="1" hangingPunct="1">
              <a:lnSpc>
                <a:spcPct val="90000"/>
              </a:lnSpc>
            </a:pPr>
            <a:r>
              <a:rPr lang="en-US" altLang="en-US" sz="2400"/>
              <a:t>NEGATIVES:</a:t>
            </a:r>
          </a:p>
          <a:p>
            <a:pPr lvl="1" eaLnBrk="1" hangingPunct="1">
              <a:lnSpc>
                <a:spcPct val="90000"/>
              </a:lnSpc>
            </a:pPr>
            <a:r>
              <a:rPr lang="en-US" altLang="en-US" sz="2200"/>
              <a:t>Most tools lack a proper distinct notation for relationships with relationship attributes</a:t>
            </a:r>
          </a:p>
          <a:p>
            <a:pPr lvl="1" eaLnBrk="1" hangingPunct="1">
              <a:lnSpc>
                <a:spcPct val="90000"/>
              </a:lnSpc>
            </a:pPr>
            <a:r>
              <a:rPr lang="en-US" altLang="en-US" sz="2200"/>
              <a:t>Mostly represent a relational design in a diagrammatic form rather than a conceptual ER-based design</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Number Placeholder 3">
            <a:extLst>
              <a:ext uri="{FF2B5EF4-FFF2-40B4-BE49-F238E27FC236}">
                <a16:creationId xmlns:a16="http://schemas.microsoft.com/office/drawing/2014/main" id="{67268928-C7D5-1BB3-5BB8-D306A736FC5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6B40B55A-A2D0-42B7-A149-4A037D4983CF}" type="slidenum">
              <a:rPr lang="en-US" altLang="en-US" sz="1400">
                <a:solidFill>
                  <a:srgbClr val="990033"/>
                </a:solidFill>
              </a:rPr>
              <a:pPr/>
              <a:t>48</a:t>
            </a:fld>
            <a:endParaRPr lang="en-CA" altLang="en-US" sz="1400">
              <a:solidFill>
                <a:srgbClr val="990033"/>
              </a:solidFill>
            </a:endParaRPr>
          </a:p>
        </p:txBody>
      </p:sp>
      <p:sp>
        <p:nvSpPr>
          <p:cNvPr id="109570" name="Text Box 2">
            <a:extLst>
              <a:ext uri="{FF2B5EF4-FFF2-40B4-BE49-F238E27FC236}">
                <a16:creationId xmlns:a16="http://schemas.microsoft.com/office/drawing/2014/main" id="{91320923-4AD5-CE36-4058-9D773EDF98D7}"/>
              </a:ext>
            </a:extLst>
          </p:cNvPr>
          <p:cNvSpPr txBox="1">
            <a:spLocks noChangeArrowheads="1"/>
          </p:cNvSpPr>
          <p:nvPr/>
        </p:nvSpPr>
        <p:spPr bwMode="auto">
          <a:xfrm>
            <a:off x="152400" y="396875"/>
            <a:ext cx="8991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3200" dirty="0">
                <a:solidFill>
                  <a:srgbClr val="800000"/>
                </a:solidFill>
              </a:rPr>
              <a:t>Some of the Automated Database Design Tools </a:t>
            </a:r>
            <a:r>
              <a:rPr lang="en-US" altLang="en-US" sz="2000" dirty="0">
                <a:solidFill>
                  <a:srgbClr val="800000"/>
                </a:solidFill>
              </a:rPr>
              <a:t>(Note: Not all may be on the market now)</a:t>
            </a:r>
          </a:p>
        </p:txBody>
      </p:sp>
      <p:graphicFrame>
        <p:nvGraphicFramePr>
          <p:cNvPr id="884809" name="Group 73">
            <a:extLst>
              <a:ext uri="{FF2B5EF4-FFF2-40B4-BE49-F238E27FC236}">
                <a16:creationId xmlns:a16="http://schemas.microsoft.com/office/drawing/2014/main" id="{243D8EA2-784D-5C2B-64BA-A76AC835A8C6}"/>
              </a:ext>
            </a:extLst>
          </p:cNvPr>
          <p:cNvGraphicFramePr>
            <a:graphicFrameLocks noGrp="1"/>
          </p:cNvGraphicFramePr>
          <p:nvPr/>
        </p:nvGraphicFramePr>
        <p:xfrm>
          <a:off x="228600" y="1447800"/>
          <a:ext cx="8664575" cy="5045090"/>
        </p:xfrm>
        <a:graphic>
          <a:graphicData uri="http://schemas.openxmlformats.org/drawingml/2006/table">
            <a:tbl>
              <a:tblPr/>
              <a:tblGrid>
                <a:gridCol w="1446213">
                  <a:extLst>
                    <a:ext uri="{9D8B030D-6E8A-4147-A177-3AD203B41FA5}">
                      <a16:colId xmlns:a16="http://schemas.microsoft.com/office/drawing/2014/main" val="20000"/>
                    </a:ext>
                  </a:extLst>
                </a:gridCol>
                <a:gridCol w="2713037">
                  <a:extLst>
                    <a:ext uri="{9D8B030D-6E8A-4147-A177-3AD203B41FA5}">
                      <a16:colId xmlns:a16="http://schemas.microsoft.com/office/drawing/2014/main" val="20001"/>
                    </a:ext>
                  </a:extLst>
                </a:gridCol>
                <a:gridCol w="4505325">
                  <a:extLst>
                    <a:ext uri="{9D8B030D-6E8A-4147-A177-3AD203B41FA5}">
                      <a16:colId xmlns:a16="http://schemas.microsoft.com/office/drawing/2014/main" val="20002"/>
                    </a:ext>
                  </a:extLst>
                </a:gridCol>
              </a:tblGrid>
              <a:tr h="335253">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COMPANY</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TOOL</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FUNCTIONALITY</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365">
                <a:tc rowSpan="2">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Embarcadero Technologies</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ER Studio</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Modeling in ER and IDEF1X</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092">
                <a:tc v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DB Artisan</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administration, space and security management</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53">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Oracle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Developer 2000/Designer 2000</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Database modeling, application development</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092">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Popkin Software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System Architect 2001</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 modeling, object modeling, process modeling, structured analysis/design</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2293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Platinum (Computer Associates) </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Enterprise Modeling Suite: Erwin, BPWin, Paradigm Plus</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 process, and business component modeling</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092">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Persistence Inc.</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Pwertier</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Mapping from O-O to relational model</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977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Rational (IBM)</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Rational Rose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UML Modeling &amp; application generation in C++/JAVA</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8191">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Resolution Ltd.</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Xcase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Conceptual modeling up to code maintenance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5253">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Sybase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Enterprise Application Suite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 modeling, business logic modeling</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778">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Visio</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Visio Enterprise</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0033"/>
                        </a:buClr>
                        <a:buSzPct val="60000"/>
                        <a:buFont typeface="Wingdings" pitchFamily="2" charset="2"/>
                        <a:buNone/>
                        <a:tabLst/>
                      </a:pPr>
                      <a:r>
                        <a:rPr kumimoji="0" lang="en-US" sz="1600" b="1" i="0" u="none" strike="noStrike" cap="none" normalizeH="0" baseline="0">
                          <a:ln>
                            <a:noFill/>
                          </a:ln>
                          <a:solidFill>
                            <a:schemeClr val="tx2"/>
                          </a:solidFill>
                          <a:effectLst/>
                          <a:latin typeface="Arial Narrow" pitchFamily="34" charset="0"/>
                        </a:rPr>
                        <a:t>Data modeling, design/reengineering Visual Basic/C++</a:t>
                      </a:r>
                    </a:p>
                  </a:txBody>
                  <a:tcPr marT="45707" marB="45707"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Number Placeholder 3">
            <a:extLst>
              <a:ext uri="{FF2B5EF4-FFF2-40B4-BE49-F238E27FC236}">
                <a16:creationId xmlns:a16="http://schemas.microsoft.com/office/drawing/2014/main" id="{CF7C5129-4389-BF6E-E7FD-E920B4B9F4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3- </a:t>
            </a:r>
            <a:fld id="{E4E224C2-1EFC-489D-8883-F99657BF4F1F}" type="slidenum">
              <a:rPr lang="en-US" altLang="en-US" sz="1400">
                <a:solidFill>
                  <a:srgbClr val="990033"/>
                </a:solidFill>
              </a:rPr>
              <a:pPr/>
              <a:t>49</a:t>
            </a:fld>
            <a:endParaRPr lang="en-CA" altLang="en-US" sz="1400">
              <a:solidFill>
                <a:srgbClr val="990033"/>
              </a:solidFill>
            </a:endParaRPr>
          </a:p>
        </p:txBody>
      </p:sp>
      <p:sp>
        <p:nvSpPr>
          <p:cNvPr id="111618" name="Rectangle 4">
            <a:extLst>
              <a:ext uri="{FF2B5EF4-FFF2-40B4-BE49-F238E27FC236}">
                <a16:creationId xmlns:a16="http://schemas.microsoft.com/office/drawing/2014/main" id="{E6DA1E50-DAD4-7739-A748-B7B8E6CB0297}"/>
              </a:ext>
            </a:extLst>
          </p:cNvPr>
          <p:cNvSpPr>
            <a:spLocks noGrp="1" noChangeArrowheads="1"/>
          </p:cNvSpPr>
          <p:nvPr>
            <p:ph type="title"/>
          </p:nvPr>
        </p:nvSpPr>
        <p:spPr>
          <a:xfrm>
            <a:off x="228600" y="303213"/>
            <a:ext cx="7796213" cy="992187"/>
          </a:xfrm>
        </p:spPr>
        <p:txBody>
          <a:bodyPr/>
          <a:lstStyle/>
          <a:p>
            <a:pPr eaLnBrk="1" hangingPunct="1"/>
            <a:r>
              <a:rPr lang="en-US" altLang="en-US"/>
              <a:t>Extended Entity-Relationship (EER) Model (in the next chapter)</a:t>
            </a:r>
          </a:p>
        </p:txBody>
      </p:sp>
      <p:sp>
        <p:nvSpPr>
          <p:cNvPr id="111619" name="Rectangle 5">
            <a:extLst>
              <a:ext uri="{FF2B5EF4-FFF2-40B4-BE49-F238E27FC236}">
                <a16:creationId xmlns:a16="http://schemas.microsoft.com/office/drawing/2014/main" id="{FE85FDE6-002B-D66B-3D43-804550D5CBE7}"/>
              </a:ext>
            </a:extLst>
          </p:cNvPr>
          <p:cNvSpPr>
            <a:spLocks noGrp="1" noChangeArrowheads="1"/>
          </p:cNvSpPr>
          <p:nvPr>
            <p:ph type="body" idx="1"/>
          </p:nvPr>
        </p:nvSpPr>
        <p:spPr/>
        <p:txBody>
          <a:bodyPr/>
          <a:lstStyle/>
          <a:p>
            <a:pPr eaLnBrk="1" hangingPunct="1">
              <a:buFont typeface="Wingdings" panose="05000000000000000000" pitchFamily="2" charset="2"/>
              <a:buNone/>
            </a:pPr>
            <a:endParaRPr lang="en-US" altLang="en-US"/>
          </a:p>
          <a:p>
            <a:pPr eaLnBrk="1" hangingPunct="1"/>
            <a:r>
              <a:rPr lang="en-US" altLang="en-US"/>
              <a:t>The entity relationship model in its original form did not support the specialization and generalization abstractions</a:t>
            </a:r>
          </a:p>
          <a:p>
            <a:pPr eaLnBrk="1" hangingPunct="1"/>
            <a:r>
              <a:rPr lang="en-US" altLang="en-US"/>
              <a:t>Next chapter illustrates how the ER model can be extended with </a:t>
            </a:r>
          </a:p>
          <a:p>
            <a:pPr lvl="1" eaLnBrk="1" hangingPunct="1"/>
            <a:r>
              <a:rPr lang="en-US" altLang="en-US"/>
              <a:t>Type-subtype and set-subset relationships</a:t>
            </a:r>
          </a:p>
          <a:p>
            <a:pPr lvl="1" eaLnBrk="1" hangingPunct="1"/>
            <a:r>
              <a:rPr lang="en-US" altLang="en-US"/>
              <a:t>Specialization/Generalization Hierarchies</a:t>
            </a:r>
          </a:p>
          <a:p>
            <a:pPr lvl="1" eaLnBrk="1" hangingPunct="1"/>
            <a:r>
              <a:rPr lang="en-US" altLang="en-US"/>
              <a:t>Notation to display them in EER diagrams</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13B05-21A2-2EA7-C947-4AE8D822AFAA}"/>
              </a:ext>
            </a:extLst>
          </p:cNvPr>
          <p:cNvSpPr>
            <a:spLocks noGrp="1"/>
          </p:cNvSpPr>
          <p:nvPr>
            <p:ph type="title"/>
          </p:nvPr>
        </p:nvSpPr>
        <p:spPr>
          <a:xfrm>
            <a:off x="228600" y="303213"/>
            <a:ext cx="7796213" cy="992187"/>
          </a:xfrm>
        </p:spPr>
        <p:txBody>
          <a:bodyPr/>
          <a:lstStyle/>
          <a:p>
            <a:r>
              <a:rPr lang="en-US" dirty="0"/>
              <a:t>Discussion 4: </a:t>
            </a:r>
            <a:br>
              <a:rPr lang="en-US" dirty="0"/>
            </a:br>
            <a:r>
              <a:rPr lang="en-US" spc="-38" dirty="0">
                <a:latin typeface="Calibri"/>
                <a:cs typeface="Calibri"/>
              </a:rPr>
              <a:t>ER Diagram for Pet Adoption Center</a:t>
            </a:r>
            <a:endParaRPr lang="en-US" dirty="0"/>
          </a:p>
        </p:txBody>
      </p:sp>
      <p:sp>
        <p:nvSpPr>
          <p:cNvPr id="3" name="Text Placeholder 2">
            <a:extLst>
              <a:ext uri="{FF2B5EF4-FFF2-40B4-BE49-F238E27FC236}">
                <a16:creationId xmlns:a16="http://schemas.microsoft.com/office/drawing/2014/main" id="{9C96A130-C637-64C5-FCEE-C527D3042563}"/>
              </a:ext>
            </a:extLst>
          </p:cNvPr>
          <p:cNvSpPr>
            <a:spLocks noGrp="1"/>
          </p:cNvSpPr>
          <p:nvPr>
            <p:ph type="body" idx="1"/>
          </p:nvPr>
        </p:nvSpPr>
        <p:spPr>
          <a:xfrm>
            <a:off x="239713" y="1752600"/>
            <a:ext cx="8294687" cy="5029200"/>
          </a:xfrm>
        </p:spPr>
        <p:txBody>
          <a:bodyPr>
            <a:normAutofit fontScale="70000" lnSpcReduction="20000"/>
          </a:bodyPr>
          <a:lstStyle/>
          <a:p>
            <a:pPr marL="352425">
              <a:spcBef>
                <a:spcPts val="439"/>
              </a:spcBef>
              <a:tabLst>
                <a:tab pos="180499" algn="l"/>
              </a:tabLst>
            </a:pPr>
            <a:r>
              <a:rPr lang="en-US" dirty="0">
                <a:latin typeface="Calibri"/>
                <a:cs typeface="Calibri"/>
              </a:rPr>
              <a:t>Go</a:t>
            </a:r>
            <a:r>
              <a:rPr lang="en-US" spc="-56" dirty="0">
                <a:latin typeface="Calibri"/>
                <a:cs typeface="Calibri"/>
              </a:rPr>
              <a:t> </a:t>
            </a:r>
            <a:r>
              <a:rPr lang="en-US" dirty="0">
                <a:latin typeface="Calibri"/>
                <a:cs typeface="Calibri"/>
              </a:rPr>
              <a:t>to</a:t>
            </a:r>
            <a:r>
              <a:rPr lang="en-US" spc="-53" dirty="0">
                <a:latin typeface="Calibri"/>
                <a:cs typeface="Calibri"/>
              </a:rPr>
              <a:t> </a:t>
            </a:r>
            <a:r>
              <a:rPr lang="en-US" dirty="0">
                <a:latin typeface="Calibri"/>
                <a:cs typeface="Calibri"/>
              </a:rPr>
              <a:t>Canvas</a:t>
            </a:r>
            <a:r>
              <a:rPr lang="en-US" spc="-53" dirty="0">
                <a:latin typeface="Calibri"/>
                <a:cs typeface="Calibri"/>
              </a:rPr>
              <a:t> </a:t>
            </a:r>
            <a:r>
              <a:rPr lang="en-US" dirty="0">
                <a:latin typeface="Calibri"/>
                <a:cs typeface="Calibri"/>
              </a:rPr>
              <a:t>Discussion</a:t>
            </a:r>
            <a:r>
              <a:rPr lang="en-US" spc="-41" dirty="0">
                <a:latin typeface="Calibri"/>
                <a:cs typeface="Calibri"/>
              </a:rPr>
              <a:t> </a:t>
            </a:r>
            <a:r>
              <a:rPr lang="en-US" spc="-38" dirty="0">
                <a:latin typeface="Calibri"/>
                <a:cs typeface="Calibri"/>
              </a:rPr>
              <a:t>4</a:t>
            </a:r>
          </a:p>
          <a:p>
            <a:pPr marL="752475" lvl="1">
              <a:spcBef>
                <a:spcPts val="439"/>
              </a:spcBef>
              <a:tabLst>
                <a:tab pos="180499" algn="l"/>
              </a:tabLst>
            </a:pPr>
            <a:r>
              <a:rPr lang="en-US" spc="-38" dirty="0">
                <a:latin typeface="Calibri"/>
                <a:cs typeface="Calibri"/>
              </a:rPr>
              <a:t>You have been hired as a database consultant to design a database for a pet adoption center. The center needs a system to manage its animals and the adoption process.</a:t>
            </a:r>
          </a:p>
          <a:p>
            <a:pPr marL="752475" lvl="1">
              <a:spcBef>
                <a:spcPts val="439"/>
              </a:spcBef>
              <a:tabLst>
                <a:tab pos="180499" algn="l"/>
              </a:tabLst>
            </a:pPr>
            <a:r>
              <a:rPr lang="en-US" spc="-38" dirty="0">
                <a:latin typeface="Calibri"/>
                <a:cs typeface="Calibri"/>
              </a:rPr>
              <a:t>The pet adoption center has various animals available for adoption. Each animal has a unique ID and information such as name, species, breed, age, and health status.</a:t>
            </a:r>
          </a:p>
          <a:p>
            <a:pPr marL="752475" lvl="1">
              <a:spcBef>
                <a:spcPts val="439"/>
              </a:spcBef>
              <a:tabLst>
                <a:tab pos="180499" algn="l"/>
              </a:tabLst>
            </a:pPr>
            <a:r>
              <a:rPr lang="en-US" spc="-38" dirty="0">
                <a:latin typeface="Calibri"/>
                <a:cs typeface="Calibri"/>
              </a:rPr>
              <a:t>The center also records information about adopters. Each adopter has a unique adopter ID, and the center keeps track of their name, address, phone number, and email.</a:t>
            </a:r>
          </a:p>
          <a:p>
            <a:pPr marL="752475" lvl="1">
              <a:spcBef>
                <a:spcPts val="439"/>
              </a:spcBef>
              <a:tabLst>
                <a:tab pos="180499" algn="l"/>
              </a:tabLst>
            </a:pPr>
            <a:r>
              <a:rPr lang="en-US" spc="-38" dirty="0">
                <a:latin typeface="Calibri"/>
                <a:cs typeface="Calibri"/>
              </a:rPr>
              <a:t>When an animal is adopted, the system needs to record which adopter adopted which animal and the adoption date. Each animal can only be adopted by one adopter, but an adopter can adopt multiple animals.</a:t>
            </a:r>
          </a:p>
          <a:p>
            <a:pPr marL="352425">
              <a:spcBef>
                <a:spcPts val="439"/>
              </a:spcBef>
              <a:tabLst>
                <a:tab pos="180499" algn="l"/>
              </a:tabLst>
            </a:pPr>
            <a:r>
              <a:rPr lang="en-US" spc="-38" dirty="0">
                <a:latin typeface="Calibri"/>
                <a:cs typeface="Calibri"/>
              </a:rPr>
              <a:t>Instructions:</a:t>
            </a:r>
          </a:p>
          <a:p>
            <a:pPr marL="752475" lvl="1">
              <a:spcBef>
                <a:spcPts val="439"/>
              </a:spcBef>
              <a:tabLst>
                <a:tab pos="180499" algn="l"/>
              </a:tabLst>
            </a:pPr>
            <a:r>
              <a:rPr lang="en-US" spc="-38" dirty="0">
                <a:latin typeface="Calibri"/>
                <a:cs typeface="Calibri"/>
              </a:rPr>
              <a:t>Identify the entities, their attributes, along with primary key, relationships between the entities and </a:t>
            </a:r>
          </a:p>
          <a:p>
            <a:pPr marL="752475" lvl="1">
              <a:spcBef>
                <a:spcPts val="439"/>
              </a:spcBef>
              <a:tabLst>
                <a:tab pos="180499" algn="l"/>
              </a:tabLst>
            </a:pPr>
            <a:r>
              <a:rPr lang="en-US" spc="-38" dirty="0">
                <a:latin typeface="Calibri"/>
                <a:cs typeface="Calibri"/>
              </a:rPr>
              <a:t>draw a (Hand Written) Entity-Relationship (ER) diagram that includes all identified entities, their attributes, and relationships. Use appropriate symbols for entities, attributes, and relationships. Determine if there are any weak entities and their identifying relationships.</a:t>
            </a:r>
          </a:p>
        </p:txBody>
      </p:sp>
      <p:sp>
        <p:nvSpPr>
          <p:cNvPr id="6" name="Slide Number Placeholder 5">
            <a:extLst>
              <a:ext uri="{FF2B5EF4-FFF2-40B4-BE49-F238E27FC236}">
                <a16:creationId xmlns:a16="http://schemas.microsoft.com/office/drawing/2014/main" id="{0E596B73-11EF-8CF1-F0B1-559B5997BE18}"/>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50</a:t>
            </a:fld>
            <a:endParaRPr lang="en-US" spc="-19" dirty="0"/>
          </a:p>
        </p:txBody>
      </p:sp>
    </p:spTree>
    <p:extLst>
      <p:ext uri="{BB962C8B-B14F-4D97-AF65-F5344CB8AC3E}">
        <p14:creationId xmlns:p14="http://schemas.microsoft.com/office/powerpoint/2010/main" val="32181699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51</a:t>
            </a:fld>
            <a:endParaRPr spc="-19" dirty="0"/>
          </a:p>
        </p:txBody>
      </p:sp>
      <p:sp>
        <p:nvSpPr>
          <p:cNvPr id="2" name="object 2"/>
          <p:cNvSpPr txBox="1">
            <a:spLocks noGrp="1"/>
          </p:cNvSpPr>
          <p:nvPr>
            <p:ph type="title"/>
          </p:nvPr>
        </p:nvSpPr>
        <p:spPr>
          <a:xfrm>
            <a:off x="228600" y="2057400"/>
            <a:ext cx="8175308" cy="3472104"/>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spc="83" dirty="0"/>
              <a:t>Break (4:30 PM – 4:50 PM)</a:t>
            </a:r>
            <a:br>
              <a:rPr lang="en-US" sz="4500" spc="83" dirty="0"/>
            </a:br>
            <a:br>
              <a:rPr lang="en-US" sz="4500" spc="83" dirty="0"/>
            </a:br>
            <a:r>
              <a:rPr lang="en-US" sz="4500" spc="83" dirty="0"/>
              <a:t>Please be punctual in returning so that we restart on time</a:t>
            </a:r>
            <a:endParaRPr sz="4500" dirty="0"/>
          </a:p>
        </p:txBody>
      </p:sp>
      <p:sp>
        <p:nvSpPr>
          <p:cNvPr id="4" name="Date Placeholder 3">
            <a:extLst>
              <a:ext uri="{FF2B5EF4-FFF2-40B4-BE49-F238E27FC236}">
                <a16:creationId xmlns:a16="http://schemas.microsoft.com/office/drawing/2014/main" id="{80A05E93-C7FA-AE8A-90D2-09E5FF8684C4}"/>
              </a:ext>
            </a:extLst>
          </p:cNvPr>
          <p:cNvSpPr>
            <a:spLocks noGrp="1"/>
          </p:cNvSpPr>
          <p:nvPr>
            <p:ph type="dt" sz="half" idx="6"/>
          </p:nvPr>
        </p:nvSpPr>
        <p:spPr>
          <a:xfrm>
            <a:off x="609600" y="6377940"/>
            <a:ext cx="1066800" cy="276999"/>
          </a:xfrm>
          <a:prstGeom prst="rect">
            <a:avLst/>
          </a:prstGeom>
        </p:spPr>
        <p:txBody>
          <a:bodyPr wrap="square" lIns="0" tIns="0" rIns="0" bIns="0">
            <a:spAutoFit/>
          </a:bodyPr>
          <a:lstStyle>
            <a:defPPr>
              <a:defRPr kern="0"/>
            </a:defPPr>
            <a:lvl1pPr algn="l">
              <a:defRPr>
                <a:solidFill>
                  <a:schemeClr val="tx1">
                    <a:tint val="75000"/>
                  </a:schemeClr>
                </a:solidFill>
              </a:defRPr>
            </a:lvl1pPr>
          </a:lstStyle>
          <a:p>
            <a:r>
              <a:rPr lang="en-US"/>
              <a:t>CS 5200</a:t>
            </a:r>
            <a:endParaRPr lang="en-US" dirty="0"/>
          </a:p>
        </p:txBody>
      </p:sp>
      <p:sp>
        <p:nvSpPr>
          <p:cNvPr id="5" name="Footer Placeholder 4">
            <a:extLst>
              <a:ext uri="{FF2B5EF4-FFF2-40B4-BE49-F238E27FC236}">
                <a16:creationId xmlns:a16="http://schemas.microsoft.com/office/drawing/2014/main" id="{26FC37FD-CED9-B6A2-BF8B-DE087E0C9C78}"/>
              </a:ext>
            </a:extLst>
          </p:cNvPr>
          <p:cNvSpPr>
            <a:spLocks noGrp="1"/>
          </p:cNvSpPr>
          <p:nvPr>
            <p:ph type="ftr" sz="quarter" idx="5"/>
          </p:nvPr>
        </p:nvSpPr>
        <p:spPr>
          <a:xfrm>
            <a:off x="2209800" y="6420611"/>
            <a:ext cx="8001000" cy="276999"/>
          </a:xfrm>
          <a:prstGeom prst="rect">
            <a:avLst/>
          </a:prstGeom>
        </p:spPr>
        <p:txBody>
          <a:bodyPr wrap="square" lIns="0" tIns="0" rIns="0" bIns="0">
            <a:spAutoFit/>
          </a:bodyPr>
          <a:lstStyle>
            <a:defPPr>
              <a:defRPr kern="0"/>
            </a:defPPr>
            <a:lvl1pPr algn="ctr">
              <a:defRPr>
                <a:solidFill>
                  <a:schemeClr val="tx1">
                    <a:tint val="75000"/>
                  </a:schemeClr>
                </a:solidFill>
              </a:defRPr>
            </a:lvl1pPr>
          </a:lstStyle>
          <a:p>
            <a:r>
              <a:rPr lang="en-US"/>
              <a:t>Northeastern University</a:t>
            </a:r>
            <a:endParaRPr lang="en-US" dirty="0"/>
          </a:p>
        </p:txBody>
      </p:sp>
    </p:spTree>
    <p:extLst>
      <p:ext uri="{BB962C8B-B14F-4D97-AF65-F5344CB8AC3E}">
        <p14:creationId xmlns:p14="http://schemas.microsoft.com/office/powerpoint/2010/main" val="2113083631"/>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120D2614-3B36-18C2-8933-4EA993EF1AB8}"/>
              </a:ext>
            </a:extLst>
          </p:cNvPr>
          <p:cNvSpPr>
            <a:spLocks noGrp="1"/>
          </p:cNvSpPr>
          <p:nvPr>
            <p:ph type="title"/>
          </p:nvPr>
        </p:nvSpPr>
        <p:spPr/>
        <p:txBody>
          <a:bodyPr/>
          <a:lstStyle/>
          <a:p>
            <a:r>
              <a:rPr lang="en-US" altLang="en-US"/>
              <a:t> </a:t>
            </a:r>
          </a:p>
        </p:txBody>
      </p:sp>
      <p:sp>
        <p:nvSpPr>
          <p:cNvPr id="3" name="Content Placeholder 2">
            <a:extLst>
              <a:ext uri="{FF2B5EF4-FFF2-40B4-BE49-F238E27FC236}">
                <a16:creationId xmlns:a16="http://schemas.microsoft.com/office/drawing/2014/main" id="{62BEA868-6254-A746-F947-F44AB4F29953}"/>
              </a:ext>
            </a:extLst>
          </p:cNvPr>
          <p:cNvSpPr>
            <a:spLocks noGrp="1"/>
          </p:cNvSpPr>
          <p:nvPr>
            <p:ph idx="1"/>
          </p:nvPr>
        </p:nvSpPr>
        <p:spPr/>
        <p:txBody>
          <a:bodyPr/>
          <a:lstStyle/>
          <a:p>
            <a:pPr>
              <a:defRPr/>
            </a:pPr>
            <a:endParaRPr lang="en-US" dirty="0">
              <a:ea typeface="+mn-ea"/>
            </a:endParaRPr>
          </a:p>
          <a:p>
            <a:pPr>
              <a:defRPr/>
            </a:pPr>
            <a:endParaRPr lang="en-US" dirty="0">
              <a:ea typeface="+mn-ea"/>
            </a:endParaRPr>
          </a:p>
          <a:p>
            <a:pPr>
              <a:defRPr/>
            </a:pPr>
            <a:endParaRPr lang="en-US" dirty="0">
              <a:ea typeface="+mn-ea"/>
            </a:endParaRPr>
          </a:p>
          <a:p>
            <a:pPr marL="0" indent="0" algn="ctr">
              <a:buFont typeface="Wingdings" panose="05000000000000000000" pitchFamily="2" charset="2"/>
              <a:buNone/>
              <a:defRPr/>
            </a:pPr>
            <a:r>
              <a:rPr lang="en-US" sz="3200" b="1" dirty="0">
                <a:ea typeface="+mn-ea"/>
              </a:rPr>
              <a:t>CHAPTER 4</a:t>
            </a:r>
          </a:p>
          <a:p>
            <a:pPr marL="0" indent="0" algn="ctr">
              <a:buFont typeface="Wingdings" panose="05000000000000000000" pitchFamily="2" charset="2"/>
              <a:buNone/>
              <a:defRPr/>
            </a:pPr>
            <a:endParaRPr lang="en-US" sz="3200" b="1" dirty="0">
              <a:ea typeface="+mn-ea"/>
            </a:endParaRPr>
          </a:p>
          <a:p>
            <a:pPr algn="ctr" eaLnBrk="1" hangingPunct="1">
              <a:buFont typeface="Wingdings" charset="0"/>
              <a:buNone/>
              <a:defRPr/>
            </a:pPr>
            <a:r>
              <a:rPr lang="en-US" sz="3600" dirty="0">
                <a:ea typeface="ＭＳ Ｐゴシック" charset="0"/>
              </a:rPr>
              <a:t>Enhanced Entity-Relationship </a:t>
            </a:r>
            <a:br>
              <a:rPr lang="en-US" sz="3600" dirty="0">
                <a:ea typeface="ＭＳ Ｐゴシック" charset="0"/>
              </a:rPr>
            </a:br>
            <a:r>
              <a:rPr lang="en-US" sz="3600" dirty="0">
                <a:ea typeface="ＭＳ Ｐゴシック" charset="0"/>
              </a:rPr>
              <a:t>(EER) Modeling</a:t>
            </a:r>
          </a:p>
        </p:txBody>
      </p:sp>
      <p:sp>
        <p:nvSpPr>
          <p:cNvPr id="17411" name="Slide Number Placeholder 3">
            <a:extLst>
              <a:ext uri="{FF2B5EF4-FFF2-40B4-BE49-F238E27FC236}">
                <a16:creationId xmlns:a16="http://schemas.microsoft.com/office/drawing/2014/main" id="{A80E9F77-413D-4ED6-6A07-6A04088B94C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1- </a:t>
            </a:r>
            <a:fld id="{6C0DA3BE-B24F-4B7C-A028-502DBDFF23BB}" type="slidenum">
              <a:rPr lang="en-US" altLang="en-US" sz="1400">
                <a:solidFill>
                  <a:srgbClr val="990033"/>
                </a:solidFill>
              </a:rPr>
              <a:pPr/>
              <a:t>52</a:t>
            </a:fld>
            <a:endParaRPr lang="en-CA" altLang="en-US" sz="1400">
              <a:solidFill>
                <a:srgbClr val="990033"/>
              </a:solidFill>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3">
            <a:extLst>
              <a:ext uri="{FF2B5EF4-FFF2-40B4-BE49-F238E27FC236}">
                <a16:creationId xmlns:a16="http://schemas.microsoft.com/office/drawing/2014/main" id="{A409414B-F4B8-BFEB-DBE7-A9664ABF26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709FC92E-3CBA-498C-BEBA-8A048B12A0DA}" type="slidenum">
              <a:rPr lang="en-US" altLang="en-US" sz="1400">
                <a:solidFill>
                  <a:srgbClr val="990033"/>
                </a:solidFill>
              </a:rPr>
              <a:pPr/>
              <a:t>53</a:t>
            </a:fld>
            <a:endParaRPr lang="en-CA" altLang="en-US" sz="1400">
              <a:solidFill>
                <a:srgbClr val="990033"/>
              </a:solidFill>
            </a:endParaRPr>
          </a:p>
        </p:txBody>
      </p:sp>
      <p:sp>
        <p:nvSpPr>
          <p:cNvPr id="19458" name="Rectangle 4">
            <a:extLst>
              <a:ext uri="{FF2B5EF4-FFF2-40B4-BE49-F238E27FC236}">
                <a16:creationId xmlns:a16="http://schemas.microsoft.com/office/drawing/2014/main" id="{AE8DB116-2BA1-680A-2429-7E090B14CE65}"/>
              </a:ext>
            </a:extLst>
          </p:cNvPr>
          <p:cNvSpPr>
            <a:spLocks noGrp="1" noChangeArrowheads="1"/>
          </p:cNvSpPr>
          <p:nvPr>
            <p:ph type="title"/>
          </p:nvPr>
        </p:nvSpPr>
        <p:spPr/>
        <p:txBody>
          <a:bodyPr/>
          <a:lstStyle/>
          <a:p>
            <a:pPr eaLnBrk="1" hangingPunct="1"/>
            <a:r>
              <a:rPr lang="en-US" altLang="en-US"/>
              <a:t>Chapter Outline</a:t>
            </a:r>
          </a:p>
        </p:txBody>
      </p:sp>
      <p:sp>
        <p:nvSpPr>
          <p:cNvPr id="19459" name="Rectangle 5">
            <a:extLst>
              <a:ext uri="{FF2B5EF4-FFF2-40B4-BE49-F238E27FC236}">
                <a16:creationId xmlns:a16="http://schemas.microsoft.com/office/drawing/2014/main" id="{57221B86-2A0D-5813-48C4-E1481A0170C8}"/>
              </a:ext>
            </a:extLst>
          </p:cNvPr>
          <p:cNvSpPr>
            <a:spLocks noGrp="1" noChangeArrowheads="1"/>
          </p:cNvSpPr>
          <p:nvPr>
            <p:ph type="body" idx="1"/>
          </p:nvPr>
        </p:nvSpPr>
        <p:spPr/>
        <p:txBody>
          <a:bodyPr/>
          <a:lstStyle/>
          <a:p>
            <a:pPr eaLnBrk="1" hangingPunct="1">
              <a:lnSpc>
                <a:spcPct val="80000"/>
              </a:lnSpc>
            </a:pPr>
            <a:r>
              <a:rPr lang="en-US" altLang="en-US" sz="2400"/>
              <a:t>EER stands for Enhanced ER or Extended ER</a:t>
            </a:r>
          </a:p>
          <a:p>
            <a:pPr eaLnBrk="1" hangingPunct="1">
              <a:lnSpc>
                <a:spcPct val="80000"/>
              </a:lnSpc>
            </a:pPr>
            <a:r>
              <a:rPr lang="en-US" altLang="en-US" sz="2400"/>
              <a:t>EER Model Concepts</a:t>
            </a:r>
          </a:p>
          <a:p>
            <a:pPr lvl="1" eaLnBrk="1" hangingPunct="1">
              <a:lnSpc>
                <a:spcPct val="80000"/>
              </a:lnSpc>
            </a:pPr>
            <a:r>
              <a:rPr lang="en-US" altLang="en-US" sz="2200"/>
              <a:t>Includes all modeling concepts of basic ER </a:t>
            </a:r>
          </a:p>
          <a:p>
            <a:pPr lvl="1" eaLnBrk="1" hangingPunct="1">
              <a:lnSpc>
                <a:spcPct val="80000"/>
              </a:lnSpc>
            </a:pPr>
            <a:r>
              <a:rPr lang="en-US" altLang="en-US" sz="2200"/>
              <a:t>Additional concepts: </a:t>
            </a:r>
          </a:p>
          <a:p>
            <a:pPr lvl="2" eaLnBrk="1" hangingPunct="1">
              <a:lnSpc>
                <a:spcPct val="80000"/>
              </a:lnSpc>
            </a:pPr>
            <a:r>
              <a:rPr lang="en-US" altLang="en-US" sz="2000"/>
              <a:t>subclasses/superclasses</a:t>
            </a:r>
          </a:p>
          <a:p>
            <a:pPr lvl="2" eaLnBrk="1" hangingPunct="1">
              <a:lnSpc>
                <a:spcPct val="80000"/>
              </a:lnSpc>
            </a:pPr>
            <a:r>
              <a:rPr lang="en-US" altLang="en-US" sz="2000"/>
              <a:t>specialization/generalization</a:t>
            </a:r>
          </a:p>
          <a:p>
            <a:pPr lvl="2" eaLnBrk="1" hangingPunct="1">
              <a:lnSpc>
                <a:spcPct val="80000"/>
              </a:lnSpc>
            </a:pPr>
            <a:r>
              <a:rPr lang="en-US" altLang="en-US" sz="2000"/>
              <a:t>categories (UNION types)</a:t>
            </a:r>
          </a:p>
          <a:p>
            <a:pPr lvl="2" eaLnBrk="1" hangingPunct="1">
              <a:lnSpc>
                <a:spcPct val="80000"/>
              </a:lnSpc>
            </a:pPr>
            <a:r>
              <a:rPr lang="en-US" altLang="en-US" sz="2000"/>
              <a:t>attribute and relationship inheritance</a:t>
            </a:r>
          </a:p>
          <a:p>
            <a:pPr lvl="1" eaLnBrk="1" hangingPunct="1">
              <a:lnSpc>
                <a:spcPct val="80000"/>
              </a:lnSpc>
            </a:pPr>
            <a:r>
              <a:rPr lang="en-US" altLang="en-US" sz="2200"/>
              <a:t>Constraints on Specialization/Generalization</a:t>
            </a:r>
          </a:p>
          <a:p>
            <a:pPr eaLnBrk="1" hangingPunct="1">
              <a:lnSpc>
                <a:spcPct val="80000"/>
              </a:lnSpc>
            </a:pPr>
            <a:r>
              <a:rPr lang="en-US" altLang="en-US" sz="2400"/>
              <a:t>The additional EER concepts are used to model applications more completely and more accurately</a:t>
            </a:r>
          </a:p>
          <a:p>
            <a:pPr lvl="1" eaLnBrk="1" hangingPunct="1">
              <a:lnSpc>
                <a:spcPct val="80000"/>
              </a:lnSpc>
            </a:pPr>
            <a:r>
              <a:rPr lang="en-US" altLang="en-US" sz="2200"/>
              <a:t>EER includes some object-oriented concepts, such as inheritance</a:t>
            </a:r>
          </a:p>
          <a:p>
            <a:pPr eaLnBrk="1" hangingPunct="1">
              <a:lnSpc>
                <a:spcPct val="80000"/>
              </a:lnSpc>
            </a:pPr>
            <a:r>
              <a:rPr lang="en-US" altLang="en-US" sz="2400"/>
              <a:t>Knowledge Representation and Ontology Concepts</a:t>
            </a:r>
            <a:endParaRPr lang="en-US" altLang="en-US"/>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3">
            <a:extLst>
              <a:ext uri="{FF2B5EF4-FFF2-40B4-BE49-F238E27FC236}">
                <a16:creationId xmlns:a16="http://schemas.microsoft.com/office/drawing/2014/main" id="{EF7C3C57-E2D3-0FD3-BE2A-04FD057552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A7528249-C2C0-4D8C-8C79-B4F8F47C480C}" type="slidenum">
              <a:rPr lang="en-US" altLang="en-US" sz="1400">
                <a:solidFill>
                  <a:srgbClr val="990033"/>
                </a:solidFill>
              </a:rPr>
              <a:pPr/>
              <a:t>54</a:t>
            </a:fld>
            <a:endParaRPr lang="en-CA" altLang="en-US" sz="1400">
              <a:solidFill>
                <a:srgbClr val="990033"/>
              </a:solidFill>
            </a:endParaRPr>
          </a:p>
        </p:txBody>
      </p:sp>
      <p:sp>
        <p:nvSpPr>
          <p:cNvPr id="21506" name="Rectangle 4">
            <a:extLst>
              <a:ext uri="{FF2B5EF4-FFF2-40B4-BE49-F238E27FC236}">
                <a16:creationId xmlns:a16="http://schemas.microsoft.com/office/drawing/2014/main" id="{54FBC6A3-1910-63D7-95B4-CE38AA82FC0B}"/>
              </a:ext>
            </a:extLst>
          </p:cNvPr>
          <p:cNvSpPr>
            <a:spLocks noGrp="1" noChangeArrowheads="1"/>
          </p:cNvSpPr>
          <p:nvPr>
            <p:ph type="title"/>
          </p:nvPr>
        </p:nvSpPr>
        <p:spPr/>
        <p:txBody>
          <a:bodyPr/>
          <a:lstStyle/>
          <a:p>
            <a:pPr eaLnBrk="1" hangingPunct="1"/>
            <a:r>
              <a:rPr lang="en-US" altLang="en-US"/>
              <a:t>Subclasses and Superclasses (1)</a:t>
            </a:r>
          </a:p>
        </p:txBody>
      </p:sp>
      <p:sp>
        <p:nvSpPr>
          <p:cNvPr id="21507" name="Rectangle 5">
            <a:extLst>
              <a:ext uri="{FF2B5EF4-FFF2-40B4-BE49-F238E27FC236}">
                <a16:creationId xmlns:a16="http://schemas.microsoft.com/office/drawing/2014/main" id="{B8DD3312-1B58-B5C5-B4C4-713A9862EFAC}"/>
              </a:ext>
            </a:extLst>
          </p:cNvPr>
          <p:cNvSpPr>
            <a:spLocks noGrp="1" noChangeArrowheads="1"/>
          </p:cNvSpPr>
          <p:nvPr>
            <p:ph type="body" idx="1"/>
          </p:nvPr>
        </p:nvSpPr>
        <p:spPr/>
        <p:txBody>
          <a:bodyPr/>
          <a:lstStyle/>
          <a:p>
            <a:pPr eaLnBrk="1" hangingPunct="1"/>
            <a:r>
              <a:rPr lang="en-US" altLang="en-US" sz="2400"/>
              <a:t>An entity type may have additional meaningful subgroupings of its entities</a:t>
            </a:r>
          </a:p>
          <a:p>
            <a:pPr lvl="1" eaLnBrk="1" hangingPunct="1"/>
            <a:r>
              <a:rPr lang="en-US" altLang="en-US" sz="2200"/>
              <a:t>Example: EMPLOYEE may be further grouped into: </a:t>
            </a:r>
          </a:p>
          <a:p>
            <a:pPr lvl="2" eaLnBrk="1" hangingPunct="1"/>
            <a:r>
              <a:rPr lang="en-US" altLang="en-US" sz="2000"/>
              <a:t>SECRETARY, ENGINEER, TECHNICIAN, …</a:t>
            </a:r>
          </a:p>
          <a:p>
            <a:pPr lvl="3" eaLnBrk="1" hangingPunct="1"/>
            <a:r>
              <a:rPr lang="en-US" altLang="en-US" sz="1800"/>
              <a:t>Based on the EMPLOYEE’s Job</a:t>
            </a:r>
          </a:p>
          <a:p>
            <a:pPr lvl="2" eaLnBrk="1" hangingPunct="1"/>
            <a:r>
              <a:rPr lang="en-US" altLang="en-US" sz="2000"/>
              <a:t>MANAGER</a:t>
            </a:r>
          </a:p>
          <a:p>
            <a:pPr lvl="3" eaLnBrk="1" hangingPunct="1"/>
            <a:r>
              <a:rPr lang="en-US" altLang="en-US" sz="1800"/>
              <a:t>EMPLOYEEs who are managers (the role they play)</a:t>
            </a:r>
          </a:p>
          <a:p>
            <a:pPr lvl="2" eaLnBrk="1" hangingPunct="1"/>
            <a:r>
              <a:rPr lang="en-US" altLang="en-US" sz="2000"/>
              <a:t>SALARIED_EMPLOYEE, HOURLY_EMPLOYEE</a:t>
            </a:r>
          </a:p>
          <a:p>
            <a:pPr lvl="3" eaLnBrk="1" hangingPunct="1"/>
            <a:r>
              <a:rPr lang="en-US" altLang="en-US" sz="1800"/>
              <a:t>Based on the EMPLOYEE’s method of pay</a:t>
            </a:r>
          </a:p>
          <a:p>
            <a:pPr eaLnBrk="1" hangingPunct="1"/>
            <a:r>
              <a:rPr lang="en-US" altLang="en-US" sz="2400"/>
              <a:t>EER diagrams extend ER diagrams to represent these additional subgroupings, called </a:t>
            </a:r>
            <a:r>
              <a:rPr lang="en-US" altLang="en-US" sz="2400" i="1"/>
              <a:t>subclasses</a:t>
            </a:r>
            <a:r>
              <a:rPr lang="en-US" altLang="en-US" sz="2400"/>
              <a:t> or </a:t>
            </a:r>
            <a:r>
              <a:rPr lang="en-US" altLang="en-US" sz="2400" i="1"/>
              <a:t>subtypes</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3">
            <a:extLst>
              <a:ext uri="{FF2B5EF4-FFF2-40B4-BE49-F238E27FC236}">
                <a16:creationId xmlns:a16="http://schemas.microsoft.com/office/drawing/2014/main" id="{3D886823-4D71-AC7E-0A82-286925F3330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98000C90-C0D0-4A9A-AEB6-326F98ACF086}" type="slidenum">
              <a:rPr lang="en-US" altLang="en-US" sz="1400">
                <a:solidFill>
                  <a:srgbClr val="990033"/>
                </a:solidFill>
              </a:rPr>
              <a:pPr/>
              <a:t>55</a:t>
            </a:fld>
            <a:endParaRPr lang="en-CA" altLang="en-US" sz="1400">
              <a:solidFill>
                <a:srgbClr val="990033"/>
              </a:solidFill>
            </a:endParaRPr>
          </a:p>
        </p:txBody>
      </p:sp>
      <p:pic>
        <p:nvPicPr>
          <p:cNvPr id="23554" name="Picture 3" descr="fig04_01">
            <a:extLst>
              <a:ext uri="{FF2B5EF4-FFF2-40B4-BE49-F238E27FC236}">
                <a16:creationId xmlns:a16="http://schemas.microsoft.com/office/drawing/2014/main" id="{D2EDB505-3472-0828-6493-BE1FDB9DD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19250"/>
            <a:ext cx="746760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4" descr="Pink tissue paper">
            <a:extLst>
              <a:ext uri="{FF2B5EF4-FFF2-40B4-BE49-F238E27FC236}">
                <a16:creationId xmlns:a16="http://schemas.microsoft.com/office/drawing/2014/main" id="{6FC74737-15A9-2FAC-EA4C-3B48241483C4}"/>
              </a:ext>
            </a:extLst>
          </p:cNvPr>
          <p:cNvSpPr txBox="1">
            <a:spLocks noChangeArrowheads="1"/>
          </p:cNvSpPr>
          <p:nvPr/>
        </p:nvSpPr>
        <p:spPr bwMode="auto">
          <a:xfrm>
            <a:off x="838200" y="593725"/>
            <a:ext cx="701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3200">
                <a:solidFill>
                  <a:srgbClr val="800000"/>
                </a:solidFill>
              </a:rPr>
              <a:t>Subclasses and Superclasses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3">
            <a:extLst>
              <a:ext uri="{FF2B5EF4-FFF2-40B4-BE49-F238E27FC236}">
                <a16:creationId xmlns:a16="http://schemas.microsoft.com/office/drawing/2014/main" id="{2E40C9D5-E8C4-0196-6309-6C18CCDC0B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F08C9867-37C9-44FF-9720-E3E76EC80EE3}" type="slidenum">
              <a:rPr lang="en-US" altLang="en-US" sz="1400">
                <a:solidFill>
                  <a:srgbClr val="990033"/>
                </a:solidFill>
              </a:rPr>
              <a:pPr/>
              <a:t>56</a:t>
            </a:fld>
            <a:endParaRPr lang="en-CA" altLang="en-US" sz="1400">
              <a:solidFill>
                <a:srgbClr val="990033"/>
              </a:solidFill>
            </a:endParaRPr>
          </a:p>
        </p:txBody>
      </p:sp>
      <p:sp>
        <p:nvSpPr>
          <p:cNvPr id="25602" name="Rectangle 4">
            <a:extLst>
              <a:ext uri="{FF2B5EF4-FFF2-40B4-BE49-F238E27FC236}">
                <a16:creationId xmlns:a16="http://schemas.microsoft.com/office/drawing/2014/main" id="{81F8FAD6-9323-C8BA-0B98-D69182105D11}"/>
              </a:ext>
            </a:extLst>
          </p:cNvPr>
          <p:cNvSpPr>
            <a:spLocks noGrp="1" noChangeArrowheads="1"/>
          </p:cNvSpPr>
          <p:nvPr>
            <p:ph type="title"/>
          </p:nvPr>
        </p:nvSpPr>
        <p:spPr/>
        <p:txBody>
          <a:bodyPr/>
          <a:lstStyle/>
          <a:p>
            <a:pPr eaLnBrk="1" hangingPunct="1"/>
            <a:r>
              <a:rPr lang="en-US" altLang="en-US"/>
              <a:t>Subclasses and Superclasses (2)</a:t>
            </a:r>
          </a:p>
        </p:txBody>
      </p:sp>
      <p:sp>
        <p:nvSpPr>
          <p:cNvPr id="25603" name="Rectangle 5">
            <a:extLst>
              <a:ext uri="{FF2B5EF4-FFF2-40B4-BE49-F238E27FC236}">
                <a16:creationId xmlns:a16="http://schemas.microsoft.com/office/drawing/2014/main" id="{895EB231-58FA-1D28-EC7C-7E3187328E33}"/>
              </a:ext>
            </a:extLst>
          </p:cNvPr>
          <p:cNvSpPr>
            <a:spLocks noGrp="1" noChangeArrowheads="1"/>
          </p:cNvSpPr>
          <p:nvPr>
            <p:ph type="body" idx="1"/>
          </p:nvPr>
        </p:nvSpPr>
        <p:spPr/>
        <p:txBody>
          <a:bodyPr/>
          <a:lstStyle/>
          <a:p>
            <a:pPr eaLnBrk="1" hangingPunct="1"/>
            <a:r>
              <a:rPr lang="en-US" altLang="en-US" sz="2400"/>
              <a:t>Each of these subgroupings is a subset of EMPLOYEE entities </a:t>
            </a:r>
          </a:p>
          <a:p>
            <a:pPr eaLnBrk="1" hangingPunct="1"/>
            <a:r>
              <a:rPr lang="en-US" altLang="en-US" sz="2400"/>
              <a:t>Each is called a subclass of EMPLOYEE </a:t>
            </a:r>
          </a:p>
          <a:p>
            <a:pPr eaLnBrk="1" hangingPunct="1"/>
            <a:r>
              <a:rPr lang="en-US" altLang="en-US" sz="2400"/>
              <a:t>EMPLOYEE is the superclass for each of these subclasses </a:t>
            </a:r>
          </a:p>
          <a:p>
            <a:pPr eaLnBrk="1" hangingPunct="1"/>
            <a:r>
              <a:rPr lang="en-US" altLang="en-US" sz="2400"/>
              <a:t>These are called superclass/subclass relationships:</a:t>
            </a:r>
          </a:p>
          <a:p>
            <a:pPr lvl="1" eaLnBrk="1" hangingPunct="1"/>
            <a:r>
              <a:rPr lang="en-US" altLang="en-US" sz="2200"/>
              <a:t>EMPLOYEE/SECRETARY</a:t>
            </a:r>
          </a:p>
          <a:p>
            <a:pPr lvl="1" eaLnBrk="1" hangingPunct="1"/>
            <a:r>
              <a:rPr lang="en-US" altLang="en-US" sz="2200"/>
              <a:t>EMPLOYEE/TECHNICIAN</a:t>
            </a:r>
          </a:p>
          <a:p>
            <a:pPr lvl="1" eaLnBrk="1" hangingPunct="1"/>
            <a:r>
              <a:rPr lang="en-US" altLang="en-US" sz="2200"/>
              <a:t>EMPLOYEE/MANAGER</a:t>
            </a:r>
          </a:p>
          <a:p>
            <a:pPr lvl="1" eaLnBrk="1" hangingPunct="1"/>
            <a:r>
              <a:rPr lang="en-US" altLang="en-US" sz="2200"/>
              <a:t>…</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3">
            <a:extLst>
              <a:ext uri="{FF2B5EF4-FFF2-40B4-BE49-F238E27FC236}">
                <a16:creationId xmlns:a16="http://schemas.microsoft.com/office/drawing/2014/main" id="{A9BF604F-E95E-1962-9C5C-85BE4D7513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19EC4025-7826-44B0-84C4-4E7CBC2B50A2}" type="slidenum">
              <a:rPr lang="en-US" altLang="en-US" sz="1400">
                <a:solidFill>
                  <a:srgbClr val="990033"/>
                </a:solidFill>
              </a:rPr>
              <a:pPr/>
              <a:t>57</a:t>
            </a:fld>
            <a:endParaRPr lang="en-CA" altLang="en-US" sz="1400">
              <a:solidFill>
                <a:srgbClr val="990033"/>
              </a:solidFill>
            </a:endParaRPr>
          </a:p>
        </p:txBody>
      </p:sp>
      <p:sp>
        <p:nvSpPr>
          <p:cNvPr id="27650" name="Rectangle 4">
            <a:extLst>
              <a:ext uri="{FF2B5EF4-FFF2-40B4-BE49-F238E27FC236}">
                <a16:creationId xmlns:a16="http://schemas.microsoft.com/office/drawing/2014/main" id="{8495A60D-18A2-3F87-67CC-40E4D69EFE9B}"/>
              </a:ext>
            </a:extLst>
          </p:cNvPr>
          <p:cNvSpPr>
            <a:spLocks noGrp="1" noChangeArrowheads="1"/>
          </p:cNvSpPr>
          <p:nvPr>
            <p:ph type="title"/>
          </p:nvPr>
        </p:nvSpPr>
        <p:spPr/>
        <p:txBody>
          <a:bodyPr/>
          <a:lstStyle/>
          <a:p>
            <a:pPr eaLnBrk="1" hangingPunct="1"/>
            <a:r>
              <a:rPr lang="en-US" altLang="en-US"/>
              <a:t>Subclasses and Superclasses (3)</a:t>
            </a:r>
          </a:p>
        </p:txBody>
      </p:sp>
      <p:sp>
        <p:nvSpPr>
          <p:cNvPr id="27651" name="Rectangle 5">
            <a:extLst>
              <a:ext uri="{FF2B5EF4-FFF2-40B4-BE49-F238E27FC236}">
                <a16:creationId xmlns:a16="http://schemas.microsoft.com/office/drawing/2014/main" id="{FE5A545E-7534-4DAE-6B59-4DBF52BDC720}"/>
              </a:ext>
            </a:extLst>
          </p:cNvPr>
          <p:cNvSpPr>
            <a:spLocks noGrp="1" noChangeArrowheads="1"/>
          </p:cNvSpPr>
          <p:nvPr>
            <p:ph type="body" idx="1"/>
          </p:nvPr>
        </p:nvSpPr>
        <p:spPr/>
        <p:txBody>
          <a:bodyPr/>
          <a:lstStyle/>
          <a:p>
            <a:pPr eaLnBrk="1" hangingPunct="1">
              <a:lnSpc>
                <a:spcPct val="90000"/>
              </a:lnSpc>
            </a:pPr>
            <a:r>
              <a:rPr lang="en-US" altLang="en-US" sz="2400"/>
              <a:t>These are also called IS-A relationships</a:t>
            </a:r>
          </a:p>
          <a:p>
            <a:pPr lvl="1" eaLnBrk="1" hangingPunct="1">
              <a:lnSpc>
                <a:spcPct val="90000"/>
              </a:lnSpc>
            </a:pPr>
            <a:r>
              <a:rPr lang="en-US" altLang="en-US" sz="2200"/>
              <a:t>SECRETARY IS-A EMPLOYEE, TECHNICIAN IS-A EMPLOYEE, ….</a:t>
            </a:r>
          </a:p>
          <a:p>
            <a:pPr eaLnBrk="1" hangingPunct="1">
              <a:lnSpc>
                <a:spcPct val="90000"/>
              </a:lnSpc>
            </a:pPr>
            <a:r>
              <a:rPr lang="en-US" altLang="en-US" sz="2400"/>
              <a:t>Note: An entity that is member of a subclass represents the same real-world entity as some member of the superclass:</a:t>
            </a:r>
          </a:p>
          <a:p>
            <a:pPr lvl="1" eaLnBrk="1" hangingPunct="1">
              <a:lnSpc>
                <a:spcPct val="90000"/>
              </a:lnSpc>
            </a:pPr>
            <a:r>
              <a:rPr lang="en-US" altLang="en-US" sz="2200"/>
              <a:t>The subclass member is the same entity in a </a:t>
            </a:r>
            <a:r>
              <a:rPr lang="en-US" altLang="en-US" sz="2200" i="1"/>
              <a:t>distinct specific role</a:t>
            </a:r>
            <a:r>
              <a:rPr lang="en-US" altLang="en-US" sz="2200"/>
              <a:t> </a:t>
            </a:r>
          </a:p>
          <a:p>
            <a:pPr lvl="1" eaLnBrk="1" hangingPunct="1">
              <a:lnSpc>
                <a:spcPct val="90000"/>
              </a:lnSpc>
            </a:pPr>
            <a:r>
              <a:rPr lang="en-US" altLang="en-US" sz="2200"/>
              <a:t>An entity cannot exist in the database merely by being a member of a subclass; it must also be a member of the superclass </a:t>
            </a:r>
          </a:p>
          <a:p>
            <a:pPr lvl="1" eaLnBrk="1" hangingPunct="1">
              <a:lnSpc>
                <a:spcPct val="90000"/>
              </a:lnSpc>
            </a:pPr>
            <a:r>
              <a:rPr lang="en-US" altLang="en-US" sz="2200"/>
              <a:t>A member of the superclass can be optionally included as a member of any number of its subclasses</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3">
            <a:extLst>
              <a:ext uri="{FF2B5EF4-FFF2-40B4-BE49-F238E27FC236}">
                <a16:creationId xmlns:a16="http://schemas.microsoft.com/office/drawing/2014/main" id="{020E6859-15AE-1479-993F-0F44CD87DD2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FEBB51D-8399-42B3-B606-E8C5A76058CC}" type="slidenum">
              <a:rPr lang="en-US" altLang="en-US" sz="1400">
                <a:solidFill>
                  <a:srgbClr val="990033"/>
                </a:solidFill>
              </a:rPr>
              <a:pPr/>
              <a:t>58</a:t>
            </a:fld>
            <a:endParaRPr lang="en-CA" altLang="en-US" sz="1400">
              <a:solidFill>
                <a:srgbClr val="990033"/>
              </a:solidFill>
            </a:endParaRPr>
          </a:p>
        </p:txBody>
      </p:sp>
      <p:sp>
        <p:nvSpPr>
          <p:cNvPr id="29698" name="Rectangle 8">
            <a:extLst>
              <a:ext uri="{FF2B5EF4-FFF2-40B4-BE49-F238E27FC236}">
                <a16:creationId xmlns:a16="http://schemas.microsoft.com/office/drawing/2014/main" id="{0FC8F0C7-D6F5-3CE4-0FA8-0F7D7E561D49}"/>
              </a:ext>
            </a:extLst>
          </p:cNvPr>
          <p:cNvSpPr>
            <a:spLocks noGrp="1" noChangeArrowheads="1"/>
          </p:cNvSpPr>
          <p:nvPr>
            <p:ph type="title"/>
          </p:nvPr>
        </p:nvSpPr>
        <p:spPr/>
        <p:txBody>
          <a:bodyPr/>
          <a:lstStyle/>
          <a:p>
            <a:pPr eaLnBrk="1" hangingPunct="1"/>
            <a:r>
              <a:rPr lang="en-US" altLang="en-US"/>
              <a:t>Subclasses and Superclasses (4)</a:t>
            </a:r>
          </a:p>
        </p:txBody>
      </p:sp>
      <p:sp>
        <p:nvSpPr>
          <p:cNvPr id="29699" name="Rectangle 9">
            <a:extLst>
              <a:ext uri="{FF2B5EF4-FFF2-40B4-BE49-F238E27FC236}">
                <a16:creationId xmlns:a16="http://schemas.microsoft.com/office/drawing/2014/main" id="{D7692E2D-BBD0-7532-50BC-4C1CE5F23B6E}"/>
              </a:ext>
            </a:extLst>
          </p:cNvPr>
          <p:cNvSpPr>
            <a:spLocks noGrp="1" noChangeArrowheads="1"/>
          </p:cNvSpPr>
          <p:nvPr>
            <p:ph type="body" idx="1"/>
          </p:nvPr>
        </p:nvSpPr>
        <p:spPr/>
        <p:txBody>
          <a:bodyPr/>
          <a:lstStyle/>
          <a:p>
            <a:pPr eaLnBrk="1" hangingPunct="1"/>
            <a:r>
              <a:rPr lang="en-US" altLang="en-US" sz="2400"/>
              <a:t>Examples:</a:t>
            </a:r>
          </a:p>
          <a:p>
            <a:pPr lvl="1" eaLnBrk="1" hangingPunct="1"/>
            <a:r>
              <a:rPr lang="en-US" altLang="en-US" sz="2200"/>
              <a:t>A salaried employee who is also an engineer belongs to the two subclasses:</a:t>
            </a:r>
          </a:p>
          <a:p>
            <a:pPr lvl="2" eaLnBrk="1" hangingPunct="1"/>
            <a:r>
              <a:rPr lang="en-US" altLang="en-US" sz="2000"/>
              <a:t>ENGINEER, and</a:t>
            </a:r>
          </a:p>
          <a:p>
            <a:pPr lvl="2" eaLnBrk="1" hangingPunct="1"/>
            <a:r>
              <a:rPr lang="en-US" altLang="en-US" sz="2000"/>
              <a:t>SALARIED_EMPLOYEE </a:t>
            </a:r>
          </a:p>
          <a:p>
            <a:pPr lvl="1" eaLnBrk="1" hangingPunct="1"/>
            <a:r>
              <a:rPr lang="en-US" altLang="en-US" sz="2200"/>
              <a:t>A salaried employee who is also an engineering manager belongs to the three subclasses:</a:t>
            </a:r>
          </a:p>
          <a:p>
            <a:pPr lvl="2" eaLnBrk="1" hangingPunct="1"/>
            <a:r>
              <a:rPr lang="en-US" altLang="en-US" sz="2000"/>
              <a:t>MANAGER,</a:t>
            </a:r>
          </a:p>
          <a:p>
            <a:pPr lvl="2" eaLnBrk="1" hangingPunct="1"/>
            <a:r>
              <a:rPr lang="en-US" altLang="en-US" sz="2000"/>
              <a:t>ENGINEER, and</a:t>
            </a:r>
          </a:p>
          <a:p>
            <a:pPr lvl="2" eaLnBrk="1" hangingPunct="1"/>
            <a:r>
              <a:rPr lang="en-US" altLang="en-US" sz="2000"/>
              <a:t>SALARIED_EMPLOYEE </a:t>
            </a:r>
          </a:p>
          <a:p>
            <a:pPr eaLnBrk="1" hangingPunct="1"/>
            <a:r>
              <a:rPr lang="en-US" altLang="en-US" sz="2400"/>
              <a:t>It is not necessary that every entity in a superclass be a member of some subclass</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3">
            <a:extLst>
              <a:ext uri="{FF2B5EF4-FFF2-40B4-BE49-F238E27FC236}">
                <a16:creationId xmlns:a16="http://schemas.microsoft.com/office/drawing/2014/main" id="{6F461C76-DA48-CFE8-D521-5CA5C9724E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D395CBC-B289-492C-9D9C-E138B025E671}" type="slidenum">
              <a:rPr lang="en-US" altLang="en-US" sz="1400">
                <a:solidFill>
                  <a:srgbClr val="990033"/>
                </a:solidFill>
              </a:rPr>
              <a:pPr/>
              <a:t>59</a:t>
            </a:fld>
            <a:endParaRPr lang="en-CA" altLang="en-US" sz="1400">
              <a:solidFill>
                <a:srgbClr val="990033"/>
              </a:solidFill>
            </a:endParaRPr>
          </a:p>
        </p:txBody>
      </p:sp>
      <p:sp>
        <p:nvSpPr>
          <p:cNvPr id="31746" name="Rectangle 2">
            <a:extLst>
              <a:ext uri="{FF2B5EF4-FFF2-40B4-BE49-F238E27FC236}">
                <a16:creationId xmlns:a16="http://schemas.microsoft.com/office/drawing/2014/main" id="{A549BF76-AF82-C6D3-EB8E-E527FE592EE4}"/>
              </a:ext>
            </a:extLst>
          </p:cNvPr>
          <p:cNvSpPr>
            <a:spLocks noGrp="1" noChangeArrowheads="1"/>
          </p:cNvSpPr>
          <p:nvPr>
            <p:ph type="title"/>
          </p:nvPr>
        </p:nvSpPr>
        <p:spPr/>
        <p:txBody>
          <a:bodyPr/>
          <a:lstStyle/>
          <a:p>
            <a:pPr eaLnBrk="1" hangingPunct="1"/>
            <a:r>
              <a:rPr lang="en-US" altLang="en-US" sz="3200"/>
              <a:t>Representing Specialization in EER Diagrams</a:t>
            </a:r>
          </a:p>
        </p:txBody>
      </p:sp>
      <p:pic>
        <p:nvPicPr>
          <p:cNvPr id="31747" name="Picture 4" descr="fig04_04">
            <a:extLst>
              <a:ext uri="{FF2B5EF4-FFF2-40B4-BE49-F238E27FC236}">
                <a16:creationId xmlns:a16="http://schemas.microsoft.com/office/drawing/2014/main" id="{77BFEEC4-3AC8-D8FC-785A-C53AC78B6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38" y="1820863"/>
            <a:ext cx="8285162"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3">
            <a:extLst>
              <a:ext uri="{FF2B5EF4-FFF2-40B4-BE49-F238E27FC236}">
                <a16:creationId xmlns:a16="http://schemas.microsoft.com/office/drawing/2014/main" id="{953465DE-05D2-7D1A-6CDA-CCFEB7F9AF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720B245F-7ABF-48F8-AC04-843F5CCFAC37}" type="slidenum">
              <a:rPr lang="en-US" altLang="en-US" sz="1400">
                <a:solidFill>
                  <a:srgbClr val="990033"/>
                </a:solidFill>
              </a:rPr>
              <a:pPr/>
              <a:t>60</a:t>
            </a:fld>
            <a:endParaRPr lang="en-CA" altLang="en-US" sz="1400">
              <a:solidFill>
                <a:srgbClr val="990033"/>
              </a:solidFill>
            </a:endParaRPr>
          </a:p>
        </p:txBody>
      </p:sp>
      <p:sp>
        <p:nvSpPr>
          <p:cNvPr id="33794" name="Rectangle 6">
            <a:extLst>
              <a:ext uri="{FF2B5EF4-FFF2-40B4-BE49-F238E27FC236}">
                <a16:creationId xmlns:a16="http://schemas.microsoft.com/office/drawing/2014/main" id="{31171868-24B4-7C1D-C06E-98E1DFB15891}"/>
              </a:ext>
            </a:extLst>
          </p:cNvPr>
          <p:cNvSpPr>
            <a:spLocks noGrp="1" noChangeArrowheads="1"/>
          </p:cNvSpPr>
          <p:nvPr>
            <p:ph type="title"/>
          </p:nvPr>
        </p:nvSpPr>
        <p:spPr/>
        <p:txBody>
          <a:bodyPr/>
          <a:lstStyle/>
          <a:p>
            <a:pPr eaLnBrk="1" hangingPunct="1"/>
            <a:r>
              <a:rPr lang="en-US" altLang="en-US" sz="3200"/>
              <a:t>Attribute Inheritance in Superclass / Subclass Relationships </a:t>
            </a:r>
          </a:p>
        </p:txBody>
      </p:sp>
      <p:sp>
        <p:nvSpPr>
          <p:cNvPr id="33795" name="Rectangle 7">
            <a:extLst>
              <a:ext uri="{FF2B5EF4-FFF2-40B4-BE49-F238E27FC236}">
                <a16:creationId xmlns:a16="http://schemas.microsoft.com/office/drawing/2014/main" id="{50B9B779-555A-E35C-C73E-964F9AD881A1}"/>
              </a:ext>
            </a:extLst>
          </p:cNvPr>
          <p:cNvSpPr>
            <a:spLocks noGrp="1" noChangeArrowheads="1"/>
          </p:cNvSpPr>
          <p:nvPr>
            <p:ph type="body" idx="1"/>
          </p:nvPr>
        </p:nvSpPr>
        <p:spPr/>
        <p:txBody>
          <a:bodyPr/>
          <a:lstStyle/>
          <a:p>
            <a:pPr eaLnBrk="1" hangingPunct="1">
              <a:lnSpc>
                <a:spcPct val="90000"/>
              </a:lnSpc>
            </a:pPr>
            <a:r>
              <a:rPr lang="en-US" altLang="en-US"/>
              <a:t>An entity that is member of a subclass </a:t>
            </a:r>
            <a:r>
              <a:rPr lang="en-US" altLang="en-US" i="1"/>
              <a:t>inherits</a:t>
            </a:r>
            <a:r>
              <a:rPr lang="en-US" altLang="en-US"/>
              <a:t> </a:t>
            </a:r>
          </a:p>
          <a:p>
            <a:pPr lvl="1" eaLnBrk="1" hangingPunct="1">
              <a:lnSpc>
                <a:spcPct val="90000"/>
              </a:lnSpc>
            </a:pPr>
            <a:r>
              <a:rPr lang="en-US" altLang="en-US"/>
              <a:t>All attributes of the entity as a member of the superclass </a:t>
            </a:r>
          </a:p>
          <a:p>
            <a:pPr lvl="1" eaLnBrk="1" hangingPunct="1">
              <a:lnSpc>
                <a:spcPct val="90000"/>
              </a:lnSpc>
            </a:pPr>
            <a:r>
              <a:rPr lang="en-US" altLang="en-US"/>
              <a:t>All relationships of the entity as a member of the superclass</a:t>
            </a:r>
          </a:p>
          <a:p>
            <a:pPr eaLnBrk="1" hangingPunct="1">
              <a:lnSpc>
                <a:spcPct val="90000"/>
              </a:lnSpc>
            </a:pPr>
            <a:r>
              <a:rPr lang="en-US" altLang="en-US"/>
              <a:t>Example:</a:t>
            </a:r>
          </a:p>
          <a:p>
            <a:pPr lvl="1" eaLnBrk="1" hangingPunct="1">
              <a:lnSpc>
                <a:spcPct val="90000"/>
              </a:lnSpc>
            </a:pPr>
            <a:r>
              <a:rPr lang="en-US" altLang="en-US"/>
              <a:t>In the previous slide, SECRETARY (as well as TECHNICIAN and ENGINEER) inherit the attributes Name, SSN, …, from EMPLOYEE</a:t>
            </a:r>
          </a:p>
          <a:p>
            <a:pPr lvl="1" eaLnBrk="1" hangingPunct="1">
              <a:lnSpc>
                <a:spcPct val="90000"/>
              </a:lnSpc>
            </a:pPr>
            <a:r>
              <a:rPr lang="en-US" altLang="en-US"/>
              <a:t>Every SECRETARY entity will have values for the inherited attributes</a:t>
            </a:r>
          </a:p>
          <a:p>
            <a:pPr eaLnBrk="1" hangingPunct="1">
              <a:lnSpc>
                <a:spcPct val="90000"/>
              </a:lnSpc>
            </a:pPr>
            <a:endParaRPr lang="en-US" altLang="en-US"/>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3">
            <a:extLst>
              <a:ext uri="{FF2B5EF4-FFF2-40B4-BE49-F238E27FC236}">
                <a16:creationId xmlns:a16="http://schemas.microsoft.com/office/drawing/2014/main" id="{B5D14E85-7FF9-9B8E-8CCF-7977AD810D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7FD7784C-48B1-462C-9943-3FC818FF000D}" type="slidenum">
              <a:rPr lang="en-US" altLang="en-US" sz="1400">
                <a:solidFill>
                  <a:srgbClr val="990033"/>
                </a:solidFill>
              </a:rPr>
              <a:pPr/>
              <a:t>61</a:t>
            </a:fld>
            <a:endParaRPr lang="en-CA" altLang="en-US" sz="1400">
              <a:solidFill>
                <a:srgbClr val="990033"/>
              </a:solidFill>
            </a:endParaRPr>
          </a:p>
        </p:txBody>
      </p:sp>
      <p:sp>
        <p:nvSpPr>
          <p:cNvPr id="35842" name="Rectangle 4">
            <a:extLst>
              <a:ext uri="{FF2B5EF4-FFF2-40B4-BE49-F238E27FC236}">
                <a16:creationId xmlns:a16="http://schemas.microsoft.com/office/drawing/2014/main" id="{B2132FA7-6035-8B8B-CFE9-F953D66F5ABC}"/>
              </a:ext>
            </a:extLst>
          </p:cNvPr>
          <p:cNvSpPr>
            <a:spLocks noGrp="1" noChangeArrowheads="1"/>
          </p:cNvSpPr>
          <p:nvPr>
            <p:ph type="title"/>
          </p:nvPr>
        </p:nvSpPr>
        <p:spPr/>
        <p:txBody>
          <a:bodyPr/>
          <a:lstStyle/>
          <a:p>
            <a:pPr eaLnBrk="1" hangingPunct="1"/>
            <a:r>
              <a:rPr lang="en-US" altLang="en-US" sz="3200"/>
              <a:t>Specialization (1)</a:t>
            </a:r>
          </a:p>
        </p:txBody>
      </p:sp>
      <p:sp>
        <p:nvSpPr>
          <p:cNvPr id="35843" name="Rectangle 5">
            <a:extLst>
              <a:ext uri="{FF2B5EF4-FFF2-40B4-BE49-F238E27FC236}">
                <a16:creationId xmlns:a16="http://schemas.microsoft.com/office/drawing/2014/main" id="{0F56A0C8-2EE2-BF91-FA8F-4A32394407D4}"/>
              </a:ext>
            </a:extLst>
          </p:cNvPr>
          <p:cNvSpPr>
            <a:spLocks noGrp="1" noChangeArrowheads="1"/>
          </p:cNvSpPr>
          <p:nvPr>
            <p:ph type="body" idx="1"/>
          </p:nvPr>
        </p:nvSpPr>
        <p:spPr>
          <a:xfrm>
            <a:off x="239713" y="1524000"/>
            <a:ext cx="8294687" cy="4648200"/>
          </a:xfrm>
        </p:spPr>
        <p:txBody>
          <a:bodyPr/>
          <a:lstStyle/>
          <a:p>
            <a:pPr eaLnBrk="1" hangingPunct="1"/>
            <a:r>
              <a:rPr lang="en-US" altLang="en-US"/>
              <a:t>Specialization is the process of defining a set of subclasses of a superclass </a:t>
            </a:r>
          </a:p>
          <a:p>
            <a:pPr eaLnBrk="1" hangingPunct="1"/>
            <a:r>
              <a:rPr lang="en-US" altLang="en-US"/>
              <a:t>The set of subclasses is based upon some distinguishing characteristics of the entities in the superclass</a:t>
            </a:r>
          </a:p>
          <a:p>
            <a:pPr lvl="1" eaLnBrk="1" hangingPunct="1"/>
            <a:r>
              <a:rPr lang="en-US" altLang="en-US"/>
              <a:t>Example: {SECRETARY, ENGINEER, TECHNICIAN} is a specialization of EMPLOYEE based upon </a:t>
            </a:r>
            <a:r>
              <a:rPr lang="en-US" altLang="en-US" i="1"/>
              <a:t>job type.</a:t>
            </a:r>
          </a:p>
          <a:p>
            <a:pPr lvl="1" eaLnBrk="1" hangingPunct="1"/>
            <a:r>
              <a:rPr lang="en-US" altLang="en-US"/>
              <a:t>Example: MANAGER</a:t>
            </a:r>
            <a:r>
              <a:rPr lang="en-US" altLang="en-US" i="1"/>
              <a:t> is a specialization of EMPLOYEE based on the role the employee plays</a:t>
            </a:r>
          </a:p>
          <a:p>
            <a:pPr lvl="2" eaLnBrk="1" hangingPunct="1"/>
            <a:r>
              <a:rPr lang="en-US" altLang="en-US"/>
              <a:t>May have several specializations of the same superclass </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3">
            <a:extLst>
              <a:ext uri="{FF2B5EF4-FFF2-40B4-BE49-F238E27FC236}">
                <a16:creationId xmlns:a16="http://schemas.microsoft.com/office/drawing/2014/main" id="{75517F26-0672-645D-2286-81F78B7B9AA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D43CB789-71FD-438C-A701-0AB923968679}" type="slidenum">
              <a:rPr lang="en-US" altLang="en-US" sz="1400">
                <a:solidFill>
                  <a:srgbClr val="990033"/>
                </a:solidFill>
              </a:rPr>
              <a:pPr/>
              <a:t>62</a:t>
            </a:fld>
            <a:endParaRPr lang="en-CA" altLang="en-US" sz="1400">
              <a:solidFill>
                <a:srgbClr val="990033"/>
              </a:solidFill>
            </a:endParaRPr>
          </a:p>
        </p:txBody>
      </p:sp>
      <p:sp>
        <p:nvSpPr>
          <p:cNvPr id="37890" name="Rectangle 2">
            <a:extLst>
              <a:ext uri="{FF2B5EF4-FFF2-40B4-BE49-F238E27FC236}">
                <a16:creationId xmlns:a16="http://schemas.microsoft.com/office/drawing/2014/main" id="{42649AAA-01F1-F895-7A14-ADE0ABA95280}"/>
              </a:ext>
            </a:extLst>
          </p:cNvPr>
          <p:cNvSpPr>
            <a:spLocks noGrp="1" noChangeArrowheads="1"/>
          </p:cNvSpPr>
          <p:nvPr>
            <p:ph type="title"/>
          </p:nvPr>
        </p:nvSpPr>
        <p:spPr/>
        <p:txBody>
          <a:bodyPr/>
          <a:lstStyle/>
          <a:p>
            <a:pPr eaLnBrk="1" hangingPunct="1"/>
            <a:r>
              <a:rPr lang="en-US" altLang="en-US" sz="3200"/>
              <a:t>Specialization (2)</a:t>
            </a:r>
          </a:p>
        </p:txBody>
      </p:sp>
      <p:sp>
        <p:nvSpPr>
          <p:cNvPr id="37891" name="Rectangle 3">
            <a:extLst>
              <a:ext uri="{FF2B5EF4-FFF2-40B4-BE49-F238E27FC236}">
                <a16:creationId xmlns:a16="http://schemas.microsoft.com/office/drawing/2014/main" id="{6BC3A58B-0EB2-FB0A-06FC-CF9AB5B86044}"/>
              </a:ext>
            </a:extLst>
          </p:cNvPr>
          <p:cNvSpPr>
            <a:spLocks noGrp="1" noChangeArrowheads="1"/>
          </p:cNvSpPr>
          <p:nvPr>
            <p:ph type="body" idx="1"/>
          </p:nvPr>
        </p:nvSpPr>
        <p:spPr/>
        <p:txBody>
          <a:bodyPr/>
          <a:lstStyle/>
          <a:p>
            <a:pPr eaLnBrk="1" hangingPunct="1"/>
            <a:r>
              <a:rPr lang="en-US" altLang="en-US" sz="2400"/>
              <a:t>Example: Another specialization of EMPLOYEE based on </a:t>
            </a:r>
            <a:r>
              <a:rPr lang="en-US" altLang="en-US" sz="2400" i="1"/>
              <a:t>method of pay</a:t>
            </a:r>
            <a:r>
              <a:rPr lang="en-US" altLang="en-US" sz="2400"/>
              <a:t> is {SALARIED_EMPLOYEE, HOURLY_EMPLOYEE}.</a:t>
            </a:r>
          </a:p>
          <a:p>
            <a:pPr lvl="1" eaLnBrk="1" hangingPunct="1"/>
            <a:r>
              <a:rPr lang="en-US" altLang="en-US" sz="2200"/>
              <a:t>Superclass/subclass relationships and specialization can be diagrammatically represented in EER diagrams</a:t>
            </a:r>
          </a:p>
          <a:p>
            <a:pPr lvl="1" eaLnBrk="1" hangingPunct="1"/>
            <a:r>
              <a:rPr lang="en-US" altLang="en-US" sz="2200"/>
              <a:t>Attributes of a subclass are called </a:t>
            </a:r>
            <a:r>
              <a:rPr lang="en-US" altLang="en-US" sz="2200" i="1"/>
              <a:t>specific</a:t>
            </a:r>
            <a:r>
              <a:rPr lang="en-US" altLang="en-US" sz="2200"/>
              <a:t> or </a:t>
            </a:r>
            <a:r>
              <a:rPr lang="en-US" altLang="en-US" sz="2200" i="1"/>
              <a:t>local</a:t>
            </a:r>
            <a:r>
              <a:rPr lang="en-US" altLang="en-US" sz="2200"/>
              <a:t> attributes.</a:t>
            </a:r>
          </a:p>
          <a:p>
            <a:pPr lvl="2" eaLnBrk="1" hangingPunct="1"/>
            <a:r>
              <a:rPr lang="en-US" altLang="en-US" sz="2000"/>
              <a:t>For example, the attribute TypingSpeed of SECRETARY</a:t>
            </a:r>
          </a:p>
          <a:p>
            <a:pPr lvl="1" eaLnBrk="1" hangingPunct="1"/>
            <a:r>
              <a:rPr lang="en-US" altLang="en-US" sz="2200"/>
              <a:t>The subclass can also participate in specific relationship types.</a:t>
            </a:r>
          </a:p>
          <a:p>
            <a:pPr lvl="2" eaLnBrk="1" hangingPunct="1"/>
            <a:r>
              <a:rPr lang="en-US" altLang="en-US" sz="2000"/>
              <a:t>For example, a relationship BELONGS_TO of HOURLY_EMPLOYEE</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3">
            <a:extLst>
              <a:ext uri="{FF2B5EF4-FFF2-40B4-BE49-F238E27FC236}">
                <a16:creationId xmlns:a16="http://schemas.microsoft.com/office/drawing/2014/main" id="{224257CB-AD31-BA68-B361-A759D962406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1B7668A8-EBE3-40DC-B854-9B3E52728D5D}" type="slidenum">
              <a:rPr lang="en-US" altLang="en-US" sz="1400">
                <a:solidFill>
                  <a:srgbClr val="990033"/>
                </a:solidFill>
              </a:rPr>
              <a:pPr/>
              <a:t>63</a:t>
            </a:fld>
            <a:endParaRPr lang="en-CA" altLang="en-US" sz="1400">
              <a:solidFill>
                <a:srgbClr val="990033"/>
              </a:solidFill>
            </a:endParaRPr>
          </a:p>
        </p:txBody>
      </p:sp>
      <p:pic>
        <p:nvPicPr>
          <p:cNvPr id="39938" name="Picture 3" descr="fig04_01">
            <a:extLst>
              <a:ext uri="{FF2B5EF4-FFF2-40B4-BE49-F238E27FC236}">
                <a16:creationId xmlns:a16="http://schemas.microsoft.com/office/drawing/2014/main" id="{2213DDB8-03BD-2BC9-F3BA-9C82F6FCF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77724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Text Box 4" descr="Pink tissue paper">
            <a:extLst>
              <a:ext uri="{FF2B5EF4-FFF2-40B4-BE49-F238E27FC236}">
                <a16:creationId xmlns:a16="http://schemas.microsoft.com/office/drawing/2014/main" id="{B21567D2-EF79-87B2-3ACD-FB241FFADFEA}"/>
              </a:ext>
            </a:extLst>
          </p:cNvPr>
          <p:cNvSpPr txBox="1">
            <a:spLocks noChangeArrowheads="1"/>
          </p:cNvSpPr>
          <p:nvPr/>
        </p:nvSpPr>
        <p:spPr bwMode="auto">
          <a:xfrm>
            <a:off x="304800" y="822325"/>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3200">
                <a:solidFill>
                  <a:srgbClr val="800000"/>
                </a:solidFill>
              </a:rPr>
              <a:t>Specialization (3)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3">
            <a:extLst>
              <a:ext uri="{FF2B5EF4-FFF2-40B4-BE49-F238E27FC236}">
                <a16:creationId xmlns:a16="http://schemas.microsoft.com/office/drawing/2014/main" id="{40F940D7-3087-634C-5A5C-F44E2DBF824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1B3C83B1-E359-417F-A070-0B1DEB4E3796}" type="slidenum">
              <a:rPr lang="en-US" altLang="en-US" sz="1400">
                <a:solidFill>
                  <a:srgbClr val="990033"/>
                </a:solidFill>
              </a:rPr>
              <a:pPr/>
              <a:t>64</a:t>
            </a:fld>
            <a:endParaRPr lang="en-CA" altLang="en-US" sz="1400">
              <a:solidFill>
                <a:srgbClr val="990033"/>
              </a:solidFill>
            </a:endParaRPr>
          </a:p>
        </p:txBody>
      </p:sp>
      <p:sp>
        <p:nvSpPr>
          <p:cNvPr id="41986" name="Rectangle 4">
            <a:extLst>
              <a:ext uri="{FF2B5EF4-FFF2-40B4-BE49-F238E27FC236}">
                <a16:creationId xmlns:a16="http://schemas.microsoft.com/office/drawing/2014/main" id="{B6D6DF17-5AA7-6483-8CC1-171D7DA3967C}"/>
              </a:ext>
            </a:extLst>
          </p:cNvPr>
          <p:cNvSpPr>
            <a:spLocks noGrp="1" noChangeArrowheads="1"/>
          </p:cNvSpPr>
          <p:nvPr>
            <p:ph type="title"/>
          </p:nvPr>
        </p:nvSpPr>
        <p:spPr/>
        <p:txBody>
          <a:bodyPr/>
          <a:lstStyle/>
          <a:p>
            <a:pPr eaLnBrk="1" hangingPunct="1"/>
            <a:r>
              <a:rPr lang="en-US" altLang="en-US" sz="3200"/>
              <a:t>Generalization</a:t>
            </a:r>
          </a:p>
        </p:txBody>
      </p:sp>
      <p:sp>
        <p:nvSpPr>
          <p:cNvPr id="41987" name="Rectangle 5">
            <a:extLst>
              <a:ext uri="{FF2B5EF4-FFF2-40B4-BE49-F238E27FC236}">
                <a16:creationId xmlns:a16="http://schemas.microsoft.com/office/drawing/2014/main" id="{C4B176FD-CAD5-3760-86CA-91D3292F8AEC}"/>
              </a:ext>
            </a:extLst>
          </p:cNvPr>
          <p:cNvSpPr>
            <a:spLocks noGrp="1" noChangeArrowheads="1"/>
          </p:cNvSpPr>
          <p:nvPr>
            <p:ph type="body" idx="1"/>
          </p:nvPr>
        </p:nvSpPr>
        <p:spPr/>
        <p:txBody>
          <a:bodyPr/>
          <a:lstStyle/>
          <a:p>
            <a:pPr eaLnBrk="1" hangingPunct="1"/>
            <a:r>
              <a:rPr lang="en-US" altLang="en-US" sz="2400"/>
              <a:t>Generalization is the reverse of the specialization process </a:t>
            </a:r>
          </a:p>
          <a:p>
            <a:pPr eaLnBrk="1" hangingPunct="1"/>
            <a:r>
              <a:rPr lang="en-US" altLang="en-US" sz="2400"/>
              <a:t>Several classes with common features are generalized into a superclass; </a:t>
            </a:r>
          </a:p>
          <a:p>
            <a:pPr lvl="1" eaLnBrk="1" hangingPunct="1"/>
            <a:r>
              <a:rPr lang="en-US" altLang="en-US" sz="2200"/>
              <a:t>original classes become its subclasses</a:t>
            </a:r>
          </a:p>
          <a:p>
            <a:pPr eaLnBrk="1" hangingPunct="1"/>
            <a:r>
              <a:rPr lang="en-US" altLang="en-US" sz="2400"/>
              <a:t>Example: CAR, TRUCK generalized into VEHICLE; </a:t>
            </a:r>
          </a:p>
          <a:p>
            <a:pPr lvl="1" eaLnBrk="1" hangingPunct="1"/>
            <a:r>
              <a:rPr lang="en-US" altLang="en-US" sz="2200"/>
              <a:t>both CAR, TRUCK become subclasses of the superclass VEHICLE.</a:t>
            </a:r>
          </a:p>
          <a:p>
            <a:pPr lvl="1" eaLnBrk="1" hangingPunct="1"/>
            <a:r>
              <a:rPr lang="en-US" altLang="en-US" sz="2200"/>
              <a:t>We can view {CAR, TRUCK} as a specialization of VEHICLE </a:t>
            </a:r>
          </a:p>
          <a:p>
            <a:pPr lvl="1" eaLnBrk="1" hangingPunct="1"/>
            <a:r>
              <a:rPr lang="en-US" altLang="en-US" sz="2200"/>
              <a:t>Alternatively, we can view VEHICLE as a generalization of CAR and TRUCK </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3">
            <a:extLst>
              <a:ext uri="{FF2B5EF4-FFF2-40B4-BE49-F238E27FC236}">
                <a16:creationId xmlns:a16="http://schemas.microsoft.com/office/drawing/2014/main" id="{82EB89D3-3361-105A-CCD1-B85F933FECC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9FA97500-8A88-47A7-A7EC-4C4B2B753662}" type="slidenum">
              <a:rPr lang="en-US" altLang="en-US" sz="1400">
                <a:solidFill>
                  <a:srgbClr val="990033"/>
                </a:solidFill>
              </a:rPr>
              <a:pPr/>
              <a:t>65</a:t>
            </a:fld>
            <a:endParaRPr lang="en-CA" altLang="en-US" sz="1400">
              <a:solidFill>
                <a:srgbClr val="990033"/>
              </a:solidFill>
            </a:endParaRPr>
          </a:p>
        </p:txBody>
      </p:sp>
      <p:pic>
        <p:nvPicPr>
          <p:cNvPr id="44034" name="Picture 3" descr="fig04_03">
            <a:extLst>
              <a:ext uri="{FF2B5EF4-FFF2-40B4-BE49-F238E27FC236}">
                <a16:creationId xmlns:a16="http://schemas.microsoft.com/office/drawing/2014/main" id="{750638C8-7F2F-934C-F1DD-7F4465E8E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00200"/>
            <a:ext cx="72390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Text Box 4" descr="Pink tissue paper">
            <a:extLst>
              <a:ext uri="{FF2B5EF4-FFF2-40B4-BE49-F238E27FC236}">
                <a16:creationId xmlns:a16="http://schemas.microsoft.com/office/drawing/2014/main" id="{202788F7-1B4F-5903-1F0A-79C36CC6FB36}"/>
              </a:ext>
            </a:extLst>
          </p:cNvPr>
          <p:cNvSpPr txBox="1">
            <a:spLocks noChangeArrowheads="1"/>
          </p:cNvSpPr>
          <p:nvPr/>
        </p:nvSpPr>
        <p:spPr bwMode="auto">
          <a:xfrm>
            <a:off x="533400" y="715963"/>
            <a:ext cx="563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2800">
                <a:solidFill>
                  <a:srgbClr val="800000"/>
                </a:solidFill>
              </a:rPr>
              <a:t>Generalization (2)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3">
            <a:extLst>
              <a:ext uri="{FF2B5EF4-FFF2-40B4-BE49-F238E27FC236}">
                <a16:creationId xmlns:a16="http://schemas.microsoft.com/office/drawing/2014/main" id="{85453E0A-9914-18B1-F02A-554FC9135DA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A14F6229-2A86-48F1-A1F2-1FEC63A15BD6}" type="slidenum">
              <a:rPr lang="en-US" altLang="en-US" sz="1400">
                <a:solidFill>
                  <a:srgbClr val="990033"/>
                </a:solidFill>
              </a:rPr>
              <a:pPr/>
              <a:t>66</a:t>
            </a:fld>
            <a:endParaRPr lang="en-CA" altLang="en-US" sz="1400">
              <a:solidFill>
                <a:srgbClr val="990033"/>
              </a:solidFill>
            </a:endParaRPr>
          </a:p>
        </p:txBody>
      </p:sp>
      <p:sp>
        <p:nvSpPr>
          <p:cNvPr id="46082" name="Rectangle 4">
            <a:extLst>
              <a:ext uri="{FF2B5EF4-FFF2-40B4-BE49-F238E27FC236}">
                <a16:creationId xmlns:a16="http://schemas.microsoft.com/office/drawing/2014/main" id="{F20AA2EC-8993-FC19-50B5-E8531ACD4219}"/>
              </a:ext>
            </a:extLst>
          </p:cNvPr>
          <p:cNvSpPr>
            <a:spLocks noGrp="1" noChangeArrowheads="1"/>
          </p:cNvSpPr>
          <p:nvPr>
            <p:ph type="title"/>
          </p:nvPr>
        </p:nvSpPr>
        <p:spPr/>
        <p:txBody>
          <a:bodyPr/>
          <a:lstStyle/>
          <a:p>
            <a:pPr eaLnBrk="1" hangingPunct="1"/>
            <a:r>
              <a:rPr lang="en-US" altLang="en-US" sz="3200"/>
              <a:t>Generalization and Specialization (1)</a:t>
            </a:r>
          </a:p>
        </p:txBody>
      </p:sp>
      <p:sp>
        <p:nvSpPr>
          <p:cNvPr id="46083" name="Rectangle 5">
            <a:extLst>
              <a:ext uri="{FF2B5EF4-FFF2-40B4-BE49-F238E27FC236}">
                <a16:creationId xmlns:a16="http://schemas.microsoft.com/office/drawing/2014/main" id="{8209DE1D-A034-1D8B-4495-DA966316C2F4}"/>
              </a:ext>
            </a:extLst>
          </p:cNvPr>
          <p:cNvSpPr>
            <a:spLocks noGrp="1" noChangeArrowheads="1"/>
          </p:cNvSpPr>
          <p:nvPr>
            <p:ph type="body" idx="1"/>
          </p:nvPr>
        </p:nvSpPr>
        <p:spPr/>
        <p:txBody>
          <a:bodyPr/>
          <a:lstStyle/>
          <a:p>
            <a:pPr eaLnBrk="1" hangingPunct="1">
              <a:lnSpc>
                <a:spcPct val="90000"/>
              </a:lnSpc>
            </a:pPr>
            <a:r>
              <a:rPr lang="en-US" altLang="en-US"/>
              <a:t>Diagrammatic notations are sometimes used to distinguish between generalization and specialization</a:t>
            </a:r>
          </a:p>
          <a:p>
            <a:pPr lvl="1" eaLnBrk="1" hangingPunct="1">
              <a:lnSpc>
                <a:spcPct val="90000"/>
              </a:lnSpc>
            </a:pPr>
            <a:r>
              <a:rPr lang="en-US" altLang="en-US"/>
              <a:t>Arrow pointing to the generalized superclass represents a generalization </a:t>
            </a:r>
          </a:p>
          <a:p>
            <a:pPr lvl="1" eaLnBrk="1" hangingPunct="1">
              <a:lnSpc>
                <a:spcPct val="90000"/>
              </a:lnSpc>
            </a:pPr>
            <a:r>
              <a:rPr lang="en-US" altLang="en-US"/>
              <a:t>Arrows pointing to the specialized subclasses represent a specialization </a:t>
            </a:r>
          </a:p>
          <a:p>
            <a:pPr lvl="1" eaLnBrk="1" hangingPunct="1">
              <a:lnSpc>
                <a:spcPct val="90000"/>
              </a:lnSpc>
            </a:pPr>
            <a:r>
              <a:rPr lang="en-US" altLang="en-US"/>
              <a:t>We </a:t>
            </a:r>
            <a:r>
              <a:rPr lang="en-US" altLang="en-US" i="1"/>
              <a:t>do not use</a:t>
            </a:r>
            <a:r>
              <a:rPr lang="en-US" altLang="en-US"/>
              <a:t> this notation because it is often subjective as to which process is more appropriate for a particular situation </a:t>
            </a:r>
          </a:p>
          <a:p>
            <a:pPr lvl="1" eaLnBrk="1" hangingPunct="1">
              <a:lnSpc>
                <a:spcPct val="90000"/>
              </a:lnSpc>
            </a:pPr>
            <a:r>
              <a:rPr lang="en-US" altLang="en-US"/>
              <a:t>We advocate not drawing any arrows</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3">
            <a:extLst>
              <a:ext uri="{FF2B5EF4-FFF2-40B4-BE49-F238E27FC236}">
                <a16:creationId xmlns:a16="http://schemas.microsoft.com/office/drawing/2014/main" id="{4513E70E-FCB4-A60E-AE3F-5F60F839D5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5B60437B-B168-4A17-8430-06DA9FF7CF60}" type="slidenum">
              <a:rPr lang="en-US" altLang="en-US" sz="1400">
                <a:solidFill>
                  <a:srgbClr val="990033"/>
                </a:solidFill>
              </a:rPr>
              <a:pPr/>
              <a:t>67</a:t>
            </a:fld>
            <a:endParaRPr lang="en-CA" altLang="en-US" sz="1400">
              <a:solidFill>
                <a:srgbClr val="990033"/>
              </a:solidFill>
            </a:endParaRPr>
          </a:p>
        </p:txBody>
      </p:sp>
      <p:sp>
        <p:nvSpPr>
          <p:cNvPr id="48130" name="Rectangle 2">
            <a:extLst>
              <a:ext uri="{FF2B5EF4-FFF2-40B4-BE49-F238E27FC236}">
                <a16:creationId xmlns:a16="http://schemas.microsoft.com/office/drawing/2014/main" id="{9B24D9F3-6DE2-D422-5579-9CD8365858C7}"/>
              </a:ext>
            </a:extLst>
          </p:cNvPr>
          <p:cNvSpPr>
            <a:spLocks noGrp="1" noChangeArrowheads="1"/>
          </p:cNvSpPr>
          <p:nvPr>
            <p:ph type="title"/>
          </p:nvPr>
        </p:nvSpPr>
        <p:spPr/>
        <p:txBody>
          <a:bodyPr/>
          <a:lstStyle/>
          <a:p>
            <a:pPr eaLnBrk="1" hangingPunct="1"/>
            <a:r>
              <a:rPr lang="en-US" altLang="en-US" sz="3200"/>
              <a:t>Generalization and Specialization (2)</a:t>
            </a:r>
          </a:p>
        </p:txBody>
      </p:sp>
      <p:sp>
        <p:nvSpPr>
          <p:cNvPr id="48131" name="Rectangle 3">
            <a:extLst>
              <a:ext uri="{FF2B5EF4-FFF2-40B4-BE49-F238E27FC236}">
                <a16:creationId xmlns:a16="http://schemas.microsoft.com/office/drawing/2014/main" id="{F3D78E86-B981-9DEA-770C-DC40EF0A52BF}"/>
              </a:ext>
            </a:extLst>
          </p:cNvPr>
          <p:cNvSpPr>
            <a:spLocks noGrp="1" noChangeArrowheads="1"/>
          </p:cNvSpPr>
          <p:nvPr>
            <p:ph type="body" idx="1"/>
          </p:nvPr>
        </p:nvSpPr>
        <p:spPr/>
        <p:txBody>
          <a:bodyPr/>
          <a:lstStyle/>
          <a:p>
            <a:pPr eaLnBrk="1" hangingPunct="1"/>
            <a:r>
              <a:rPr lang="en-US" altLang="en-US"/>
              <a:t>Data Modeling with Specialization and Generalization</a:t>
            </a:r>
          </a:p>
          <a:p>
            <a:pPr lvl="1" eaLnBrk="1" hangingPunct="1"/>
            <a:r>
              <a:rPr lang="en-US" altLang="en-US"/>
              <a:t>A superclass or subclass represents a collection (or set or grouping) of entities</a:t>
            </a:r>
          </a:p>
          <a:p>
            <a:pPr lvl="1" eaLnBrk="1" hangingPunct="1"/>
            <a:r>
              <a:rPr lang="en-US" altLang="en-US"/>
              <a:t>It also represents a particular </a:t>
            </a:r>
            <a:r>
              <a:rPr lang="en-US" altLang="en-US" i="1"/>
              <a:t>type of entity</a:t>
            </a:r>
          </a:p>
          <a:p>
            <a:pPr lvl="1" eaLnBrk="1" hangingPunct="1"/>
            <a:r>
              <a:rPr lang="en-US" altLang="en-US"/>
              <a:t>Shown in rectangles in EER diagrams (as are entity types) </a:t>
            </a:r>
          </a:p>
          <a:p>
            <a:pPr lvl="1" eaLnBrk="1" hangingPunct="1"/>
            <a:r>
              <a:rPr lang="en-US" altLang="en-US"/>
              <a:t>We can call all entity types (and their corresponding collections) </a:t>
            </a:r>
            <a:r>
              <a:rPr lang="en-US" altLang="en-US" b="1" i="1"/>
              <a:t>classes</a:t>
            </a:r>
            <a:r>
              <a:rPr lang="en-US" altLang="en-US"/>
              <a:t>, whether they are entity types, superclasses, or subclasses</a:t>
            </a:r>
          </a:p>
          <a:p>
            <a:pPr eaLnBrk="1" hangingPunct="1"/>
            <a:endParaRPr lang="en-US" altLang="en-US"/>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fig04_04">
            <a:extLst>
              <a:ext uri="{FF2B5EF4-FFF2-40B4-BE49-F238E27FC236}">
                <a16:creationId xmlns:a16="http://schemas.microsoft.com/office/drawing/2014/main" id="{C10ABDAE-5446-B9F1-4CA1-35C302C6E8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63"/>
          <a:stretch/>
        </p:blipFill>
        <p:spPr bwMode="auto">
          <a:xfrm>
            <a:off x="5627687" y="2971800"/>
            <a:ext cx="3276600" cy="1998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7" name="Title 1">
            <a:extLst>
              <a:ext uri="{FF2B5EF4-FFF2-40B4-BE49-F238E27FC236}">
                <a16:creationId xmlns:a16="http://schemas.microsoft.com/office/drawing/2014/main" id="{66307627-39FC-C209-2200-916D7A37644D}"/>
              </a:ext>
            </a:extLst>
          </p:cNvPr>
          <p:cNvSpPr>
            <a:spLocks noGrp="1"/>
          </p:cNvSpPr>
          <p:nvPr>
            <p:ph type="title"/>
          </p:nvPr>
        </p:nvSpPr>
        <p:spPr/>
        <p:txBody>
          <a:bodyPr/>
          <a:lstStyle/>
          <a:p>
            <a:r>
              <a:rPr lang="en-US" altLang="en-US"/>
              <a:t>Types of Specialization</a:t>
            </a:r>
          </a:p>
        </p:txBody>
      </p:sp>
      <p:sp>
        <p:nvSpPr>
          <p:cNvPr id="50178" name="Content Placeholder 2">
            <a:extLst>
              <a:ext uri="{FF2B5EF4-FFF2-40B4-BE49-F238E27FC236}">
                <a16:creationId xmlns:a16="http://schemas.microsoft.com/office/drawing/2014/main" id="{4E9E299E-8A1C-1B1F-A6CB-74617309681B}"/>
              </a:ext>
            </a:extLst>
          </p:cNvPr>
          <p:cNvSpPr>
            <a:spLocks noGrp="1"/>
          </p:cNvSpPr>
          <p:nvPr>
            <p:ph idx="1"/>
          </p:nvPr>
        </p:nvSpPr>
        <p:spPr>
          <a:xfrm>
            <a:off x="239713" y="1600200"/>
            <a:ext cx="6542087" cy="4572000"/>
          </a:xfrm>
        </p:spPr>
        <p:txBody>
          <a:bodyPr/>
          <a:lstStyle/>
          <a:p>
            <a:r>
              <a:rPr lang="en-US" altLang="en-US" dirty="0"/>
              <a:t>Predicate-defined ( or condition-defined) : based on some predicate. E.g., based on value of an attribute, say, Job-type, or Age.</a:t>
            </a:r>
          </a:p>
          <a:p>
            <a:r>
              <a:rPr lang="en-US" altLang="en-US" dirty="0"/>
              <a:t>Attribute-defined: shows the name of the attribute next to the line drawn from the superclass toward the subclasses (see Fig. 4.4)</a:t>
            </a:r>
          </a:p>
          <a:p>
            <a:r>
              <a:rPr lang="en-US" altLang="en-US" dirty="0"/>
              <a:t>User-defined: membership is defined by the user on an entity by entity basis</a:t>
            </a:r>
          </a:p>
        </p:txBody>
      </p:sp>
      <p:sp>
        <p:nvSpPr>
          <p:cNvPr id="50179" name="Slide Number Placeholder 3">
            <a:extLst>
              <a:ext uri="{FF2B5EF4-FFF2-40B4-BE49-F238E27FC236}">
                <a16:creationId xmlns:a16="http://schemas.microsoft.com/office/drawing/2014/main" id="{8E70A738-1490-90BA-1E78-8FD3E84385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5D248BDF-53CC-4F9E-AAA8-3E468E21FEE9}" type="slidenum">
              <a:rPr lang="en-US" altLang="en-US" sz="1400">
                <a:solidFill>
                  <a:srgbClr val="990033"/>
                </a:solidFill>
              </a:rPr>
              <a:pPr/>
              <a:t>68</a:t>
            </a:fld>
            <a:endParaRPr lang="en-CA" altLang="en-US" sz="1400">
              <a:solidFill>
                <a:srgbClr val="990033"/>
              </a:solidFill>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3">
            <a:extLst>
              <a:ext uri="{FF2B5EF4-FFF2-40B4-BE49-F238E27FC236}">
                <a16:creationId xmlns:a16="http://schemas.microsoft.com/office/drawing/2014/main" id="{C829A6DB-3352-1B0C-AC5C-CCC8E4338A9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3170BDB-8AC7-4E1E-8F2B-DD4451A71E27}" type="slidenum">
              <a:rPr lang="en-US" altLang="en-US" sz="1400">
                <a:solidFill>
                  <a:srgbClr val="990033"/>
                </a:solidFill>
              </a:rPr>
              <a:pPr/>
              <a:t>69</a:t>
            </a:fld>
            <a:endParaRPr lang="en-CA" altLang="en-US" sz="1400">
              <a:solidFill>
                <a:srgbClr val="990033"/>
              </a:solidFill>
            </a:endParaRPr>
          </a:p>
        </p:txBody>
      </p:sp>
      <p:sp>
        <p:nvSpPr>
          <p:cNvPr id="51202" name="Rectangle 6">
            <a:extLst>
              <a:ext uri="{FF2B5EF4-FFF2-40B4-BE49-F238E27FC236}">
                <a16:creationId xmlns:a16="http://schemas.microsoft.com/office/drawing/2014/main" id="{2BE88E7A-8765-71AB-6100-3AB4D42C6B08}"/>
              </a:ext>
            </a:extLst>
          </p:cNvPr>
          <p:cNvSpPr>
            <a:spLocks noGrp="1" noChangeArrowheads="1"/>
          </p:cNvSpPr>
          <p:nvPr>
            <p:ph type="title"/>
          </p:nvPr>
        </p:nvSpPr>
        <p:spPr/>
        <p:txBody>
          <a:bodyPr/>
          <a:lstStyle/>
          <a:p>
            <a:pPr eaLnBrk="1" hangingPunct="1"/>
            <a:r>
              <a:rPr lang="en-US" altLang="en-US" sz="3200"/>
              <a:t>Constraints on Specialization and Generalization (1)</a:t>
            </a:r>
          </a:p>
        </p:txBody>
      </p:sp>
      <p:sp>
        <p:nvSpPr>
          <p:cNvPr id="51203" name="Rectangle 7">
            <a:extLst>
              <a:ext uri="{FF2B5EF4-FFF2-40B4-BE49-F238E27FC236}">
                <a16:creationId xmlns:a16="http://schemas.microsoft.com/office/drawing/2014/main" id="{06FC9769-77C2-25F4-FA6F-46F5377607C9}"/>
              </a:ext>
            </a:extLst>
          </p:cNvPr>
          <p:cNvSpPr>
            <a:spLocks noGrp="1" noChangeArrowheads="1"/>
          </p:cNvSpPr>
          <p:nvPr>
            <p:ph type="body" idx="1"/>
          </p:nvPr>
        </p:nvSpPr>
        <p:spPr/>
        <p:txBody>
          <a:bodyPr/>
          <a:lstStyle/>
          <a:p>
            <a:pPr eaLnBrk="1" hangingPunct="1"/>
            <a:r>
              <a:rPr lang="en-US" altLang="en-US"/>
              <a:t>If we can determine exactly those entities that will become members of each subclass by a condition, the subclasses are called predicate-defined (or condition-defined) subclasses </a:t>
            </a:r>
          </a:p>
          <a:p>
            <a:pPr lvl="1" eaLnBrk="1" hangingPunct="1"/>
            <a:r>
              <a:rPr lang="en-US" altLang="en-US"/>
              <a:t>Condition is a constraint that determines subclass members </a:t>
            </a:r>
          </a:p>
          <a:p>
            <a:pPr lvl="1" eaLnBrk="1" hangingPunct="1"/>
            <a:r>
              <a:rPr lang="en-US" altLang="en-US"/>
              <a:t>Display a predicate-defined subclass by writing the predicate condition next to the line attaching the subclass to its superclass </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3">
            <a:extLst>
              <a:ext uri="{FF2B5EF4-FFF2-40B4-BE49-F238E27FC236}">
                <a16:creationId xmlns:a16="http://schemas.microsoft.com/office/drawing/2014/main" id="{09F8CBD6-4456-8842-6166-A8AFBE1EAB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5A098A6C-1413-4E3D-A4E2-D298DF3DBC69}" type="slidenum">
              <a:rPr lang="en-US" altLang="en-US" sz="1400">
                <a:solidFill>
                  <a:srgbClr val="990033"/>
                </a:solidFill>
              </a:rPr>
              <a:pPr/>
              <a:t>70</a:t>
            </a:fld>
            <a:endParaRPr lang="en-CA" altLang="en-US" sz="1400">
              <a:solidFill>
                <a:srgbClr val="990033"/>
              </a:solidFill>
            </a:endParaRPr>
          </a:p>
        </p:txBody>
      </p:sp>
      <p:sp>
        <p:nvSpPr>
          <p:cNvPr id="53250" name="Rectangle 4">
            <a:extLst>
              <a:ext uri="{FF2B5EF4-FFF2-40B4-BE49-F238E27FC236}">
                <a16:creationId xmlns:a16="http://schemas.microsoft.com/office/drawing/2014/main" id="{23085A5F-804A-05D5-E5D6-B5D4C0CBFCDE}"/>
              </a:ext>
            </a:extLst>
          </p:cNvPr>
          <p:cNvSpPr>
            <a:spLocks noGrp="1" noChangeArrowheads="1"/>
          </p:cNvSpPr>
          <p:nvPr>
            <p:ph type="title"/>
          </p:nvPr>
        </p:nvSpPr>
        <p:spPr/>
        <p:txBody>
          <a:bodyPr/>
          <a:lstStyle/>
          <a:p>
            <a:pPr eaLnBrk="1" hangingPunct="1"/>
            <a:r>
              <a:rPr lang="en-US" altLang="en-US" sz="3200"/>
              <a:t>Constraints on Specialization and Generalization (2)</a:t>
            </a:r>
          </a:p>
        </p:txBody>
      </p:sp>
      <p:sp>
        <p:nvSpPr>
          <p:cNvPr id="53251" name="Rectangle 5">
            <a:extLst>
              <a:ext uri="{FF2B5EF4-FFF2-40B4-BE49-F238E27FC236}">
                <a16:creationId xmlns:a16="http://schemas.microsoft.com/office/drawing/2014/main" id="{84264919-1B15-0497-AB34-12ED0BDE1894}"/>
              </a:ext>
            </a:extLst>
          </p:cNvPr>
          <p:cNvSpPr>
            <a:spLocks noGrp="1" noChangeArrowheads="1"/>
          </p:cNvSpPr>
          <p:nvPr>
            <p:ph type="body" idx="1"/>
          </p:nvPr>
        </p:nvSpPr>
        <p:spPr/>
        <p:txBody>
          <a:bodyPr/>
          <a:lstStyle/>
          <a:p>
            <a:pPr eaLnBrk="1" hangingPunct="1">
              <a:lnSpc>
                <a:spcPct val="80000"/>
              </a:lnSpc>
            </a:pPr>
            <a:r>
              <a:rPr lang="en-US" altLang="en-US" sz="2400"/>
              <a:t>If all subclasses in a specialization have membership condition on same attribute of the superclass, specialization is called an attribute-defined specialization </a:t>
            </a:r>
          </a:p>
          <a:p>
            <a:pPr lvl="1" eaLnBrk="1" hangingPunct="1">
              <a:lnSpc>
                <a:spcPct val="80000"/>
              </a:lnSpc>
            </a:pPr>
            <a:r>
              <a:rPr lang="en-US" altLang="en-US" sz="2200"/>
              <a:t>Attribute is called the defining attribute of the specialization </a:t>
            </a:r>
          </a:p>
          <a:p>
            <a:pPr lvl="1" eaLnBrk="1" hangingPunct="1">
              <a:lnSpc>
                <a:spcPct val="80000"/>
              </a:lnSpc>
            </a:pPr>
            <a:r>
              <a:rPr lang="en-US" altLang="en-US" sz="2200"/>
              <a:t>Example: JobType is the defining attribute of the specialization {SECRETARY, TECHNICIAN, ENGINEER} of EMPLOYEE</a:t>
            </a:r>
          </a:p>
          <a:p>
            <a:pPr eaLnBrk="1" hangingPunct="1">
              <a:lnSpc>
                <a:spcPct val="80000"/>
              </a:lnSpc>
            </a:pPr>
            <a:r>
              <a:rPr lang="en-US" altLang="en-US" sz="2400"/>
              <a:t>If no condition determines membership, the subclass is called user-defined </a:t>
            </a:r>
          </a:p>
          <a:p>
            <a:pPr lvl="1" eaLnBrk="1" hangingPunct="1">
              <a:lnSpc>
                <a:spcPct val="80000"/>
              </a:lnSpc>
            </a:pPr>
            <a:r>
              <a:rPr lang="en-US" altLang="en-US" sz="2200"/>
              <a:t>Membership in a subclass is determined by the database users by applying an operation to add an entity to the subclass </a:t>
            </a:r>
          </a:p>
          <a:p>
            <a:pPr lvl="1" eaLnBrk="1" hangingPunct="1">
              <a:lnSpc>
                <a:spcPct val="80000"/>
              </a:lnSpc>
            </a:pPr>
            <a:r>
              <a:rPr lang="en-US" altLang="en-US" sz="2200"/>
              <a:t>Membership in the subclass is specified individually for each entity in the superclass by the user </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3">
            <a:extLst>
              <a:ext uri="{FF2B5EF4-FFF2-40B4-BE49-F238E27FC236}">
                <a16:creationId xmlns:a16="http://schemas.microsoft.com/office/drawing/2014/main" id="{9FE49709-8580-3D4D-39CC-C2014784039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725BB19-B92A-48CF-9A4B-DE22FAE400AE}" type="slidenum">
              <a:rPr lang="en-US" altLang="en-US" sz="1400">
                <a:solidFill>
                  <a:srgbClr val="990033"/>
                </a:solidFill>
              </a:rPr>
              <a:pPr/>
              <a:t>71</a:t>
            </a:fld>
            <a:endParaRPr lang="en-CA" altLang="en-US" sz="1400">
              <a:solidFill>
                <a:srgbClr val="990033"/>
              </a:solidFill>
            </a:endParaRPr>
          </a:p>
        </p:txBody>
      </p:sp>
      <p:sp>
        <p:nvSpPr>
          <p:cNvPr id="55298" name="Rectangle 2">
            <a:extLst>
              <a:ext uri="{FF2B5EF4-FFF2-40B4-BE49-F238E27FC236}">
                <a16:creationId xmlns:a16="http://schemas.microsoft.com/office/drawing/2014/main" id="{CDE47DB0-7D6D-0101-4C14-37915660B395}"/>
              </a:ext>
            </a:extLst>
          </p:cNvPr>
          <p:cNvSpPr>
            <a:spLocks noGrp="1" noChangeArrowheads="1"/>
          </p:cNvSpPr>
          <p:nvPr>
            <p:ph type="title"/>
          </p:nvPr>
        </p:nvSpPr>
        <p:spPr/>
        <p:txBody>
          <a:bodyPr/>
          <a:lstStyle/>
          <a:p>
            <a:pPr eaLnBrk="1" hangingPunct="1"/>
            <a:r>
              <a:rPr lang="en-US" altLang="en-US" sz="3200"/>
              <a:t>Displaying an attribute-defined specialization in EER diagrams</a:t>
            </a:r>
          </a:p>
        </p:txBody>
      </p:sp>
      <p:pic>
        <p:nvPicPr>
          <p:cNvPr id="55299" name="Picture 5" descr="fig04_04">
            <a:extLst>
              <a:ext uri="{FF2B5EF4-FFF2-40B4-BE49-F238E27FC236}">
                <a16:creationId xmlns:a16="http://schemas.microsoft.com/office/drawing/2014/main" id="{F1C76974-AF49-F0AD-3DF9-4B4098403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 y="1962150"/>
            <a:ext cx="8413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3">
            <a:extLst>
              <a:ext uri="{FF2B5EF4-FFF2-40B4-BE49-F238E27FC236}">
                <a16:creationId xmlns:a16="http://schemas.microsoft.com/office/drawing/2014/main" id="{D9178829-FA47-5156-129C-6E4EE5BB6C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F868024B-A162-49D3-AE29-03856C0E0C94}" type="slidenum">
              <a:rPr lang="en-US" altLang="en-US" sz="1400">
                <a:solidFill>
                  <a:srgbClr val="990033"/>
                </a:solidFill>
              </a:rPr>
              <a:pPr/>
              <a:t>72</a:t>
            </a:fld>
            <a:endParaRPr lang="en-CA" altLang="en-US" sz="1400">
              <a:solidFill>
                <a:srgbClr val="990033"/>
              </a:solidFill>
            </a:endParaRPr>
          </a:p>
        </p:txBody>
      </p:sp>
      <p:sp>
        <p:nvSpPr>
          <p:cNvPr id="56322" name="Rectangle 8">
            <a:extLst>
              <a:ext uri="{FF2B5EF4-FFF2-40B4-BE49-F238E27FC236}">
                <a16:creationId xmlns:a16="http://schemas.microsoft.com/office/drawing/2014/main" id="{E1D6AAA4-14CC-A760-1787-368D567B7F91}"/>
              </a:ext>
            </a:extLst>
          </p:cNvPr>
          <p:cNvSpPr>
            <a:spLocks noGrp="1" noChangeArrowheads="1"/>
          </p:cNvSpPr>
          <p:nvPr>
            <p:ph type="title"/>
          </p:nvPr>
        </p:nvSpPr>
        <p:spPr/>
        <p:txBody>
          <a:bodyPr/>
          <a:lstStyle/>
          <a:p>
            <a:pPr eaLnBrk="1" hangingPunct="1"/>
            <a:r>
              <a:rPr lang="en-US" altLang="en-US" sz="3200"/>
              <a:t>Constraints on Specialization and Generalization (3)</a:t>
            </a:r>
          </a:p>
        </p:txBody>
      </p:sp>
      <p:sp>
        <p:nvSpPr>
          <p:cNvPr id="56323" name="Rectangle 9">
            <a:extLst>
              <a:ext uri="{FF2B5EF4-FFF2-40B4-BE49-F238E27FC236}">
                <a16:creationId xmlns:a16="http://schemas.microsoft.com/office/drawing/2014/main" id="{B99F0C43-B919-9827-7FC8-715E2FAE8613}"/>
              </a:ext>
            </a:extLst>
          </p:cNvPr>
          <p:cNvSpPr>
            <a:spLocks noGrp="1" noChangeArrowheads="1"/>
          </p:cNvSpPr>
          <p:nvPr>
            <p:ph type="body" idx="1"/>
          </p:nvPr>
        </p:nvSpPr>
        <p:spPr/>
        <p:txBody>
          <a:bodyPr/>
          <a:lstStyle/>
          <a:p>
            <a:pPr eaLnBrk="1" hangingPunct="1"/>
            <a:r>
              <a:rPr lang="en-US" altLang="en-US"/>
              <a:t>Two basic constraints can apply to a specialization/generalization:</a:t>
            </a:r>
          </a:p>
          <a:p>
            <a:pPr lvl="1" eaLnBrk="1" hangingPunct="1"/>
            <a:r>
              <a:rPr lang="en-US" altLang="en-US"/>
              <a:t>Disjointness Constraint: </a:t>
            </a:r>
          </a:p>
          <a:p>
            <a:pPr lvl="1" eaLnBrk="1" hangingPunct="1"/>
            <a:r>
              <a:rPr lang="en-US" altLang="en-US"/>
              <a:t>Completeness Constraint: </a:t>
            </a:r>
          </a:p>
          <a:p>
            <a:pPr lvl="1" eaLnBrk="1" hangingPunct="1"/>
            <a:endParaRPr lang="en-US" altLang="en-US"/>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3">
            <a:extLst>
              <a:ext uri="{FF2B5EF4-FFF2-40B4-BE49-F238E27FC236}">
                <a16:creationId xmlns:a16="http://schemas.microsoft.com/office/drawing/2014/main" id="{08095C15-4BA7-8721-8354-6C878FAF1D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3D65E2FA-FD26-456C-9968-96D79A605040}" type="slidenum">
              <a:rPr lang="en-US" altLang="en-US" sz="1400">
                <a:solidFill>
                  <a:srgbClr val="990033"/>
                </a:solidFill>
              </a:rPr>
              <a:pPr/>
              <a:t>73</a:t>
            </a:fld>
            <a:endParaRPr lang="en-CA" altLang="en-US" sz="1400">
              <a:solidFill>
                <a:srgbClr val="990033"/>
              </a:solidFill>
            </a:endParaRPr>
          </a:p>
        </p:txBody>
      </p:sp>
      <p:sp>
        <p:nvSpPr>
          <p:cNvPr id="58370" name="Rectangle 2">
            <a:extLst>
              <a:ext uri="{FF2B5EF4-FFF2-40B4-BE49-F238E27FC236}">
                <a16:creationId xmlns:a16="http://schemas.microsoft.com/office/drawing/2014/main" id="{1203259C-F64B-8B8A-443D-A612D6E9550E}"/>
              </a:ext>
            </a:extLst>
          </p:cNvPr>
          <p:cNvSpPr>
            <a:spLocks noGrp="1" noChangeArrowheads="1"/>
          </p:cNvSpPr>
          <p:nvPr>
            <p:ph type="title"/>
          </p:nvPr>
        </p:nvSpPr>
        <p:spPr/>
        <p:txBody>
          <a:bodyPr/>
          <a:lstStyle/>
          <a:p>
            <a:pPr eaLnBrk="1" hangingPunct="1"/>
            <a:r>
              <a:rPr lang="en-US" altLang="en-US" sz="3200"/>
              <a:t>Constraints on Specialization and Generalization (4)</a:t>
            </a:r>
          </a:p>
        </p:txBody>
      </p:sp>
      <p:sp>
        <p:nvSpPr>
          <p:cNvPr id="58371" name="Rectangle 3">
            <a:extLst>
              <a:ext uri="{FF2B5EF4-FFF2-40B4-BE49-F238E27FC236}">
                <a16:creationId xmlns:a16="http://schemas.microsoft.com/office/drawing/2014/main" id="{ABAB75FF-00A0-C028-90B9-BBAC210571B3}"/>
              </a:ext>
            </a:extLst>
          </p:cNvPr>
          <p:cNvSpPr>
            <a:spLocks noGrp="1" noChangeArrowheads="1"/>
          </p:cNvSpPr>
          <p:nvPr>
            <p:ph type="body" idx="1"/>
          </p:nvPr>
        </p:nvSpPr>
        <p:spPr/>
        <p:txBody>
          <a:bodyPr/>
          <a:lstStyle/>
          <a:p>
            <a:pPr eaLnBrk="1" hangingPunct="1"/>
            <a:r>
              <a:rPr lang="en-US" altLang="en-US"/>
              <a:t>Disjointness Constraint: </a:t>
            </a:r>
          </a:p>
          <a:p>
            <a:pPr lvl="1" eaLnBrk="1" hangingPunct="1"/>
            <a:r>
              <a:rPr lang="en-US" altLang="en-US"/>
              <a:t>Specifies that the subclasses of the specialization must be </a:t>
            </a:r>
            <a:r>
              <a:rPr lang="en-US" altLang="en-US" i="1"/>
              <a:t>disjoint</a:t>
            </a:r>
            <a:r>
              <a:rPr lang="en-US" altLang="en-US"/>
              <a:t>:</a:t>
            </a:r>
            <a:endParaRPr lang="en-US" altLang="en-US" i="1"/>
          </a:p>
          <a:p>
            <a:pPr lvl="2" eaLnBrk="1" hangingPunct="1"/>
            <a:r>
              <a:rPr lang="en-US" altLang="en-US"/>
              <a:t>an entity can be a member of at most one of the subclasses of the specialization</a:t>
            </a:r>
          </a:p>
          <a:p>
            <a:pPr lvl="1" eaLnBrk="1" hangingPunct="1"/>
            <a:r>
              <a:rPr lang="en-US" altLang="en-US"/>
              <a:t>Specified by </a:t>
            </a:r>
            <a:r>
              <a:rPr lang="en-US" altLang="en-US" b="1" i="1" u="sng"/>
              <a:t>d</a:t>
            </a:r>
            <a:r>
              <a:rPr lang="en-US" altLang="en-US"/>
              <a:t> in EER diagram </a:t>
            </a:r>
          </a:p>
          <a:p>
            <a:pPr lvl="1" eaLnBrk="1" hangingPunct="1"/>
            <a:r>
              <a:rPr lang="en-US" altLang="en-US"/>
              <a:t>If not disjoint, specialization is </a:t>
            </a:r>
            <a:r>
              <a:rPr lang="en-US" altLang="en-US" i="1"/>
              <a:t>overlapping</a:t>
            </a:r>
            <a:r>
              <a:rPr lang="en-US" altLang="en-US"/>
              <a:t>:</a:t>
            </a:r>
          </a:p>
          <a:p>
            <a:pPr lvl="2" eaLnBrk="1" hangingPunct="1"/>
            <a:r>
              <a:rPr lang="en-US" altLang="en-US"/>
              <a:t>that is the same entity may be a member of more than one subclass of the specialization</a:t>
            </a:r>
          </a:p>
          <a:p>
            <a:pPr lvl="1" eaLnBrk="1" hangingPunct="1"/>
            <a:r>
              <a:rPr lang="en-US" altLang="en-US"/>
              <a:t>Specified by </a:t>
            </a:r>
            <a:r>
              <a:rPr lang="en-US" altLang="en-US" b="1" i="1" u="sng"/>
              <a:t>o</a:t>
            </a:r>
            <a:r>
              <a:rPr lang="en-US" altLang="en-US"/>
              <a:t> in EER diagram </a:t>
            </a: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a:extLst>
              <a:ext uri="{FF2B5EF4-FFF2-40B4-BE49-F238E27FC236}">
                <a16:creationId xmlns:a16="http://schemas.microsoft.com/office/drawing/2014/main" id="{5F5C71FA-0C52-9DD3-E16E-63234E2B8A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F5EE4BA-5EFF-4CDF-9AB7-A7C3BC17F2B8}" type="slidenum">
              <a:rPr lang="en-US" altLang="en-US" sz="1400">
                <a:solidFill>
                  <a:srgbClr val="990033"/>
                </a:solidFill>
              </a:rPr>
              <a:pPr/>
              <a:t>74</a:t>
            </a:fld>
            <a:endParaRPr lang="en-CA" altLang="en-US" sz="1400">
              <a:solidFill>
                <a:srgbClr val="990033"/>
              </a:solidFill>
            </a:endParaRPr>
          </a:p>
        </p:txBody>
      </p:sp>
      <p:sp>
        <p:nvSpPr>
          <p:cNvPr id="60418" name="Rectangle 2">
            <a:extLst>
              <a:ext uri="{FF2B5EF4-FFF2-40B4-BE49-F238E27FC236}">
                <a16:creationId xmlns:a16="http://schemas.microsoft.com/office/drawing/2014/main" id="{BF2FCBD3-A7DC-1237-33F9-2693C6C89068}"/>
              </a:ext>
            </a:extLst>
          </p:cNvPr>
          <p:cNvSpPr>
            <a:spLocks noGrp="1" noChangeArrowheads="1"/>
          </p:cNvSpPr>
          <p:nvPr>
            <p:ph type="title"/>
          </p:nvPr>
        </p:nvSpPr>
        <p:spPr/>
        <p:txBody>
          <a:bodyPr/>
          <a:lstStyle/>
          <a:p>
            <a:pPr eaLnBrk="1" hangingPunct="1"/>
            <a:r>
              <a:rPr lang="en-US" altLang="en-US" sz="3200"/>
              <a:t>Constraints on Specialization and Generalization (5)</a:t>
            </a:r>
          </a:p>
        </p:txBody>
      </p:sp>
      <p:sp>
        <p:nvSpPr>
          <p:cNvPr id="60419" name="Rectangle 3">
            <a:extLst>
              <a:ext uri="{FF2B5EF4-FFF2-40B4-BE49-F238E27FC236}">
                <a16:creationId xmlns:a16="http://schemas.microsoft.com/office/drawing/2014/main" id="{297C4334-A756-6F09-4E13-DEC2AE18AEF9}"/>
              </a:ext>
            </a:extLst>
          </p:cNvPr>
          <p:cNvSpPr>
            <a:spLocks noGrp="1" noChangeArrowheads="1"/>
          </p:cNvSpPr>
          <p:nvPr>
            <p:ph type="body" idx="1"/>
          </p:nvPr>
        </p:nvSpPr>
        <p:spPr/>
        <p:txBody>
          <a:bodyPr/>
          <a:lstStyle/>
          <a:p>
            <a:pPr eaLnBrk="1" hangingPunct="1"/>
            <a:r>
              <a:rPr lang="en-US" altLang="en-US"/>
              <a:t>Completeness (Exhaustiveness) Constraint: </a:t>
            </a:r>
          </a:p>
          <a:p>
            <a:pPr lvl="1" eaLnBrk="1" hangingPunct="1"/>
            <a:r>
              <a:rPr lang="en-US" altLang="en-US" i="1"/>
              <a:t>Total</a:t>
            </a:r>
            <a:r>
              <a:rPr lang="en-US" altLang="en-US"/>
              <a:t> specifies that every entity in the superclass must be a member of some subclass in the specialization/generalization </a:t>
            </a:r>
          </a:p>
          <a:p>
            <a:pPr lvl="1" eaLnBrk="1" hangingPunct="1"/>
            <a:r>
              <a:rPr lang="en-US" altLang="en-US"/>
              <a:t>Shown in EER diagrams by a </a:t>
            </a:r>
            <a:r>
              <a:rPr lang="en-US" altLang="en-US" b="1" i="1" u="sng"/>
              <a:t>double line</a:t>
            </a:r>
            <a:r>
              <a:rPr lang="en-US" altLang="en-US"/>
              <a:t> </a:t>
            </a:r>
          </a:p>
          <a:p>
            <a:pPr lvl="1" eaLnBrk="1" hangingPunct="1"/>
            <a:r>
              <a:rPr lang="en-US" altLang="en-US" i="1"/>
              <a:t>Partial</a:t>
            </a:r>
            <a:r>
              <a:rPr lang="en-US" altLang="en-US"/>
              <a:t> allows an entity not to belong to any of the subclasses </a:t>
            </a:r>
          </a:p>
          <a:p>
            <a:pPr lvl="1" eaLnBrk="1" hangingPunct="1"/>
            <a:r>
              <a:rPr lang="en-US" altLang="en-US"/>
              <a:t>Shown in EER diagrams by a single line</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3">
            <a:extLst>
              <a:ext uri="{FF2B5EF4-FFF2-40B4-BE49-F238E27FC236}">
                <a16:creationId xmlns:a16="http://schemas.microsoft.com/office/drawing/2014/main" id="{8895AB9A-C752-D1AF-E85F-87EC1976F9E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DCAF1942-3C48-4F4D-89A6-DBCB80EFAEA4}" type="slidenum">
              <a:rPr lang="en-US" altLang="en-US" sz="1400">
                <a:solidFill>
                  <a:srgbClr val="990033"/>
                </a:solidFill>
              </a:rPr>
              <a:pPr/>
              <a:t>75</a:t>
            </a:fld>
            <a:endParaRPr lang="en-CA" altLang="en-US" sz="1400">
              <a:solidFill>
                <a:srgbClr val="990033"/>
              </a:solidFill>
            </a:endParaRPr>
          </a:p>
        </p:txBody>
      </p:sp>
      <p:sp>
        <p:nvSpPr>
          <p:cNvPr id="62466" name="Rectangle 6">
            <a:extLst>
              <a:ext uri="{FF2B5EF4-FFF2-40B4-BE49-F238E27FC236}">
                <a16:creationId xmlns:a16="http://schemas.microsoft.com/office/drawing/2014/main" id="{6B703D46-9CEE-AE66-D303-AC02BB16BAB8}"/>
              </a:ext>
            </a:extLst>
          </p:cNvPr>
          <p:cNvSpPr>
            <a:spLocks noGrp="1" noChangeArrowheads="1"/>
          </p:cNvSpPr>
          <p:nvPr>
            <p:ph type="title"/>
          </p:nvPr>
        </p:nvSpPr>
        <p:spPr/>
        <p:txBody>
          <a:bodyPr/>
          <a:lstStyle/>
          <a:p>
            <a:pPr eaLnBrk="1" hangingPunct="1"/>
            <a:r>
              <a:rPr lang="en-US" altLang="en-US" sz="3200"/>
              <a:t>Constraints on Specialization and Generalization (6)</a:t>
            </a:r>
          </a:p>
        </p:txBody>
      </p:sp>
      <p:sp>
        <p:nvSpPr>
          <p:cNvPr id="62467" name="Rectangle 7">
            <a:extLst>
              <a:ext uri="{FF2B5EF4-FFF2-40B4-BE49-F238E27FC236}">
                <a16:creationId xmlns:a16="http://schemas.microsoft.com/office/drawing/2014/main" id="{E038BCE1-9B78-A52C-5788-BEFFAB24D573}"/>
              </a:ext>
            </a:extLst>
          </p:cNvPr>
          <p:cNvSpPr>
            <a:spLocks noGrp="1" noChangeArrowheads="1"/>
          </p:cNvSpPr>
          <p:nvPr>
            <p:ph type="body" idx="1"/>
          </p:nvPr>
        </p:nvSpPr>
        <p:spPr/>
        <p:txBody>
          <a:bodyPr/>
          <a:lstStyle/>
          <a:p>
            <a:pPr eaLnBrk="1" hangingPunct="1"/>
            <a:r>
              <a:rPr lang="en-US" altLang="en-US"/>
              <a:t>Hence, we have four types of specialization/generalization:</a:t>
            </a:r>
          </a:p>
          <a:p>
            <a:pPr lvl="1" eaLnBrk="1" hangingPunct="1"/>
            <a:r>
              <a:rPr lang="en-US" altLang="en-US"/>
              <a:t>Disjoint, total </a:t>
            </a:r>
          </a:p>
          <a:p>
            <a:pPr lvl="1" eaLnBrk="1" hangingPunct="1"/>
            <a:r>
              <a:rPr lang="en-US" altLang="en-US"/>
              <a:t>Disjoint, partial </a:t>
            </a:r>
          </a:p>
          <a:p>
            <a:pPr lvl="1" eaLnBrk="1" hangingPunct="1"/>
            <a:r>
              <a:rPr lang="en-US" altLang="en-US"/>
              <a:t>Overlapping, total </a:t>
            </a:r>
          </a:p>
          <a:p>
            <a:pPr lvl="1" eaLnBrk="1" hangingPunct="1"/>
            <a:r>
              <a:rPr lang="en-US" altLang="en-US"/>
              <a:t>Overlapping, partial</a:t>
            </a:r>
          </a:p>
          <a:p>
            <a:pPr eaLnBrk="1" hangingPunct="1"/>
            <a:r>
              <a:rPr lang="en-US" altLang="en-US"/>
              <a:t>Note: Generalization usually is total because the superclass is derived from the subclasses.</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Number Placeholder 3">
            <a:extLst>
              <a:ext uri="{FF2B5EF4-FFF2-40B4-BE49-F238E27FC236}">
                <a16:creationId xmlns:a16="http://schemas.microsoft.com/office/drawing/2014/main" id="{E7BD346B-EFE2-052D-889E-F40877EBC0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198EA50-4BDE-42C9-9E81-682A7D513A2A}" type="slidenum">
              <a:rPr lang="en-US" altLang="en-US" sz="1400">
                <a:solidFill>
                  <a:srgbClr val="990033"/>
                </a:solidFill>
              </a:rPr>
              <a:pPr/>
              <a:t>76</a:t>
            </a:fld>
            <a:endParaRPr lang="en-CA" altLang="en-US" sz="1400">
              <a:solidFill>
                <a:srgbClr val="990033"/>
              </a:solidFill>
            </a:endParaRPr>
          </a:p>
        </p:txBody>
      </p:sp>
      <p:sp>
        <p:nvSpPr>
          <p:cNvPr id="64514" name="Rectangle 2">
            <a:extLst>
              <a:ext uri="{FF2B5EF4-FFF2-40B4-BE49-F238E27FC236}">
                <a16:creationId xmlns:a16="http://schemas.microsoft.com/office/drawing/2014/main" id="{C33132EF-0484-73A5-D78E-D95ED6147E20}"/>
              </a:ext>
            </a:extLst>
          </p:cNvPr>
          <p:cNvSpPr>
            <a:spLocks noGrp="1" noChangeArrowheads="1"/>
          </p:cNvSpPr>
          <p:nvPr>
            <p:ph type="title"/>
          </p:nvPr>
        </p:nvSpPr>
        <p:spPr/>
        <p:txBody>
          <a:bodyPr/>
          <a:lstStyle/>
          <a:p>
            <a:pPr eaLnBrk="1" hangingPunct="1"/>
            <a:r>
              <a:rPr lang="en-US" altLang="en-US" sz="3200"/>
              <a:t>Example of disjoint partial Specialization</a:t>
            </a:r>
          </a:p>
        </p:txBody>
      </p:sp>
      <p:pic>
        <p:nvPicPr>
          <p:cNvPr id="64515" name="Picture 5" descr="fig04_04">
            <a:extLst>
              <a:ext uri="{FF2B5EF4-FFF2-40B4-BE49-F238E27FC236}">
                <a16:creationId xmlns:a16="http://schemas.microsoft.com/office/drawing/2014/main" id="{6A3362FE-672F-0E12-ACDF-B9AC08010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47850"/>
            <a:ext cx="8305800"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1">
            <a:extLst>
              <a:ext uri="{FF2B5EF4-FFF2-40B4-BE49-F238E27FC236}">
                <a16:creationId xmlns:a16="http://schemas.microsoft.com/office/drawing/2014/main" id="{5FE1D62D-BBC8-5489-2969-9BAA31CDB2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D3C43506-BC03-44B2-98B8-CD20C3DFFE4C}" type="slidenum">
              <a:rPr lang="en-US" altLang="en-US" sz="1400">
                <a:solidFill>
                  <a:srgbClr val="990033"/>
                </a:solidFill>
              </a:rPr>
              <a:pPr/>
              <a:t>77</a:t>
            </a:fld>
            <a:endParaRPr lang="en-CA" altLang="en-US" sz="1400">
              <a:solidFill>
                <a:srgbClr val="990033"/>
              </a:solidFill>
            </a:endParaRPr>
          </a:p>
        </p:txBody>
      </p:sp>
      <p:pic>
        <p:nvPicPr>
          <p:cNvPr id="66562" name="Picture 3" descr="fig04_05">
            <a:extLst>
              <a:ext uri="{FF2B5EF4-FFF2-40B4-BE49-F238E27FC236}">
                <a16:creationId xmlns:a16="http://schemas.microsoft.com/office/drawing/2014/main" id="{6BEDF87C-46D7-B5EC-A9DC-87A1F21C8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8" y="2432050"/>
            <a:ext cx="8539162"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 Box 4" descr="Pink tissue paper">
            <a:extLst>
              <a:ext uri="{FF2B5EF4-FFF2-40B4-BE49-F238E27FC236}">
                <a16:creationId xmlns:a16="http://schemas.microsoft.com/office/drawing/2014/main" id="{35680A84-BA97-344E-131A-474E4C970686}"/>
              </a:ext>
            </a:extLst>
          </p:cNvPr>
          <p:cNvSpPr txBox="1">
            <a:spLocks noChangeArrowheads="1"/>
          </p:cNvSpPr>
          <p:nvPr/>
        </p:nvSpPr>
        <p:spPr bwMode="auto">
          <a:xfrm>
            <a:off x="304800" y="868363"/>
            <a:ext cx="7239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2800">
                <a:solidFill>
                  <a:srgbClr val="800000"/>
                </a:solidFill>
              </a:rPr>
              <a:t>Example of overlapping total Specialization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3">
            <a:extLst>
              <a:ext uri="{FF2B5EF4-FFF2-40B4-BE49-F238E27FC236}">
                <a16:creationId xmlns:a16="http://schemas.microsoft.com/office/drawing/2014/main" id="{43AE61CE-EF36-84A6-DE2C-6FFF630E380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0AEBDB9-8313-40BA-A566-EF9B19F8155D}" type="slidenum">
              <a:rPr lang="en-US" altLang="en-US" sz="1400">
                <a:solidFill>
                  <a:srgbClr val="990033"/>
                </a:solidFill>
              </a:rPr>
              <a:pPr/>
              <a:t>78</a:t>
            </a:fld>
            <a:endParaRPr lang="en-CA" altLang="en-US" sz="1400">
              <a:solidFill>
                <a:srgbClr val="990033"/>
              </a:solidFill>
            </a:endParaRPr>
          </a:p>
        </p:txBody>
      </p:sp>
      <p:sp>
        <p:nvSpPr>
          <p:cNvPr id="68610" name="Rectangle 6">
            <a:extLst>
              <a:ext uri="{FF2B5EF4-FFF2-40B4-BE49-F238E27FC236}">
                <a16:creationId xmlns:a16="http://schemas.microsoft.com/office/drawing/2014/main" id="{89D119F8-F167-2350-12FE-DAD2962363C6}"/>
              </a:ext>
            </a:extLst>
          </p:cNvPr>
          <p:cNvSpPr>
            <a:spLocks noGrp="1" noChangeArrowheads="1"/>
          </p:cNvSpPr>
          <p:nvPr>
            <p:ph type="title"/>
          </p:nvPr>
        </p:nvSpPr>
        <p:spPr/>
        <p:txBody>
          <a:bodyPr/>
          <a:lstStyle/>
          <a:p>
            <a:pPr eaLnBrk="1" hangingPunct="1"/>
            <a:r>
              <a:rPr lang="en-US" altLang="en-US" sz="3200"/>
              <a:t>Specialization/Generalization Hierarchies, Lattices &amp; Shared Subclasses (1)</a:t>
            </a:r>
          </a:p>
        </p:txBody>
      </p:sp>
      <p:sp>
        <p:nvSpPr>
          <p:cNvPr id="68611" name="Rectangle 7">
            <a:extLst>
              <a:ext uri="{FF2B5EF4-FFF2-40B4-BE49-F238E27FC236}">
                <a16:creationId xmlns:a16="http://schemas.microsoft.com/office/drawing/2014/main" id="{412F6582-21D7-FC03-9561-A72FD09AABFC}"/>
              </a:ext>
            </a:extLst>
          </p:cNvPr>
          <p:cNvSpPr>
            <a:spLocks noGrp="1" noChangeArrowheads="1"/>
          </p:cNvSpPr>
          <p:nvPr>
            <p:ph type="body" idx="1"/>
          </p:nvPr>
        </p:nvSpPr>
        <p:spPr/>
        <p:txBody>
          <a:bodyPr/>
          <a:lstStyle/>
          <a:p>
            <a:pPr eaLnBrk="1" hangingPunct="1"/>
            <a:r>
              <a:rPr lang="en-US" altLang="en-US"/>
              <a:t>A subclass may itself have further subclasses specified on it </a:t>
            </a:r>
          </a:p>
          <a:p>
            <a:pPr lvl="1" eaLnBrk="1" hangingPunct="1"/>
            <a:r>
              <a:rPr lang="en-US" altLang="en-US"/>
              <a:t>forms a hierarchy or a lattice</a:t>
            </a:r>
          </a:p>
          <a:p>
            <a:pPr eaLnBrk="1" hangingPunct="1"/>
            <a:r>
              <a:rPr lang="en-US" altLang="en-US" b="1" i="1"/>
              <a:t>Hierarchy</a:t>
            </a:r>
            <a:r>
              <a:rPr lang="en-US" altLang="en-US"/>
              <a:t> has a constraint that every subclass has only one superclass (called </a:t>
            </a:r>
            <a:r>
              <a:rPr lang="en-US" altLang="en-US" b="1" i="1"/>
              <a:t>single inheritance</a:t>
            </a:r>
            <a:r>
              <a:rPr lang="en-US" altLang="en-US"/>
              <a:t>); this is basically a </a:t>
            </a:r>
            <a:r>
              <a:rPr lang="en-US" altLang="en-US" b="1" i="1"/>
              <a:t>tree structure</a:t>
            </a:r>
          </a:p>
          <a:p>
            <a:pPr eaLnBrk="1" hangingPunct="1"/>
            <a:r>
              <a:rPr lang="en-US" altLang="en-US"/>
              <a:t>In a </a:t>
            </a:r>
            <a:r>
              <a:rPr lang="en-US" altLang="en-US" b="1" i="1"/>
              <a:t>lattice</a:t>
            </a:r>
            <a:r>
              <a:rPr lang="en-US" altLang="en-US"/>
              <a:t>, a subclass can be subclass of more than one superclass (called </a:t>
            </a:r>
            <a:r>
              <a:rPr lang="en-US" altLang="en-US" b="1" i="1"/>
              <a:t>multiple inheritance</a:t>
            </a:r>
            <a:r>
              <a:rPr lang="en-US" altLang="en-US"/>
              <a:t>)</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1">
            <a:extLst>
              <a:ext uri="{FF2B5EF4-FFF2-40B4-BE49-F238E27FC236}">
                <a16:creationId xmlns:a16="http://schemas.microsoft.com/office/drawing/2014/main" id="{AC0B4C34-8661-73A9-79C6-27EA92312E3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D42E2C2-74F5-4E22-B739-56111AA8C4B5}" type="slidenum">
              <a:rPr lang="en-US" altLang="en-US" sz="1400">
                <a:solidFill>
                  <a:srgbClr val="990033"/>
                </a:solidFill>
              </a:rPr>
              <a:pPr/>
              <a:t>79</a:t>
            </a:fld>
            <a:endParaRPr lang="en-CA" altLang="en-US" sz="1400">
              <a:solidFill>
                <a:srgbClr val="990033"/>
              </a:solidFill>
            </a:endParaRPr>
          </a:p>
        </p:txBody>
      </p:sp>
      <p:pic>
        <p:nvPicPr>
          <p:cNvPr id="70658" name="Picture 3" descr="fig04_06">
            <a:extLst>
              <a:ext uri="{FF2B5EF4-FFF2-40B4-BE49-F238E27FC236}">
                <a16:creationId xmlns:a16="http://schemas.microsoft.com/office/drawing/2014/main" id="{44286B8C-D55C-E475-9356-BAB49A0C5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192338"/>
            <a:ext cx="8440738" cy="342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Text Box 4" descr="Pink tissue paper">
            <a:extLst>
              <a:ext uri="{FF2B5EF4-FFF2-40B4-BE49-F238E27FC236}">
                <a16:creationId xmlns:a16="http://schemas.microsoft.com/office/drawing/2014/main" id="{704527E3-402C-0004-216E-74E2B2F430AA}"/>
              </a:ext>
            </a:extLst>
          </p:cNvPr>
          <p:cNvSpPr txBox="1">
            <a:spLocks noChangeArrowheads="1"/>
          </p:cNvSpPr>
          <p:nvPr/>
        </p:nvSpPr>
        <p:spPr bwMode="auto">
          <a:xfrm>
            <a:off x="457200" y="8382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a:solidFill>
                  <a:srgbClr val="800000"/>
                </a:solidFill>
              </a:rPr>
              <a:t>Shared Subclass “Engineering_Manager”</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3">
            <a:extLst>
              <a:ext uri="{FF2B5EF4-FFF2-40B4-BE49-F238E27FC236}">
                <a16:creationId xmlns:a16="http://schemas.microsoft.com/office/drawing/2014/main" id="{50F2757B-EEF1-F7D3-705C-F30B90148C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BD461E10-FD6B-4E33-8FD0-81EC1F5DEDB3}" type="slidenum">
              <a:rPr lang="en-US" altLang="en-US" sz="1400">
                <a:solidFill>
                  <a:srgbClr val="990033"/>
                </a:solidFill>
              </a:rPr>
              <a:pPr/>
              <a:t>80</a:t>
            </a:fld>
            <a:endParaRPr lang="en-CA" altLang="en-US" sz="1400">
              <a:solidFill>
                <a:srgbClr val="990033"/>
              </a:solidFill>
            </a:endParaRPr>
          </a:p>
        </p:txBody>
      </p:sp>
      <p:sp>
        <p:nvSpPr>
          <p:cNvPr id="72706" name="Rectangle 4">
            <a:extLst>
              <a:ext uri="{FF2B5EF4-FFF2-40B4-BE49-F238E27FC236}">
                <a16:creationId xmlns:a16="http://schemas.microsoft.com/office/drawing/2014/main" id="{C95F89A9-3C83-227C-5F4A-B98005AA164B}"/>
              </a:ext>
            </a:extLst>
          </p:cNvPr>
          <p:cNvSpPr>
            <a:spLocks noGrp="1" noChangeArrowheads="1"/>
          </p:cNvSpPr>
          <p:nvPr>
            <p:ph type="title"/>
          </p:nvPr>
        </p:nvSpPr>
        <p:spPr/>
        <p:txBody>
          <a:bodyPr/>
          <a:lstStyle/>
          <a:p>
            <a:pPr eaLnBrk="1" hangingPunct="1"/>
            <a:r>
              <a:rPr lang="en-US" altLang="en-US" sz="3200"/>
              <a:t>Specialization/Generalization Hierarchies, Lattices &amp; Shared Subclasses (2)</a:t>
            </a:r>
          </a:p>
        </p:txBody>
      </p:sp>
      <p:sp>
        <p:nvSpPr>
          <p:cNvPr id="72707" name="Rectangle 5">
            <a:extLst>
              <a:ext uri="{FF2B5EF4-FFF2-40B4-BE49-F238E27FC236}">
                <a16:creationId xmlns:a16="http://schemas.microsoft.com/office/drawing/2014/main" id="{22FD0F77-A950-4D68-3343-75A69F741140}"/>
              </a:ext>
            </a:extLst>
          </p:cNvPr>
          <p:cNvSpPr>
            <a:spLocks noGrp="1" noChangeArrowheads="1"/>
          </p:cNvSpPr>
          <p:nvPr>
            <p:ph type="body" idx="1"/>
          </p:nvPr>
        </p:nvSpPr>
        <p:spPr/>
        <p:txBody>
          <a:bodyPr/>
          <a:lstStyle/>
          <a:p>
            <a:pPr eaLnBrk="1" hangingPunct="1"/>
            <a:r>
              <a:rPr lang="en-US" altLang="en-US" sz="2400"/>
              <a:t>In a lattice or hierarchy, a subclass inherits attributes not only of its direct superclass, but also of all its predecessor superclasses</a:t>
            </a:r>
          </a:p>
          <a:p>
            <a:pPr eaLnBrk="1" hangingPunct="1"/>
            <a:r>
              <a:rPr lang="en-US" altLang="en-US" sz="2400"/>
              <a:t>A subclass with more than one superclass is called a shared subclass (multiple inheritance)</a:t>
            </a:r>
          </a:p>
          <a:p>
            <a:pPr eaLnBrk="1" hangingPunct="1"/>
            <a:r>
              <a:rPr lang="en-US" altLang="en-US" sz="2400"/>
              <a:t>Can have:</a:t>
            </a:r>
          </a:p>
          <a:p>
            <a:pPr lvl="1" eaLnBrk="1" hangingPunct="1"/>
            <a:r>
              <a:rPr lang="en-US" altLang="en-US" sz="2200" i="1"/>
              <a:t>specialization</a:t>
            </a:r>
            <a:r>
              <a:rPr lang="en-US" altLang="en-US" sz="2200"/>
              <a:t> hierarchies or lattices, or </a:t>
            </a:r>
          </a:p>
          <a:p>
            <a:pPr lvl="1" eaLnBrk="1" hangingPunct="1"/>
            <a:r>
              <a:rPr lang="en-US" altLang="en-US" sz="2200" i="1"/>
              <a:t>generalization</a:t>
            </a:r>
            <a:r>
              <a:rPr lang="en-US" altLang="en-US" sz="2200"/>
              <a:t> hierarchies or lattices, </a:t>
            </a:r>
          </a:p>
          <a:p>
            <a:pPr lvl="1" eaLnBrk="1" hangingPunct="1"/>
            <a:r>
              <a:rPr lang="en-US" altLang="en-US" sz="2200"/>
              <a:t>depending on how they were </a:t>
            </a:r>
            <a:r>
              <a:rPr lang="en-US" altLang="en-US" sz="2200" i="1"/>
              <a:t>derived</a:t>
            </a:r>
          </a:p>
          <a:p>
            <a:pPr eaLnBrk="1" hangingPunct="1"/>
            <a:r>
              <a:rPr lang="en-US" altLang="en-US" sz="2400"/>
              <a:t>We just use </a:t>
            </a:r>
            <a:r>
              <a:rPr lang="en-US" altLang="en-US" sz="2400" i="1"/>
              <a:t>specialization</a:t>
            </a:r>
            <a:r>
              <a:rPr lang="en-US" altLang="en-US" sz="2400"/>
              <a:t> (to stand for the end result of either specialization or generalization)</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3">
            <a:extLst>
              <a:ext uri="{FF2B5EF4-FFF2-40B4-BE49-F238E27FC236}">
                <a16:creationId xmlns:a16="http://schemas.microsoft.com/office/drawing/2014/main" id="{BE3DE00C-B772-C4C4-FCE8-BEC7A74A2E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DA4A438C-56EB-4748-95EF-7D29D074A1C6}" type="slidenum">
              <a:rPr lang="en-US" altLang="en-US" sz="1400">
                <a:solidFill>
                  <a:srgbClr val="990033"/>
                </a:solidFill>
              </a:rPr>
              <a:pPr/>
              <a:t>81</a:t>
            </a:fld>
            <a:endParaRPr lang="en-CA" altLang="en-US" sz="1400">
              <a:solidFill>
                <a:srgbClr val="990033"/>
              </a:solidFill>
            </a:endParaRPr>
          </a:p>
        </p:txBody>
      </p:sp>
      <p:sp>
        <p:nvSpPr>
          <p:cNvPr id="74754" name="Rectangle 4">
            <a:extLst>
              <a:ext uri="{FF2B5EF4-FFF2-40B4-BE49-F238E27FC236}">
                <a16:creationId xmlns:a16="http://schemas.microsoft.com/office/drawing/2014/main" id="{A71AD68C-EFE0-50B8-133D-72FA954EC495}"/>
              </a:ext>
            </a:extLst>
          </p:cNvPr>
          <p:cNvSpPr>
            <a:spLocks noGrp="1" noChangeArrowheads="1"/>
          </p:cNvSpPr>
          <p:nvPr>
            <p:ph type="title"/>
          </p:nvPr>
        </p:nvSpPr>
        <p:spPr/>
        <p:txBody>
          <a:bodyPr/>
          <a:lstStyle/>
          <a:p>
            <a:pPr eaLnBrk="1" hangingPunct="1"/>
            <a:r>
              <a:rPr lang="en-US" altLang="en-US" sz="3200"/>
              <a:t>Specialization/Generalization Hierarchies, Lattices &amp; Shared Subclasses (3)</a:t>
            </a:r>
          </a:p>
        </p:txBody>
      </p:sp>
      <p:sp>
        <p:nvSpPr>
          <p:cNvPr id="74755" name="Rectangle 5">
            <a:extLst>
              <a:ext uri="{FF2B5EF4-FFF2-40B4-BE49-F238E27FC236}">
                <a16:creationId xmlns:a16="http://schemas.microsoft.com/office/drawing/2014/main" id="{D85B689F-BACC-590F-4DBD-CF914A746CB3}"/>
              </a:ext>
            </a:extLst>
          </p:cNvPr>
          <p:cNvSpPr>
            <a:spLocks noGrp="1" noChangeArrowheads="1"/>
          </p:cNvSpPr>
          <p:nvPr>
            <p:ph type="body" idx="1"/>
          </p:nvPr>
        </p:nvSpPr>
        <p:spPr/>
        <p:txBody>
          <a:bodyPr/>
          <a:lstStyle/>
          <a:p>
            <a:pPr eaLnBrk="1" hangingPunct="1"/>
            <a:r>
              <a:rPr lang="en-US" altLang="en-US"/>
              <a:t>In </a:t>
            </a:r>
            <a:r>
              <a:rPr lang="en-US" altLang="en-US" i="1"/>
              <a:t>specialization</a:t>
            </a:r>
            <a:r>
              <a:rPr lang="en-US" altLang="en-US"/>
              <a:t>, start with an entity type and then define subclasses of the entity type by successive specialization</a:t>
            </a:r>
          </a:p>
          <a:p>
            <a:pPr lvl="1" eaLnBrk="1" hangingPunct="1"/>
            <a:r>
              <a:rPr lang="en-US" altLang="en-US"/>
              <a:t>called a </a:t>
            </a:r>
            <a:r>
              <a:rPr lang="en-US" altLang="en-US" i="1"/>
              <a:t>top down</a:t>
            </a:r>
            <a:r>
              <a:rPr lang="en-US" altLang="en-US"/>
              <a:t> conceptual refinement process</a:t>
            </a:r>
          </a:p>
          <a:p>
            <a:pPr eaLnBrk="1" hangingPunct="1"/>
            <a:r>
              <a:rPr lang="en-US" altLang="en-US"/>
              <a:t>In </a:t>
            </a:r>
            <a:r>
              <a:rPr lang="en-US" altLang="en-US" i="1"/>
              <a:t>generalization</a:t>
            </a:r>
            <a:r>
              <a:rPr lang="en-US" altLang="en-US"/>
              <a:t>, start with many entity types and generalize those that have common properties</a:t>
            </a:r>
          </a:p>
          <a:p>
            <a:pPr lvl="1" eaLnBrk="1" hangingPunct="1"/>
            <a:r>
              <a:rPr lang="en-US" altLang="en-US"/>
              <a:t>Called a </a:t>
            </a:r>
            <a:r>
              <a:rPr lang="en-US" altLang="en-US" i="1"/>
              <a:t>bottom up</a:t>
            </a:r>
            <a:r>
              <a:rPr lang="en-US" altLang="en-US"/>
              <a:t> conceptual synthesis process</a:t>
            </a:r>
          </a:p>
          <a:p>
            <a:pPr eaLnBrk="1" hangingPunct="1"/>
            <a:r>
              <a:rPr lang="en-US" altLang="en-US"/>
              <a:t>In practice, a </a:t>
            </a:r>
            <a:r>
              <a:rPr lang="en-US" altLang="en-US" i="1"/>
              <a:t>combination of both processes</a:t>
            </a:r>
            <a:r>
              <a:rPr lang="en-US" altLang="en-US"/>
              <a:t> is usually employed </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3">
            <a:extLst>
              <a:ext uri="{FF2B5EF4-FFF2-40B4-BE49-F238E27FC236}">
                <a16:creationId xmlns:a16="http://schemas.microsoft.com/office/drawing/2014/main" id="{7C56EBC9-0C20-F8E9-6DE5-772D684EF8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9EF78E51-31C6-4245-B657-3DC5961EEE60}" type="slidenum">
              <a:rPr lang="en-US" altLang="en-US" sz="1400">
                <a:solidFill>
                  <a:srgbClr val="990033"/>
                </a:solidFill>
              </a:rPr>
              <a:pPr/>
              <a:t>82</a:t>
            </a:fld>
            <a:endParaRPr lang="en-CA" altLang="en-US" sz="1400">
              <a:solidFill>
                <a:srgbClr val="990033"/>
              </a:solidFill>
            </a:endParaRPr>
          </a:p>
        </p:txBody>
      </p:sp>
      <p:sp>
        <p:nvSpPr>
          <p:cNvPr id="76802" name="Rectangle 2">
            <a:extLst>
              <a:ext uri="{FF2B5EF4-FFF2-40B4-BE49-F238E27FC236}">
                <a16:creationId xmlns:a16="http://schemas.microsoft.com/office/drawing/2014/main" id="{BF468C01-1F6C-925F-6E53-00DB4F545157}"/>
              </a:ext>
            </a:extLst>
          </p:cNvPr>
          <p:cNvSpPr>
            <a:spLocks noGrp="1" noChangeArrowheads="1"/>
          </p:cNvSpPr>
          <p:nvPr>
            <p:ph type="title"/>
          </p:nvPr>
        </p:nvSpPr>
        <p:spPr/>
        <p:txBody>
          <a:bodyPr/>
          <a:lstStyle/>
          <a:p>
            <a:pPr eaLnBrk="1" hangingPunct="1"/>
            <a:r>
              <a:rPr lang="en-US" altLang="en-US" sz="3200"/>
              <a:t>Specialization / Generalization Lattice Example </a:t>
            </a:r>
            <a:r>
              <a:rPr lang="en-US" altLang="en-US" sz="2400"/>
              <a:t>(UNIVERSITY)</a:t>
            </a:r>
          </a:p>
        </p:txBody>
      </p:sp>
      <p:pic>
        <p:nvPicPr>
          <p:cNvPr id="76803" name="Picture 5" descr="fig04_07">
            <a:extLst>
              <a:ext uri="{FF2B5EF4-FFF2-40B4-BE49-F238E27FC236}">
                <a16:creationId xmlns:a16="http://schemas.microsoft.com/office/drawing/2014/main" id="{907DAA18-B3CE-022E-FF7F-29A21559E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00200"/>
            <a:ext cx="5867400" cy="48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3">
            <a:extLst>
              <a:ext uri="{FF2B5EF4-FFF2-40B4-BE49-F238E27FC236}">
                <a16:creationId xmlns:a16="http://schemas.microsoft.com/office/drawing/2014/main" id="{723D70E1-5964-65EB-7DFC-8495BFB6498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FFD67567-77E7-40B3-86DB-16A93826B76C}" type="slidenum">
              <a:rPr lang="en-US" altLang="en-US" sz="1400">
                <a:solidFill>
                  <a:srgbClr val="990033"/>
                </a:solidFill>
              </a:rPr>
              <a:pPr/>
              <a:t>83</a:t>
            </a:fld>
            <a:endParaRPr lang="en-CA" altLang="en-US" sz="1400">
              <a:solidFill>
                <a:srgbClr val="990033"/>
              </a:solidFill>
            </a:endParaRPr>
          </a:p>
        </p:txBody>
      </p:sp>
      <p:sp>
        <p:nvSpPr>
          <p:cNvPr id="78850" name="Rectangle 4">
            <a:extLst>
              <a:ext uri="{FF2B5EF4-FFF2-40B4-BE49-F238E27FC236}">
                <a16:creationId xmlns:a16="http://schemas.microsoft.com/office/drawing/2014/main" id="{30F42FA4-0B2F-F280-C23E-2C0714F1B6A7}"/>
              </a:ext>
            </a:extLst>
          </p:cNvPr>
          <p:cNvSpPr>
            <a:spLocks noGrp="1" noChangeArrowheads="1"/>
          </p:cNvSpPr>
          <p:nvPr>
            <p:ph type="title"/>
          </p:nvPr>
        </p:nvSpPr>
        <p:spPr/>
        <p:txBody>
          <a:bodyPr/>
          <a:lstStyle/>
          <a:p>
            <a:pPr eaLnBrk="1" hangingPunct="1"/>
            <a:r>
              <a:rPr lang="en-US" altLang="en-US"/>
              <a:t>Categories (UNION TYPES) (1)</a:t>
            </a:r>
          </a:p>
        </p:txBody>
      </p:sp>
      <p:sp>
        <p:nvSpPr>
          <p:cNvPr id="78851" name="Rectangle 5">
            <a:extLst>
              <a:ext uri="{FF2B5EF4-FFF2-40B4-BE49-F238E27FC236}">
                <a16:creationId xmlns:a16="http://schemas.microsoft.com/office/drawing/2014/main" id="{083FB83B-BB1A-188B-0EE9-1F9B3E77B726}"/>
              </a:ext>
            </a:extLst>
          </p:cNvPr>
          <p:cNvSpPr>
            <a:spLocks noGrp="1" noChangeArrowheads="1"/>
          </p:cNvSpPr>
          <p:nvPr>
            <p:ph type="body" idx="1"/>
          </p:nvPr>
        </p:nvSpPr>
        <p:spPr/>
        <p:txBody>
          <a:bodyPr/>
          <a:lstStyle/>
          <a:p>
            <a:pPr eaLnBrk="1" hangingPunct="1"/>
            <a:r>
              <a:rPr lang="en-US" altLang="en-US" sz="2400" dirty="0"/>
              <a:t>All of the </a:t>
            </a:r>
            <a:r>
              <a:rPr lang="en-US" altLang="en-US" sz="2400" i="1" dirty="0"/>
              <a:t>superclass/subclass relationships</a:t>
            </a:r>
            <a:r>
              <a:rPr lang="en-US" altLang="en-US" sz="2400" dirty="0"/>
              <a:t> we have seen thus far have a single superclass </a:t>
            </a:r>
          </a:p>
          <a:p>
            <a:pPr eaLnBrk="1" hangingPunct="1"/>
            <a:r>
              <a:rPr lang="en-US" altLang="en-US" sz="2400" dirty="0"/>
              <a:t>A shared subclass is a subclass in:</a:t>
            </a:r>
          </a:p>
          <a:p>
            <a:pPr lvl="1" eaLnBrk="1" hangingPunct="1"/>
            <a:r>
              <a:rPr lang="en-US" altLang="en-US" sz="2200" i="1" dirty="0"/>
              <a:t>more than one</a:t>
            </a:r>
            <a:r>
              <a:rPr lang="en-US" altLang="en-US" sz="2200" dirty="0"/>
              <a:t> distinct superclass/subclass relationships</a:t>
            </a:r>
          </a:p>
          <a:p>
            <a:pPr lvl="1" eaLnBrk="1" hangingPunct="1"/>
            <a:r>
              <a:rPr lang="en-US" altLang="en-US" sz="2200" dirty="0"/>
              <a:t>each relationship has a </a:t>
            </a:r>
            <a:r>
              <a:rPr lang="en-US" altLang="en-US" sz="2200" i="1" dirty="0"/>
              <a:t>single</a:t>
            </a:r>
            <a:r>
              <a:rPr lang="en-US" altLang="en-US" sz="2200" dirty="0"/>
              <a:t> superclass</a:t>
            </a:r>
          </a:p>
          <a:p>
            <a:pPr lvl="1" eaLnBrk="1" hangingPunct="1"/>
            <a:r>
              <a:rPr lang="en-US" altLang="en-US" sz="2200" dirty="0"/>
              <a:t>shared subclass leads to multiple inheritance</a:t>
            </a:r>
          </a:p>
          <a:p>
            <a:pPr eaLnBrk="1" hangingPunct="1"/>
            <a:r>
              <a:rPr lang="en-US" altLang="en-US" sz="2400" dirty="0"/>
              <a:t>In some cases, we need to model a </a:t>
            </a:r>
            <a:r>
              <a:rPr lang="en-US" altLang="en-US" sz="2400" i="1" dirty="0"/>
              <a:t>single superclass/subclass relationship</a:t>
            </a:r>
            <a:r>
              <a:rPr lang="en-US" altLang="en-US" sz="2400" dirty="0"/>
              <a:t> </a:t>
            </a:r>
            <a:r>
              <a:rPr lang="en-US" altLang="en-US" sz="2400" u="sng" dirty="0"/>
              <a:t>with </a:t>
            </a:r>
            <a:r>
              <a:rPr lang="en-US" altLang="en-US" sz="2400" i="1" u="sng" dirty="0"/>
              <a:t>more than one</a:t>
            </a:r>
            <a:r>
              <a:rPr lang="en-US" altLang="en-US" sz="2400" u="sng" dirty="0"/>
              <a:t> superclass </a:t>
            </a:r>
          </a:p>
          <a:p>
            <a:pPr eaLnBrk="1" hangingPunct="1"/>
            <a:r>
              <a:rPr lang="en-US" altLang="en-US" sz="2400" dirty="0" err="1"/>
              <a:t>Superclasses</a:t>
            </a:r>
            <a:r>
              <a:rPr lang="en-US" altLang="en-US" sz="2400" dirty="0"/>
              <a:t> can represent different entity types </a:t>
            </a:r>
          </a:p>
          <a:p>
            <a:pPr eaLnBrk="1" hangingPunct="1"/>
            <a:r>
              <a:rPr lang="en-US" altLang="en-US" sz="2400" dirty="0"/>
              <a:t>Such a subclass is called a category or UNION TYPE </a:t>
            </a: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3">
            <a:extLst>
              <a:ext uri="{FF2B5EF4-FFF2-40B4-BE49-F238E27FC236}">
                <a16:creationId xmlns:a16="http://schemas.microsoft.com/office/drawing/2014/main" id="{D080CC44-7964-D5F8-FAD3-2151218C567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CBD1B03-B794-4517-9E0C-4A271E24B9E4}" type="slidenum">
              <a:rPr lang="en-US" altLang="en-US" sz="1400">
                <a:solidFill>
                  <a:srgbClr val="990033"/>
                </a:solidFill>
              </a:rPr>
              <a:pPr/>
              <a:t>84</a:t>
            </a:fld>
            <a:endParaRPr lang="en-CA" altLang="en-US" sz="1400">
              <a:solidFill>
                <a:srgbClr val="990033"/>
              </a:solidFill>
            </a:endParaRPr>
          </a:p>
        </p:txBody>
      </p:sp>
      <p:sp>
        <p:nvSpPr>
          <p:cNvPr id="80898" name="Rectangle 2">
            <a:extLst>
              <a:ext uri="{FF2B5EF4-FFF2-40B4-BE49-F238E27FC236}">
                <a16:creationId xmlns:a16="http://schemas.microsoft.com/office/drawing/2014/main" id="{CCDCD65B-3985-3AAC-1E16-66C438D1098F}"/>
              </a:ext>
            </a:extLst>
          </p:cNvPr>
          <p:cNvSpPr>
            <a:spLocks noGrp="1" noChangeArrowheads="1"/>
          </p:cNvSpPr>
          <p:nvPr>
            <p:ph type="title"/>
          </p:nvPr>
        </p:nvSpPr>
        <p:spPr/>
        <p:txBody>
          <a:bodyPr/>
          <a:lstStyle/>
          <a:p>
            <a:pPr eaLnBrk="1" hangingPunct="1"/>
            <a:r>
              <a:rPr lang="en-US" altLang="en-US"/>
              <a:t>Categories (UNION TYPES) (2)</a:t>
            </a:r>
          </a:p>
        </p:txBody>
      </p:sp>
      <p:sp>
        <p:nvSpPr>
          <p:cNvPr id="80899" name="Rectangle 3">
            <a:extLst>
              <a:ext uri="{FF2B5EF4-FFF2-40B4-BE49-F238E27FC236}">
                <a16:creationId xmlns:a16="http://schemas.microsoft.com/office/drawing/2014/main" id="{A28570B6-8A52-9C2E-5B3C-AF70D11162CF}"/>
              </a:ext>
            </a:extLst>
          </p:cNvPr>
          <p:cNvSpPr>
            <a:spLocks noGrp="1" noChangeArrowheads="1"/>
          </p:cNvSpPr>
          <p:nvPr>
            <p:ph type="body" idx="1"/>
          </p:nvPr>
        </p:nvSpPr>
        <p:spPr/>
        <p:txBody>
          <a:bodyPr/>
          <a:lstStyle/>
          <a:p>
            <a:pPr eaLnBrk="1" hangingPunct="1"/>
            <a:r>
              <a:rPr lang="en-US" altLang="en-US" sz="2400"/>
              <a:t>Example: In a database for vehicle registration, a vehicle owner can be a PERSON, a BANK (holding a lien on a vehicle) or a COMPANY.</a:t>
            </a:r>
          </a:p>
          <a:p>
            <a:pPr lvl="1" eaLnBrk="1" hangingPunct="1"/>
            <a:r>
              <a:rPr lang="en-US" altLang="en-US" sz="2200"/>
              <a:t>A </a:t>
            </a:r>
            <a:r>
              <a:rPr lang="en-US" altLang="en-US" sz="2200" i="1"/>
              <a:t>category</a:t>
            </a:r>
            <a:r>
              <a:rPr lang="en-US" altLang="en-US" sz="2200"/>
              <a:t> (UNION type) called OWNER is created to represent a subset of the </a:t>
            </a:r>
            <a:r>
              <a:rPr lang="en-US" altLang="en-US" sz="2200" i="1"/>
              <a:t>union</a:t>
            </a:r>
            <a:r>
              <a:rPr lang="en-US" altLang="en-US" sz="2200"/>
              <a:t> of the three superclasses COMPANY, BANK, and PERSON </a:t>
            </a:r>
          </a:p>
          <a:p>
            <a:pPr lvl="1" eaLnBrk="1" hangingPunct="1"/>
            <a:r>
              <a:rPr lang="en-US" altLang="en-US" sz="2200"/>
              <a:t>A category member must exist in </a:t>
            </a:r>
            <a:r>
              <a:rPr lang="en-US" altLang="en-US" sz="2200" b="1" i="1"/>
              <a:t>at least one</a:t>
            </a:r>
            <a:r>
              <a:rPr lang="en-US" altLang="en-US" sz="2200"/>
              <a:t> </a:t>
            </a:r>
            <a:r>
              <a:rPr lang="en-US" altLang="en-US" sz="2200" b="1" i="1"/>
              <a:t>(typically just one)</a:t>
            </a:r>
            <a:r>
              <a:rPr lang="en-US" altLang="en-US" sz="2200"/>
              <a:t> of its superclasses</a:t>
            </a:r>
          </a:p>
          <a:p>
            <a:pPr eaLnBrk="1" hangingPunct="1"/>
            <a:r>
              <a:rPr lang="en-US" altLang="en-US" sz="2400"/>
              <a:t>Difference from </a:t>
            </a:r>
            <a:r>
              <a:rPr lang="en-US" altLang="en-US" sz="2400" i="1"/>
              <a:t>shared subclass</a:t>
            </a:r>
            <a:r>
              <a:rPr lang="en-US" altLang="en-US" sz="2400"/>
              <a:t>, which is a:</a:t>
            </a:r>
            <a:endParaRPr lang="en-US" altLang="en-US" sz="2400" i="1"/>
          </a:p>
          <a:p>
            <a:pPr lvl="1" eaLnBrk="1" hangingPunct="1"/>
            <a:r>
              <a:rPr lang="en-US" altLang="en-US" sz="2200"/>
              <a:t>subset of the </a:t>
            </a:r>
            <a:r>
              <a:rPr lang="en-US" altLang="en-US" sz="2200" i="1"/>
              <a:t>intersection</a:t>
            </a:r>
            <a:r>
              <a:rPr lang="en-US" altLang="en-US" sz="2200"/>
              <a:t> of its superclasses</a:t>
            </a:r>
          </a:p>
          <a:p>
            <a:pPr lvl="1" eaLnBrk="1" hangingPunct="1"/>
            <a:r>
              <a:rPr lang="en-US" altLang="en-US" sz="2200"/>
              <a:t>shared subclass member must exist in </a:t>
            </a:r>
            <a:r>
              <a:rPr lang="en-US" altLang="en-US" sz="2200" b="1" i="1"/>
              <a:t>all</a:t>
            </a:r>
            <a:r>
              <a:rPr lang="en-US" altLang="en-US" sz="2200"/>
              <a:t> of its superclasses</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Number Placeholder 3">
            <a:extLst>
              <a:ext uri="{FF2B5EF4-FFF2-40B4-BE49-F238E27FC236}">
                <a16:creationId xmlns:a16="http://schemas.microsoft.com/office/drawing/2014/main" id="{83B56539-1FAA-A536-E4A9-CB4C4AFEE35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BB1CF62-52FE-4127-B4DB-9602D59826D4}" type="slidenum">
              <a:rPr lang="en-US" altLang="en-US" sz="1400">
                <a:solidFill>
                  <a:srgbClr val="990033"/>
                </a:solidFill>
              </a:rPr>
              <a:pPr/>
              <a:t>85</a:t>
            </a:fld>
            <a:endParaRPr lang="en-CA" altLang="en-US" sz="1400">
              <a:solidFill>
                <a:srgbClr val="990033"/>
              </a:solidFill>
            </a:endParaRPr>
          </a:p>
        </p:txBody>
      </p:sp>
      <p:sp>
        <p:nvSpPr>
          <p:cNvPr id="82946" name="Rectangle 5">
            <a:extLst>
              <a:ext uri="{FF2B5EF4-FFF2-40B4-BE49-F238E27FC236}">
                <a16:creationId xmlns:a16="http://schemas.microsoft.com/office/drawing/2014/main" id="{B2DA516E-763E-7B53-D535-CBA241366392}"/>
              </a:ext>
            </a:extLst>
          </p:cNvPr>
          <p:cNvSpPr>
            <a:spLocks noGrp="1" noChangeArrowheads="1"/>
          </p:cNvSpPr>
          <p:nvPr>
            <p:ph type="title"/>
          </p:nvPr>
        </p:nvSpPr>
        <p:spPr/>
        <p:txBody>
          <a:bodyPr/>
          <a:lstStyle/>
          <a:p>
            <a:pPr eaLnBrk="1" hangingPunct="1"/>
            <a:r>
              <a:rPr lang="en-US" altLang="en-US"/>
              <a:t>Two categories (UNION types): OWNER, REGISTERED_VEHICLE</a:t>
            </a:r>
          </a:p>
        </p:txBody>
      </p:sp>
      <p:pic>
        <p:nvPicPr>
          <p:cNvPr id="82947" name="Picture 7" descr="fig04_08">
            <a:extLst>
              <a:ext uri="{FF2B5EF4-FFF2-40B4-BE49-F238E27FC236}">
                <a16:creationId xmlns:a16="http://schemas.microsoft.com/office/drawing/2014/main" id="{C3BDCDE9-867E-BE67-107F-6C33D80E7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600200"/>
            <a:ext cx="47482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11092815" y="6428920"/>
            <a:ext cx="219075" cy="211454"/>
          </a:xfrm>
          <a:prstGeom prst="rect">
            <a:avLst/>
          </a:prstGeom>
        </p:spPr>
        <p:txBody>
          <a:bodyPr vert="horz" wrap="square" lIns="0" tIns="0" rIns="0" bIns="0" rtlCol="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86</a:t>
            </a:fld>
            <a:endParaRPr spc="-19" dirty="0"/>
          </a:p>
        </p:txBody>
      </p:sp>
      <p:sp>
        <p:nvSpPr>
          <p:cNvPr id="2" name="object 2"/>
          <p:cNvSpPr txBox="1">
            <a:spLocks noGrp="1"/>
          </p:cNvSpPr>
          <p:nvPr>
            <p:ph type="title"/>
          </p:nvPr>
        </p:nvSpPr>
        <p:spPr>
          <a:xfrm>
            <a:off x="628651" y="2714826"/>
            <a:ext cx="8175308" cy="702115"/>
          </a:xfrm>
          <a:prstGeom prst="rect">
            <a:avLst/>
          </a:prstGeom>
        </p:spPr>
        <p:txBody>
          <a:bodyPr vert="horz" wrap="square" lIns="0" tIns="9525" rIns="0" bIns="0" numCol="1" rtlCol="0" anchor="b" anchorCtr="0" compatLnSpc="1">
            <a:prstTxWarp prst="textNoShape">
              <a:avLst/>
            </a:prstTxWarp>
            <a:spAutoFit/>
          </a:bodyPr>
          <a:lstStyle/>
          <a:p>
            <a:pPr marL="9525" algn="ctr">
              <a:spcBef>
                <a:spcPts val="75"/>
              </a:spcBef>
            </a:pPr>
            <a:r>
              <a:rPr lang="en-US" sz="4500" dirty="0"/>
              <a:t>Is it 6:05 yet?</a:t>
            </a:r>
            <a:endParaRPr sz="4500" dirty="0"/>
          </a:p>
        </p:txBody>
      </p:sp>
    </p:spTree>
    <p:extLst>
      <p:ext uri="{BB962C8B-B14F-4D97-AF65-F5344CB8AC3E}">
        <p14:creationId xmlns:p14="http://schemas.microsoft.com/office/powerpoint/2010/main" val="4289596156"/>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D85A-4296-0A00-A5E3-3E38D28CEEF5}"/>
              </a:ext>
            </a:extLst>
          </p:cNvPr>
          <p:cNvSpPr>
            <a:spLocks noGrp="1"/>
          </p:cNvSpPr>
          <p:nvPr>
            <p:ph type="title"/>
          </p:nvPr>
        </p:nvSpPr>
        <p:spPr>
          <a:xfrm>
            <a:off x="434236" y="838200"/>
            <a:ext cx="8473499" cy="507831"/>
          </a:xfrm>
        </p:spPr>
        <p:txBody>
          <a:bodyPr/>
          <a:lstStyle/>
          <a:p>
            <a:r>
              <a:rPr lang="en-US" dirty="0"/>
              <a:t>Discussion 05 (6:05 – 6:15)</a:t>
            </a:r>
            <a:br>
              <a:rPr lang="en-US" dirty="0"/>
            </a:br>
            <a:r>
              <a:rPr lang="en-US" kern="100" dirty="0">
                <a:effectLst/>
                <a:latin typeface="Aptos" panose="020B0004020202020204" pitchFamily="34" charset="0"/>
                <a:ea typeface="Aptos" panose="020B0004020202020204" pitchFamily="34" charset="0"/>
                <a:cs typeface="Arial" panose="020B0604020202020204" pitchFamily="34" charset="0"/>
              </a:rPr>
              <a:t>EER Modeling for Library Database</a:t>
            </a:r>
            <a:endParaRPr lang="en-US" dirty="0"/>
          </a:p>
        </p:txBody>
      </p:sp>
      <p:sp>
        <p:nvSpPr>
          <p:cNvPr id="6" name="Text Placeholder 5">
            <a:extLst>
              <a:ext uri="{FF2B5EF4-FFF2-40B4-BE49-F238E27FC236}">
                <a16:creationId xmlns:a16="http://schemas.microsoft.com/office/drawing/2014/main" id="{DDFE5234-7A0D-4638-F56B-59690761EA0C}"/>
              </a:ext>
            </a:extLst>
          </p:cNvPr>
          <p:cNvSpPr>
            <a:spLocks noGrp="1"/>
          </p:cNvSpPr>
          <p:nvPr>
            <p:ph type="body" idx="1"/>
          </p:nvPr>
        </p:nvSpPr>
        <p:spPr>
          <a:xfrm>
            <a:off x="76200" y="2057400"/>
            <a:ext cx="8473499" cy="4371520"/>
          </a:xfrm>
        </p:spPr>
        <p:txBody>
          <a:bodyPr>
            <a:normAutofit fontScale="62500" lnSpcReduction="20000"/>
          </a:bodyPr>
          <a:lstStyle/>
          <a:p>
            <a:pPr marL="0" indent="0">
              <a:buNone/>
            </a:pPr>
            <a:r>
              <a:rPr lang="en-US" kern="100" dirty="0">
                <a:effectLst/>
                <a:latin typeface="Aptos" panose="020B0004020202020204" pitchFamily="34" charset="0"/>
                <a:ea typeface="Aptos" panose="020B0004020202020204" pitchFamily="34" charset="0"/>
                <a:cs typeface="Arial" panose="020B0604020202020204" pitchFamily="34" charset="0"/>
              </a:rPr>
              <a:t> A library service wants to create a database to store details of its libraries, books and borrowers. Details include the following:</a:t>
            </a:r>
          </a:p>
          <a:p>
            <a:r>
              <a:rPr lang="en-US" kern="100" dirty="0">
                <a:effectLst/>
                <a:latin typeface="Aptos" panose="020B0004020202020204" pitchFamily="34" charset="0"/>
                <a:ea typeface="Aptos" panose="020B0004020202020204" pitchFamily="34" charset="0"/>
                <a:cs typeface="Arial" panose="020B0604020202020204" pitchFamily="34" charset="0"/>
              </a:rPr>
              <a:t> A book has a unique ISBN number, a title and one or more authors. </a:t>
            </a:r>
          </a:p>
          <a:p>
            <a:r>
              <a:rPr lang="en-US" kern="100" dirty="0">
                <a:effectLst/>
                <a:latin typeface="Aptos" panose="020B0004020202020204" pitchFamily="34" charset="0"/>
                <a:ea typeface="Aptos" panose="020B0004020202020204" pitchFamily="34" charset="0"/>
                <a:cs typeface="Arial" panose="020B0604020202020204" pitchFamily="34" charset="0"/>
              </a:rPr>
              <a:t>The library service may own several copies of a given book, each of which is located in one of the service’s libraries. </a:t>
            </a:r>
          </a:p>
          <a:p>
            <a:r>
              <a:rPr lang="en-US" kern="100" dirty="0">
                <a:effectLst/>
                <a:latin typeface="Aptos" panose="020B0004020202020204" pitchFamily="34" charset="0"/>
                <a:ea typeface="Aptos" panose="020B0004020202020204" pitchFamily="34" charset="0"/>
                <a:cs typeface="Arial" panose="020B0604020202020204" pitchFamily="34" charset="0"/>
              </a:rPr>
              <a:t>A given library contains many books, and in order to distinguish different copies of the same book a library assigns a different copy-number to each of its copies of a given book; the price that was paid for each copy is also recorded. </a:t>
            </a:r>
          </a:p>
          <a:p>
            <a:r>
              <a:rPr lang="en-US" kern="100" dirty="0">
                <a:effectLst/>
                <a:latin typeface="Aptos" panose="020B0004020202020204" pitchFamily="34" charset="0"/>
                <a:ea typeface="Aptos" panose="020B0004020202020204" pitchFamily="34" charset="0"/>
                <a:cs typeface="Arial" panose="020B0604020202020204" pitchFamily="34" charset="0"/>
              </a:rPr>
              <a:t>Every library has a unique name and is either a main library or a branch library. </a:t>
            </a:r>
          </a:p>
          <a:p>
            <a:pPr lvl="1"/>
            <a:r>
              <a:rPr lang="en-US" kern="100" dirty="0">
                <a:effectLst/>
                <a:latin typeface="Aptos" panose="020B0004020202020204" pitchFamily="34" charset="0"/>
                <a:ea typeface="Aptos" panose="020B0004020202020204" pitchFamily="34" charset="0"/>
                <a:cs typeface="Arial" panose="020B0604020202020204" pitchFamily="34" charset="0"/>
              </a:rPr>
              <a:t>A main library may have zero or more branch libraries and </a:t>
            </a:r>
          </a:p>
          <a:p>
            <a:pPr lvl="1"/>
            <a:r>
              <a:rPr lang="en-US" kern="100" dirty="0">
                <a:effectLst/>
                <a:latin typeface="Aptos" panose="020B0004020202020204" pitchFamily="34" charset="0"/>
                <a:ea typeface="Aptos" panose="020B0004020202020204" pitchFamily="34" charset="0"/>
                <a:cs typeface="Arial" panose="020B0604020202020204" pitchFamily="34" charset="0"/>
              </a:rPr>
              <a:t>every branch library is a branch of exactly one main library. </a:t>
            </a:r>
          </a:p>
          <a:p>
            <a:r>
              <a:rPr lang="en-US" kern="100" dirty="0">
                <a:effectLst/>
                <a:latin typeface="Aptos" panose="020B0004020202020204" pitchFamily="34" charset="0"/>
                <a:ea typeface="Aptos" panose="020B0004020202020204" pitchFamily="34" charset="0"/>
                <a:cs typeface="Arial" panose="020B0604020202020204" pitchFamily="34" charset="0"/>
              </a:rPr>
              <a:t>A borrower has a name and a unique ID code. A borrower can have many books on loan, but each copy of a book can only be on loan to one borrower. </a:t>
            </a:r>
          </a:p>
          <a:p>
            <a:r>
              <a:rPr lang="en-US" kern="100" dirty="0">
                <a:effectLst/>
                <a:latin typeface="Aptos" panose="020B0004020202020204" pitchFamily="34" charset="0"/>
                <a:ea typeface="Aptos" panose="020B0004020202020204" pitchFamily="34" charset="0"/>
                <a:cs typeface="Arial" panose="020B0604020202020204" pitchFamily="34" charset="0"/>
              </a:rPr>
              <a:t>A borrower could borrow the same book on several occasions, but it is assumed that each such loan will take place on a different date.</a:t>
            </a:r>
          </a:p>
          <a:p>
            <a:pPr marL="0" indent="0">
              <a:buNone/>
            </a:pPr>
            <a:r>
              <a:rPr lang="en-US" kern="100" dirty="0">
                <a:effectLst/>
                <a:latin typeface="Aptos" panose="020B0004020202020204" pitchFamily="34" charset="0"/>
                <a:ea typeface="Aptos" panose="020B0004020202020204" pitchFamily="34" charset="0"/>
                <a:cs typeface="Arial" panose="020B0604020202020204" pitchFamily="34" charset="0"/>
              </a:rPr>
              <a:t>Please create an Enhanced Entity Relationship diagram that captures this information about a library. Be certain to indicate identifiers and cardinality constraints.</a:t>
            </a:r>
          </a:p>
        </p:txBody>
      </p:sp>
      <p:sp>
        <p:nvSpPr>
          <p:cNvPr id="5" name="Slide Number Placeholder 4">
            <a:extLst>
              <a:ext uri="{FF2B5EF4-FFF2-40B4-BE49-F238E27FC236}">
                <a16:creationId xmlns:a16="http://schemas.microsoft.com/office/drawing/2014/main" id="{71334ED0-FB7B-F75A-DCF9-824819ABF229}"/>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87</a:t>
            </a:fld>
            <a:endParaRPr lang="en-US" spc="-19" dirty="0"/>
          </a:p>
        </p:txBody>
      </p:sp>
    </p:spTree>
    <p:extLst>
      <p:ext uri="{BB962C8B-B14F-4D97-AF65-F5344CB8AC3E}">
        <p14:creationId xmlns:p14="http://schemas.microsoft.com/office/powerpoint/2010/main" val="1699317792"/>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CD85A-4296-0A00-A5E3-3E38D28CEEF5}"/>
              </a:ext>
            </a:extLst>
          </p:cNvPr>
          <p:cNvSpPr>
            <a:spLocks noGrp="1"/>
          </p:cNvSpPr>
          <p:nvPr>
            <p:ph type="title"/>
          </p:nvPr>
        </p:nvSpPr>
        <p:spPr>
          <a:xfrm>
            <a:off x="457201" y="859819"/>
            <a:ext cx="8473499" cy="507831"/>
          </a:xfrm>
        </p:spPr>
        <p:txBody>
          <a:bodyPr/>
          <a:lstStyle/>
          <a:p>
            <a:r>
              <a:rPr lang="en-US" dirty="0"/>
              <a:t>Review Deliverables (6:15 – 6:20)</a:t>
            </a:r>
          </a:p>
        </p:txBody>
      </p:sp>
      <p:sp>
        <p:nvSpPr>
          <p:cNvPr id="6" name="Text Placeholder 5">
            <a:extLst>
              <a:ext uri="{FF2B5EF4-FFF2-40B4-BE49-F238E27FC236}">
                <a16:creationId xmlns:a16="http://schemas.microsoft.com/office/drawing/2014/main" id="{DDFE5234-7A0D-4638-F56B-59690761EA0C}"/>
              </a:ext>
            </a:extLst>
          </p:cNvPr>
          <p:cNvSpPr>
            <a:spLocks noGrp="1"/>
          </p:cNvSpPr>
          <p:nvPr>
            <p:ph type="body" idx="1"/>
          </p:nvPr>
        </p:nvSpPr>
        <p:spPr>
          <a:xfrm>
            <a:off x="457201" y="1752600"/>
            <a:ext cx="8473499" cy="4800600"/>
          </a:xfrm>
        </p:spPr>
        <p:txBody>
          <a:bodyPr>
            <a:normAutofit fontScale="62500" lnSpcReduction="20000"/>
          </a:bodyPr>
          <a:lstStyle/>
          <a:p>
            <a:pPr marL="728663"/>
            <a:r>
              <a:rPr lang="en-US" sz="4400" dirty="0"/>
              <a:t>Discussion 04:</a:t>
            </a:r>
          </a:p>
          <a:p>
            <a:pPr marL="1128713" lvl="1"/>
            <a:r>
              <a:rPr lang="en-US" sz="4200" dirty="0"/>
              <a:t>Should have been submitted by 4:30 PM.</a:t>
            </a:r>
          </a:p>
          <a:p>
            <a:pPr marL="728663"/>
            <a:r>
              <a:rPr lang="en-US" sz="4400" dirty="0"/>
              <a:t>Discussion 05:</a:t>
            </a:r>
          </a:p>
          <a:p>
            <a:pPr marL="1128713" lvl="1"/>
            <a:r>
              <a:rPr lang="en-US" sz="4200" dirty="0"/>
              <a:t>Should have been submitted by 6:20 PM.</a:t>
            </a:r>
          </a:p>
          <a:p>
            <a:pPr marL="728663"/>
            <a:r>
              <a:rPr lang="en-US" sz="4400" dirty="0"/>
              <a:t>Homework 02:</a:t>
            </a:r>
          </a:p>
          <a:p>
            <a:pPr marL="1128713" lvl="1"/>
            <a:r>
              <a:rPr lang="en-US" sz="4200" dirty="0"/>
              <a:t>Due By: Wednesday January 28, 2026 3:00 PM</a:t>
            </a:r>
          </a:p>
          <a:p>
            <a:pPr marL="1128713" lvl="1"/>
            <a:r>
              <a:rPr lang="en-US" sz="4200" dirty="0"/>
              <a:t>Available Until: Friday January 30, 2026 3:00 PM</a:t>
            </a:r>
          </a:p>
          <a:p>
            <a:pPr marL="728663"/>
            <a:r>
              <a:rPr lang="en-US" sz="4400" dirty="0"/>
              <a:t>Lab 02:</a:t>
            </a:r>
            <a:endParaRPr lang="en-US" sz="1800" dirty="0"/>
          </a:p>
          <a:p>
            <a:pPr marL="1128713" lvl="1"/>
            <a:r>
              <a:rPr lang="en-US" sz="4200" dirty="0"/>
              <a:t>Due By:</a:t>
            </a:r>
          </a:p>
          <a:p>
            <a:pPr marL="1128713" lvl="1"/>
            <a:r>
              <a:rPr lang="en-US" sz="4200" dirty="0"/>
              <a:t>Available Until:</a:t>
            </a:r>
          </a:p>
        </p:txBody>
      </p:sp>
      <p:sp>
        <p:nvSpPr>
          <p:cNvPr id="5" name="Slide Number Placeholder 4">
            <a:extLst>
              <a:ext uri="{FF2B5EF4-FFF2-40B4-BE49-F238E27FC236}">
                <a16:creationId xmlns:a16="http://schemas.microsoft.com/office/drawing/2014/main" id="{71334ED0-FB7B-F75A-DCF9-824819ABF229}"/>
              </a:ext>
            </a:extLst>
          </p:cNvPr>
          <p:cNvSpPr>
            <a:spLocks noGrp="1"/>
          </p:cNvSpPr>
          <p:nvPr>
            <p:ph type="sldNum" sz="quarter" idx="7"/>
          </p:nvPr>
        </p:nvSpPr>
        <p:spPr>
          <a:xfrm>
            <a:off x="11092815" y="6428920"/>
            <a:ext cx="219075" cy="211454"/>
          </a:xfrm>
          <a:prstGeom prst="rect">
            <a:avLst/>
          </a:prstGeom>
        </p:spPr>
        <p:txBody>
          <a:bodyPr wrap="square" lIns="0" tIns="0" rIns="0" bIns="0">
            <a:spAutoFit/>
          </a:bodyPr>
          <a:lstStyle>
            <a:defPPr>
              <a:defRPr kern="0"/>
            </a:defPPr>
            <a:lvl1pPr>
              <a:defRPr sz="1200" b="0" i="0">
                <a:solidFill>
                  <a:srgbClr val="898989"/>
                </a:solidFill>
                <a:latin typeface="Calibri"/>
                <a:cs typeface="Calibri"/>
              </a:defRPr>
            </a:lvl1pPr>
          </a:lstStyle>
          <a:p>
            <a:pPr marL="12700">
              <a:spcBef>
                <a:spcPts val="40"/>
              </a:spcBef>
            </a:pPr>
            <a:fld id="{81D60167-4931-47E6-BA6A-407CBD079E47}" type="slidenum">
              <a:rPr lang="en-US" spc="-25" smtClean="0"/>
              <a:pPr marL="12700">
                <a:spcBef>
                  <a:spcPts val="40"/>
                </a:spcBef>
              </a:pPr>
              <a:t>88</a:t>
            </a:fld>
            <a:endParaRPr lang="en-US" spc="-19" dirty="0"/>
          </a:p>
        </p:txBody>
      </p:sp>
    </p:spTree>
    <p:extLst>
      <p:ext uri="{BB962C8B-B14F-4D97-AF65-F5344CB8AC3E}">
        <p14:creationId xmlns:p14="http://schemas.microsoft.com/office/powerpoint/2010/main" val="2447840948"/>
      </p:ext>
    </p:extLst>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3">
            <a:extLst>
              <a:ext uri="{FF2B5EF4-FFF2-40B4-BE49-F238E27FC236}">
                <a16:creationId xmlns:a16="http://schemas.microsoft.com/office/drawing/2014/main" id="{E12BCFEF-7D92-9691-B858-D62B734769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8B0B1AC9-0694-4E22-BC19-19BA61F9DE00}" type="slidenum">
              <a:rPr lang="en-US" altLang="en-US" sz="1400">
                <a:solidFill>
                  <a:srgbClr val="990033"/>
                </a:solidFill>
              </a:rPr>
              <a:pPr/>
              <a:t>89</a:t>
            </a:fld>
            <a:endParaRPr lang="en-CA" altLang="en-US" sz="1400">
              <a:solidFill>
                <a:srgbClr val="990033"/>
              </a:solidFill>
            </a:endParaRPr>
          </a:p>
        </p:txBody>
      </p:sp>
      <p:sp>
        <p:nvSpPr>
          <p:cNvPr id="84994" name="Rectangle 1028">
            <a:extLst>
              <a:ext uri="{FF2B5EF4-FFF2-40B4-BE49-F238E27FC236}">
                <a16:creationId xmlns:a16="http://schemas.microsoft.com/office/drawing/2014/main" id="{57496865-BC08-BAFA-3717-1D9589AB30F2}"/>
              </a:ext>
            </a:extLst>
          </p:cNvPr>
          <p:cNvSpPr>
            <a:spLocks noGrp="1" noChangeArrowheads="1"/>
          </p:cNvSpPr>
          <p:nvPr>
            <p:ph type="title"/>
          </p:nvPr>
        </p:nvSpPr>
        <p:spPr/>
        <p:txBody>
          <a:bodyPr/>
          <a:lstStyle/>
          <a:p>
            <a:pPr eaLnBrk="1" hangingPunct="1"/>
            <a:r>
              <a:rPr lang="en-US" altLang="en-US"/>
              <a:t>Formal Definitions of EER Model (1)</a:t>
            </a:r>
          </a:p>
        </p:txBody>
      </p:sp>
      <p:sp>
        <p:nvSpPr>
          <p:cNvPr id="84995" name="Rectangle 1029">
            <a:extLst>
              <a:ext uri="{FF2B5EF4-FFF2-40B4-BE49-F238E27FC236}">
                <a16:creationId xmlns:a16="http://schemas.microsoft.com/office/drawing/2014/main" id="{CA11515A-6341-54FC-BE2F-CDAA9DDFF39A}"/>
              </a:ext>
            </a:extLst>
          </p:cNvPr>
          <p:cNvSpPr>
            <a:spLocks noGrp="1" noChangeArrowheads="1"/>
          </p:cNvSpPr>
          <p:nvPr>
            <p:ph type="body" idx="1"/>
          </p:nvPr>
        </p:nvSpPr>
        <p:spPr/>
        <p:txBody>
          <a:bodyPr/>
          <a:lstStyle/>
          <a:p>
            <a:pPr eaLnBrk="1" hangingPunct="1">
              <a:lnSpc>
                <a:spcPct val="90000"/>
              </a:lnSpc>
            </a:pPr>
            <a:r>
              <a:rPr lang="en-US" altLang="en-US" sz="2400"/>
              <a:t>Class C: </a:t>
            </a:r>
          </a:p>
          <a:p>
            <a:pPr lvl="1" eaLnBrk="1" hangingPunct="1">
              <a:lnSpc>
                <a:spcPct val="90000"/>
              </a:lnSpc>
            </a:pPr>
            <a:r>
              <a:rPr lang="en-US" altLang="en-US" sz="2200"/>
              <a:t>A type of entity with a corresponding set of entities:</a:t>
            </a:r>
          </a:p>
          <a:p>
            <a:pPr lvl="2" eaLnBrk="1" hangingPunct="1">
              <a:lnSpc>
                <a:spcPct val="90000"/>
              </a:lnSpc>
            </a:pPr>
            <a:r>
              <a:rPr lang="en-US" altLang="en-US" sz="2000"/>
              <a:t>could be entity type, subclass, superclass, or category</a:t>
            </a:r>
          </a:p>
          <a:p>
            <a:pPr eaLnBrk="1" hangingPunct="1">
              <a:lnSpc>
                <a:spcPct val="90000"/>
              </a:lnSpc>
            </a:pPr>
            <a:r>
              <a:rPr lang="en-US" altLang="en-US" sz="2400"/>
              <a:t>Note: The definition of </a:t>
            </a:r>
            <a:r>
              <a:rPr lang="en-US" altLang="en-US" sz="2400" i="1"/>
              <a:t>relationship type</a:t>
            </a:r>
            <a:r>
              <a:rPr lang="en-US" altLang="en-US" sz="2400"/>
              <a:t> in ER/EER should have 'entity type' replaced with 'class‘ to allow relationships among classes in general</a:t>
            </a:r>
          </a:p>
          <a:p>
            <a:pPr eaLnBrk="1" hangingPunct="1">
              <a:lnSpc>
                <a:spcPct val="90000"/>
              </a:lnSpc>
            </a:pPr>
            <a:r>
              <a:rPr lang="en-US" altLang="en-US" sz="2400"/>
              <a:t>Subclass S is a class whose:</a:t>
            </a:r>
          </a:p>
          <a:p>
            <a:pPr lvl="2" eaLnBrk="1" hangingPunct="1">
              <a:lnSpc>
                <a:spcPct val="90000"/>
              </a:lnSpc>
            </a:pPr>
            <a:r>
              <a:rPr lang="en-US" altLang="en-US" sz="2000"/>
              <a:t>Type inherits all the attributes and relationship of a class C</a:t>
            </a:r>
          </a:p>
          <a:p>
            <a:pPr lvl="2" eaLnBrk="1" hangingPunct="1">
              <a:lnSpc>
                <a:spcPct val="90000"/>
              </a:lnSpc>
            </a:pPr>
            <a:r>
              <a:rPr lang="en-US" altLang="en-US" sz="2000"/>
              <a:t>Set of entities must always be a subset of the set of entities of the other class C</a:t>
            </a:r>
          </a:p>
          <a:p>
            <a:pPr lvl="3" eaLnBrk="1" hangingPunct="1">
              <a:lnSpc>
                <a:spcPct val="90000"/>
              </a:lnSpc>
            </a:pPr>
            <a:r>
              <a:rPr lang="en-US" altLang="en-US" sz="1800"/>
              <a:t>S </a:t>
            </a:r>
            <a:r>
              <a:rPr lang="en-US" altLang="en-US" sz="1800">
                <a:ea typeface="ヒラギノ角ゴ Pro W3" pitchFamily="-84" charset="-128"/>
              </a:rPr>
              <a:t>⊆</a:t>
            </a:r>
            <a:r>
              <a:rPr lang="en-US" altLang="en-US" sz="1800"/>
              <a:t> C</a:t>
            </a:r>
          </a:p>
          <a:p>
            <a:pPr lvl="2" eaLnBrk="1" hangingPunct="1">
              <a:lnSpc>
                <a:spcPct val="90000"/>
              </a:lnSpc>
            </a:pPr>
            <a:r>
              <a:rPr lang="en-US" altLang="en-US" sz="2000"/>
              <a:t>C is called the superclass of S</a:t>
            </a:r>
          </a:p>
          <a:p>
            <a:pPr lvl="2" eaLnBrk="1" hangingPunct="1">
              <a:lnSpc>
                <a:spcPct val="90000"/>
              </a:lnSpc>
            </a:pPr>
            <a:r>
              <a:rPr lang="en-US" altLang="en-US" sz="2000"/>
              <a:t>A superclass/subclass relationship exists between S and C</a:t>
            </a:r>
          </a:p>
        </p:txBody>
      </p:sp>
    </p:spTree>
    <p:extLst>
      <p:ext uri="{BB962C8B-B14F-4D97-AF65-F5344CB8AC3E}">
        <p14:creationId xmlns:p14="http://schemas.microsoft.com/office/powerpoint/2010/main" val="3010321772"/>
      </p:ext>
    </p:extLst>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Number Placeholder 3">
            <a:extLst>
              <a:ext uri="{FF2B5EF4-FFF2-40B4-BE49-F238E27FC236}">
                <a16:creationId xmlns:a16="http://schemas.microsoft.com/office/drawing/2014/main" id="{65535107-E491-6DB9-8550-C6B4D83B27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40AFDC30-037B-41FB-952D-6F033DA765C4}" type="slidenum">
              <a:rPr lang="en-US" altLang="en-US" sz="1400">
                <a:solidFill>
                  <a:srgbClr val="990033"/>
                </a:solidFill>
              </a:rPr>
              <a:pPr/>
              <a:t>90</a:t>
            </a:fld>
            <a:endParaRPr lang="en-CA" altLang="en-US" sz="1400">
              <a:solidFill>
                <a:srgbClr val="990033"/>
              </a:solidFill>
            </a:endParaRPr>
          </a:p>
        </p:txBody>
      </p:sp>
      <p:sp>
        <p:nvSpPr>
          <p:cNvPr id="87042" name="Rectangle 2">
            <a:extLst>
              <a:ext uri="{FF2B5EF4-FFF2-40B4-BE49-F238E27FC236}">
                <a16:creationId xmlns:a16="http://schemas.microsoft.com/office/drawing/2014/main" id="{AD7ECDED-05EF-0F0E-D734-9E2AC2855F01}"/>
              </a:ext>
            </a:extLst>
          </p:cNvPr>
          <p:cNvSpPr>
            <a:spLocks noGrp="1" noChangeArrowheads="1"/>
          </p:cNvSpPr>
          <p:nvPr>
            <p:ph type="title"/>
          </p:nvPr>
        </p:nvSpPr>
        <p:spPr/>
        <p:txBody>
          <a:bodyPr/>
          <a:lstStyle/>
          <a:p>
            <a:pPr eaLnBrk="1" hangingPunct="1"/>
            <a:r>
              <a:rPr lang="en-US" altLang="en-US"/>
              <a:t>Formal Definitions of EER Model (2)</a:t>
            </a:r>
          </a:p>
        </p:txBody>
      </p:sp>
      <p:sp>
        <p:nvSpPr>
          <p:cNvPr id="87043" name="Rectangle 3">
            <a:extLst>
              <a:ext uri="{FF2B5EF4-FFF2-40B4-BE49-F238E27FC236}">
                <a16:creationId xmlns:a16="http://schemas.microsoft.com/office/drawing/2014/main" id="{EC8130DE-AAA8-720B-4169-EE25C5B8EBAD}"/>
              </a:ext>
            </a:extLst>
          </p:cNvPr>
          <p:cNvSpPr>
            <a:spLocks noGrp="1" noChangeArrowheads="1"/>
          </p:cNvSpPr>
          <p:nvPr>
            <p:ph type="body" idx="1"/>
          </p:nvPr>
        </p:nvSpPr>
        <p:spPr/>
        <p:txBody>
          <a:bodyPr/>
          <a:lstStyle/>
          <a:p>
            <a:pPr eaLnBrk="1" hangingPunct="1">
              <a:lnSpc>
                <a:spcPct val="80000"/>
              </a:lnSpc>
            </a:pPr>
            <a:r>
              <a:rPr lang="en-US" altLang="en-US" dirty="0"/>
              <a:t>Specialization Z: Z = {S1, S2,…, Sn} is a set of subclasses with same superclass G; hence, G/Si is a superclass relationship for i = 1, …., </a:t>
            </a:r>
            <a:r>
              <a:rPr lang="en-US" altLang="en-US" dirty="0" err="1"/>
              <a:t>n.</a:t>
            </a:r>
            <a:endParaRPr lang="en-US" altLang="en-US" dirty="0"/>
          </a:p>
          <a:p>
            <a:pPr lvl="1" eaLnBrk="1" hangingPunct="1">
              <a:lnSpc>
                <a:spcPct val="80000"/>
              </a:lnSpc>
            </a:pPr>
            <a:r>
              <a:rPr lang="en-US" altLang="en-US" dirty="0"/>
              <a:t>G is called a generalization of the subclasses {S1, S2,…, Sn} </a:t>
            </a:r>
          </a:p>
          <a:p>
            <a:pPr lvl="1" eaLnBrk="1" hangingPunct="1">
              <a:lnSpc>
                <a:spcPct val="80000"/>
              </a:lnSpc>
            </a:pPr>
            <a:r>
              <a:rPr lang="en-US" altLang="en-US" dirty="0"/>
              <a:t>Z is total if we always have:</a:t>
            </a:r>
          </a:p>
          <a:p>
            <a:pPr lvl="2" eaLnBrk="1" hangingPunct="1">
              <a:lnSpc>
                <a:spcPct val="80000"/>
              </a:lnSpc>
            </a:pPr>
            <a:r>
              <a:rPr lang="en-US" altLang="en-US" dirty="0"/>
              <a:t>S1 </a:t>
            </a:r>
            <a:r>
              <a:rPr lang="en-US" altLang="en-US" dirty="0">
                <a:ea typeface="ヒラギノ角ゴ Pro W3" pitchFamily="-84" charset="-128"/>
              </a:rPr>
              <a:t>∪</a:t>
            </a:r>
            <a:r>
              <a:rPr lang="en-US" altLang="en-US" dirty="0"/>
              <a:t> S2 </a:t>
            </a:r>
            <a:r>
              <a:rPr lang="en-US" altLang="en-US" dirty="0">
                <a:ea typeface="ヒラギノ角ゴ Pro W3" pitchFamily="-84" charset="-128"/>
              </a:rPr>
              <a:t>∪</a:t>
            </a:r>
            <a:r>
              <a:rPr lang="en-US" altLang="en-US" dirty="0"/>
              <a:t> … </a:t>
            </a:r>
            <a:r>
              <a:rPr lang="en-US" altLang="en-US" dirty="0">
                <a:ea typeface="ヒラギノ角ゴ Pro W3" pitchFamily="-84" charset="-128"/>
              </a:rPr>
              <a:t>∪</a:t>
            </a:r>
            <a:r>
              <a:rPr lang="en-US" altLang="en-US" dirty="0"/>
              <a:t> Sn = G;</a:t>
            </a:r>
          </a:p>
          <a:p>
            <a:pPr lvl="2" eaLnBrk="1" hangingPunct="1">
              <a:lnSpc>
                <a:spcPct val="80000"/>
              </a:lnSpc>
            </a:pPr>
            <a:r>
              <a:rPr lang="en-US" altLang="en-US" dirty="0"/>
              <a:t>Otherwise, Z is partial.</a:t>
            </a:r>
          </a:p>
          <a:p>
            <a:pPr lvl="1" eaLnBrk="1" hangingPunct="1">
              <a:lnSpc>
                <a:spcPct val="80000"/>
              </a:lnSpc>
            </a:pPr>
            <a:r>
              <a:rPr lang="en-US" altLang="en-US" dirty="0"/>
              <a:t>Z is disjoint if we always have:</a:t>
            </a:r>
          </a:p>
          <a:p>
            <a:pPr lvl="2" eaLnBrk="1" hangingPunct="1">
              <a:lnSpc>
                <a:spcPct val="80000"/>
              </a:lnSpc>
            </a:pPr>
            <a:r>
              <a:rPr lang="en-US" altLang="en-US" dirty="0"/>
              <a:t>Si </a:t>
            </a:r>
            <a:r>
              <a:rPr lang="en-US" altLang="en-US" dirty="0">
                <a:ea typeface="ヒラギノ角ゴ Pro W3" pitchFamily="-84" charset="-128"/>
              </a:rPr>
              <a:t>∩</a:t>
            </a:r>
            <a:r>
              <a:rPr lang="en-US" altLang="en-US" dirty="0"/>
              <a:t> </a:t>
            </a:r>
            <a:r>
              <a:rPr lang="en-US" altLang="en-US" dirty="0" err="1"/>
              <a:t>Sj</a:t>
            </a:r>
            <a:r>
              <a:rPr lang="en-US" altLang="en-US" dirty="0"/>
              <a:t> empty-set for i ≠ j;</a:t>
            </a:r>
          </a:p>
          <a:p>
            <a:pPr lvl="1" eaLnBrk="1" hangingPunct="1">
              <a:lnSpc>
                <a:spcPct val="80000"/>
              </a:lnSpc>
            </a:pPr>
            <a:r>
              <a:rPr lang="en-US" altLang="en-US" dirty="0"/>
              <a:t>Otherwise, Z is overlapping.</a:t>
            </a:r>
          </a:p>
        </p:txBody>
      </p:sp>
    </p:spTree>
    <p:extLst>
      <p:ext uri="{BB962C8B-B14F-4D97-AF65-F5344CB8AC3E}">
        <p14:creationId xmlns:p14="http://schemas.microsoft.com/office/powerpoint/2010/main" val="202483240"/>
      </p:ext>
    </p:ext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Number Placeholder 3">
            <a:extLst>
              <a:ext uri="{FF2B5EF4-FFF2-40B4-BE49-F238E27FC236}">
                <a16:creationId xmlns:a16="http://schemas.microsoft.com/office/drawing/2014/main" id="{4827C354-E630-D386-9E19-E31E818E8F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C6D7D3C4-2C01-4524-98E1-FABE707AF432}" type="slidenum">
              <a:rPr lang="en-US" altLang="en-US" sz="1400">
                <a:solidFill>
                  <a:srgbClr val="990033"/>
                </a:solidFill>
              </a:rPr>
              <a:pPr/>
              <a:t>91</a:t>
            </a:fld>
            <a:endParaRPr lang="en-CA" altLang="en-US" sz="1400">
              <a:solidFill>
                <a:srgbClr val="990033"/>
              </a:solidFill>
            </a:endParaRPr>
          </a:p>
        </p:txBody>
      </p:sp>
      <p:sp>
        <p:nvSpPr>
          <p:cNvPr id="89090" name="Rectangle 1028">
            <a:extLst>
              <a:ext uri="{FF2B5EF4-FFF2-40B4-BE49-F238E27FC236}">
                <a16:creationId xmlns:a16="http://schemas.microsoft.com/office/drawing/2014/main" id="{B08ADD06-FC60-9AFF-1132-838A8867336B}"/>
              </a:ext>
            </a:extLst>
          </p:cNvPr>
          <p:cNvSpPr>
            <a:spLocks noGrp="1" noChangeArrowheads="1"/>
          </p:cNvSpPr>
          <p:nvPr>
            <p:ph type="title"/>
          </p:nvPr>
        </p:nvSpPr>
        <p:spPr/>
        <p:txBody>
          <a:bodyPr/>
          <a:lstStyle/>
          <a:p>
            <a:pPr eaLnBrk="1" hangingPunct="1"/>
            <a:r>
              <a:rPr lang="en-US" altLang="en-US"/>
              <a:t>Formal Definitions of EER Model (3)</a:t>
            </a:r>
          </a:p>
        </p:txBody>
      </p:sp>
      <p:sp>
        <p:nvSpPr>
          <p:cNvPr id="89091" name="Rectangle 1029">
            <a:extLst>
              <a:ext uri="{FF2B5EF4-FFF2-40B4-BE49-F238E27FC236}">
                <a16:creationId xmlns:a16="http://schemas.microsoft.com/office/drawing/2014/main" id="{E69E24F1-C723-F99D-9B54-C24291DDEB65}"/>
              </a:ext>
            </a:extLst>
          </p:cNvPr>
          <p:cNvSpPr>
            <a:spLocks noGrp="1" noChangeArrowheads="1"/>
          </p:cNvSpPr>
          <p:nvPr>
            <p:ph type="body" idx="1"/>
          </p:nvPr>
        </p:nvSpPr>
        <p:spPr/>
        <p:txBody>
          <a:bodyPr/>
          <a:lstStyle/>
          <a:p>
            <a:pPr eaLnBrk="1" hangingPunct="1">
              <a:lnSpc>
                <a:spcPct val="90000"/>
              </a:lnSpc>
            </a:pPr>
            <a:r>
              <a:rPr lang="en-US" altLang="en-US" sz="2400"/>
              <a:t>Subclass S of C is predicate defined if predicate (condition)  p on attributes of C is used to specify membership in S; </a:t>
            </a:r>
          </a:p>
          <a:p>
            <a:pPr lvl="1" eaLnBrk="1" hangingPunct="1">
              <a:lnSpc>
                <a:spcPct val="90000"/>
              </a:lnSpc>
            </a:pPr>
            <a:r>
              <a:rPr lang="en-US" altLang="en-US" sz="2200"/>
              <a:t>that is, S = C[p], where C[p] is the set of entities in C that satisfy condition p</a:t>
            </a:r>
          </a:p>
          <a:p>
            <a:pPr eaLnBrk="1" hangingPunct="1">
              <a:lnSpc>
                <a:spcPct val="90000"/>
              </a:lnSpc>
            </a:pPr>
            <a:r>
              <a:rPr lang="en-US" altLang="en-US" sz="2400"/>
              <a:t>A subclass not defined by a predicate is called user-defined </a:t>
            </a:r>
          </a:p>
          <a:p>
            <a:pPr eaLnBrk="1" hangingPunct="1">
              <a:lnSpc>
                <a:spcPct val="90000"/>
              </a:lnSpc>
            </a:pPr>
            <a:r>
              <a:rPr lang="en-US" altLang="en-US" sz="2400"/>
              <a:t>Attribute-defined specialization: if a predicate A = ci (where A is an attribute of G and ci is a constant value from the domain of A) is used to specify membership in each subclass Si in Z</a:t>
            </a:r>
          </a:p>
          <a:p>
            <a:pPr lvl="1" eaLnBrk="1" hangingPunct="1">
              <a:lnSpc>
                <a:spcPct val="90000"/>
              </a:lnSpc>
            </a:pPr>
            <a:r>
              <a:rPr lang="en-US" altLang="en-US" sz="2200"/>
              <a:t>Note: If ci ≠ cj for i ≠ j, and A is single-valued, then the attribute-defined specialization will be disjoint.</a:t>
            </a:r>
          </a:p>
        </p:txBody>
      </p:sp>
    </p:spTree>
    <p:extLst>
      <p:ext uri="{BB962C8B-B14F-4D97-AF65-F5344CB8AC3E}">
        <p14:creationId xmlns:p14="http://schemas.microsoft.com/office/powerpoint/2010/main" val="421919317"/>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Number Placeholder 3">
            <a:extLst>
              <a:ext uri="{FF2B5EF4-FFF2-40B4-BE49-F238E27FC236}">
                <a16:creationId xmlns:a16="http://schemas.microsoft.com/office/drawing/2014/main" id="{0A6B82A9-2497-C503-2F29-F90223E3D3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E711ED84-37AE-4037-9AFE-F5DC96C414B8}" type="slidenum">
              <a:rPr lang="en-US" altLang="en-US" sz="1400">
                <a:solidFill>
                  <a:srgbClr val="990033"/>
                </a:solidFill>
              </a:rPr>
              <a:pPr/>
              <a:t>92</a:t>
            </a:fld>
            <a:endParaRPr lang="en-CA" altLang="en-US" sz="1400">
              <a:solidFill>
                <a:srgbClr val="990033"/>
              </a:solidFill>
            </a:endParaRPr>
          </a:p>
        </p:txBody>
      </p:sp>
      <p:sp>
        <p:nvSpPr>
          <p:cNvPr id="91138" name="Rectangle 2">
            <a:extLst>
              <a:ext uri="{FF2B5EF4-FFF2-40B4-BE49-F238E27FC236}">
                <a16:creationId xmlns:a16="http://schemas.microsoft.com/office/drawing/2014/main" id="{9495869A-8A46-9432-177E-956EA85B2754}"/>
              </a:ext>
            </a:extLst>
          </p:cNvPr>
          <p:cNvSpPr>
            <a:spLocks noGrp="1" noChangeArrowheads="1"/>
          </p:cNvSpPr>
          <p:nvPr>
            <p:ph type="title"/>
          </p:nvPr>
        </p:nvSpPr>
        <p:spPr/>
        <p:txBody>
          <a:bodyPr/>
          <a:lstStyle/>
          <a:p>
            <a:pPr eaLnBrk="1" hangingPunct="1"/>
            <a:r>
              <a:rPr lang="en-US" altLang="en-US"/>
              <a:t>Formal Definitions of EER Model (4)</a:t>
            </a:r>
          </a:p>
        </p:txBody>
      </p:sp>
      <p:sp>
        <p:nvSpPr>
          <p:cNvPr id="91139" name="Rectangle 3">
            <a:extLst>
              <a:ext uri="{FF2B5EF4-FFF2-40B4-BE49-F238E27FC236}">
                <a16:creationId xmlns:a16="http://schemas.microsoft.com/office/drawing/2014/main" id="{3063C886-5A3A-8709-20F8-ED9662B7BA4D}"/>
              </a:ext>
            </a:extLst>
          </p:cNvPr>
          <p:cNvSpPr>
            <a:spLocks noGrp="1" noChangeArrowheads="1"/>
          </p:cNvSpPr>
          <p:nvPr>
            <p:ph type="body" idx="1"/>
          </p:nvPr>
        </p:nvSpPr>
        <p:spPr/>
        <p:txBody>
          <a:bodyPr/>
          <a:lstStyle/>
          <a:p>
            <a:pPr eaLnBrk="1" hangingPunct="1"/>
            <a:r>
              <a:rPr lang="en-US" altLang="en-US"/>
              <a:t>Category or UNION type T</a:t>
            </a:r>
          </a:p>
          <a:p>
            <a:pPr lvl="1" eaLnBrk="1" hangingPunct="1"/>
            <a:r>
              <a:rPr lang="en-US" altLang="en-US"/>
              <a:t>A class that is a subset of the </a:t>
            </a:r>
            <a:r>
              <a:rPr lang="en-US" altLang="en-US" i="1"/>
              <a:t>union</a:t>
            </a:r>
            <a:r>
              <a:rPr lang="en-US" altLang="en-US"/>
              <a:t> of n defining superclasses </a:t>
            </a:r>
            <a:br>
              <a:rPr lang="en-US" altLang="en-US"/>
            </a:br>
            <a:r>
              <a:rPr lang="en-US" altLang="en-US"/>
              <a:t>D1, D2,…Dn, n&gt;1:</a:t>
            </a:r>
          </a:p>
          <a:p>
            <a:pPr lvl="2" eaLnBrk="1" hangingPunct="1"/>
            <a:r>
              <a:rPr lang="en-US" altLang="en-US"/>
              <a:t>T </a:t>
            </a:r>
            <a:r>
              <a:rPr lang="en-US" altLang="en-US">
                <a:ea typeface="ヒラギノ角ゴ Pro W3" pitchFamily="-84" charset="-128"/>
              </a:rPr>
              <a:t>⊆</a:t>
            </a:r>
            <a:r>
              <a:rPr lang="en-US" altLang="en-US"/>
              <a:t> (D1 </a:t>
            </a:r>
            <a:r>
              <a:rPr lang="en-US" altLang="en-US">
                <a:ea typeface="ヒラギノ角ゴ Pro W3" pitchFamily="-84" charset="-128"/>
              </a:rPr>
              <a:t>∪</a:t>
            </a:r>
            <a:r>
              <a:rPr lang="en-US" altLang="en-US"/>
              <a:t> D2 </a:t>
            </a:r>
            <a:r>
              <a:rPr lang="en-US" altLang="en-US">
                <a:ea typeface="ヒラギノ角ゴ Pro W3" pitchFamily="-84" charset="-128"/>
              </a:rPr>
              <a:t>∪</a:t>
            </a:r>
            <a:r>
              <a:rPr lang="en-US" altLang="en-US"/>
              <a:t> … </a:t>
            </a:r>
            <a:r>
              <a:rPr lang="en-US" altLang="en-US">
                <a:ea typeface="ヒラギノ角ゴ Pro W3" pitchFamily="-84" charset="-128"/>
              </a:rPr>
              <a:t>∪</a:t>
            </a:r>
            <a:r>
              <a:rPr lang="en-US" altLang="en-US"/>
              <a:t> Dn)</a:t>
            </a:r>
          </a:p>
          <a:p>
            <a:pPr lvl="1" eaLnBrk="1" hangingPunct="1"/>
            <a:r>
              <a:rPr lang="en-US" altLang="en-US"/>
              <a:t>Can have a predicate pi on the attributes of Di to specify entities of Di that are members of T. </a:t>
            </a:r>
          </a:p>
          <a:p>
            <a:pPr lvl="1" eaLnBrk="1" hangingPunct="1"/>
            <a:r>
              <a:rPr lang="en-US" altLang="en-US"/>
              <a:t>If a predicate is specified on every Di: T = (D1[p1] </a:t>
            </a:r>
            <a:r>
              <a:rPr lang="en-US" altLang="en-US">
                <a:ea typeface="ヒラギノ角ゴ Pro W3" pitchFamily="-84" charset="-128"/>
              </a:rPr>
              <a:t>∪</a:t>
            </a:r>
            <a:r>
              <a:rPr lang="en-US" altLang="en-US"/>
              <a:t> D2[p2] </a:t>
            </a:r>
            <a:r>
              <a:rPr lang="en-US" altLang="en-US">
                <a:ea typeface="ヒラギノ角ゴ Pro W3" pitchFamily="-84" charset="-128"/>
              </a:rPr>
              <a:t>∪</a:t>
            </a:r>
            <a:r>
              <a:rPr lang="en-US" altLang="en-US"/>
              <a:t>…</a:t>
            </a:r>
            <a:r>
              <a:rPr lang="en-US" altLang="en-US">
                <a:ea typeface="ヒラギノ角ゴ Pro W3" pitchFamily="-84" charset="-128"/>
              </a:rPr>
              <a:t>∪</a:t>
            </a:r>
            <a:r>
              <a:rPr lang="en-US" altLang="en-US"/>
              <a:t> Dn[pn])</a:t>
            </a:r>
          </a:p>
        </p:txBody>
      </p:sp>
    </p:spTree>
    <p:extLst>
      <p:ext uri="{BB962C8B-B14F-4D97-AF65-F5344CB8AC3E}">
        <p14:creationId xmlns:p14="http://schemas.microsoft.com/office/powerpoint/2010/main" val="3348852752"/>
      </p:ext>
    </p:extLst>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Number Placeholder 3">
            <a:extLst>
              <a:ext uri="{FF2B5EF4-FFF2-40B4-BE49-F238E27FC236}">
                <a16:creationId xmlns:a16="http://schemas.microsoft.com/office/drawing/2014/main" id="{850DA89C-1081-E3C9-8FE1-24A6ECC25B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AD22E5EA-E842-4CF8-B751-391955099571}" type="slidenum">
              <a:rPr lang="en-US" altLang="en-US" sz="1400">
                <a:solidFill>
                  <a:srgbClr val="990033"/>
                </a:solidFill>
              </a:rPr>
              <a:pPr/>
              <a:t>93</a:t>
            </a:fld>
            <a:endParaRPr lang="en-CA" altLang="en-US" sz="1400">
              <a:solidFill>
                <a:srgbClr val="990033"/>
              </a:solidFill>
            </a:endParaRPr>
          </a:p>
        </p:txBody>
      </p:sp>
      <p:sp>
        <p:nvSpPr>
          <p:cNvPr id="93186" name="Rectangle 1026">
            <a:extLst>
              <a:ext uri="{FF2B5EF4-FFF2-40B4-BE49-F238E27FC236}">
                <a16:creationId xmlns:a16="http://schemas.microsoft.com/office/drawing/2014/main" id="{0AADD03D-122D-460E-0A4D-DAEBBF5EA927}"/>
              </a:ext>
            </a:extLst>
          </p:cNvPr>
          <p:cNvSpPr>
            <a:spLocks noGrp="1" noChangeArrowheads="1"/>
          </p:cNvSpPr>
          <p:nvPr>
            <p:ph type="title"/>
          </p:nvPr>
        </p:nvSpPr>
        <p:spPr/>
        <p:txBody>
          <a:bodyPr/>
          <a:lstStyle/>
          <a:p>
            <a:pPr eaLnBrk="1" hangingPunct="1"/>
            <a:r>
              <a:rPr lang="en-US" altLang="en-US"/>
              <a:t>Alternative diagrammatic notations</a:t>
            </a:r>
          </a:p>
        </p:txBody>
      </p:sp>
      <p:sp>
        <p:nvSpPr>
          <p:cNvPr id="93187" name="Rectangle 1027">
            <a:extLst>
              <a:ext uri="{FF2B5EF4-FFF2-40B4-BE49-F238E27FC236}">
                <a16:creationId xmlns:a16="http://schemas.microsoft.com/office/drawing/2014/main" id="{7B5C1F0A-19DB-0908-F34A-AEE1512C1376}"/>
              </a:ext>
            </a:extLst>
          </p:cNvPr>
          <p:cNvSpPr>
            <a:spLocks noGrp="1" noChangeArrowheads="1"/>
          </p:cNvSpPr>
          <p:nvPr>
            <p:ph type="body" idx="1"/>
          </p:nvPr>
        </p:nvSpPr>
        <p:spPr/>
        <p:txBody>
          <a:bodyPr/>
          <a:lstStyle/>
          <a:p>
            <a:pPr eaLnBrk="1" hangingPunct="1"/>
            <a:r>
              <a:rPr lang="en-US" altLang="en-US"/>
              <a:t>ER/EER diagrams are a specific notation for displaying the concepts of the model diagrammatically</a:t>
            </a:r>
          </a:p>
          <a:p>
            <a:pPr eaLnBrk="1" hangingPunct="1"/>
            <a:r>
              <a:rPr lang="en-US" altLang="en-US"/>
              <a:t>DB design tools use many alternative notations for the same or similar concepts</a:t>
            </a:r>
          </a:p>
          <a:p>
            <a:pPr eaLnBrk="1" hangingPunct="1"/>
            <a:r>
              <a:rPr lang="en-US" altLang="en-US"/>
              <a:t>One popular alternative notation uses </a:t>
            </a:r>
            <a:r>
              <a:rPr lang="en-US" altLang="en-US" i="1"/>
              <a:t>UML class diagrams</a:t>
            </a:r>
          </a:p>
          <a:p>
            <a:pPr eaLnBrk="1" hangingPunct="1"/>
            <a:r>
              <a:rPr lang="en-US" altLang="en-US"/>
              <a:t>see next slides for UML class diagrams and other alternative notations</a:t>
            </a:r>
          </a:p>
        </p:txBody>
      </p:sp>
    </p:spTree>
    <p:extLst>
      <p:ext uri="{BB962C8B-B14F-4D97-AF65-F5344CB8AC3E}">
        <p14:creationId xmlns:p14="http://schemas.microsoft.com/office/powerpoint/2010/main" val="3177343144"/>
      </p:ext>
    </p:ext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Number Placeholder 3">
            <a:extLst>
              <a:ext uri="{FF2B5EF4-FFF2-40B4-BE49-F238E27FC236}">
                <a16:creationId xmlns:a16="http://schemas.microsoft.com/office/drawing/2014/main" id="{9DF7F3E8-59BE-4DC2-7F70-DF984A1895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63B0C7D5-BF7D-46E0-93BD-272DB79DAF64}" type="slidenum">
              <a:rPr lang="en-US" altLang="en-US" sz="1400">
                <a:solidFill>
                  <a:srgbClr val="990033"/>
                </a:solidFill>
              </a:rPr>
              <a:pPr/>
              <a:t>94</a:t>
            </a:fld>
            <a:endParaRPr lang="en-CA" altLang="en-US" sz="1400">
              <a:solidFill>
                <a:srgbClr val="990033"/>
              </a:solidFill>
            </a:endParaRPr>
          </a:p>
        </p:txBody>
      </p:sp>
      <p:sp>
        <p:nvSpPr>
          <p:cNvPr id="94210" name="Rectangle 5">
            <a:extLst>
              <a:ext uri="{FF2B5EF4-FFF2-40B4-BE49-F238E27FC236}">
                <a16:creationId xmlns:a16="http://schemas.microsoft.com/office/drawing/2014/main" id="{37F343F9-BAC8-947C-D121-A5EA9B8797AF}"/>
              </a:ext>
            </a:extLst>
          </p:cNvPr>
          <p:cNvSpPr>
            <a:spLocks noGrp="1" noChangeArrowheads="1"/>
          </p:cNvSpPr>
          <p:nvPr>
            <p:ph type="title"/>
          </p:nvPr>
        </p:nvSpPr>
        <p:spPr/>
        <p:txBody>
          <a:bodyPr/>
          <a:lstStyle/>
          <a:p>
            <a:pPr eaLnBrk="1" hangingPunct="1"/>
            <a:r>
              <a:rPr lang="en-US" altLang="en-US"/>
              <a:t>UML Example for Displaying Specialization / Generalization</a:t>
            </a:r>
          </a:p>
        </p:txBody>
      </p:sp>
      <p:pic>
        <p:nvPicPr>
          <p:cNvPr id="94211" name="Picture 7" descr="fig04_10">
            <a:extLst>
              <a:ext uri="{FF2B5EF4-FFF2-40B4-BE49-F238E27FC236}">
                <a16:creationId xmlns:a16="http://schemas.microsoft.com/office/drawing/2014/main" id="{5CAB5A8A-2EB8-9AA2-3E08-616D753AB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975" y="1590675"/>
            <a:ext cx="4645025"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1735918"/>
      </p:ext>
    </p:ext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Number Placeholder 3">
            <a:extLst>
              <a:ext uri="{FF2B5EF4-FFF2-40B4-BE49-F238E27FC236}">
                <a16:creationId xmlns:a16="http://schemas.microsoft.com/office/drawing/2014/main" id="{675C2C7E-0910-5E9B-935A-1913B74324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904B142B-1D3A-44CD-BAD0-204E87DFD345}" type="slidenum">
              <a:rPr lang="en-US" altLang="en-US" sz="1400">
                <a:solidFill>
                  <a:srgbClr val="990033"/>
                </a:solidFill>
              </a:rPr>
              <a:pPr/>
              <a:t>95</a:t>
            </a:fld>
            <a:endParaRPr lang="en-CA" altLang="en-US" sz="1400">
              <a:solidFill>
                <a:srgbClr val="990033"/>
              </a:solidFill>
            </a:endParaRPr>
          </a:p>
        </p:txBody>
      </p:sp>
      <p:sp>
        <p:nvSpPr>
          <p:cNvPr id="96258" name="Rectangle 14">
            <a:extLst>
              <a:ext uri="{FF2B5EF4-FFF2-40B4-BE49-F238E27FC236}">
                <a16:creationId xmlns:a16="http://schemas.microsoft.com/office/drawing/2014/main" id="{B244F567-CA36-08E5-36D5-A7E6CEFA52FB}"/>
              </a:ext>
            </a:extLst>
          </p:cNvPr>
          <p:cNvSpPr>
            <a:spLocks noGrp="1" noChangeArrowheads="1"/>
          </p:cNvSpPr>
          <p:nvPr>
            <p:ph type="title"/>
          </p:nvPr>
        </p:nvSpPr>
        <p:spPr/>
        <p:txBody>
          <a:bodyPr/>
          <a:lstStyle/>
          <a:p>
            <a:pPr eaLnBrk="1" hangingPunct="1"/>
            <a:r>
              <a:rPr lang="en-US" altLang="en-US"/>
              <a:t>Alternative Diagrammatic Notations</a:t>
            </a:r>
          </a:p>
        </p:txBody>
      </p:sp>
      <p:pic>
        <p:nvPicPr>
          <p:cNvPr id="96259" name="Picture 16" descr="figA_01">
            <a:extLst>
              <a:ext uri="{FF2B5EF4-FFF2-40B4-BE49-F238E27FC236}">
                <a16:creationId xmlns:a16="http://schemas.microsoft.com/office/drawing/2014/main" id="{3E59EA12-1E39-02F8-5F7F-B5668AB1D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225" y="1524000"/>
            <a:ext cx="4041775" cy="508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9466647"/>
      </p:ext>
    </p:ext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800995C8-6CDB-888B-C4DE-CE3D17B830D7}"/>
              </a:ext>
            </a:extLst>
          </p:cNvPr>
          <p:cNvSpPr>
            <a:spLocks noGrp="1"/>
          </p:cNvSpPr>
          <p:nvPr>
            <p:ph type="title"/>
          </p:nvPr>
        </p:nvSpPr>
        <p:spPr/>
        <p:txBody>
          <a:bodyPr/>
          <a:lstStyle/>
          <a:p>
            <a:r>
              <a:rPr lang="en-US" altLang="en-US"/>
              <a:t>Knowledge Representation (KR)-1</a:t>
            </a:r>
          </a:p>
        </p:txBody>
      </p:sp>
      <p:sp>
        <p:nvSpPr>
          <p:cNvPr id="98306" name="Content Placeholder 2">
            <a:extLst>
              <a:ext uri="{FF2B5EF4-FFF2-40B4-BE49-F238E27FC236}">
                <a16:creationId xmlns:a16="http://schemas.microsoft.com/office/drawing/2014/main" id="{ED003AB7-080D-9E76-76DB-C39CBEEC4992}"/>
              </a:ext>
            </a:extLst>
          </p:cNvPr>
          <p:cNvSpPr>
            <a:spLocks noGrp="1"/>
          </p:cNvSpPr>
          <p:nvPr>
            <p:ph idx="1"/>
          </p:nvPr>
        </p:nvSpPr>
        <p:spPr/>
        <p:txBody>
          <a:bodyPr/>
          <a:lstStyle/>
          <a:p>
            <a:r>
              <a:rPr lang="en-US" altLang="en-US"/>
              <a:t>Deals with modeling and representing a certain domain of knowledge.</a:t>
            </a:r>
          </a:p>
          <a:p>
            <a:r>
              <a:rPr lang="en-US" altLang="en-US"/>
              <a:t>Typically done by using some formal model of representation and by creating an Ontology </a:t>
            </a:r>
          </a:p>
          <a:p>
            <a:r>
              <a:rPr lang="en-US" altLang="en-US"/>
              <a:t>An ontology for a specific domain of interest describes a set of concepts and interrelationships among those concepts </a:t>
            </a:r>
          </a:p>
          <a:p>
            <a:r>
              <a:rPr lang="en-US" altLang="en-US"/>
              <a:t>An Ontology serves as a “schema” which enables interpretation of the knowledge in a “knowledge-base”</a:t>
            </a:r>
          </a:p>
        </p:txBody>
      </p:sp>
      <p:sp>
        <p:nvSpPr>
          <p:cNvPr id="98307" name="Slide Number Placeholder 3">
            <a:extLst>
              <a:ext uri="{FF2B5EF4-FFF2-40B4-BE49-F238E27FC236}">
                <a16:creationId xmlns:a16="http://schemas.microsoft.com/office/drawing/2014/main" id="{0B834CB9-EADA-30D6-1637-AC13488A62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72B79BC7-F289-44FB-B2E4-E4EBEB57180B}" type="slidenum">
              <a:rPr lang="en-US" altLang="en-US" sz="1400">
                <a:solidFill>
                  <a:srgbClr val="990033"/>
                </a:solidFill>
              </a:rPr>
              <a:pPr/>
              <a:t>96</a:t>
            </a:fld>
            <a:endParaRPr lang="en-CA" altLang="en-US" sz="1400">
              <a:solidFill>
                <a:srgbClr val="990033"/>
              </a:solidFill>
            </a:endParaRPr>
          </a:p>
        </p:txBody>
      </p:sp>
    </p:spTree>
    <p:extLst>
      <p:ext uri="{BB962C8B-B14F-4D97-AF65-F5344CB8AC3E}">
        <p14:creationId xmlns:p14="http://schemas.microsoft.com/office/powerpoint/2010/main" val="784839345"/>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DBD4B93-2339-15B3-8448-839B54A88920}"/>
              </a:ext>
            </a:extLst>
          </p:cNvPr>
          <p:cNvSpPr>
            <a:spLocks noGrp="1"/>
          </p:cNvSpPr>
          <p:nvPr>
            <p:ph type="title"/>
          </p:nvPr>
        </p:nvSpPr>
        <p:spPr/>
        <p:txBody>
          <a:bodyPr/>
          <a:lstStyle/>
          <a:p>
            <a:r>
              <a:rPr lang="en-US" altLang="en-US"/>
              <a:t>Knowledge Representation (KR)-2</a:t>
            </a:r>
          </a:p>
        </p:txBody>
      </p:sp>
      <p:sp>
        <p:nvSpPr>
          <p:cNvPr id="99330" name="Content Placeholder 2">
            <a:extLst>
              <a:ext uri="{FF2B5EF4-FFF2-40B4-BE49-F238E27FC236}">
                <a16:creationId xmlns:a16="http://schemas.microsoft.com/office/drawing/2014/main" id="{418FF981-1881-5AD3-2BAD-3F834009CC0B}"/>
              </a:ext>
            </a:extLst>
          </p:cNvPr>
          <p:cNvSpPr>
            <a:spLocks noGrp="1"/>
          </p:cNvSpPr>
          <p:nvPr>
            <p:ph idx="1"/>
          </p:nvPr>
        </p:nvSpPr>
        <p:spPr>
          <a:xfrm>
            <a:off x="239713" y="2286000"/>
            <a:ext cx="8294687" cy="3886200"/>
          </a:xfrm>
        </p:spPr>
        <p:txBody>
          <a:bodyPr/>
          <a:lstStyle/>
          <a:p>
            <a:pPr marL="0" indent="0">
              <a:lnSpc>
                <a:spcPct val="150000"/>
              </a:lnSpc>
              <a:buFont typeface="Wingdings" panose="05000000000000000000" pitchFamily="2" charset="2"/>
              <a:buNone/>
            </a:pPr>
            <a:r>
              <a:rPr lang="en-US" altLang="en-US" sz="2400" dirty="0"/>
              <a:t>COMMON FEATURES between KR and Data Models:</a:t>
            </a:r>
          </a:p>
          <a:p>
            <a:pPr marL="0" indent="0">
              <a:lnSpc>
                <a:spcPct val="150000"/>
              </a:lnSpc>
            </a:pPr>
            <a:r>
              <a:rPr lang="en-US" altLang="en-US" sz="2400" dirty="0"/>
              <a:t> Both use similar set of abstractions – classification, aggregation, generalization, and identification. </a:t>
            </a:r>
          </a:p>
          <a:p>
            <a:pPr marL="0" indent="0">
              <a:lnSpc>
                <a:spcPct val="150000"/>
              </a:lnSpc>
            </a:pPr>
            <a:r>
              <a:rPr lang="en-US" altLang="en-US" sz="2400" dirty="0"/>
              <a:t> Both provide concepts, relationships, constraints, operations and languages to represent knowledge and model data</a:t>
            </a:r>
          </a:p>
        </p:txBody>
      </p:sp>
      <p:sp>
        <p:nvSpPr>
          <p:cNvPr id="99331" name="Slide Number Placeholder 3">
            <a:extLst>
              <a:ext uri="{FF2B5EF4-FFF2-40B4-BE49-F238E27FC236}">
                <a16:creationId xmlns:a16="http://schemas.microsoft.com/office/drawing/2014/main" id="{ED1A72D5-7554-1682-F768-6F9F0AE0EEA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C309724A-3626-4B64-9BDC-7FE2C71CC9A5}" type="slidenum">
              <a:rPr lang="en-US" altLang="en-US" sz="1400">
                <a:solidFill>
                  <a:srgbClr val="990033"/>
                </a:solidFill>
              </a:rPr>
              <a:pPr/>
              <a:t>97</a:t>
            </a:fld>
            <a:endParaRPr lang="en-CA" altLang="en-US" sz="1400">
              <a:solidFill>
                <a:srgbClr val="990033"/>
              </a:solidFill>
            </a:endParaRPr>
          </a:p>
        </p:txBody>
      </p:sp>
    </p:spTree>
    <p:extLst>
      <p:ext uri="{BB962C8B-B14F-4D97-AF65-F5344CB8AC3E}">
        <p14:creationId xmlns:p14="http://schemas.microsoft.com/office/powerpoint/2010/main" val="2173020724"/>
      </p:ext>
    </p:ext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6F1E825E-67F8-38B3-FB0F-8AA44E65BF5D}"/>
              </a:ext>
            </a:extLst>
          </p:cNvPr>
          <p:cNvSpPr>
            <a:spLocks noGrp="1"/>
          </p:cNvSpPr>
          <p:nvPr>
            <p:ph type="title"/>
          </p:nvPr>
        </p:nvSpPr>
        <p:spPr/>
        <p:txBody>
          <a:bodyPr/>
          <a:lstStyle/>
          <a:p>
            <a:r>
              <a:rPr lang="en-US" altLang="en-US"/>
              <a:t>Knowledge Representation (KR)-3</a:t>
            </a:r>
          </a:p>
        </p:txBody>
      </p:sp>
      <p:sp>
        <p:nvSpPr>
          <p:cNvPr id="3" name="Content Placeholder 2">
            <a:extLst>
              <a:ext uri="{FF2B5EF4-FFF2-40B4-BE49-F238E27FC236}">
                <a16:creationId xmlns:a16="http://schemas.microsoft.com/office/drawing/2014/main" id="{1B59EF2E-9F79-B947-405F-0FDF0F7095B0}"/>
              </a:ext>
            </a:extLst>
          </p:cNvPr>
          <p:cNvSpPr>
            <a:spLocks noGrp="1"/>
          </p:cNvSpPr>
          <p:nvPr>
            <p:ph idx="1"/>
          </p:nvPr>
        </p:nvSpPr>
        <p:spPr>
          <a:xfrm>
            <a:off x="239713" y="1600199"/>
            <a:ext cx="8294687" cy="4954587"/>
          </a:xfrm>
        </p:spPr>
        <p:txBody>
          <a:bodyPr>
            <a:normAutofit fontScale="92500" lnSpcReduction="10000"/>
          </a:bodyPr>
          <a:lstStyle/>
          <a:p>
            <a:pPr marL="0" indent="0">
              <a:buFont typeface="Wingdings" panose="05000000000000000000" pitchFamily="2" charset="2"/>
              <a:buNone/>
              <a:defRPr/>
            </a:pPr>
            <a:r>
              <a:rPr lang="en-US" dirty="0">
                <a:ea typeface="+mn-ea"/>
              </a:rPr>
              <a:t>DIFFERENCES:</a:t>
            </a:r>
          </a:p>
          <a:p>
            <a:pPr>
              <a:defRPr/>
            </a:pPr>
            <a:r>
              <a:rPr lang="en-US" altLang="en-US" sz="2800" dirty="0"/>
              <a:t>KR has broader scope: tries to deal with missing and incomplete knowledge, default and common-sense knowledge etc.</a:t>
            </a:r>
            <a:endParaRPr lang="en-US" dirty="0">
              <a:ea typeface="+mn-ea"/>
            </a:endParaRPr>
          </a:p>
          <a:p>
            <a:pPr>
              <a:defRPr/>
            </a:pPr>
            <a:r>
              <a:rPr lang="en-US" dirty="0">
                <a:ea typeface="+mn-ea"/>
              </a:rPr>
              <a:t>KR schemes typically include rules and reasoning mechanisms for inferencing</a:t>
            </a:r>
          </a:p>
          <a:p>
            <a:pPr>
              <a:defRPr/>
            </a:pPr>
            <a:r>
              <a:rPr lang="en-US" dirty="0">
                <a:ea typeface="+mn-ea"/>
              </a:rPr>
              <a:t>Most KR techniques involve data and metadata. In data modeling, these are treated separately</a:t>
            </a:r>
          </a:p>
          <a:p>
            <a:pPr>
              <a:defRPr/>
            </a:pPr>
            <a:r>
              <a:rPr lang="en-US" dirty="0">
                <a:ea typeface="+mn-ea"/>
              </a:rPr>
              <a:t>KR is used in conjunction with artificial intelligence systems to do decision support applications</a:t>
            </a:r>
          </a:p>
          <a:p>
            <a:pPr marL="0" indent="0">
              <a:buFont typeface="Wingdings" panose="05000000000000000000" pitchFamily="2" charset="2"/>
              <a:buNone/>
              <a:defRPr/>
            </a:pPr>
            <a:r>
              <a:rPr lang="en-US" sz="2400" i="1" dirty="0">
                <a:ea typeface="+mn-ea"/>
              </a:rPr>
              <a:t>For more details on spatial, temporal and multimedia data modeling, see Chapter 26. For details on use of Ontologies see Sections 27.4.3 and 27.7.4.</a:t>
            </a:r>
            <a:endParaRPr lang="en-US" i="1" dirty="0">
              <a:ea typeface="+mn-ea"/>
            </a:endParaRPr>
          </a:p>
        </p:txBody>
      </p:sp>
      <p:sp>
        <p:nvSpPr>
          <p:cNvPr id="100355" name="Slide Number Placeholder 3">
            <a:extLst>
              <a:ext uri="{FF2B5EF4-FFF2-40B4-BE49-F238E27FC236}">
                <a16:creationId xmlns:a16="http://schemas.microsoft.com/office/drawing/2014/main" id="{916D4A53-7877-AADA-5AA1-02E9C15EA5B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13DB39BD-D773-461A-BC54-49EC9B75A932}" type="slidenum">
              <a:rPr lang="en-US" altLang="en-US" sz="1400">
                <a:solidFill>
                  <a:srgbClr val="990033"/>
                </a:solidFill>
              </a:rPr>
              <a:pPr/>
              <a:t>98</a:t>
            </a:fld>
            <a:endParaRPr lang="en-CA" altLang="en-US" sz="1400">
              <a:solidFill>
                <a:srgbClr val="990033"/>
              </a:solidFill>
            </a:endParaRPr>
          </a:p>
        </p:txBody>
      </p:sp>
    </p:spTree>
    <p:extLst>
      <p:ext uri="{BB962C8B-B14F-4D97-AF65-F5344CB8AC3E}">
        <p14:creationId xmlns:p14="http://schemas.microsoft.com/office/powerpoint/2010/main" val="2449381739"/>
      </p:ext>
    </p:ext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Number Placeholder 3">
            <a:extLst>
              <a:ext uri="{FF2B5EF4-FFF2-40B4-BE49-F238E27FC236}">
                <a16:creationId xmlns:a16="http://schemas.microsoft.com/office/drawing/2014/main" id="{038C546E-139F-6949-00B8-0F09E84FB1C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5AF8567A-677C-42F6-9D97-321881705ABB}" type="slidenum">
              <a:rPr lang="en-US" altLang="en-US" sz="1400">
                <a:solidFill>
                  <a:srgbClr val="990033"/>
                </a:solidFill>
              </a:rPr>
              <a:pPr/>
              <a:t>99</a:t>
            </a:fld>
            <a:endParaRPr lang="en-CA" altLang="en-US" sz="1400">
              <a:solidFill>
                <a:srgbClr val="990033"/>
              </a:solidFill>
            </a:endParaRPr>
          </a:p>
        </p:txBody>
      </p:sp>
      <p:sp>
        <p:nvSpPr>
          <p:cNvPr id="101378" name="Rectangle 1030">
            <a:extLst>
              <a:ext uri="{FF2B5EF4-FFF2-40B4-BE49-F238E27FC236}">
                <a16:creationId xmlns:a16="http://schemas.microsoft.com/office/drawing/2014/main" id="{410D6D8D-798C-8749-1B74-5CFEF5718009}"/>
              </a:ext>
            </a:extLst>
          </p:cNvPr>
          <p:cNvSpPr>
            <a:spLocks noGrp="1" noChangeArrowheads="1"/>
          </p:cNvSpPr>
          <p:nvPr>
            <p:ph type="title"/>
          </p:nvPr>
        </p:nvSpPr>
        <p:spPr/>
        <p:txBody>
          <a:bodyPr/>
          <a:lstStyle/>
          <a:p>
            <a:pPr eaLnBrk="1" hangingPunct="1"/>
            <a:r>
              <a:rPr lang="en-US" altLang="en-US" sz="3200"/>
              <a:t>General  Basis for Conceptual Modeling</a:t>
            </a:r>
          </a:p>
        </p:txBody>
      </p:sp>
      <p:sp>
        <p:nvSpPr>
          <p:cNvPr id="101379" name="Rectangle 1031">
            <a:extLst>
              <a:ext uri="{FF2B5EF4-FFF2-40B4-BE49-F238E27FC236}">
                <a16:creationId xmlns:a16="http://schemas.microsoft.com/office/drawing/2014/main" id="{A6CCA822-8619-1047-7BD5-F7D6BB7D51F5}"/>
              </a:ext>
            </a:extLst>
          </p:cNvPr>
          <p:cNvSpPr>
            <a:spLocks noGrp="1" noChangeArrowheads="1"/>
          </p:cNvSpPr>
          <p:nvPr>
            <p:ph type="body" idx="1"/>
          </p:nvPr>
        </p:nvSpPr>
        <p:spPr/>
        <p:txBody>
          <a:bodyPr/>
          <a:lstStyle/>
          <a:p>
            <a:pPr eaLnBrk="1" hangingPunct="1">
              <a:lnSpc>
                <a:spcPct val="90000"/>
              </a:lnSpc>
            </a:pPr>
            <a:r>
              <a:rPr lang="en-US" altLang="en-US"/>
              <a:t>TYPES OF DATA ABSTRACTIONS</a:t>
            </a:r>
          </a:p>
          <a:p>
            <a:pPr lvl="1" eaLnBrk="1" hangingPunct="1">
              <a:lnSpc>
                <a:spcPct val="90000"/>
              </a:lnSpc>
            </a:pPr>
            <a:r>
              <a:rPr lang="en-US" altLang="en-US"/>
              <a:t>CLASSIFICATION and INSTANTIATION</a:t>
            </a:r>
          </a:p>
          <a:p>
            <a:pPr lvl="1" eaLnBrk="1" hangingPunct="1">
              <a:lnSpc>
                <a:spcPct val="90000"/>
              </a:lnSpc>
            </a:pPr>
            <a:r>
              <a:rPr lang="en-US" altLang="en-US"/>
              <a:t>AGGREGATION and ASSOCIATION (relationships)</a:t>
            </a:r>
          </a:p>
          <a:p>
            <a:pPr lvl="1" eaLnBrk="1" hangingPunct="1">
              <a:lnSpc>
                <a:spcPct val="90000"/>
              </a:lnSpc>
            </a:pPr>
            <a:r>
              <a:rPr lang="en-US" altLang="en-US"/>
              <a:t>GENERALIZATION and SPECIALIZATION</a:t>
            </a:r>
          </a:p>
          <a:p>
            <a:pPr lvl="1" eaLnBrk="1" hangingPunct="1">
              <a:lnSpc>
                <a:spcPct val="90000"/>
              </a:lnSpc>
            </a:pPr>
            <a:r>
              <a:rPr lang="en-US" altLang="en-US"/>
              <a:t>IDENTIFICATION</a:t>
            </a:r>
          </a:p>
          <a:p>
            <a:pPr eaLnBrk="1" hangingPunct="1">
              <a:lnSpc>
                <a:spcPct val="90000"/>
              </a:lnSpc>
            </a:pPr>
            <a:r>
              <a:rPr lang="en-US" altLang="en-US"/>
              <a:t>CONSTRAINTS</a:t>
            </a:r>
          </a:p>
          <a:p>
            <a:pPr lvl="1" eaLnBrk="1" hangingPunct="1">
              <a:lnSpc>
                <a:spcPct val="90000"/>
              </a:lnSpc>
            </a:pPr>
            <a:r>
              <a:rPr lang="en-US" altLang="en-US"/>
              <a:t>CARDINALITY (Min and Max)</a:t>
            </a:r>
          </a:p>
          <a:p>
            <a:pPr lvl="1" eaLnBrk="1" hangingPunct="1">
              <a:lnSpc>
                <a:spcPct val="90000"/>
              </a:lnSpc>
            </a:pPr>
            <a:r>
              <a:rPr lang="en-US" altLang="en-US"/>
              <a:t>COVERAGE (Total vs. Partial, and Exclusive (Disjoint) vs. Overlapping)</a:t>
            </a:r>
          </a:p>
        </p:txBody>
      </p:sp>
    </p:spTree>
    <p:extLst>
      <p:ext uri="{BB962C8B-B14F-4D97-AF65-F5344CB8AC3E}">
        <p14:creationId xmlns:p14="http://schemas.microsoft.com/office/powerpoint/2010/main" val="5489623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Number Placeholder 3">
            <a:extLst>
              <a:ext uri="{FF2B5EF4-FFF2-40B4-BE49-F238E27FC236}">
                <a16:creationId xmlns:a16="http://schemas.microsoft.com/office/drawing/2014/main" id="{4F73DF78-5051-AA42-D306-3D9B4F2604F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0D90FDB8-2C3A-4B03-8E21-755AD0C634AE}" type="slidenum">
              <a:rPr lang="en-US" altLang="en-US" sz="1400">
                <a:solidFill>
                  <a:srgbClr val="990033"/>
                </a:solidFill>
              </a:rPr>
              <a:pPr/>
              <a:t>100</a:t>
            </a:fld>
            <a:endParaRPr lang="en-CA" altLang="en-US" sz="1400">
              <a:solidFill>
                <a:srgbClr val="990033"/>
              </a:solidFill>
            </a:endParaRPr>
          </a:p>
        </p:txBody>
      </p:sp>
      <p:sp>
        <p:nvSpPr>
          <p:cNvPr id="103426" name="Rectangle 2">
            <a:extLst>
              <a:ext uri="{FF2B5EF4-FFF2-40B4-BE49-F238E27FC236}">
                <a16:creationId xmlns:a16="http://schemas.microsoft.com/office/drawing/2014/main" id="{94957F74-EA4C-99E1-373B-065A32F13816}"/>
              </a:ext>
            </a:extLst>
          </p:cNvPr>
          <p:cNvSpPr>
            <a:spLocks noGrp="1" noChangeArrowheads="1"/>
          </p:cNvSpPr>
          <p:nvPr>
            <p:ph type="title"/>
          </p:nvPr>
        </p:nvSpPr>
        <p:spPr/>
        <p:txBody>
          <a:bodyPr/>
          <a:lstStyle/>
          <a:p>
            <a:pPr eaLnBrk="1" hangingPunct="1"/>
            <a:r>
              <a:rPr lang="en-US" altLang="en-US"/>
              <a:t>Ontologies</a:t>
            </a:r>
          </a:p>
        </p:txBody>
      </p:sp>
      <p:sp>
        <p:nvSpPr>
          <p:cNvPr id="103427" name="Rectangle 3">
            <a:extLst>
              <a:ext uri="{FF2B5EF4-FFF2-40B4-BE49-F238E27FC236}">
                <a16:creationId xmlns:a16="http://schemas.microsoft.com/office/drawing/2014/main" id="{C2218A8F-951E-254B-E20C-C084A25AFFAF}"/>
              </a:ext>
            </a:extLst>
          </p:cNvPr>
          <p:cNvSpPr>
            <a:spLocks noGrp="1" noChangeArrowheads="1"/>
          </p:cNvSpPr>
          <p:nvPr>
            <p:ph type="body" idx="1"/>
          </p:nvPr>
        </p:nvSpPr>
        <p:spPr/>
        <p:txBody>
          <a:bodyPr/>
          <a:lstStyle/>
          <a:p>
            <a:pPr eaLnBrk="1" hangingPunct="1">
              <a:lnSpc>
                <a:spcPct val="90000"/>
              </a:lnSpc>
            </a:pPr>
            <a:r>
              <a:rPr lang="en-US" altLang="en-US"/>
              <a:t>Use conceptual modeling and other tools to develop “a specification of a conceptualization”</a:t>
            </a:r>
          </a:p>
          <a:p>
            <a:pPr lvl="1" eaLnBrk="1" hangingPunct="1">
              <a:lnSpc>
                <a:spcPct val="90000"/>
              </a:lnSpc>
            </a:pPr>
            <a:r>
              <a:rPr lang="en-US" altLang="en-US" b="1"/>
              <a:t>Specification </a:t>
            </a:r>
            <a:r>
              <a:rPr lang="en-US" altLang="en-US"/>
              <a:t>refers to the language and vocabulary (data model concepts) used</a:t>
            </a:r>
          </a:p>
          <a:p>
            <a:pPr lvl="1" eaLnBrk="1" hangingPunct="1">
              <a:lnSpc>
                <a:spcPct val="90000"/>
              </a:lnSpc>
            </a:pPr>
            <a:r>
              <a:rPr lang="en-US" altLang="en-US" b="1"/>
              <a:t>Conceptualization</a:t>
            </a:r>
            <a:r>
              <a:rPr lang="en-US" altLang="en-US"/>
              <a:t> refers to the description (schema) of the concepts of a particular field of knowledge and the relationships among these concepts</a:t>
            </a:r>
          </a:p>
          <a:p>
            <a:pPr eaLnBrk="1" hangingPunct="1">
              <a:lnSpc>
                <a:spcPct val="90000"/>
              </a:lnSpc>
            </a:pPr>
            <a:r>
              <a:rPr lang="en-US" altLang="en-US"/>
              <a:t>Many medical, scientific, and engineering ontologies are being developed as a means of standardizing concepts and terminology</a:t>
            </a:r>
          </a:p>
        </p:txBody>
      </p:sp>
    </p:spTree>
    <p:extLst>
      <p:ext uri="{BB962C8B-B14F-4D97-AF65-F5344CB8AC3E}">
        <p14:creationId xmlns:p14="http://schemas.microsoft.com/office/powerpoint/2010/main" val="2968024064"/>
      </p:ext>
    </p:extLst>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Number Placeholder 3">
            <a:extLst>
              <a:ext uri="{FF2B5EF4-FFF2-40B4-BE49-F238E27FC236}">
                <a16:creationId xmlns:a16="http://schemas.microsoft.com/office/drawing/2014/main" id="{1F3CDBEA-97FA-EDAF-86D0-ED6B6012AE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990033"/>
                </a:solidFill>
              </a:rPr>
              <a:t>Slide 4- </a:t>
            </a:r>
            <a:fld id="{74FFF231-F130-4522-8C95-0BDCF52BD3E7}" type="slidenum">
              <a:rPr lang="en-US" altLang="en-US" sz="1400">
                <a:solidFill>
                  <a:srgbClr val="990033"/>
                </a:solidFill>
              </a:rPr>
              <a:pPr/>
              <a:t>101</a:t>
            </a:fld>
            <a:endParaRPr lang="en-CA" altLang="en-US" sz="1400">
              <a:solidFill>
                <a:srgbClr val="990033"/>
              </a:solidFill>
            </a:endParaRPr>
          </a:p>
        </p:txBody>
      </p:sp>
      <p:sp>
        <p:nvSpPr>
          <p:cNvPr id="104450" name="Rectangle 2">
            <a:extLst>
              <a:ext uri="{FF2B5EF4-FFF2-40B4-BE49-F238E27FC236}">
                <a16:creationId xmlns:a16="http://schemas.microsoft.com/office/drawing/2014/main" id="{935173AF-C00D-0F6C-7B3D-9E9D5F034D62}"/>
              </a:ext>
            </a:extLst>
          </p:cNvPr>
          <p:cNvSpPr>
            <a:spLocks noGrp="1" noChangeArrowheads="1"/>
          </p:cNvSpPr>
          <p:nvPr>
            <p:ph type="title"/>
          </p:nvPr>
        </p:nvSpPr>
        <p:spPr/>
        <p:txBody>
          <a:bodyPr/>
          <a:lstStyle/>
          <a:p>
            <a:pPr eaLnBrk="1" hangingPunct="1"/>
            <a:r>
              <a:rPr lang="en-US" altLang="en-US"/>
              <a:t>Summary</a:t>
            </a:r>
          </a:p>
        </p:txBody>
      </p:sp>
      <p:sp>
        <p:nvSpPr>
          <p:cNvPr id="104451" name="Rectangle 3">
            <a:extLst>
              <a:ext uri="{FF2B5EF4-FFF2-40B4-BE49-F238E27FC236}">
                <a16:creationId xmlns:a16="http://schemas.microsoft.com/office/drawing/2014/main" id="{226984CA-1472-9CA2-8A3E-B4DD2AAFEA4F}"/>
              </a:ext>
            </a:extLst>
          </p:cNvPr>
          <p:cNvSpPr>
            <a:spLocks noGrp="1" noChangeArrowheads="1"/>
          </p:cNvSpPr>
          <p:nvPr>
            <p:ph type="body" idx="1"/>
          </p:nvPr>
        </p:nvSpPr>
        <p:spPr/>
        <p:txBody>
          <a:bodyPr/>
          <a:lstStyle/>
          <a:p>
            <a:pPr eaLnBrk="1" hangingPunct="1"/>
            <a:r>
              <a:rPr lang="en-US" altLang="en-US" sz="2400"/>
              <a:t>Introduced the EER model concepts</a:t>
            </a:r>
          </a:p>
          <a:p>
            <a:pPr lvl="1" eaLnBrk="1" hangingPunct="1"/>
            <a:r>
              <a:rPr lang="en-US" altLang="en-US" sz="2400"/>
              <a:t>Class/subclass relationships</a:t>
            </a:r>
          </a:p>
          <a:p>
            <a:pPr lvl="1" eaLnBrk="1" hangingPunct="1"/>
            <a:r>
              <a:rPr lang="en-US" altLang="en-US" sz="2400"/>
              <a:t>Specialization and generalization</a:t>
            </a:r>
          </a:p>
          <a:p>
            <a:pPr lvl="1" eaLnBrk="1" hangingPunct="1"/>
            <a:r>
              <a:rPr lang="en-US" altLang="en-US" sz="2400"/>
              <a:t>Inheritance</a:t>
            </a:r>
          </a:p>
          <a:p>
            <a:pPr eaLnBrk="1" hangingPunct="1"/>
            <a:r>
              <a:rPr lang="en-US" altLang="en-US" sz="2400"/>
              <a:t>Constraints on EER schemas</a:t>
            </a:r>
          </a:p>
          <a:p>
            <a:pPr eaLnBrk="1" hangingPunct="1"/>
            <a:r>
              <a:rPr lang="en-US" altLang="en-US" sz="2400"/>
              <a:t>These augment the basic ER model concepts introduced in Chapter 3</a:t>
            </a:r>
          </a:p>
          <a:p>
            <a:pPr eaLnBrk="1" hangingPunct="1"/>
            <a:r>
              <a:rPr lang="en-US" altLang="en-US" sz="2400"/>
              <a:t>EER diagrams and alternative notations were presented</a:t>
            </a:r>
          </a:p>
          <a:p>
            <a:pPr eaLnBrk="1" hangingPunct="1"/>
            <a:r>
              <a:rPr lang="en-US" altLang="en-US" sz="2400"/>
              <a:t>Knowledge Representation and Ontologies were introduced and compared with Data Modeling</a:t>
            </a:r>
          </a:p>
        </p:txBody>
      </p:sp>
    </p:spTree>
    <p:extLst>
      <p:ext uri="{BB962C8B-B14F-4D97-AF65-F5344CB8AC3E}">
        <p14:creationId xmlns:p14="http://schemas.microsoft.com/office/powerpoint/2010/main" val="118441239"/>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6598</TotalTime>
  <Words>5991</Words>
  <Application>Microsoft Office PowerPoint</Application>
  <PresentationFormat>Letter Paper (8.5x11 in)</PresentationFormat>
  <Paragraphs>726</Paragraphs>
  <Slides>101</Slides>
  <Notes>65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101</vt:i4>
      </vt:variant>
    </vt:vector>
  </HeadingPairs>
  <TitlesOfParts>
    <vt:vector size="113" baseType="lpstr">
      <vt:lpstr>ＭＳ Ｐゴシック</vt:lpstr>
      <vt:lpstr>Aptos</vt:lpstr>
      <vt:lpstr>Arial</vt:lpstr>
      <vt:lpstr>Arial Narrow</vt:lpstr>
      <vt:lpstr>Calibri</vt:lpstr>
      <vt:lpstr>Calibri Light</vt:lpstr>
      <vt:lpstr>Symbol</vt:lpstr>
      <vt:lpstr>Tahoma</vt:lpstr>
      <vt:lpstr>Times New Roman</vt:lpstr>
      <vt:lpstr>Wingdings</vt:lpstr>
      <vt:lpstr>ヒラギノ角ゴ Pro W3</vt:lpstr>
      <vt:lpstr>Blends</vt:lpstr>
      <vt:lpstr>Database Management Systems CS 5200</vt:lpstr>
      <vt:lpstr>Plan for Today</vt:lpstr>
      <vt:lpstr> </vt:lpstr>
      <vt:lpstr>Chapter Outline</vt:lpstr>
      <vt:lpstr>NOTATION for  ER diagrams</vt:lpstr>
      <vt:lpstr>Entity Type CAR with two keys and a corresponding Entity Set</vt:lpstr>
      <vt:lpstr>Initial Design of  Entity Types EMPLOYEE, DEPARTMENT, PROJECT, DEPENDENT</vt:lpstr>
      <vt:lpstr>Refining the initial design by introducing relationships</vt:lpstr>
      <vt:lpstr>Relationships and Relationship Types (1)</vt:lpstr>
      <vt:lpstr>Relationship instances of the WORKS_FOR N:1 relationship between EMPLOYEE and DEPARTMENT</vt:lpstr>
      <vt:lpstr>Relationship instances of the M:N  WORKS_ON relationship between EMPLOYEE and PROJECT</vt:lpstr>
      <vt:lpstr>Relationship type vs. relationship set (1)</vt:lpstr>
      <vt:lpstr>Relationship type vs. relationship set (2)</vt:lpstr>
      <vt:lpstr>Refining the COMPANY database schema by introducing relationships</vt:lpstr>
      <vt:lpstr>Initial Design of  Entity Types EMPLOYEE, DEPARTMENT, PROJECT, DEPENDENT</vt:lpstr>
      <vt:lpstr>ER DIAGRAM – Relationship Types are: WORKS_FOR, MANAGES, WORKS_ON, CONTROLS, SUPERVISION, DEPENDENTS_OF</vt:lpstr>
      <vt:lpstr>Discussion on Relationship Types</vt:lpstr>
      <vt:lpstr>Constraints on Relationships</vt:lpstr>
      <vt:lpstr>Many-to-one (N:1) Relationship</vt:lpstr>
      <vt:lpstr>Many-to-many (M:N) Relationship</vt:lpstr>
      <vt:lpstr>Recursive Relationship Type</vt:lpstr>
      <vt:lpstr>Displaying a recursive relationship</vt:lpstr>
      <vt:lpstr>A Recursive Relationship Supervision`</vt:lpstr>
      <vt:lpstr>Recursive Relationship Type is: SUPERVISION (participation role names are shown)</vt:lpstr>
      <vt:lpstr>Weak Entity Types</vt:lpstr>
      <vt:lpstr>Attributes of Relationship types</vt:lpstr>
      <vt:lpstr>Example Attribute of a Relationship Type:  Hours of WORKS_ON</vt:lpstr>
      <vt:lpstr>Notation for Constraints on Relationships</vt:lpstr>
      <vt:lpstr>Alternative (min, max) notation for relationship structural constraints:</vt:lpstr>
      <vt:lpstr>The (min,max) notation for relationship constraints</vt:lpstr>
      <vt:lpstr>COMPANY ER Schema Diagram  using (min, max) notation</vt:lpstr>
      <vt:lpstr>Is it 4:15 yet?</vt:lpstr>
      <vt:lpstr>Alternative diagrammatic notation</vt:lpstr>
      <vt:lpstr>Summary of notation for ER diagrams</vt:lpstr>
      <vt:lpstr>UML class diagrams</vt:lpstr>
      <vt:lpstr>UML class diagram for COMPANY database schema</vt:lpstr>
      <vt:lpstr>Other alternative diagrammatic notations</vt:lpstr>
      <vt:lpstr>Relationships of Higher Degree</vt:lpstr>
      <vt:lpstr>Discussion of n-ary relationships (n &gt; 2)</vt:lpstr>
      <vt:lpstr>Example of a ternary relationship</vt:lpstr>
      <vt:lpstr>Discussion of n-ary relationships (n &gt; 2)</vt:lpstr>
      <vt:lpstr>Another example of a ternary relationship</vt:lpstr>
      <vt:lpstr>Displaying constraints on higher-degree relationships</vt:lpstr>
      <vt:lpstr>Another Example:  A UNIVERSITY Database</vt:lpstr>
      <vt:lpstr>UNIVERSITY database conceptual schema</vt:lpstr>
      <vt:lpstr>Chapter Summary</vt:lpstr>
      <vt:lpstr>Data Modeling Tools (Additional Material )</vt:lpstr>
      <vt:lpstr>PowerPoint Presentation</vt:lpstr>
      <vt:lpstr>Extended Entity-Relationship (EER) Model (in the next chapter)</vt:lpstr>
      <vt:lpstr>Discussion 4:  ER Diagram for Pet Adoption Center</vt:lpstr>
      <vt:lpstr>Break (4:30 PM – 4:50 PM)  Please be punctual in returning so that we restart on time</vt:lpstr>
      <vt:lpstr> </vt:lpstr>
      <vt:lpstr>Chapter Outline</vt:lpstr>
      <vt:lpstr>Subclasses and Superclasses (1)</vt:lpstr>
      <vt:lpstr>PowerPoint Presentation</vt:lpstr>
      <vt:lpstr>Subclasses and Superclasses (2)</vt:lpstr>
      <vt:lpstr>Subclasses and Superclasses (3)</vt:lpstr>
      <vt:lpstr>Subclasses and Superclasses (4)</vt:lpstr>
      <vt:lpstr>Representing Specialization in EER Diagrams</vt:lpstr>
      <vt:lpstr>Attribute Inheritance in Superclass / Subclass Relationships </vt:lpstr>
      <vt:lpstr>Specialization (1)</vt:lpstr>
      <vt:lpstr>Specialization (2)</vt:lpstr>
      <vt:lpstr>PowerPoint Presentation</vt:lpstr>
      <vt:lpstr>Generalization</vt:lpstr>
      <vt:lpstr>PowerPoint Presentation</vt:lpstr>
      <vt:lpstr>Generalization and Specialization (1)</vt:lpstr>
      <vt:lpstr>Generalization and Specialization (2)</vt:lpstr>
      <vt:lpstr>Types of Specialization</vt:lpstr>
      <vt:lpstr>Constraints on Specialization and Generalization (1)</vt:lpstr>
      <vt:lpstr>Constraints on Specialization and Generalization (2)</vt:lpstr>
      <vt:lpstr>Displaying an attribute-defined specialization in EER diagrams</vt:lpstr>
      <vt:lpstr>Constraints on Specialization and Generalization (3)</vt:lpstr>
      <vt:lpstr>Constraints on Specialization and Generalization (4)</vt:lpstr>
      <vt:lpstr>Constraints on Specialization and Generalization (5)</vt:lpstr>
      <vt:lpstr>Constraints on Specialization and Generalization (6)</vt:lpstr>
      <vt:lpstr>Example of disjoint partial Specialization</vt:lpstr>
      <vt:lpstr>PowerPoint Presentation</vt:lpstr>
      <vt:lpstr>Specialization/Generalization Hierarchies, Lattices &amp; Shared Subclasses (1)</vt:lpstr>
      <vt:lpstr>PowerPoint Presentation</vt:lpstr>
      <vt:lpstr>Specialization/Generalization Hierarchies, Lattices &amp; Shared Subclasses (2)</vt:lpstr>
      <vt:lpstr>Specialization/Generalization Hierarchies, Lattices &amp; Shared Subclasses (3)</vt:lpstr>
      <vt:lpstr>Specialization / Generalization Lattice Example (UNIVERSITY)</vt:lpstr>
      <vt:lpstr>Categories (UNION TYPES) (1)</vt:lpstr>
      <vt:lpstr>Categories (UNION TYPES) (2)</vt:lpstr>
      <vt:lpstr>Two categories (UNION types): OWNER, REGISTERED_VEHICLE</vt:lpstr>
      <vt:lpstr>Is it 6:05 yet?</vt:lpstr>
      <vt:lpstr>Discussion 05 (6:05 – 6:15) EER Modeling for Library Database</vt:lpstr>
      <vt:lpstr>Review Deliverables (6:15 – 6:20)</vt:lpstr>
      <vt:lpstr>Formal Definitions of EER Model (1)</vt:lpstr>
      <vt:lpstr>Formal Definitions of EER Model (2)</vt:lpstr>
      <vt:lpstr>Formal Definitions of EER Model (3)</vt:lpstr>
      <vt:lpstr>Formal Definitions of EER Model (4)</vt:lpstr>
      <vt:lpstr>Alternative diagrammatic notations</vt:lpstr>
      <vt:lpstr>UML Example for Displaying Specialization / Generalization</vt:lpstr>
      <vt:lpstr>Alternative Diagrammatic Notations</vt:lpstr>
      <vt:lpstr>Knowledge Representation (KR)-1</vt:lpstr>
      <vt:lpstr>Knowledge Representation (KR)-2</vt:lpstr>
      <vt:lpstr>Knowledge Representation (KR)-3</vt:lpstr>
      <vt:lpstr>General  Basis for Conceptual Modeling</vt:lpstr>
      <vt:lpstr>Ontologies</vt:lpstr>
      <vt:lpstr>Summary</vt:lpstr>
    </vt:vector>
  </TitlesOfParts>
  <Manager/>
  <Company>©2007 Pearson Addison-Wesley. All rights reserved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Data Modeling Using the Entity-Relationship (ER) Model</dc:subject>
  <dc:creator>Elmasri/Navathe</dc:creator>
  <cp:keywords/>
  <dc:description/>
  <cp:lastModifiedBy>Zantout; Rached N.</cp:lastModifiedBy>
  <cp:revision>92</cp:revision>
  <cp:lastPrinted>2001-11-04T00:51:13Z</cp:lastPrinted>
  <dcterms:created xsi:type="dcterms:W3CDTF">2005-02-25T19:46:41Z</dcterms:created>
  <dcterms:modified xsi:type="dcterms:W3CDTF">2026-01-25T02:16:42Z</dcterms:modified>
  <cp:category/>
</cp:coreProperties>
</file>