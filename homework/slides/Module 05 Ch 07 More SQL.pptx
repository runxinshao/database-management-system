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7"/>
  </p:notesMasterIdLst>
  <p:handoutMasterIdLst>
    <p:handoutMasterId r:id="rId108"/>
  </p:handoutMasterIdLst>
  <p:sldIdLst>
    <p:sldId id="256" r:id="rId2"/>
    <p:sldId id="419" r:id="rId3"/>
    <p:sldId id="311" r:id="rId4"/>
    <p:sldId id="297" r:id="rId5"/>
    <p:sldId id="464" r:id="rId6"/>
    <p:sldId id="470" r:id="rId7"/>
    <p:sldId id="482" r:id="rId8"/>
    <p:sldId id="501" r:id="rId9"/>
    <p:sldId id="505" r:id="rId10"/>
    <p:sldId id="506" r:id="rId11"/>
    <p:sldId id="507" r:id="rId12"/>
    <p:sldId id="508" r:id="rId13"/>
    <p:sldId id="492" r:id="rId14"/>
    <p:sldId id="500" r:id="rId15"/>
    <p:sldId id="493" r:id="rId16"/>
    <p:sldId id="512" r:id="rId17"/>
    <p:sldId id="420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404" r:id="rId29"/>
    <p:sldId id="405" r:id="rId30"/>
    <p:sldId id="406" r:id="rId31"/>
    <p:sldId id="407" r:id="rId32"/>
    <p:sldId id="408" r:id="rId33"/>
    <p:sldId id="309" r:id="rId34"/>
    <p:sldId id="310" r:id="rId35"/>
    <p:sldId id="401" r:id="rId36"/>
    <p:sldId id="312" r:id="rId37"/>
    <p:sldId id="341" r:id="rId38"/>
    <p:sldId id="313" r:id="rId39"/>
    <p:sldId id="323" r:id="rId40"/>
    <p:sldId id="352" r:id="rId41"/>
    <p:sldId id="513" r:id="rId42"/>
    <p:sldId id="514" r:id="rId43"/>
    <p:sldId id="515" r:id="rId44"/>
    <p:sldId id="516" r:id="rId45"/>
    <p:sldId id="517" r:id="rId46"/>
    <p:sldId id="263" r:id="rId47"/>
    <p:sldId id="314" r:id="rId48"/>
    <p:sldId id="315" r:id="rId49"/>
    <p:sldId id="342" r:id="rId50"/>
    <p:sldId id="316" r:id="rId51"/>
    <p:sldId id="317" r:id="rId52"/>
    <p:sldId id="409" r:id="rId53"/>
    <p:sldId id="318" r:id="rId54"/>
    <p:sldId id="410" r:id="rId55"/>
    <p:sldId id="411" r:id="rId56"/>
    <p:sldId id="412" r:id="rId57"/>
    <p:sldId id="413" r:id="rId58"/>
    <p:sldId id="319" r:id="rId59"/>
    <p:sldId id="343" r:id="rId60"/>
    <p:sldId id="320" r:id="rId61"/>
    <p:sldId id="345" r:id="rId62"/>
    <p:sldId id="321" r:id="rId63"/>
    <p:sldId id="344" r:id="rId64"/>
    <p:sldId id="414" r:id="rId65"/>
    <p:sldId id="322" r:id="rId66"/>
    <p:sldId id="415" r:id="rId67"/>
    <p:sldId id="347" r:id="rId68"/>
    <p:sldId id="346" r:id="rId69"/>
    <p:sldId id="348" r:id="rId70"/>
    <p:sldId id="349" r:id="rId71"/>
    <p:sldId id="350" r:id="rId72"/>
    <p:sldId id="351" r:id="rId73"/>
    <p:sldId id="397" r:id="rId74"/>
    <p:sldId id="398" r:id="rId75"/>
    <p:sldId id="518" r:id="rId76"/>
    <p:sldId id="519" r:id="rId77"/>
    <p:sldId id="520" r:id="rId78"/>
    <p:sldId id="400" r:id="rId79"/>
    <p:sldId id="402" r:id="rId80"/>
    <p:sldId id="353" r:id="rId81"/>
    <p:sldId id="40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54" r:id="rId92"/>
    <p:sldId id="334" r:id="rId93"/>
    <p:sldId id="335" r:id="rId94"/>
    <p:sldId id="355" r:id="rId95"/>
    <p:sldId id="336" r:id="rId96"/>
    <p:sldId id="337" r:id="rId97"/>
    <p:sldId id="338" r:id="rId98"/>
    <p:sldId id="339" r:id="rId99"/>
    <p:sldId id="356" r:id="rId100"/>
    <p:sldId id="357" r:id="rId101"/>
    <p:sldId id="358" r:id="rId102"/>
    <p:sldId id="340" r:id="rId103"/>
    <p:sldId id="416" r:id="rId104"/>
    <p:sldId id="417" r:id="rId105"/>
    <p:sldId id="418" r:id="rId106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7228"/>
    <a:srgbClr val="6E792B"/>
    <a:srgbClr val="76822E"/>
    <a:srgbClr val="4F571F"/>
    <a:srgbClr val="6F6A07"/>
    <a:srgbClr val="827C08"/>
    <a:srgbClr val="A29B0A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 showGuides="1">
      <p:cViewPr varScale="1">
        <p:scale>
          <a:sx n="77" d="100"/>
          <a:sy n="77" d="100"/>
        </p:scale>
        <p:origin x="90" y="684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16A68092-CF13-DD04-3D17-07CE27B4E5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52E0C6D-31C3-E9E4-7D6D-61718A9E9A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9AB2CCB2-2848-2DB9-5FDA-6442AAF5A21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889D01F6-AE10-FCD9-1839-A51B96CCAC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351AF058-EF06-4E86-B0CF-8E829C7372B9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F772D29-12EB-84F0-66DC-EA0075AC25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496E7B8-7C22-3AA7-CAE5-EB1718AED5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2DB1747-909E-D3B6-5B2B-BE2FF9DA81C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7B87163E-F5A3-06A0-7001-289C110C585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6A292DB2-D47F-3C03-C5A9-0430AFABBD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87DEEAA5-903C-BBC5-442B-0442D4E1E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DDED5556-99AE-43C9-B480-E20698757697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A83E66BD-C662-D67E-93FF-6EFEF5BD8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6145EE30-3C29-614A-A581-AAE98C66A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3B657216-D4BB-5C45-39B7-48057FF8A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1A8D4B-A7E1-43B9-A1B1-109291936808}" type="slidenum">
              <a:rPr lang="en-CA" altLang="en-US" sz="1200">
                <a:latin typeface="Tahoma" panose="020B0604030504040204" pitchFamily="34" charset="0"/>
              </a:rPr>
              <a:pPr/>
              <a:t>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3913C1F-C51A-7B47-2F8C-2F788BBE1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9462903-CCE8-C88A-1E50-06B92A51D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3D90184F-F168-E41B-557A-A34043862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9700FCB-63D5-4CF5-9F09-60B0BC889436}" type="slidenum">
              <a:rPr lang="en-CA" altLang="en-US" sz="1200">
                <a:latin typeface="Tahoma" panose="020B0604030504040204" pitchFamily="34" charset="0"/>
              </a:rPr>
              <a:pPr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5F7C0C2F-594A-9840-1211-DC1224D26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4D879769-A8CA-AC56-B857-2855E7254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A83E66BD-C662-D67E-93FF-6EFEF5BD8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6145EE30-3C29-614A-A581-AAE98C66A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3B657216-D4BB-5C45-39B7-48057FF8A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1A8D4B-A7E1-43B9-A1B1-109291936808}" type="slidenum">
              <a:rPr lang="en-CA" altLang="en-US" sz="1200">
                <a:latin typeface="Tahoma" panose="020B0604030504040204" pitchFamily="34" charset="0"/>
              </a:rPr>
              <a:pPr/>
              <a:t>17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91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">
            <a:extLst>
              <a:ext uri="{FF2B5EF4-FFF2-40B4-BE49-F238E27FC236}">
                <a16:creationId xmlns:a16="http://schemas.microsoft.com/office/drawing/2014/main" id="{24239A23-5D8A-34CE-AAB5-10268334A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861AA16-B137-36AF-09E4-63813E643D84}"/>
              </a:ext>
            </a:extLst>
          </p:cNvPr>
          <p:cNvSpPr>
            <a:spLocks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88C5ED82-84B4-8BFE-04BA-3BAF4E91CE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8D62DEFA-0510-6826-0CD0-7597D8A04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65AADE9B-F508-624E-AA36-A6F45A74A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6DF351-0B1C-4CDE-9923-7D002ACBCBF7}" type="slidenum">
              <a:rPr lang="en-CA" altLang="en-US" sz="1200">
                <a:latin typeface="Tahoma" panose="020B0604030504040204" pitchFamily="34" charset="0"/>
              </a:rPr>
              <a:pPr/>
              <a:t>23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896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65DC849F-E93E-F6DF-6EC2-E6960D093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C027A0-25E5-4AE7-9FEE-3548C3B179D4}" type="slidenum">
              <a:rPr lang="en-CA" altLang="en-US" sz="1200">
                <a:latin typeface="Tahoma" panose="020B0604030504040204" pitchFamily="34" charset="0"/>
              </a:rPr>
              <a:pPr/>
              <a:t>40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95104B67-DFF2-CB27-4ACE-47901FB7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4BCE8C2-C368-7351-DB4A-0FF2EC545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86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65DC849F-E93E-F6DF-6EC2-E6960D093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C027A0-25E5-4AE7-9FEE-3548C3B179D4}" type="slidenum">
              <a:rPr lang="en-CA" altLang="en-US" sz="1200">
                <a:latin typeface="Tahoma" panose="020B0604030504040204" pitchFamily="34" charset="0"/>
              </a:rPr>
              <a:pPr/>
              <a:t>42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95104B67-DFF2-CB27-4ACE-47901FB7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4BCE8C2-C368-7351-DB4A-0FF2EC545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2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65DC849F-E93E-F6DF-6EC2-E6960D093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C027A0-25E5-4AE7-9FEE-3548C3B179D4}" type="slidenum">
              <a:rPr lang="en-CA" altLang="en-US" sz="1200">
                <a:latin typeface="Tahoma" panose="020B0604030504040204" pitchFamily="34" charset="0"/>
              </a:rPr>
              <a:pPr/>
              <a:t>44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95104B67-DFF2-CB27-4ACE-47901FB7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4BCE8C2-C368-7351-DB4A-0FF2EC545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545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4C16084C-5CC1-2B57-15F9-52AE0A91E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9ECFA629-4CF7-BBED-A846-908F6C27A2DD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D087B386-0FDB-CD27-A5D4-B1802875C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pic>
        <p:nvPicPr>
          <p:cNvPr id="5" name="Picture 35" descr="awtri_4c UPDATE_color">
            <a:extLst>
              <a:ext uri="{FF2B5EF4-FFF2-40B4-BE49-F238E27FC236}">
                <a16:creationId xmlns:a16="http://schemas.microsoft.com/office/drawing/2014/main" id="{157122AA-4BB9-DA9A-E105-B2FB68B84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6" descr="elmasri_thumb">
            <a:extLst>
              <a:ext uri="{FF2B5EF4-FFF2-40B4-BE49-F238E27FC236}">
                <a16:creationId xmlns:a16="http://schemas.microsoft.com/office/drawing/2014/main" id="{B30A908E-8BB1-DF30-8796-B4D497C8E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412A5DBE-C1D9-7BC1-CA37-AA55ABB520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r>
              <a:rPr lang="en-US" altLang="en-US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266046761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438DC50-8399-7D0E-7CC9-076F54D810A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6D11F7FA-F962-4577-ADCF-9A3DA7313C6D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06DFDE-0D8C-2BAB-A47A-828B1FF5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9378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5E02B4C-60DF-2D4A-09A6-5FDC2FB183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2DDCA2E4-E4E8-4707-8801-983347534CF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39958384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2EFF6DF-CD1D-7B36-D415-E809929F95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6BF6EE21-B1DB-4459-9D16-66B86D8A2CE5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4346176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5E47F20-FE0F-8A99-7916-B7FFDB0D1B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5F0E453B-5D73-4993-99A9-0B2CC8584F7E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3065095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2099567-25E2-96B6-EDFE-7F8D534C27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9228F43B-1751-4133-BFDC-FCBB34AB8CDD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2979040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A9262FAE-CED8-1AE6-3940-72120743CA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1864B7D0-CEEA-40DC-BC32-EE9584BC8EF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208653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7C0F642-E8F4-6934-F2FE-167DD3273D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9291CF21-B795-44F6-8698-4D5963511A92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94350635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EA5FE8D-DC64-2F97-5A4A-79F36DC9F9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EAB7105D-7781-4254-BB81-B8A68CFF1D8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8989041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7407615-DA2F-2C81-05B8-A65A5FB8BC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EB3B84DC-0E49-4764-A83F-DD74C6522E7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034583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5485054-0749-7B3A-5BBF-CF2047EA05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A91B246A-188E-44DD-9E24-D255D121D82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816764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B0E38FEA-4118-EC14-B467-5DB6031259F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id="{A2DE8DAD-1A83-F5B0-0EFD-08032DDD9FB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3" name="Group 44">
              <a:extLst>
                <a:ext uri="{FF2B5EF4-FFF2-40B4-BE49-F238E27FC236}">
                  <a16:creationId xmlns:a16="http://schemas.microsoft.com/office/drawing/2014/main" id="{582D6A6F-C337-774C-CE66-F9F191BB61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E54AD457-CB98-EDB6-528F-E2AD1C9B33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id="{E8D9ED74-C546-E203-D27A-E69872DEE7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EFB73BAF-E6B6-A271-774A-3D604C4C0864}"/>
              </a:ext>
            </a:extLst>
          </p:cNvPr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3FBC104B-7B17-A998-62AA-7000AB9FE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C46E5562-8FB5-0F52-6E7A-449EF9497F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3- </a:t>
            </a:r>
            <a:fld id="{63556D4A-20FD-4670-83D8-56E03A0EB71B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4D4C38C0-AB0B-5EE1-DF6E-7A365721C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0F559BED-7145-F311-A90C-9CE1CCA44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900"/>
              <a:t>Copyright © 2016 Ramez Elmasr and Shamkant B. Navathei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/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northeastern.instructure.com/courses/123286/pages/15-min-skim-sql-style-recommendations" TargetMode="External"/><Relationship Id="rId2" Type="http://schemas.openxmlformats.org/officeDocument/2006/relationships/hyperlink" Target="https://northeastern.hosted.panopto.com/Panopto/Pages/Viewer.aspx?id=7f7725ef-b7cb-4c73-a54a-ac52014a1946&amp;start=0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hyperlink" Target="https://northeastern.hosted.panopto.com/Panopto/Pages/Viewer.aspx?id=b43f7938-f0d5-4e87-bd86-ac5400292bfd&amp;start=0" TargetMode="External"/><Relationship Id="rId4" Type="http://schemas.openxmlformats.org/officeDocument/2006/relationships/hyperlink" Target="https://northeastern.hosted.panopto.com/Panopto/Pages/Viewer.aspx?id=4ac9add4-98eb-442a-8e5d-abed010a41b7&amp;start=0" TargetMode="Externa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northeastern.hosted.panopto.com/Panopto/Pages/Viewer.aspx?id=aa7d0c6b-77b5-4360-a730-ac520105ed19&amp;start=0" TargetMode="External"/><Relationship Id="rId2" Type="http://schemas.openxmlformats.org/officeDocument/2006/relationships/hyperlink" Target="https://northeastern.hosted.panopto.com/Panopto/Pages/Viewer.aspx?id=9dd5c7a0-64aa-4a66-b884-ac9900ec6d6e&amp;start=0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hyperlink" Target="https://northeastern.hosted.panopto.com/Panopto/Pages/Viewer.aspx?id=bf144f2b-1096-4209-985c-ac9900eca5bb&amp;start=0" TargetMode="Externa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s://northeastern.hosted.panopto.com/Panopto/Pages/Viewer.aspx?id=87af9a63-bf7a-4bc9-8fb8-abe60140d284&amp;start=0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670" y="195789"/>
            <a:ext cx="6946690" cy="970298"/>
          </a:xfrm>
          <a:prstGeom prst="rect">
            <a:avLst/>
          </a:prstGeom>
        </p:spPr>
        <p:txBody>
          <a:bodyPr vert="horz" wrap="square" lIns="0" tIns="71914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R="3810" indent="9525" algn="ctr">
              <a:lnSpc>
                <a:spcPts val="3510"/>
              </a:lnSpc>
              <a:spcBef>
                <a:spcPts val="566"/>
              </a:spcBef>
            </a:pPr>
            <a:r>
              <a:rPr lang="en-US" spc="-8" dirty="0"/>
              <a:t>Database</a:t>
            </a:r>
            <a:r>
              <a:rPr lang="en-US" spc="-135" dirty="0"/>
              <a:t> </a:t>
            </a:r>
            <a:r>
              <a:rPr lang="en-US" spc="-8" dirty="0"/>
              <a:t>Management</a:t>
            </a:r>
            <a:r>
              <a:rPr lang="en-US" spc="-131" dirty="0"/>
              <a:t> </a:t>
            </a:r>
            <a:r>
              <a:rPr lang="en-US" spc="-8" dirty="0"/>
              <a:t>Systems</a:t>
            </a:r>
            <a:br>
              <a:rPr lang="en-US" spc="-8" dirty="0"/>
            </a:br>
            <a:r>
              <a:rPr lang="en-US" dirty="0"/>
              <a:t>CS</a:t>
            </a:r>
            <a:r>
              <a:rPr lang="en-US" spc="-4" dirty="0"/>
              <a:t> </a:t>
            </a:r>
            <a:r>
              <a:rPr lang="en-US" spc="-15" dirty="0"/>
              <a:t>5200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EEC073-C300-0BA6-BF8F-5EADB71A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828800"/>
            <a:ext cx="8294687" cy="4660256"/>
          </a:xfrm>
        </p:spPr>
        <p:txBody>
          <a:bodyPr>
            <a:normAutofit/>
          </a:bodyPr>
          <a:lstStyle/>
          <a:p>
            <a:r>
              <a:rPr lang="en-US" dirty="0"/>
              <a:t>Announcements:</a:t>
            </a:r>
          </a:p>
          <a:p>
            <a:pPr lvl="1"/>
            <a:r>
              <a:rPr lang="en-US" dirty="0"/>
              <a:t>Name Tents: Put in front and give them back at the end of second session.</a:t>
            </a:r>
          </a:p>
          <a:p>
            <a:pPr lvl="1"/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Why is workbench adding attributes when a foreign key relationship is added?</a:t>
            </a:r>
          </a:p>
          <a:p>
            <a:pPr lvl="2"/>
            <a:r>
              <a:rPr lang="en-US" dirty="0">
                <a:solidFill>
                  <a:srgbClr val="1F1F1F"/>
                </a:solidFill>
                <a:latin typeface="Google Sans Text"/>
              </a:rPr>
              <a:t>Workbench implements ER diagrams and SQL so it needs to represent relationships as foreign key attributes.</a:t>
            </a:r>
          </a:p>
          <a:p>
            <a:pPr lvl="2"/>
            <a:r>
              <a:rPr lang="en-US" dirty="0">
                <a:solidFill>
                  <a:srgbClr val="1F1F1F"/>
                </a:solidFill>
                <a:latin typeface="Google Sans Text"/>
              </a:rPr>
              <a:t>You can disable showing the extra attributes in:</a:t>
            </a:r>
          </a:p>
          <a:p>
            <a:pPr lvl="3"/>
            <a:r>
              <a:rPr lang="en-US" dirty="0">
                <a:solidFill>
                  <a:srgbClr val="1F1F1F"/>
                </a:solidFill>
                <a:latin typeface="Google Sans Text"/>
              </a:rPr>
              <a:t>Model → Relationship Settings</a:t>
            </a:r>
          </a:p>
          <a:p>
            <a:pPr lvl="3"/>
            <a:r>
              <a:rPr lang="en-US" dirty="0">
                <a:solidFill>
                  <a:srgbClr val="1F1F1F"/>
                </a:solidFill>
                <a:latin typeface="Google Sans Text"/>
              </a:rPr>
              <a:t>Disable auto-placement (advanced use)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640" y="1039964"/>
            <a:ext cx="1764030" cy="375583"/>
          </a:xfrm>
          <a:prstGeom prst="rect">
            <a:avLst/>
          </a:prstGeom>
        </p:spPr>
        <p:txBody>
          <a:bodyPr vert="horz" wrap="square" lIns="0" tIns="97631" rIns="0" bIns="0" rtlCol="0">
            <a:spAutoFit/>
          </a:bodyPr>
          <a:lstStyle/>
          <a:p>
            <a:pPr marL="9525" algn="ctr">
              <a:spcBef>
                <a:spcPts val="769"/>
              </a:spcBef>
            </a:pPr>
            <a:r>
              <a:rPr lang="en-US" sz="1800" spc="-56" dirty="0">
                <a:latin typeface="Calibri"/>
                <a:cs typeface="Calibri"/>
              </a:rPr>
              <a:t>Rached Zantout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42" y="437481"/>
            <a:ext cx="2076226" cy="5882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E3999D-FC03-C440-417E-02768230A0F2}"/>
              </a:ext>
            </a:extLst>
          </p:cNvPr>
          <p:cNvSpPr/>
          <p:nvPr/>
        </p:nvSpPr>
        <p:spPr bwMode="auto">
          <a:xfrm>
            <a:off x="838200" y="6629400"/>
            <a:ext cx="3200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03E2-6228-9F18-8E03-E94DA40D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/>
              <a:t>1</a:t>
            </a:fld>
            <a:endParaRPr lang="en-CA" alt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670" y="195789"/>
            <a:ext cx="6946690" cy="970298"/>
          </a:xfrm>
          <a:prstGeom prst="rect">
            <a:avLst/>
          </a:prstGeom>
        </p:spPr>
        <p:txBody>
          <a:bodyPr vert="horz" wrap="square" lIns="0" tIns="71914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R="3810" indent="9525" algn="ctr">
              <a:lnSpc>
                <a:spcPts val="3510"/>
              </a:lnSpc>
              <a:spcBef>
                <a:spcPts val="566"/>
              </a:spcBef>
            </a:pPr>
            <a:r>
              <a:rPr lang="en-US" spc="-8" dirty="0"/>
              <a:t>Database</a:t>
            </a:r>
            <a:r>
              <a:rPr lang="en-US" spc="-135" dirty="0"/>
              <a:t> </a:t>
            </a:r>
            <a:r>
              <a:rPr lang="en-US" spc="-8" dirty="0"/>
              <a:t>Management</a:t>
            </a:r>
            <a:r>
              <a:rPr lang="en-US" spc="-131" dirty="0"/>
              <a:t> </a:t>
            </a:r>
            <a:r>
              <a:rPr lang="en-US" spc="-8" dirty="0"/>
              <a:t>Systems</a:t>
            </a:r>
            <a:br>
              <a:rPr lang="en-US" spc="-8" dirty="0"/>
            </a:br>
            <a:r>
              <a:rPr lang="en-US" dirty="0"/>
              <a:t>CS</a:t>
            </a:r>
            <a:r>
              <a:rPr lang="en-US" spc="-4" dirty="0"/>
              <a:t> </a:t>
            </a:r>
            <a:r>
              <a:rPr lang="en-US" spc="-15" dirty="0"/>
              <a:t>5200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EEC073-C300-0BA6-BF8F-5EADB71A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828800"/>
            <a:ext cx="8294687" cy="1219200"/>
          </a:xfrm>
        </p:spPr>
        <p:txBody>
          <a:bodyPr>
            <a:normAutofit/>
          </a:bodyPr>
          <a:lstStyle/>
          <a:p>
            <a:r>
              <a:rPr lang="en-US" dirty="0"/>
              <a:t>Announcements:</a:t>
            </a:r>
          </a:p>
          <a:p>
            <a:pPr lvl="1"/>
            <a:r>
              <a:rPr lang="en-US" dirty="0">
                <a:solidFill>
                  <a:srgbClr val="1F1F1F"/>
                </a:solidFill>
                <a:latin typeface="Google Sans Text"/>
              </a:rPr>
              <a:t>Mistake in CREATE TABLE Figure 6.1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640" y="1039964"/>
            <a:ext cx="1764030" cy="375583"/>
          </a:xfrm>
          <a:prstGeom prst="rect">
            <a:avLst/>
          </a:prstGeom>
        </p:spPr>
        <p:txBody>
          <a:bodyPr vert="horz" wrap="square" lIns="0" tIns="97631" rIns="0" bIns="0" rtlCol="0">
            <a:spAutoFit/>
          </a:bodyPr>
          <a:lstStyle/>
          <a:p>
            <a:pPr marL="9525" algn="ctr">
              <a:spcBef>
                <a:spcPts val="769"/>
              </a:spcBef>
            </a:pPr>
            <a:r>
              <a:rPr lang="en-US" sz="1800" spc="-56" dirty="0">
                <a:latin typeface="Calibri"/>
                <a:cs typeface="Calibri"/>
              </a:rPr>
              <a:t>Rached Zantout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42" y="437481"/>
            <a:ext cx="2076226" cy="5882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E3999D-FC03-C440-417E-02768230A0F2}"/>
              </a:ext>
            </a:extLst>
          </p:cNvPr>
          <p:cNvSpPr/>
          <p:nvPr/>
        </p:nvSpPr>
        <p:spPr bwMode="auto">
          <a:xfrm>
            <a:off x="838200" y="6629400"/>
            <a:ext cx="3200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03E2-6228-9F18-8E03-E94DA40D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/>
              <a:t>2</a:t>
            </a:fld>
            <a:endParaRPr lang="en-CA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20D955-C735-7A1C-1112-E2F0C8B46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250" y="2937339"/>
            <a:ext cx="5182142" cy="3349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35BF8-DBBA-AC0D-2609-C47FE83B5E52}"/>
              </a:ext>
            </a:extLst>
          </p:cNvPr>
          <p:cNvSpPr txBox="1"/>
          <p:nvPr/>
        </p:nvSpPr>
        <p:spPr>
          <a:xfrm>
            <a:off x="-8021" y="3100882"/>
            <a:ext cx="409066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CREATE TABLE EMPLOYEE (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Fname</a:t>
            </a:r>
            <a:r>
              <a:rPr lang="en-US" sz="1600" dirty="0"/>
              <a:t>      VARCHAR(15) NOT NULL,</a:t>
            </a:r>
          </a:p>
          <a:p>
            <a:r>
              <a:rPr lang="en-US" sz="1600" dirty="0"/>
              <a:t>    Minit      CHAR(1),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Lname</a:t>
            </a:r>
            <a:r>
              <a:rPr lang="en-US" sz="1600" dirty="0"/>
              <a:t>      VARCHAR(15) NOT NULL,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Ssn</a:t>
            </a:r>
            <a:r>
              <a:rPr lang="en-US" sz="1600" dirty="0"/>
              <a:t>        CHAR(9) NOT NULL,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Bdate</a:t>
            </a:r>
            <a:r>
              <a:rPr lang="en-US" sz="1600" dirty="0"/>
              <a:t>      DATE,</a:t>
            </a:r>
          </a:p>
          <a:p>
            <a:r>
              <a:rPr lang="en-US" sz="1600" dirty="0"/>
              <a:t>    Address    VARCHAR(30),</a:t>
            </a:r>
          </a:p>
          <a:p>
            <a:r>
              <a:rPr lang="en-US" sz="1600" dirty="0"/>
              <a:t>    Sex        CHAR(1),</a:t>
            </a:r>
          </a:p>
          <a:p>
            <a:r>
              <a:rPr lang="en-US" sz="1600" dirty="0"/>
              <a:t>    Salary     DECIMAL(10,2),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Super_ssn</a:t>
            </a:r>
            <a:r>
              <a:rPr lang="en-US" sz="1600" dirty="0"/>
              <a:t>  CHAR(9),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Dno</a:t>
            </a:r>
            <a:r>
              <a:rPr lang="en-US" sz="1600" dirty="0"/>
              <a:t>        INT NOT NULL,</a:t>
            </a:r>
          </a:p>
          <a:p>
            <a:r>
              <a:rPr lang="en-US" sz="1600" dirty="0"/>
              <a:t>    PRIMARY KEY (</a:t>
            </a:r>
            <a:r>
              <a:rPr lang="en-US" sz="1600" dirty="0" err="1"/>
              <a:t>Ssn</a:t>
            </a:r>
            <a:r>
              <a:rPr lang="en-US" sz="1600" dirty="0"/>
              <a:t>)</a:t>
            </a:r>
          </a:p>
          <a:p>
            <a:r>
              <a:rPr lang="en-US" sz="16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354512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D23E-E664-BCCC-E837-3E07001F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108" y="381000"/>
            <a:ext cx="7768590" cy="507831"/>
          </a:xfrm>
        </p:spPr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2D3C-C916-098A-F0BA-4594AC0A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76400"/>
            <a:ext cx="8227695" cy="5029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Module 5: Review of SQL from Chapter 06 and More SQL from Chapter 07 (75 minutes)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ea typeface="ＭＳ Ｐゴシック" charset="0"/>
              </a:rPr>
              <a:t>Basic SQL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ea typeface="ＭＳ Ｐゴシック" charset="0"/>
              </a:rPr>
              <a:t>More SQL Part 1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Discussion (15 minutes)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Class Activity: Writing SQL Queries </a:t>
            </a:r>
            <a:r>
              <a:rPr lang="en-US" sz="1400" dirty="0" err="1"/>
              <a:t>tto</a:t>
            </a:r>
            <a:r>
              <a:rPr lang="en-US" sz="1400" dirty="0"/>
              <a:t> get results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Break (20 minutes)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Module 5: Chapter 07 (75 minutes)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More SQL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Discussion (10 minutes)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Class Activity: SQL Queries with Join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Assign Homework 03 and 04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Assign Lab 05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Review Deliverables (5 minutes)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9940-2FEB-61DC-5559-F0EF75A94C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3</a:t>
            </a:fld>
            <a:endParaRPr lang="en-US" spc="-19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A7182-3D9C-7185-025D-A602FB67F5EA}"/>
              </a:ext>
            </a:extLst>
          </p:cNvPr>
          <p:cNvSpPr/>
          <p:nvPr/>
        </p:nvSpPr>
        <p:spPr bwMode="auto">
          <a:xfrm>
            <a:off x="838200" y="6629400"/>
            <a:ext cx="3200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981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2D423AA-5BB8-2DB8-4141-D47E6EA1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6819-8DCF-FF95-53A5-2F1E2FD11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3600" b="1" dirty="0">
                <a:ea typeface="+mn-ea"/>
              </a:rPr>
              <a:t>Review of SQL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EED72368-077F-164E-B401-07E57EBC3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8EDBDBAF-E0AE-41DE-B187-0446291B28D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4">
            <a:extLst>
              <a:ext uri="{FF2B5EF4-FFF2-40B4-BE49-F238E27FC236}">
                <a16:creationId xmlns:a16="http://schemas.microsoft.com/office/drawing/2014/main" id="{3F70068A-8A62-0BB7-8977-6796793F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3213"/>
            <a:ext cx="9144000" cy="992187"/>
          </a:xfrm>
        </p:spPr>
        <p:txBody>
          <a:bodyPr/>
          <a:lstStyle/>
          <a:p>
            <a:r>
              <a:rPr lang="en-US" altLang="en-US" dirty="0"/>
              <a:t>The CREATE SCHEMA Command in SQL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C3DDDC6E-041F-1A66-7C15-AD985104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00200"/>
            <a:ext cx="8839200" cy="4572000"/>
          </a:xfrm>
        </p:spPr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</a:t>
            </a:r>
            <a:r>
              <a:rPr lang="en-US" altLang="en-US" dirty="0"/>
              <a:t>statement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schema_name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Creates an empty schema owned by the current user.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schema_name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457200" lvl="1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AUTHORIZATION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authorization_user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457200" lvl="1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[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schema_element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 ... ]];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Example:</a:t>
            </a:r>
          </a:p>
          <a:p>
            <a:pPr lvl="3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COMPANY AUTHORIZATION ‘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Jsmith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F058B27-5B98-BFC7-8D92-4182CE71E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6F6C7DB-4378-5AA8-313E-44CE74C9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169863"/>
            <a:ext cx="8126412" cy="1201737"/>
          </a:xfrm>
        </p:spPr>
        <p:txBody>
          <a:bodyPr anchor="ctr"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endParaRPr lang="en-US" altLang="en-US" i="1">
              <a:latin typeface="Verdana" panose="020B0604030504040204" pitchFamily="34" charset="0"/>
            </a:endParaRPr>
          </a:p>
        </p:txBody>
      </p:sp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E2F4EC34-26BA-76B7-5962-17D447504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6- 14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2" name="Picture 2" descr="fig05_07.jpg">
            <a:extLst>
              <a:ext uri="{FF2B5EF4-FFF2-40B4-BE49-F238E27FC236}">
                <a16:creationId xmlns:a16="http://schemas.microsoft.com/office/drawing/2014/main" id="{5A7467B0-20A2-EA4F-A893-112BC2A118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848"/>
          <a:stretch/>
        </p:blipFill>
        <p:spPr bwMode="auto">
          <a:xfrm>
            <a:off x="152400" y="1753972"/>
            <a:ext cx="8686800" cy="935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E0D379-6CF0-DC74-FDFB-37742A636303}"/>
              </a:ext>
            </a:extLst>
          </p:cNvPr>
          <p:cNvSpPr txBox="1"/>
          <p:nvPr/>
        </p:nvSpPr>
        <p:spPr>
          <a:xfrm>
            <a:off x="152400" y="2895601"/>
            <a:ext cx="8355012" cy="35052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lang="en-US" dirty="0"/>
              <a:t>CREATE TABLE EMPLOYEE (</a:t>
            </a:r>
          </a:p>
          <a:p>
            <a:r>
              <a:rPr lang="en-US" dirty="0"/>
              <a:t>    </a:t>
            </a:r>
            <a:r>
              <a:rPr lang="en-US" dirty="0" err="1"/>
              <a:t>Fname</a:t>
            </a:r>
            <a:r>
              <a:rPr lang="en-US" dirty="0"/>
              <a:t>      VARCHAR(15) NOT NULL,</a:t>
            </a:r>
          </a:p>
          <a:p>
            <a:r>
              <a:rPr lang="en-US" dirty="0"/>
              <a:t>    Minit      CHAR(1),</a:t>
            </a:r>
          </a:p>
          <a:p>
            <a:r>
              <a:rPr lang="en-US" dirty="0"/>
              <a:t>    </a:t>
            </a:r>
            <a:r>
              <a:rPr lang="en-US" dirty="0" err="1"/>
              <a:t>Lname</a:t>
            </a:r>
            <a:r>
              <a:rPr lang="en-US" dirty="0"/>
              <a:t>      VARCHAR(15) NOT NULL,</a:t>
            </a:r>
          </a:p>
          <a:p>
            <a:r>
              <a:rPr lang="en-US" dirty="0"/>
              <a:t>    </a:t>
            </a:r>
            <a:r>
              <a:rPr lang="en-US" dirty="0" err="1"/>
              <a:t>Ssn</a:t>
            </a:r>
            <a:r>
              <a:rPr lang="en-US" dirty="0"/>
              <a:t>        CHAR(9) NOT NULL,</a:t>
            </a:r>
          </a:p>
          <a:p>
            <a:r>
              <a:rPr lang="en-US" dirty="0"/>
              <a:t>    </a:t>
            </a:r>
            <a:r>
              <a:rPr lang="en-US" dirty="0" err="1"/>
              <a:t>Bdate</a:t>
            </a:r>
            <a:r>
              <a:rPr lang="en-US" dirty="0"/>
              <a:t>      DATE,</a:t>
            </a:r>
          </a:p>
          <a:p>
            <a:r>
              <a:rPr lang="en-US" dirty="0"/>
              <a:t>    Address    VARCHAR(30),</a:t>
            </a:r>
          </a:p>
          <a:p>
            <a:r>
              <a:rPr lang="en-US" dirty="0"/>
              <a:t>    Sex        CHAR(1),</a:t>
            </a:r>
          </a:p>
          <a:p>
            <a:r>
              <a:rPr lang="en-US" dirty="0"/>
              <a:t>    Salary     DECIMAL(10,2),</a:t>
            </a:r>
          </a:p>
          <a:p>
            <a:r>
              <a:rPr lang="en-US" dirty="0"/>
              <a:t>    </a:t>
            </a:r>
            <a:r>
              <a:rPr lang="en-US" dirty="0" err="1"/>
              <a:t>Super_ssn</a:t>
            </a:r>
            <a:r>
              <a:rPr lang="en-US" dirty="0"/>
              <a:t>  CHAR(9),</a:t>
            </a:r>
          </a:p>
          <a:p>
            <a:r>
              <a:rPr lang="en-US" dirty="0"/>
              <a:t>    </a:t>
            </a:r>
            <a:r>
              <a:rPr lang="en-US" dirty="0" err="1"/>
              <a:t>Dno</a:t>
            </a:r>
            <a:r>
              <a:rPr lang="en-US" dirty="0"/>
              <a:t>        INT NOT NULL,</a:t>
            </a:r>
          </a:p>
          <a:p>
            <a:r>
              <a:rPr lang="en-US" dirty="0"/>
              <a:t>    PRIMARY KEY (</a:t>
            </a:r>
            <a:r>
              <a:rPr lang="en-US" dirty="0" err="1"/>
              <a:t>Ssn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F126131-9630-B435-C69F-C322682B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Default attribute values and referential integrity triggered action specification (Fig. 6.2)</a:t>
            </a:r>
          </a:p>
        </p:txBody>
      </p:sp>
      <p:pic>
        <p:nvPicPr>
          <p:cNvPr id="44035" name="Picture 2" descr="fig06_02.jpg">
            <a:extLst>
              <a:ext uri="{FF2B5EF4-FFF2-40B4-BE49-F238E27FC236}">
                <a16:creationId xmlns:a16="http://schemas.microsoft.com/office/drawing/2014/main" id="{AE1F6F63-4A1C-723A-C18E-60020D57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1600200"/>
            <a:ext cx="53721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9AC21353-17B0-FF1F-A39E-EF497427F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50FC78B7-FFA0-43C6-B322-09333EA67E4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9BCCCC8-A157-C326-00A6-55ACA18F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Constraints on Tuples Using CHECK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517EB9B3-9CA4-0BCA-F500-D80E67D7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72000"/>
          </a:xfrm>
        </p:spPr>
        <p:txBody>
          <a:bodyPr/>
          <a:lstStyle/>
          <a:p>
            <a:pPr marL="342900" lvl="1" indent="-342900">
              <a:buClr>
                <a:srgbClr val="990033"/>
              </a:buClr>
              <a:buSzPct val="60000"/>
              <a:defRPr/>
            </a:pPr>
            <a:r>
              <a:rPr lang="en-US" altLang="en-US" dirty="0">
                <a:ea typeface="ＭＳ Ｐゴシック" charset="0"/>
              </a:rPr>
              <a:t>Additional Constraints on individual tuples within a relation are also possible using CHECK 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CHECK </a:t>
            </a:r>
            <a:r>
              <a:rPr lang="en-US" altLang="en-US" dirty="0">
                <a:ea typeface="ＭＳ Ｐゴシック" charset="0"/>
              </a:rPr>
              <a:t>clauses at the end of a 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CREATE TABLE</a:t>
            </a:r>
            <a:r>
              <a:rPr lang="en-US" altLang="en-US" dirty="0">
                <a:ea typeface="ＭＳ Ｐゴシック" charset="0"/>
              </a:rPr>
              <a:t> statement</a:t>
            </a:r>
          </a:p>
          <a:p>
            <a:pPr lvl="1">
              <a:defRPr/>
            </a:pPr>
            <a:r>
              <a:rPr lang="en-US" altLang="en-US" dirty="0">
                <a:ea typeface="ＭＳ Ｐゴシック" charset="0"/>
              </a:rPr>
              <a:t>Apply to each tuple individually</a:t>
            </a:r>
          </a:p>
          <a:p>
            <a:pPr lvl="1"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Example:</a:t>
            </a:r>
          </a:p>
          <a:p>
            <a:pPr lvl="2"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CHECK(</a:t>
            </a:r>
            <a:r>
              <a:rPr lang="en-US" altLang="en-US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Dept_create_date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&lt;= </a:t>
            </a:r>
            <a:r>
              <a:rPr lang="en-US" altLang="en-US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Mgr_start_date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);</a:t>
            </a:r>
          </a:p>
          <a:p>
            <a:pPr lvl="2"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CREATE TABLE Student (</a:t>
            </a:r>
          </a:p>
          <a:p>
            <a:pPr marL="914400" lvl="2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student_id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INT PRIMARY KEY,</a:t>
            </a:r>
          </a:p>
          <a:p>
            <a:pPr marL="914400" lvl="2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 age INT CHECK (age &gt;= 18 AND age &lt;= 60)</a:t>
            </a:r>
          </a:p>
          <a:p>
            <a:pPr marL="914400" lvl="2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);</a:t>
            </a:r>
          </a:p>
          <a:p>
            <a:pPr lvl="2">
              <a:defRPr/>
            </a:pPr>
            <a:endParaRPr lang="en-US" altLang="en-US" dirty="0">
              <a:latin typeface="Courier New" panose="02070309020205020404" pitchFamily="49" charset="0"/>
              <a:ea typeface="ＭＳ Ｐゴシック" charset="0"/>
              <a:cs typeface="Courier New" panose="02070309020205020404" pitchFamily="49" charset="0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86A8AEDE-A83D-5B9F-BF7C-59D044C7A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52E2F58-F501-4C3F-8626-ED11BDDEDD40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Title 4">
            <a:extLst>
              <a:ext uri="{FF2B5EF4-FFF2-40B4-BE49-F238E27FC236}">
                <a16:creationId xmlns:a16="http://schemas.microsoft.com/office/drawing/2014/main" id="{8AFCBF6D-B789-E77B-CC43-814F3F32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Retrieval Queries</a:t>
            </a:r>
          </a:p>
        </p:txBody>
      </p:sp>
      <p:sp>
        <p:nvSpPr>
          <p:cNvPr id="49159" name="Slide Number Placeholder 3">
            <a:extLst>
              <a:ext uri="{FF2B5EF4-FFF2-40B4-BE49-F238E27FC236}">
                <a16:creationId xmlns:a16="http://schemas.microsoft.com/office/drawing/2014/main" id="{63DB4EED-4994-5B81-7CE6-825B97592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6- 31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50179" name="Picture 4">
            <a:extLst>
              <a:ext uri="{FF2B5EF4-FFF2-40B4-BE49-F238E27FC236}">
                <a16:creationId xmlns:a16="http://schemas.microsoft.com/office/drawing/2014/main" id="{6DE8EEFB-8848-AF83-E798-8111BEEF1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524794"/>
            <a:ext cx="73310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CB45BD1-560E-563A-2B50-C4C545DD5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" y="4764192"/>
            <a:ext cx="67659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0AA96873-C92F-BE01-785B-CB5D1E6CA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26" y="3587663"/>
            <a:ext cx="6361874" cy="1247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0F14D-64F4-A5F7-93F0-08E5F5932024}"/>
              </a:ext>
            </a:extLst>
          </p:cNvPr>
          <p:cNvSpPr txBox="1"/>
          <p:nvPr/>
        </p:nvSpPr>
        <p:spPr>
          <a:xfrm>
            <a:off x="6400800" y="3810000"/>
            <a:ext cx="19050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Ambiguity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E1FCE-7604-0446-D916-626B97CC011D}"/>
              </a:ext>
            </a:extLst>
          </p:cNvPr>
          <p:cNvSpPr txBox="1"/>
          <p:nvPr/>
        </p:nvSpPr>
        <p:spPr>
          <a:xfrm>
            <a:off x="5943599" y="5638800"/>
            <a:ext cx="2456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Missing Where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8C43ECBC-AC83-9084-5D38-4BE4EF364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91000"/>
            <a:ext cx="6629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itle 4">
            <a:extLst>
              <a:ext uri="{FF2B5EF4-FFF2-40B4-BE49-F238E27FC236}">
                <a16:creationId xmlns:a16="http://schemas.microsoft.com/office/drawing/2014/main" id="{8AFCBF6D-B789-E77B-CC43-814F3F32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Retrieval Queries</a:t>
            </a:r>
          </a:p>
        </p:txBody>
      </p:sp>
      <p:sp>
        <p:nvSpPr>
          <p:cNvPr id="49159" name="Slide Number Placeholder 3">
            <a:extLst>
              <a:ext uri="{FF2B5EF4-FFF2-40B4-BE49-F238E27FC236}">
                <a16:creationId xmlns:a16="http://schemas.microsoft.com/office/drawing/2014/main" id="{63DB4EED-4994-5B81-7CE6-825B97592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6- 31</a:t>
            </a:r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0F14D-64F4-A5F7-93F0-08E5F5932024}"/>
              </a:ext>
            </a:extLst>
          </p:cNvPr>
          <p:cNvSpPr txBox="1"/>
          <p:nvPr/>
        </p:nvSpPr>
        <p:spPr>
          <a:xfrm>
            <a:off x="6002055" y="2590800"/>
            <a:ext cx="19050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= 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E1FCE-7604-0446-D916-626B97CC011D}"/>
              </a:ext>
            </a:extLst>
          </p:cNvPr>
          <p:cNvSpPr txBox="1"/>
          <p:nvPr/>
        </p:nvSpPr>
        <p:spPr>
          <a:xfrm>
            <a:off x="6148202" y="5094962"/>
            <a:ext cx="2456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DISTINCT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189E49F-D334-7882-C679-18321F33B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1" y="1634147"/>
            <a:ext cx="5562600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690963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769A-3355-DF01-1C03-1F7C8708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665284"/>
            <a:ext cx="8294688" cy="1735515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 dirty="0"/>
              <a:t>SELECT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E.Fname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E.Lname</a:t>
            </a:r>
            <a:r>
              <a:rPr lang="en-US" altLang="en-US" sz="2000" dirty="0"/>
              <a:t>, 1.1 * </a:t>
            </a:r>
            <a:r>
              <a:rPr lang="en-US" altLang="en-US" sz="2000" dirty="0" err="1"/>
              <a:t>E.Salary</a:t>
            </a:r>
            <a:r>
              <a:rPr lang="en-US" altLang="en-US" sz="2000" dirty="0"/>
              <a:t>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Increased_sal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 dirty="0"/>
              <a:t>FROM</a:t>
            </a:r>
            <a:r>
              <a:rPr lang="en-US" altLang="en-US" sz="2000" dirty="0"/>
              <a:t>  EMPLOYEE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E, WORKS_ON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W, PROJECT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P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 dirty="0"/>
              <a:t>WHERE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E.Ssn</a:t>
            </a:r>
            <a:r>
              <a:rPr lang="en-US" altLang="en-US" sz="2000" dirty="0"/>
              <a:t>=</a:t>
            </a:r>
            <a:r>
              <a:rPr lang="en-US" altLang="en-US" sz="2000" dirty="0" err="1"/>
              <a:t>W.Essn</a:t>
            </a:r>
            <a:r>
              <a:rPr lang="en-US" altLang="en-US" sz="2000" dirty="0"/>
              <a:t> </a:t>
            </a:r>
            <a:r>
              <a:rPr lang="en-US" altLang="en-US" sz="2000" b="1" dirty="0"/>
              <a:t>AND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W.Pno</a:t>
            </a:r>
            <a:r>
              <a:rPr lang="en-US" altLang="en-US" sz="2000" dirty="0"/>
              <a:t>=</a:t>
            </a:r>
            <a:r>
              <a:rPr lang="en-US" altLang="en-US" sz="2000" dirty="0" err="1"/>
              <a:t>P.Pnumber</a:t>
            </a:r>
            <a:r>
              <a:rPr lang="en-US" altLang="en-US" sz="2000" dirty="0"/>
              <a:t> </a:t>
            </a:r>
            <a:r>
              <a:rPr lang="en-US" altLang="en-US" sz="2000" b="1" dirty="0"/>
              <a:t>AND </a:t>
            </a:r>
            <a:r>
              <a:rPr lang="en-US" altLang="en-US" sz="2000" dirty="0" err="1"/>
              <a:t>P.Pname</a:t>
            </a:r>
            <a:r>
              <a:rPr lang="en-US" altLang="en-US" sz="2000" dirty="0"/>
              <a:t>=‘</a:t>
            </a:r>
            <a:r>
              <a:rPr lang="en-US" altLang="en-US" sz="2000" dirty="0" err="1"/>
              <a:t>ProductX</a:t>
            </a:r>
            <a:r>
              <a:rPr lang="en-US" altLang="en-US" sz="2000" dirty="0"/>
              <a:t>’;</a:t>
            </a:r>
          </a:p>
          <a:p>
            <a:pPr lvl="1"/>
            <a:endParaRPr lang="en-US" altLang="en-US" sz="2000" dirty="0"/>
          </a:p>
        </p:txBody>
      </p:sp>
      <p:sp>
        <p:nvSpPr>
          <p:cNvPr id="49158" name="Title 4">
            <a:extLst>
              <a:ext uri="{FF2B5EF4-FFF2-40B4-BE49-F238E27FC236}">
                <a16:creationId xmlns:a16="http://schemas.microsoft.com/office/drawing/2014/main" id="{8AFCBF6D-B789-E77B-CC43-814F3F32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Retrieval Queries</a:t>
            </a:r>
          </a:p>
        </p:txBody>
      </p:sp>
      <p:sp>
        <p:nvSpPr>
          <p:cNvPr id="49159" name="Slide Number Placeholder 3">
            <a:extLst>
              <a:ext uri="{FF2B5EF4-FFF2-40B4-BE49-F238E27FC236}">
                <a16:creationId xmlns:a16="http://schemas.microsoft.com/office/drawing/2014/main" id="{63DB4EED-4994-5B81-7CE6-825B97592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6- 31</a:t>
            </a:r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0F14D-64F4-A5F7-93F0-08E5F5932024}"/>
              </a:ext>
            </a:extLst>
          </p:cNvPr>
          <p:cNvSpPr txBox="1"/>
          <p:nvPr/>
        </p:nvSpPr>
        <p:spPr>
          <a:xfrm>
            <a:off x="7008312" y="2655104"/>
            <a:ext cx="19050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E1FCE-7604-0446-D916-626B97CC011D}"/>
              </a:ext>
            </a:extLst>
          </p:cNvPr>
          <p:cNvSpPr txBox="1"/>
          <p:nvPr/>
        </p:nvSpPr>
        <p:spPr>
          <a:xfrm>
            <a:off x="5838031" y="5797693"/>
            <a:ext cx="2456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Operators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B80E8F8-1167-0B89-CF97-E59823CA4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6407"/>
            <a:ext cx="6251713" cy="280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747390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Title 4">
            <a:extLst>
              <a:ext uri="{FF2B5EF4-FFF2-40B4-BE49-F238E27FC236}">
                <a16:creationId xmlns:a16="http://schemas.microsoft.com/office/drawing/2014/main" id="{8AFCBF6D-B789-E77B-CC43-814F3F32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General Retrieval Block</a:t>
            </a:r>
          </a:p>
        </p:txBody>
      </p:sp>
      <p:sp>
        <p:nvSpPr>
          <p:cNvPr id="49159" name="Slide Number Placeholder 3">
            <a:extLst>
              <a:ext uri="{FF2B5EF4-FFF2-40B4-BE49-F238E27FC236}">
                <a16:creationId xmlns:a16="http://schemas.microsoft.com/office/drawing/2014/main" id="{63DB4EED-4994-5B81-7CE6-825B97592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6- 31</a:t>
            </a:r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E1FCE-7604-0446-D916-626B97CC011D}"/>
              </a:ext>
            </a:extLst>
          </p:cNvPr>
          <p:cNvSpPr txBox="1"/>
          <p:nvPr/>
        </p:nvSpPr>
        <p:spPr>
          <a:xfrm>
            <a:off x="5838031" y="5797693"/>
            <a:ext cx="2456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Operators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BDFCDA3-DF6D-2F96-8205-0743E57A2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17845"/>
            <a:ext cx="3989388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509720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F774E388-93B7-911D-E30C-EB2E8B33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INSERT Command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9E92207D-5D1E-06E0-1E57-A753FE917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Specify the relation name and a list of values for the tuple. All values including nulls are supplied.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variation below inserts multiple tuples where a new table is loaded values from the result of a query.</a:t>
            </a:r>
          </a:p>
          <a:p>
            <a:endParaRPr lang="en-US" altLang="en-US" dirty="0"/>
          </a:p>
        </p:txBody>
      </p:sp>
      <p:pic>
        <p:nvPicPr>
          <p:cNvPr id="65540" name="Picture 2">
            <a:extLst>
              <a:ext uri="{FF2B5EF4-FFF2-40B4-BE49-F238E27FC236}">
                <a16:creationId xmlns:a16="http://schemas.microsoft.com/office/drawing/2014/main" id="{10C15AB8-2F75-7B6F-A56C-A95F711B0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667000"/>
            <a:ext cx="70294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3">
            <a:extLst>
              <a:ext uri="{FF2B5EF4-FFF2-40B4-BE49-F238E27FC236}">
                <a16:creationId xmlns:a16="http://schemas.microsoft.com/office/drawing/2014/main" id="{11BB4C0E-09FD-2F5E-EC4A-D17CADED4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948238"/>
            <a:ext cx="711358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Slide Number Placeholder 3">
            <a:extLst>
              <a:ext uri="{FF2B5EF4-FFF2-40B4-BE49-F238E27FC236}">
                <a16:creationId xmlns:a16="http://schemas.microsoft.com/office/drawing/2014/main" id="{9A5CB550-F835-B2AE-3AFE-54560556B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6- 46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8559EF75-3AB1-1232-C611-BBFE692E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BULK LOADING OF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3F464-D35F-B744-AB65-3D810BDDA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Another variation of </a:t>
            </a:r>
            <a:r>
              <a:rPr lang="en-US" altLang="en-US" sz="2600" b="1" dirty="0"/>
              <a:t>INSERT </a:t>
            </a:r>
            <a:r>
              <a:rPr lang="en-US" altLang="en-US" sz="2600" dirty="0"/>
              <a:t>is used for bulk-loading of several tuples into tables</a:t>
            </a:r>
          </a:p>
          <a:p>
            <a:r>
              <a:rPr lang="en-US" altLang="en-US" sz="2600" dirty="0"/>
              <a:t>A new table TNEW can be created with the same attributes as T and using LIKE and DATA in the syntax, it can be loaded with entire data.</a:t>
            </a:r>
          </a:p>
          <a:p>
            <a:r>
              <a:rPr lang="en-US" altLang="en-US" sz="2600" dirty="0"/>
              <a:t>EXAMPLE: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990033"/>
                </a:solidFill>
              </a:rPr>
              <a:t>CREATE TABLE</a:t>
            </a:r>
            <a:r>
              <a:rPr lang="en-US" altLang="en-US" sz="2000" dirty="0">
                <a:solidFill>
                  <a:srgbClr val="990033"/>
                </a:solidFill>
              </a:rPr>
              <a:t> D5EMPS  </a:t>
            </a:r>
            <a:r>
              <a:rPr lang="en-US" altLang="en-US" sz="2000" b="1" dirty="0">
                <a:solidFill>
                  <a:srgbClr val="990033"/>
                </a:solidFill>
              </a:rPr>
              <a:t>LIKE  </a:t>
            </a:r>
            <a:r>
              <a:rPr lang="en-US" altLang="en-US" sz="2000" dirty="0">
                <a:solidFill>
                  <a:srgbClr val="990033"/>
                </a:solidFill>
              </a:rPr>
              <a:t>EMPLOYEE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		(</a:t>
            </a:r>
            <a:r>
              <a:rPr lang="en-US" altLang="en-US" sz="2000" b="1" dirty="0">
                <a:solidFill>
                  <a:srgbClr val="990033"/>
                </a:solidFill>
              </a:rPr>
              <a:t>SELECT</a:t>
            </a:r>
            <a:r>
              <a:rPr lang="en-US" altLang="en-US" sz="2000" dirty="0">
                <a:solidFill>
                  <a:srgbClr val="990033"/>
                </a:solidFill>
              </a:rPr>
              <a:t>   E.*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		 </a:t>
            </a:r>
            <a:r>
              <a:rPr lang="en-US" altLang="en-US" sz="2000" b="1" dirty="0">
                <a:solidFill>
                  <a:srgbClr val="990033"/>
                </a:solidFill>
              </a:rPr>
              <a:t>FROM</a:t>
            </a:r>
            <a:r>
              <a:rPr lang="en-US" altLang="en-US" sz="2000" dirty="0">
                <a:solidFill>
                  <a:srgbClr val="990033"/>
                </a:solidFill>
              </a:rPr>
              <a:t>	      EMPLOYEE </a:t>
            </a:r>
            <a:r>
              <a:rPr lang="en-US" altLang="en-US" sz="2000" b="1" dirty="0">
                <a:solidFill>
                  <a:srgbClr val="990033"/>
                </a:solidFill>
              </a:rPr>
              <a:t>AS </a:t>
            </a:r>
            <a:r>
              <a:rPr lang="en-US" altLang="en-US" sz="2000" dirty="0">
                <a:solidFill>
                  <a:srgbClr val="990033"/>
                </a:solidFill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		</a:t>
            </a:r>
            <a:r>
              <a:rPr lang="en-US" altLang="en-US" sz="2000" b="1" dirty="0">
                <a:solidFill>
                  <a:srgbClr val="990033"/>
                </a:solidFill>
              </a:rPr>
              <a:t>WHERE</a:t>
            </a:r>
            <a:r>
              <a:rPr lang="en-US" altLang="en-US" sz="2000" dirty="0">
                <a:solidFill>
                  <a:srgbClr val="990033"/>
                </a:solidFill>
              </a:rPr>
              <a:t>     </a:t>
            </a:r>
            <a:r>
              <a:rPr lang="en-US" altLang="en-US" sz="2000" dirty="0" err="1">
                <a:solidFill>
                  <a:srgbClr val="990033"/>
                </a:solidFill>
              </a:rPr>
              <a:t>E.Dno</a:t>
            </a:r>
            <a:r>
              <a:rPr lang="en-US" altLang="en-US" sz="2000" dirty="0">
                <a:solidFill>
                  <a:srgbClr val="990033"/>
                </a:solidFill>
              </a:rPr>
              <a:t>=5)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 </a:t>
            </a:r>
            <a:r>
              <a:rPr lang="en-US" altLang="en-US" sz="2000" b="1" dirty="0">
                <a:solidFill>
                  <a:srgbClr val="990033"/>
                </a:solidFill>
              </a:rPr>
              <a:t>WITH DATA</a:t>
            </a:r>
            <a:r>
              <a:rPr lang="en-US" altLang="en-US" sz="2000" dirty="0">
                <a:solidFill>
                  <a:srgbClr val="990033"/>
                </a:solidFill>
              </a:rPr>
              <a:t>;</a:t>
            </a: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720126A7-2478-26A1-674B-3F16A6A3E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770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74899AF8-D877-4016-992A-47EBA80F5C74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3015548C-8F37-95BC-AAC2-655405AB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DELETE Command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DA4482B7-23C9-4725-F75A-467B09E8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Removes tuples from a relation</a:t>
            </a:r>
          </a:p>
          <a:p>
            <a:pPr lvl="1"/>
            <a:r>
              <a:rPr lang="en-US" altLang="en-US"/>
              <a:t>Includes a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/>
              <a:t> clause to select the tuples to be deleted. The number of tuples deleted will vary.</a:t>
            </a:r>
          </a:p>
        </p:txBody>
      </p:sp>
      <p:pic>
        <p:nvPicPr>
          <p:cNvPr id="69636" name="Picture 2">
            <a:extLst>
              <a:ext uri="{FF2B5EF4-FFF2-40B4-BE49-F238E27FC236}">
                <a16:creationId xmlns:a16="http://schemas.microsoft.com/office/drawing/2014/main" id="{5207430D-4FF7-855B-C375-0D40FD177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7"/>
          <a:stretch>
            <a:fillRect/>
          </a:stretch>
        </p:blipFill>
        <p:spPr bwMode="auto">
          <a:xfrm>
            <a:off x="1752600" y="3348038"/>
            <a:ext cx="4979988" cy="267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Slide Number Placeholder 3">
            <a:extLst>
              <a:ext uri="{FF2B5EF4-FFF2-40B4-BE49-F238E27FC236}">
                <a16:creationId xmlns:a16="http://schemas.microsoft.com/office/drawing/2014/main" id="{1AA7F97A-50A9-8941-E601-546AAC9B1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>
            <a:extLst>
              <a:ext uri="{FF2B5EF4-FFF2-40B4-BE49-F238E27FC236}">
                <a16:creationId xmlns:a16="http://schemas.microsoft.com/office/drawing/2014/main" id="{BE428504-FFC1-47A3-4F98-22A2E0CB2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942D0279-9CD2-41DC-96E2-1F3E28E2330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4755" name="Rectangle 6">
            <a:extLst>
              <a:ext uri="{FF2B5EF4-FFF2-40B4-BE49-F238E27FC236}">
                <a16:creationId xmlns:a16="http://schemas.microsoft.com/office/drawing/2014/main" id="{4F0108BA-9D9C-DDE5-A67F-2323365B8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UPDATE</a:t>
            </a:r>
          </a:p>
        </p:txBody>
      </p:sp>
      <p:sp>
        <p:nvSpPr>
          <p:cNvPr id="74756" name="Rectangle 7">
            <a:extLst>
              <a:ext uri="{FF2B5EF4-FFF2-40B4-BE49-F238E27FC236}">
                <a16:creationId xmlns:a16="http://schemas.microsoft.com/office/drawing/2014/main" id="{717CFAEB-7E20-01CE-9BCB-210767EC1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Example: Give all employees in the 'Research' department a 10% raise in salary.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U6:	UPDATE 	EMPLOYEE</a:t>
            </a:r>
            <a:br>
              <a:rPr lang="en-US" altLang="en-US" sz="2200"/>
            </a:br>
            <a:r>
              <a:rPr lang="en-US" altLang="en-US" sz="2200"/>
              <a:t>	SET		SALARY = SALARY *1.1</a:t>
            </a:r>
            <a:br>
              <a:rPr lang="en-US" altLang="en-US" sz="2200"/>
            </a:br>
            <a:r>
              <a:rPr lang="en-US" altLang="en-US" sz="2200"/>
              <a:t>	WHERE	DNO  IN (SELECT	DNUMBER</a:t>
            </a:r>
            <a:br>
              <a:rPr lang="en-US" altLang="en-US" sz="2200"/>
            </a:br>
            <a:r>
              <a:rPr lang="en-US" altLang="en-US" sz="2200"/>
              <a:t>			    FROM	DEPARTMENT</a:t>
            </a:r>
            <a:br>
              <a:rPr lang="en-US" altLang="en-US" sz="2200"/>
            </a:br>
            <a:r>
              <a:rPr lang="en-US" altLang="en-US" sz="2200"/>
              <a:t>			    WHERE	DNAME='Research')</a:t>
            </a:r>
            <a:br>
              <a:rPr lang="en-US" altLang="en-US" sz="2200"/>
            </a:br>
            <a:endParaRPr lang="en-US" altLang="en-US" sz="2200"/>
          </a:p>
          <a:p>
            <a:pPr>
              <a:lnSpc>
                <a:spcPct val="80000"/>
              </a:lnSpc>
            </a:pPr>
            <a:r>
              <a:rPr lang="en-US" altLang="en-US" sz="2400"/>
              <a:t>In this request, the modified SALARY value depends on the original SALARY value in each tuple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 sz="2400"/>
              <a:t>The reference to the SALARY attribute on the right of = refers to the old SALARY value before modification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The reference to the SALARY attribute on the left of = refers to the new SALARY value after modification</a:t>
            </a:r>
            <a:br>
              <a:rPr lang="en-US" altLang="en-US" sz="2400"/>
            </a:br>
            <a:endParaRPr lang="en-US" altLang="en-US" sz="240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2D423AA-5BB8-2DB8-4141-D47E6EA1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6819-8DCF-FF95-53A5-2F1E2FD11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3200" b="1" dirty="0">
                <a:ea typeface="+mn-ea"/>
              </a:rPr>
              <a:t>CHAPTER 7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3600" b="1" dirty="0">
                <a:ea typeface="+mn-ea"/>
              </a:rPr>
              <a:t>More SQL: 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3600" b="1" dirty="0">
                <a:ea typeface="+mn-ea"/>
              </a:rPr>
              <a:t>Complex Queries, Triggers, Views, and Schema Modification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EED72368-077F-164E-B401-07E57EBC3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8EDBDBAF-E0AE-41DE-B187-0446291B28D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01903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FDF29EFE-9A60-522D-4EF4-3672FA8B6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7 Outline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CD6A8D6-89F3-72BB-22A3-738E031AD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More Complex SQL Retrieval Queries</a:t>
            </a:r>
          </a:p>
          <a:p>
            <a:r>
              <a:rPr lang="en-US" altLang="en-US"/>
              <a:t>Specifying Semantic Constraints as Assertions and Actions as Triggers</a:t>
            </a:r>
          </a:p>
          <a:p>
            <a:r>
              <a:rPr lang="en-US" altLang="en-US"/>
              <a:t>Views (Virtual Tables) in SQL</a:t>
            </a:r>
          </a:p>
          <a:p>
            <a:r>
              <a:rPr lang="en-US" altLang="en-US"/>
              <a:t>Schema Modification in SQL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874FE42C-851F-10D7-F25E-D0393295D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CA4AE79-F647-909C-622D-9301BD73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Complex SQL Retrieval Queries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A9E9332-D33D-AC06-1C96-81286A8D6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Additional features allow users to specify more complex retrievals from database:</a:t>
            </a:r>
          </a:p>
          <a:p>
            <a:pPr lvl="1"/>
            <a:r>
              <a:rPr lang="en-US" altLang="en-US" dirty="0"/>
              <a:t>Nested queries, </a:t>
            </a:r>
          </a:p>
          <a:p>
            <a:pPr lvl="1"/>
            <a:r>
              <a:rPr lang="en-US" altLang="en-US" dirty="0"/>
              <a:t>joined tables, and </a:t>
            </a:r>
          </a:p>
          <a:p>
            <a:pPr lvl="1"/>
            <a:r>
              <a:rPr lang="en-US" altLang="en-US" dirty="0"/>
              <a:t>outer joins (in the FROM clause), </a:t>
            </a:r>
          </a:p>
          <a:p>
            <a:pPr lvl="1"/>
            <a:r>
              <a:rPr lang="en-US" altLang="en-US" dirty="0"/>
              <a:t>aggregate functions, and </a:t>
            </a:r>
          </a:p>
          <a:p>
            <a:pPr lvl="1"/>
            <a:r>
              <a:rPr lang="en-US" altLang="en-US" dirty="0"/>
              <a:t>grouping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5617AD29-D8A5-C392-F14F-6C4080D1A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DB5BF62-7B6E-42F4-7C83-68A0BCFD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Comparisons Involving NULL</a:t>
            </a:r>
            <a:br>
              <a:rPr lang="en-US" altLang="en-US"/>
            </a:br>
            <a:r>
              <a:rPr lang="en-US" altLang="en-US"/>
              <a:t>and Three-Valued Logic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1B58DAE7-5E0D-9D9C-0659-ADBBB526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8" y="1387475"/>
            <a:ext cx="8228012" cy="4524375"/>
          </a:xfrm>
        </p:spPr>
        <p:txBody>
          <a:bodyPr/>
          <a:lstStyle/>
          <a:p>
            <a:r>
              <a:rPr lang="en-US" altLang="en-US"/>
              <a:t>Meanings of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lvl="1"/>
            <a:r>
              <a:rPr lang="en-US" altLang="en-US" b="1"/>
              <a:t>Unknown value</a:t>
            </a:r>
          </a:p>
          <a:p>
            <a:pPr lvl="1"/>
            <a:r>
              <a:rPr lang="en-US" altLang="en-US" b="1"/>
              <a:t>Unavailable or withheld value</a:t>
            </a:r>
          </a:p>
          <a:p>
            <a:pPr lvl="1"/>
            <a:r>
              <a:rPr lang="en-US" altLang="en-US" b="1"/>
              <a:t>Not applicable attribute</a:t>
            </a:r>
          </a:p>
          <a:p>
            <a:r>
              <a:rPr lang="en-US" altLang="en-US"/>
              <a:t>Each individual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/>
              <a:t> value considered to be different from every other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/>
              <a:t> value</a:t>
            </a:r>
          </a:p>
          <a:p>
            <a:r>
              <a:rPr lang="en-US" altLang="en-US"/>
              <a:t>SQL uses a three-valued logic: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/>
              <a:t>,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UNKNOWN </a:t>
            </a:r>
            <a:r>
              <a:rPr lang="en-US" altLang="en-US">
                <a:cs typeface="Courier New" panose="02070309020205020404" pitchFamily="49" charset="0"/>
              </a:rPr>
              <a:t>(like Maybe)</a:t>
            </a:r>
          </a:p>
          <a:p>
            <a:r>
              <a:rPr lang="en-US" altLang="en-US" b="1">
                <a:cs typeface="Courier New" panose="02070309020205020404" pitchFamily="49" charset="0"/>
              </a:rPr>
              <a:t>NULL = NULL  comparison is avoided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538BB58C-7B6A-B471-1891-0E6D12309B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4">
            <a:extLst>
              <a:ext uri="{FF2B5EF4-FFF2-40B4-BE49-F238E27FC236}">
                <a16:creationId xmlns:a16="http://schemas.microsoft.com/office/drawing/2014/main" id="{0C529C59-1560-9791-C867-D3C39638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Comparisons Involving NULL</a:t>
            </a:r>
            <a:br>
              <a:rPr lang="en-US" altLang="en-US"/>
            </a:br>
            <a:r>
              <a:rPr lang="en-US" altLang="en-US"/>
              <a:t>and Three-Valued Logic (cont’d.)</a:t>
            </a:r>
          </a:p>
        </p:txBody>
      </p:sp>
      <p:pic>
        <p:nvPicPr>
          <p:cNvPr id="14339" name="Picture 1">
            <a:extLst>
              <a:ext uri="{FF2B5EF4-FFF2-40B4-BE49-F238E27FC236}">
                <a16:creationId xmlns:a16="http://schemas.microsoft.com/office/drawing/2014/main" id="{B6938A64-47CB-267D-84FA-38EBBAB31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4625"/>
            <a:ext cx="7659688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757D86B0-F497-3711-0417-6847AB82A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5">
            <a:extLst>
              <a:ext uri="{FF2B5EF4-FFF2-40B4-BE49-F238E27FC236}">
                <a16:creationId xmlns:a16="http://schemas.microsoft.com/office/drawing/2014/main" id="{B71C25AA-4E39-7DC7-A03D-74D02161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Comparisons Involving NULL</a:t>
            </a:r>
            <a:br>
              <a:rPr lang="en-US" altLang="en-US"/>
            </a:br>
            <a:r>
              <a:rPr lang="en-US" altLang="en-US"/>
              <a:t>and Three-Valued Logic (cont’d.)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0855F718-3265-CD6D-27C1-B9B89494E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SQL allows queries that check whether an attribute value is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US" altLang="en-US"/>
              <a:t>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IS NOT NULL</a:t>
            </a:r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2CA10BC5-A895-E348-CBFB-179E8991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1400"/>
            <a:ext cx="72532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Slide Number Placeholder 3">
            <a:extLst>
              <a:ext uri="{FF2B5EF4-FFF2-40B4-BE49-F238E27FC236}">
                <a16:creationId xmlns:a16="http://schemas.microsoft.com/office/drawing/2014/main" id="{93CF08BE-4F5C-5F8E-E9C2-559263557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7- 7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EFD39D2-5F54-79C5-8EA0-3C5F967D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Queries, Tuples,</a:t>
            </a:r>
            <a:br>
              <a:rPr lang="en-US" altLang="en-US"/>
            </a:br>
            <a:r>
              <a:rPr lang="en-US" altLang="en-US"/>
              <a:t>and Set/Multiset Comparisons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6F5CACAA-09E0-18C5-9066-80DB10678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1200"/>
            <a:ext cx="8839199" cy="4191000"/>
          </a:xfrm>
        </p:spPr>
        <p:txBody>
          <a:bodyPr/>
          <a:lstStyle/>
          <a:p>
            <a:r>
              <a:rPr lang="en-US" altLang="en-US" b="1" dirty="0"/>
              <a:t>Nested queries</a:t>
            </a:r>
          </a:p>
          <a:p>
            <a:pPr lvl="1"/>
            <a:r>
              <a:rPr lang="en-US" altLang="en-US" dirty="0"/>
              <a:t>Complete select-from-where blocks within WHERE clause of another query</a:t>
            </a:r>
          </a:p>
          <a:p>
            <a:pPr lvl="1"/>
            <a:r>
              <a:rPr lang="en-US" altLang="en-US" b="1" dirty="0"/>
              <a:t>Outer query and nested subqueries</a:t>
            </a:r>
          </a:p>
          <a:p>
            <a:r>
              <a:rPr lang="en-US" altLang="en-US" dirty="0"/>
              <a:t>Comparison operator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 lvl="1"/>
            <a:r>
              <a:rPr lang="en-US" altLang="en-US" dirty="0"/>
              <a:t>Compares value </a:t>
            </a:r>
            <a:r>
              <a:rPr lang="en-US" altLang="en-US" i="1" dirty="0"/>
              <a:t>v</a:t>
            </a:r>
            <a:r>
              <a:rPr lang="en-US" altLang="en-US" dirty="0"/>
              <a:t> with a set (or multiset) of values </a:t>
            </a:r>
            <a:r>
              <a:rPr lang="en-US" altLang="en-US" i="1" dirty="0"/>
              <a:t>V </a:t>
            </a:r>
          </a:p>
          <a:p>
            <a:pPr lvl="1"/>
            <a:r>
              <a:rPr lang="en-US" altLang="en-US" dirty="0"/>
              <a:t>Evaluates to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/>
              <a:t> if </a:t>
            </a:r>
            <a:r>
              <a:rPr lang="en-US" altLang="en-US" i="1" dirty="0"/>
              <a:t>v</a:t>
            </a:r>
            <a:r>
              <a:rPr lang="en-US" altLang="en-US" dirty="0"/>
              <a:t> is one of the elements in </a:t>
            </a:r>
            <a:r>
              <a:rPr lang="en-US" altLang="en-US" i="1" dirty="0"/>
              <a:t>V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DC7B4457-1B10-D23E-0909-BBBF9C48D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32658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4">
            <a:extLst>
              <a:ext uri="{FF2B5EF4-FFF2-40B4-BE49-F238E27FC236}">
                <a16:creationId xmlns:a16="http://schemas.microsoft.com/office/drawing/2014/main" id="{63D070AC-72BE-7AE9-D0B8-B8783ABB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Queries (cont’d.)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5374AE3B-E819-1B9D-7201-B8077D849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74" y="3144033"/>
            <a:ext cx="7289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05408970-AF22-53C8-A50C-5FE924FC1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7- 9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90448-14D3-2943-25D6-161B26B0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828" y="1515545"/>
            <a:ext cx="4179372" cy="23822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6">
            <a:extLst>
              <a:ext uri="{FF2B5EF4-FFF2-40B4-BE49-F238E27FC236}">
                <a16:creationId xmlns:a16="http://schemas.microsoft.com/office/drawing/2014/main" id="{EC5471BF-56C4-9257-7E48-3BE73339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Queries (cont’d.)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705A8B1-D621-6500-8D93-C8EDA5BBD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 tuples of values in comparisons </a:t>
            </a:r>
          </a:p>
          <a:p>
            <a:pPr lvl="1"/>
            <a:r>
              <a:rPr lang="en-US" altLang="en-US"/>
              <a:t>Place them within parentheses</a:t>
            </a:r>
          </a:p>
        </p:txBody>
      </p:sp>
      <p:pic>
        <p:nvPicPr>
          <p:cNvPr id="19460" name="Picture 3">
            <a:extLst>
              <a:ext uri="{FF2B5EF4-FFF2-40B4-BE49-F238E27FC236}">
                <a16:creationId xmlns:a16="http://schemas.microsoft.com/office/drawing/2014/main" id="{523CA7E2-B0AF-66EF-BA07-F5FC2C8B9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2373"/>
            <a:ext cx="65627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8AE99811-5C81-A119-87AB-6FFF906D7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7- 10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1A1E0-0408-C221-062B-C059DFE97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2652357"/>
            <a:ext cx="3681432" cy="276107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744A84BA-24E1-25E8-50BA-1F402BEFF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300538"/>
          </a:xfrm>
        </p:spPr>
        <p:txBody>
          <a:bodyPr/>
          <a:lstStyle/>
          <a:p>
            <a:r>
              <a:rPr lang="en-US" altLang="en-US"/>
              <a:t>Use other comparison operators to compare a single value </a:t>
            </a:r>
            <a:r>
              <a:rPr lang="en-US" altLang="en-US" i="1"/>
              <a:t>v</a:t>
            </a:r>
            <a:r>
              <a:rPr lang="en-US" altLang="en-US"/>
              <a:t> 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= ANY </a:t>
            </a:r>
            <a:r>
              <a:rPr lang="en-US" altLang="en-US"/>
              <a:t>(or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= SOME</a:t>
            </a:r>
            <a:r>
              <a:rPr lang="en-US" altLang="en-US"/>
              <a:t>) operator </a:t>
            </a:r>
          </a:p>
          <a:p>
            <a:pPr lvl="2"/>
            <a:r>
              <a:rPr lang="en-US" altLang="en-US"/>
              <a:t>Returns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US" altLang="en-US"/>
              <a:t>if the value </a:t>
            </a:r>
            <a:r>
              <a:rPr lang="en-US" altLang="en-US" i="1"/>
              <a:t>v</a:t>
            </a:r>
            <a:r>
              <a:rPr lang="en-US" altLang="en-US"/>
              <a:t> is equal to some value in the set </a:t>
            </a:r>
            <a:r>
              <a:rPr lang="en-US" altLang="en-US" i="1"/>
              <a:t>V</a:t>
            </a:r>
            <a:r>
              <a:rPr lang="en-US" altLang="en-US"/>
              <a:t> and is hence equivalent to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 lvl="1"/>
            <a:r>
              <a:rPr lang="en-US" altLang="en-US"/>
              <a:t>Other operators that can be combined with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en-US" altLang="en-US"/>
              <a:t> (or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SOME</a:t>
            </a:r>
            <a:r>
              <a:rPr lang="en-US" altLang="en-US"/>
              <a:t>):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en-US">
                <a:cs typeface="Courier New" panose="02070309020205020404" pitchFamily="49" charset="0"/>
              </a:rPr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altLang="en-US"/>
              <a:t>,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ALL: </a:t>
            </a:r>
            <a:r>
              <a:rPr lang="en-US" altLang="en-US">
                <a:cs typeface="Courier New" panose="02070309020205020404" pitchFamily="49" charset="0"/>
              </a:rPr>
              <a:t>value must exceed all values from nested query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C237480F-D56F-0B60-B166-9786FC903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176838"/>
            <a:ext cx="50942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itle 6">
            <a:extLst>
              <a:ext uri="{FF2B5EF4-FFF2-40B4-BE49-F238E27FC236}">
                <a16:creationId xmlns:a16="http://schemas.microsoft.com/office/drawing/2014/main" id="{5F30EE1E-7215-3EFD-189C-BD4A4C78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Queries (cont’d.)</a:t>
            </a:r>
          </a:p>
        </p:txBody>
      </p:sp>
      <p:sp>
        <p:nvSpPr>
          <p:cNvPr id="20485" name="Slide Number Placeholder 3">
            <a:extLst>
              <a:ext uri="{FF2B5EF4-FFF2-40B4-BE49-F238E27FC236}">
                <a16:creationId xmlns:a16="http://schemas.microsoft.com/office/drawing/2014/main" id="{3391D139-D586-E137-6614-B71FB8BCB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5">
            <a:extLst>
              <a:ext uri="{FF2B5EF4-FFF2-40B4-BE49-F238E27FC236}">
                <a16:creationId xmlns:a16="http://schemas.microsoft.com/office/drawing/2014/main" id="{6E62918B-C0F7-9CD8-544D-F8F2BDDB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Queries (cont’d.)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3B071432-2940-8D0E-B759-E07339BC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Avoid potential errors and ambiguities</a:t>
            </a:r>
          </a:p>
          <a:p>
            <a:pPr lvl="1"/>
            <a:r>
              <a:rPr lang="en-US" altLang="en-US"/>
              <a:t>Create tuple variables (aliases) for all tables referenced in SQL query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5F146907-03C7-4081-A566-4DE0DA9C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72723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Slide Number Placeholder 3">
            <a:extLst>
              <a:ext uri="{FF2B5EF4-FFF2-40B4-BE49-F238E27FC236}">
                <a16:creationId xmlns:a16="http://schemas.microsoft.com/office/drawing/2014/main" id="{686358F9-F67C-251E-609B-342931827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02EDE5CF-77E1-48CA-A66A-8665726AAA0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0A10-F7D1-84E0-9C3A-8E330CCA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Row subquery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CB7AE-3AF2-5295-6731-652F486E4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/>
              <a:t>28</a:t>
            </a:fld>
            <a:endParaRPr lang="en-CA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05717-B639-1694-1182-40448027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74" y="2592387"/>
            <a:ext cx="7997251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5209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EE8C00-E328-D8CA-FDC5-62D43474A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2684072"/>
            <a:ext cx="8294687" cy="240425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CB7AE-3AF2-5295-6731-652F486E4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29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60A10-F7D1-84E0-9C3A-8E330CCA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Multiple Row subquery </a:t>
            </a:r>
          </a:p>
        </p:txBody>
      </p:sp>
    </p:spTree>
    <p:extLst>
      <p:ext uri="{BB962C8B-B14F-4D97-AF65-F5344CB8AC3E}">
        <p14:creationId xmlns:p14="http://schemas.microsoft.com/office/powerpoint/2010/main" val="221193716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CB7AE-3AF2-5295-6731-652F486E4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30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60A10-F7D1-84E0-9C3A-8E330CCA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wrap="square" anchor="b">
            <a:normAutofit/>
          </a:bodyPr>
          <a:lstStyle/>
          <a:p>
            <a:r>
              <a:rPr lang="en-US" dirty="0" err="1"/>
              <a:t>InLine</a:t>
            </a:r>
            <a:r>
              <a:rPr lang="en-US" dirty="0"/>
              <a:t> View (FROM)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A0F22-B645-E54E-5B0E-667ABEFE3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200"/>
            <a:ext cx="868412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655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CB7AE-3AF2-5295-6731-652F486E4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31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60A10-F7D1-84E0-9C3A-8E330CCA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Scalar subquery (SELECT)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F6B72-DBD5-C455-663B-23DADB11C8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691"/>
          <a:stretch/>
        </p:blipFill>
        <p:spPr>
          <a:xfrm>
            <a:off x="0" y="1600200"/>
            <a:ext cx="4191000" cy="251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11E093-6F6D-C2E6-6B27-6A61CD23F495}"/>
              </a:ext>
            </a:extLst>
          </p:cNvPr>
          <p:cNvSpPr txBox="1"/>
          <p:nvPr/>
        </p:nvSpPr>
        <p:spPr>
          <a:xfrm>
            <a:off x="4121487" y="2111276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(</a:t>
            </a:r>
          </a:p>
          <a:p>
            <a:r>
              <a:rPr lang="en-US" dirty="0"/>
              <a:t>    SELECT MAX(salary)</a:t>
            </a:r>
          </a:p>
          <a:p>
            <a:r>
              <a:rPr lang="en-US" dirty="0"/>
              <a:t>    FROM employee e</a:t>
            </a:r>
          </a:p>
          <a:p>
            <a:r>
              <a:rPr lang="en-US" dirty="0"/>
              <a:t>    WHERE </a:t>
            </a:r>
            <a:r>
              <a:rPr lang="en-US" dirty="0" err="1"/>
              <a:t>e.dno</a:t>
            </a:r>
            <a:r>
              <a:rPr lang="en-US" dirty="0"/>
              <a:t> = </a:t>
            </a:r>
            <a:r>
              <a:rPr lang="en-US" dirty="0" err="1"/>
              <a:t>d.dnumber</a:t>
            </a:r>
            <a:endParaRPr lang="en-US" dirty="0"/>
          </a:p>
          <a:p>
            <a:r>
              <a:rPr lang="en-US" dirty="0"/>
              <a:t>)</a:t>
            </a:r>
          </a:p>
          <a:p>
            <a:r>
              <a:rPr lang="en-US" dirty="0"/>
              <a:t>FROM department d;</a:t>
            </a:r>
          </a:p>
        </p:txBody>
      </p:sp>
    </p:spTree>
    <p:extLst>
      <p:ext uri="{BB962C8B-B14F-4D97-AF65-F5344CB8AC3E}">
        <p14:creationId xmlns:p14="http://schemas.microsoft.com/office/powerpoint/2010/main" val="251250560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BC90F91-39AB-6CC0-E3B1-A88F51E05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90"/>
          <a:stretch/>
        </p:blipFill>
        <p:spPr>
          <a:xfrm>
            <a:off x="239713" y="2514600"/>
            <a:ext cx="8294687" cy="3487591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CB7AE-3AF2-5295-6731-652F486E4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32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60A10-F7D1-84E0-9C3A-8E330CCA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WITH (Common Table Expression)</a:t>
            </a:r>
          </a:p>
        </p:txBody>
      </p:sp>
    </p:spTree>
    <p:extLst>
      <p:ext uri="{BB962C8B-B14F-4D97-AF65-F5344CB8AC3E}">
        <p14:creationId xmlns:p14="http://schemas.microsoft.com/office/powerpoint/2010/main" val="147816753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266E6F1-F339-086B-939C-ECA69AE7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Correlated Nested Queries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35B8C65-CE30-141C-1A65-8DE4B6C2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dirty="0"/>
              <a:t>Queries that are nested using the = or IN comparison operator </a:t>
            </a:r>
            <a:r>
              <a:rPr lang="en-US" altLang="en-US" dirty="0"/>
              <a:t>can be collapsed into one single block: E.g., Q16 can be written as: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sz="1800" b="1" dirty="0">
                <a:solidFill>
                  <a:srgbClr val="800000"/>
                </a:solidFill>
              </a:rPr>
              <a:t>Q16A:</a:t>
            </a:r>
            <a:r>
              <a:rPr lang="en-US" sz="1800" dirty="0">
                <a:solidFill>
                  <a:srgbClr val="800000"/>
                </a:solidFill>
              </a:rPr>
              <a:t>	</a:t>
            </a:r>
            <a:r>
              <a:rPr lang="en-US" sz="1800" b="1" dirty="0">
                <a:solidFill>
                  <a:srgbClr val="800000"/>
                </a:solidFill>
              </a:rPr>
              <a:t>SELECT</a:t>
            </a:r>
            <a:r>
              <a:rPr lang="en-US" sz="1800" dirty="0">
                <a:solidFill>
                  <a:srgbClr val="800000"/>
                </a:solidFill>
              </a:rPr>
              <a:t>		</a:t>
            </a:r>
            <a:r>
              <a:rPr lang="en-US" sz="1800" dirty="0" err="1">
                <a:solidFill>
                  <a:srgbClr val="800000"/>
                </a:solidFill>
              </a:rPr>
              <a:t>E.Fname</a:t>
            </a:r>
            <a:r>
              <a:rPr lang="en-US" sz="1800" dirty="0">
                <a:solidFill>
                  <a:srgbClr val="800000"/>
                </a:solidFill>
              </a:rPr>
              <a:t>, </a:t>
            </a:r>
            <a:r>
              <a:rPr lang="en-US" sz="1800" dirty="0" err="1">
                <a:solidFill>
                  <a:srgbClr val="800000"/>
                </a:solidFill>
              </a:rPr>
              <a:t>E.Lname</a:t>
            </a:r>
            <a:endParaRPr lang="en-US" sz="1800" dirty="0">
              <a:solidFill>
                <a:srgbClr val="8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800000"/>
                </a:solidFill>
              </a:rPr>
              <a:t>		</a:t>
            </a:r>
            <a:r>
              <a:rPr lang="en-US" sz="1800" b="1" dirty="0">
                <a:solidFill>
                  <a:srgbClr val="800000"/>
                </a:solidFill>
              </a:rPr>
              <a:t>FROM</a:t>
            </a:r>
            <a:r>
              <a:rPr lang="en-US" sz="1800" dirty="0">
                <a:solidFill>
                  <a:srgbClr val="800000"/>
                </a:solidFill>
              </a:rPr>
              <a:t>		EMPLOYEE </a:t>
            </a:r>
            <a:r>
              <a:rPr lang="en-US" sz="1800" b="1" dirty="0">
                <a:solidFill>
                  <a:srgbClr val="800000"/>
                </a:solidFill>
              </a:rPr>
              <a:t>AS</a:t>
            </a:r>
            <a:r>
              <a:rPr lang="en-US" sz="1800" dirty="0">
                <a:solidFill>
                  <a:srgbClr val="800000"/>
                </a:solidFill>
              </a:rPr>
              <a:t> E, DEPENDENT </a:t>
            </a:r>
            <a:r>
              <a:rPr lang="en-US" sz="1800" b="1" dirty="0">
                <a:solidFill>
                  <a:srgbClr val="800000"/>
                </a:solidFill>
              </a:rPr>
              <a:t>AS</a:t>
            </a:r>
            <a:r>
              <a:rPr lang="en-US" sz="1800" dirty="0">
                <a:solidFill>
                  <a:srgbClr val="800000"/>
                </a:solidFill>
              </a:rPr>
              <a:t> D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800000"/>
                </a:solidFill>
              </a:rPr>
              <a:t>		</a:t>
            </a:r>
            <a:r>
              <a:rPr lang="en-US" sz="1800" b="1" dirty="0">
                <a:solidFill>
                  <a:srgbClr val="800000"/>
                </a:solidFill>
              </a:rPr>
              <a:t>WHERE</a:t>
            </a:r>
            <a:r>
              <a:rPr lang="en-US" sz="1800" dirty="0">
                <a:solidFill>
                  <a:srgbClr val="800000"/>
                </a:solidFill>
              </a:rPr>
              <a:t>		</a:t>
            </a:r>
            <a:r>
              <a:rPr lang="en-US" sz="1800" dirty="0" err="1">
                <a:solidFill>
                  <a:srgbClr val="800000"/>
                </a:solidFill>
              </a:rPr>
              <a:t>E.Ssn</a:t>
            </a:r>
            <a:r>
              <a:rPr lang="en-US" sz="1800" dirty="0">
                <a:solidFill>
                  <a:srgbClr val="800000"/>
                </a:solidFill>
              </a:rPr>
              <a:t>=</a:t>
            </a:r>
            <a:r>
              <a:rPr lang="en-US" sz="1800" dirty="0" err="1">
                <a:solidFill>
                  <a:srgbClr val="800000"/>
                </a:solidFill>
              </a:rPr>
              <a:t>D.Essn</a:t>
            </a:r>
            <a:r>
              <a:rPr lang="en-US" sz="1800" dirty="0">
                <a:solidFill>
                  <a:srgbClr val="800000"/>
                </a:solidFill>
              </a:rPr>
              <a:t> </a:t>
            </a:r>
            <a:r>
              <a:rPr lang="en-US" sz="1800" b="1" dirty="0">
                <a:solidFill>
                  <a:srgbClr val="800000"/>
                </a:solidFill>
              </a:rPr>
              <a:t>AND</a:t>
            </a:r>
            <a:r>
              <a:rPr lang="en-US" sz="1800" dirty="0">
                <a:solidFill>
                  <a:srgbClr val="800000"/>
                </a:solidFill>
              </a:rPr>
              <a:t> </a:t>
            </a:r>
            <a:r>
              <a:rPr lang="en-US" sz="1800" dirty="0" err="1">
                <a:solidFill>
                  <a:srgbClr val="800000"/>
                </a:solidFill>
              </a:rPr>
              <a:t>E.Sex</a:t>
            </a:r>
            <a:r>
              <a:rPr lang="en-US" sz="1800" dirty="0">
                <a:solidFill>
                  <a:srgbClr val="800000"/>
                </a:solidFill>
              </a:rPr>
              <a:t>=</a:t>
            </a:r>
            <a:r>
              <a:rPr lang="en-US" sz="1800" dirty="0" err="1">
                <a:solidFill>
                  <a:srgbClr val="800000"/>
                </a:solidFill>
              </a:rPr>
              <a:t>D.Sex</a:t>
            </a:r>
            <a:endParaRPr lang="en-US" sz="1800" dirty="0">
              <a:solidFill>
                <a:srgbClr val="8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800000"/>
                </a:solidFill>
              </a:rPr>
              <a:t>						</a:t>
            </a:r>
            <a:r>
              <a:rPr lang="en-US" sz="1800" b="1" dirty="0">
                <a:solidFill>
                  <a:srgbClr val="800000"/>
                </a:solidFill>
              </a:rPr>
              <a:t>	AND</a:t>
            </a:r>
            <a:r>
              <a:rPr lang="en-US" sz="1800" dirty="0">
                <a:solidFill>
                  <a:srgbClr val="800000"/>
                </a:solidFill>
              </a:rPr>
              <a:t> 					</a:t>
            </a:r>
            <a:r>
              <a:rPr lang="en-US" sz="1800" dirty="0" err="1">
                <a:solidFill>
                  <a:srgbClr val="800000"/>
                </a:solidFill>
              </a:rPr>
              <a:t>E.Fname</a:t>
            </a:r>
            <a:r>
              <a:rPr lang="en-US" sz="1800" dirty="0">
                <a:solidFill>
                  <a:srgbClr val="800000"/>
                </a:solidFill>
              </a:rPr>
              <a:t>=</a:t>
            </a:r>
            <a:r>
              <a:rPr lang="en-US" sz="1800" dirty="0" err="1">
                <a:solidFill>
                  <a:srgbClr val="800000"/>
                </a:solidFill>
              </a:rPr>
              <a:t>D.Dependent_name</a:t>
            </a:r>
            <a:r>
              <a:rPr lang="en-US" sz="1800" dirty="0">
                <a:solidFill>
                  <a:srgbClr val="800000"/>
                </a:solidFill>
              </a:rPr>
              <a:t>;</a:t>
            </a:r>
          </a:p>
          <a:p>
            <a:pPr>
              <a:defRPr/>
            </a:pPr>
            <a:r>
              <a:rPr lang="en-US" altLang="en-US" b="1" dirty="0"/>
              <a:t>Correlated</a:t>
            </a:r>
            <a:r>
              <a:rPr lang="en-US" altLang="en-US" dirty="0"/>
              <a:t> nested query </a:t>
            </a:r>
          </a:p>
          <a:p>
            <a:pPr lvl="1">
              <a:defRPr/>
            </a:pPr>
            <a:r>
              <a:rPr lang="en-US" altLang="en-US" dirty="0"/>
              <a:t>Evaluated once for each tuple in the outer query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b="1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956D8694-1F41-8130-7287-1439C9540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6662BC0-058F-106F-78B1-DC35940C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EXISTS and UNIQUE Functions in SQL for correlating queries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3D43C48-7993-B8CE-A155-4B3CFBAA6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altLang="en-US"/>
              <a:t> function </a:t>
            </a:r>
          </a:p>
          <a:p>
            <a:pPr lvl="1"/>
            <a:r>
              <a:rPr lang="en-US" altLang="en-US"/>
              <a:t>Check whether the result of a correlated nested query is empty or not. They are Boolean functions that return a TRUE or FALSE result.</a:t>
            </a:r>
          </a:p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altLang="en-US"/>
              <a:t>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NOT EXISTS </a:t>
            </a:r>
          </a:p>
          <a:p>
            <a:pPr lvl="1"/>
            <a:r>
              <a:rPr lang="en-US" altLang="en-US"/>
              <a:t>Typically used in conjunction with a correlated nested query</a:t>
            </a:r>
          </a:p>
          <a:p>
            <a:r>
              <a:rPr lang="en-US" altLang="en-US"/>
              <a:t>SQL function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UNIQUE(Q)</a:t>
            </a:r>
          </a:p>
          <a:p>
            <a:pPr lvl="1"/>
            <a:r>
              <a:rPr lang="en-US" altLang="en-US"/>
              <a:t>Returns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/>
              <a:t> if there are no duplicate tuples in the result of query Q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683ED1A4-EBE3-5089-B817-4C325EEC6A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33E446F-B7D1-7E4D-8B69-92D795AD9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EXISTS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9D4E8506-EF74-450C-D092-EC90BF6F0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228013" cy="45243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737016AB-F8B5-1B22-4DA4-EDB77362D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28800"/>
            <a:ext cx="7467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Q7: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SELECT Fname, Lname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WHERE </a:t>
            </a: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EXISTS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(SELECT *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FROM DEPENDENT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WHERE Ssn= Essn)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  AND </a:t>
            </a: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EXISTS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(SELECT   *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 FROM Department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 WHERE Ssn= Mgr_Ssn)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4581" name="Slide Number Placeholder 3">
            <a:extLst>
              <a:ext uri="{FF2B5EF4-FFF2-40B4-BE49-F238E27FC236}">
                <a16:creationId xmlns:a16="http://schemas.microsoft.com/office/drawing/2014/main" id="{839B152D-85BA-D542-CB2F-D1FAB1990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37627B0A-5998-93FE-C9C2-DF42D0B6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NOT EXISTS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737525A2-4B7D-4D6C-C25D-864664610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To achieve the “for all” (universal quantifier- see Ch.8) effect, we use double negation this way in SQL: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Query: List first and last name of employees who work on </a:t>
            </a:r>
            <a:r>
              <a:rPr lang="en-US" altLang="en-US" sz="2400" u="sng"/>
              <a:t>ALL projects controlled by Dno=5.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25604" name="TextBox 3">
            <a:extLst>
              <a:ext uri="{FF2B5EF4-FFF2-40B4-BE49-F238E27FC236}">
                <a16:creationId xmlns:a16="http://schemas.microsoft.com/office/drawing/2014/main" id="{EB2FAB82-349D-5398-F716-90C5E65FC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3309938"/>
            <a:ext cx="69342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SELECT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Fname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Lname</a:t>
            </a: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WHERE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NOT EXISTS 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( (SELECT 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Pnumber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FROM PROJECT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WHERE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Dno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=5)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EXCEPT 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(SELECT  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Pno</a:t>
            </a: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 FROM WORKS_ON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 WHERE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Ssn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=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ESsn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cs typeface="Arial" panose="020B0604020202020204" pitchFamily="34" charset="0"/>
              </a:rPr>
              <a:t>The above is equivalent to double negation: List names of those employees for whom there does NOT exist a project managed by department no. 5 that they do NOT work on.</a:t>
            </a:r>
          </a:p>
        </p:txBody>
      </p:sp>
      <p:sp>
        <p:nvSpPr>
          <p:cNvPr id="25605" name="Slide Number Placeholder 3">
            <a:extLst>
              <a:ext uri="{FF2B5EF4-FFF2-40B4-BE49-F238E27FC236}">
                <a16:creationId xmlns:a16="http://schemas.microsoft.com/office/drawing/2014/main" id="{D82C4C2A-4AEE-B7F7-DF22-DB993076B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AD49569-4A63-6F57-ECBD-99D0F39D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Double Negation to accomplish “for all” in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FC210-7285-0E8A-FB54-B80CDF96B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1600" b="1" dirty="0"/>
              <a:t>Q3B:</a:t>
            </a:r>
            <a:r>
              <a:rPr lang="en-US" sz="1600" dirty="0"/>
              <a:t>	</a:t>
            </a:r>
            <a:r>
              <a:rPr lang="en-US" sz="1600" b="1" dirty="0">
                <a:solidFill>
                  <a:schemeClr val="tx1"/>
                </a:solidFill>
              </a:rPr>
              <a:t>SELECT</a:t>
            </a:r>
            <a:r>
              <a:rPr lang="en-US" sz="1600" dirty="0">
                <a:solidFill>
                  <a:schemeClr val="tx1"/>
                </a:solidFill>
              </a:rPr>
              <a:t>		</a:t>
            </a:r>
            <a:r>
              <a:rPr lang="en-US" sz="1600" dirty="0" err="1">
                <a:solidFill>
                  <a:schemeClr val="tx1"/>
                </a:solidFill>
              </a:rPr>
              <a:t>Lname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Fname</a:t>
            </a:r>
            <a:r>
              <a:rPr lang="en-US" sz="1600" dirty="0">
                <a:solidFill>
                  <a:schemeClr val="tx1"/>
                </a:solidFill>
              </a:rPr>
              <a:t>	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b="1" dirty="0">
                <a:solidFill>
                  <a:schemeClr val="tx1"/>
                </a:solidFill>
              </a:rPr>
              <a:t>FROM</a:t>
            </a:r>
            <a:r>
              <a:rPr lang="en-US" sz="1600" dirty="0">
                <a:solidFill>
                  <a:schemeClr val="tx1"/>
                </a:solidFill>
              </a:rPr>
              <a:t>			EMPLOYEE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b="1" dirty="0">
                <a:solidFill>
                  <a:schemeClr val="tx1"/>
                </a:solidFill>
              </a:rPr>
              <a:t>WHERE</a:t>
            </a: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b="1" dirty="0">
                <a:solidFill>
                  <a:schemeClr val="tx1"/>
                </a:solidFill>
              </a:rPr>
              <a:t>NOT EXISTS</a:t>
            </a:r>
            <a:r>
              <a:rPr lang="en-US" sz="1600" dirty="0">
                <a:solidFill>
                  <a:schemeClr val="tx1"/>
                </a:solidFill>
              </a:rPr>
              <a:t> (	</a:t>
            </a:r>
            <a:r>
              <a:rPr lang="en-US" sz="1600" b="1" dirty="0">
                <a:solidFill>
                  <a:schemeClr val="tx1"/>
                </a:solidFill>
              </a:rPr>
              <a:t>SELECT</a:t>
            </a:r>
            <a:r>
              <a:rPr lang="en-US" sz="1600" dirty="0">
                <a:solidFill>
                  <a:schemeClr val="tx1"/>
                </a:solidFill>
              </a:rPr>
              <a:t>	*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</a:t>
            </a:r>
            <a:r>
              <a:rPr lang="en-US" sz="1600" b="1" dirty="0">
                <a:solidFill>
                  <a:schemeClr val="tx1"/>
                </a:solidFill>
              </a:rPr>
              <a:t>FROM</a:t>
            </a:r>
            <a:r>
              <a:rPr lang="en-US" sz="1600" dirty="0">
                <a:solidFill>
                  <a:schemeClr val="tx1"/>
                </a:solidFill>
              </a:rPr>
              <a:t>	WORKS_ON B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</a:t>
            </a:r>
            <a:r>
              <a:rPr lang="en-US" sz="1600" b="1" dirty="0">
                <a:solidFill>
                  <a:schemeClr val="tx1"/>
                </a:solidFill>
              </a:rPr>
              <a:t>WHERE</a:t>
            </a:r>
            <a:r>
              <a:rPr lang="en-US" sz="1600" dirty="0">
                <a:solidFill>
                  <a:schemeClr val="tx1"/>
                </a:solidFill>
              </a:rPr>
              <a:t>	( </a:t>
            </a:r>
            <a:r>
              <a:rPr lang="en-US" sz="1600" dirty="0" err="1">
                <a:solidFill>
                  <a:schemeClr val="tx1"/>
                </a:solidFill>
              </a:rPr>
              <a:t>B.Pno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IN</a:t>
            </a:r>
            <a:r>
              <a:rPr lang="en-US" sz="1600" dirty="0">
                <a:solidFill>
                  <a:schemeClr val="tx1"/>
                </a:solidFill>
              </a:rPr>
              <a:t>  (</a:t>
            </a:r>
            <a:r>
              <a:rPr lang="en-US" sz="1600" b="1" dirty="0">
                <a:solidFill>
                  <a:schemeClr val="tx1"/>
                </a:solidFill>
              </a:rPr>
              <a:t>  SELECT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Pnumber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		     </a:t>
            </a:r>
            <a:r>
              <a:rPr lang="en-US" sz="1600" b="1" dirty="0">
                <a:solidFill>
                  <a:schemeClr val="tx1"/>
                </a:solidFill>
              </a:rPr>
              <a:t> FROM</a:t>
            </a:r>
            <a:r>
              <a:rPr lang="en-US" sz="1600" dirty="0">
                <a:solidFill>
                  <a:schemeClr val="tx1"/>
                </a:solidFill>
              </a:rPr>
              <a:t> PROJECT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		      </a:t>
            </a:r>
            <a:r>
              <a:rPr lang="en-US" sz="1600" b="1" dirty="0">
                <a:solidFill>
                  <a:schemeClr val="tx1"/>
                </a:solidFill>
              </a:rPr>
              <a:t>WHERE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Dnum</a:t>
            </a:r>
            <a:r>
              <a:rPr lang="en-US" sz="1600" dirty="0">
                <a:solidFill>
                  <a:schemeClr val="tx1"/>
                </a:solidFill>
              </a:rPr>
              <a:t>=5 				 </a:t>
            </a:r>
            <a:r>
              <a:rPr lang="en-US" sz="1600" b="1" dirty="0">
                <a:solidFill>
                  <a:schemeClr val="tx1"/>
                </a:solidFill>
              </a:rPr>
              <a:t>AND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							                                    </a:t>
            </a:r>
            <a:r>
              <a:rPr lang="en-US" sz="1600" b="1" dirty="0">
                <a:solidFill>
                  <a:schemeClr val="tx1"/>
                </a:solidFill>
              </a:rPr>
              <a:t>NOT EXISTS</a:t>
            </a:r>
            <a:r>
              <a:rPr lang="en-US" sz="1600" dirty="0">
                <a:solidFill>
                  <a:schemeClr val="tx1"/>
                </a:solidFill>
              </a:rPr>
              <a:t> (</a:t>
            </a:r>
            <a:r>
              <a:rPr lang="en-US" sz="1600" b="1" dirty="0">
                <a:solidFill>
                  <a:schemeClr val="tx1"/>
                </a:solidFill>
              </a:rPr>
              <a:t>SELECT	</a:t>
            </a:r>
            <a:r>
              <a:rPr lang="en-US" sz="1600" dirty="0">
                <a:solidFill>
                  <a:schemeClr val="tx1"/>
                </a:solidFill>
              </a:rPr>
              <a:t>*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	     </a:t>
            </a:r>
            <a:r>
              <a:rPr lang="en-US" sz="1600" b="1" dirty="0">
                <a:solidFill>
                  <a:schemeClr val="tx1"/>
                </a:solidFill>
              </a:rPr>
              <a:t>FROM</a:t>
            </a:r>
            <a:r>
              <a:rPr lang="en-US" sz="1600" dirty="0">
                <a:solidFill>
                  <a:schemeClr val="tx1"/>
                </a:solidFill>
              </a:rPr>
              <a:t>  WORKS_ON 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	     </a:t>
            </a:r>
            <a:r>
              <a:rPr lang="en-US" sz="1600" b="1" dirty="0">
                <a:solidFill>
                  <a:schemeClr val="tx1"/>
                </a:solidFill>
              </a:rPr>
              <a:t>WHERE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C.Essn</a:t>
            </a:r>
            <a:r>
              <a:rPr lang="en-US" sz="1600" dirty="0">
                <a:solidFill>
                  <a:schemeClr val="tx1"/>
                </a:solidFill>
              </a:rPr>
              <a:t>=</a:t>
            </a:r>
            <a:r>
              <a:rPr lang="en-US" sz="1600" dirty="0" err="1">
                <a:solidFill>
                  <a:schemeClr val="tx1"/>
                </a:solidFill>
              </a:rPr>
              <a:t>Ssn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					     </a:t>
            </a:r>
            <a:r>
              <a:rPr lang="en-US" sz="1600" b="1" dirty="0">
                <a:solidFill>
                  <a:schemeClr val="tx1"/>
                </a:solidFill>
              </a:rPr>
              <a:t>AND</a:t>
            </a: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 err="1">
                <a:solidFill>
                  <a:schemeClr val="tx1"/>
                </a:solidFill>
              </a:rPr>
              <a:t>C.Pno</a:t>
            </a:r>
            <a:r>
              <a:rPr lang="en-US" sz="1600" dirty="0">
                <a:solidFill>
                  <a:schemeClr val="tx1"/>
                </a:solidFill>
              </a:rPr>
              <a:t>=</a:t>
            </a:r>
            <a:r>
              <a:rPr lang="en-US" sz="1600" dirty="0" err="1">
                <a:solidFill>
                  <a:schemeClr val="tx1"/>
                </a:solidFill>
              </a:rPr>
              <a:t>B.Pno</a:t>
            </a:r>
            <a:r>
              <a:rPr lang="en-US" sz="1600" dirty="0">
                <a:solidFill>
                  <a:schemeClr val="tx1"/>
                </a:solidFill>
              </a:rPr>
              <a:t> )));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800000"/>
                </a:solidFill>
              </a:rPr>
              <a:t>The above is a direct rendering of: </a:t>
            </a:r>
            <a:r>
              <a:rPr lang="en-US" altLang="en-US" sz="2000" dirty="0"/>
              <a:t>List names of those employees for whom there does NOT exist a project managed by department no. 5 that they do NOT work on.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768E8235-B12C-93A7-56AB-6F503584D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5F933C63-76A1-43B9-B73D-04DF2A38CCC9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3EB3C868-66C8-0460-F1C3-F2F44879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Explicit Sets and Renaming of Attributes in SQL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FCC5BCE-2765-1243-1C90-3409C9BFE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Can use explicit set of values in WHERE clause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Q17: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	DISTINCT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Essn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WORKS_ON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(1, 2, 3);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defRPr/>
            </a:pPr>
            <a:r>
              <a:rPr lang="en-US" altLang="en-US" dirty="0"/>
              <a:t>Use qualifier AS followed by desired new name</a:t>
            </a:r>
          </a:p>
          <a:p>
            <a:pPr lvl="1">
              <a:defRPr/>
            </a:pPr>
            <a:r>
              <a:rPr lang="en-US" altLang="en-US" dirty="0"/>
              <a:t>Rename any attribute that appears in the result of a query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AF0921B4-B85F-9713-7002-C65FF4F0E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5045075"/>
            <a:ext cx="74310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73EC564D-B1FD-2D5C-38F3-CA7AD392E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39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346" y="304800"/>
            <a:ext cx="8175308" cy="702115"/>
          </a:xfrm>
          <a:prstGeom prst="rect">
            <a:avLst/>
          </a:prstGeom>
        </p:spPr>
        <p:txBody>
          <a:bodyPr vert="horz" wrap="square" lIns="0" tIns="952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4500" dirty="0"/>
              <a:t>Is it 4:15 yet?</a:t>
            </a:r>
            <a:endParaRPr sz="4500" dirty="0"/>
          </a:p>
        </p:txBody>
      </p:sp>
    </p:spTree>
    <p:extLst>
      <p:ext uri="{BB962C8B-B14F-4D97-AF65-F5344CB8AC3E}">
        <p14:creationId xmlns:p14="http://schemas.microsoft.com/office/powerpoint/2010/main" val="276447927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D20AFD-528E-F841-AA8A-CE88ACF0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products table</a:t>
            </a:r>
          </a:p>
          <a:p>
            <a:pPr lvl="1"/>
            <a:r>
              <a:rPr lang="en-US" dirty="0"/>
              <a:t>Write an SQL Query to find the IDs of products that are both recyclable and low fat.</a:t>
            </a:r>
          </a:p>
          <a:p>
            <a:pPr lvl="1"/>
            <a:endParaRPr lang="en-US" dirty="0"/>
          </a:p>
        </p:txBody>
      </p:sp>
      <p:sp>
        <p:nvSpPr>
          <p:cNvPr id="99329" name="Slide Number Placeholder 2">
            <a:extLst>
              <a:ext uri="{FF2B5EF4-FFF2-40B4-BE49-F238E27FC236}">
                <a16:creationId xmlns:a16="http://schemas.microsoft.com/office/drawing/2014/main" id="{3AD13855-D464-45D9-69C6-FC7F5407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41A6754-2471-454E-9C4C-7E2D99C6455A}" type="slidenum">
              <a:rPr lang="en-US" altLang="en-US" sz="1400">
                <a:solidFill>
                  <a:srgbClr val="990033"/>
                </a:solidFill>
              </a:rPr>
              <a:pPr/>
              <a:t>40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9330" name="Rectangle 5">
            <a:extLst>
              <a:ext uri="{FF2B5EF4-FFF2-40B4-BE49-F238E27FC236}">
                <a16:creationId xmlns:a16="http://schemas.microsoft.com/office/drawing/2014/main" id="{50BE97DE-8711-F2B2-7C63-6FA9D766F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Discussion 08 (4:15 – 4:30) </a:t>
            </a:r>
            <a:br>
              <a:rPr lang="en-US" dirty="0"/>
            </a:br>
            <a:r>
              <a:rPr lang="en-US" dirty="0"/>
              <a:t>SQL Queries</a:t>
            </a:r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F4C7E-B430-966A-D369-5FE04487F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200400"/>
            <a:ext cx="4180702" cy="236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3835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A6DD7F-F4A2-3F98-2A46-9C78E2A90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product_id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Products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low_fats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recyclable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4C7E1C-2E42-E03D-E7E3-66100EC86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/>
              <a:t>41</a:t>
            </a:fld>
            <a:endParaRPr lang="en-CA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0DEF29-3E71-E8A8-2B20-ABBCE306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C7336-40C5-9515-6E58-A39EF845D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19395"/>
            <a:ext cx="2844799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7F99F7-CBFF-5173-0C38-E9E6DD615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498" y="2523928"/>
            <a:ext cx="4180702" cy="236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3019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D20AFD-528E-F841-AA8A-CE88ACF0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customer table</a:t>
            </a:r>
          </a:p>
          <a:p>
            <a:pPr lvl="1"/>
            <a:r>
              <a:rPr lang="en-US" dirty="0"/>
              <a:t>Write an SQL Query to report the names of the customers that were not referred by customer with id=2.</a:t>
            </a:r>
          </a:p>
          <a:p>
            <a:pPr lvl="1"/>
            <a:endParaRPr lang="en-US" dirty="0"/>
          </a:p>
        </p:txBody>
      </p:sp>
      <p:sp>
        <p:nvSpPr>
          <p:cNvPr id="99329" name="Slide Number Placeholder 2">
            <a:extLst>
              <a:ext uri="{FF2B5EF4-FFF2-40B4-BE49-F238E27FC236}">
                <a16:creationId xmlns:a16="http://schemas.microsoft.com/office/drawing/2014/main" id="{3AD13855-D464-45D9-69C6-FC7F5407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41A6754-2471-454E-9C4C-7E2D99C6455A}" type="slidenum">
              <a:rPr lang="en-US" altLang="en-US" sz="1400">
                <a:solidFill>
                  <a:srgbClr val="990033"/>
                </a:solidFill>
              </a:rPr>
              <a:pPr/>
              <a:t>42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9330" name="Rectangle 5">
            <a:extLst>
              <a:ext uri="{FF2B5EF4-FFF2-40B4-BE49-F238E27FC236}">
                <a16:creationId xmlns:a16="http://schemas.microsoft.com/office/drawing/2014/main" id="{50BE97DE-8711-F2B2-7C63-6FA9D766F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Discussion 08 (4:15 – 4:30) </a:t>
            </a:r>
            <a:br>
              <a:rPr lang="en-US" dirty="0"/>
            </a:br>
            <a:r>
              <a:rPr lang="en-US" dirty="0"/>
              <a:t>SQL Queries</a:t>
            </a: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7B6FE-B662-4E51-3B16-27CE67BCB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505200"/>
            <a:ext cx="3581400" cy="290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6811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A6DD7F-F4A2-3F98-2A46-9C78E2A90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customer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referee_id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referee_id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 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4C7E1C-2E42-E03D-E7E3-66100EC86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/>
              <a:t>43</a:t>
            </a:fld>
            <a:endParaRPr lang="en-CA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0DEF29-3E71-E8A8-2B20-ABBCE306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3E848-5893-E54D-7789-E4A053EAB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82" y="1752600"/>
            <a:ext cx="3646118" cy="2962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BCFBE2-CC0C-5A80-835C-5A774F5DC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75" y="3962400"/>
            <a:ext cx="1482125" cy="226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2048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D20AFD-528E-F841-AA8A-CE88ACF0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Students table</a:t>
            </a:r>
          </a:p>
          <a:p>
            <a:pPr lvl="1"/>
            <a:r>
              <a:rPr lang="en-US" dirty="0"/>
              <a:t>Write an SQL Query to report the 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student_name</a:t>
            </a:r>
            <a:r>
              <a:rPr lang="en-US" dirty="0"/>
              <a:t> of students whose degree is masters.</a:t>
            </a:r>
          </a:p>
          <a:p>
            <a:pPr lvl="1"/>
            <a:endParaRPr lang="en-US" dirty="0"/>
          </a:p>
        </p:txBody>
      </p:sp>
      <p:sp>
        <p:nvSpPr>
          <p:cNvPr id="99329" name="Slide Number Placeholder 2">
            <a:extLst>
              <a:ext uri="{FF2B5EF4-FFF2-40B4-BE49-F238E27FC236}">
                <a16:creationId xmlns:a16="http://schemas.microsoft.com/office/drawing/2014/main" id="{3AD13855-D464-45D9-69C6-FC7F5407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41A6754-2471-454E-9C4C-7E2D99C6455A}" type="slidenum">
              <a:rPr lang="en-US" altLang="en-US" sz="1400">
                <a:solidFill>
                  <a:srgbClr val="990033"/>
                </a:solidFill>
              </a:rPr>
              <a:pPr/>
              <a:t>44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9330" name="Rectangle 5">
            <a:extLst>
              <a:ext uri="{FF2B5EF4-FFF2-40B4-BE49-F238E27FC236}">
                <a16:creationId xmlns:a16="http://schemas.microsoft.com/office/drawing/2014/main" id="{50BE97DE-8711-F2B2-7C63-6FA9D766F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Discussion 08 (4:15 – 4:30) </a:t>
            </a:r>
            <a:br>
              <a:rPr lang="en-US" dirty="0"/>
            </a:br>
            <a:r>
              <a:rPr lang="en-US" dirty="0"/>
              <a:t>SQL Queries</a:t>
            </a:r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BD05F-BE7E-8A12-CA6F-7D3484BA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529226"/>
            <a:ext cx="3810000" cy="284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81430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A6DD7F-F4A2-3F98-2A46-9C78E2A90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???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???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???;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4C7E1C-2E42-E03D-E7E3-66100EC86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/>
              <a:t>45</a:t>
            </a:fld>
            <a:endParaRPr lang="en-CA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0DEF29-3E71-E8A8-2B20-ABBCE306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23E29-8410-DA43-B784-6917A4D6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968" y="1600199"/>
            <a:ext cx="3977640" cy="2971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65B4CE-878B-9204-4813-85F846B9D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05147"/>
            <a:ext cx="3938790" cy="177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7094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46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749897"/>
            <a:ext cx="8175308" cy="2779607"/>
          </a:xfrm>
          <a:prstGeom prst="rect">
            <a:avLst/>
          </a:prstGeom>
        </p:spPr>
        <p:txBody>
          <a:bodyPr vert="horz" wrap="square" lIns="0" tIns="952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4500" spc="83" dirty="0"/>
              <a:t>Break (4:30 PM – 4:50 PM)</a:t>
            </a:r>
            <a:br>
              <a:rPr lang="en-US" sz="4500" spc="83" dirty="0"/>
            </a:br>
            <a:br>
              <a:rPr lang="en-US" sz="4500" spc="83" dirty="0"/>
            </a:br>
            <a:r>
              <a:rPr lang="en-US" sz="4500" spc="83" dirty="0"/>
              <a:t>Please be punctual so that </a:t>
            </a:r>
            <a:br>
              <a:rPr lang="en-US" sz="4500" spc="83" dirty="0"/>
            </a:br>
            <a:r>
              <a:rPr lang="en-US" sz="4500" spc="83" dirty="0"/>
              <a:t>we restart on time</a:t>
            </a:r>
            <a:endParaRPr sz="4500" dirty="0"/>
          </a:p>
        </p:txBody>
      </p:sp>
    </p:spTree>
    <p:extLst>
      <p:ext uri="{BB962C8B-B14F-4D97-AF65-F5344CB8AC3E}">
        <p14:creationId xmlns:p14="http://schemas.microsoft.com/office/powerpoint/2010/main" val="2253616397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ECC1963-0788-8744-22F6-2FD29340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Joined Tables in the FROM Clause of SQL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E32A334D-29EB-6BA4-309C-AB441C5FE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Joined table</a:t>
            </a:r>
          </a:p>
          <a:p>
            <a:pPr lvl="1"/>
            <a:r>
              <a:rPr lang="en-US" altLang="en-US"/>
              <a:t>Permits users to specify a table resulting from a join operation in the FROM clause of a query</a:t>
            </a:r>
          </a:p>
          <a:p>
            <a:r>
              <a:rPr lang="en-US" altLang="en-US"/>
              <a:t>The FROM clause in Q1A </a:t>
            </a:r>
          </a:p>
          <a:p>
            <a:pPr lvl="1"/>
            <a:r>
              <a:rPr lang="en-US" altLang="en-US"/>
              <a:t>Contains a single joined table. JOIN may also be called INNER JOIN</a:t>
            </a:r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51F0C760-55C5-26CB-0A75-193EC10A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648200"/>
            <a:ext cx="80819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Slide Number Placeholder 3">
            <a:extLst>
              <a:ext uri="{FF2B5EF4-FFF2-40B4-BE49-F238E27FC236}">
                <a16:creationId xmlns:a16="http://schemas.microsoft.com/office/drawing/2014/main" id="{80AE4446-0711-0454-CE34-B8C3018B93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7- 19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4">
            <a:extLst>
              <a:ext uri="{FF2B5EF4-FFF2-40B4-BE49-F238E27FC236}">
                <a16:creationId xmlns:a16="http://schemas.microsoft.com/office/drawing/2014/main" id="{40B6A04E-FB89-FE03-6A91-6513E4860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Different Types of JOINed Tables  in SQL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68362ECF-82B6-9A1E-ADCA-4881945CE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16075"/>
            <a:ext cx="8294687" cy="4572000"/>
          </a:xfrm>
        </p:spPr>
        <p:txBody>
          <a:bodyPr/>
          <a:lstStyle/>
          <a:p>
            <a:r>
              <a:rPr lang="en-US" altLang="en-US"/>
              <a:t>Specify different types of join</a:t>
            </a:r>
          </a:p>
          <a:p>
            <a:pPr lvl="1"/>
            <a:r>
              <a:rPr lang="en-US" altLang="en-US"/>
              <a:t>NATURAL JOIN </a:t>
            </a:r>
          </a:p>
          <a:p>
            <a:pPr lvl="1"/>
            <a:r>
              <a:rPr lang="en-US" altLang="en-US"/>
              <a:t>Various types of OUTER JOIN (LEFT, RIGHT, FULL )</a:t>
            </a:r>
          </a:p>
          <a:p>
            <a:r>
              <a:rPr lang="en-US" altLang="en-US"/>
              <a:t>NATURAL JOIN on two relations R and S</a:t>
            </a:r>
          </a:p>
          <a:p>
            <a:pPr lvl="1"/>
            <a:r>
              <a:rPr lang="en-US" altLang="en-US"/>
              <a:t>No join condition specified</a:t>
            </a:r>
          </a:p>
          <a:p>
            <a:pPr lvl="1"/>
            <a:r>
              <a:rPr lang="en-US" altLang="en-US"/>
              <a:t>Is equivalent to an implicit EQUIJOIN condition for each pair of attributes with same name from R and S</a:t>
            </a: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EC4DB283-98B3-7BD1-FEF8-01E1B235F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7- 20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5A534D1-E29F-D05F-CD11-B6B75970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C324-CF3C-D2A4-C17B-0C81948EB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800000"/>
                </a:solidFill>
              </a:rPr>
              <a:t>Rename attributes of one relation so it can be joined with another using NATURAL JOIN: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/>
              <a:t>Q1B:        SELECT</a:t>
            </a:r>
            <a:r>
              <a:rPr lang="en-US" sz="2000" dirty="0"/>
              <a:t>        </a:t>
            </a:r>
            <a:r>
              <a:rPr lang="en-US" sz="2000" dirty="0" err="1"/>
              <a:t>Fname</a:t>
            </a:r>
            <a:r>
              <a:rPr lang="en-US" sz="2000" dirty="0"/>
              <a:t>, </a:t>
            </a:r>
            <a:r>
              <a:rPr lang="en-US" sz="2000" dirty="0" err="1"/>
              <a:t>Lname</a:t>
            </a:r>
            <a:r>
              <a:rPr lang="en-US" sz="2000" dirty="0"/>
              <a:t>, Address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	    </a:t>
            </a:r>
            <a:r>
              <a:rPr lang="en-US" sz="2000" b="1" dirty="0"/>
              <a:t>FROM</a:t>
            </a:r>
            <a:r>
              <a:rPr lang="en-US" sz="2000" dirty="0"/>
              <a:t>	(EMPLOYEE </a:t>
            </a:r>
            <a:r>
              <a:rPr lang="en-US" sz="2000" b="1" dirty="0"/>
              <a:t>NATURAL JOIN</a:t>
            </a: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			(DEPARTMENT </a:t>
            </a:r>
            <a:r>
              <a:rPr lang="en-US" sz="2000" b="1" dirty="0"/>
              <a:t>AS</a:t>
            </a:r>
            <a:r>
              <a:rPr lang="en-US" sz="2000" dirty="0"/>
              <a:t> DEPT (</a:t>
            </a:r>
            <a:r>
              <a:rPr lang="en-US" sz="2000" dirty="0" err="1"/>
              <a:t>Dname</a:t>
            </a:r>
            <a:r>
              <a:rPr lang="en-US" sz="2000" dirty="0"/>
              <a:t>, </a:t>
            </a:r>
            <a:r>
              <a:rPr lang="en-US" sz="2000" dirty="0" err="1"/>
              <a:t>Dno</a:t>
            </a:r>
            <a:r>
              <a:rPr lang="en-US" sz="2000" dirty="0"/>
              <a:t>, </a:t>
            </a:r>
            <a:r>
              <a:rPr lang="en-US" sz="2000" dirty="0" err="1"/>
              <a:t>Mssn</a:t>
            </a:r>
            <a:r>
              <a:rPr lang="en-US" sz="2000" dirty="0"/>
              <a:t>,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                                        </a:t>
            </a:r>
            <a:r>
              <a:rPr lang="en-US" sz="2000" dirty="0" err="1"/>
              <a:t>Msdate</a:t>
            </a:r>
            <a:r>
              <a:rPr lang="en-US" sz="2000" dirty="0"/>
              <a:t>)))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	    </a:t>
            </a:r>
            <a:r>
              <a:rPr lang="en-US" sz="2000" b="1" dirty="0"/>
              <a:t>WHERE</a:t>
            </a:r>
            <a:r>
              <a:rPr lang="en-US" sz="2000" dirty="0"/>
              <a:t>	 </a:t>
            </a:r>
            <a:r>
              <a:rPr lang="en-US" sz="2000" dirty="0" err="1"/>
              <a:t>Dname</a:t>
            </a:r>
            <a:r>
              <a:rPr lang="en-US" sz="2000" dirty="0"/>
              <a:t>=‘Research’;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rgbClr val="800000"/>
                </a:solidFill>
              </a:rPr>
              <a:t>The above works with </a:t>
            </a:r>
            <a:r>
              <a:rPr lang="en-US" sz="2400" dirty="0" err="1">
                <a:solidFill>
                  <a:srgbClr val="800000"/>
                </a:solidFill>
              </a:rPr>
              <a:t>EMPLOYEE.Dno</a:t>
            </a:r>
            <a:r>
              <a:rPr lang="en-US" sz="2400" dirty="0">
                <a:solidFill>
                  <a:srgbClr val="800000"/>
                </a:solidFill>
              </a:rPr>
              <a:t> = </a:t>
            </a:r>
            <a:r>
              <a:rPr lang="en-US" sz="2400" dirty="0" err="1">
                <a:solidFill>
                  <a:srgbClr val="800000"/>
                </a:solidFill>
              </a:rPr>
              <a:t>DEPT.Dno</a:t>
            </a:r>
            <a:r>
              <a:rPr lang="en-US" sz="2400" dirty="0">
                <a:solidFill>
                  <a:srgbClr val="800000"/>
                </a:solidFill>
              </a:rPr>
              <a:t> as an implicit join condition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>
              <a:defRPr/>
            </a:pPr>
            <a:endParaRPr lang="en-US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0B12F67-34CB-AF11-4990-7F5129DB6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3F2A0609-5B1E-4A92-9F54-A7021CA31459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4">
            <a:extLst>
              <a:ext uri="{FF2B5EF4-FFF2-40B4-BE49-F238E27FC236}">
                <a16:creationId xmlns:a16="http://schemas.microsoft.com/office/drawing/2014/main" id="{2A4FCF98-1DA0-249A-0E2A-88AF0A55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INNER and OUTER Joins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AE21E796-CB38-996D-6540-2BBA73266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200"/>
              <a:t>INNER JOIN  </a:t>
            </a:r>
            <a:r>
              <a:rPr lang="en-US" altLang="en-US" sz="2200" b="1"/>
              <a:t>(versus </a:t>
            </a:r>
            <a:r>
              <a:rPr lang="en-US" altLang="en-US" sz="2200"/>
              <a:t>OUTER JOIN</a:t>
            </a:r>
            <a:r>
              <a:rPr lang="en-US" altLang="en-US" sz="2200" b="1"/>
              <a:t>)</a:t>
            </a:r>
          </a:p>
          <a:p>
            <a:pPr lvl="1"/>
            <a:r>
              <a:rPr lang="en-US" altLang="en-US" sz="2200"/>
              <a:t>Default type of join in a joined table</a:t>
            </a:r>
          </a:p>
          <a:p>
            <a:pPr lvl="1"/>
            <a:r>
              <a:rPr lang="en-US" altLang="en-US" sz="2200"/>
              <a:t>Tuple is included in the result only if a matching tuple exists in the other relation</a:t>
            </a:r>
          </a:p>
          <a:p>
            <a:r>
              <a:rPr lang="en-US" altLang="en-US" sz="2200"/>
              <a:t>LEFT OUTER JOIN 	</a:t>
            </a:r>
          </a:p>
          <a:p>
            <a:pPr lvl="1"/>
            <a:r>
              <a:rPr lang="en-US" altLang="en-US" sz="2200"/>
              <a:t>Every tuple in left table must appear in result</a:t>
            </a:r>
          </a:p>
          <a:p>
            <a:pPr lvl="1"/>
            <a:r>
              <a:rPr lang="en-US" altLang="en-US" sz="2200"/>
              <a:t>If no matching tuple</a:t>
            </a:r>
          </a:p>
          <a:p>
            <a:pPr lvl="2"/>
            <a:r>
              <a:rPr lang="en-US" altLang="en-US" sz="2200"/>
              <a:t>Padded with NULL values for attributes of right table</a:t>
            </a:r>
          </a:p>
          <a:p>
            <a:r>
              <a:rPr lang="en-US" altLang="en-US" sz="2200"/>
              <a:t>RIGHT OUTER JOIN</a:t>
            </a:r>
          </a:p>
          <a:p>
            <a:pPr lvl="1"/>
            <a:r>
              <a:rPr lang="en-US" altLang="en-US" sz="2200"/>
              <a:t>Every tuple in right table must appear in result</a:t>
            </a:r>
          </a:p>
          <a:p>
            <a:pPr lvl="1"/>
            <a:r>
              <a:rPr lang="en-US" altLang="en-US" sz="2200"/>
              <a:t>If no matching tuple</a:t>
            </a:r>
          </a:p>
          <a:p>
            <a:pPr lvl="2"/>
            <a:r>
              <a:rPr lang="en-US" altLang="en-US" sz="2200"/>
              <a:t>Padded with NULL values for attributes of left table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633030A5-4979-C679-4334-61C9E3197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7- 22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5184BD3-389C-0A2A-6DFA-0DED8DD5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LEFT OUTER JOIN</a:t>
            </a:r>
          </a:p>
        </p:txBody>
      </p:sp>
      <p:sp>
        <p:nvSpPr>
          <p:cNvPr id="32772" name="TextBox 3">
            <a:extLst>
              <a:ext uri="{FF2B5EF4-FFF2-40B4-BE49-F238E27FC236}">
                <a16:creationId xmlns:a16="http://schemas.microsoft.com/office/drawing/2014/main" id="{18926B7B-060C-1234-8F14-E3553D778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33600"/>
            <a:ext cx="70866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SELECT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E.Lname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AS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Employee_Name</a:t>
            </a: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S.Lname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AS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Supervisor_Name</a:t>
            </a: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FROM Employee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AS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E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LEFT OUTER JOIN 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EMPLOYEE </a:t>
            </a:r>
            <a:r>
              <a:rPr lang="en-US" altLang="en-US" sz="1800" b="1" dirty="0">
                <a:solidFill>
                  <a:schemeClr val="tx1"/>
                </a:solidFill>
                <a:cs typeface="Arial" panose="020B0604020202020204" pitchFamily="34" charset="0"/>
              </a:rPr>
              <a:t>AS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                             ON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E.Super_ssn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cs typeface="Arial" panose="020B0604020202020204" pitchFamily="34" charset="0"/>
              </a:rPr>
              <a:t>S.Ssn</a:t>
            </a:r>
            <a:r>
              <a:rPr lang="en-US" altLang="en-US" sz="1800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cs typeface="Arial" panose="020B0604020202020204" pitchFamily="34" charset="0"/>
              </a:rPr>
              <a:t>ALTERNATE SYNTAX: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SELECT </a:t>
            </a:r>
            <a:r>
              <a:rPr lang="en-US" altLang="en-US" sz="2000" dirty="0" err="1">
                <a:solidFill>
                  <a:schemeClr val="tx1"/>
                </a:solidFill>
                <a:cs typeface="Arial" panose="020B0604020202020204" pitchFamily="34" charset="0"/>
              </a:rPr>
              <a:t>E.Lname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cs typeface="Arial" panose="020B0604020202020204" pitchFamily="34" charset="0"/>
              </a:rPr>
              <a:t>S.Lname</a:t>
            </a:r>
            <a:endParaRPr lang="en-US" altLang="en-US" sz="2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FROM  EMPLOYEE E, EMPLOYEE 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cs typeface="Arial" panose="020B0604020202020204" pitchFamily="34" charset="0"/>
              </a:rPr>
              <a:t>WHERE </a:t>
            </a:r>
            <a:r>
              <a:rPr lang="en-US" altLang="en-US" sz="2000" dirty="0" err="1">
                <a:solidFill>
                  <a:schemeClr val="tx1"/>
                </a:solidFill>
                <a:cs typeface="Arial" panose="020B0604020202020204" pitchFamily="34" charset="0"/>
              </a:rPr>
              <a:t>E.Super_ssn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= </a:t>
            </a:r>
            <a:r>
              <a:rPr lang="en-US" altLang="en-US" sz="2000" dirty="0" err="1">
                <a:solidFill>
                  <a:schemeClr val="tx1"/>
                </a:solidFill>
                <a:cs typeface="Arial" panose="020B0604020202020204" pitchFamily="34" charset="0"/>
              </a:rPr>
              <a:t>S.Ssn</a:t>
            </a:r>
            <a:endParaRPr lang="en-US" altLang="en-US" sz="2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        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2773" name="Slide Number Placeholder 3">
            <a:extLst>
              <a:ext uri="{FF2B5EF4-FFF2-40B4-BE49-F238E27FC236}">
                <a16:creationId xmlns:a16="http://schemas.microsoft.com/office/drawing/2014/main" id="{978C561E-EEE3-35E4-89AF-1504BD325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10688676-57E5-4B22-8163-C2E5F2E60FAB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circles&#10;&#10;Description automatically generated">
            <a:extLst>
              <a:ext uri="{FF2B5EF4-FFF2-40B4-BE49-F238E27FC236}">
                <a16:creationId xmlns:a16="http://schemas.microsoft.com/office/drawing/2014/main" id="{BBBDF63B-1788-3C4F-A4E3-EBEF2B09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65" y="1600200"/>
            <a:ext cx="5880383" cy="4572000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C378D9-A6DB-B5C6-5DD5-C2A3574AC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52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2C673-DE61-566C-8733-7DEAA3E9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123193780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>
            <a:extLst>
              <a:ext uri="{FF2B5EF4-FFF2-40B4-BE49-F238E27FC236}">
                <a16:creationId xmlns:a16="http://schemas.microsoft.com/office/drawing/2014/main" id="{ABACC54A-1358-6B42-A81F-F2CA3B1A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Multiway JOIN in the FROM clause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05DC8849-6C1D-6D2D-1DD0-5B27A6D29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FULL OUTER JOIN – combines result if LEFT and RIGHT OUTER JOIN</a:t>
            </a:r>
          </a:p>
          <a:p>
            <a:pPr>
              <a:defRPr/>
            </a:pPr>
            <a:r>
              <a:rPr lang="en-US" altLang="en-US" dirty="0"/>
              <a:t>Can nest JOIN specifications for a multiway join: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Q2A: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Pnumber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Dnum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Lname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Address,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Bdate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  ((PROJECT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JOIN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DEPARTMENT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			   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Dnum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Dnumber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JOIN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EMPLOYEE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			   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Mgr_ssn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Ssn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Plocation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=‘Stafford’;</a:t>
            </a:r>
          </a:p>
          <a:p>
            <a:pPr>
              <a:defRPr/>
            </a:pPr>
            <a:endParaRPr lang="en-US" altLang="en-US" dirty="0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F7E3EE5B-CFC9-C4C9-C562-FE6ED0AD0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E9EE0FBC-B334-4988-862D-0FAFBA1ECDD3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E4F98A7-E567-E39D-7E32-E23E2666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24" y="62188"/>
            <a:ext cx="7375108" cy="219409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D9EF5-9853-A595-3CB2-0AA0378A3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54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51712-238A-C8F7-9B32-4CBCD36A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1447800"/>
            <a:ext cx="838199" cy="5131050"/>
          </a:xfrm>
        </p:spPr>
        <p:txBody>
          <a:bodyPr vert="vert270" wrap="square" anchor="b">
            <a:normAutofit/>
          </a:bodyPr>
          <a:lstStyle/>
          <a:p>
            <a:pPr algn="ctr"/>
            <a:r>
              <a:rPr lang="en-US" dirty="0"/>
              <a:t>Join: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ED00EC-3970-ABD7-80F3-4E4677591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19" y="2575419"/>
            <a:ext cx="7567613" cy="405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39277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E4F98A7-E567-E39D-7E32-E23E2666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24" y="62188"/>
            <a:ext cx="7375108" cy="219409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D9EF5-9853-A595-3CB2-0AA0378A3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55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51712-238A-C8F7-9B32-4CBCD36A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1447800"/>
            <a:ext cx="838199" cy="5131050"/>
          </a:xfrm>
        </p:spPr>
        <p:txBody>
          <a:bodyPr vert="vert270" wrap="square" anchor="b">
            <a:normAutofit/>
          </a:bodyPr>
          <a:lstStyle/>
          <a:p>
            <a:pPr algn="ctr"/>
            <a:r>
              <a:rPr lang="en-US" dirty="0"/>
              <a:t>Join: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CF148-6AE5-811F-88E5-C32152C11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97" y="2466925"/>
            <a:ext cx="7086600" cy="391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93103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E4F98A7-E567-E39D-7E32-E23E2666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24" y="62188"/>
            <a:ext cx="7375108" cy="219409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D9EF5-9853-A595-3CB2-0AA0378A3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56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51712-238A-C8F7-9B32-4CBCD36A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1447800"/>
            <a:ext cx="838199" cy="5131050"/>
          </a:xfrm>
        </p:spPr>
        <p:txBody>
          <a:bodyPr vert="vert270" wrap="square" anchor="b">
            <a:normAutofit/>
          </a:bodyPr>
          <a:lstStyle/>
          <a:p>
            <a:pPr algn="ctr"/>
            <a:r>
              <a:rPr lang="en-US" dirty="0"/>
              <a:t>Join: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CADDF-BE5C-5474-4C49-060F4FE4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757" y="2256280"/>
            <a:ext cx="7407641" cy="411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82119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98854B8-79FF-7A13-D227-D7822420C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1"/>
          <a:stretch/>
        </p:blipFill>
        <p:spPr>
          <a:xfrm>
            <a:off x="609600" y="1676399"/>
            <a:ext cx="7643813" cy="487838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D9EF5-9853-A595-3CB2-0AA0378A3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57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51712-238A-C8F7-9B32-4CBCD36A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vert="horz" wrap="square" anchor="b">
            <a:normAutofit/>
          </a:bodyPr>
          <a:lstStyle/>
          <a:p>
            <a:r>
              <a:rPr lang="en-US" sz="5400" dirty="0"/>
              <a:t>Join: Example</a:t>
            </a:r>
          </a:p>
        </p:txBody>
      </p:sp>
    </p:spTree>
    <p:extLst>
      <p:ext uri="{BB962C8B-B14F-4D97-AF65-F5344CB8AC3E}">
        <p14:creationId xmlns:p14="http://schemas.microsoft.com/office/powerpoint/2010/main" val="1781683652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19083428-2B16-E95E-9A15-6C6488E0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in SQL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C63D3DBD-2BB7-3435-666C-73529522B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Used to summarize information from multiple tuples into a single-tuple summary</a:t>
            </a:r>
          </a:p>
          <a:p>
            <a:r>
              <a:rPr lang="en-US" altLang="en-US" dirty="0"/>
              <a:t>Built-in aggregate functions 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en-US" i="1" dirty="0"/>
              <a:t>,</a:t>
            </a:r>
            <a:r>
              <a:rPr lang="en-US" altLang="en-US" dirty="0"/>
              <a:t>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altLang="en-US" dirty="0"/>
              <a:t>,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</a:p>
          <a:p>
            <a:r>
              <a:rPr lang="en-US" altLang="en-US" b="1" dirty="0"/>
              <a:t>Grouping </a:t>
            </a:r>
          </a:p>
          <a:p>
            <a:pPr lvl="1"/>
            <a:r>
              <a:rPr lang="en-US" altLang="en-US" dirty="0"/>
              <a:t>Create subgroups of tuples before summarizing</a:t>
            </a:r>
          </a:p>
          <a:p>
            <a:r>
              <a:rPr lang="en-US" altLang="en-US" dirty="0"/>
              <a:t>To select entire groups,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altLang="en-US" dirty="0"/>
              <a:t> clause is used</a:t>
            </a:r>
          </a:p>
          <a:p>
            <a:r>
              <a:rPr lang="en-US" altLang="en-US" dirty="0"/>
              <a:t>Aggregate functions can be used in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clause or in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altLang="en-US" dirty="0"/>
              <a:t> clause</a:t>
            </a: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43B6F6A6-2822-37AC-326B-F862C673A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AC163BE8-5E00-4042-BF30-E56AB2A3D628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781EACE-72A9-31F1-3F7A-CA3BD526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Renaming Results of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58E09-48F0-589F-3A84-A96232C81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Following query returns a single row of computed values from EMPLOYEE table:</a:t>
            </a:r>
          </a:p>
          <a:p>
            <a:pPr>
              <a:defRPr/>
            </a:pPr>
            <a:endParaRPr lang="en-US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Q19: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             (Salary)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EMPLOYEE;</a:t>
            </a:r>
          </a:p>
          <a:p>
            <a:pPr>
              <a:defRPr/>
            </a:pPr>
            <a:r>
              <a:rPr lang="en-US" sz="2400" dirty="0"/>
              <a:t>The result can be presented with new names: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Q19A: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Total_Sal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		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Highest_Sal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Lowest_Sal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	(Salary)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Average_Sal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EMPLOYEE;</a:t>
            </a:r>
          </a:p>
          <a:p>
            <a:pPr>
              <a:defRPr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E43CB05E-DE19-3BAD-1534-FEDAF4DAB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0D5357EA-7B70-426D-94F2-57A272BAB33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6A82505-EE16-FFD1-EF3B-76C63E3C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in SQL (cont’d.)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357AD8F2-9279-950A-5D8F-9A009F50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NULL values are discarded when aggregate functions are applied to a particular column</a:t>
            </a:r>
          </a:p>
          <a:p>
            <a:endParaRPr lang="en-US" altLang="en-US"/>
          </a:p>
        </p:txBody>
      </p:sp>
      <p:pic>
        <p:nvPicPr>
          <p:cNvPr id="36868" name="Picture 2">
            <a:extLst>
              <a:ext uri="{FF2B5EF4-FFF2-40B4-BE49-F238E27FC236}">
                <a16:creationId xmlns:a16="http://schemas.microsoft.com/office/drawing/2014/main" id="{37E4C165-BF85-8AFC-A9C8-ABBDF3C07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43200"/>
            <a:ext cx="63246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Slide Number Placeholder 3">
            <a:extLst>
              <a:ext uri="{FF2B5EF4-FFF2-40B4-BE49-F238E27FC236}">
                <a16:creationId xmlns:a16="http://schemas.microsoft.com/office/drawing/2014/main" id="{504CE254-55C1-1C54-136B-CC6D3AC15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615423F8-6E00-42AA-AF81-1075BD522BE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1F723A21-FAB3-53A3-4012-F9D94B13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on Booleans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AC6093FB-008C-8791-7518-D477D7479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SOME and ALL  may be applied as functions on Boolean Values.</a:t>
            </a:r>
          </a:p>
          <a:p>
            <a:r>
              <a:rPr lang="en-US" altLang="en-US"/>
              <a:t>SOME returns true if at least one element in the collection is TRUE (similar to OR)</a:t>
            </a:r>
          </a:p>
          <a:p>
            <a:r>
              <a:rPr lang="en-US" altLang="en-US"/>
              <a:t>ALL returns true if all of the elements in the collection are TRUE (similar to AND)</a:t>
            </a:r>
          </a:p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417D194F-38F7-65BB-CE37-8E6CAF2E9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9ABA5B51-F0A5-48E6-87C6-22EA7D19B95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241F9D5E-F018-F087-B9B9-503102AC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Grouping: The GROUP BY Clause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BB79C70E-6A80-D693-6A0F-FFA43EB98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Partition</a:t>
            </a:r>
            <a:r>
              <a:rPr lang="en-US" altLang="en-US"/>
              <a:t> relation into subsets of tuples</a:t>
            </a:r>
          </a:p>
          <a:p>
            <a:pPr lvl="1"/>
            <a:r>
              <a:rPr lang="en-US" altLang="en-US"/>
              <a:t>Based on </a:t>
            </a:r>
            <a:r>
              <a:rPr lang="en-US" altLang="en-US" b="1"/>
              <a:t>grouping attribute(s)</a:t>
            </a:r>
          </a:p>
          <a:p>
            <a:pPr lvl="1"/>
            <a:r>
              <a:rPr lang="en-US" altLang="en-US"/>
              <a:t>Apply function to each such group independently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altLang="en-US"/>
              <a:t>clause </a:t>
            </a:r>
          </a:p>
          <a:p>
            <a:pPr lvl="1"/>
            <a:r>
              <a:rPr lang="en-US" altLang="en-US"/>
              <a:t>Specifies grouping attributes</a:t>
            </a:r>
          </a:p>
          <a:p>
            <a:r>
              <a:rPr lang="en-US" altLang="en-US"/>
              <a:t>COUNT (*) counts the number of rows in the group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E9CE2559-C07F-09E4-88D6-FEB54691C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7CF5B793-509F-4122-A024-531FD8512423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082EBBC-EEDB-26F6-FEAB-7B894C7F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7306-0E8D-80AE-FA06-87F71B9F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The grouping attribute must appear in the SELECT clause: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Q24: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Dno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(*),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(Salary)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EMPLOYEE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Dno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9A67B48D-DD8C-6455-D0D9-AE9F65B9B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DF928524-03CB-4FCC-81DD-C3792EF51618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B2F9F-9675-CD23-5392-3255566C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3564636"/>
            <a:ext cx="5486400" cy="279806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082EBBC-EEDB-26F6-FEAB-7B894C7F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7306-0E8D-80AE-FA06-87F71B9FD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2209800"/>
            <a:ext cx="8294687" cy="39624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If the grouping attribute has NULL as a possible value, then a separate group is created for the null value (e.g., null </a:t>
            </a:r>
            <a:r>
              <a:rPr lang="en-US" sz="2400" dirty="0" err="1"/>
              <a:t>Dno</a:t>
            </a:r>
            <a:r>
              <a:rPr lang="en-US" sz="2400" dirty="0"/>
              <a:t> in the above query)</a:t>
            </a:r>
          </a:p>
          <a:p>
            <a:pPr>
              <a:defRPr/>
            </a:pPr>
            <a:r>
              <a:rPr lang="en-US" sz="2400" dirty="0"/>
              <a:t>GROUP BY may be applied to the result of a JOIN: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Q25: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Pnumber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Pname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(*)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PROJECT, WORKS_ON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Pnumber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Pno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Pnumber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Pname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9A67B48D-DD8C-6455-D0D9-AE9F65B9B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DF928524-03CB-4FCC-81DD-C3792EF51618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434377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5">
            <a:extLst>
              <a:ext uri="{FF2B5EF4-FFF2-40B4-BE49-F238E27FC236}">
                <a16:creationId xmlns:a16="http://schemas.microsoft.com/office/drawing/2014/main" id="{EEB4965D-BCEA-FA9D-AEBD-A1D526B1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Grouping: The GROUP BY and HAVING Clauses (cont’d.)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5F13AB6A-6978-0BF3-9AC2-9E62D7850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altLang="en-US" b="1" dirty="0"/>
              <a:t> </a:t>
            </a:r>
            <a:r>
              <a:rPr lang="en-US" altLang="en-US" dirty="0"/>
              <a:t>clause</a:t>
            </a:r>
          </a:p>
          <a:p>
            <a:pPr lvl="1">
              <a:defRPr/>
            </a:pPr>
            <a:r>
              <a:rPr lang="en-US" altLang="en-US" dirty="0"/>
              <a:t>Provides a condition to select or reject an entire group:</a:t>
            </a:r>
          </a:p>
          <a:p>
            <a:pPr>
              <a:defRPr/>
            </a:pPr>
            <a:r>
              <a:rPr lang="en-US" sz="2000" b="1" dirty="0"/>
              <a:t>Query 26.</a:t>
            </a:r>
            <a:r>
              <a:rPr lang="en-US" sz="2000" dirty="0"/>
              <a:t> For each project </a:t>
            </a:r>
            <a:r>
              <a:rPr lang="en-US" sz="2000" i="1" dirty="0"/>
              <a:t>on which more than two employees work,</a:t>
            </a:r>
            <a:r>
              <a:rPr lang="en-US" sz="2000" dirty="0"/>
              <a:t> retrieve the project number, the project name, and the number of employees who work on the project.</a:t>
            </a:r>
          </a:p>
          <a:p>
            <a:pPr>
              <a:defRPr/>
            </a:pPr>
            <a:endParaRPr lang="en-US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Q26: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Pnumber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Pname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(*)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PROJECT, WORKS_ON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Pnumber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Pno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Pnumber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Pname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(*) &gt; 2;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>
              <a:defRPr/>
            </a:pPr>
            <a:endParaRPr lang="en-US" altLang="en-US" dirty="0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C5FB5B67-2A1C-5848-84C0-5FB13BBFF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7- 31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CC1DA34-6E3F-E39E-20D9-7E03851BA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1895476"/>
            <a:ext cx="8294687" cy="398144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10A86F-5A38-7178-58AF-677DB6F3D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>
                <a:spcAft>
                  <a:spcPts val="600"/>
                </a:spcAft>
              </a:pPr>
              <a:t>66</a:t>
            </a:fld>
            <a:endParaRPr lang="en-CA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A87D9-DD5D-77CA-CF13-1F82A738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GROUP BY: Example</a:t>
            </a:r>
          </a:p>
        </p:txBody>
      </p:sp>
    </p:spTree>
    <p:extLst>
      <p:ext uri="{BB962C8B-B14F-4D97-AF65-F5344CB8AC3E}">
        <p14:creationId xmlns:p14="http://schemas.microsoft.com/office/powerpoint/2010/main" val="1984701091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88B449E2-FB5F-F674-B2C4-A8B2030F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Combining the WHERE and the HAVING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0D45C-F77D-CE4E-63D7-7B07DA91E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Consider the query: we want to count the </a:t>
            </a:r>
            <a:r>
              <a:rPr lang="en-US" sz="2400" i="1" dirty="0"/>
              <a:t>total</a:t>
            </a:r>
            <a:r>
              <a:rPr lang="en-US" sz="2400" dirty="0"/>
              <a:t> number of employees whose salaries exceed $40,000 in each department, but only for departments where more than five employees work.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>
                <a:solidFill>
                  <a:srgbClr val="800000"/>
                </a:solidFill>
              </a:rPr>
              <a:t>INCORRECT QUERY:</a:t>
            </a:r>
            <a:endParaRPr lang="en-US" sz="2400" dirty="0"/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Dno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(*)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EMPLOYEE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Salary&gt;40000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Dno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(*) &gt; 5;</a:t>
            </a:r>
          </a:p>
          <a:p>
            <a:pPr lvl="2">
              <a:defRPr/>
            </a:pP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CC796C79-4FF1-6EEF-FFC5-35D5D5865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F9B5BDC1-02E2-4084-B945-F239BF83665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9C8B7004-A1D2-E7FA-0309-B8DE1D86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Combining the WHERE and the HAVING Clause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9278-E78F-A35C-000B-C9D061B9E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800000"/>
                </a:solidFill>
              </a:rPr>
              <a:t>Correct Specification of the Query:</a:t>
            </a:r>
          </a:p>
          <a:p>
            <a:pPr>
              <a:defRPr/>
            </a:pPr>
            <a:r>
              <a:rPr lang="en-US" dirty="0"/>
              <a:t>Note: the WHERE clause applies tuple by tuple whereas HAVING applies to entire group of tuples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6C0C33B3-C14E-ED14-249D-56611D4C7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01FB5D75-0C43-4AA2-B92D-75E270D9959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43013" name="Picture 2">
            <a:extLst>
              <a:ext uri="{FF2B5EF4-FFF2-40B4-BE49-F238E27FC236}">
                <a16:creationId xmlns:a16="http://schemas.microsoft.com/office/drawing/2014/main" id="{55AC9709-FEB7-1CDE-1A2C-DCCA59EF1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3500438"/>
            <a:ext cx="722153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C62126D0-0223-1CCF-341E-B0624069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WITH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73021B17-2642-E70E-4005-776B6D074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WITH clause allows a user to define a table that will only be used in a particular query (not available in all SQL implementations)</a:t>
            </a:r>
          </a:p>
          <a:p>
            <a:r>
              <a:rPr lang="en-US" altLang="en-US" dirty="0"/>
              <a:t>Used for convenience to create a temporary “View” and use that immediately in a query</a:t>
            </a:r>
          </a:p>
          <a:p>
            <a:r>
              <a:rPr lang="en-US" altLang="en-US" dirty="0"/>
              <a:t>Allows a more straightforward way of looking at a step-by-step query</a:t>
            </a:r>
          </a:p>
          <a:p>
            <a:endParaRPr lang="en-US" altLang="en-US" dirty="0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68C7C011-AE04-8114-EA3E-55C574C021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20042ECF-7D26-4C28-BCFB-58B7A543C87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FFB88166-88E0-0AF4-C408-8A9B16FA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AF332-02A4-153E-86A1-ED00A4847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See an alternate approach to doing Q28: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>
                <a:solidFill>
                  <a:schemeClr val="bg2"/>
                </a:solidFill>
              </a:rPr>
              <a:t>Q28’:</a:t>
            </a:r>
            <a:r>
              <a:rPr lang="en-US" sz="1600" dirty="0">
                <a:solidFill>
                  <a:schemeClr val="bg2"/>
                </a:solidFill>
              </a:rPr>
              <a:t>	              </a:t>
            </a:r>
            <a:r>
              <a:rPr lang="en-US" sz="1600" b="1" dirty="0">
                <a:solidFill>
                  <a:schemeClr val="bg2"/>
                </a:solidFill>
              </a:rPr>
              <a:t>WITH	</a:t>
            </a:r>
            <a:r>
              <a:rPr lang="en-US" sz="1600" dirty="0">
                <a:solidFill>
                  <a:schemeClr val="bg2"/>
                </a:solidFill>
              </a:rPr>
              <a:t>BIGDEPTS (</a:t>
            </a:r>
            <a:r>
              <a:rPr lang="en-US" sz="1600" dirty="0" err="1">
                <a:solidFill>
                  <a:schemeClr val="bg2"/>
                </a:solidFill>
              </a:rPr>
              <a:t>Dno</a:t>
            </a:r>
            <a:r>
              <a:rPr lang="en-US" sz="1600" dirty="0">
                <a:solidFill>
                  <a:schemeClr val="bg2"/>
                </a:solidFill>
              </a:rPr>
              <a:t>) </a:t>
            </a:r>
            <a:r>
              <a:rPr lang="en-US" sz="1600" b="1" dirty="0">
                <a:solidFill>
                  <a:schemeClr val="bg2"/>
                </a:solidFill>
              </a:rPr>
              <a:t>AS</a:t>
            </a:r>
            <a:endParaRPr lang="en-US" sz="16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             (	</a:t>
            </a:r>
            <a:r>
              <a:rPr lang="en-US" sz="1600" b="1" dirty="0">
                <a:solidFill>
                  <a:schemeClr val="bg2"/>
                </a:solidFill>
              </a:rPr>
              <a:t>SELECT</a:t>
            </a:r>
            <a:r>
              <a:rPr lang="en-US" sz="1600" dirty="0">
                <a:solidFill>
                  <a:schemeClr val="bg2"/>
                </a:solidFill>
              </a:rPr>
              <a:t>	</a:t>
            </a:r>
            <a:r>
              <a:rPr lang="en-US" sz="1600" dirty="0" err="1">
                <a:solidFill>
                  <a:schemeClr val="bg2"/>
                </a:solidFill>
              </a:rPr>
              <a:t>Dno</a:t>
            </a:r>
            <a:endParaRPr lang="en-US" sz="16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	</a:t>
            </a:r>
            <a:r>
              <a:rPr lang="en-US" sz="1600" b="1" dirty="0">
                <a:solidFill>
                  <a:schemeClr val="bg2"/>
                </a:solidFill>
              </a:rPr>
              <a:t>FROM</a:t>
            </a:r>
            <a:r>
              <a:rPr lang="en-US" sz="1600" dirty="0">
                <a:solidFill>
                  <a:schemeClr val="bg2"/>
                </a:solidFill>
              </a:rPr>
              <a:t>	EMPLOYEE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	</a:t>
            </a:r>
            <a:r>
              <a:rPr lang="en-US" sz="1600" b="1" dirty="0">
                <a:solidFill>
                  <a:schemeClr val="bg2"/>
                </a:solidFill>
              </a:rPr>
              <a:t>GROUP BY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Dno</a:t>
            </a:r>
            <a:endParaRPr lang="en-US" sz="16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	</a:t>
            </a:r>
            <a:r>
              <a:rPr lang="en-US" sz="1600" b="1" dirty="0">
                <a:solidFill>
                  <a:schemeClr val="bg2"/>
                </a:solidFill>
              </a:rPr>
              <a:t>HAVING</a:t>
            </a:r>
            <a:r>
              <a:rPr lang="en-US" sz="1600" dirty="0">
                <a:solidFill>
                  <a:schemeClr val="bg2"/>
                </a:solidFill>
              </a:rPr>
              <a:t>	</a:t>
            </a:r>
            <a:r>
              <a:rPr lang="en-US" sz="1600" b="1" dirty="0">
                <a:solidFill>
                  <a:schemeClr val="bg2"/>
                </a:solidFill>
              </a:rPr>
              <a:t>COUNT</a:t>
            </a:r>
            <a:r>
              <a:rPr lang="en-US" sz="1600" dirty="0">
                <a:solidFill>
                  <a:schemeClr val="bg2"/>
                </a:solidFill>
              </a:rPr>
              <a:t> (*) &gt; 5)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</a:t>
            </a:r>
            <a:r>
              <a:rPr lang="en-US" sz="1600" b="1" dirty="0">
                <a:solidFill>
                  <a:schemeClr val="bg2"/>
                </a:solidFill>
              </a:rPr>
              <a:t>SELECT</a:t>
            </a:r>
            <a:r>
              <a:rPr lang="en-US" sz="1600" dirty="0">
                <a:solidFill>
                  <a:schemeClr val="bg2"/>
                </a:solidFill>
              </a:rPr>
              <a:t>		</a:t>
            </a:r>
            <a:r>
              <a:rPr lang="en-US" sz="1600" dirty="0" err="1">
                <a:solidFill>
                  <a:schemeClr val="bg2"/>
                </a:solidFill>
              </a:rPr>
              <a:t>Dno</a:t>
            </a:r>
            <a:r>
              <a:rPr lang="en-US" sz="1600" dirty="0">
                <a:solidFill>
                  <a:schemeClr val="bg2"/>
                </a:solidFill>
              </a:rPr>
              <a:t>, </a:t>
            </a:r>
            <a:r>
              <a:rPr lang="en-US" sz="1600" b="1" dirty="0">
                <a:solidFill>
                  <a:schemeClr val="bg2"/>
                </a:solidFill>
              </a:rPr>
              <a:t>COUNT</a:t>
            </a:r>
            <a:r>
              <a:rPr lang="en-US" sz="1600" dirty="0">
                <a:solidFill>
                  <a:schemeClr val="bg2"/>
                </a:solidFill>
              </a:rPr>
              <a:t> (*)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</a:t>
            </a:r>
            <a:r>
              <a:rPr lang="en-US" sz="1600" b="1" dirty="0">
                <a:solidFill>
                  <a:schemeClr val="bg2"/>
                </a:solidFill>
              </a:rPr>
              <a:t>FROM</a:t>
            </a:r>
            <a:r>
              <a:rPr lang="en-US" sz="1600" dirty="0">
                <a:solidFill>
                  <a:schemeClr val="bg2"/>
                </a:solidFill>
              </a:rPr>
              <a:t>		EMPLOYEE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</a:rPr>
              <a:t>		</a:t>
            </a:r>
            <a:r>
              <a:rPr lang="en-US" sz="1600" b="1" dirty="0">
                <a:solidFill>
                  <a:schemeClr val="bg2"/>
                </a:solidFill>
              </a:rPr>
              <a:t>WHERE</a:t>
            </a:r>
            <a:r>
              <a:rPr lang="en-US" sz="1600" dirty="0">
                <a:solidFill>
                  <a:schemeClr val="bg2"/>
                </a:solidFill>
              </a:rPr>
              <a:t>		Salary&gt;40000 </a:t>
            </a:r>
            <a:r>
              <a:rPr lang="en-US" sz="1600" b="1" dirty="0">
                <a:solidFill>
                  <a:schemeClr val="bg2"/>
                </a:solidFill>
              </a:rPr>
              <a:t>AND </a:t>
            </a:r>
            <a:r>
              <a:rPr lang="en-US" sz="1600" dirty="0" err="1">
                <a:solidFill>
                  <a:schemeClr val="bg2"/>
                </a:solidFill>
              </a:rPr>
              <a:t>Dno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b="1" dirty="0">
                <a:solidFill>
                  <a:schemeClr val="bg2"/>
                </a:solidFill>
              </a:rPr>
              <a:t>IN </a:t>
            </a:r>
            <a:r>
              <a:rPr lang="en-US" sz="1600" dirty="0">
                <a:solidFill>
                  <a:schemeClr val="bg2"/>
                </a:solidFill>
              </a:rPr>
              <a:t>BIGDEPTS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b="1" dirty="0">
                <a:solidFill>
                  <a:schemeClr val="bg2"/>
                </a:solidFill>
              </a:rPr>
              <a:t>	</a:t>
            </a:r>
            <a:r>
              <a:rPr lang="en-US" sz="1600" dirty="0">
                <a:solidFill>
                  <a:schemeClr val="bg2"/>
                </a:solidFill>
              </a:rPr>
              <a:t>	</a:t>
            </a:r>
            <a:r>
              <a:rPr lang="en-US" sz="1600" b="1" dirty="0">
                <a:solidFill>
                  <a:schemeClr val="bg2"/>
                </a:solidFill>
              </a:rPr>
              <a:t>GROUP BY </a:t>
            </a:r>
            <a:r>
              <a:rPr lang="en-US" sz="1600" dirty="0" err="1">
                <a:solidFill>
                  <a:schemeClr val="bg2"/>
                </a:solidFill>
              </a:rPr>
              <a:t>Dno</a:t>
            </a:r>
            <a:r>
              <a:rPr lang="en-US" sz="1600" dirty="0">
                <a:solidFill>
                  <a:schemeClr val="bg2"/>
                </a:solidFill>
              </a:rPr>
              <a:t>;</a:t>
            </a:r>
          </a:p>
          <a:p>
            <a:pPr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1AE7B27D-400E-18FF-2B5F-5C64FD7F5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4E2F17CF-ED2B-4D59-9A29-C6979FFD505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C56AAD1-D12A-81B0-0792-AAE4F2D9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CASE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CDC50D77-ACF6-FDCB-5911-AC3140804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SQL also has a CASE construct</a:t>
            </a:r>
          </a:p>
          <a:p>
            <a:r>
              <a:rPr lang="en-US" altLang="en-US"/>
              <a:t>Used when a value can be different based on certain conditions. </a:t>
            </a:r>
          </a:p>
          <a:p>
            <a:r>
              <a:rPr lang="en-US" altLang="en-US"/>
              <a:t>Can be used in any part of an SQL query where a value is expected</a:t>
            </a:r>
          </a:p>
          <a:p>
            <a:r>
              <a:rPr lang="en-US" altLang="en-US"/>
              <a:t>Applicable when querying, inserting or updating tuples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6570B9F3-36C9-A203-A1FB-D9B896E3F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4390929D-56F3-4AE9-BCAF-B875E61D8DEC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4612925-EB47-DD1E-C513-163DC617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use of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CD26D-B50D-314E-BE63-E5B1D05C7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following example shows that employees are receiving different raises in different departments (A variation of the update U6)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000" b="1" dirty="0">
                <a:solidFill>
                  <a:schemeClr val="bg2"/>
                </a:solidFill>
              </a:rPr>
              <a:t>U6’:</a:t>
            </a:r>
            <a:r>
              <a:rPr lang="en-US" sz="2000" dirty="0">
                <a:solidFill>
                  <a:schemeClr val="bg2"/>
                </a:solidFill>
              </a:rPr>
              <a:t>		</a:t>
            </a:r>
            <a:r>
              <a:rPr lang="en-US" sz="2000" b="1" dirty="0">
                <a:solidFill>
                  <a:schemeClr val="bg2"/>
                </a:solidFill>
              </a:rPr>
              <a:t>UPDATE</a:t>
            </a:r>
            <a:r>
              <a:rPr lang="en-US" sz="2000" dirty="0">
                <a:solidFill>
                  <a:schemeClr val="bg2"/>
                </a:solidFill>
              </a:rPr>
              <a:t>	EMPLOYEE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bg2"/>
                </a:solidFill>
              </a:rPr>
              <a:t>		</a:t>
            </a:r>
            <a:r>
              <a:rPr lang="en-US" sz="2000" b="1" dirty="0">
                <a:solidFill>
                  <a:schemeClr val="bg2"/>
                </a:solidFill>
              </a:rPr>
              <a:t>SET</a:t>
            </a:r>
            <a:r>
              <a:rPr lang="en-US" sz="2000" dirty="0">
                <a:solidFill>
                  <a:schemeClr val="bg2"/>
                </a:solidFill>
              </a:rPr>
              <a:t>		Salary =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bg2"/>
                </a:solidFill>
              </a:rPr>
              <a:t>		</a:t>
            </a:r>
            <a:r>
              <a:rPr lang="en-US" sz="2000" b="1" dirty="0">
                <a:solidFill>
                  <a:schemeClr val="bg2"/>
                </a:solidFill>
              </a:rPr>
              <a:t>CASE		WHEN</a:t>
            </a:r>
            <a:r>
              <a:rPr lang="en-US" sz="2000" dirty="0">
                <a:solidFill>
                  <a:schemeClr val="bg2"/>
                </a:solidFill>
              </a:rPr>
              <a:t>	</a:t>
            </a:r>
            <a:r>
              <a:rPr lang="en-US" sz="2000" dirty="0" err="1">
                <a:solidFill>
                  <a:schemeClr val="bg2"/>
                </a:solidFill>
              </a:rPr>
              <a:t>Dno</a:t>
            </a:r>
            <a:r>
              <a:rPr lang="en-US" sz="2000" dirty="0">
                <a:solidFill>
                  <a:schemeClr val="bg2"/>
                </a:solidFill>
              </a:rPr>
              <a:t> = 5	</a:t>
            </a:r>
            <a:r>
              <a:rPr lang="en-US" sz="2000" b="1" dirty="0">
                <a:solidFill>
                  <a:schemeClr val="bg2"/>
                </a:solidFill>
              </a:rPr>
              <a:t>THEN</a:t>
            </a:r>
            <a:r>
              <a:rPr lang="en-US" sz="2000" dirty="0">
                <a:solidFill>
                  <a:schemeClr val="bg2"/>
                </a:solidFill>
              </a:rPr>
              <a:t>	  Salary + 2000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bg2"/>
                </a:solidFill>
              </a:rPr>
              <a:t>				WHEN</a:t>
            </a:r>
            <a:r>
              <a:rPr lang="en-US" sz="2000" dirty="0">
                <a:solidFill>
                  <a:schemeClr val="bg2"/>
                </a:solidFill>
              </a:rPr>
              <a:t>	</a:t>
            </a:r>
            <a:r>
              <a:rPr lang="en-US" sz="2000" dirty="0" err="1">
                <a:solidFill>
                  <a:schemeClr val="bg2"/>
                </a:solidFill>
              </a:rPr>
              <a:t>Dno</a:t>
            </a:r>
            <a:r>
              <a:rPr lang="en-US" sz="2000" dirty="0">
                <a:solidFill>
                  <a:schemeClr val="bg2"/>
                </a:solidFill>
              </a:rPr>
              <a:t> = 4	</a:t>
            </a:r>
            <a:r>
              <a:rPr lang="en-US" sz="2000" b="1" dirty="0">
                <a:solidFill>
                  <a:schemeClr val="bg2"/>
                </a:solidFill>
              </a:rPr>
              <a:t>THEN</a:t>
            </a:r>
            <a:r>
              <a:rPr lang="en-US" sz="2000" dirty="0">
                <a:solidFill>
                  <a:schemeClr val="bg2"/>
                </a:solidFill>
              </a:rPr>
              <a:t>	  Salary + 1500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bg2"/>
                </a:solidFill>
              </a:rPr>
              <a:t>				WHEN</a:t>
            </a:r>
            <a:r>
              <a:rPr lang="en-US" sz="2000" dirty="0">
                <a:solidFill>
                  <a:schemeClr val="bg2"/>
                </a:solidFill>
              </a:rPr>
              <a:t>	</a:t>
            </a:r>
            <a:r>
              <a:rPr lang="en-US" sz="2000" dirty="0" err="1">
                <a:solidFill>
                  <a:schemeClr val="bg2"/>
                </a:solidFill>
              </a:rPr>
              <a:t>Dno</a:t>
            </a:r>
            <a:r>
              <a:rPr lang="en-US" sz="2000" dirty="0">
                <a:solidFill>
                  <a:schemeClr val="bg2"/>
                </a:solidFill>
              </a:rPr>
              <a:t> = 1	</a:t>
            </a:r>
            <a:r>
              <a:rPr lang="en-US" sz="2000" b="1" dirty="0">
                <a:solidFill>
                  <a:schemeClr val="bg2"/>
                </a:solidFill>
              </a:rPr>
              <a:t>THEN</a:t>
            </a:r>
            <a:r>
              <a:rPr lang="en-US" sz="2000" dirty="0">
                <a:solidFill>
                  <a:schemeClr val="bg2"/>
                </a:solidFill>
              </a:rPr>
              <a:t>	  Salary + 3000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144A3DD5-78B5-F825-7D13-60602B159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7F31BC8A-18FE-4D81-85E1-3092E22D56E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73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1" y="2714826"/>
            <a:ext cx="8175308" cy="702115"/>
          </a:xfrm>
          <a:prstGeom prst="rect">
            <a:avLst/>
          </a:prstGeom>
        </p:spPr>
        <p:txBody>
          <a:bodyPr vert="horz" wrap="square" lIns="0" tIns="952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4500" dirty="0"/>
              <a:t>Is it 6:05 yet?</a:t>
            </a:r>
            <a:endParaRPr sz="4500" dirty="0"/>
          </a:p>
        </p:txBody>
      </p:sp>
    </p:spTree>
    <p:extLst>
      <p:ext uri="{BB962C8B-B14F-4D97-AF65-F5344CB8AC3E}">
        <p14:creationId xmlns:p14="http://schemas.microsoft.com/office/powerpoint/2010/main" val="4229915814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6" y="838200"/>
            <a:ext cx="8473499" cy="507831"/>
          </a:xfrm>
        </p:spPr>
        <p:txBody>
          <a:bodyPr/>
          <a:lstStyle/>
          <a:p>
            <a:r>
              <a:rPr lang="en-US" dirty="0"/>
              <a:t>Discussion 09 (6:05 – 6:15)</a:t>
            </a:r>
            <a:br>
              <a:rPr lang="en-US" dirty="0"/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Topic ?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447800"/>
            <a:ext cx="8473499" cy="4981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the following tables</a:t>
            </a:r>
          </a:p>
          <a:p>
            <a:pPr marL="0" indent="0"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74</a:t>
            </a:fld>
            <a:endParaRPr lang="en-US" spc="-19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1F3D95-8FBB-5ED3-4453-DEE616DE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465" y="1524000"/>
            <a:ext cx="2583935" cy="5231618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 txBox="1">
            <a:spLocks/>
          </p:cNvSpPr>
          <p:nvPr/>
        </p:nvSpPr>
        <p:spPr bwMode="auto">
          <a:xfrm>
            <a:off x="228601" y="2209800"/>
            <a:ext cx="5943600" cy="437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Write SQL commands to return :</a:t>
            </a:r>
          </a:p>
          <a:p>
            <a:pPr marL="514350" indent="-225425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all students and the courses they are enrolled in.</a:t>
            </a:r>
          </a:p>
          <a:p>
            <a:pPr marL="514350" indent="-225425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the total number of students enrolled in each course.</a:t>
            </a:r>
          </a:p>
          <a:p>
            <a:pPr marL="514350" indent="-225425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all students and their course enrollment status, even if they haven’t enrolled in any courses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013718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6" y="838200"/>
            <a:ext cx="8473499" cy="507831"/>
          </a:xfrm>
        </p:spPr>
        <p:txBody>
          <a:bodyPr/>
          <a:lstStyle/>
          <a:p>
            <a:r>
              <a:rPr lang="en-US" dirty="0"/>
              <a:t>Discussion 09 (6:05 – 6:15)</a:t>
            </a:r>
            <a:br>
              <a:rPr lang="en-US" dirty="0"/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Topic ?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447800"/>
            <a:ext cx="8473499" cy="4981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the following tables</a:t>
            </a:r>
          </a:p>
          <a:p>
            <a:pPr marL="0" indent="0"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75</a:t>
            </a:fld>
            <a:endParaRPr lang="en-US" spc="-19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1F3D95-8FBB-5ED3-4453-DEE616DE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465" y="1524000"/>
            <a:ext cx="2583935" cy="5231618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 txBox="1">
            <a:spLocks/>
          </p:cNvSpPr>
          <p:nvPr/>
        </p:nvSpPr>
        <p:spPr bwMode="auto">
          <a:xfrm>
            <a:off x="228601" y="2209800"/>
            <a:ext cx="5943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Write SQL commands to return :</a:t>
            </a:r>
          </a:p>
          <a:p>
            <a:pPr marL="288925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all students and the courses they are enrolled in.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195DC-945F-3F78-F330-4AB164B5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56" y="3886199"/>
            <a:ext cx="3578344" cy="2749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D96F2-CAE3-04AE-890C-308A20DD3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205" y="3833833"/>
            <a:ext cx="2190863" cy="80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40508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6" y="838200"/>
            <a:ext cx="8473499" cy="507831"/>
          </a:xfrm>
        </p:spPr>
        <p:txBody>
          <a:bodyPr/>
          <a:lstStyle/>
          <a:p>
            <a:r>
              <a:rPr lang="en-US" dirty="0"/>
              <a:t>Discussion 09 (6:05 – 6:15)</a:t>
            </a:r>
            <a:br>
              <a:rPr lang="en-US" dirty="0"/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Topic ?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447800"/>
            <a:ext cx="8473499" cy="4981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the following tables</a:t>
            </a:r>
          </a:p>
          <a:p>
            <a:pPr marL="0" indent="0"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76</a:t>
            </a:fld>
            <a:endParaRPr lang="en-US" spc="-19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1F3D95-8FBB-5ED3-4453-DEE616DE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465" y="1524000"/>
            <a:ext cx="2583935" cy="5231618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 txBox="1">
            <a:spLocks/>
          </p:cNvSpPr>
          <p:nvPr/>
        </p:nvSpPr>
        <p:spPr bwMode="auto">
          <a:xfrm>
            <a:off x="228601" y="2209800"/>
            <a:ext cx="5943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Write SQL commands to return :</a:t>
            </a:r>
          </a:p>
          <a:p>
            <a:pPr marL="288925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the total number of students enrolled in each course.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763D88-73B6-057F-35EC-C293EF96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6" y="4240425"/>
            <a:ext cx="4786466" cy="23065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5C9377-5FBF-80A4-9004-70F5A6763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156" y="3505180"/>
            <a:ext cx="1655043" cy="108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96099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6" y="838200"/>
            <a:ext cx="8473499" cy="507831"/>
          </a:xfrm>
        </p:spPr>
        <p:txBody>
          <a:bodyPr/>
          <a:lstStyle/>
          <a:p>
            <a:r>
              <a:rPr lang="en-US" dirty="0"/>
              <a:t>Discussion 09 (6:05 – 6:15)</a:t>
            </a:r>
            <a:br>
              <a:rPr lang="en-US" dirty="0"/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Topic ?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447800"/>
            <a:ext cx="8473499" cy="4981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the following tables</a:t>
            </a:r>
          </a:p>
          <a:p>
            <a:pPr marL="0" indent="0"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77</a:t>
            </a:fld>
            <a:endParaRPr lang="en-US" spc="-19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1F3D95-8FBB-5ED3-4453-DEE616DE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465" y="1524000"/>
            <a:ext cx="2583935" cy="5231618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 txBox="1">
            <a:spLocks/>
          </p:cNvSpPr>
          <p:nvPr/>
        </p:nvSpPr>
        <p:spPr bwMode="auto">
          <a:xfrm>
            <a:off x="228601" y="2209800"/>
            <a:ext cx="5943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Write SQL commands to return :</a:t>
            </a:r>
          </a:p>
          <a:p>
            <a:pPr marL="288925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kern="0" dirty="0">
                <a:solidFill>
                  <a:srgbClr val="273540"/>
                </a:solidFill>
                <a:latin typeface="LatoWeb"/>
              </a:rPr>
              <a:t>all students and their course enrollment status, even if they haven’t enrolled in any courses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4D82E-5C9E-552A-4A23-291564900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734622"/>
            <a:ext cx="3809999" cy="2942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E37E78-4600-9690-D182-20CC0AFF4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620" y="3581400"/>
            <a:ext cx="2096780" cy="174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38321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859819"/>
            <a:ext cx="8473499" cy="507831"/>
          </a:xfrm>
        </p:spPr>
        <p:txBody>
          <a:bodyPr/>
          <a:lstStyle/>
          <a:p>
            <a:r>
              <a:rPr lang="en-US" dirty="0"/>
              <a:t>Review Deliverables (6:15 – 6:20)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752600"/>
            <a:ext cx="8473499" cy="4800600"/>
          </a:xfrm>
        </p:spPr>
        <p:txBody>
          <a:bodyPr>
            <a:normAutofit fontScale="55000" lnSpcReduction="20000"/>
          </a:bodyPr>
          <a:lstStyle/>
          <a:p>
            <a:pPr marL="728663"/>
            <a:r>
              <a:rPr lang="en-US" sz="4400" dirty="0"/>
              <a:t>Discussion 08:</a:t>
            </a:r>
          </a:p>
          <a:p>
            <a:pPr marL="1128713" lvl="1"/>
            <a:r>
              <a:rPr lang="en-US" sz="4200" dirty="0"/>
              <a:t>Should have been submitted by 4:30 PM.</a:t>
            </a:r>
          </a:p>
          <a:p>
            <a:pPr marL="728663"/>
            <a:r>
              <a:rPr lang="en-US" sz="4400" dirty="0"/>
              <a:t>Discussion 09:</a:t>
            </a:r>
          </a:p>
          <a:p>
            <a:pPr marL="1128713" lvl="1"/>
            <a:r>
              <a:rPr lang="en-US" sz="4200" dirty="0"/>
              <a:t>Should have been submitted by 6:20 PM.</a:t>
            </a:r>
          </a:p>
          <a:p>
            <a:pPr marL="728663"/>
            <a:r>
              <a:rPr lang="en-US" sz="4400" dirty="0"/>
              <a:t>Homework 03:</a:t>
            </a:r>
          </a:p>
          <a:p>
            <a:pPr marL="1128713" lvl="1"/>
            <a:r>
              <a:rPr lang="en-US" sz="4200" dirty="0"/>
              <a:t>Due By: Friday February 13, 2026 11:59 PM</a:t>
            </a:r>
          </a:p>
          <a:p>
            <a:pPr marL="1128713" lvl="1"/>
            <a:r>
              <a:rPr lang="en-US" sz="4200" dirty="0"/>
              <a:t>Available Until: Sunday February 13, 2026 11:59 PM</a:t>
            </a:r>
          </a:p>
          <a:p>
            <a:pPr marL="728663"/>
            <a:r>
              <a:rPr lang="en-US" sz="4400" dirty="0"/>
              <a:t>Homework 04:</a:t>
            </a:r>
          </a:p>
          <a:p>
            <a:pPr marL="1128713" lvl="1"/>
            <a:r>
              <a:rPr lang="en-US" sz="4200" dirty="0"/>
              <a:t>Due By: Friday February 13, 2026 11:59 PM</a:t>
            </a:r>
          </a:p>
          <a:p>
            <a:pPr marL="1128713" lvl="1"/>
            <a:r>
              <a:rPr lang="en-US" sz="4200" dirty="0"/>
              <a:t>Available Until: Sunday February 13, 2026 11:59 PM</a:t>
            </a:r>
          </a:p>
          <a:p>
            <a:pPr marL="728663"/>
            <a:r>
              <a:rPr lang="en-US" sz="4400" dirty="0"/>
              <a:t>Lab 05:</a:t>
            </a:r>
            <a:endParaRPr lang="en-US" sz="1800" dirty="0"/>
          </a:p>
          <a:p>
            <a:pPr marL="1128713" lvl="1"/>
            <a:r>
              <a:rPr lang="en-US" sz="4200" dirty="0"/>
              <a:t>Due By: Friday February 13, 2026 11:59 PM</a:t>
            </a:r>
          </a:p>
          <a:p>
            <a:pPr marL="1128713" lvl="1"/>
            <a:r>
              <a:rPr lang="en-US" sz="4200" dirty="0"/>
              <a:t>Available Until: Sunday February 13, 2026 11:59 PM</a:t>
            </a:r>
          </a:p>
          <a:p>
            <a:pPr marL="728663"/>
            <a:endParaRPr lang="en-US" sz="4400" dirty="0"/>
          </a:p>
          <a:p>
            <a:pPr marL="1128713" lvl="1"/>
            <a:endParaRPr lang="en-US" sz="4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78</a:t>
            </a:fld>
            <a:endParaRPr lang="en-US" spc="-19" dirty="0"/>
          </a:p>
        </p:txBody>
      </p:sp>
    </p:spTree>
    <p:extLst>
      <p:ext uri="{BB962C8B-B14F-4D97-AF65-F5344CB8AC3E}">
        <p14:creationId xmlns:p14="http://schemas.microsoft.com/office/powerpoint/2010/main" val="2157091541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D827DC83-038D-5B22-DAD4-BB01523C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Recursive Queries in SQL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FF4E09F8-4AC3-9D51-8E71-6D5C0F905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 example of a </a:t>
            </a:r>
            <a:r>
              <a:rPr lang="en-US" altLang="en-US" b="1"/>
              <a:t>recursive relationship</a:t>
            </a:r>
            <a:r>
              <a:rPr lang="en-US" altLang="en-US"/>
              <a:t> between tuples of the same type is the relationship between an employee and a supervisor. </a:t>
            </a:r>
          </a:p>
          <a:p>
            <a:r>
              <a:rPr lang="en-US" altLang="en-US"/>
              <a:t>This relationship is described by the foreign key Super_ssn of the EMPLOYEE relation </a:t>
            </a:r>
          </a:p>
          <a:p>
            <a:r>
              <a:rPr lang="en-US" altLang="en-US" sz="2000"/>
              <a:t>An example of a </a:t>
            </a:r>
            <a:r>
              <a:rPr lang="en-US" altLang="en-US" sz="2000" b="1"/>
              <a:t>recursive operation </a:t>
            </a:r>
            <a:r>
              <a:rPr lang="en-US" altLang="en-US" sz="2000"/>
              <a:t>is to retrieve all supervisees of a supervisory employee </a:t>
            </a:r>
            <a:r>
              <a:rPr lang="en-US" altLang="en-US" sz="2000" i="1"/>
              <a:t>e</a:t>
            </a:r>
            <a:r>
              <a:rPr lang="en-US" altLang="en-US" sz="2000"/>
              <a:t> at all levels—that is, all employees </a:t>
            </a:r>
            <a:r>
              <a:rPr lang="en-US" altLang="en-US" sz="2000" i="1"/>
              <a:t>e</a:t>
            </a:r>
            <a:r>
              <a:rPr lang="en-US" altLang="en-US" sz="2000">
                <a:sym typeface="Symbol" panose="05050102010706020507" pitchFamily="18" charset="2"/>
              </a:rPr>
              <a:t></a:t>
            </a:r>
            <a:r>
              <a:rPr lang="en-US" altLang="en-US" sz="2000"/>
              <a:t> directly supervised by </a:t>
            </a:r>
            <a:r>
              <a:rPr lang="en-US" altLang="en-US" sz="2000" i="1"/>
              <a:t>e</a:t>
            </a:r>
            <a:r>
              <a:rPr lang="en-US" altLang="en-US" sz="2000"/>
              <a:t>, all employees </a:t>
            </a:r>
            <a:r>
              <a:rPr lang="en-US" altLang="en-US" sz="2000" i="1"/>
              <a:t>e</a:t>
            </a:r>
            <a:r>
              <a:rPr lang="en-US" altLang="en-US" sz="2000">
                <a:sym typeface="Symbol" panose="05050102010706020507" pitchFamily="18" charset="2"/>
              </a:rPr>
              <a:t></a:t>
            </a:r>
            <a:r>
              <a:rPr lang="en-US" altLang="en-US" sz="2000"/>
              <a:t>’ directly supervised by each employee </a:t>
            </a:r>
            <a:r>
              <a:rPr lang="en-US" altLang="en-US" sz="2000" i="1"/>
              <a:t>e</a:t>
            </a:r>
            <a:r>
              <a:rPr lang="en-US" altLang="en-US" sz="2000">
                <a:sym typeface="Symbol" panose="05050102010706020507" pitchFamily="18" charset="2"/>
              </a:rPr>
              <a:t></a:t>
            </a:r>
            <a:r>
              <a:rPr lang="en-US" altLang="en-US" sz="2000"/>
              <a:t>, all employees </a:t>
            </a:r>
            <a:r>
              <a:rPr lang="en-US" altLang="en-US" sz="2000" i="1"/>
              <a:t>e</a:t>
            </a:r>
            <a:r>
              <a:rPr lang="en-US" altLang="en-US" sz="2000">
                <a:sym typeface="Symbol" panose="05050102010706020507" pitchFamily="18" charset="2"/>
              </a:rPr>
              <a:t></a:t>
            </a:r>
            <a:r>
              <a:rPr lang="en-US" altLang="en-US" sz="2000"/>
              <a:t> directly supervised by each employee </a:t>
            </a:r>
            <a:r>
              <a:rPr lang="en-US" altLang="en-US" sz="2000" i="1"/>
              <a:t>e</a:t>
            </a:r>
            <a:r>
              <a:rPr lang="en-US" altLang="en-US" sz="2000">
                <a:sym typeface="Symbol" panose="05050102010706020507" pitchFamily="18" charset="2"/>
              </a:rPr>
              <a:t></a:t>
            </a:r>
            <a:r>
              <a:rPr lang="en-US" altLang="en-US" sz="2000"/>
              <a:t>, and so on. Thus the CEO would have each employee in the company as a supervisee in the resulting table. Example shows such table SUP_EMP with 2 columns (Supervisor,Supervisee(any level)):</a:t>
            </a: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2DBC8DC4-4C72-41C1-4A7A-6E35CA0B1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C0653127-0FB8-4655-BD2A-3BF7FD6F9ED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DEDF3E20-514A-8A32-E67A-8D29A964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EXAMPLE of RECURSIVE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E35B-7D16-A031-499D-44EBA251A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1800" b="1" dirty="0">
                <a:solidFill>
                  <a:schemeClr val="bg2"/>
                </a:solidFill>
              </a:rPr>
              <a:t>Q29: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b="1" dirty="0">
                <a:solidFill>
                  <a:schemeClr val="bg2"/>
                </a:solidFill>
              </a:rPr>
              <a:t>WITH RECURSIVE </a:t>
            </a:r>
            <a:r>
              <a:rPr lang="en-US" sz="1800" dirty="0">
                <a:solidFill>
                  <a:srgbClr val="FF0000"/>
                </a:solidFill>
              </a:rPr>
              <a:t>SUP_EMP</a:t>
            </a:r>
            <a:r>
              <a:rPr lang="en-US" sz="1800" dirty="0">
                <a:solidFill>
                  <a:schemeClr val="bg2"/>
                </a:solidFill>
              </a:rPr>
              <a:t> (</a:t>
            </a:r>
            <a:r>
              <a:rPr lang="en-US" sz="1800" dirty="0" err="1">
                <a:solidFill>
                  <a:schemeClr val="bg2"/>
                </a:solidFill>
              </a:rPr>
              <a:t>SupSsn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EmpSsn</a:t>
            </a:r>
            <a:r>
              <a:rPr lang="en-US" sz="1800" dirty="0">
                <a:solidFill>
                  <a:schemeClr val="bg2"/>
                </a:solidFill>
              </a:rPr>
              <a:t>) </a:t>
            </a:r>
            <a:r>
              <a:rPr lang="en-US" sz="1800" b="1" dirty="0">
                <a:solidFill>
                  <a:schemeClr val="bg2"/>
                </a:solidFill>
              </a:rPr>
              <a:t>AS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</a:t>
            </a:r>
            <a:r>
              <a:rPr lang="en-US" sz="1800" b="1" dirty="0">
                <a:solidFill>
                  <a:schemeClr val="bg2"/>
                </a:solidFill>
              </a:rPr>
              <a:t>SELECT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dirty="0" err="1">
                <a:solidFill>
                  <a:schemeClr val="bg2"/>
                </a:solidFill>
              </a:rPr>
              <a:t>SupervisorSsn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Ssn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 </a:t>
            </a:r>
            <a:r>
              <a:rPr lang="en-US" sz="1800" b="1" dirty="0">
                <a:solidFill>
                  <a:schemeClr val="bg2"/>
                </a:solidFill>
              </a:rPr>
              <a:t>FROM</a:t>
            </a:r>
            <a:r>
              <a:rPr lang="en-US" sz="1800" dirty="0">
                <a:solidFill>
                  <a:schemeClr val="bg2"/>
                </a:solidFill>
              </a:rPr>
              <a:t>	EMPLOYEE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		</a:t>
            </a:r>
            <a:r>
              <a:rPr lang="en-US" sz="1800" b="1" dirty="0">
                <a:solidFill>
                  <a:schemeClr val="bg2"/>
                </a:solidFill>
              </a:rPr>
              <a:t>UNION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 </a:t>
            </a:r>
            <a:r>
              <a:rPr lang="en-US" sz="1800" b="1" dirty="0">
                <a:solidFill>
                  <a:schemeClr val="bg2"/>
                </a:solidFill>
              </a:rPr>
              <a:t>SELECT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dirty="0" err="1">
                <a:solidFill>
                  <a:schemeClr val="bg2"/>
                </a:solidFill>
              </a:rPr>
              <a:t>E.Ssn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S.SupSsn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 </a:t>
            </a:r>
            <a:r>
              <a:rPr lang="en-US" sz="1800" b="1" dirty="0">
                <a:solidFill>
                  <a:schemeClr val="bg2"/>
                </a:solidFill>
              </a:rPr>
              <a:t>FROM</a:t>
            </a:r>
            <a:r>
              <a:rPr lang="en-US" sz="1800" dirty="0">
                <a:solidFill>
                  <a:schemeClr val="bg2"/>
                </a:solidFill>
              </a:rPr>
              <a:t>	EMPLOYEE </a:t>
            </a:r>
            <a:r>
              <a:rPr lang="en-US" sz="1800" b="1" dirty="0">
                <a:solidFill>
                  <a:schemeClr val="bg2"/>
                </a:solidFill>
              </a:rPr>
              <a:t>AS </a:t>
            </a:r>
            <a:r>
              <a:rPr lang="en-US" sz="1800" dirty="0">
                <a:solidFill>
                  <a:schemeClr val="bg2"/>
                </a:solidFill>
              </a:rPr>
              <a:t>E, </a:t>
            </a:r>
            <a:r>
              <a:rPr lang="en-US" sz="1800" dirty="0">
                <a:solidFill>
                  <a:srgbClr val="FF0000"/>
                </a:solidFill>
              </a:rPr>
              <a:t>SUP_EMP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b="1" dirty="0">
                <a:solidFill>
                  <a:schemeClr val="bg2"/>
                </a:solidFill>
              </a:rPr>
              <a:t>AS </a:t>
            </a:r>
            <a:r>
              <a:rPr lang="en-US" sz="1800" dirty="0">
                <a:solidFill>
                  <a:schemeClr val="bg2"/>
                </a:solidFill>
              </a:rPr>
              <a:t>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 </a:t>
            </a:r>
            <a:r>
              <a:rPr lang="en-US" sz="1800" b="1" dirty="0">
                <a:solidFill>
                  <a:schemeClr val="bg2"/>
                </a:solidFill>
              </a:rPr>
              <a:t>WHERE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dirty="0" err="1">
                <a:solidFill>
                  <a:schemeClr val="bg2"/>
                </a:solidFill>
              </a:rPr>
              <a:t>E.SupervisorSsn</a:t>
            </a:r>
            <a:r>
              <a:rPr lang="en-US" sz="1800" dirty="0">
                <a:solidFill>
                  <a:schemeClr val="bg2"/>
                </a:solidFill>
              </a:rPr>
              <a:t> = </a:t>
            </a:r>
            <a:r>
              <a:rPr lang="en-US" sz="1800" dirty="0" err="1">
                <a:solidFill>
                  <a:schemeClr val="bg2"/>
                </a:solidFill>
              </a:rPr>
              <a:t>S.EmpSsn</a:t>
            </a:r>
            <a:r>
              <a:rPr lang="en-US" sz="1800" dirty="0">
                <a:solidFill>
                  <a:schemeClr val="bg2"/>
                </a:solidFill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 </a:t>
            </a:r>
            <a:r>
              <a:rPr lang="en-US" sz="1800" b="1" dirty="0">
                <a:solidFill>
                  <a:schemeClr val="bg2"/>
                </a:solidFill>
              </a:rPr>
              <a:t>SELECT</a:t>
            </a:r>
            <a:r>
              <a:rPr lang="en-US" sz="1800" dirty="0">
                <a:solidFill>
                  <a:schemeClr val="bg2"/>
                </a:solidFill>
              </a:rPr>
              <a:t>		*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bg2"/>
                </a:solidFill>
              </a:rPr>
              <a:t>	           </a:t>
            </a:r>
            <a:r>
              <a:rPr lang="en-US" sz="1800" b="1" dirty="0">
                <a:solidFill>
                  <a:schemeClr val="bg2"/>
                </a:solidFill>
              </a:rPr>
              <a:t>FROM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dirty="0">
                <a:solidFill>
                  <a:srgbClr val="FF0000"/>
                </a:solidFill>
              </a:rPr>
              <a:t>SUP_EMP</a:t>
            </a:r>
            <a:r>
              <a:rPr lang="en-US" sz="1800" dirty="0">
                <a:solidFill>
                  <a:schemeClr val="bg2"/>
                </a:solidFill>
              </a:rPr>
              <a:t>;</a:t>
            </a:r>
          </a:p>
          <a:p>
            <a:pPr>
              <a:defRPr/>
            </a:pPr>
            <a:r>
              <a:rPr lang="en-US" sz="2400" dirty="0"/>
              <a:t>The above query starts with an empty SUP_EMP and successively builds SUP_EMP table by computing immediate supervisees first, then second level supervisees, etc. until a </a:t>
            </a:r>
            <a:r>
              <a:rPr lang="en-US" sz="2400" b="1" dirty="0"/>
              <a:t>fixed point </a:t>
            </a:r>
            <a:r>
              <a:rPr lang="en-US" sz="2400" dirty="0"/>
              <a:t>is reached and no more supervisees can be added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7CFDA643-5EA1-3820-40EF-9DC5DBB6C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A95C9860-D9A5-4160-B4DE-8DF895BD303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37BF312-1A49-C03F-54BB-6314F74D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EXPANDED Block Structure of SQL Queries</a:t>
            </a:r>
          </a:p>
        </p:txBody>
      </p:sp>
      <p:pic>
        <p:nvPicPr>
          <p:cNvPr id="50179" name="Picture 2">
            <a:extLst>
              <a:ext uri="{FF2B5EF4-FFF2-40B4-BE49-F238E27FC236}">
                <a16:creationId xmlns:a16="http://schemas.microsoft.com/office/drawing/2014/main" id="{A4A203F3-7F24-240C-26D1-D1774A0A6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8400"/>
            <a:ext cx="61007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77087DF8-DB55-2176-B10F-28662FC9D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7- 40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8BA2DCC9-DC82-4678-D5D2-E6C63A12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8013" cy="1143000"/>
          </a:xfrm>
        </p:spPr>
        <p:txBody>
          <a:bodyPr/>
          <a:lstStyle/>
          <a:p>
            <a:r>
              <a:rPr lang="en-US" altLang="en-US"/>
              <a:t>Specifying Constraints as Assertions and Actions as Triggers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FECEF5EE-2443-17B6-3A6A-1164FEA93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8013" cy="4224338"/>
          </a:xfrm>
        </p:spPr>
        <p:txBody>
          <a:bodyPr/>
          <a:lstStyle/>
          <a:p>
            <a:r>
              <a:rPr lang="en-US" altLang="en-US"/>
              <a:t>Semantic Constraints: The following are beyond the scope of the EER and relational model 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CREATE ASSERTION</a:t>
            </a:r>
          </a:p>
          <a:p>
            <a:pPr lvl="1"/>
            <a:r>
              <a:rPr lang="en-US" altLang="en-US"/>
              <a:t>Specify additional types of constraints outside scope of built-in relational model constraints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CREATE TRIGGER</a:t>
            </a:r>
          </a:p>
          <a:p>
            <a:pPr lvl="1"/>
            <a:r>
              <a:rPr lang="en-US" altLang="en-US"/>
              <a:t>Specify automatic actions that database system will perform when certain events and conditions occur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659809DF-4785-C51F-96E6-5756EFDF7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F110D6A-92D8-DED0-9EC2-DC1CF3CE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General Constraints as Assertions in SQL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A8C52232-A31D-E771-32B6-4C7ABFD1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CREATE ASSERTION </a:t>
            </a:r>
          </a:p>
          <a:p>
            <a:pPr lvl="1"/>
            <a:r>
              <a:rPr lang="en-US" altLang="en-US"/>
              <a:t>Specify a query that selects any tuples that violate the desired condition</a:t>
            </a:r>
          </a:p>
          <a:p>
            <a:pPr lvl="1"/>
            <a:r>
              <a:rPr lang="en-US" altLang="en-US"/>
              <a:t>Use only in cases where it goes beyond a simple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altLang="en-US"/>
              <a:t> which applies to individual attributes and domains</a:t>
            </a:r>
          </a:p>
        </p:txBody>
      </p:sp>
      <p:pic>
        <p:nvPicPr>
          <p:cNvPr id="52228" name="Picture 2">
            <a:extLst>
              <a:ext uri="{FF2B5EF4-FFF2-40B4-BE49-F238E27FC236}">
                <a16:creationId xmlns:a16="http://schemas.microsoft.com/office/drawing/2014/main" id="{DAFEF230-F9EC-657B-BC1A-561F156A4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91000"/>
            <a:ext cx="63373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Slide Number Placeholder 3">
            <a:extLst>
              <a:ext uri="{FF2B5EF4-FFF2-40B4-BE49-F238E27FC236}">
                <a16:creationId xmlns:a16="http://schemas.microsoft.com/office/drawing/2014/main" id="{0A92492B-9B96-E459-5F2B-CBABC274C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9600058C-FA1A-4832-86EA-D456DA8B24E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0BCB1BFB-CB3E-2343-E61B-7831CAD6C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to Triggers in SQL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5AEBEC67-8184-F229-F653-B6E36A079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altLang="en-US"/>
              <a:t>statement</a:t>
            </a:r>
          </a:p>
          <a:p>
            <a:pPr lvl="1"/>
            <a:r>
              <a:rPr lang="en-US" altLang="en-US"/>
              <a:t>Used to monitor the database</a:t>
            </a:r>
          </a:p>
          <a:p>
            <a:r>
              <a:rPr lang="en-US" altLang="en-US"/>
              <a:t>Typical trigger has three components which make it a rule for an “active database “ (more on active databases in section 26.1) :</a:t>
            </a:r>
          </a:p>
          <a:p>
            <a:pPr lvl="1"/>
            <a:r>
              <a:rPr lang="en-US" altLang="en-US" b="1"/>
              <a:t>Event(s)</a:t>
            </a:r>
          </a:p>
          <a:p>
            <a:pPr lvl="1"/>
            <a:r>
              <a:rPr lang="en-US" altLang="en-US" b="1"/>
              <a:t>Condition</a:t>
            </a:r>
          </a:p>
          <a:p>
            <a:pPr lvl="1"/>
            <a:r>
              <a:rPr lang="en-US" altLang="en-US" b="1"/>
              <a:t>Action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0B8B4EF1-F7CC-2365-FB11-9378E2539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</a:t>
            </a:r>
            <a:r>
              <a:rPr lang="en-CA" altLang="en-US" sz="1400">
                <a:solidFill>
                  <a:srgbClr val="990033"/>
                </a:solidFill>
              </a:rPr>
              <a:t>3</a:t>
            </a:r>
            <a:endParaRPr lang="en-US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B9ABDB35-A05A-4915-D4C7-17AC0619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OF TRIGGERS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580BD704-3C72-B887-1DC8-CF1CC7532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 EXAMPLE with standard Syntax.(Note : other SQL implementations like PostgreSQL use a different syntax.)</a:t>
            </a:r>
          </a:p>
          <a:p>
            <a:endParaRPr lang="en-US" altLang="en-US"/>
          </a:p>
        </p:txBody>
      </p:sp>
      <p:sp>
        <p:nvSpPr>
          <p:cNvPr id="54276" name="TextBox 3">
            <a:extLst>
              <a:ext uri="{FF2B5EF4-FFF2-40B4-BE49-F238E27FC236}">
                <a16:creationId xmlns:a16="http://schemas.microsoft.com/office/drawing/2014/main" id="{DDCD162B-64C7-0CD1-45F5-138350FE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55988"/>
            <a:ext cx="74676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R5: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CREATE TRIGGER 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SALARY_VIOLATION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BEFORE INSERT OR UPDATE 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OF Salary, Supervisor_ssn </a:t>
            </a: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ON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FOR EACH ROW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WHEN (NEW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.SALARY &gt; </a:t>
            </a: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(</a:t>
            </a: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SELECT Salary FROM EMPLOYEE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cs typeface="Arial" panose="020B0604020202020204" pitchFamily="34" charset="0"/>
              </a:rPr>
              <a:t>                                           WHERE Ssn = NEW. Supervisor_Ssn))  INFORM_SUPERVISOR (NEW.Supervisor.Ssn, New.Ssn)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                </a:t>
            </a:r>
          </a:p>
        </p:txBody>
      </p:sp>
      <p:sp>
        <p:nvSpPr>
          <p:cNvPr id="54277" name="Slide Number Placeholder 3">
            <a:extLst>
              <a:ext uri="{FF2B5EF4-FFF2-40B4-BE49-F238E27FC236}">
                <a16:creationId xmlns:a16="http://schemas.microsoft.com/office/drawing/2014/main" id="{5BD13535-D08D-B87D-6EEE-5356F788F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FA8B33D4-9988-9CEF-1B09-0B21DAE6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Views (Virtual Tables) in SQL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DD2A2775-13D3-C47F-5E1B-83EEE638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Concept of a view in SQL</a:t>
            </a:r>
          </a:p>
          <a:p>
            <a:pPr lvl="1">
              <a:defRPr/>
            </a:pPr>
            <a:r>
              <a:rPr lang="en-US" altLang="en-US" dirty="0"/>
              <a:t>Single table derived from other tables called the </a:t>
            </a:r>
            <a:r>
              <a:rPr lang="en-US" altLang="en-US" b="1" dirty="0"/>
              <a:t>defining tables</a:t>
            </a:r>
          </a:p>
          <a:p>
            <a:pPr lvl="1">
              <a:defRPr/>
            </a:pPr>
            <a:r>
              <a:rPr lang="en-US" altLang="en-US" dirty="0"/>
              <a:t>Considered to be a virtual table that is not necessarily populated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7FBD4D7C-AA23-EB0E-5925-79086B80A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5C5BD694-236D-4D59-8556-5E226F9F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Specification of Views in SQL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67306A61-92BD-731B-42C1-45219B32A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CREATE VIEW</a:t>
            </a:r>
            <a:r>
              <a:rPr lang="en-US" altLang="en-US"/>
              <a:t> command</a:t>
            </a:r>
          </a:p>
          <a:p>
            <a:pPr lvl="1"/>
            <a:r>
              <a:rPr lang="en-US" altLang="en-US" sz="2400"/>
              <a:t>Give table name, list of attribute names, and a query to specify the contents of the view</a:t>
            </a:r>
          </a:p>
          <a:p>
            <a:pPr lvl="1"/>
            <a:r>
              <a:rPr lang="en-US" altLang="en-US" sz="2400"/>
              <a:t>In V1, attributes retain the names from base tables. In V2, attributes are assigned names</a:t>
            </a:r>
          </a:p>
          <a:p>
            <a:pPr lvl="1"/>
            <a:endParaRPr lang="en-US" altLang="en-US" sz="2400"/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362A599B-BF65-4C8A-AF4B-F44F2213F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3733800"/>
            <a:ext cx="65722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Slide Number Placeholder 3">
            <a:extLst>
              <a:ext uri="{FF2B5EF4-FFF2-40B4-BE49-F238E27FC236}">
                <a16:creationId xmlns:a16="http://schemas.microsoft.com/office/drawing/2014/main" id="{472EBFF7-C26D-26B7-75CA-7D692DEC5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4">
            <a:extLst>
              <a:ext uri="{FF2B5EF4-FFF2-40B4-BE49-F238E27FC236}">
                <a16:creationId xmlns:a16="http://schemas.microsoft.com/office/drawing/2014/main" id="{1245EA96-A7D6-ED6B-02E0-54B2EC70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Specification of Views in SQL (cont’d.)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EF39BD2-7EF2-87BC-E6C1-E032F7875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Once a View is defined, SQL queries can use the View relation in the FROM clause</a:t>
            </a:r>
          </a:p>
          <a:p>
            <a:r>
              <a:rPr lang="en-US" altLang="en-US"/>
              <a:t>View is always up-to-date</a:t>
            </a:r>
          </a:p>
          <a:p>
            <a:pPr lvl="1"/>
            <a:r>
              <a:rPr lang="en-US" altLang="en-US"/>
              <a:t>Responsibility of the DBMS and not the user 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DROP VIEW </a:t>
            </a:r>
            <a:r>
              <a:rPr lang="en-US" altLang="en-US"/>
              <a:t>command </a:t>
            </a:r>
          </a:p>
          <a:p>
            <a:pPr lvl="1"/>
            <a:r>
              <a:rPr lang="en-US" altLang="en-US"/>
              <a:t>Dispose of a view</a:t>
            </a: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880B80C6-64A2-4A09-BE8F-7C9839E73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7- 47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079C97E2-E431-BC10-A8A5-C0EB07FA6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 Implementation, View Update, and Inline Views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B7C5865B-4F3F-2E71-1650-D754F3AD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Complex problem of efficiently implementing a view for querying</a:t>
            </a:r>
          </a:p>
          <a:p>
            <a:r>
              <a:rPr lang="en-US" altLang="en-US" b="1"/>
              <a:t>Strategy1: Query modification	</a:t>
            </a:r>
            <a:r>
              <a:rPr lang="en-US" altLang="en-US"/>
              <a:t>approach</a:t>
            </a:r>
          </a:p>
          <a:p>
            <a:pPr lvl="1"/>
            <a:r>
              <a:rPr lang="en-US" altLang="en-US"/>
              <a:t>Compute the view as and when needed. Do not store permanently</a:t>
            </a:r>
          </a:p>
          <a:p>
            <a:pPr lvl="1"/>
            <a:r>
              <a:rPr lang="en-US" altLang="en-US"/>
              <a:t>Modify view query into a query on underlying base tables</a:t>
            </a:r>
          </a:p>
          <a:p>
            <a:pPr lvl="1"/>
            <a:r>
              <a:rPr lang="en-US" altLang="en-US"/>
              <a:t>Disadvantage: inefficient for views defined via complex queries that are time-consuming to execute</a:t>
            </a: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9AA52BD1-979C-1749-E9A4-AC32D651C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4">
            <a:extLst>
              <a:ext uri="{FF2B5EF4-FFF2-40B4-BE49-F238E27FC236}">
                <a16:creationId xmlns:a16="http://schemas.microsoft.com/office/drawing/2014/main" id="{E65AA673-02C1-1209-9013-F79CD68B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 Materialization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53984510-D9FB-963C-1AF4-6AD28AD3B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00200"/>
            <a:ext cx="8523287" cy="4572000"/>
          </a:xfrm>
        </p:spPr>
        <p:txBody>
          <a:bodyPr/>
          <a:lstStyle/>
          <a:p>
            <a:r>
              <a:rPr lang="en-US" altLang="en-US" b="1"/>
              <a:t>Strategy 2: View materialization </a:t>
            </a:r>
          </a:p>
          <a:p>
            <a:pPr lvl="1"/>
            <a:r>
              <a:rPr lang="en-US" altLang="en-US"/>
              <a:t>Physically create a temporary view table when the view is first queried </a:t>
            </a:r>
          </a:p>
          <a:p>
            <a:pPr lvl="1"/>
            <a:r>
              <a:rPr lang="en-US" altLang="en-US"/>
              <a:t>Keep that table on the assumption that other queries on the view will follow</a:t>
            </a:r>
          </a:p>
          <a:p>
            <a:pPr lvl="1"/>
            <a:r>
              <a:rPr lang="en-US" altLang="en-US"/>
              <a:t>Requires efficient strategy for automatically updating the view table when the base tables are updated</a:t>
            </a:r>
          </a:p>
          <a:p>
            <a:r>
              <a:rPr lang="en-US" altLang="en-US" b="1"/>
              <a:t>Incremental update strategy for materialized views</a:t>
            </a:r>
          </a:p>
          <a:p>
            <a:pPr lvl="1"/>
            <a:r>
              <a:rPr lang="en-US" altLang="en-US" sz="2400"/>
              <a:t>DBMS determines what new tuples must be inserted, deleted, or modified in a materialized view table</a:t>
            </a:r>
          </a:p>
          <a:p>
            <a:pPr lvl="1"/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8D458162-33B3-BD55-D234-63F0E1B5E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7- 49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BBD812C0-5CB4-6B2D-A763-261B40E4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 Materialization (contd.)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4A62EBA8-552A-72C5-BF54-67036AD0D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Multiple ways to handle materialization:</a:t>
            </a:r>
          </a:p>
          <a:p>
            <a:pPr lvl="1"/>
            <a:r>
              <a:rPr lang="en-US" altLang="en-US" b="1"/>
              <a:t>immediate update </a:t>
            </a:r>
            <a:r>
              <a:rPr lang="en-US" altLang="en-US"/>
              <a:t>strategy updates a view as soon as the base tables are changed</a:t>
            </a:r>
          </a:p>
          <a:p>
            <a:pPr lvl="1"/>
            <a:r>
              <a:rPr lang="en-US" altLang="en-US" b="1"/>
              <a:t>lazy update </a:t>
            </a:r>
            <a:r>
              <a:rPr lang="en-US" altLang="en-US"/>
              <a:t>strategy updates the view when needed by a view query</a:t>
            </a:r>
          </a:p>
          <a:p>
            <a:pPr lvl="1"/>
            <a:r>
              <a:rPr lang="en-US" altLang="en-US" b="1"/>
              <a:t>periodic update </a:t>
            </a:r>
            <a:r>
              <a:rPr lang="en-US" altLang="en-US"/>
              <a:t>strategy updates the view periodically (in the latter strategy, a view query may get a result that is not up-to-date). This is commonly used in Banks, Retail store operations, etc.</a:t>
            </a: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B0B8579B-4F83-1816-BA88-512B347CE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35068C4B-8826-4046-A8F9-E1AD00832010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4">
            <a:extLst>
              <a:ext uri="{FF2B5EF4-FFF2-40B4-BE49-F238E27FC236}">
                <a16:creationId xmlns:a16="http://schemas.microsoft.com/office/drawing/2014/main" id="{39770BB8-6447-EB90-8DB9-836E5EF4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 Update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DA565143-0916-5E72-98B1-3E8B7E58D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/>
              <a:t>Update on a view defined on a single table without any aggregate functions</a:t>
            </a:r>
          </a:p>
          <a:p>
            <a:pPr lvl="1">
              <a:defRPr/>
            </a:pPr>
            <a:r>
              <a:rPr lang="en-US" altLang="en-US" sz="2400" dirty="0"/>
              <a:t>Can be mapped to an update on underlying base table- possible if the primary key is preserved in the view</a:t>
            </a:r>
          </a:p>
          <a:p>
            <a:pPr>
              <a:defRPr/>
            </a:pPr>
            <a:r>
              <a:rPr lang="en-US" altLang="en-US" sz="2400" dirty="0"/>
              <a:t>Update not permitted on aggregate views. E.g.,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bg2"/>
                </a:solidFill>
              </a:rPr>
              <a:t>	UV2:</a:t>
            </a:r>
            <a:r>
              <a:rPr lang="en-US" sz="2000" dirty="0">
                <a:solidFill>
                  <a:schemeClr val="bg2"/>
                </a:solidFill>
              </a:rPr>
              <a:t>	</a:t>
            </a:r>
            <a:r>
              <a:rPr lang="en-US" sz="2000" b="1" dirty="0">
                <a:solidFill>
                  <a:schemeClr val="bg2"/>
                </a:solidFill>
              </a:rPr>
              <a:t>UPDATE</a:t>
            </a:r>
            <a:r>
              <a:rPr lang="en-US" sz="2000" dirty="0">
                <a:solidFill>
                  <a:schemeClr val="bg2"/>
                </a:solidFill>
              </a:rPr>
              <a:t>		DEPT_INFO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bg2"/>
                </a:solidFill>
              </a:rPr>
              <a:t>		</a:t>
            </a:r>
            <a:r>
              <a:rPr lang="en-US" sz="2000" b="1" dirty="0">
                <a:solidFill>
                  <a:schemeClr val="bg2"/>
                </a:solidFill>
              </a:rPr>
              <a:t>SET</a:t>
            </a:r>
            <a:r>
              <a:rPr lang="en-US" sz="2000" dirty="0">
                <a:solidFill>
                  <a:schemeClr val="bg2"/>
                </a:solidFill>
              </a:rPr>
              <a:t>			</a:t>
            </a:r>
            <a:r>
              <a:rPr lang="en-US" sz="2000" dirty="0" err="1">
                <a:solidFill>
                  <a:schemeClr val="bg2"/>
                </a:solidFill>
              </a:rPr>
              <a:t>Total_sal</a:t>
            </a:r>
            <a:r>
              <a:rPr lang="en-US" sz="2000" dirty="0">
                <a:solidFill>
                  <a:schemeClr val="bg2"/>
                </a:solidFill>
              </a:rPr>
              <a:t>=100000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bg2"/>
                </a:solidFill>
              </a:rPr>
              <a:t>		</a:t>
            </a:r>
            <a:r>
              <a:rPr lang="en-US" sz="2000" b="1" dirty="0">
                <a:solidFill>
                  <a:schemeClr val="bg2"/>
                </a:solidFill>
              </a:rPr>
              <a:t>WHERE</a:t>
            </a:r>
            <a:r>
              <a:rPr lang="en-US" sz="2000" dirty="0">
                <a:solidFill>
                  <a:schemeClr val="bg2"/>
                </a:solidFill>
              </a:rPr>
              <a:t>		</a:t>
            </a:r>
            <a:r>
              <a:rPr lang="en-US" sz="2000" dirty="0" err="1">
                <a:solidFill>
                  <a:schemeClr val="bg2"/>
                </a:solidFill>
              </a:rPr>
              <a:t>Dname</a:t>
            </a:r>
            <a:r>
              <a:rPr lang="en-US" sz="2000" dirty="0">
                <a:solidFill>
                  <a:schemeClr val="bg2"/>
                </a:solidFill>
              </a:rPr>
              <a:t>=‘Research’;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cannot be processed because </a:t>
            </a:r>
            <a:r>
              <a:rPr lang="en-US" altLang="en-US" sz="2400" dirty="0" err="1"/>
              <a:t>Total_sal</a:t>
            </a:r>
            <a:r>
              <a:rPr lang="en-US" altLang="en-US" sz="2400" dirty="0"/>
              <a:t> is a computed value in the view definition</a:t>
            </a: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BABBD5A2-D951-E02C-D4E3-DA571FEC3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A75E2699-B4F5-FCB5-14D1-979E5540F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8013" cy="3919538"/>
          </a:xfrm>
        </p:spPr>
        <p:txBody>
          <a:bodyPr/>
          <a:lstStyle/>
          <a:p>
            <a:r>
              <a:rPr lang="en-US" altLang="en-US"/>
              <a:t>View involving joins</a:t>
            </a:r>
          </a:p>
          <a:p>
            <a:pPr lvl="1"/>
            <a:r>
              <a:rPr lang="en-US" altLang="en-US"/>
              <a:t>Often not possible for DBMS to determine which of the updates is intended</a:t>
            </a:r>
          </a:p>
          <a:p>
            <a:r>
              <a:rPr lang="en-US" altLang="en-US"/>
              <a:t>Clause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WITH CHECK OPTION </a:t>
            </a:r>
          </a:p>
          <a:p>
            <a:pPr lvl="1"/>
            <a:r>
              <a:rPr lang="en-US" altLang="en-US"/>
              <a:t>Must be added at the end of the view definition if a view is to be updated to make sure that tuples being updated stay in the view</a:t>
            </a:r>
          </a:p>
          <a:p>
            <a:r>
              <a:rPr lang="en-US" altLang="en-US" b="1"/>
              <a:t>In-line view</a:t>
            </a:r>
          </a:p>
          <a:p>
            <a:pPr lvl="1"/>
            <a:r>
              <a:rPr lang="en-US" altLang="en-US"/>
              <a:t>Defined in 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altLang="en-US"/>
              <a:t> clause of an SQL query (e.g., we saw its used in the WITH example)</a:t>
            </a:r>
          </a:p>
        </p:txBody>
      </p:sp>
      <p:sp>
        <p:nvSpPr>
          <p:cNvPr id="62467" name="Title 4">
            <a:extLst>
              <a:ext uri="{FF2B5EF4-FFF2-40B4-BE49-F238E27FC236}">
                <a16:creationId xmlns:a16="http://schemas.microsoft.com/office/drawing/2014/main" id="{39F42A23-A66A-B7BC-84FC-32143D95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 Update and Inline Views</a:t>
            </a: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457171B1-49B9-C0CD-CF8E-3ECD519AD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E33B8C88-4F5D-4911-B825-1B06BBB54D3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4225D4A8-D2B9-2039-7E16-7B489A2D4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Views as authorization mechanism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7C56B66F-7760-4943-69CE-993D63B4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447800"/>
            <a:ext cx="8294687" cy="4724400"/>
          </a:xfrm>
        </p:spPr>
        <p:txBody>
          <a:bodyPr/>
          <a:lstStyle/>
          <a:p>
            <a:r>
              <a:rPr lang="en-US" altLang="en-US"/>
              <a:t>SQL query authorization statements (GRANT and REVOKE) are described in detail in Chapter 30</a:t>
            </a:r>
          </a:p>
          <a:p>
            <a:r>
              <a:rPr lang="en-US" altLang="en-US"/>
              <a:t>Views can be used to hide certain attributes or tuples from unauthorized users</a:t>
            </a:r>
          </a:p>
          <a:p>
            <a:r>
              <a:rPr lang="en-US" altLang="en-US"/>
              <a:t>E.g., For a user who is only allowed to see employee information for those who work for department 5, he may only access the view </a:t>
            </a:r>
            <a:r>
              <a:rPr lang="en-US" altLang="en-US" sz="2400">
                <a:solidFill>
                  <a:srgbClr val="800000"/>
                </a:solidFill>
              </a:rPr>
              <a:t>DEPT5EMP</a:t>
            </a:r>
            <a:r>
              <a:rPr lang="en-US" altLang="en-US" sz="2400"/>
              <a:t>:</a:t>
            </a:r>
            <a:endParaRPr lang="en-US" altLang="en-US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en-US" sz="1800" b="1"/>
              <a:t>CREATE VIEW</a:t>
            </a:r>
            <a:r>
              <a:rPr lang="en-US" altLang="en-US" sz="1800"/>
              <a:t>	DEPT5EMP   </a:t>
            </a:r>
            <a:r>
              <a:rPr lang="en-US" altLang="en-US" sz="1800" b="1"/>
              <a:t>AS</a:t>
            </a:r>
            <a:endParaRPr lang="en-US" altLang="en-US" sz="180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en-US" sz="1800" b="1"/>
              <a:t>SELECT</a:t>
            </a:r>
            <a:r>
              <a:rPr lang="en-US" altLang="en-US" sz="1800"/>
              <a:t>		*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en-US" sz="1800" b="1"/>
              <a:t>FROM</a:t>
            </a:r>
            <a:r>
              <a:rPr lang="en-US" altLang="en-US" sz="1800"/>
              <a:t>		EMPLOYEE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en-US" sz="1800" b="1"/>
              <a:t>WHERE</a:t>
            </a:r>
            <a:r>
              <a:rPr lang="en-US" altLang="en-US" sz="1800"/>
              <a:t>		Dno = 5;</a:t>
            </a:r>
          </a:p>
          <a:p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8D4F0B0D-43F9-6D41-B603-C2C3F95C10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A53BB842-084A-415E-A01C-16BD804143DC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BE6A5C75-CEA6-7C55-A9A3-6200E0B1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Schema Change Statements in SQL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4BCF0701-A5FF-8E02-4EFF-05CDA9FD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Schema evolution commands </a:t>
            </a:r>
          </a:p>
          <a:p>
            <a:pPr lvl="1"/>
            <a:r>
              <a:rPr lang="en-US" altLang="en-US"/>
              <a:t>DBA may want to change the schema while the database is operational </a:t>
            </a:r>
          </a:p>
          <a:p>
            <a:pPr lvl="1"/>
            <a:r>
              <a:rPr lang="en-US" altLang="en-US"/>
              <a:t>Does not require recompilation of the database schema</a:t>
            </a: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F6033B2C-9EC2-0F31-E0FF-D7D005945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02891FB5-1468-5B6F-265E-70010588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DROP Command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9ECE5781-F4F6-B72A-178B-A3FD7F8A6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altLang="en-US" dirty="0"/>
              <a:t>command </a:t>
            </a:r>
          </a:p>
          <a:p>
            <a:pPr lvl="1">
              <a:defRPr/>
            </a:pPr>
            <a:r>
              <a:rPr lang="en-US" altLang="en-US" dirty="0"/>
              <a:t>Used to drop named schema elements, such as tables, domains, or constraint</a:t>
            </a:r>
          </a:p>
          <a:p>
            <a:pPr>
              <a:defRPr/>
            </a:pPr>
            <a:r>
              <a:rPr lang="en-US" altLang="en-US" dirty="0"/>
              <a:t>Drop behavior options: </a:t>
            </a:r>
          </a:p>
          <a:p>
            <a:pPr lvl="1"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CASCADE </a:t>
            </a:r>
            <a:r>
              <a:rPr lang="en-US" altLang="en-US" dirty="0"/>
              <a:t>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RESTRICT</a:t>
            </a:r>
          </a:p>
          <a:p>
            <a:pPr>
              <a:defRPr/>
            </a:pPr>
            <a:r>
              <a:rPr lang="en-US" altLang="en-US" dirty="0"/>
              <a:t>Example:</a:t>
            </a:r>
          </a:p>
          <a:p>
            <a:pPr lvl="1"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SCHEMA COMPANY CASCADE;</a:t>
            </a:r>
          </a:p>
          <a:p>
            <a:pPr lvl="1">
              <a:defRPr/>
            </a:pPr>
            <a:r>
              <a:rPr lang="en-US" altLang="en-US" sz="2800" dirty="0">
                <a:solidFill>
                  <a:schemeClr val="tx2"/>
                </a:solidFill>
                <a:cs typeface="+mn-cs"/>
              </a:rPr>
              <a:t>This removes the schema and all its elements including </a:t>
            </a:r>
            <a:r>
              <a:rPr lang="en-US" altLang="en-US" sz="2800" dirty="0" err="1">
                <a:solidFill>
                  <a:schemeClr val="tx2"/>
                </a:solidFill>
                <a:cs typeface="+mn-cs"/>
              </a:rPr>
              <a:t>tables,views</a:t>
            </a:r>
            <a:r>
              <a:rPr lang="en-US" altLang="en-US" sz="2800" dirty="0">
                <a:solidFill>
                  <a:schemeClr val="tx2"/>
                </a:solidFill>
                <a:cs typeface="+mn-cs"/>
              </a:rPr>
              <a:t>, constraints, etc.</a:t>
            </a: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0F61D2C6-DC83-C243-0E13-0AC7F76D2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BD3D382B-2C0D-D40C-2801-77B7EF89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ALTER table command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13050FA0-3809-B940-F029-9D6C98A9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1524000"/>
            <a:ext cx="8294687" cy="4572000"/>
          </a:xfrm>
        </p:spPr>
        <p:txBody>
          <a:bodyPr/>
          <a:lstStyle/>
          <a:p>
            <a:r>
              <a:rPr lang="en-US" altLang="en-US" b="1"/>
              <a:t>Alter table actions </a:t>
            </a:r>
            <a:r>
              <a:rPr lang="en-US" altLang="en-US"/>
              <a:t>include:</a:t>
            </a:r>
          </a:p>
          <a:p>
            <a:pPr lvl="1"/>
            <a:r>
              <a:rPr lang="en-US" altLang="en-US"/>
              <a:t>Adding or dropping a column (attribute)</a:t>
            </a:r>
          </a:p>
          <a:p>
            <a:pPr lvl="1"/>
            <a:r>
              <a:rPr lang="en-US" altLang="en-US"/>
              <a:t>Changing a column definition</a:t>
            </a:r>
          </a:p>
          <a:p>
            <a:pPr lvl="1"/>
            <a:r>
              <a:rPr lang="en-US" altLang="en-US"/>
              <a:t>Adding or dropping table constraints</a:t>
            </a:r>
          </a:p>
          <a:p>
            <a:r>
              <a:rPr lang="en-US" altLang="en-US">
                <a:cs typeface="Courier New" panose="02070309020205020404" pitchFamily="49" charset="0"/>
              </a:rPr>
              <a:t>Example: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ALTER TABLE COMPANY.EMPLOYEE ADD COLUMN Job VARCHAR(12);</a:t>
            </a:r>
          </a:p>
          <a:p>
            <a:pPr lvl="1"/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041552C-1E2E-0E26-1B0C-B7EFA269F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3E710629-E64D-0DB8-1FAC-1A2DAE17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Adding and Dropping Constraints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4543D699-2DBD-5159-5B6B-7AA3FE35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Change constraints specified on a table </a:t>
            </a:r>
          </a:p>
          <a:p>
            <a:pPr lvl="1"/>
            <a:r>
              <a:rPr lang="en-US" altLang="en-US"/>
              <a:t>Add or drop a named constraint</a:t>
            </a:r>
          </a:p>
          <a:p>
            <a:endParaRPr lang="en-US" altLang="en-US"/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3DFFB35E-0AE7-6671-8567-40DE3AA44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06713"/>
            <a:ext cx="60039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9" name="Slide Number Placeholder 3">
            <a:extLst>
              <a:ext uri="{FF2B5EF4-FFF2-40B4-BE49-F238E27FC236}">
                <a16:creationId xmlns:a16="http://schemas.microsoft.com/office/drawing/2014/main" id="{6D6A8F56-7219-161B-F7B7-275FCB6F7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7- 57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552884EC-26D9-0DCB-8208-2F237539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Dropping Columns, Default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3A1C6-4CAF-2235-F242-54F8EC7DC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To drop a column</a:t>
            </a:r>
          </a:p>
          <a:p>
            <a:pPr lvl="1">
              <a:defRPr/>
            </a:pPr>
            <a:r>
              <a:rPr lang="en-US" altLang="en-US" dirty="0"/>
              <a:t>Choose either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en-US" altLang="en-US" dirty="0"/>
              <a:t> or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RESTRICT</a:t>
            </a:r>
          </a:p>
          <a:p>
            <a:pPr lvl="1"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CASCADE </a:t>
            </a:r>
            <a:r>
              <a:rPr lang="en-US" altLang="en-US" dirty="0">
                <a:solidFill>
                  <a:schemeClr val="tx2"/>
                </a:solidFill>
                <a:cs typeface="Courier New" panose="02070309020205020404" pitchFamily="49" charset="0"/>
              </a:rPr>
              <a:t>would drop the column from views etc.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RESTRICT </a:t>
            </a:r>
            <a:r>
              <a:rPr lang="en-US" altLang="en-US" dirty="0">
                <a:solidFill>
                  <a:schemeClr val="tx2"/>
                </a:solidFill>
                <a:cs typeface="Courier New" panose="02070309020205020404" pitchFamily="49" charset="0"/>
              </a:rPr>
              <a:t>is possible if no views refer to it.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chemeClr val="bg2"/>
                </a:solidFill>
              </a:rPr>
              <a:t>	ALTER TABLE</a:t>
            </a:r>
            <a:r>
              <a:rPr lang="en-US" sz="2000" dirty="0">
                <a:solidFill>
                  <a:schemeClr val="bg2"/>
                </a:solidFill>
              </a:rPr>
              <a:t> COMPANY.EMPLOYEE </a:t>
            </a:r>
            <a:r>
              <a:rPr lang="en-US" sz="2000" b="1" dirty="0">
                <a:solidFill>
                  <a:schemeClr val="bg2"/>
                </a:solidFill>
              </a:rPr>
              <a:t>DROP COLUMN</a:t>
            </a:r>
            <a:r>
              <a:rPr lang="en-US" sz="2000" dirty="0">
                <a:solidFill>
                  <a:schemeClr val="bg2"/>
                </a:solidFill>
              </a:rPr>
              <a:t> 	Address </a:t>
            </a:r>
            <a:r>
              <a:rPr lang="en-US" sz="2000" b="1" dirty="0">
                <a:solidFill>
                  <a:schemeClr val="bg2"/>
                </a:solidFill>
              </a:rPr>
              <a:t>CASCADE</a:t>
            </a:r>
            <a:r>
              <a:rPr lang="en-US" sz="2000" dirty="0">
                <a:solidFill>
                  <a:schemeClr val="bg2"/>
                </a:solidFill>
              </a:rPr>
              <a:t>;</a:t>
            </a:r>
          </a:p>
          <a:p>
            <a:pPr>
              <a:defRPr/>
            </a:pPr>
            <a:r>
              <a:rPr lang="en-US" dirty="0"/>
              <a:t>Default values can be dropped and altered :</a:t>
            </a:r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bg2"/>
                </a:solidFill>
              </a:rPr>
              <a:t>ALTER TABLE</a:t>
            </a:r>
            <a:r>
              <a:rPr lang="en-US" sz="1800" dirty="0">
                <a:solidFill>
                  <a:schemeClr val="bg2"/>
                </a:solidFill>
              </a:rPr>
              <a:t> COMPANY.DEPARTMENT </a:t>
            </a:r>
            <a:r>
              <a:rPr lang="en-US" sz="1800" b="1" dirty="0">
                <a:solidFill>
                  <a:schemeClr val="bg2"/>
                </a:solidFill>
              </a:rPr>
              <a:t>ALTER COLUMN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Mgr_ssn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b="1" dirty="0">
                <a:solidFill>
                  <a:schemeClr val="bg2"/>
                </a:solidFill>
              </a:rPr>
              <a:t>DROP DEFAULT</a:t>
            </a:r>
            <a:r>
              <a:rPr lang="en-US" sz="1800" dirty="0">
                <a:solidFill>
                  <a:schemeClr val="bg2"/>
                </a:solidFill>
              </a:rPr>
              <a:t>;</a:t>
            </a:r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chemeClr val="bg2"/>
                </a:solidFill>
              </a:rPr>
              <a:t>ALTER TABLE</a:t>
            </a:r>
            <a:r>
              <a:rPr lang="en-US" sz="1800" dirty="0">
                <a:solidFill>
                  <a:schemeClr val="bg2"/>
                </a:solidFill>
              </a:rPr>
              <a:t> COMPANY.DEPARTMENT </a:t>
            </a:r>
            <a:r>
              <a:rPr lang="en-US" sz="1800" b="1" dirty="0">
                <a:solidFill>
                  <a:schemeClr val="bg2"/>
                </a:solidFill>
              </a:rPr>
              <a:t>ALTER COLUMN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Mgr_ssn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b="1" dirty="0">
                <a:solidFill>
                  <a:schemeClr val="bg2"/>
                </a:solidFill>
              </a:rPr>
              <a:t>SET DEFAULT</a:t>
            </a:r>
            <a:r>
              <a:rPr lang="en-US" sz="1800" dirty="0">
                <a:solidFill>
                  <a:schemeClr val="bg2"/>
                </a:solidFill>
              </a:rPr>
              <a:t> ‘333445555’;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dirty="0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02152E2A-B286-A841-6487-15F6D8F36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</a:t>
            </a:r>
            <a:fld id="{82D01444-3A36-4225-8EF9-29D396FBD0D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2">
            <a:extLst>
              <a:ext uri="{FF2B5EF4-FFF2-40B4-BE49-F238E27FC236}">
                <a16:creationId xmlns:a16="http://schemas.microsoft.com/office/drawing/2014/main" id="{518E8CD6-6083-AD47-8D80-2FCA75E8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Verdana" panose="020B0604030504040204" pitchFamily="34" charset="0"/>
              </a:rPr>
              <a:t>Table 7.2</a:t>
            </a:r>
            <a:r>
              <a:rPr lang="en-US" altLang="en-US">
                <a:latin typeface="Verdana" panose="020B0604030504040204" pitchFamily="34" charset="0"/>
              </a:rPr>
              <a:t>   Summary of SQL Syntax</a:t>
            </a:r>
          </a:p>
        </p:txBody>
      </p:sp>
      <p:pic>
        <p:nvPicPr>
          <p:cNvPr id="69635" name="Picture 2" descr="tab07_02a.jpg">
            <a:extLst>
              <a:ext uri="{FF2B5EF4-FFF2-40B4-BE49-F238E27FC236}">
                <a16:creationId xmlns:a16="http://schemas.microsoft.com/office/drawing/2014/main" id="{066ADCFB-E881-1D7E-B11B-46004F6A5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1447800"/>
            <a:ext cx="8686800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TextBox 4">
            <a:extLst>
              <a:ext uri="{FF2B5EF4-FFF2-40B4-BE49-F238E27FC236}">
                <a16:creationId xmlns:a16="http://schemas.microsoft.com/office/drawing/2014/main" id="{8E7D35DB-ABAC-832A-BCA9-D08C1B31A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6124575"/>
            <a:ext cx="34750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i="1">
                <a:solidFill>
                  <a:schemeClr val="tx1"/>
                </a:solidFill>
                <a:latin typeface="Verdana" panose="020B0604030504040204" pitchFamily="34" charset="0"/>
              </a:rPr>
              <a:t>continued on next slide</a:t>
            </a:r>
          </a:p>
        </p:txBody>
      </p:sp>
      <p:sp>
        <p:nvSpPr>
          <p:cNvPr id="69637" name="Slide Number Placeholder 3">
            <a:extLst>
              <a:ext uri="{FF2B5EF4-FFF2-40B4-BE49-F238E27FC236}">
                <a16:creationId xmlns:a16="http://schemas.microsoft.com/office/drawing/2014/main" id="{F5423EE1-2F73-8508-D4C0-45E08AC6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7- 59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2">
            <a:extLst>
              <a:ext uri="{FF2B5EF4-FFF2-40B4-BE49-F238E27FC236}">
                <a16:creationId xmlns:a16="http://schemas.microsoft.com/office/drawing/2014/main" id="{ED6D60DF-3172-9F34-2043-571CAD2C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Verdana" panose="020B0604030504040204" pitchFamily="34" charset="0"/>
              </a:rPr>
              <a:t>Table 7.2 (continued)</a:t>
            </a:r>
            <a:r>
              <a:rPr lang="en-US" altLang="en-US">
                <a:latin typeface="Verdana" panose="020B0604030504040204" pitchFamily="34" charset="0"/>
              </a:rPr>
              <a:t>   Summary of SQL Syntax</a:t>
            </a:r>
          </a:p>
        </p:txBody>
      </p:sp>
      <p:pic>
        <p:nvPicPr>
          <p:cNvPr id="70659" name="Picture 2" descr="tab07_02b.jpg">
            <a:extLst>
              <a:ext uri="{FF2B5EF4-FFF2-40B4-BE49-F238E27FC236}">
                <a16:creationId xmlns:a16="http://schemas.microsoft.com/office/drawing/2014/main" id="{D37D0EDB-3F87-2A29-DF6B-796222D6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752600"/>
            <a:ext cx="8686800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51C2ABCC-E45F-18E4-DBE1-ABE471D0B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7- 60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85588D0C-307D-CB8F-3F93-825A303F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D3253B00-5D34-37AB-7C10-C207F35F5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Complex SQL:</a:t>
            </a:r>
          </a:p>
          <a:p>
            <a:pPr lvl="1"/>
            <a:r>
              <a:rPr lang="en-US" altLang="en-US"/>
              <a:t>Nested queries, joined tables (in the FROM clause), outer joins, aggregate functions, grouping</a:t>
            </a:r>
          </a:p>
          <a:p>
            <a:r>
              <a:rPr lang="en-US" altLang="en-US"/>
              <a:t>Handling semantic constraints with </a:t>
            </a:r>
            <a:r>
              <a:rPr lang="en-US" altLang="en-US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ASSERTION </a:t>
            </a:r>
            <a:r>
              <a:rPr lang="en-US" altLang="en-US"/>
              <a:t>and </a:t>
            </a:r>
            <a:r>
              <a:rPr lang="en-US" altLang="en-US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</a:t>
            </a:r>
          </a:p>
          <a:p>
            <a:r>
              <a:rPr lang="en-US" altLang="en-US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en-US" altLang="en-US"/>
              <a:t>statement and materialization strategies</a:t>
            </a:r>
          </a:p>
          <a:p>
            <a:r>
              <a:rPr lang="en-US" altLang="en-US"/>
              <a:t>Schema Modification for the DBAs using </a:t>
            </a:r>
            <a:r>
              <a:rPr lang="en-US" altLang="en-US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, ADD and DROP COLUMN, ALTER CONSTRAINT </a:t>
            </a:r>
            <a:r>
              <a:rPr lang="en-US" altLang="en-US"/>
              <a:t>etc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143F3D56-62FC-2568-FA47-7B95B6D9C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7- 61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2AAE1F-0C03-83BB-5C07-2F2E9498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>
                <a:latin typeface="+mj-lt"/>
                <a:ea typeface="MS PGothic" panose="020B0600070205080204" pitchFamily="34" charset="-128"/>
                <a:cs typeface="ＭＳ Ｐゴシック" charset="0"/>
              </a:rPr>
              <a:t>Additional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B2A2B-4233-7DFA-6121-7420E6C1A5CC}"/>
              </a:ext>
            </a:extLst>
          </p:cNvPr>
          <p:cNvSpPr txBox="1"/>
          <p:nvPr/>
        </p:nvSpPr>
        <p:spPr bwMode="auto"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https://northeastern.hosted.panopto.com/Panopto/Pages/Viewer.aspx?id=7f7725ef-b7cb-4c73-a54a-ac52014a1946&amp;start=0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https://northeastern.instructure.com/courses/123286/pages/15-min-skim-sql-style-recommendations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https://northeastern.hosted.panopto.com/Panopto/Pages/Viewer.aspx?id=4ac9add4-98eb-442a-8e5d-abed010a41b7&amp;start=0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https://northeastern.hosted.panopto.com/Panopto/Pages/Viewer.aspx?id=b43f7938-f0d5-4e87-bd86-ac5400292bfd&amp;start=0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</a:rPr>
              <a:t>https://northeastern.hosted.panopto.com/Panopto/Pages/Viewer.aspx?id=e064745c-71a7-43d0-8c09-accd017ad22d&amp;start=0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BE378-66B6-CE89-08C0-E63732558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463" y="2771507"/>
            <a:ext cx="4071937" cy="2229386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0CE3B-A54F-561E-C4F2-6D37CA96A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>
                <a:spcAft>
                  <a:spcPts val="600"/>
                </a:spcAft>
              </a:pPr>
              <a:t>103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32857713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2AAE1F-0C03-83BB-5C07-2F2E9498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992187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>
                <a:latin typeface="+mj-lt"/>
                <a:ea typeface="MS PGothic" panose="020B0600070205080204" pitchFamily="34" charset="-128"/>
                <a:cs typeface="ＭＳ Ｐゴシック" charset="0"/>
              </a:rPr>
              <a:t>Additional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A1307-167F-98E7-1B9D-C94C9B4981C2}"/>
              </a:ext>
            </a:extLst>
          </p:cNvPr>
          <p:cNvSpPr txBox="1"/>
          <p:nvPr/>
        </p:nvSpPr>
        <p:spPr bwMode="auto"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https://northeastern.hosted.panopto.com/Panopto/Pages/Viewer.aspx?id=9dd5c7a0-64aa-4a66-b884-ac9900ec6d6e&amp;start=0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https://northeastern.hosted.panopto.com/Panopto/Pages/Viewer.aspx?id=aa7d0c6b-77b5-4360-a730-ac520105ed19&amp;start=0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https://northeastern.hosted.panopto.com/Panopto/Pages/Viewer.aspx?id=bf144f2b-1096-4209-985c-ac9900eca5bb&amp;start=0</a:t>
            </a: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endParaRPr lang="en-US" sz="150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1500">
                <a:solidFill>
                  <a:schemeClr val="tx2"/>
                </a:solidFill>
                <a:latin typeface="+mn-lt"/>
              </a:rPr>
              <a:t>https://northeastern.hosted.panopto.com/Panopto/Pages/Viewer.aspx?id=d5fce32d-7885-4e25-8f42-ac9900ec605e&amp;start=0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A6BA14-D3E0-6EE4-092F-B5E6F124D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463" y="2873306"/>
            <a:ext cx="4071937" cy="202578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0CE3B-A54F-561E-C4F2-6D37CA96A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>
                <a:spcAft>
                  <a:spcPts val="600"/>
                </a:spcAft>
              </a:pPr>
              <a:t>104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43468799"/>
      </p:ext>
    </p:extLst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3EDB-8D76-1146-6322-47184A93B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7B8C00-73D4-9007-6B44-3A0E55372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9228F43B-1751-4133-BFDC-FCBB34AB8CDD}" type="slidenum">
              <a:rPr lang="en-US" altLang="en-US" smtClean="0"/>
              <a:pPr/>
              <a:t>105</a:t>
            </a:fld>
            <a:endParaRPr lang="en-CA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C4940-BB2B-7666-7E06-C9DA5A63E07D}"/>
              </a:ext>
            </a:extLst>
          </p:cNvPr>
          <p:cNvSpPr txBox="1"/>
          <p:nvPr/>
        </p:nvSpPr>
        <p:spPr>
          <a:xfrm>
            <a:off x="228600" y="3258522"/>
            <a:ext cx="8642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https://northeastern.hosted.panopto.com/Panopto/Pages/Viewer.aspx?id=87af9a63-bf7a-4bc9-8fb8-abe60140d284&amp;start=0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https://northeastern.hosted.panopto.com/Panopto/Pages/Viewer.aspx?id=1d0c33b6-670f-4411-864b-abe701817843&amp;start=0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514D5-18BC-4882-0651-83B75DBBC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15" y="1505923"/>
            <a:ext cx="7748927" cy="15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0213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16200</TotalTime>
  <Words>5525</Words>
  <Application>Microsoft Office PowerPoint</Application>
  <PresentationFormat>Letter Paper (8.5x11 in)</PresentationFormat>
  <Paragraphs>724</Paragraphs>
  <Slides>105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8" baseType="lpstr">
      <vt:lpstr>ＭＳ Ｐゴシック</vt:lpstr>
      <vt:lpstr>Aptos</vt:lpstr>
      <vt:lpstr>Arial</vt:lpstr>
      <vt:lpstr>Calibri</vt:lpstr>
      <vt:lpstr>Consolas</vt:lpstr>
      <vt:lpstr>Courier New</vt:lpstr>
      <vt:lpstr>Google Sans Text</vt:lpstr>
      <vt:lpstr>LatoWeb</vt:lpstr>
      <vt:lpstr>Symbol</vt:lpstr>
      <vt:lpstr>Tahoma</vt:lpstr>
      <vt:lpstr>Verdana</vt:lpstr>
      <vt:lpstr>Wingdings</vt:lpstr>
      <vt:lpstr>Blends</vt:lpstr>
      <vt:lpstr>Database Management Systems CS 5200</vt:lpstr>
      <vt:lpstr>Database Management Systems CS 5200</vt:lpstr>
      <vt:lpstr>Plan for Today</vt:lpstr>
      <vt:lpstr>PowerPoint Presentation</vt:lpstr>
      <vt:lpstr>The CREATE SCHEMA Command in SQL</vt:lpstr>
      <vt:lpstr>SQL CREATE TABLE data definition statements for defining the COMPANY schema from Figure 5.7 (Fig. 6.1)</vt:lpstr>
      <vt:lpstr>Default attribute values and referential integrity triggered action specification (Fig. 6.2)</vt:lpstr>
      <vt:lpstr>Specifying Constraints on Tuples Using CHECK</vt:lpstr>
      <vt:lpstr>Basic Retrieval Queries</vt:lpstr>
      <vt:lpstr>Basic Retrieval Queries</vt:lpstr>
      <vt:lpstr>Basic Retrieval Queries</vt:lpstr>
      <vt:lpstr>General Retrieval Block</vt:lpstr>
      <vt:lpstr>The INSERT Command</vt:lpstr>
      <vt:lpstr>BULK LOADING OF TABLES</vt:lpstr>
      <vt:lpstr>The DELETE Command</vt:lpstr>
      <vt:lpstr>UPDATE</vt:lpstr>
      <vt:lpstr>PowerPoint Presentation</vt:lpstr>
      <vt:lpstr>Chapter 7 Outline</vt:lpstr>
      <vt:lpstr>More Complex SQL Retrieval Queries</vt:lpstr>
      <vt:lpstr>Comparisons Involving NULL and Three-Valued Logic</vt:lpstr>
      <vt:lpstr>Comparisons Involving NULL and Three-Valued Logic (cont’d.)</vt:lpstr>
      <vt:lpstr>Comparisons Involving NULL and Three-Valued Logic (cont’d.)</vt:lpstr>
      <vt:lpstr>Nested Queries, Tuples, and Set/Multiset Comparisons</vt:lpstr>
      <vt:lpstr>Nested Queries (cont’d.)</vt:lpstr>
      <vt:lpstr>Nested Queries (cont’d.)</vt:lpstr>
      <vt:lpstr>Nested Queries (cont’d.)</vt:lpstr>
      <vt:lpstr>Nested Queries (cont’d.)</vt:lpstr>
      <vt:lpstr>Single Row subquery </vt:lpstr>
      <vt:lpstr>Multiple Row subquery </vt:lpstr>
      <vt:lpstr>InLine View (FROM)</vt:lpstr>
      <vt:lpstr>Scalar subquery (SELECT)</vt:lpstr>
      <vt:lpstr>WITH (Common Table Expression)</vt:lpstr>
      <vt:lpstr>Correlated Nested Queries</vt:lpstr>
      <vt:lpstr>The EXISTS and UNIQUE Functions in SQL for correlating queries</vt:lpstr>
      <vt:lpstr>USE of EXISTS</vt:lpstr>
      <vt:lpstr>USE OF NOT EXISTS</vt:lpstr>
      <vt:lpstr>Double Negation to accomplish “for all” in SQL</vt:lpstr>
      <vt:lpstr>Explicit Sets and Renaming of Attributes in SQL</vt:lpstr>
      <vt:lpstr>Is it 4:15 yet?</vt:lpstr>
      <vt:lpstr>Discussion 08 (4:15 – 4:30)  SQL Queries</vt:lpstr>
      <vt:lpstr>Answer</vt:lpstr>
      <vt:lpstr>Discussion 08 (4:15 – 4:30)  SQL Queries</vt:lpstr>
      <vt:lpstr>Answer</vt:lpstr>
      <vt:lpstr>Discussion 08 (4:15 – 4:30)  SQL Queries</vt:lpstr>
      <vt:lpstr>Answer</vt:lpstr>
      <vt:lpstr>Break (4:30 PM – 4:50 PM)  Please be punctual so that  we restart on time</vt:lpstr>
      <vt:lpstr>Specifying Joined Tables in the FROM Clause of SQL</vt:lpstr>
      <vt:lpstr>Different Types of JOINed Tables  in SQL</vt:lpstr>
      <vt:lpstr>NATURAL JOIN</vt:lpstr>
      <vt:lpstr>INNER and OUTER Joins</vt:lpstr>
      <vt:lpstr>Example: LEFT OUTER JOIN</vt:lpstr>
      <vt:lpstr>Joins</vt:lpstr>
      <vt:lpstr>Multiway JOIN in the FROM clause</vt:lpstr>
      <vt:lpstr>Join: Example</vt:lpstr>
      <vt:lpstr>Join: Example</vt:lpstr>
      <vt:lpstr>Join: Example</vt:lpstr>
      <vt:lpstr>Join: Example</vt:lpstr>
      <vt:lpstr>Aggregate Functions in SQL</vt:lpstr>
      <vt:lpstr>Renaming Results of Aggregation</vt:lpstr>
      <vt:lpstr>Aggregate Functions in SQL (cont’d.)</vt:lpstr>
      <vt:lpstr>Aggregate Functions on Booleans</vt:lpstr>
      <vt:lpstr>Grouping: The GROUP BY Clause</vt:lpstr>
      <vt:lpstr>Examples of GROUP BY</vt:lpstr>
      <vt:lpstr>Examples of GROUP BY</vt:lpstr>
      <vt:lpstr>Grouping: The GROUP BY and HAVING Clauses (cont’d.)</vt:lpstr>
      <vt:lpstr>GROUP BY: Example</vt:lpstr>
      <vt:lpstr>Combining the WHERE and the HAVING Clause</vt:lpstr>
      <vt:lpstr>Combining the WHERE and the HAVING Clause (continued)</vt:lpstr>
      <vt:lpstr>Use of WITH</vt:lpstr>
      <vt:lpstr>Example of WITH</vt:lpstr>
      <vt:lpstr>Use of CASE</vt:lpstr>
      <vt:lpstr>EXAMPLE of use of CASE</vt:lpstr>
      <vt:lpstr>Is it 6:05 yet?</vt:lpstr>
      <vt:lpstr>Discussion 09 (6:05 – 6:15) Topic ?</vt:lpstr>
      <vt:lpstr>Discussion 09 (6:05 – 6:15) Topic ?</vt:lpstr>
      <vt:lpstr>Discussion 09 (6:05 – 6:15) Topic ?</vt:lpstr>
      <vt:lpstr>Discussion 09 (6:05 – 6:15) Topic ?</vt:lpstr>
      <vt:lpstr>Review Deliverables (6:15 – 6:20)</vt:lpstr>
      <vt:lpstr>Recursive Queries in SQL</vt:lpstr>
      <vt:lpstr>An EXAMPLE of RECURSIVE Query</vt:lpstr>
      <vt:lpstr>EXPANDED Block Structure of SQL Queries</vt:lpstr>
      <vt:lpstr>Specifying Constraints as Assertions and Actions as Triggers</vt:lpstr>
      <vt:lpstr>Specifying General Constraints as Assertions in SQL</vt:lpstr>
      <vt:lpstr>Introduction to Triggers in SQL</vt:lpstr>
      <vt:lpstr>USE OF TRIGGERS</vt:lpstr>
      <vt:lpstr>Views (Virtual Tables) in SQL</vt:lpstr>
      <vt:lpstr>Specification of Views in SQL</vt:lpstr>
      <vt:lpstr>Specification of Views in SQL (cont’d.)</vt:lpstr>
      <vt:lpstr>View Implementation, View Update, and Inline Views</vt:lpstr>
      <vt:lpstr>View Materialization</vt:lpstr>
      <vt:lpstr>View Materialization (contd.)</vt:lpstr>
      <vt:lpstr>View Update</vt:lpstr>
      <vt:lpstr>View Update and Inline Views</vt:lpstr>
      <vt:lpstr>Views as authorization mechanism</vt:lpstr>
      <vt:lpstr>Schema Change Statements in SQL</vt:lpstr>
      <vt:lpstr>The DROP Command</vt:lpstr>
      <vt:lpstr>The ALTER table command</vt:lpstr>
      <vt:lpstr>Adding and Dropping Constraints</vt:lpstr>
      <vt:lpstr>Dropping Columns, Default Values</vt:lpstr>
      <vt:lpstr>Table 7.2   Summary of SQL Syntax</vt:lpstr>
      <vt:lpstr>Table 7.2 (continued)   Summary of SQL Syntax</vt:lpstr>
      <vt:lpstr>Summary</vt:lpstr>
      <vt:lpstr>Additional Resources</vt:lpstr>
      <vt:lpstr>Additional Resources</vt:lpstr>
      <vt:lpstr>Additional Resources</vt:lpstr>
    </vt:vector>
  </TitlesOfParts>
  <Manager/>
  <Company>©2007 Pearson Addison-Wesley. All rights reserved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subject>Data Modeling Using the Entity-Relationship (ER) Model</dc:subject>
  <dc:creator>Elmasri/Navathe</dc:creator>
  <cp:keywords/>
  <dc:description/>
  <cp:lastModifiedBy>Zantout; Rached N.</cp:lastModifiedBy>
  <cp:revision>112</cp:revision>
  <cp:lastPrinted>2001-11-04T00:51:13Z</cp:lastPrinted>
  <dcterms:created xsi:type="dcterms:W3CDTF">2005-02-25T19:46:41Z</dcterms:created>
  <dcterms:modified xsi:type="dcterms:W3CDTF">2026-02-08T18:29:40Z</dcterms:modified>
  <cp:category/>
</cp:coreProperties>
</file>